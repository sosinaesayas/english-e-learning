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with what makes written work English different from everything so far: it is permanent. A clumsy sentence in a meeting evaporates; the same sentence in a report is forwarded, filed and read by people you will never meet.
TIP: This is the final module of the level. Say so, and say what learners will have completed: three levels, twenty-two modules, and a full CEFR A2 to B1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4 is the one that surprises people. Learners believe work writing should be complicated; the opposite is true and it is a professional standard, not a simplification for learners.
TIP: Objective 3 is the most valuable thing here. Anyone who can summarise a twenty-page document into one accurate paragraph becomes useful very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Task 2 is the diagnostic. Most learners avoid writing anything longer than a short message, which quietly limits what work they are given.
COMMON MISTAKES: Correct nothing. Note what learners say they avoid — that is your curriculum for this module.
TIP: Task 3 often produces alarming answers: thirty or forty minutes for one email. Slide 20's method usually halves that within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last clause is the honest one: for people who never meet you, your writing IS you. That is uncomfortable and it is why this module matters.
COMMON MISTAKES: Learners write to sound clever. Readers want to understand quickly, and complexity slows them down without impressing anyone.
EXTRA EXAMPLES: Plain English is a professional standard in most large organisations. It is not a simplification for second-language writers — native speakers are trained in it too.
TIP: Reassure the class: their English is already good enough to write clearly. What is missing is structure and confidence, and both are taught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point of all four is the same: the shape is fixed, so you never start from a blank page. Choosing the type is most of the work.
COMMON MISTAKES: Writing everything as a long email. A report sent as prose in an email body does not get read or kept.
EXTRA EXAMPLES: Types 1 and 3 were covered in Module 5. This module adds types 2 and 4.
TIP: The summary-first rule in type 2 is the single biggest difference between a report that gets read and one that does not.
CLASSROOM ACTIVITY: Which type? Give eight work situations and have learners name the right document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This is Level 2 Module 6's skimming and scanning applied to professional documents. Say the connection — learners are surprised the same technique scales up.
COMMON MISTAKES: Reading a forty-page report from page one. Nobody does this, including the people who wrote it.
EXTRA EXAMPLES: The fact that reports have summaries is the writer telling you that skimming is expected and legitimate.
TIP: Step 3 is the practical one. Search the document for your own name or team — that is the part you will be held to.
CLASSROOM ACTIVITY: Five minutes: give a long document and exactly five minutes, then ask three questions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summary-first rule reverses how learners naturally write. They build to a conclusion; a report states the conclusion and then supports it.
COMMON MISTAKES: Burying the recommendation on page two. Senior readers stop after the summary, so anything not in it may as well not exist.
EXTRA EXAMPLES: Writing the summary last and placing it first is standard professional practice. You cannot summarise findings you have not yet written.
TIP: The findings/recommendation separation matters. Mixing fact and opinion is how reports lose credibility.
CLASSROOM ACTIVITY: Summary only: give a set of findings and have learners write only the five-line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 The hardest slide in the module.
HOW TO TEACH: Summarising is choosing, and choosing is what makes it difficult. Learners include everything because leaving things out feels like losing information.
COMMON MISTAKES: Producing a shorter version of the whole document. That is compression, not summary, and it is still too long to be useful.
EXTRA EXAMPLES: The word limit is the teaching tool. A hard limit forces the choice that makes a summary a summary.
TIP: The test in the note is the one to use for every summary from now on. It is practical and it settles arguments.
CLASSROOM ACTIVITY: Fifty words: give a two-page document and a strict fifty-word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note removes the anxiety. Learners fear plain writing looks like weak English. It is in fact what good organisations require.
COMMON MISTAKES: Reaching for long words to sound qualified. Long words slow the reader down and impress nobody who matters.
EXTRA EXAMPLES: “Herewith”, “hereby” and “aforementioned” are relics. They appear in some templates and should not be copied.
TIP: The right column is not simpler English — it is more confident English. Only an unsure writer hides behind long words.
CLASSROOM ACTIVITY: Translate it: give twelve inflated phrases and have learners produce the plain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Pass 6 is the catch-all and it finds tone problems no rule-based check will. It is also two seconds of work.
COMMON MISTAKES: Sending immediately after finishing. Ten minutes away from the document, then a reread, catches most errors.
EXTRA EXAMPLES: For anything important, write it, leave it, and reread before sending. That gap is worth more than any checklist.
TIP: This combines Module 3's accuracy passes and Module 5's tone check into one routine for documents.
CLASSROOM ACTIVITY: Six passes: learners proofread a document containing one error of each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Two correct patterns: recommend + -ing, and recommend that + clause. The “to do” form is the transfer error and it is very common.
COMMON MISTAKES: “I recommend to buy a new van.” Should be “I recommend buying a new van.”
EXTRA EXAMPLES: The noun is “recommendation”, stress on the fourth syllable — re-com-men-DA-tion. The -tion rule from Module 2.
TIP: This is the key verb of the report's third section. Getting the pattern right matters more here than almost anywhere.
CLASSROOM ACTIVITY: Two patterns: give ten recommendations and have learners write each in both correct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the plain-English point from slide 9 in one word. The old formula appears in templates everywhere and should not be copied.
COMMON MISTAKES: “I attach here the file” is a direct translation. The natural forms are “I've attached…” and “Please see the attached…”.
EXTRA EXAMPLES: attach · attached · attachment. And the very useful habit of naming what you attached in the sentence.
TIP: Always say what the attachment IS. “I've attached the March figures” is far better than “please see attached”.
CLASSROOM ACTIVITY: Rewrite it: give five old-fashioned attachment sentences and have learners modernise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“Could you confirm…?” is the standard professional way to check something without implying doubt about the person.
COMMON MISTAKES: “Please confirm me the date” is wrong. Say “please confirm the date” or “please confirm that the date is…”.
EXTRA EXAMPLES: confirm · confirmation · a confirmation email · to confirm receipt.
TIP: Confirming in writing is a professional habit worth teaching: after a phone agreement, send a two-line email confirming it.
CLASSROOM ACTIVITY: Confirm it: learners write a two-line email confirming a decision made verbally.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adjective is the more useful of the two. “A brief summary” and “in brief” are standard report language.
COMMON MISTAKES: Confusing “brief” with “short” in some collocations. “A brief meeting” is natural; “a short summary” is fine but “a brief summary” is more formal.
EXTRA EXAMPLES: briefly · in brief · a brief · to brief somebody. The verb — to brief — means to give instructions.
TIP: “Briefly” is a useful signpost in both writing and presentations: “Briefly, the position is this…”
CLASSROOM ACTIVITY: Noun or adjective: give eight sentences and have learners identify which use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Worth contrasting with the stress pairs from Modules 5 and 6. Not every noun/verb pair shifts its stress, and this is a useful counter-example.
COMMON MISTAKES: Learners over-apply the stress-shift rule after meeting update, record and increase. Outline does not shift.
EXTRA EXAMPLES: outline the options · a brief outline · in outline. All are standard in reports.
TIP: “This report outlines…” is a strong opening line for the summary section. Teach it as a frame.
CLASSROOM ACTIVITY: Outline it: learners write a three-line outline of a real piece of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middle column is the useful part: learners already own the spoken versions, so this is a register upgrade rather than new vocabulary.
COMMON MISTAKES: “However” used like “but” in the middle of a sentence without punctuation. It needs a full stop or a semicolon before it.
EXTRA EXAMPLES: Do not over-use these. One linking word per paragraph is usually enough; more makes writing feel mechanical.
TIP: This is Level 2 Module 6's joining words, now in their formal written forms. Learners recognise the job and only need the new word.
CLASSROOM ACTIVITY: Upgrade it: give ten spoken sentences and have learners rewrite each with a written linker.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This is the most technical slide in the module and the highest-value one for report writing. Teach the four signals in the note as a search pattern.
COMMON MISTAKES: Learners believe the left column sounds more professional. It sounds more bureaucratic, which is not the same thing.
EXTRA EXAMPLES: The left column also hides WHO did the action. “A decision was made” never says by whom, and sometimes that is deliberate.
TIP: Search any draft for “-tion” words. Half of them can become verbs, and every one that does makes the sentence shorter.
CLASSROOM ACTIVITY: Find the verb: give ten noun-heavy sentences and have learners recover the verb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note is the whole slide. “Recommend to do” and “suggest to do” are among the most persistent errors at B1 and both appear in report writing constantly.
COMMON MISTAKES: “I suggest you to come early” is a double error — no “to”, and “suggest you” needs a that-clause.
EXTRA EXAMPLES: “Advise” is the exception: “I advise you to go” is correct. Mention it so the pattern does not over-generalise.
TIP: The recommendation section of a report lives or dies on these patterns. Drill them until they are automatic.
CLASSROOM ACTIVITY: Fix the pattern: give twelve sentences with “to do” errors and have learners correct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last side-panel point is subtle and important: hedge your recommendation if unsure, but never hedge a fact. A hedged fact is not a fact.
COMMON MISTAKES: Writing “I think delivery times rose” when the figures show they did. That turns evidence into an opinion and weakens the whole report.
EXTRA EXAMPLES: “The figures show that…” is a useful frame for findings. It attributes the claim to the data rather than to you.
TIP: This separation is what makes a report credible. A reader who can check your findings will trust your recommendations.
CLASSROOM ACTIVITY: Sort them: give twelve sentences and have learners split them into findings and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Step 2 is what most learners get backwards. Writing the summary first produces a vague summary and then a report that does not match it.
COMMON MISTAKES: Editing while drafting. Steps 2 to 4 are drafting; step 5 is editing. Doing both at once is what makes writing take forty minutes.
EXTRA EXAMPLES: This is the Module 3 accuracy routine — write first, check after — applied to whole documents.
TIP: Learners who follow these six steps typically halve the time they spend on a work email within a week. Say so; it is a strong motivator.
CLASSROOM ACTIVITY: Six steps: learners write one real work document following the steps in order, timing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Taking a brief properly is the skill here. Thirty seconds of questions prevents a rewrite, and most people never ask.
COMMON MISTAKES: Accepting a vague brief and guessing. The result is a document that has to be written twice.
EXTRA EXAMPLES: “Can I confirm the deadline?” uses the vocabulary from slide 13 and is a professional habit worth building.
TIP: Ask the class what a fifth useful question would be. “Who else will read it?” is the best answer — it decides the register.
CLASSROOM ACTIVITY: Take a brief: pairs role-play being asked for a document and must ask four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manager's line in turn 5 is the module in six words. Write the summary as though it is the only thing that will be read, because usually it is.
COMMON MISTAKES: Yonas asks a clarifying question in turn 4 rather than nodding. That is the Module 5 habit doing real work.
EXTRA EXAMPLES: Two corrections, not twenty — the feedback technique from Module 3 slide 27.
TIP: Note that the manager praises first and names a specific number of points. Learners will manage others one day and this is the model.
CLASSROOM ACTIVITY: Two things: pairs exchange drafts and give exactly one piece of praise and two corrections.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Phrase 6 is the one that prevents rework. Asked before writing it takes ten seconds; asked after, it costs an evening.
COMMON MISTAKES: Writing first and asking afterwards. The brief conversation is where a document is actually decided.
EXTRA EXAMPLES: Phrase 4 is a small but real improvement. “Please see attached” makes the reader open the file to find out what it is.
TIP: Phrase 3 is the Module 3 habit again: ask somebody to check your writing. It is the fastest way to keep improving.
CLASSROOM ACTIVITY: Six phrases: pairs role-play commissioning and delivering a document using all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Have pairs perform it, then repeat with a different document type. The four questions are the transferable part.
COMMON MISTAKES: Gap 2 uses the noun, which takes the -tion stress from Module 2: re-com-men-DA-tion.
TIP: Ask what a fifth question would be. “Who else will read it?” decides the register and almost nobody asks it.
CLASSROOM ACTIVITY: Do it again for a proposal instead of a report.
ANSWERS: 1 like · 2 recommendation · 3 confirm · 4 attach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 for all four rounds.
HOW TO TEACH: Round 2 is the spoken form of a summary and it is genuinely hard. If they cannot say it in sixty seconds, the summary is not clear enough to write.
COMMON MISTAKES: Round 3 with too many corrections. Two is the limit, and the limit is the teaching.
TIP: Round 4 is the module's core skill in spoken form. Do it before the written summarising exercise — speaking first makes writing easier.
CLASSROOM ACTIVITY: Explain then write: learners summarise aloud, then write the same summary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Speaking before writing removes the blank-page problem, exactly as in Level 2 Module 8. It also exposes a vague summary immediately.
COMMON MISTAKES: Learners cannot say their main finding in one sentence, which means they have not decided what it is. That is the real problem, not the writing.
EXTRA EXAMPLES: If step 4 takes more than thirty seconds, the summary is too long. Cut before writing rather than after.
TIP: This is the fastest fix in the module. A summary that survives the spoken test is almost always a good written summary.
CLASSROOM ACTIVITY: Thirty seconds: every learner delivers their three-part summary aloud before writing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Doing this aloud is faster than doing it on paper, and the ear catches the improvement immediately.
COMMON MISTAKES: Item 5 is the subtle one. The original hides who is doing the anticipating; the plain version names them.
TIP: Every plain version is shorter AND names a doer. Those two improvements travel together.
CLASSROOM ACTIVITY: Ten more: give ten inflated sentences and run this as a fast spoken round.
ANSWERS: 1 We'll use the new system. · 2 Before the project starts… · 3 We investigated. · 4 Costs fell a lot. · 5 We expect delays.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Have learners read their own draft aloud to a partner. Every stumble is a place the reader will stumble, and the diagnosis is immediate.
COMMON MISTAKES: Reading silently and seeing nothing wrong. The brain repairs its own text automatically; the mouth does not.
EXTRA EXAMPLES: This is the same technique as Level 2 Module 8's proofreading step, now applied to longer and more complex documents.
TIP: For anything important, read it aloud before sending. Two minutes, and it catches more than any spellchecker.
CLASSROOM ACTIVITY: Read it aloud: every learner reads their draft to a partner, who marks every stumble.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This combines Modules 6 and 8. A report is often presented as well as circulated, and the same three-part structure serves both.
COMMON MISTAKES: Reading the report aloud. A presentation of a document is not a recitation of it — the summary is the script.
EXTRA EXAMPLES: If the summary is good, this two-minute talk writes itself. That is a useful test of the summary.
TIP: Point out that steps 1 to 5 are exactly the report's own structure. Document and talk share one shape.
CLASSROOM ACTIVITY: Two minutes: every learner presents their own report to a small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18 minutes including the comparison.
HOW TO TEACH: Step 5 is the whole level's assessment. Play the Module 1 recording immediately afterwards — eight modules of progress heard back to back.
COMMON MISTAKES: Step 3 is where “recommend to do” reappears under pressure. Listen specifically for it.
TIP: Count the long pauses in step 5 and compare with the Module 1 count. That number is the most objective evidence of progress in the level.
CLASSROOM ACTIVITY: Then and now: play the first and last recordings side by side for any learner willing.
ANSWERS: SUCCESS CRITERIA: a 30-second summary with a finding and a recommendation · five plain rewrites · three correct recommendation patterns · a clear fact-versus-judgement distinction · 60 seconds of fluent speech with fewer long pauses than in Module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This is Level 2 Module 7's note-taking applied to a real work instruction. Learners should write six short items, not sentences.
COMMON MISTAKES: Missing item 6. The second recipient changes the register — Mimi is presenting it, so the summary must stand alone.
EXTRA EXAMPLES: The deadline has a reason attached, which tells you it is genuinely fixed rather than a preference.
ANSWERS: 1 A short report on the training programme. · 2 One page. · 3 How many trained, and the cost. · 4 Whether to run it again in September. · 5 The 15th, because the board meets on the 20th. · 6 Mimi, who is presenting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6 is the diagnostic. Learners who caught it were listening for actions, not just for facts — which is the Level 2 Module 7 skill fully developed.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Question 4 is the key line: “assume I read nothing else” is the rule for every summary. Have learners write it down.
COMMON MISTAKES: Missing item 1. Knowing what NOT to change is as important as knowing what to fix, and learners often rewrite everything.
EXTRA EXAMPLES: Three specific corrections, each with a reason. That is the feedback model from Module 3 slide 27.
ANSWERS: 1 The findings and the numbers. · 2 Into the summary at the top. · 3 Four or five lines. · 4 “Assume I read nothing else.” · 5 “Utilise” → “use”. · 6 Thursday.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Point out that the manager gave a reason for every correction. A correction without a reason gets applied once; a correction with one changes future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Situation 4 is a professional habit worth building explicitly. A two-line confirmation email after a verbal agreement prevents most misunderstandings.
COMMON MISTAKES: Taking feedback without the reason. The correction gets applied to one document; the reason improves every future one.
TIP: All four are note-taking, not transcription. Write short, write only what must be acted on.
CLASSROOM ACTIVITY: Confirm it: after any class agreement, one learner writes the two-line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Have learners cover everything but the summary and answer question 1. They can — which is the entire design of the document.
COMMON MISTAKES: Learners think the summary repeats the findings. It selects from them: four numbers out of eight, plus the recommendation.
EXTRA EXAMPLES: The recommendation adds specifics the summary omits — the follow-up session and the per-person budget.
TIP: This report is about 120 words and completely answers the brief from slide 36. Length is not the measure of a report.
CLASSROOM ACTIVITY: Cover and answer: learners answer three questions from the summary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Question 4 shows the relationship between the sections: the summary gives the decision, the recommendation gives the detail of carrying it out.
COMMON MISTAKES: Question 2 requires reading the findings — the per-person figure is not in the summary. That is a legitimate summary choice.
TIP: Question 5 is the one to dwell on. Most readers read only the summary, so it holds the decision, not the background.
ANSWERS: 1 60 staff, against a target of 50. · 2 About 667 birr per person. · 3 From 54% to 78% — a rise of 24 points. · 4 The follow-up half-day and the specific budget. · 5 Because most readers read only the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last item is worth stating aloud. Learners equate length with effort; this report is short, complete, and took longer to write because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Read it aloud in one breath and fail. That physical demonstration teaches more than any analysis.
COMMON MISTAKES: It is one sentence of about ninety words with no structure and no figures, and every number that matters sits outside it in brackets.
EXTRA EXAMPLES: “An evaluation was undertaken by the department” is the passive hiding the doer — from slide 18 of Module 6 and slide 17 here.
ANSWERS: No summary at all · numbers only in brackets at the end · ONE sentence · commencement, implementation, subsequent to, anticipated, utilisation, prior to · the department, buried in the passive · the rewrite is the slide 41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last item is the sharpest point: this document contains no recommendation at all. A report that does not say what should happen has not been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Two moves for every sentence: shorter words, and recover the verb. Applying both mechanically works every time.
COMMON MISTAKES: Item 2 must name the doer. The passive hides who did the evaluation, and the plain version puts them back.
TIP: Count the words saved. Roughly half, across all six — and nothing was lost.
ANSWERS: 1 We'll use the new system before March. · 2 The department evaluated it. · 3 Costs fell a lot. · 4 We expect delays. · 5 I've attached the report. · 6 We investigated the delays.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Items 3 and 5 are both correct. Including correct sentences stops learners changing things at random.
COMMON MISTAKES: Item 5 is correct because “advise” is the exception that takes an object plus “to”. Item 6 is the same structure applied wrongly to “recommend”.
TIP: Items 5 and 6 side by side make the exception clear. Advise takes “to”; recommend does not.
ANSWERS: 1 recommend replacing · 2 suggest that you come · 3 CORRECT · 4 suggest waiting · 5 CORRECT · 6 recommended that I apply (or “recommended applying”)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25 minutes.
HOW TO TEACH: Enforce the order. Writing the summary first is the commonest failure and it produces a summary that does not match the report.
COMMON MISTAKES: Reports of two pages. One page is the brief, and length is part of the task.
TIP: This is the final piece of written work in Level 3. Mark it properly, return it with comments, and allow one rewrite.
ANSWERS: MODEL: see slide 41. About 120 words, summary first, four numbers in it, a specific recommendation with a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Give this rubric BEFORE the task. Learners who know that the summary carries six marks put the summary in the right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Check 6 is the one learners skip and the one that finds the most. Send nothing important the moment it is finished.
TIP: Print this. It applies to every document a learner writes for the rest of their working life.
CLASSROOM ACTIVITY: Six checks: apply this to the final report before handing it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Questions 1 and 2 together are the module's central rule: written last, placed first.
ANSWERS: 1 a · 2 b · 3 b · 4 b · 5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Take the answers orally and fast. These six substitutions cover most inflated work writing.
COMMON MISTAKES: Item 5 must name a doer. “It is anticipated” hides who is expecting; “we expect” does not.
TIP: Print these six. They are the most frequent offenders in real work documents.
ANSWERS: 1 use · 2 before · 3 if · 4 at the start of · 5 we expect · 6 I've attached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3 makes the “advise” exception visible. It is the only one of the three that takes “to”.
ANSWERS: Part 1: 1–c, 2–a, 3–d, 4–b.  ·  Part 2: 1–c, 2–a, 3–b.  ·  Part 3: 1–b, 2–a, 3–c.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The test is simple: could somebody check it independently? Then it is a finding.
COMMON MISTAKES: Learners mark item 6 as a finding because it has a number. Numbers appear in both — the verb is what marks the judgement.
TIP: Point out the verbs: findings use rose, are, fell. Recommendations use recommend, should, would be worth.
ANSWERS: 1 F · 2 R · 3 F · 4 R · 5 F · 6 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Teach the four signals as a search pattern: “carried out”, “made”, “there was”, and -tion words.
COMMON MISTAKES: Item 5 has no doer at all in the original. The rewrite has to supply one, which is the point.
TIP: Count the words before and after. Every rewrite is shorter and every one names who did it.
ANSWERS: 1 We investigated the delays. · 2 Costs fell by 12%. · 3 We took three months to bring in the system. · 4 We decided to postpone. · 5 We evaluated the programme. · 6 Performance has improved.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Items 1 and 2 together are the rule worth repeating: written last, placed first.
ANSWERS: 1 F — at the top · 2 T · 3 F — “recommend waiting” · 4 T · 5 F — they slow the reader down · 6 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5 is the same as warm-up task 3. Compare the answers at the end of the module — most learners report a real drop.
COMMON MISTAKES: Question 2 written as a description rather than a summary. It needs a decision in it.
TIP: Question 1's second half tells you what these learners are avoiding, which is the most useful thing you can know for Level 4.
ANSWERS: No fixed answers. Question 2 must contain a finding and a recommendation; question 3 must use -ing or a that-clause.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Round 4 is the most useful. Every stumble marks a sentence the reader will also stumble over.
TIP: Round 3 is where “recommend to do” reappears. Listen for it specifically.
ANSWERS: SUCCESS CRITERIA: 1 a finding and a recommendation within 30 seconds · 2 six correct plain versions · 3 recommend + -ing, suggest + -ing, propose that · 4 fewer than three stumbles per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25 minutes.
HOW TO TEACH: Question 4 is the hardest and the most valuable. A forty-word limit forces the choice that makes a summary work.
TIP: Question 3 connects back to Module 5. The best report still fails if the email sending it has a useless subject line.
ANSWERS: 1 the slide 41 report · 2 assessed with the slide 49 rubric · 3 subject line with the action, and the attachment named · 4 exactly 40 words containing a finding and a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 Discussion, not writing.
HOW TO TEACH: Question 4 keeps the module honest. Short is usually right and not always — and saying so builds trust.
TIP: Question 4's answer matters. Plain and short is a default, not a universal law, and learners should know where it stops applying.
ANSWERS: 1 You cannot summarise findings you have not written; but the reader needs the conclusion first because they may read nothing else. 2 They slow the reader down and hide the meaning; the reader's time is what you are spending. 3 Because a reader must be able to check your facts independently of your judgement — mixed together, the whole thing reads as opinion. 4 A contract, a technical specification, a legal document, a training manual — anywhere the detail IS the document and completeness matters more than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This is the final quiz of Level 3. Question 20 is the end-of-level written task — allow thirty minutes and mark it with the rubric from slide 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This is the final quiz of Level 3. Question 20 is the end-of-level written task — allow thirty minutes and mark it with the rubric from slide 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This is the final quiz of Level 3. Question 20 is the end-of-level written task — allow thirty minutes and mark it with the rubric from slide 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This is the final quiz of Level 3. Question 20 is the end-of-level written task — allow thirty minutes and mark it with the rubric from slide 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This is the final quiz of Level 3. Question 20 is the end-of-level written task — allow thirty minutes and mark it with the rubric from slide 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Q9 and Q13 are the diagnostic block: summary placement, the recommend pattern, and the fact-versus-judgement split. Errors here need slides 7,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Q9 and Q13 are the diagnostic block: summary placement, the recommend pattern, and the fact-versus-judgement split. Errors here need slides 7,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Q9 and Q13 are the diagnostic block: summary placement, the recommend pattern, and the fact-versus-judgement split. Errors here need slides 7,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Q9 and Q13 are the diagnostic block: summary placement, the recommend pattern, and the fact-versus-judgement split. Errors here need slides 7,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Q9 and Q13 are the diagnostic block: summary placement, the recommend pattern, and the fact-versus-judgement split. Errors here need slides 7, 18 and 19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Wednesday's task uses their own real writing, which makes the improvement personal and immediate.
TIP: Friday's task is the single most effective proofreading technique in this module and takes two minutes.
CLASSROOM ACTIVITY: Ask learners to bring Wednesday's before-and-after versions and read two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This is the last assessed work of Level 3. Mark it carefully with the slide 49 rubric and allow one rewrite.
COMMON MISTAKES: Learners who cannot record must not be excluded. Offer the live option openly.
TIP: Keep the recording. Playing it beside the Module 1 recording is how Level 3 should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Half the report's marks are structure and summary. Say that before they start — it puts the effort where it belongs.
COMMON MISTAKES: Do not deduct heavily for grammar. Module 3 assessed accuracy; this module assesses structure and clarity.
TIP: Give the mark privately with two corrections and their reasons, following the Module 3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warm-up task 3 on slide 3 and ask again how long a work email takes. Most learners report a real drop within one week of using slide 20's method.
TIP: This is the last teaching summary of Level 3. Take a moment to name what the class has completed — three levels, twenty-two modules, CEFR pre-A1 to B1.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fourth box is the one to run before sending anything that matters.
TIP: Together with the Module 5 and Module 7 cards, this makes a three-page work-English toolkit covering documents, meetings and interviews.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 Do not rush this slide.
HOW TO TEACH: Play each learner's Module 1 recording next to their Module 8 recording. Eight modules of progress in four minutes is the most powerful thing you can do in this room.
COMMON MISTAKES: Do not let anyone leave thinking they are “still not fluent”. B1 is a real, recognised, employable level — say so plainly and specifically.
EXTRA EXAMPLES: Name what they can now do that they could not in Module 1: speak for sixty seconds without stopping, present to a room, answer twelve interview questions, and write a one-page report.
TIP: Preview Level 4 honestly: it is not more grammar. It is argument, debate, discussion and public speaking — using everything already built.
CLASSROOM ACTIVITY: Certificate moment: read every learner's name and say one specific thing each has improved at. It takes fifteen minutes and learners remember it for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A2 → B1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for Work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module of Level 3. Reports, formal emails and summarising — the written English that people keep, forward and judge you 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All of them permanent and all of them judged.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long work document quickly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and scan from Level 2, now on reports and contracts.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report with a clear structure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findings, recommendation. Three parts.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 long text in one paragraph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writing skill, and the most valued.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plainly instead of impressively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words, active verbs, one idea per sentence.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 your own work before it goes out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passes. The skill from Module 3, aimed at documents.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what do you actually read and write?</a:t>
            </a:r>
            <a:endParaRPr lang="en-US" sz="37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your own work.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 a week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read in English at work in one week? Emails? Reports? Nothing?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do you write?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do you avoid writing because it feels too difficult?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How long?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it take you to write one work email in English? Be honest.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English at work is permanent. That is what makes it different.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clumsy sentence in a meeting disappears in five seconds. The same sentence in a report is forwarded,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and read by people you will never meet — and it is the only evidence they have of how you think.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written text types at work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a fixed shape. Learn the shape and the writing gets much faster.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EMAIL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with the action · purpose in line 1 · detail · one request with a date.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5.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REPORT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first · findings · recommendation.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goes FIRST, not last.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NOTES / MINUTES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issues · decisions · actions.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and a date on every action.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PROPOSAL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your solution · what it costs · what happens next.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long document in five minutes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never have time to read everything. Nobody does.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FIVE-MINUTE METHOD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Read the TITLE and the SUMMARY.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30 seconds. Often that is enough.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Read the first line of every section.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2 minutes. Now you know the shape.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Scan for anything with YOUR name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or your department in it.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Read ONLY those parts properly.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Read the recommendations at the end.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documents are written to be skimmed. The summary exists for exactly this.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 report does not concern you, and the writer knows that.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and 4 find the part you must act on.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catches anything you are being asked to do.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report — three parts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goes FIRST. That is not optional.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—  what it is about, and when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SUMMARY  —  4 or 5 lines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What you found and what you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recommend. Written LAST, placed FIRST.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FINDINGS  —  what you discovered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With numbers. Headings if it is long.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RECOMMENDATION  —  what to do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Specific. With a date and a cost.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readers read ONLY the summary. Write it accordingly.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summary last, when you know what you found.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facts. Recommendations are what you think should happen. Never mix them.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if you can. Two at most.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Summarising — choosing what to leave out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is not a short version of everything. It is the important part only.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summary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point, made shorter.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paragraph of the original.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the section headings.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writer said.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Still too long to be useful.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summary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main finding.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supporting facts, with numbers.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next.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26"/>
              </a:spcAft>
              <a:buSzPct val="100000"/>
              <a:buChar char="•"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Four or five lines. Readable in 20 seconds.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if your reader read ONLY your summary, would they know what to do? If not, it is not finished.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— clear beats clever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column is not better English. It is worse.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sound impressive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“Utilise”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the event that”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“Prior to the commencement of”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is anticipated that”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significant deterioration occurred”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find attached herewith”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and professional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expect”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“Things got much worse”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attached”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words. Active verbs. One idea per sentence. This is a professional standard, not a simplification — large organisations train native speakers in exactly this.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send it — six passes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first line say why you are writing?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reader stops after one line, do they know the point?</a:t>
            </a:r>
            <a:endParaRPr lang="en-US" sz="166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ONE clear request or recommendation?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date. Three requests get one answer.</a:t>
            </a:r>
            <a:endParaRPr lang="en-US" sz="166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Third-person -s, articles, plurals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3 passes. One error type at a time.</a:t>
            </a:r>
            <a:endParaRPr lang="en-US" sz="166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long words that could be shorter?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→ use. Prior to → before.</a:t>
            </a:r>
            <a:endParaRPr lang="en-US" sz="166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 you cannot read in one breath?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it. One idea per sentence.</a:t>
            </a:r>
            <a:endParaRPr lang="en-US" sz="166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6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I be happy to receive this?</a:t>
            </a:r>
            <a:endParaRPr lang="en-US" sz="1660" dirty="0"/>
          </a:p>
          <a:p>
            <a:pPr indent="0" marL="0">
              <a:lnSpc>
                <a:spcPct val="102000"/>
              </a:lnSpc>
              <a:spcBef>
                <a:spcPts val="27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that catches everything else.</a:t>
            </a:r>
            <a:endParaRPr lang="en-US" sz="16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recommend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/ˌrekəˈmend/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say what you think somebody should do.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recommend replacing one van. We recommend that the team meets weekly.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“Recommend doing”, not “recommend to do”. And “I recommend YOU to go” is wrong — say “I recommend that you go”.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attach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/əˈtætʃ/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send a file with an email.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attached the report. Please see the attached figures.</a:t>
            </a:r>
            <a:endParaRPr lang="en-US" sz="16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find attached herewith” is old-fashioned. Write “I've attached the report” or “the report is attached”.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confirm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/kənˈfɜːm/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say definitely that something is true or agreed.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confirm the date? I can confirm that the payment was sent.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SECOND syllable: con-FIRM. And “confirm that…”, not “confirm about…”.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brief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/briːf/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and 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Short. Also: a short set of instructions for a task.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a brief summary. She sent me the brief this morning.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uses. As an adjective it means short; as a noun it is the instructions for a piece of work.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outline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/ˈaʊtlaɪn/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and 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7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description of the main points, without detail.</a:t>
            </a:r>
            <a:endParaRPr lang="en-US" sz="17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outlines three options. Here is an outline of the plan.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FIRST syllable for both the noun and the verb — unlike update and increase.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WORK ENGLISH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words for written English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signposts of a document. More formal than the spoken ones.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474720"/>
                <a:gridCol w="432785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Spoken version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signals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opposite is coming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Therefore  ·  As a 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addition  ·  Furthermore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· also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more point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example  ·  In particular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example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 ·  In summary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basically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conclusion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“However” usually starts a new sentence with a comma after it. “But” joins two halves of one sentence. They are not interchangeable in position.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WORK ENGLISH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made from verbs — and why to avoid them</a:t>
            </a:r>
            <a:endParaRPr lang="en-US" sz="37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lets you turn a verb into a noun. It usually makes writing worse.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hidden inside a noun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carried out an investigation.”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was a reduction in costs.”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made a decision.”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implementation of the system…”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Longer. Slower. Vaguer.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doing the work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investigated.”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“Costs fell.”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decided.”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we brought in the system…”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Shorter. Clearer. Who did what.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“carried out”, “made”, “there was”, and “-tion” words. Each one usually hides a verb that would do the job better.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WORK ENGLISH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and suggesting — the patterns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patterns. Two of them catch almost everyone.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657600"/>
                <a:gridCol w="35963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 + -ing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recommend replacing the van.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commonest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 that + clause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recommend that we replace it.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formal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 + -ing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suggest waiting until March.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“suggest to wait”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+ -ing / that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propose that the team meets weekly.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formal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“recommend to do” or “suggest to do”. English uses -ing or a that-clause after all four of these verbs.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WORK ENGLISH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findings — the language of evidence</a:t>
            </a:r>
            <a:endParaRPr lang="en-US" sz="37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what you found from what you think.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SENTENCE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—  facts, no opinion</a:t>
            </a:r>
            <a:endParaRPr lang="en-US" sz="15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“Delivery times rose from 4 to 6 days.”</a:t>
            </a:r>
            <a:endParaRPr lang="en-US" sz="15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“Two of the three vans are over 10</a:t>
            </a:r>
            <a:endParaRPr lang="en-US" sz="15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years old.”</a:t>
            </a:r>
            <a:endParaRPr lang="en-US" sz="15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“The figures show that…”</a:t>
            </a:r>
            <a:endParaRPr lang="en-US" sz="1550" dirty="0"/>
          </a:p>
          <a:p>
            <a:pPr indent="0" marL="0">
              <a:lnSpc>
                <a:spcPct val="136000"/>
              </a:lnSpc>
              <a:buNone/>
            </a:pPr>
            <a:endParaRPr lang="en-US" sz="15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—  what you think</a:t>
            </a:r>
            <a:endParaRPr lang="en-US" sz="15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 recommend replacing one van.”</a:t>
            </a:r>
            <a:endParaRPr lang="en-US" sz="15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“It would be worth reviewing this</a:t>
            </a:r>
            <a:endParaRPr lang="en-US" sz="15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again in six months.”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KEEP THEM APART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reader must be able to check your facts separately from your judgement.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them makes the whole report look like opinion.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use the past simple and the figures. Recommendations use recommend, suggest and should.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not certain, hedge the recommendation — never the finding.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WORK ENGLISH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how to write any work document</a:t>
            </a:r>
            <a:endParaRPr lang="en-US" sz="3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TYPE first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report, notes or proposal. The shape comes with it.</a:t>
            </a:r>
            <a:endParaRPr lang="en-US" sz="163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findings or the detail FIRST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start with the summary. You cannot summarise what you have not written.</a:t>
            </a:r>
            <a:endParaRPr lang="en-US" sz="163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the recommendation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with a date and a cost.</a:t>
            </a:r>
            <a:endParaRPr lang="en-US" sz="163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the summary, and put it at the TOP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 five lines. Written last, read first.</a:t>
            </a:r>
            <a:endParaRPr lang="en-US" sz="163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every long word and split every long sentence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→ use. One idea per sentence.</a:t>
            </a:r>
            <a:endParaRPr lang="en-US" sz="163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it, then proofread with the six passes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away catches more than any checklist.</a:t>
            </a:r>
            <a:endParaRPr lang="en-US" sz="1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plain English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is not simpler. It is clearer.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will utilise the new system prior to the commencement of March.”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“We'll use the new system before March.”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long words replaced by two short ones. Same meaning, half the length, and it can be read at speed.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short version less professional?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is more professional.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Large organisations train native speakers to write this way. Long words slow readers down and impress nobody who matters.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find attached herewith the report.”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attached the report.”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“Herewith” is a relic. It appears in old templates and should not be copied forward.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nouns hiding verbs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verb.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carried out an investigation into the delays.”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investigated the delays.”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verb was hiding inside “investigation”. Five words became three and the sentence gained a clear subject.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was a reduction in costs of 12%.”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“Costs fell by 12%.”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“There was” almost always signals a hidden verb. Look for it in every draft.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four signals should you search for?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“carried out” · “made” · “there was” · words ending in -tion.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Each usually hides a verb that would do the job in fewer words.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recommend and suggest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“to do”.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recommend to replace the van.” What is wrong?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recommend replacing the van.”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Recommend takes -ing or a that-clause. It never takes “to” plus a verb.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suggest you to come early.” Fix it.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suggest that you come early.” Or “I suggest coming early.”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errors in one short sentence: no “to”, and “suggest you” needs a that-clause.</a:t>
            </a:r>
            <a:endParaRPr lang="en-US" sz="123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“I advise you to go” correct?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“advise” is the exception.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Advise takes an object plus “to”. Recommend, suggest and propose do not.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findings or recommendation?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and judgement stay apart.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“Delivery times rose from four to six days.” Which is it?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finding. It is a fact with numbers.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Past simple plus figures. A reader can check it independently of anything you think.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recommend replacing one van.” Which is it?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recommendation. It is your judgement.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verb “recommend” marks it as opinion, which is exactly what the reader needs to know.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“I think delivery times rose” wrong?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a checkable fact into an opinion.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Hedge a recommendation if you are unsure. Never hedge a finding — a hedged fact is not a fact.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the summary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last. Read first.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summary go in a report?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top, straight after the title.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Most readers read only the summary. Anything not in it may as well not exist.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write it?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Last, when you know what you found.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You cannot summarise findings you have not yet written. Writing it first produces a vague summary.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test of a good summary?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reader read only this, would they know what to do?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Four or five lines, readable in twenty seconds, containing the finding and the recommendation.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asked for a report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 takes a brief properly. Watch the four questions she asks.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write me a short report on the delivery delays?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course. How long would you like it — one page or two?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is fine.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 you want a recommendation, or just the findings?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please. And a cost if you can.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Understood. Can I confirm the deadline — Friday?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· findings or recommendation · cost · deadline. Four questions, thirty seconds, and the report will be right first time.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a draft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 gets his report back. Two comments, not twenty.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good. The findings are clear. Two things?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recommendation is on page two. Move it into the summary.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summary should say what I recommend, not just what I found?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Exactly. Assume I read nothing else. And “utilise” — just say “use”.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Understood. I'll send it back this afternoon.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“Assume I read nothing else” is the rule for every summary you will ever write.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for documents and drafts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phrases for the conversation around written work.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long would you like it?”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57"/>
              </a:spcBef>
              <a:buNone/>
            </a:pPr>
            <a:r>
              <a:rPr lang="en-US" sz="134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question. Saves a rewrite.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confirm the deadline?”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57"/>
              </a:spcBef>
              <a:buNone/>
            </a:pPr>
            <a:r>
              <a:rPr lang="en-US" sz="134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confirm it. In writing if you can.</a:t>
            </a:r>
            <a:endParaRPr lang="en-US" sz="16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you mind having a look?”</a:t>
            </a:r>
            <a:endParaRPr lang="en-US" sz="1550" dirty="0"/>
          </a:p>
          <a:p>
            <a:pPr indent="0" marL="0">
              <a:lnSpc>
                <a:spcPct val="102000"/>
              </a:lnSpc>
              <a:spcBef>
                <a:spcPts val="335"/>
              </a:spcBef>
              <a:buNone/>
            </a:pPr>
            <a:r>
              <a:rPr lang="en-US" sz="126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somebody to check a draft.</a:t>
            </a:r>
            <a:endParaRPr lang="en-US" sz="15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attached the March figures.”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 attached, not just “attached”.</a:t>
            </a:r>
            <a:endParaRPr lang="en-US" sz="148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send a revised version by…”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commitment with a date. Always.</a:t>
            </a:r>
            <a:endParaRPr lang="en-US" sz="148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there anything else you'd like included?”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before you write, not after.</a:t>
            </a:r>
            <a:endParaRPr lang="en-US" sz="14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conversation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Fill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write a short report on the training programme?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course. How long would you ______ it?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 you want a ______ , or only the findings?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with a cost.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______ the deadline? And I'll ______ the figures when I send it.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these:  “like”  ·  “recommendation”  ·  “confirm”  ·  “attach”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commissioning and delivering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Three minutes each.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partner for a document. They must ask four questions.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· findings or recommendation · cost · deadline.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report you have written in 60 seconds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first: what you found and what you recommend.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feedback on a partner's draft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good, two corrections. No more.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 document aloud in 30 seconds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 · two facts · what should happen.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say the summary before you write it</a:t>
            </a:r>
            <a:endParaRPr lang="en-US" sz="3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say it, you cannot write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your main finding in one sentence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number if you have one.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supporting facts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with numbers.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should happen next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 With a date.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all three in thirty seconds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times you. Then write it down.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plain English out loud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pairs. Say the short version.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will utilise the new system.”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plainly.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“Prior to the commencement of the project…”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plainly.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carried out an investigation.”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verb.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was a significant reduction in costs.”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verb.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is anticipated that delays will occur.”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who expects what.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reading your own writing aloud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one-breath test, applied to your own document.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listen for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out of breath mid-sentence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to re-read a line to understand it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Stumbling over a long word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“-tion” words in one sentence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pause anywhere for twenty words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Split the sentence.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reader will re-read it too.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a shorter word.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Recover the verbs.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a full stop.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aloud finds problems your eye cannot. Your ear has heard far more English than your eye has read.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present your report in two minutes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6's structure, applied to a document.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report looks at…”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What it covers.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found three things.”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the shape.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findings, with numbers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Signposts between them.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recommend…”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with a date and a cost.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“Happy to take questions.”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answer three.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the final recording of Level 3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minutes. Then compare it with your Module 1 recording.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 document in 30 seconds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· two facts · recommendation.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five inflated phrases in plain English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· prior to · carried out · there was · anticipated.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three recommendations using the right patterns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+ -ing · suggest + -ing · propose that.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finding and a recommendation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for 60 seconds about your work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 as Module 1. Compare the two recordings.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taking a brief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twice. Write down what you must produce.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AT NATURAL SPEED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you put together a short report on the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programme? One page, no more.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the numbers — how many people we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what it cost. Then a recommendation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whether we run it again in September.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meets on the 20th, so I'd need it by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15th. And could you send it to Mimi as well?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presenting it.”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document is wanted?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long should it be?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two numbers are needed?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the recommendation about?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deadline, and why?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Who else must receive it?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how long?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no more.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length constraint is a real instruction. Two pages would be a failure, however good they were.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two numbers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people were trained, and the cost.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Named explicitly. A report without these two figures does not answer the brief.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recommendation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run the programme again in September.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clear question to answer. The recommendation section has a defined job.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deadline and its reason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15th, because the board meets on the 20th.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reason tells you it is fixed. A deadline with a reason cannot be negotiated casually.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the second recipient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Mimi, who is presenting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most missed item. Because she is presenting from it, the summary must stand entirely on its own.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feedback on a draft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what must change and what must not.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“Thanks for this. The findings are clear and the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all there — don't change those.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things. First, your recommendation is on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two. Move it into the summary at the top.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Second, the summary is nine lines. Cut it to four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five. Assume I read nothing else.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Third, you've used 'utilise' six times. Just say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'use'. Can you send it back by Thursday?”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should NOT be changed?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Where must the recommendation go?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long should the summary be?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phrase explains why?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word should be replaced?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When is it needed back?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what must not change?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 and the numbers.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Praise first, and it is specific. It also stops the writer rewriting the part that was already right.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 4 — the recommendation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it into the summary. “Assume I read nothing else.”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rule for every summary you will ever write. Anything outside it may never be read.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summary length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 five lines, cut from nine.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summary that takes a minute to read is not doing its job. Twenty seconds is the target.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word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“Utilise”, used six times, should be “use”.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Slide 9. A long word repeated six times makes a whole document feel heavier than it is.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feedback pattern?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Praise, then exactly three specific corrections, each with a reason.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Twenty corrections teach nothing. Three with reasons can all be acted on.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and writing together at work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situations where you must do both at once.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brief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14"/>
              </a:spcBef>
              <a:buNone/>
            </a:pPr>
            <a:r>
              <a:rPr lang="en-US" sz="126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items: what · how long · what content · deadline · why · who else. Ask if any is missing.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Minuting a meeting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24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actions only. A name and a date on each. Not a transcript of the discussion.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feedback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24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every correction AND its reason. The reason is what changes your next document.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in writing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verbal agreement, send two lines confirming it. It takes a minute and prevents most disputes.</a:t>
            </a:r>
            <a:endParaRPr lang="en-US" sz="15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 short report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Summary first.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PROGRAMME — MARCH  ·  12 April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60 staff at a cost of 40,000 birr.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 rose from 54% to 78%. I recommend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 again in September at a similar cost.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staff attended, against a target of 50.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40,000 birr, about 667 per person.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 rose from 54% to 78%.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staff asked for a follow-up.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 in September for about 60 staff.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40,000 birr. Add a half-day follow-up.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the summary. What must be decided?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numbers are in the summary?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section is fact, and which is judgement?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recommendation add?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act on the summary alone?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staff were trained, and against what target?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cost per person?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how much did test scores rise?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recommendation add that the summary does not?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summary at the top rather than the bottom?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numbers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trained against a target of 50.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comparison is what makes it good news. “60 staff attended” alone would say nothing.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score rise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54% to 78%.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Both figures given, not just the rise. The reader can judge the starting point as well as the change.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what the recommendation adds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follow-up half-day and a specific budget figure.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summary carries the decision; the recommendation carries the detail of doing it.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why the summary is first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most readers read only that.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Anything not in the summary may never be read. That is why it is written last and placed first.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the whole report?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120 words.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answers the brief completely. A longer report would not have answered it better.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the same report, badly written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facts. Find the six problems.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REPORT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commencement of March we carried out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of a training programme, and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to its completion an evaluation was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undertaken by the department, which revealed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there had been a significant improvement in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of the participants, and it is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that the utilisation of a similar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would be beneficial, although the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implications would require consideration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to any decision being taken.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( 60 staff · 40,000 birr · 54% → 78% 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summary?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numbers?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sentences is this?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four inflated words.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the evaluation?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it as a proper summary.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where is the summary?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isn't one.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reader who stops after the first line learns nothing at all. The decision is invisible.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where are the numbers?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brackets at the end, outside the text.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three figures that matter are not in a sentence anywhere. They are the whole point of the report.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how many sentences?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One. About 90 words.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Fails the one-breath test many times over. The reader has to re-read it to find where the ideas divide.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and 5 — inflated words, hidden doer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commencement · implementation · subsequent to · utilisation · prior to. The passive hides who evaluated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Long words plus the passive: the two habits that make writing bureaucratic instead of professional.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· attach · confirm · brief · outline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word “recommend” never appears in this version — so the reader is not told what to do.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plain English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sentence in plain English.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We will utilise the new system prior to March.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 evaluation was undertaken by the department.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There was a significant reduction in costs.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It is anticipated that delays will occur.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Please find attached herewith the report.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We carried out an investigation into the delays.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recommend and suggest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each sentence. One of them is already correct.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 recommend to replace the van.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 suggest you to come early.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We propose that the team meets weekly.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 would suggest to wait until March.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 advise you to check the figures.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She recommended me to apply for the job.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write a one-page report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report on something real from your work or studies. Follow the six steps from slide 20.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TITLE — what it is about, and the date.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FINDINGS first — what you discovered, with at least three numbers.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RECOMMENDATION — specific, with a date and a cost if you can.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SUMMARY last — four or five lines. Put it at the TOP.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Cut every long word. Split every long sentence.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Read it aloud, then proofread with the six passes.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how it is marked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with a date, summary at the TOP, findings, recommendation.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summary in the wrong place is the single most common failure, and it costs the most marks.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 five lines, containing the main finding AND the recommendation.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test: could a reader act on this alone? If not, it is not finished.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three numbers, and facts only — no opinion mixed in.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reader must be able to check your facts separately from your judgement.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with a date. Correct pattern: recommend + -ing or that.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“Recommend to do” loses marks here. It is the module's target error.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inflated words, no sentence you cannot read in one breath.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Utilise, prior to, commencement and the rest. Each one is a mark.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writing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summary or the purpose at the TOP?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they read nothing else.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ONE clear request or recommendation, with a date?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requests get one answer.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findings separate from what I think?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in one section, judgement in another.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long word that could be shorter?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→ use. Prior to → before.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 I cannot read in one breath?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it. One idea per sentence.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left it and reread it?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away catches more than any checklist.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Where does the summary go in a report?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at the top     b) at the bottom     c) in the middle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When should you write the summary?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first     b) last     c) halfway through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is correct?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 recommend to replace it     b) I recommend replacing it     c) I recommend replace it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“Utilise” should usually be: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used as it is     b) “use”     c) “utilisation”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 finding is: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what you think     b) a fact you discovered     c) what should happen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plain English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plain English word or phrase.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utilise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prior to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event that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at the commencement of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it is anticipated that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please find attached herewith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linkers and patterns.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DOCUMENT to its STRUCTURE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report     2. minutes     3. email     4. proposal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status · issues · decisions · actions     b) problem · solution · cost · next steps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summary · findings · recommendation     d) subject · purpose · detail · request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SPOKEN linker to the WRITTEN one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but     2. so     3. and also          a) therefore     b) in addition     c) however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VERB to its PATTERN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recommend     2. advise     3. suggest          a) + object + to     b) + -ing or that     c) + -ing or that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finding or recommendation?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 for finding or R for recommendation.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Delivery times rose from four to six days.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 recommend replacing one van this year.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Two of the three vans are over ten years old.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It would be worth reviewing this again in six months.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Test scores rose from 54% to 78%.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We should budget 40,000 birr for September.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recover the verb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sentence with the verb doing the work.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We carried out an investigation into the delays.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There was a reduction in costs of 12%.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implementation of the system took three months.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We made a decision to postpone.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An evaluation of the programme was undertaken.</a:t>
            </a:r>
            <a:endParaRPr lang="en-US" sz="17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There has been an improvement in performance.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summary goes at the end of a report.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 should write the summary last.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“I recommend to wait” is correct.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Findings and recommendations should be kept separate.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Long words make writing more professional.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“Advise” takes an object plus “to”.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do you write in English at work, and what do you avoid?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a five-line summary of something you did last month.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one recommendation using the correct pattern.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Name three inflated words you have used yourself.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How long does one work email take you now?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before you write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Your partner checks the structure.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Summarise a document in 30 seconds. Finding · facts · recommendation.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six inflated phrases in plain English.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Make three recommendations using three different patterns.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Read your own draft aloud. Partner marks every stumble.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the full document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real situation from your own work if you can.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Rewrite the slide 44 paragraph as a proper report.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findings, recommendation.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a one-page report on something real.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in order. Summary written last.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the covering email that sends it.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with the action. Say what you attached.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Summarise your own report in exactly 40 words.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them.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Read it aloud and mark every sentence you cannot finish in one breath.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split them.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 if you can.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write the summary last but place it first?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know at each point?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do long words make writing worse, not better?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reader's time.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keep findings and recommendations apart?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the reader do if they are mixed?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When would a LONG document be the right choice?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 example.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quiz — Part 1 · Structure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worth double.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the three parts of a short report.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Where does the summary go?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When do you write it?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the test of a good summary?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quiz — Part 2 · Plain English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Plain English version of “utilise”.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Plain English version of “prior to”.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Rewrite: “There was a reduction in costs.”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Name the four signals of a hidden verb.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quiz — Part 3 · Recommending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Correct: “I recommend to replace the van.”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Correct: “I suggest you to come early.”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Which verb DOES take an object plus “to”?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Name two correct patterns after “recommend”.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answers.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quiz — Part 4 · Findings and reading</a:t>
            </a:r>
            <a:endParaRPr lang="en-US" sz="37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What is the difference between a finding and a recommendation?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Why keep them separate?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Name the five steps for reading a long document fast.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answers.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Which part of a report do most people read?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quiz — Part 5 · Doing 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Name the six steps for writing any work document.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Name three of the six proofreading checks.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What is the one-breath test?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WRITING: a one-page report with summary, findings and recommendation.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with the slide 49 rubric.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the three parts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findings · recommendation.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summary is written last and placed first. The other two follow in that order.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where does the summary go?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top, straight after the title.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Most readers read only the summary, so anything not in it may never be read.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when do you write it?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You cannot summarise findings you have not yet written. Writing it first produces a vague summary.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the test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reader read ONLY the summary, would they know what to do?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Four or five lines, readable in twenty seconds, containing the finding and the recommendation.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“utilise”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Shorter, clearer, and it is what large organisations train native speakers to write.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“prior to”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syllables saved, and no meaning lost anywhere.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“There was a reduction in costs.”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“Costs fell.”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verb was hiding inside “reduction”. Six words became two.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the four signals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“carried out” · “made” · “there was” · words ending in -tion.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Each usually hides a verb that would do the job in fewer words and name the doer.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“I recommend to replace…”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recommend replacing the van.”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Recommend takes -ing or a that-clause. It never takes “to” plus a verb.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“I suggest you to come early.”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suggest that you come early.”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errors: no “to”, and “suggest you” needs a that-clause.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which verb takes “to”?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— “I advise you to go.”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exception. Recommend, suggest and propose do not follow this pattern.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two patterns after “recommend”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+ -ing, and recommend that + clause.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Both correct. The that-clause is slightly more formal and common in reports.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finding or recommendation?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is a fact you discovered. A recommendation is what you think should happen.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Findings use past simple and figures; recommendations use recommend, suggest and should.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why separate?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reader can check your facts independently of your judgement.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Mixed together, the whole report reads as opinion and loses credibility.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the five reading steps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summary · first lines · scan for your name · read those parts · read the recommendations.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Five minutes. Work documents are written to be read this way.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which part is read?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Which is why it is written last, placed first, and carries the recommendation.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the six steps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type · findings · recommendation · summary on top · cut long words · leave it, then proofread.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Following them in order typically halves the time a work document takes.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three proofreading checks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three of: purpose in line 1 · one request with a date · long words · one-breath sentences.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last one catches tone problems no rule-based check will find.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the one-breath test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say a sentence in one breath, split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physical test that catches almost every over-long sentence in a document.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report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on structure, summary, findings, recommendation and plain English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Six marks for structure and six for the summary — half the total is where the summary goes and what is in it.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 Use it at work.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 long English document in five minutes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five steps. Then write three lines about it.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something you read in exactly 40 words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· two facts · what should happen.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one of your own emails in plain English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every long word. Count the words saved.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recommendations with correct patterns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+ -ing · suggest + -ing · propose that.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 of your own documents aloud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every sentence you cannot finish in one breath.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final work for Level 3.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report on something real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at the top, findings with three numbers, a specific recommendation.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covering email that sends it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with the action. Say what you attached.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two-minute speaking challenge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plain English · recommendations · 60 seconds on your work.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homework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— 25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(6) · summary at the top with a recommendation (6) · findings with three numbers (5) · specific recommendation, correct pattern (4) · plain English (4).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email — 5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 with the action (2) · purpose in line 1 (2) · attachment named (1).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— 10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summary (3) · plain English rewrites (2) · three correct patterns (3) · 60 seconds fluent speech (2).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40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32+ excellent · 24–31 good · 16–23 keep practising · below 16 → rewrite the report with your teacher.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document types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report · minutes · proposal. Each has a fixed shape.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fast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30"/>
              </a:spcBef>
              <a:buNone/>
            </a:pPr>
            <a:r>
              <a:rPr lang="en-US" sz="124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five minutes. Summary, first lines, your name.</a:t>
            </a:r>
            <a:endParaRPr lang="en-US" sz="16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30"/>
              </a:spcBef>
              <a:buNone/>
            </a:pPr>
            <a:r>
              <a:rPr lang="en-US" sz="124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last, placed first. Assume they read nothing else.</a:t>
            </a:r>
            <a:endParaRPr lang="en-US" sz="16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words, active verbs, one idea per sentence.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vs recommendations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in one place, judgement in another.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proofreading passes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leave it ten minutes before you reread.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writing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report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date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SUMMARY  —  4–5 lines, written LAST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FINDINGS  —  facts, with numbers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RECOMMENDATION  —  specific, dated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they read only the summary.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→ use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to → before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event that → if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anticipated → we expect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out an investigation → investigated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+ -ing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that + clause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+ -ing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that + clause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“recommend to do”.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send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Purpose or summary at the TOP?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One request, with a date?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Facts separate from opinion?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Any long word to cut?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Sentence over one breath?  6  Reread.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FINISHED LEVEL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modules. You can now work in English — meetings, presentations, interviews and documents.</a:t>
            </a:r>
            <a:endParaRPr lang="en-US" sz="4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started Level 3 stopping mid-sentence. You can now speak for a minute without pausing, present to a room,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an interview and write a report people will keep. That is CEFR B1, and it is a working level.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Level 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Spoken English &amp; Fluency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Debate, discussion and public speaking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8 — Reading &amp; Writing for Work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· Module 8 — Reading &amp; Writing for Work</dc:title>
  <dc:subject>English course for Ethiopian learners — Level 3 Intermediate English</dc:subject>
  <dc:creator>English Learning Platform</dc:creator>
  <cp:lastModifiedBy>English Learning Platform</cp:lastModifiedBy>
  <cp:revision>1</cp:revision>
  <dcterms:created xsi:type="dcterms:W3CDTF">2026-07-28T11:21:03Z</dcterms:created>
  <dcterms:modified xsi:type="dcterms:W3CDTF">2026-07-28T11:21:03Z</dcterms:modified>
</cp:coreProperties>
</file>