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Open with the distinction that runs through the module: being understood and being taken seriously are different achievements. Modules 1 to 4 delivered the first. This one is about the second.
TIP: Most learners have never been taught workplace register, so they translate directly and sound blunt. That costs them, and nobody ever explains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4 is the one learners most need and least expect. Disagreement in English is heavily softened, and direct translation reads as confrontation.
TIP: Objective 3 is the daily one. Most workplace English is short status updates, and a clear thirty-second update builds a reputation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Every sentence here is grammatically flawless and professionally damaging. That gap is the module's subject and the warm-up should make it uncomfortable.
COMMON MISTAKES: Correct nothing. Ask how each one would be received, not whether it is correct.
TIP: Learners often defend these as “clear and direct”. Acknowledge that they are — and then explain that in English clarity without softening reads as rudeness, whatever the speaker intended.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 second line is the honest and slightly uncomfortable point. Register errors have consequences and no feedback, exactly like the intonation problem in Module 2.
COMMON MISTAKES: Learners think politeness is dishonesty or weakness. In English professional culture it signals respect for the other person's autonomy — it does not change the facts.
EXTRA EXAMPLES: This is a cultural difference, not a language rule. Directness that is normal and respectful in Amharic or Oromo can read as aggressive in English.
TIP: Say clearly that you are not asking them to be less honest. Every softened version in this module says exactly the same thing as the blunt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length rule is real and usable: more words means more politeness. Learners can apply it immediately without any cultural knowledge.
COMMON MISTAKES: Using row 1 in an email. It reads as an order from someone with no authority to give one, which is the worst possible combination.
EXTRA EXAMPLES: Row 3 is the safe default. If unsure, use “could you” — it is appropriate almost everywhere.
TIP: Note that “I was wondering if…” is the same chunk from Module 1 slide 7. Its length is precisely why it is polite.
CLASSROOM ACTIVITY: Climb the ladder: give five requests and have learners produce all five levels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Move 3 is the one to drill hardest. The pattern is always the same: acknowledge first, then disagree. Never lead with the disagreement.
COMMON MISTAKES: Starting a disagreement with “no” or “that's wrong”. It closes the conversation and makes the other person defend rather than think.
EXTRA EXAMPLES: Move 4 matters more than it looks. Asking a clarifying question in a meeting signals engagement, and silence signals absence.
TIP: The last line of move 4 — “So you're saying that…?” — is the repeat-back technique from Level 2 Module 7, now doing professional work.
CLASSROOM ACTIVITY: Four moves: run a five-minute meeting on a real topic where every learner must use all four moves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subject line is the most neglected part and the most important. “Report” is useless; “Report — need figures by Friday” tells the reader the topic, the action and the deadline.
COMMON MISTAKES: Burying the request in the last line after three paragraphs of context. Busy readers stop after two lines.
EXTRA EXAMPLES: The one-email-one-request rule is practical: multiple questions in one message reliably get a partial answer.
TIP: This is the three-part message from Level 2 Module 8, now with a subject line and a specific request. Same shape, professional register.
CLASSROOM ACTIVITY: Fix the subject: give six bad subject lines and have learners rewrite each to include the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three-part structure is the whole slide. Have learners give the same update in both styles and ask which one they would rather receive.
COMMON MISTAKES: Hiding a problem. Managers discover problems eventually, and the discovery is far worse than the disclosure. Say it early with a next step attached.
EXTRA EXAMPLES: A percentage or a number in part 1 does most of the work. “80% done” is information; “going OK” is not.
TIP: Always attach a date to part 3. An update without a date leaves the manager to ask, which is the thing a good update prevents.
CLASSROOM ACTIVITY: Thirty-second update: every learner gives a real update on real work in exactly three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 The most valuable slide in the module.
HOW TO TEACH: Demonstrate both versions yourself: the blunt one and the three-step one, saying exactly the same thing. The difference in how they land is obvious and slightly shocking.
COMMON MISTAKES: Skipping step 1 because it feels dishonest. It is not agreement — it is acknowledgement, which is a different thing.
EXTRA EXAMPLES: Step 3 is what separates a difficult colleague from a valuable one. Always bring an alternative, even a weak one.
TIP: This structure works in every professional culture, but in English it is close to mandatory. Say that plainly.
CLASSROOM ACTIVITY: Disagree with me: state five opinions and require every learner to disagree using all three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Row 3 is the most useful and the least known. “Could I get back to you tomorrow?” buys real time and is almost never refused.
COMMON MISTAKES: A flat “no” with no reason and no alternative. It is honest, and in a workplace it reads as uncooperative.
EXTRA EXAMPLES: “I'm afraid” has nothing to do with fear — from Module 1. It is the standard professional marker for unwelcome news.
TIP: Row 4 reframes a refusal as a question, which is the most sophisticated move here and often changes the task rather than refusing it.
CLASSROOM ACTIVITY: Say no four ways: give five requests and have learners refuse each using a different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Teach the two verbs as fixed pairs. Collocations must be learned with the noun, or the noun is unusable.
COMMON MISTAKES: “I reached the deadline” and “I caught the deadline” are both direct translations and both sound wrong.
EXTRA EXAMPLES: meet · miss · extend · set a deadline. Also “a tight deadline” meaning very little time.
TIP: “I'm afraid we'll miss the deadline” is a sentence every professional needs. It combines this word with the Module 1 softener.
CLASSROOM ACTIVITY: Deadline sentences: every learner says one true sentence about a real deadline, using meet or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Mention both pronunciations without ruling on them. Learners hear both in Ethiopia and need to recognise each.
COMMON MISTAKES: The key phrases are “ahead of schedule”, “behind schedule” and “on schedule”. All three take no article.
EXTRA EXAMPLES: “Behind schedule” is the polite way to say late about a project rather than a person.
TIP: This word does the work of an update: “We're slightly behind schedule” is softer and more precise than “we are late”.
CLASSROOM ACTIVITY: Ahead or behind: give five project situations and have learners describe each with the right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is the noun/verb stress rule from Module 2 slide 17 appearing in a real workplace word. Point the connection out explicitly.
COMMON MISTAKES: Using noun stress for the verb. It is understood but marks the speaker as reading rather than speaking.
EXTRA EXAMPLES: give an update · ask for an update · keep somebody updated · a quick update.
TIP: “Just a quick update —” is the natural opener for the three-part update from slide 8. Teach them together.
CLASSROOM ACTIVITY: Noun or verb: give ten sentences and have learners say the word with the correct stress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register vocabulary: the same fact, a less alarming word. Professional English is full of these substitutions and learners are rarely taught them.
COMMON MISTAKES: Saying “we have a big problem” when “there's an issue with…” conveys the same information without causing alarm.
EXTRA EXAMPLES: Other softer work words: delay rather than late · concern rather than complaint · challenge rather than difficulty.
TIP: The /ʃ/ sound at the start — like “shoe”. Not “iss-ue”.
CLASSROOM ACTIVITY: Soften the word: give eight blunt work statements and have learners find the professional equivalent.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“Just following up on my email of Tuesday” is the standard polite way to chase something without accusing anyone of ignoring you.
COMMON MISTAKES: Learners either never chase, and things are forgotten, or chase bluntly — “Why didn't you answer?” This phrase solves both.
EXTRA EXAMPLES: follow up ON something · follow up WITH somebody. The two prepositions do different jobs.
TIP: This is one of the most useful phrases in professional English and almost nobody teaches it. Give it the full eight minutes.
CLASSROOM ACTIVITY: Chase it politely: learners write a two-line follow-up email for three unanswered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insight is that English uses past forms for distance, not for time. “Could you” is not about the past — it is about softening.
COMMON MISTAKES: Learners use “can” everywhere because it was taught first. “Could” is the safe professional default.
EXTRA EXAMPLES: “Might” is the most useful for opinions: “It might be worth checking” disagrees with almost no force at all.
TIP: This connects to Module 1's softening slide. Modals are the grammar behind that vocabulary.
CLASSROOM ACTIVITY: Modal ladder: give ten blunt sentences and have learners soften each with could, would or might.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These are conventions, not rules with reasons. Teach them as fixed pairs to be memorised, which is faster than explaining them.
COMMON MISTAKES: “Dear Sir” with “Yours sincerely” is the classic mismatch. It is noticed in formal correspondence and job applications.
EXTRA EXAMPLES: Never open a professional email with “Hello” alone or with no greeting at all. Both read as abrupt.
TIP: “Best regards” is the safe universal choice. If a learner remembers only one closing, that is the one.
CLASSROOM ACTIVITY: Match them: give six situations and have learners choose the opening and closing pair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step-back rule is mechanical and covers most cases. Draw it as an arrow moving one place into the past.
COMMON MISTAKES: Keeping the question inversion: “He asked me what did I want” should be “He asked me what I wanted”. Reported questions are not questions.
EXTRA EXAMPLES: “Say” takes no person: “he said that…”. “Tell” requires one: “he told ME that…”. That distinction causes constant errors.
TIP: This matters in meetings and in email: reporting what a colleague said accurately is a daily professional task.
CLASSROOM ACTIVITY: Report it back: read ten statements and have learners report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second point in the side panel is the practical argument: hedging protects your reputation, because a missed absolute promise costs far more than a hedged one.
COMMON MISTAKES: Over-hedging until nothing is committed. The last side-panel point is a real limit and should be said aloud.
EXTRA EXAMPLES: “Should” is the workhorse: “It should be ready” means you expect it but are not guaranteeing it.
TIP: Balance this against slide 8. An update needs a specific date; hedging adjusts the confidence, not the specificity.
CLASSROOM ACTIVITY: Hedge it: give ten absolute statements and have learners produce a hedged version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Habit 4 is the one that builds a reputation fastest. A colleague who always attaches a date is trusted with more work.
COMMON MISTAKES: Habit 5 is the one nobody does. Learners wait, the thing is forgotten, and they conclude they were ignored.
EXTRA EXAMPLES: All five are learnable in a week and each is visible to everyone you work with.
TIP: Print these five. They are more valuable to a working adult than any grammar point in Level 3.
CLASSROOM ACTIVITY: One a day: learners choose one habit to apply deliberately each day for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Have learners label each turn with the move from slide 6. Then point out that Bethlehem's opinion changed the outcome — because it came with a reason.
COMMON MISTAKES: Bethlehem never says “no”. She proposes an alternative with a reason, which is the three-step disagreement compressed into one line.
EXTRA EXAMPLES: Tolosa's “and I'd add that” is agreement doing real work. Simple agreement adds nothing; agreement plus a new fact does.
TIP: Mimi's clarifying question is not weakness — it produces the specific information the manager needed. Say so.
CLASSROOM ACTIVITY: Run a meeting: give a real decision and require every learner to use one of the four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Yonas's first line does something powerful: he states the manager's reason back, showing he understands the pressure. That is acknowledgement at its strongest.
COMMON MISTAKES: Learners would say “No, it's impossible”. Same fact, no acknowledgement, no alternative, and a damaged relationship.
EXTRA EXAMPLES: The split delivery in the last line is a genuinely professional move — partial delivery on time plus completion later.
TIP: Note “though” at the end of line 4. It softens the disagreement and is very natural in spoken English.
CLASSROOM ACTIVITY: Push back: give five unreasonable requests and have learners respond with all three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Phrase 1 is the most important for quiet learners. Many never speak in meetings because they do not know how to enter, and are then judged as disengaged.
COMMON MISTAKES: Waiting for a gap that never comes. Meetings require you to enter, and phrase 1 is how you do it politely.
EXTRA EXAMPLES: Phrase 5 is what stops meetings ending in ambiguity. The person who confirms decisions becomes valuable very quickly.
TIP: Drill all six as chunks at speed. In a real meeting there is no time to construct them.
CLASSROOM ACTIVITY: Six phrases: run a ten-minute meeting where every learner must use at least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This combines all three concepts: the three-step disagreement, the workplace vocabulary and the hedging from slide 19.
COMMON MISTAKES: Gap 5 takes “should”, not “will”. It is a hedged commitment — from slide 19 — and “will” would over-promise.
TIP: The last line is the split-delivery move from slide 27. Praise any pair that recognises it.
CLASSROOM ACTIVITY: Do it again with a different task and a different reason.
ANSWERS: 1 see · 2 afraid · 3 issue · 4 followed · 5 should · 6 Could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 for all four rounds.
HOW TO TEACH: Round 1 is the daily skill and worth repeating every lesson. Time it strictly at thirty seconds.
COMMON MISTAKES: In round 2 learners skip the acknowledgement. Have the partner explicitly confirm all three steps were present.
TIP: Round 3 makes the ladder concrete. Saying the same request five ways shows how mechanical politeness really is.
CLASSROOM ACTIVITY: Update round: start every remaining Level 3 lesson with a thirty-second update from three learners.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The test in step 4 is whether the partner has any follow-up questions. A good update leaves none.
COMMON MISTAKES: Vague status and no date. Both force the manager to ask, which is precisely what the update should prevent.
EXTRA EXAMPLES: Have learners do it about real current work. Invented content produces vague updates.
TIP: This is the single most repeated speaking task in professional life. Practise it until it is automatic.
CLASSROOM ACTIVITY: No questions: a round succeeds only if the listener has nothing left to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Task 5 is the important one. Being disagreed with skilfully feels completely different from being contradicted, and experiencing it teaches more than performing it.
COMMON MISTAKES: Skipping the alternative in step 3. Without it the disagreement is just obstruction.
EXTRA EXAMPLES: Insist on a genuine reason each time. “I don't like it” is not a reason.
TIP: Ask learners afterwards how task 5 felt. The answer is usually “fine” — which is the entire point.
CLASSROOM ACTIVITY: Both directions: every learner both gives and receives at least two disagreements.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Demonstrate both columns yourself. The sarcastic version of “that's a fair point” is genuinely unpleasant to hear and learners never forget it.
COMMON MISTAKES: This is the Module 2 flat-intonation problem in its highest-cost setting. Polite phrases delivered flat are worse than no politeness at all.
EXTRA EXAMPLES: The rise on “could you” is what makes it a request. Falling makes it an instruction.
TIP: This is why Module 2 came before Module 5. Politeness needs both the words and the tune, and neither works alone.
CLASSROOM ACTIVITY: Warm or flat: say a phrase either way and have learners judge how it landed.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Assign step 5 to a different learner each time you run this. Confirming decisions is a valuable role and it needs practising.
COMMON MISTAKES: One or two learners dominate. The requirement that everyone performs each move prevents that.
EXTRA EXAMPLES: Use a real decision from the learners' workplaces if possible. Real stakes produce far better language.
TIP: Run this simulation again in Module 6 and Module 7. It is the closest thing in class to real professional English.
CLASSROOM ACTIVITY: Observer role: one learner watches and reports which moves were used and which were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 including listening back.
HOW TO TEACH: Listen for tone as well as words. A learner who produces the right phrases flatly has not yet got this — that is the slide 33 point.
COMMON MISTAKES: Step 4 usually produces a hidden “no”. Check that a reason and an alternative are both present.
TIP: Step 5 includes the update stress pair. Listen for whether the noun and verb are distinguished.
CLASSROOM ACTIVITY: Keep every recording for the Level 3 comparison.
ANSWERS: SUCCESS CRITERIA: a complete three-part update with a date · three distinct politeness levels · all three disagreement steps present · a refusal with reason and alternative · five words used correctly, with UP-date as a noun.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Chaltu's whole turn is the perfect update: percentage, what is done, the issue, and the action already taken with a date. Point out each part.
COMMON MISTAKES: Her last turn is a disagreement with an alternative — “I'd rather not… but I could…”. That is the three-step structure compressed.
EXTRA EXAMPLES: “I'd rather not” is softer than “no” and gives a reason immediately after. It is worth drilling as a chunk.
ANSWERS: 1 About 70%. · 2 The trainer has cancelled. · 3 Booked the venue, written materials, contacted two other trainers. · 4 By Thursday. · 5 “I'd rather not” plus a reason. · 6 She could run the first session herself.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Play this script again at the end of the module as a model. Seven lines contain the update structure, a hedge, a soft disagreement and an alternative.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Question 6 is the one to dwell on. B contains exactly the same facts, including the fact that the report is held up. Nothing is hidden — only the blame is removed.
COMMON MISTAKES: Learners think B is evasive. Read both again and ask which fact is missing from B. None is.
EXTRA EXAMPLES: B acknowledges the other person's workload, which is the acknowledgement step from slide 9 applied to a request.
ANSWERS: 1 Both ask for the March figures today. · 2 A — “because of you”. · 3 “The report is held up until they arrive” — a fact about the report, not the person. · 4 “I know you've been busy”, “Could you possibly”, “I'm afraid”. · 5 Almost everyone says B. · 6 No — same facts, no blame.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6 settles the objection that politeness is dishonest. Read both versions again and challenge the class to find one fact present in A and missing from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Tactic 4 is the safety net. If you understood only half the meeting, one confirming question recovers the part that concerns you.
COMMON MISTAKES: Trying to follow every word. Meetings contain a great deal of discussion that changes nothing — the decisions are what matter.
TIP: This is the Level 2 Module 7 strategy — listen for strong words — applied to a much harder situation.
CLASSROOM ACTIVITY: Three things: after the meeting simulation, every learner writes only decision, action and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Start with the subject lines. “figures” tells the reader nothing; B's tells them the topic, the action and the deadline before they open it.
COMMON MISTAKES: Learners defend A as efficient. Ask which one they would answer first if they had forty emails — the answer is always B.
EXTRA EXAMPLES: B follows up on an earlier message without accusing anyone of ignoring it. That is the follow-up phrase from slide 15.
TIP: The last question is the honest test. Every fact in A appears in B; only the blame is gone.
CLASSROOM ACTIVITY: Rewrite A: learners turn version A into a professional email in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Question 1 is the practical one. A subject line containing the action and the date gets opened first in a full inbox.
COMMON MISTAKES: Question 5: “Best regards” is used because this is ordinary professional correspondence with a known name. “Yours sincerely” would also be correct but is more formal.
TIP: Question 3 is the follow-up technique. Learners either never chase or chase accusingly, and this is the middle path.
ANSWERS: 1 The topic, the action and the deadline. · 2 The first line. · 3 “I'm following up on my email of Tuesday.” · 4 “The report is held up until they arrive” — a fact about the report. · 5 “Best regards” — professional, and appropriate for a known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Ask which email the class would send to their own manager. Then ask which they actually send now. That gap is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Questions 5 and 6 are the point: minutes record decisions and actions, not opinions or discussion. That discipline is what makes them useful later.
COMMON MISTAKES: Learners write minutes as a narrative of who said what. Nobody reads that. The four-section structure is what gets used.
EXTRA EXAMPLES: The ACTIONS section is the most important. A name and a date against every action is what makes a meeting produce results.
TIP: This connects directly to the listening tactics on slide 40: decisions, actions, deadlines. The minutes are the written form of those three things.
CLASSROOM ACTIVITY: Minute the meeting: after the simulation, learners write minutes in these four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Note that “issue” is used rather than “problem” even in the section heading. That single word choice sets the tone of the whole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10 minutes.
HOW TO TEACH: Take two or three versions of each. There is no single right answer — only more and less appropriate ones.
COMMON MISTAKES: Item 3 is the interesting one: the polite version does not ask for a reply at all, it simply reminds. That is the follow-up technique.
TIP: Ask which version learners would send to their own manager. That question calibrates the level better than any rule.
ANSWERS: MODELS: 1 Could you send me the report? · 2 I was wondering if I could take Friday off. · 3 Just following up on my email of Tuesday. · 4 Would it be possible to move the meeting to three? · 5 Sorry, could you explain that again?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Mark the subject line first and hardest. It is the part that decides whether the email is read at all, and the part learners always neglect.
COMMON MISTAKES: Subject lines like “Question” or “Urgent”. Neither says what is wanted or when.
TIP: Collect these and read three subject lines aloud. The class can immediately tell which would get opened.
ANSWERS: MODEL: see slide 41, email B. It is exactly this task done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Step 6 is the discipline. Have learners exchange minutes and hunt for any opinion that crept in.
COMMON MISTAKES: Writing a narrative of the discussion. Minutes record outcomes, not conversation.
TIP: The person who writes the minutes controls the record of what was decided. That is real influence, and it is worth saying to working adults.
ANSWERS: MODEL: see slide 44. Four sections, no opinions, a name and a date on every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Test 5 is the best single question. Have learners swap minutes with someone who was in a different simulation group and see whether it makes sense.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Check 6 is the catch-all. It finds tone problems that no rule-based check will.
TIP: Print this. It applies to every email and every meeting for the rest of a working life.
CLASSROOM ACTIVITY: Six checks: apply this to every written task in Modules 6, 7 and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 5 catches learners who have not met “I'm afraid” as a professional marker. It has nothing to do with fear.
ANSWERS: 1 c · 2 b · 3 c · 4 a · 5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Take the answers orally at speed. These must be retrievable instantly to be usable in a real meeting.
COMMON MISTAKES: Item 6 takes “should”, not “will”. It is a hedged commitment from slide 19.
TIP: Item 3 is the phrase nobody has and everybody needs. Drill it twice.
ANSWERS: 1 Could · 2 afraid · 3 following · 4 mean · 5 issue · 6 should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2 is pure convention. The sincerely/faithfully pairing is noticed in job applications and nowhere else matters as much.
ANSWERS: Part 1: 1–c, 2–a, 3–b, 4–d.  ·  Part 2: 1–c, 2–a, 3–b.  ·  Part 3: 1–c, 2–b, 3–a.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Item 3 has no problem, and learners should still say so explicitly. Silence about problems sounds like concealment.
COMMON MISTAKES: Omitting the date in part 3. Every update needs one.
TIP: Item 4 requires a request as well as an update, which is realistic. The next step is somebody else's action.
ANSWERS: MODEL for 1: “The report is about 80% done. I'm still waiting for the March figures — I followed up yesterday. I'll send it on Friday morning.”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Take several versions of each. Then ask which fact was lost in the softening — the answer should always be none.
COMMON MISTAKES: Softening until the message disappears. Every version above still says exactly what the blunt one said.
TIP: Item 3 is the one learners get most wrong. The professional version does not mention the failure to reply at all.
ANSWERS: MODELS: 1 I think there may be an issue with these figures. · 2 I'm afraid I can't manage Friday — could we say Monday? · 3 I'm just following up on my email of Tuesday. · 4 I see what you mean, but I'm not sure it would work, because… · 5 I'd rather not work Saturday if possible — is there another option?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 2 is worth emphasising. Busy readers stop after two lines, so a purpose stated at the end is a purpose never read.
ANSWERS: 1 T · 2 F — the first line · 3 F — it means “I am sorry to tell you” · 4 T · 5 F — facts, decisions and actions only · 6 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Real content only. Invented situations produce vague answers and teach nothing.
COMMON MISTAKES: Question 4 answered with a hidden “no”. Check for a reason and an alternative.
TIP: Question 2 can be assessed immediately: does it contain the topic and the action?
ANSWERS: No fixed answers. Question 1 must contain all three parts and a date; question 3 must contain all three disagreement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
HOW TO TEACH: The partner checks structure, not grammar. This is workplace English, and the structure is what is being assessed.
TIP: Listen for tone as well. A correct structure delivered flatly still fails — the slide 33 point.
ANSWERS: SUCCESS CRITERIA: 1 status, problem, next step, and a specific date · 2 acknowledge, disagree, alternative · 3 refusal with reason and alternative, no bare “no” · 4 three audibly different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22 minutes.
HOW TO TEACH: This is the whole module in one realistic scenario. Let learners work in pairs on parts 3 and 4.
TIP: Part 1 is the hardest: explaining a delay to your own manager without blaming others and without excuses. Take three versions publicly.
ANSWERS: 1 must state the delay and a new date without blaming anyone · 2 must use “following up” and give a deadline · 3 all three parts · 4 all three steps with an alternative · 5 four sections, names and dates on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13 minutes. Discussion, not writing.
HOW TO TEACH: Question 4 keeps the module honest. Excessive politeness has real costs and learners should know them.
TIP: Question 4's answer matters. “The building is on fire” should not be softened, and saying so shows the rule has limits.
ANSWERS: 1 No — every fact in the blunt version appears in the polite one; only the blame is removed. 2 Because it keeps the other person thinking about the problem instead of defending themselves. 3 Bad news can be acted on; a vague update forces the manager to ask four questions and still leaves them uncertain. 4 In an emergency, with a safety issue, or when a deadline is genuinely immovable — there, hedging obscures urgency and can be dangerous.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structure and tone, not on grammar. Use the six checks from slide 50 as the marking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structure and tone, not on grammar. Use the six checks from slide 50 as the marking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structure and tone, not on grammar. Use the six checks from slide 50 as the marking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structure and tone, not on grammar. Use the six checks from slide 50 as the marking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marked on structure and tone, not on grammar. Use the six checks from slide 50 as the marking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Q7, Q10 and Q14 are the diagnostic block: why not to start with “no”, purpose-first, and the date on every commitment. These three habits change how a colleague is perceived faster than anything else in Level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Q7, Q10 and Q14 are the diagnostic block: why not to start with “no”, purpose-first, and the date on every commitment. These three habits change how a colleague is perceived faster than anything else in Level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Q7, Q10 and Q14 are the diagnostic block: why not to start with “no”, purpose-first, and the date on every commitment. These three habits change how a colleague is perceived faster than anything else in Level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Q7, Q10 and Q14 are the diagnostic block: why not to start with “no”, purpose-first, and the date on every commitment. These three habits change how a colleague is perceived faster than anything else in Level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Q7, Q10 and Q14 are the diagnostic block: why not to start with “no”, purpose-first, and the date on every commitment. These three habits change how a colleague is perceived faster than anything else in Level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These are real tasks at real work, not exercises. That is what makes this module different from the first four.
TIP: Friday's task is the one nobody does. Ask on Monday who actually followed something up and what happened — the answers are usually striking.
CLASSROOM ACTIVITY: Report back: at the next lesson, three learners describe what happened when they used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Task 1's second email is the hardest thing in the module: explaining a delay without blaming anyone and without making excuses.
COMMON MISTAKES: Learners who cannot record must not be excluded. Offer the live option openly.
TIP: Reply to the emails as if you were the recipient. Answering in role teaches more than a mark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Mark structure and tone. Grammar was Module 3's job and mixing the criteria makes the feedback unusable.
COMMON MISTAKES: Do not reward length. A short, clear, well-structured email scores higher than a long polite one.
TIP: Give the mark privately with two corrections, using the Module 3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the warm-up on slide 3 and ask the class to rewrite all three sentences. They should now be able to fix each one instantly.
TIP: Ask which habit learners have already used at work this week. Real reports are the best possible summary.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second and third boxes are the two things they will use most often.
TIP: Print the update box and keep it on a desk. Thirty seconds, three parts, one date — it is the most repeated speaking task in working life.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Close on the module's opening claim, now demonstrated. Register is invisible, unremarked and consequential — and it is entirely learnable.
TIP: Preview Module 6: presentations take the meeting skills from this module and scale them up to a room of people, with a structure and a question session at the end.
CLASSROOM ACTIVITY: Ask every learner to name one habit from slide 20 they will use at work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A2 → B1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English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Meetings, emails, updates and disagreement. The English that decides whether people think you are competent — which is not the same as whether they understand you.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ENGLISH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you will use in your first week at work.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a meeting — give an opinion, agree, disagree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moves. They cover almost every meeting.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professional email that gets a reply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line, first sentence, clear request, close.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clear update on your work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problem, next step. Three parts, thirty seconds.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without damaging the relationship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valuable skill in this module.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things — and say no — politely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politeness ladder, and when to climb it.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how does this sound?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grammatically perfect. How do they land?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An email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me the report.”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Grammatically correct. Would you send it to your manager?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 a meeting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“No. That is wrong.”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English. What would people think?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 request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next Friday off.”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Clear. Is it appropriate? What is missing?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work, HOW you say it is judged as much as WHAT you say.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will ever tell you that your email sounded rude. They will simply reply more slowly,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not at all — and you will never learn why.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≠ appropriate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Softening is respect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will tell you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politeness ladder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ask for the same thing. Climb as high as the situation needs.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108960"/>
                <a:gridCol w="36877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formal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with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“Send me the report.”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order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never at work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“Can you send me the report?”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close colleague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“Could you send me the report?”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situations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“Could you possibly send me the report?”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polite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favour, or a manager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was wondering if you could send it.”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big favour, or someone senior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longer the sentence, the more polite it sounds. That is the whole rule — and it is genuinely that mechanical.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— four moves cover almost everything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one phrase for each and you can join any meeting.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Give an opinion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we should…”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my view…”  ·  “It seems to me…”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signal that it IS an opinion.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Agree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agree.”  ·  “That's a good point.”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“Exactly — and I'd add that…”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beats simply agreeing.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Disagree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what you mean, but…”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not sure I agree.”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start with “no”.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Ask for clarification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“Sorry, could you explain that?”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you mean by…?”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is not weakness.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that gets a reply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parts. Never more complicated than this.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Report — need figures by Friday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Mr Bekele,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WHY you are writing — first line.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“I'm writing about the March report.”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DETAIL — two or three lines.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YOU WANT — be specific.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“Could you send the figures by Friday?”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CLOSE.  “Thank you.  Best regards, Sara”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RULES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LINE decides whether it is opened. Say the topic AND the action.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 goes in the FIRST line, never the last.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email, one request. Three requests get one answer.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need it by a date, say the date.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an update — three parts, thirty seconds</a:t>
            </a:r>
            <a:endParaRPr lang="en-US" sz="3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 speaking task in any job.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update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“It's going OK.”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“Still working on it.”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“There were some problems.”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try to finish soon.”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information.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manager must now ask four questions.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update — 3 parts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STATUS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report is about 80% done.”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(if any)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still waiting for the March figures.”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NEXT STEP + WHEN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send it on Friday morning.”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problem · next step. Thirty seconds. If there is no problem, say so explicitly — silence sounds like there is one.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Disagreeing without damage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steps. Always in this order.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THREE-STEP DISAGREEMENT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ACKNOWLEDGE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 see what you mean…”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“That's a fair point…”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DISAGREE — softly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“…but I'm not sure it would work…”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GIVE A REASON or an ALTERNATIVE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“…because we'd need two more weeks.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Could we do it in March instead?”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ORDER MATTERS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shows you listened. Without it, step 2 sounds like an attack.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uses “I'm not sure”, not “you're wrong”. It is about your view, not their error.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is what makes you useful. Disagreement without an alternative is just obstruction.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start with “no”. It ends the discussion before it starts.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 — without saying no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situations. The refusal is always cushioned.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962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works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cannot do it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“I'm afraid I can't manage that by Friday.”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“I'm afraid” signals bad news politely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are already busy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“I'd like to, but I'm working on the audit.”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a reason, not just a refusal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more time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“Could I get back to you tomorrow?”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delays without refusing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disagree with the task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“Can I check something before I start?”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discussion instead of a conflict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says no. None of them uses the word. And every one gives the other person somewhere to go.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deadline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/ˈdedlaɪn/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or date by which something must be finished.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 is Friday. We met the deadline. I missed the deadline.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MEET or MISS a deadline. Not “reach” or “catch”. Stress on the FIRST syllable: DEAD-line.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schedule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/ˈʃedjuːl/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and 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of when things will happen.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behind schedule. The meeting is scheduled for ten.</a:t>
            </a:r>
            <a:endParaRPr lang="en-US" sz="17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pronunciations: /ˈʃedjuːl/ in British English, /ˈskedʒuːl/ in American. Both are correct — choose one and be consistent.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update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/ˈʌpdeɪt/  ·  /ʌpˈdeɪt/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and 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about the current state of something.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give me an update? I'll update you on Friday.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stress pair from Module 2: UP-date is the noun, up-DATE is the verb. Same spelling, different beat.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issue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/ˈɪʃuː/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7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— but a softer, more professional word for one.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an issue with the figures. We've had a few issues this week.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“Issue” is softer than “problem”. Use it at work. And note it is countable: an issue, two issues.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follow up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/ˈfɒləʊ ʌp/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phrasal 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on something again after the first contact.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follow up with him on Monday. Just following up on my last email.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as a verb: “I'll follow up”. One word as a noun or adjective: “a follow-up email”.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48716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Modals — the politeness machinery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 words that change the force of everything.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46936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ability or permission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send it?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same, but politer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 send it?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hypothetical — softest of all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you mind sending it?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an opinion tentative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might be better to wait.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past-tense forms — could, would, might — are the polite ones. They make the request feel less direct, and less direct means more polite.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48716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openings and closings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conventions. Learn them once and never think about them again.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840480"/>
                <a:gridCol w="43278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know their name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Mr / Ms Bekele,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 sincerely,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do not know the name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Sir or Madam,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 faithfully,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colleague you know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Sara,  ·  Hi Sara,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regards,  ·  Best wishes,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quick internal message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 Sara,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Thanks,  ·  Best,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“Yours sincerely” goes with a NAME. “Yours faithfully” goes with “Sir or Madam”. In everyday email, “Best regards” is safe everywhere.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48716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what somebody said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tense usually steps back one place.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said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busy.”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will send it.”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sent it yesterday.”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help?”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the report.”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report it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said he WAS busy.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said he WOULD send it.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said he HAD sent it.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asked IF I could help.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asked me TO send the report.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→ past.  will → would.  past → past perfect.  Questions use “if” or the question word, with no inversion.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48716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— the language of not committing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English rarely states things absolutely.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FACT, THREE LEVELS OF CERTAINTY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</a:t>
            </a: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“It will be ready on Friday.”</a:t>
            </a: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HEDGED</a:t>
            </a: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“It should be ready on Friday.”</a:t>
            </a: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HEDGED</a:t>
            </a: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“It should be ready by Friday,</a:t>
            </a:r>
            <a:endParaRPr lang="en-US" sz="16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although that depends on the figures.”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PROFESSIONALS HEDGE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rarely 100% certain, and claiming to be is risky.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hedged promise you keep beats an absolute one you break.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“Should” · “around” · “roughly” · “I expect” · “all being well”.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 not hedge everything — vagueness is its own problem.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487168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five workplace habits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is grammar. All of them are judged.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“could” rather than “can” by default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word, and it changes an order into a request.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before you disagree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what you mean, but…” Never start with “no”.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purpose in the first line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email and in a meeting. Never make people wait for it.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date with every commitment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“Friday morning”, not “soon”.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politely instead of waiting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following up on my email of Tuesday.”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how polite is enough?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level to the situation.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 close colleague for a file. Which level?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send me the file?”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Neutral is right. Excessive politeness with a close colleague sounds cold or sarcastic.</a:t>
            </a:r>
            <a:endParaRPr lang="en-US" sz="116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your manager for Friday off. Which level?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was wondering if I could take Friday off.”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High politeness, because it is a favour from someone senior. The length is what does the work.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Emailing someone you have never met. Which level?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you possibly send me the figures?”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Very polite is the safe default with a stranger. You cannot judge the relationship yet.</a:t>
            </a:r>
            <a:endParaRPr lang="en-US" sz="11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disagreeing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in order.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 suggests a deadline you think is impossible. First words?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what you mean, but…”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Acknowledge first. Without step 1, step 2 sounds like an attack rather than a contribution.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you add after disagreeing?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reason, and ideally an alternative.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Disagreement without an alternative is obstruction. With one, it is problem-solving.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say “That won't work”?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closes the discussion and invites defensiveness.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Same information, but the other person now has to defend themselves instead of thinking about the problem.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the update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problem, next step.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manager asks how the report is going. What are the three parts?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problem · next step with a date.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Thirty seconds, and the manager needs to ask no follow-up questions. That is what a good update achieves.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problem. Do you mention that?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say so explicitly.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Silence about problems sounds like there is one being hidden. “No problems so far” is reassuring and takes two seconds.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“It's going OK” a weak update?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contains no information at all.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manager must now ask four questions to learn what one sentence could have told them.</a:t>
            </a:r>
            <a:endParaRPr lang="en-US" sz="11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email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purpose, request, close.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subject line is better: “Report” or “Report — figures needed by Friday”?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one.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gives the topic, the action and the deadline. The reader knows what is wanted before opening it.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request go?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stated, and not buried at the end.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Say why you are writing in the first line and make the request specific and easy to find.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7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three requests. One email or three?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195"/>
              </a:spcBef>
              <a:buNone/>
            </a:pPr>
            <a:r>
              <a:rPr lang="en-US" sz="18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emails, or one clearly numbered list.</a:t>
            </a:r>
            <a:endParaRPr lang="en-US" sz="1270" dirty="0"/>
          </a:p>
          <a:p>
            <a:pPr indent="0" marL="0">
              <a:lnSpc>
                <a:spcPct val="102000"/>
              </a:lnSpc>
              <a:spcBef>
                <a:spcPts val="292"/>
              </a:spcBef>
              <a:buNone/>
            </a:pPr>
            <a:r>
              <a:rPr lang="en-US" sz="146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Three requests in one paragraph reliably produce an answer to only one of them.</a:t>
            </a:r>
            <a:endParaRPr lang="en-US" sz="12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saying no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without using the word.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Asked to finish by Friday, and you cannot. What do you say?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afraid I can't manage Friday — could we say Monday?”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Refusal, reason and alternative in one sentence. The alternative is what keeps it cooperative.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time to think before answering. What do you say?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I get back to you tomorrow?”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Delays without refusing, and is almost never refused itself. The most useful phrase on slide 10.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“no” ever acceptable at work?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with a reason attached, never alone.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bare “no” is honest and reads as uncooperative. One clause of reason changes that completely.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meeting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people, four moves. Watch what each one does.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the report finished by Friday. Any comments?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we should aim for Monday. We're waiting on the figures.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fair point — and I'd add that Friday is a holiday.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could you explain which figures we're missing?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BETHLEHEM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March sales figures. I followed up yesterday.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right. Monday it is. Bethlehem, keep me updated.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· agree and add · ask for clarification · give an update. Four moves, and the deadline actually changed.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back on a deadline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 disagrees with his manager. Watch the three steps.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have the audit done by Wednesday?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see why Wednesday matters — the board meets on Thursday.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sure I can do it properly in two days, though.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do?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could send the main findings on Wednesday and the full audit on Friday.</a:t>
            </a:r>
            <a:endParaRPr lang="en-US" sz="19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· disagree softly · offer an alternative. The manager asks “what CAN you do?” — which is what a good alternative invites.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phrases you will use every week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phrases. Learn them as chunks, in the Module 1 sense.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just say something?”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24"/>
              </a:spcBef>
              <a:buNone/>
            </a:pPr>
            <a:r>
              <a:rPr lang="en-US" sz="12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a discussion politely. Learn it — silence is not modesty.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what you mean, but…”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disagreement opener. Never start with “no”.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fair point, and…”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that adds something.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you mean by…?”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Precise. Better than “I don't understand”.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we've agreed that…?”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decision before the meeting ends.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I come back to that?”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68"/>
              </a:spcBef>
              <a:buNone/>
            </a:pPr>
            <a:r>
              <a:rPr lang="en-US" sz="13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time without refusing to answer.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conversation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Fill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finish the report by Thursday?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______ why Thursday matters, but I'm ______ I can't manage it.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not?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an ______ with the March figures. I ______ up yesterday.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when can you do it?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______ be ready by Monday. ______ I send the main findings on Thursday?</a:t>
            </a:r>
            <a:endParaRPr lang="en-US" sz="19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these:  “see”  ·  “afraid”  ·  “issue”  ·  “followed”  ·  “should”  ·  “Could”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the four situations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Three minutes each.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30-second update on real work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problem · next step with a date.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with your partner's proposal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steps. Partner checks each one.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three things at three politeness levels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request, different levels.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a request without saying no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plus alternative.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the thirty-second update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useful thirty seconds in this course.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where is it now?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or a percentage. “About 80% done.”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what is blocking you?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say clearly that nothing is.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— what will you do, and when?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day. Not “soon”.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all three in 30 seconds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times you and asks if anything is missing.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the disagreement drill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pairs. Three steps, every time.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should start at seven in the morning.”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in three steps.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cancel the training this year.”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in three steps.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don't need to test it first.”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in three steps.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report should be forty pages.”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in three steps.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your partner disagrees with YOU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it feels when it is done well.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the tone of politeness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words can be polite or sarcastic. Intonation decides.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with a WARM, rising tone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you send me the report?”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“Would you mind waiting?”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fair point.”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“Thanks very much.”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say them FLAT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like an order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impatient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sarcastic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sounds insincere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WORDS with flat intonation sound worse than blunt words said warmly. The tune carries more than the vocabulary.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the meeting simulation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minutes. Everyone speaks at least twice.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topic: should the office open on Saturdays?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any real decision in your workplace.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must give an opinion with a reason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think… because…”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must agree with somebody and add something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fair point, and…”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must disagree once, in three steps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· disagree · alternative.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confirms the decision at the end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we've agreed that…?”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record yourself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minutes. Everyone does this.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30-second update on real work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problem · next step with a date.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something at three politeness levels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· polite · very polite.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with a statement in three steps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· disagree · alternative.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a request without saying no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plus alternative.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five vocabulary words correctly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· schedule · update · issue · follow up.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 project meeting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twice. What was decided, and who decides?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AT NATURAL SPEED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Where are we with the training programme?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It's about 70% ready. We've booked the venue and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the materials. The issue is the trainer — she's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When did you find out?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Yesterday. I've already contacted two others and I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know by Thursday.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 Could we postpone by a week if necessary?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 I'd rather not — the rooms are booked. But I could</a:t>
            </a:r>
            <a:endParaRPr lang="en-US" sz="15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first session myself if we're stuck.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How ready is the programme?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issue?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has Chaltu already done?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When will she know?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How does she disagree about postponing?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alternative does she offer?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how ready?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70%.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number, not “going well”. It tells the manager everything they needed from part one.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and 3 — the issue and the action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cancelled. She has already contacted two replacements.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problem arrives with the solution already in progress. That is what distinguishes a strong update.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when will she know?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Thursday.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specific date. The manager does not need to ask, which is the whole purpose of a good update.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how does she disagree?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rather not — the rooms are booked.”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Softer than “no”, with the reason immediately after. Never a bare refusal.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the alternative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could run the first session herself.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is what makes her disagreement useful rather than obstructive. Always offer something.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two versions of one request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content. Listen to how each lands.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READ A, THEN B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the figures. Send them today. The report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late because of you.”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following up on the March figures. I know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busy with the audit. Could you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possibly send them today? I'm afraid the report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held up until they arrive.”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request. Same deadline. Same problem.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each version ask for?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one blames the listener?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does B mention the delay without blaming?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Find three softeners in B.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would you reply to first?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Is B less honest than A?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which blames?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A: “the report is late because of you”.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Blame makes people defensive, and a defensive colleague works slower, not faster.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how does B say it?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report is held up until they arrive.”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statement about the report, not about the person. The consequence is clear and nobody is accused.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three softeners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know you've been busy” · “Could you possibly” · “I'm afraid”.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Acknowledgement, a high politeness level, and a marker for unwelcome news.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which gets a faster reply?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almost always.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produces resentment or an argument. B produces the figures — which is the actual objective.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is B less honest?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Every fact in A is also in B.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urgency, the deadline and the consequence are all stated. Only the blame was removed.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in meetings — four survival tactics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are the hardest listening there is.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who is speaking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voices, no turn-taking signals, and people interrupt. Losing track of who said what loses the whole meeting.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decisions, not everything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a meeting is discussion. Catch the decisions, the deadlines and the names attached to actions.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things only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05"/>
              </a:spcBef>
              <a:buNone/>
            </a:pPr>
            <a:r>
              <a:rPr lang="en-US" sz="12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decided · what you must do · by when. Trying to write everything means hearing nothing.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at the end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14"/>
              </a:spcBef>
              <a:buNone/>
            </a:pPr>
            <a:r>
              <a:rPr lang="en-US" sz="126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 I'm sending the figures by Thursday?” Ten seconds, and it removes every misunderstanding.</a:t>
            </a:r>
            <a:endParaRPr lang="en-US" sz="16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two emails, one request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figures, same deadline. Which one gets answered?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—  Subject: “figures”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 the March figures today.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late.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greeting, no close.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Useless subject line.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—  “March figures — by Thu 5pm”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Mr Bekele,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following up on my email of Tuesday.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the audit has kept you busy. Could you possibly send them by Thursday?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held up until they arrive.</a:t>
            </a:r>
            <a:endParaRPr lang="en-US" sz="1650" dirty="0"/>
          </a:p>
          <a:p>
            <a:pPr marL="228600" indent="-228600">
              <a:lnSpc>
                <a:spcPct val="100000"/>
              </a:lnSpc>
              <a:spcAft>
                <a:spcPts val="955"/>
              </a:spcAft>
              <a:buSzPct val="100000"/>
              <a:buChar char="•"/>
            </a:pPr>
            <a:r>
              <a:rPr lang="en-US" sz="16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regards,  Sara Tesfaye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task:  Compare the subject lines · Where is the request in each? · Find three softeners in B · Is ANY fact in A missing from B?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email B's subject line tell you before you open it?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which line of B is the purpose stated?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B refer to the earlier email without accusing anyone?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B mention the delay without blaming Mr Bekele?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closing does B use, and why is it appropriate?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subject line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“March figures — needed by Thu 5pm”: topic, action, deadline.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 an inbox of forty messages, this one gets opened and answered first. “figures” gets ignored.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where is the purpose?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line. “I'm following up on my email of Tuesday.”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Busy readers stop after two lines. A purpose stated late is a purpose not read.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follow-up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“Following up on my email of Tuesday” — no accusation.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reminds without blaming. The alternative — “you didn't reply” — starts an argument instead of getting figures.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delay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report is held up until they arrive.”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States the consequence as a fact about the report. The urgency is fully communicated and nobody is accused.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what B has that A lacks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subject line, a greeting, acknowledgement, a specific deadline, and a close.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Same request, and a completely different probability of getting what was asked for.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meeting minutes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work text type. Short, factual, no opinions.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PROGRAMME — NOTES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March · Chaltu, Yonas, Mimi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STATUS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70% complete. Venue booked.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ISSUES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Trainer cancelled. Two replacements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contacted; decision by Thursday.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DECISIONS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NOT postponed — rooms booked.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If no trainer, Chaltu runs session 1.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ACTIONS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Chaltu — confirm trainer, 19 Mar.</a:t>
            </a:r>
            <a:endParaRPr lang="en-US" sz="12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Yonas — materials to print, 16 Mar.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four sections?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must do what, and by when?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decided about postponing?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contingency plan.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any opinions in this text?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that important?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four sections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Issues · Decisions · Actions.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Anyone can find what concerns them in ten seconds. That is what the structure is for.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who does what?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Chaltu: confirm the trainer by 19 March. Yonas: send materials to print by 16 March.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name and a date on every action. Without both, actions do not happen.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postponing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against — the rooms are already booked.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decision AND the reason. Six months later, the reason is what people need.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and 6 — any opinions?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Only facts, decisions and actions.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Minutes are a record, not a discussion. Opinions in minutes cause arguments about what was really said.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· schedule · update · issue · follow up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All five appear in ordinary meeting language, which is where you will meet them daily.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climb the politeness ladder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blunt sentence at a higher politeness level.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Send me the report.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 want Friday off.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Answer my email.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Change the meeting to three.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Explain this again.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write the email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professional email for this situation.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SITUATION:  You need the March figures from Mr Bekele by Thursday.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a subject line with the topic AND the action.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Greeting, then the purpose in the first line.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Two lines of detail. Acknowledge that he is busy.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specific request with a specific deadline.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 close and your name.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meeting minutes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minutes for the meeting simulation from slide 34. Use the four sections.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Heading: topic, date, who was present.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STATUS — where things stand. Facts only.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ISSUES — what is blocking progress.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DECISIONS — what was decided, and why.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ACTIONS — a name and a date for every action.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No opinions. Check that you have included none.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what good minutes contain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can a reader find their action in 10 seconds?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actions are in their own section with names.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Minutes buried in prose are never read, and the actions in them never happen.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does every action have a name AND a date?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Both, every time. “Chaltu — confirm trainer by 19 March.”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action with no name belongs to nobody. An action with no date happens eventually, which means never.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is the REASON for each decision recorded?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“not postponed, rooms already booked”.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In six months nobody remembers why. The reason is what stops the decision being reopened.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are there any opinions?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should be none.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Minutes are a record. Opinions in them cause arguments about what was really said.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could somebody absent understand it?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real test.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Minutes are written for the people who were not there, not for the people who were.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workplace English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subject line say the topic AND the action?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“Report” is useless. “Report — figures by Friday” works.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purpose in the first line?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emails and in meetings. Never make people wait.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used “could” rather than “can”?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 It turns an order into a request.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disagreed, did I acknowledge first?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did I offer an alternative?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specific date on every commitment?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“Friday morning”, not “soon”.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I be happy to receive this?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test that catches everything else.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safest default when asking for something at work: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Send me…     b) Can you…     c) Could you…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 disagreement should start with: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“No,”     b) “I see what you mean, but…”     c) “That's wrong.”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Which subject line is best?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Question     b) Urgent     c) March figures — needed by Thursday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three parts of an update are: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status, problem, next step     b) hello, detail, goodbye     c) who, what, why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“I'm afraid” means: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 am frightened     b) I am sorry to tell you     c) I am not sure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fill in the phrase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missing word or phrase.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______ you possibly send me the figures?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I'm ______ I can't manage Friday.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I'm just ______ up on my email of Tuesday.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 see what you ______ , but I'm not sure it would work.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There's an ______ with the March figures.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It ______ be ready by Monday.  (hedged, not certain)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Moves, modals and email conventions.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PHRASE to the MEETING MOVE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“In my view…”     2. “That's a fair point.”     3. “I'm not sure I agree.”     4. “What do you mean by…?”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agree     b) disagree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give an opinion     d) ask for clarification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OPENING to the CLOSING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Dear Mr Bekele,     2. Dear Sir or Madam,     3. Hi Sara,          a) Yours faithfully,     b) Thanks,     c) Yours sincerely,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SITUATION to the REFUSAL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cannot do it     2. need time     3. already busy          a) “I'd like to, but I'm on the audit.”     b) “Could I get back to you tomorrow?”     c) “I'm afraid I can't manage that.”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write the update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parts. Thirty seconds.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three-part update for each situation.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Report 80% done. Waiting for figures. Will finish Friday.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Training booked. Trainer cancelled. Two replacements contacted.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Audit finished. No problems. Sending it this afternoon.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Website half done. Photos missing. Need them by Wednesday.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soften these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one so you could send it to a manager.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Your figures are wrong.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 can't do this by Friday.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You didn't answer my email.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That plan won't work.</a:t>
            </a:r>
            <a:endParaRPr lang="en-US" sz="17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 don't want to work on Saturday.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“Could you” is more polite than “can you”.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 should put the purpose of an email in the last line.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“I'm afraid” means you are frightened.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disagreement should begin with acknowledgement.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Meeting minutes should record opinions.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An update should always include a date.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Give a three-part update on something you are working on now.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a subject line for an email you actually need to send.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would you disagree with your manager about a deadline?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would you refuse extra work politely?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Which of the five workplace habits will you use this week?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Partner checks the structure.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Your partner checks that every part is present.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30-second update. Partner checks all three parts and the date.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Disagree with a proposal. Partner checks all three steps.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Refuse a request. Partner checks for a reason and an alternative.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Ask for three things at three politeness levels.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mixed challenge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managing a project that is two weeks late. Work through all five.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an email to your manager explaining the delay.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line, purpose first, no blame, a new date.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a follow-up email to the supplier who caused it.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Polite, no accusation, specific deadline.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Give a 30-second spoken update to your team.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issue, next step.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Your manager suggests cancelling. Disagree in three steps.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alternative.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Write minutes for the meeting where this was decided.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sections. No opinions.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 if you can.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polite English less honest than direct English?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emails on slide 41.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does “I see what you mean, but…” work better than “no”?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the other person does next.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a vague update worse than bad news?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the manager do after each one?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When would being very polite be the WRONG choice?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real example.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1 · Politeness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worth double.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is the safest default at work?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Send me…     b) Can you…     c) Could you…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does a longer request sound more polite?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Rewrite politely: “Send me the report.”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does “I'm afraid” mean?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2 · Meetings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Name the four meeting moves.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How should a disagreement start?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phrase.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Why never start with “no”?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are the three steps of disagreeing?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3 · Email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What must a subject line contain?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Where does the purpose go?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Which closing goes with “Dear Sir or Madam”?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How do you chase an unanswered email politely?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phrase.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4 · Updates and refusing</a:t>
            </a:r>
            <a:endParaRPr lang="en-US" sz="37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Name the three parts of an update.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answers.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What must the third part always include?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Refuse politely: you cannot finish by Friday.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What phrase buys you time without refusing?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phrase.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quiz — Part 5 · Using 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Write a subject line: you need figures by Thursday.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and action.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Name the four sections of meeting minutes.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Why do minutes contain no opinions?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WRITING: a full professional email explaining a delay.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purpose first, no blame, new date.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the safest default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Could you…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Appropriate almost everywhere. “Can you” is fine with close colleagues; the bare imperative is almost never right.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why longer is politer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words create distance, and distance reads as respect.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genuinely that mechanical, which is why the ladder can be applied without cultural knowledge.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rewrite politely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you send me the report, please?”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Could plus please. Two changes, and an order becomes a request.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“I'm afraid”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sorry to tell you.” Nothing to do with fear.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standard professional marker for unwelcome news or a refusal.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the four moves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opinion · agree · disagree · ask for clarification.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Four moves cover almost every meeting. Learn one phrase for each.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how to start a disagreement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see what you mean, but…” — acknowledge first.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Without acknowledgement the disagreement lands as an attack.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why never “no”?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closes the discussion and makes the other person defensive.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They then defend their position instead of thinking about the problem.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the three steps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· disagree softly · give a reason or alternative.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Step 3 is what makes you useful. Disagreement without an alternative is obstruction.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the subject line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 AND the action or deadline.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“March figures — needed by Thursday” gets opened. “figures” does not.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where does the purpose go?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line.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Busy readers stop after two lines. A purpose at the end is never read.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“Dear Sir or Madam”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“Yours faithfully.”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Sincerely goes with a name; faithfully goes with Sir or Madam. It is noticed in job applications.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chasing politely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just following up on my email of Tuesday.”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Reminds without accusing. “You didn't reply” starts an argument instead of getting the thing.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the three parts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problem · next step.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Thirty seconds, and the manager needs to ask nothing further.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what the third part needs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“Soon” is not a next step. A specific day is what makes an update actionable.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refusing politely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afraid I can't manage Friday — could we say Monday?”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Refusal, reason and alternative in one sentence.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buying time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I get back to you tomorrow?”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Delays without refusing, and is almost never refused itself.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the subject line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“March figures — needed by Thursday 5pm”.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Topic, action and deadline. The reader knows what is wanted before opening it.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the four sections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Issues · Decisions · Actions.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Anyone can find what concerns them in ten seconds, which is what minutes are for.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why no opinions?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are a record, not a discussion.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Opinions in minutes cause arguments later about what was really said.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email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on structure and tone, not grammar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Use the six checks from slide 50: subject line, purpose first, could not can, a date, and would you want to receive it.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 Use it at work.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30-second update to somebody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problem, next step, with a date.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email using all four parts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with the action. Purpose in the first line.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“could” instead of “can” all day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whether anything changes.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 with somebody in three steps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Acknowledge, disagree, alternative.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on something unanswered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“Just following up on my email of…”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these to the next lesson.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emails: a request and a delay explanation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with subject lines. No blame in either.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 in four sections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simulation, or from a real meeting.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two-minute speaking challenge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· three politeness levels · disagreement · refusal · five words.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homework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emails — 10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lines with topic and action (2) · purpose in first line (2) · appropriate politeness (3) · specific dates (2) · correct closing (1).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5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sections (2) · name and date on every action (2) · no opinions (1).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— 10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Three-part update with a date (3) · three politeness levels (2) · three disagreement steps (2) · refusal with alternative (2) · five words correct (1).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25 marks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excellent · 15–19 good · 10–14 keep practising · below 10 → redo the update drill daily with your teacher.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politeness ladder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levels. Longer means politer. “Could you” is the safe default.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meeting moves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· agree and add · disagree · ask for clarification.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that works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with the action. Purpose first. One request. A date.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30-second update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problem · next step, with a specific date.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Disagreeing in three steps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· disagree softly · offer an alternative.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without “no”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reason. Always an alternative.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workplace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politeness ladder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you…?  →  neutral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you…?  →  polite  (default)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possibly…?  →  very polite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wondering if you could…  →  highest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30-second update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STATUS  —  a number, not “fine”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PROBLEM  —  or say there is none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NEXT STEP  —  with a DATE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“80% done · waiting on figures · Friday.”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Disagreeing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“I see what you mean…”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“…but I'm not sure it would work…”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“…because X. Could we do Y instead?”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start with “no”.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topic + action + date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 why you are writing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Middle:  the detail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 one specific request + date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be understood AND taken seriously — which are two different achievements.</a:t>
            </a:r>
            <a:endParaRPr lang="en-US" sz="4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was ever going to tell you that your email sounded blunt.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can hear it yourself, and fix it before you send.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up, structuring, and handling questions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· Intermediate English · Module 5 — Workplace English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· Module 5 — Workplace English</dc:title>
  <dc:subject>English course for Ethiopian learners — Level 3 Intermediate English</dc:subject>
  <dc:creator>English Learning Platform</dc:creator>
  <cp:lastModifiedBy>English Learning Platform</cp:lastModifiedBy>
  <cp:revision>1</cp:revision>
  <dcterms:created xsi:type="dcterms:W3CDTF">2026-07-28T10:44:54Z</dcterms:created>
  <dcterms:modified xsi:type="dcterms:W3CDTF">2026-07-28T10:44:54Z</dcterms:modified>
</cp:coreProperties>
</file>