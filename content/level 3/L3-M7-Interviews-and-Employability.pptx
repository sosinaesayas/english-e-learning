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Whole module: four 60-minute lessons.
HOW TO TEACH: Open by saying this module has the most direct payoff of anything in the course. A learner who prepares twelve answers properly walks into an interview better prepared than most native speakers.
TIP: Interview questions are far more predictable than people expect. That predictability is the entire opportunity, and most candidates waste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Objective 5 surprises people. Having no questions at the end is read as a lack of interest, and it costs offers.
TIP: Objective 4 is the technique that makes vague answers concrete. It is the single most useful thing in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minutes. Task 1 needs real time.
HOW TO TEACH: Task 1 is the diagnostic and most learners struggle badly. It feels like the easiest question and is the hardest, because it has no obvious shape.
COMMON MISTAKES: Correct nothing. Note who rambled, who stopped early, and who started with childhood — all three are the standard failures.
TIP: Task 3 usually produces “nothing” or “about the salary”. Both are costly, and slide 10 fixes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Make the arithmetic explicit: twelve questions, eight asked, one evening to prepare. Framed that way, preparation becomes obviously worth doing.
COMMON MISTAKES: Learners believe preparation makes them sound rehearsed. Under-preparation makes them sound vague, which is far worse and much more common.
EXTRA EXAMPLES: Preparing an answer does not mean memorising a script. It means knowing your three points and one example for each.
TIP: This is Module 6's principle applied to interviews: structure prepared in advance, delivered live rather than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left column is what almost every learner CV looks like. Have them check their own against it — the recognition is immediate.
COMMON MISTAKES: “Responsible for” is the phrase to eliminate. It describes the role, not the person, and every candidate for the job could write it.
EXTRA EXAMPLES: Numbers do the work: how many people, how much money, how much faster, how much time saved. Even approximate numbers are far better than none.
TIP: “Hard-working and motivated” appears on every CV ever written, so it distinguishes nobody. Delete it and use the space for a result.
CLASSROOM ACTIVITY: Add the numbers: learners rewrite three lines of their own CV to include a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reverse-chronological order is not a style choice. Recruiters read the top third and stop, so the most recent and relevant work must be there.
COMMON MISTAKES: Photographs and personal details are standard in some countries and increasingly avoided in international applications. Mention the difference rather than ruling.
EXTRA EXAMPLES: The email address matters more than learners expect. A nickname address is noticed and it is an easy fix.
TIP: The profile in section 2 is three lines and it is the most-read part of the CV. It deserves an hour of work.
CLASSROOM ACTIVITY: Draft the profile: learners write their three-line profile and read two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first test in the side panel is the one that matters. A letter that could go to any employer tells this employer nothing.
COMMON MISTAKES: Repeating the CV in prose. The letter answers a question the CV cannot: why this job, and why you for it.
EXTRA EXAMPLES: Matching the advert's own words is deliberate and effective. If they ask for “stock control experience”, use that exact phrase.
TIP: Paragraph 1 requires reading about the company for ten minutes. That ten minutes is visible in the letter and almost nobody spends it.
CLASSROOM ACTIVITY: The specific line: learners write one sentence about a real employer that could not apply to any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 The most important slide in the module.
HOW TO TEACH: The three-part shape solves the problem completely. Without it the question has no obvious boundary and candidates ramble or stop dead.
COMMON MISTAKES: Starting with childhood is the classic error. The interviewer wants a professional summary, not a biography.
EXTRA EXAMPLES: Part 3 is what most candidates omit. Ending on why you want THIS job turns a summary into an argument.
TIP: Have every learner prepare and memorise this answer. It is asked in almost every interview and it takes twenty minutes to prepare properly.
CLASSROOM ACTIVITY: Ninety seconds: every learner delivers their three-part answer, timed,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Result is the part to enforce. Learners describe what they did at length and never say what changed, which leaves the interviewer with no evidence.
COMMON MISTAKES: Spending sixty seconds on the Situation. One line is enough — the Action and Result deserve the time.
EXTRA EXAMPLES: Three prepared STAR stories cover most behavioural questions: a problem solved, a conflict handled, and something that went wrong.
TIP: The last side-panel point is the practical trick. The same three stories answer questions about teamwork, pressure, initiative and failure, with a change of emphasis.
CLASSROOM ACTIVITY: One STAR story: every learner writes and delivers one, with a number in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Row 1 is the strongest question a candidate can ask. It shows they are already thinking about doing the job rather than getting it.
COMMON MISTAKES: Saying “no, you've covered everything”. It is polite and it reads as disengagement. Always have three prepared.
EXTRA EXAMPLES: Row 4 is practical: asking about next steps gets you a timeline and shows organisation.
TIP: Prepare three because two may get answered during the interview. Having none left at the end is the situation to avoid.
CLASSROOM ACTIVITY: Three questions: every learner writes three they would genuinely ask, for a real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Teach both prepositions together with an example of each. The distinction is small and it appears in every cover letter.
COMMON MISTAKES: “I applied the job” with no preposition at all is also frequent.
EXTRA EXAMPLES: apply for · applicant · application · an application form. The whole family is needed here.
TIP: The noun is “application” with stress on the third syllable — ap-pli-CA-tion, the -tion rule from Module 2.
CLASSROOM ACTIVITY: For or to: give ten sentences and have learners choose the preposition.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The word is necessary in speech and damaging on a CV. Teach both facts at once — that contrast is what makes it memorable.
COMMON MISTAKES: “Responsible of” is a direct translation error and it is extremely persistent.
EXTRA EXAMPLES: CV alternatives: managed · led · ran · built · cut · trained · delivered. All are stronger and all invite a number.
TIP: Stress on the second syllable: re-SPON-si-ble. Four syllables, three of them weak.
CLASSROOM ACTIVITY: Replace it: give five “responsible for” CV lines and have learners rewrite each with an action verb.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The distinction between a duty and an achievement is the heart of slide 5. A duty is what you were asked to do; an achievement is what changed because you did it.
COMMON MISTAKES: Listing duties under a heading that says “achievements”. Ask “what was different afterwards?” for every line.
EXTRA EXAMPLES: The verb is “achieve”, and the spelling follows i-before-e. Both are worth thirty seconds.
TIP: Every achievement line should contain a number or a comparison. Without one it is unverifiable and reads as a claim.
CLASSROOM ACTIVITY: Duty or achievement: give ten CV lines and have learners sort them into two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This is register vocabulary, like “issue” in Module 5. Same meaning, different formality, and the choice is noticed.
COMMON MISTAKES: “I want the job you advertised” in a cover letter is too informal. “I am applying for the position of…” is the standard phrase.
EXTRA EXAMPLES: position · role · post · vacancy · opening. All are more formal than “job”.
TIP: “The position of + job title” is a fixed phrase for cover letters. Drill it whole.
CLASSROOM ACTIVITY: Formal or informal: give ten sentences and have learners choose job or position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The practical point matters as much as the word: asking permission first is expected, and failing to ask causes real problems.
COMMON MISTAKES: The middle vowel disappears, like “comfortable” in Module 2. REF-rence, not “ref-er-ence”.
EXTRA EXAMPLES: “References available on request” is the standard closing line on a CV, and it saves space.
TIP: Teach the asking phrase too: “Would you be willing to act as a reference for me?” It is a real conversation learners will need.
CLASSROOM ACTIVITY: Ask for one: learners write the message they would send to ask somebody to be a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Mirroring the question's tense is the shortcut. Learners do not need to reason about aspect — they need to hear the question form.
COMMON MISTAKES: Row 3 has a trap: the question is in the perfect, but once you give a specific example you switch to the past simple. That switch is correct.
EXTRA EXAMPLES: Row 4 is the STAR question, and it is entirely past simple because it describes one finished event.
TIP: This is Module 4 doing real work. Learners who avoided the present perfect will sound weak in exactly the questions that matter most.
CLASSROOM ACTIVITY: Question and tense: read twelve interview questions and have learners name the tense of each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note resolves the discomfort. Many learners find self-promotion culturally uncomfortable, and stating verifiable facts sidesteps that entirely.
COMMON MISTAKES: “Just” and “only” are the two words that undercut a whole sentence. Delete both from interview language.
EXTRA EXAMPLES: Crediting a team is good — but say what YOU did within it. “We did it” leaves the interviewer with no information about you.
TIP: Facts cannot be boasting. That reframing is what lets learners speak confidently without feeling arrogant.
CLASSROOM ACTIVITY: Strengthen it: give eight weak self-descriptions and have learners restate each as a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Row 1's technique is the whole answer: a genuine weakness plus the action you take about it. A fake weakness like “I work too hard” is transparent and irritating.
COMMON MISTAKES: Criticising a former employer in row 2. State a fact about the situation — small company, no progression, contract ended — and stop.
EXTRA EXAMPLES: Row 3 matters in Ethiopia where career paths are often not continuous. A gap with a reason is completely acceptable; an unexplained one raises questions.
TIP: Row 4 is the question to prepare hardest. It is the only one where you may directly argue for yourself, and most candidates waste it on adjectives.
CLASSROOM ACTIVITY: Four hard answers: every learner prepares one answer for each of the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These are chunks in the Module 1 sense, scaled up to written English. The frames are fixed and the content is personal.
COMMON MISTAKES: Filling pattern 3 with a duty instead of an achievement. It must contain a result, ideally a number.
EXTRA EXAMPLES: Pattern 4 requires ten minutes of reading about the employer. That ten minutes is visible in the letter and very few candidates spend it.
TIP: Note the present perfect in pattern 3 — “I have…” — which is Module 4 again. The tense marks work that continues to matter.
CLASSROOM ACTIVITY: Fill the frames: learners complete all five patterns for a real job advertisement.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Twelve questions on one slide is the module's central claim made concrete. Preparing all twelve takes one evening.
COMMON MISTAKES: Preparing only the easy ones. The four hard questions from slide 18 are the ones that decide outcomes.
EXTRA EXAMPLES: Three STAR stories cover questions 7, 8 and 9 between them, with a change of emphasis for each.
TIP: Print this slide. It is the homework, the exam and the real-world deliverable all at once.
CLASSROOM ACTIVITY: Twelve answers: learners prepare all twelve in note form over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last line is the point. By putting a number in her answer, Bethlehem chose what the next question would be about — which is control of the interview.
COMMON MISTAKES: She never says “I am hard-working”. Every claim is a verifiable fact, which is the slide 17 principle.
EXTRA EXAMPLES: Note the tenses: present perfect for the current job, past simple for the previous one, exactly as slide 16 predicts.
TIP: Planting a number so the interviewer asks about it is a real technique. Say so — learners find it empowering.
CLASSROOM ACTIVITY: Plant a number: every learner writes an answer containing one figure they want to be asked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Have learners label the four STAR parts in his answer. Then point out that Situation and Task together take one line — the Action and Result get the time.
COMMON MISTAKES: His last answer states a fact about the company, not a complaint about people. That distinction is what makes it safe.
EXTRA EXAMPLES: Two numbers in the Result — days and complaints — is stronger than one. It shows the change was real.
TIP: This is the Module 1 listening script's answer, now fully developed. Learners who did that module will recognise it.
CLASSROOM ACTIVITY: Label it: learners mark S, T, A and R on a transcript of his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Phrase 3 is the most useful and the least known. Offering an example lets you deploy a prepared STAR story rather than improvising.
COMMON MISTAKES: Answering a question you have misunderstood. Phrase 2 costs three seconds and prevents a wasted minute.
EXTRA EXAMPLES: Phrase 1 is from Module 1. In an interview it is worth more than anywhere else in the course.
TIP: Drill all six as chunks. In an interview there is no spare capacity to construct them.
CLASSROOM ACTIVITY: Six phrases: run a mock interview where every learner must use at least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Have every learner deliver the completed version with their OWN details substituted. Filling gaps is preparation; delivering it is the task.
COMMON MISTAKES: Learners keep the invented content. Insist they replace it with their real job and real numbers.
TIP: The last line shows the planted number working again. Praise anyone who notices.
CLASSROOM ACTIVITY: Your version: every learner writes and delivers their own ninety-second answer.
ANSWERS: 1 currently · 2 Before · 3 managed · 4 cut · 5 looking · 6 position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 for all four rounds.
HOW TO TEACH: Swapping roles matters. Being the interviewer teaches learners what a weak answer sounds like from the other side.
COMMON MISTAKES: Round 2 without a Result. The partner should refuse to accept the answer until a number appears.
TIP: Round 4 is the one learners skip. Enforce all three questions — running out is the situation to avoid in reality.
CLASSROOM ACTIVITY: Full mock: run all four rounds back to back as a single ten-minute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Deliver it three times: once reading, once glancing at notes, once from memory. The third time is when it starts sounding natural.
COMMON MISTAKES: Making it a script and reciting it. Learn the four parts, not the words.
EXTRA EXAMPLES: Step 3 is the strategic one. A number in your answer directs the interviewer's next question to ground you have prepared.
TIP: This single answer is worth more preparation than anything else in the module. It is asked almost every time.
CLASSROOM ACTIVITY: Three deliveries: every learner delivers it three times, the last from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18 minutes.
HOW TO TEACH: Three stories are enough. The same story answers several different questions with a change of emphasis, which is why the number is three and not ten.
COMMON MISTAKES: Story 3 makes learners uncomfortable. A failure with a clear lesson is a strong answer; claiming never to have failed is not believable.
EXTRA EXAMPLES: Every Result needs a number, even an approximate one. “About half” and “roughly two weeks” are perfectly acceptable.
TIP: Write all three on one card. That card is what learners take into a real interview.
CLASSROOM ACTIVITY: Three cards: every learner writes their three STAR stories in note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rising-statement habit is common and very costly here. Demonstrate the same sentence both ways and ask which candidate sounds more employable.
COMMON MISTAKES: “Just” and “only” undercut whatever follows them. Ban both from interview answers.
EXTRA EXAMPLES: This is Module 2's intonation work in its highest-stakes application. The words can be perfect and the delivery can still lose the job.
TIP: Record learners answering one question and play back only the intonation pattern. Most are surprised by how much they rise.
CLASSROOM ACTIVITY: Falling endings: learners deliver five statements about their experience, all with falling intonation.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Task 5 is the real test. Prepared answers delivered in a random order under time pressure is what an actual interview feels like.
COMMON MISTAKES: Question 4 answered with “in your job” — flattering and unconvincing. A genuine direction that this job serves is stronger.
EXTRA EXAMPLES: Question 3 is the only invitation to argue directly for yourself. Most candidates waste it on adjectives instead of achievements.
TIP: The weakness answer should be genuine. Interviewers hear “I'm a perfectionist” several times a week and it registers as evasion.
CLASSROOM ACTIVITY: Random order: partners ask the four questions in a different order for each learner.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 full lesson. Allow 12 minutes per learner including feedback.
HOW TO TEACH: Run it properly: learners wait outside, come in, shake hands, sit down. The formality is part of what is being practised.
COMMON MISTAKES: Step 6 skipped because time runs out. Protect it — it is scored in real interviews and it is the most commonly wasted moment.
TIP: Record if learners agree. Watching your own interview is uncomfortable and more useful than any feedback.
CLASSROOM ACTIVITY: Real advert: use a genuine job advertisement so the answers can be matched to real requirements.
ANSWERS: SUCCESS CRITERIA: a three-part opening under 100 seconds with one number · something specific about the employer · a complete STAR with a numerical Result · no criticism of any former employer · two matched achievements · three prepared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Question 1 is unanswerable, and that is the lesson. Answer A contains no information at all despite sounding fluent and confident.
COMMON MISTAKES: Learners assume A is weak English. It is not — the English is fine. The problem is that it contains no content.
EXTRA EXAMPLES: A ends with “I'm good at solving problems”, which is an adjective. B ends with a number. That is the slide 17 principle in practice.
ANSWERS: 1 Impossible to say. · 2 Late deliveries. · 3 Unknown — “helped with some of them”. · 4 Delivery fell from six days to four. · 5 B. · 6 B, universally.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 6 is the one to say aloud. Learners spend Module 1 building fluency; this shows fluency is necessary and not sufficient.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weakness answer is the model: a real weakness, a concrete example of it costing something, and a specific system she now uses. All three parts are needed.
COMMON MISTAKES: Learners give fake weaknesses. Mimi's answer is credible precisely because it admits something actually went wrong.
EXTRA EXAMPLES: Her last answer quotes the advert's own phrase — “stock control” — and then supplies a matching achievement with a number.
ANSWERS: 1 No — a fact about size, not a complaint. · 2 Yes, with a real consequence. · 3 Checks her workload every Monday. · 4 Matches the advert's requirement to her own achievement. · 5 “Stock control”.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Ask the class to find a single adjective Mimi uses about herself. There are none — and she still sounds like the strongest candidate.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Tactic 1 is the commonest failure among well-prepared candidates. A prepared answer delivered to a slightly different question is obvious and damaging.
COMMON MISTAKES: Reciting a memorised answer regardless of what was asked. Prepare the material, not the wording.
TIP: Tactic 3 is how a good candidate ends strongly: raise their own stated priority in your closing questions.
CLASSROOM ACTIVITY: Adjust it: ask a slightly different version of a prepared question and require the learner to adapt.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Task 2 is the practical skill: an advertisement is a list of the words the employer wants to see back. Underline them and reuse them.
COMMON MISTAKES: Writing a general letter that ignores the advert entirely. Every requirement should be addressed somewhere.
EXTRA EXAMPLES: Task 4 matters. If you lack one requirement, address it briefly and positively rather than hoping it is not noticed.
TIP: “Good spoken and written English” is a requirement these learners are actively meeting. Point that out — this course is the evidence.
CLASSROOM ACTIVITY: Underline and reuse: learners mark every phrase they would quote back in a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Question 4 is the honest one. Missing one requirement out of four is normal, and a brief positive line is better than silence.
COMMON MISTAKES: Ignoring a missing requirement entirely. The reader notices its absence, and silence reads as concealment.
TIP: Question 3 is the technique that most improves a cover letter for the least effort.
ANSWERS: 1 Manage schedules for three depots, supervise six drivers, report weekly. · 2 Two years' logistics experience, stock control, English, driving licence. · 3 “logistics”, “stock control”, “delivery schedules”, “supervise”. · 4 Say you are taking the test, or that you have supervised drivers without driving yourself. · 5 A CV and a cover letter, by 30 April.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 3 is the highest-value technique in this section. Ten minutes with a highlighter improves a cover letter more than an hour of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Question 4 is the test from slide 7. The third-depot sentence could not appear in any other letter, and that is what makes it work.
COMMON MISTAKES: Learners write letters that could go anywhere. One specific sentence about the employer fixes that, and it costs ten minutes of reading.
EXTRA EXAMPLES: Paragraph 2 contains three numbers: two years, 15%, and six days to four. Every one is checkable.
TIP: Note the present perfect — “I have run stock control for two years” — and the past simple for the finished project. Module 4 at work.
CLASSROOM ACTIVITY: Count the matches: learners list every advert phrase reused in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The vocabulary note is the point worth ending on: the word “responsible” is useful in speech and avoided in writing, and this letter shows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Item 5 should be deleted entirely rather than rewritten. Nothing in it can be made specific.
COMMON MISTAKES: Keeping “responsible for” and adding a number. Replace the phrase entirely with an action verb.
TIP: Learners should apply this to their own CV immediately, while the pattern is fresh.
ANSWERS: MODELS: 1 Managed a warehouse team of eight. · 2 Cut monthly reporting time from five days to two. · 3 Ran stock control for two years, cutting losses by 15%. · 4 Trained 12 new staff in six months. · 5 DELETE — replace with a real achievement.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20 minutes.
HOW TO TEACH: Step 6 is the test that matters. Have learners exchange letters and try to identify which employer each was written for.
COMMON MISTAKES: Repeating the CV in prose. The letter answers a question the CV cannot: why this job and why you.
TIP: Step 2 requires ten minutes of research. Insist on it — it is the difference between a letter that works and one that does not.
ANSWERS: MODEL: see slide 44. Three paragraphs, five advert phrases reused, three numbers, one specific fact about the employer.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22 minutes in class, finished at home.
HOW TO TEACH: Notes, not scripts. A memorised script is delivered to the wrong question; notes adapt.
COMMON MISTAKES: Writing full answers out. Take one learner's script and ask a slightly different question — the script fails immediately.
TIP: This is the deliverable of the whole module. Learners who complete it are genuinely prepared for a real interview.
ANSWERS: MODEL: three or four bullet points per question, and a number in every STAR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Test 1 is worth demonstrating. Ask a learner a slightly reworded question and watch a scripted answer fail while a note-based one adapts.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Run this with every learner before the mock interview. It catches most problems in three minutes.
TIP: Print it. This checklist is usable for every job application a learner makes for the rest of their career.
CLASSROOM ACTIVITY: Six checks: learners check each other's twelve answers against this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Answer alone, then compare in pairs before taking answers from the class.
TIP: Question 4 is the one that costs real offers. Say the answer twice.
ANSWERS: 1 b · 2 b · 3 b · 4 c · 5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Mirroring the question's tense is the shortcut. Learners do not need to reason — they need to hear the form.
COMMON MISTAKES: Item 3 has two tenses. The perfect opens it and the past simple supplies the finished example.
TIP: This is Module 4 in its highest-stakes application. Learners who avoid the perfect will sound weak here.
ANSWERS: 1 present perfect · 2 past simple · 3 present perfect, then past simple for the detail · 4 past simple · 5 would like to / going to · 6 present continuous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Three short tasks. Let learners work in pairs and compare.
TIP: Part 2 is the CV rewrite in miniature. Learners should apply the same three moves to their own document.
ANSWERS: Part 1: 1–b, 2–a, 3–d, 4–c.  ·  Part 2: 1–b, 2–c, 3–a.  ·  Part 3: 1–c, 2–a, 3–d, 4–b.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minutes.
HOW TO TEACH: Step 4 is the discipline. “Hard-working”, “motivated” and “dynamic” all describe nobody and take up the most valuable space on the page.
COMMON MISTAKES: Three lines of adjectives. Read two aloud — the class immediately hears which is stronger.
TIP: This paragraph is read more than any other part of a CV. It deserves an hour, not five minutes.
ANSWERS: MODEL: “Logistics officer with five years' experience in distribution across Oromia. Cut delivery times from six days to four and reduced stock losses by 15%. Now looking to move into supply chain management.”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Each item breaks one rule: criticism, a fake weakness, no STAR, adjectives instead of facts, and no questions.
COMMON MISTAKES: Item 1 is the one that loses interviews. However true the criticism, it must not be said.
TIP: Item 4 is the slide 17 principle: replace every adjective with a fact.
ANSWERS: MODELS: 1 “It was a small company with limited room to progress.” · 2 “I take on too much — last year one project slipped, so now I review my workload weekly.” · 3 A full STAR with a numerical Result. · 4 “I managed a team of eight and cut costs by 12%.” · 5 “Yes — what would success look like in the first six months?”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Correcting each false statement is what makes this teach rather than test.
TIP: Items 4 and 6 are the two that cost most and are easiest to fix.
ANSWERS: 1 F — one or two pages · 2 F — use an action verb and a number · 3 T · 4 F — always ask three prepared questions · 5 T · 6 F — it answers why this job and why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Question 5 is the honest one. Every candidate lacks something, and the response to that is what separates strong applications from weak ones.
COMMON MISTAKES: Question 1 answered without a number. Send it back — the number is the point.
TIP: Collect these. They become the content of the mock interview.
ANSWERS: No fixed answers. Question 2 must contain no criticism; question 3 must contain a real weakness AND a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The partner times round 1 strictly. Over ninety seconds means it needs cutting; under sixty means it needs content.
TIP: Round 3 is the one to check hardest. Criticism slips out easily when learners speak about a real job.
ANSWERS: SUCCESS CRITERIA: 1 three parts within 90 seconds, one number · 2 all four STAR parts with a numerical Result · 3 no criticism of anyone · 4 three questions, none about salary.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 full lesson, plus homework.
HOW TO TEACH: This is the module's deliverable. A learner who completes all five is genuinely prepared to apply for a real job.
TIP: Use a real advertisement if any learner has one. Real stakes produce noticeably better work.
ANSWERS: Assessed with the six checks from slide 50: numbers on every CV line, a specific letter, a timed 90-second answer, three STAR stories, no criticism, three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 Discussion, not writing.
HOW TO TEACH: Question 1 makes the module's central point: fluency is necessary and not sufficient. Evidence is what gets you hired.
TIP: Question 4 answers the objection learners raise most. Prepared is not rehearsed; unprepared is just vague.
ANSWERS: 1 It had no situation, no action and no result — fluent English carrying no information the interviewer could record. 2 Because they assume you would speak about them the same way after you left. 3 It signals you are not interested enough to have thought about the job. 4 No — preparation means knowing your material, not memorising words. Improvising produces vague answers, which is far worse and much more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Assess it with the six checks from slide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Assess it with the six checks from slide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Assess it with the six checks from slide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Assess it with the six checks from slide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Assess it with the six checks from slide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Q3, Q14 and Q15 are the diagnostic block: numbers on every claim, the Result in STAR, and never criticising an employer. These three decide more interviews than any language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Q3, Q14 and Q15 are the diagnostic block: numbers on every claim, the Result in STAR, and never criticising an employer. These three decide more interviews than any language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Q3, Q14 and Q15 are the diagnostic block: numbers on every claim, the Result in STAR, and never criticising an employer. These three decide more interviews than any language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Q3, Q14 and Q15 are the diagnostic block: numbers on every claim, the Result in STAR, and never criticising an employer. These three decide more interviews than any language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Q3, Q14 and Q15 are the diagnostic block: numbers on every claim, the Result in STAR, and never criticising an employer. These three decide more interviews than any language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Monday's task should be done on their real CV, not an invented one. This week produces documents learners will actually send.
TIP: Friday's repetition is what makes the opening answer sound natural rather than recited. Five deliveries is the minimum.
CLASSROOM ACTIVITY: Ask learners to bring their rewritten CV to the next lesson for a peer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Mark the CV as a recruiter would: thirty seconds, top third only. Then tell learners what you learned in that time.
COMMON MISTAKES: Learners hand in a CV with no numbers anywhere. Send it back — the numbers are the entire point of the rewrite.
TIP: These are real documents. If a learner has a real application pending, prioritise their letter and give detailed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Mark the CV strictly on numbers. It is the single change that most improves a learner's chance of an interview.
COMMON MISTAKES: Do not mark grammar heavily in the CV. Fragments are correct in a CV — “Managed a team of eight” has no verb subject and is right.
TIP: Give the mark privately with two specific improvements. These are documents people will send to real employers.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Return to the warm-up on slide 3 and ask learners to answer “tell me about yourself” again, timed. Compare with their first attempt — the difference is usually dramatic.
TIP: Ask who now has a CV they would actually send. That show of hands is the module's real result.
CLASSROOM ACTIVITY: Quick-fire recap: point at each card and ask a different learner for one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Tell learners to photograph this slide. The four boxes are what they should read on the morning of a real interview.
TIP: Print all four on one card. It is the most practically useful page in the entire course.
CLASSROOM ACTIVITY: Cover each box in turn and ask the class to say what was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5 minutes.
HOW TO TEACH: Close on the arithmetic from slide 4: twelve questions, one evening, and almost nobody does it. Learners who did the homework are genuinely ahead.
TIP: Preview Module 8: the last module of Level 3 covers the written English of work — reports, formal emails and summarising — and closes the level.
CLASSROOM ACTIVITY: Ask every learner to name one real job they will apply for in the next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image" Target="../media/image-7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oundRect">
            <a:avLst/>
          </a:prstGeom>
          <a:solidFill>
            <a:srgbClr val="0E7C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709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A2 → B1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417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OF 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7830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&amp; Employability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246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CV, the cover letter, and the twelve questions you will be asked. Everything from Modules 1 to 6 now has a job to do.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49240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13832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0104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60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690104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01784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66376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866376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QUESTIONS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____________________   Class: ____________   Date: ____________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things. All of them are usable this month.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2996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126529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CV that gets read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pages. Achievements with numbers, not job descriptions.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6384" y="287121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96777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cover letter that is not a copy of your CV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paragraphs. Why this job, why you.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6384" y="371246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809025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“Tell me about yourself” in ninety seconds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everyone gets and almost nobody prepares.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86384" y="455371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650273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STAR method for experience questions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· Task · Action · Result. It works every time.</a:t>
            </a:r>
            <a:endParaRPr lang="en-US" sz="1580" dirty="0"/>
          </a:p>
        </p:txBody>
      </p:sp>
      <p:sp>
        <p:nvSpPr>
          <p:cNvPr id="27" name="Shape 19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86384" y="539496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5491521"/>
            <a:ext cx="209215" cy="2092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good questions at the end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is scored and that most candidates skip.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the hardest question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honest. This is preparation, not a test.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Tell me about yourself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it now, out loud, in 90 seconds. Time it. How did it go?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Your weakness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your biggest weakness?” What would you say? Would it help you?</a:t>
            </a:r>
            <a:endParaRPr lang="en-US" sz="21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Your questions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they ask if you have questions. What would you ask?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 are predictable. That is the whole opportunity — and most people waste it.</a:t>
            </a:r>
            <a:endParaRPr lang="en-US" sz="4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about twelve questions. You will be asked eight of them.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eight answers takes one evening, and almost nobody does it.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questions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Prepare, don't improvise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evening of work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CV — what gets read and what does not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recruiter spends about thirty seconds on a first read.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people write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“Responsible for managing the team.”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“Duties included report writing.”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“Hard-working and motivated.”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pages.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job description.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Says nothing about YOU.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you an interview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“Managed a team of eight.”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“Cut reporting time from 5 days to 2.”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“Trained 60 staff in three months.”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pages.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Achievements with NUMBERS.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you did, and what changed.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should answer: what did you do, and what was the result? “Responsible for” describes a chair. A number describes a person.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CV — what goes where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sections, in this order. Two pages maximum.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NAME AND CONTACT</a:t>
            </a:r>
            <a:endParaRPr lang="en-US" sz="12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Phone · email · city. Nothing else.</a:t>
            </a:r>
            <a:endParaRPr lang="en-US" sz="1200" dirty="0"/>
          </a:p>
          <a:p>
            <a:pPr indent="0" marL="0">
              <a:lnSpc>
                <a:spcPct val="136000"/>
              </a:lnSpc>
              <a:buNone/>
            </a:pPr>
            <a:endParaRPr lang="en-US" sz="12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PROFILE  —  3 lines</a:t>
            </a:r>
            <a:endParaRPr lang="en-US" sz="12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Who you are, what you do, what you want.</a:t>
            </a:r>
            <a:endParaRPr lang="en-US" sz="1200" dirty="0"/>
          </a:p>
          <a:p>
            <a:pPr indent="0" marL="0">
              <a:lnSpc>
                <a:spcPct val="136000"/>
              </a:lnSpc>
              <a:buNone/>
            </a:pPr>
            <a:endParaRPr lang="en-US" sz="12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EXPERIENCE  —  newest first</a:t>
            </a:r>
            <a:endParaRPr lang="en-US" sz="12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Job title · company · dates ·</a:t>
            </a:r>
            <a:endParaRPr lang="en-US" sz="12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3 achievement lines with numbers.</a:t>
            </a:r>
            <a:endParaRPr lang="en-US" sz="1200" dirty="0"/>
          </a:p>
          <a:p>
            <a:pPr indent="0" marL="0">
              <a:lnSpc>
                <a:spcPct val="136000"/>
              </a:lnSpc>
              <a:buNone/>
            </a:pPr>
            <a:endParaRPr lang="en-US" sz="12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EDUCATION  —  newest first</a:t>
            </a:r>
            <a:endParaRPr lang="en-US" sz="1200" dirty="0"/>
          </a:p>
          <a:p>
            <a:pPr indent="0" marL="0">
              <a:lnSpc>
                <a:spcPct val="136000"/>
              </a:lnSpc>
              <a:buNone/>
            </a:pPr>
            <a:endParaRPr lang="en-US" sz="12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SKILLS  —  languages, software, licences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first, always. Nobody reads to the bottom.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photograph, no date of birth, no marital status.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professional email address, not a nickname.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pages maximum. One is better if you have under five years' experience.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 letter — three paragraphs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summary of your CV. A different document.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PARAGRAPHS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WHY THIS JOB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Name the job and where you saw it.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Say one specific thing about THEM.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WHY YOU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Two achievements that match the advert.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Use numbers. Do not repeat the CV.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CLOSE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“I would welcome the chance to discuss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this. I am available from 1 April.”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this letter be sent to any other company? Then it is too general.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paragraph 1 mention something specific about them?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paragraph 2 match the words used in the advert?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Never more. Usually much less.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yourself” — the ninety-second answer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question, and the one that sets the tone for everything after it.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where you were born.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whole life story.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for five minutes.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“I'm hard-working and honest.”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“what do you want to know?”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 have wasted the best question.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three-part answer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NOW  —  “I'm a logistics officer at…”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BEFORE  —  “Before that I spent two years…”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HERE  —  “I'm looking to move into…, which is why this role interests me.”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Ninety seconds.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Ends pointing at THIS job.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before · why here. Three parts, ninety seconds, and the last part is the one that matters — it connects your history to their vacancy.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— the answer shape for every experience question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a time when…” has one correct structure.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· TASK · ACTION · RESULT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—  the situation, in one line</a:t>
            </a:r>
            <a:endParaRPr lang="en-US" sz="12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“Last year our deliveries were late.”</a:t>
            </a:r>
            <a:endParaRPr lang="en-US" sz="1250" dirty="0"/>
          </a:p>
          <a:p>
            <a:pPr indent="0" marL="0">
              <a:lnSpc>
                <a:spcPct val="136000"/>
              </a:lnSpc>
              <a:buNone/>
            </a:pPr>
            <a:endParaRPr lang="en-US" sz="12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—  what you had to do</a:t>
            </a:r>
            <a:endParaRPr lang="en-US" sz="12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“I was asked to find out why.”</a:t>
            </a:r>
            <a:endParaRPr lang="en-US" sz="1250" dirty="0"/>
          </a:p>
          <a:p>
            <a:pPr indent="0" marL="0">
              <a:lnSpc>
                <a:spcPct val="136000"/>
              </a:lnSpc>
              <a:buNone/>
            </a:pPr>
            <a:endParaRPr lang="en-US" sz="12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—  what you actually did</a:t>
            </a:r>
            <a:endParaRPr lang="en-US" sz="12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“I checked every route for a month</a:t>
            </a:r>
            <a:endParaRPr lang="en-US" sz="12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and found two vans causing delays.”</a:t>
            </a:r>
            <a:endParaRPr lang="en-US" sz="1250" dirty="0"/>
          </a:p>
          <a:p>
            <a:pPr indent="0" marL="0">
              <a:lnSpc>
                <a:spcPct val="136000"/>
              </a:lnSpc>
              <a:buNone/>
            </a:pPr>
            <a:endParaRPr lang="en-US" sz="12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—  the RESULT, with a number</a:t>
            </a:r>
            <a:endParaRPr lang="en-US" sz="12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“Delivery time fell from 6 days to 4.”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you rambling. Four parts, about ninety seconds.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 is what most people forget — and it is the part that gets you hired.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“I am a problem-solver” into evidence.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THREE stories. They will cover most questions.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you have any questions?” — the part people waste</a:t>
            </a:r>
            <a:endParaRPr lang="en-US" sz="3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“no” is read as a lack of interest. Prepare three.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3291840"/>
                <a:gridCol w="35963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would success look like in the first six months?”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think about results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a good one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is the biggest challenge for this team?”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realistic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maturity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“How would you describe the way the team works?”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care about fit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and useful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are the next steps in the process?”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organised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this last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ask about salary or holiday at a first interview. Those come later, once they want you.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apply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/əˈplaɪ/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formally ask for a job or a place.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applied for the position last week. She applied to three companies.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a job. Apply TO a company. Two different prepositions, and mixing them is very common.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responsible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/rɪˈspɒnsəbl/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duty to deal with something.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responsible for the whole warehouse. Who is responsible for this?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“Responsible FOR”, never “responsible of”. And on a CV, avoid “responsible for” — use an action verb with a number instead.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achievement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/əˈtʃiːvmənt/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good that you did and completed.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main achievement was cutting delivery times. List three achievements.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the SECOND syllable: a-CHIEVE-ment. And an achievement needs a RESULT — otherwise it is just a duty.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position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/pəˈzɪʃn/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job, especially in a formal context.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applying for the position of logistics officer. The position is based in Adama.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formal than “job”. Use “position” in a cover letter and “job” in conversation.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reference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/ˈrefrəns/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will speak about your work, or their written statement.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available on request. Can I give your name as a reference?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permission BEFORE giving somebody as a reference. And it is three syllables, not four: REF-rence.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967228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473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LANGUAGE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tense of every interview question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4. Now it decides whether you sound competent.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108960"/>
                <a:gridCol w="377921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Because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“How long have you worked there?”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perfect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job continues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did you do before that?”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simple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job is finished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“Have you ever managed a team?”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perfect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experience, no time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“Tell me about a time when…”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simple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finished event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“Where do you see yourself in five years?”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like to · going to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prior intention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tells you the tense of the answer. Answer a perfect question with the past simple and it sounds noticeably wrong.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967228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473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LANGUAGE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about yourself without boasting or apologising</a:t>
            </a:r>
            <a:endParaRPr lang="en-US" sz="3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has a narrow band between the two. Aim for the middle.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weak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just helped a bit.”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not really an expert.”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was mostly the team.”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only managed a small project.”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interviewer believes you.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right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led that part of the project.”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got three years' experience in it.”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worked with a team of eight, and I coordinated the schedule.”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managed a project worth 2 million birr.”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Facts, not adjectives.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FACTS, not adjectives. “I cut delivery times by a third” is not boasting — it is information. “I'm excellent” is an opinion nobody can check.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967228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473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LANGUAGE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difficult questions — and the shape of a good answer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everybody dreads. Each has a technique.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77921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technique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biggest weakness?”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one, plus what you do about 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take on too much. Now I check my workload weekly.”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“Why did you leave?”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fact about the situation, never a complaint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 was a small company with no room to grow.”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“Why is there a gap in your CV?”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what you did in 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studied for six months and finished a course.”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“Why should we hire you?”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achievements that match the advert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 need X; I did X at my last job, and cut costs by 15%.”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criticise a former employer. It is the fastest way to lose an interview, and the interviewer will assume you would say the same about them.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967228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473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LANGUAGE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 letter — sentence patterns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sentences. They frame almost any letter.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400800" cy="4059936"/>
          </a:xfrm>
          <a:prstGeom prst="roundRect">
            <a:avLst>
              <a:gd name="adj" fmla="val 3153"/>
            </a:avLst>
          </a:prstGeom>
          <a:solidFill>
            <a:srgbClr val="EDF3EF"/>
          </a:solidFill>
          <a:ln w="15875">
            <a:solidFill>
              <a:srgbClr val="3F5BD9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PATTERNS WORTH MEMORISING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85216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writing to apply for the position of ___,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advertised on ___.”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currently working as ___ at ___.”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my current role I have ___ , which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reduced ___ by ___%.”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was particularly interested to see that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your company ___.”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would welcome the opportunity to discuss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my application.”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223760" y="1883664"/>
            <a:ext cx="441929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61504" y="2103120"/>
            <a:ext cx="39438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98080" y="2505456"/>
            <a:ext cx="387065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frames, not scripts. The content in the gaps is yours.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is the important one — an action AND a result.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 is where you prove you researched them.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whole letter to one page.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967228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473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LANGUAGE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 — the twelve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78765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6384" y="1787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yourself.  ·  Why do you want this job?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before, why here. And why THIS employer.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" y="2510028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6384" y="2510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you leaving?  ·  Why is there a gap in your CV?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about the situation. Never a complaint.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" y="3232404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86384" y="3232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your strengths?  ·  What is your weakness?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with numbers. A real weakness plus your fix.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395478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6384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time you solved a problem  ·  …handled a conflict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STAR. Two of your three prepared stories.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6384" y="4677156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86384" y="4677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time something went wrong  ·  Why should we hire you?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with what you learned. Then two matching achievements.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86384" y="539953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6384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see yourself in five years?  ·  Any questions for us?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intention that fits this job. Then your three questions.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— the CV line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or achievement?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“Responsible for managing the warehouse team.” Improve it.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“Managed a warehouse team of eight.”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 action verb and a number. “Responsible for” describes the role, not what you actually did.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“Duties included writing monthly reports.” Improve it.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“Cut monthly reporting time from five days to two.”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Same work, but now with a result. The reader learns something about you rather than about the job.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delete “hard-working and motivated”?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writes it, so it distinguishes nobody.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is an unverifiable adjective. Use the space for a number instead.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— tell me about yourself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parts, ninety seconds.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you start?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what you do NOW.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Not with your birthplace or your childhood. The interviewer wants a professional summary.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7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parts?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195"/>
              </a:spcBef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before · why this job.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292"/>
              </a:spcBef>
              <a:buNone/>
            </a:pPr>
            <a:r>
              <a:rPr lang="en-US" sz="146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Ninety seconds, and it ends pointing at their vacancy rather than trailing off.</a:t>
            </a:r>
            <a:endParaRPr lang="en-US" sz="127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part 3 matter most?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connects your history to THIS job.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Without it you have given a summary. With it you have given an argument.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— STAR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parts. The last one decides.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a time you solved a problem.” What shape?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· Task · Action · Result.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Four parts, about ninety seconds. It stops you rambling and guarantees you finish with evidence.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 do people forget?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is the only part that proves the story mattered. Without a result it is just an anecdote.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should the Situation be?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line.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Action and Result deserve the time. Sixty seconds of background loses the interviewer.</a:t>
            </a:r>
            <a:endParaRPr lang="en-US" sz="11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— the hard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never complaints.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you leave your last job?” The company was badly run. What do you say?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was a small company with limited room to grow.”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fact about the situation. Criticising a former employer makes the interviewer assume you would criticise them too.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your biggest weakness?”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one, plus what you do about it.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“I work too hard” is transparent and irritating. A genuine weakness with a fix shows self-awareness.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two-year gap in your CV. What do you say?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you did in it — studied, cared for family, worked informally.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gap with a reason is fine. An unexplained one invites the interviewer to imagine something worse.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— your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say “no”.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you have any questions?” You have none. What do you do?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of your three prepared questions anyway.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“No” is read as disengagement. Prepare three, because two may already have been answered.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ask about salary?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 a first interview.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comes later, once they want you. Asking early suggests the money is your only interest.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strongest question to ask?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success look like in the first six months?”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shows you are thinking about doing the job, not just getting it.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of an interview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 answers the first question. Three parts, ninety seconds.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coming. So — tell me about yourself.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course. I'm currently a logistics officer at a distribution company in Adama, where I've worked for three years.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that I spent two years in a warehouse role in Hawassa, which is where I learned stock control.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current job I manage a team of eight, and last year we cut delivery times from six days to four.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now looking to move into supply chain management, which is why this position interested me.</a:t>
            </a:r>
            <a:endParaRPr lang="en-US" sz="145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Good. Tell me more about the delivery times.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before · achievement with numbers · why here. The interviewer's follow-up is exactly what she wanted him to ask.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 answer, and a hard question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 handles both. Watch the structure.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time you solved a problem at work.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 our deliveries were consistently late. I was asked to find out why.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tracked every route for a month and found two vans caused most delays. I recommended replacing one.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fell from six days to four, and complaints dropped by about half.</a:t>
            </a:r>
            <a:endParaRPr lang="en-US" sz="175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are you leaving your current job?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small company, and there isn't really anywhere to progress. I'd rather be somewhere I can keep growing.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and Task in one line. Action in two. Result with two numbers. Then a reason for leaving that criticises nobody.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for the interview room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phrases. Three buy time, three add strength.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a good question — let me think.”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three seconds. Sounds confident.</a:t>
            </a:r>
            <a:endParaRPr lang="en-US" sz="148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I just check what you mean by…?”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answering the wrong question.</a:t>
            </a:r>
            <a:endParaRPr lang="en-US" sz="148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“Would you like me to give an example?”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 STAR story. They always say yes.</a:t>
            </a:r>
            <a:endParaRPr lang="en-US" sz="148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my current role I've…”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perfect. Opens an achievement.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result was…”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 in STAR. Never leave it out.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welcome the chance to…”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68"/>
              </a:spcBef>
              <a:buNone/>
            </a:pPr>
            <a:r>
              <a:rPr lang="en-US" sz="13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close, and for the letter.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interview answer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Fill each gap. Answers are in the Answer Key.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yourself.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______ working as a ______ at ___, where I've been for two years.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that, I spent three years in a similar role in Bahir Dar.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current role I've ______ a team of five, and we ______ costs by 12%.</a:t>
            </a:r>
            <a:endParaRPr lang="en-US" sz="19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now ______ to move into a larger role, which is why this ______ interested me.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more about the cost reduction.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these:  “currently”  ·  “Before”  ·  “managed”  ·  “cut”  ·  “looking”  ·  “position”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— the mock interview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rounds. Swap roles after each.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yourself.” 90 seconds, three parts.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times you and checks all three parts.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a time you solved a problem.”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checks all four STAR parts, especially the Result.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hard questions: leaving, and your weakness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checks for any criticism of a former employer.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you have any questions for us?”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ask three. None about salary.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the ninety-second answer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it, memorise the shape, deliver it three times.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what you do, where, how long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perfect: “I've worked there for…”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one previous role and what you learned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simple. One sentence.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ACHIEVEMENT with a number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cut… by…” Plant it deliberately.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HERE — connect it to this job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“…which is why this position interested me.”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build three STAR stories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stories cover most questions you will be asked.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1 — a problem you solved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problem-solving, initiative, analysis.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2 — a difficult person or a conflict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teamwork, communication, pressure.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3 — something that went wrong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failure, learning, honesty.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one: S and T in one line, A in two, R with a number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seconds each. Time them.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drill — sounding confident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decides how the same words are received.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Undermines you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rising at the end of statements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just…”  “I only…”  “sort of…”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too quietly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every pause with “erm”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Apologising for your English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confident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071"/>
              </a:spcAft>
              <a:buSzPct val="100000"/>
              <a:buChar char="•"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falling at the end of statements</a:t>
            </a:r>
            <a:endParaRPr lang="en-US" sz="1850" dirty="0"/>
          </a:p>
          <a:p>
            <a:pPr marL="228600" indent="-228600">
              <a:lnSpc>
                <a:spcPct val="100000"/>
              </a:lnSpc>
              <a:spcAft>
                <a:spcPts val="1071"/>
              </a:spcAft>
              <a:buSzPct val="100000"/>
              <a:buChar char="•"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led…”  “I managed…”  “I cut…”</a:t>
            </a:r>
            <a:endParaRPr lang="en-US" sz="1850" dirty="0"/>
          </a:p>
          <a:p>
            <a:pPr marL="228600" indent="-228600">
              <a:lnSpc>
                <a:spcPct val="100000"/>
              </a:lnSpc>
              <a:spcAft>
                <a:spcPts val="1071"/>
              </a:spcAft>
              <a:buSzPct val="100000"/>
              <a:buChar char="•"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enough to be easy to hear</a:t>
            </a:r>
            <a:endParaRPr lang="en-US" sz="1850" dirty="0"/>
          </a:p>
          <a:p>
            <a:pPr marL="228600" indent="-228600">
              <a:lnSpc>
                <a:spcPct val="100000"/>
              </a:lnSpc>
              <a:spcAft>
                <a:spcPts val="1071"/>
              </a:spcAft>
              <a:buSzPct val="100000"/>
              <a:buChar char="•"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seconds of silence instead</a:t>
            </a:r>
            <a:endParaRPr lang="en-US" sz="1850" dirty="0"/>
          </a:p>
          <a:p>
            <a:pPr marL="228600" indent="-228600">
              <a:lnSpc>
                <a:spcPct val="100000"/>
              </a:lnSpc>
              <a:spcAft>
                <a:spcPts val="1071"/>
              </a:spcAft>
              <a:buSzPct val="100000"/>
              <a:buChar char="•"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mentioning your English at all</a:t>
            </a:r>
            <a:endParaRPr lang="en-US" sz="185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2: statements fall at the end. A statement that rises sounds like a question, as if you were unsure of your own experience.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— the hard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questions. Prepare an answer for each.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are you leaving your current job?”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 about the situation. No complaints.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your biggest weakness?”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one, plus what you do about it.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should we hire you?”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achievements that match the advert.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do you see yourself in five years?”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intention that fits THIS job.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your partner asks all four, in a random order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preparation time between them.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challenge — the full mock interview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7876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6384" y="1787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yourself.”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seconds. Three parts, one number.</a:t>
            </a:r>
            <a:endParaRPr lang="en-US" sz="1630" dirty="0"/>
          </a:p>
        </p:txBody>
      </p:sp>
      <p:sp>
        <p:nvSpPr>
          <p:cNvPr id="14" name="Shape 10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" y="25100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6384" y="2510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do you want this job?”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specific about THEM.</a:t>
            </a:r>
            <a:endParaRPr lang="en-US" sz="1630" dirty="0"/>
          </a:p>
        </p:txBody>
      </p:sp>
      <p:sp>
        <p:nvSpPr>
          <p:cNvPr id="18" name="Shape 14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" y="323240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86384" y="3232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a time you solved a problem.”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STAR, with a Result.</a:t>
            </a:r>
            <a:endParaRPr lang="en-US" sz="1630" dirty="0"/>
          </a:p>
        </p:txBody>
      </p:sp>
      <p:sp>
        <p:nvSpPr>
          <p:cNvPr id="22" name="Shape 18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39547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6384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are you leaving?” and “Your weakness?”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criticism. A real weakness with a fix.</a:t>
            </a:r>
            <a:endParaRPr lang="en-US" sz="1630" dirty="0"/>
          </a:p>
        </p:txBody>
      </p:sp>
      <p:sp>
        <p:nvSpPr>
          <p:cNvPr id="26" name="Shape 22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6384" y="467715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86384" y="4677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should we hire you?”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achievements matching the advert.</a:t>
            </a:r>
            <a:endParaRPr lang="en-US" sz="1630" dirty="0"/>
          </a:p>
        </p:txBody>
      </p:sp>
      <p:sp>
        <p:nvSpPr>
          <p:cNvPr id="30" name="Shape 26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86384" y="53995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6384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you have any questions?”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three. None about salary.</a:t>
            </a:r>
            <a:endParaRPr lang="en-US" sz="16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two answers to one question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a time you solved a problem.”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READ A, THEN B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“Well, there were a lot of problems, and I helped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some of them. It was quite difficult but we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as a team and in the end it was fine. I'm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 solving problems.”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year our deliveries were consistently late.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asked to find out why. I tracked every route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month and found two vans were causing most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delays. I recommended replacing one and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re-routing the other. Delivery time fell from six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four.”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problem did A solve?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problem did B solve?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did A actually do?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was B's result?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Which one used STAR?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Which candidate would you interview again?</a:t>
            </a:r>
            <a:endParaRPr lang="en-US" sz="1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what problem did A solve?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tell. No situation is ever named.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Fluent English with no content. The interviewer learns nothing they can write down.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what did A actually do?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“Helped with some of them.” No action is stated.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Action is where you prove you did something. Without it there is no evidence.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B's result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fell from six days to four.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number the interviewer can repeat to their own manager. That is what gets you shortlisted.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which used STAR?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All four parts, in order, in six sentences.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Situation and Task in two lines, Action in two, Result in one. Ninety seconds.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the honest lesson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sounds confident and says nothing. B sounds ordinary and says everything.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Fluency alone does not get you hired. Fluency plus evidence does.</a:t>
            </a:r>
            <a:endParaRPr lang="en-US" sz="11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the hard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what is said and what is carefully not said.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TWICE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INT:  Why are you leaving your current job?</a:t>
            </a:r>
            <a:endParaRPr lang="en-US" sz="13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MIMI:  It's a small company with little room to</a:t>
            </a:r>
            <a:endParaRPr lang="en-US" sz="13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 I'd rather be somewhere I can grow.</a:t>
            </a:r>
            <a:endParaRPr lang="en-US" sz="1350" dirty="0"/>
          </a:p>
          <a:p>
            <a:pPr indent="0" marL="0">
              <a:lnSpc>
                <a:spcPct val="126000"/>
              </a:lnSpc>
              <a:buNone/>
            </a:pPr>
            <a:endParaRPr lang="en-US" sz="13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INT:  What is your biggest weakness?</a:t>
            </a:r>
            <a:endParaRPr lang="en-US" sz="13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MIMI:  I take on too much. Last year I said yes to</a:t>
            </a:r>
            <a:endParaRPr lang="en-US" sz="13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projects and one of them slipped. Now I</a:t>
            </a:r>
            <a:endParaRPr lang="en-US" sz="13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my workload every Monday.</a:t>
            </a:r>
            <a:endParaRPr lang="en-US" sz="1350" dirty="0"/>
          </a:p>
          <a:p>
            <a:pPr indent="0" marL="0">
              <a:lnSpc>
                <a:spcPct val="126000"/>
              </a:lnSpc>
              <a:buNone/>
            </a:pPr>
            <a:endParaRPr lang="en-US" sz="13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INT:  And why should we hire you?</a:t>
            </a:r>
            <a:endParaRPr lang="en-US" sz="13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MIMI:  Your advert asks for stock control. I ran</a:t>
            </a:r>
            <a:endParaRPr lang="en-US" sz="13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control for two years and cut losses by 15%.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Does Mimi criticise her employer?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her weakness a real one?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does she do about it?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How does she answer the last question?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Which words does she take from the advert?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does she criticise?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“A small company with limited room to progress” is a fact.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Criticising an employer makes the interviewer assume you would criticise them next.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and 3 — the weakness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on too much, with a real consequence and a weekly workload check.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Three parts: the weakness, the evidence it is genuine, and the system that now controls it.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why hire you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matched the advert's requirement to her own achievement.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only question that invites you to argue for yourself directly. She uses evidence, not adjectives.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the advert's words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“Stock control”, quoted back exactly.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Deliberate. Using their own words makes the match obvious and easy for them to record.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pattern?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examples and numbers. No adjectives about herself anywhere.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 claim she makes could be checked. That is what makes them credible.</a:t>
            </a:r>
            <a:endParaRPr lang="en-US" sz="11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in an interview — four tactics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being assessed on how you listen too.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 they asked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one you prepared. If it is close but not identical, adjust the emphasis rather than reciting.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you are not sure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33"/>
              </a:spcBef>
              <a:buNone/>
            </a:pPr>
            <a:r>
              <a:rPr lang="en-US" sz="133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I just check what you mean by…?” Three seconds, and it prevents a wasted minute.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their priorities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24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ask about twice is what matters to them. Bring it up again in your own questions.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finish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Interrupting an interviewer is costly. Two seconds of silence before answering is better than starting early.</a:t>
            </a:r>
            <a:endParaRPr lang="en-US" sz="15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 job advertisement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the way a candidate should: looking for the words to reuse.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CAREFULLY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COORDINATOR — ADAMA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WILL: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manage delivery schedules, three depots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supervise a team of six drivers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report weekly on performance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LOOKING FOR: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two years' experience in logistics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stock control experience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good spoken and written English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 driving licence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a CV and cover letter by 30 April.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four requirements.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words would you reuse in your letter?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requirement would you struggle with?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write about that one?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you send, and by when?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7F3EF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a full sentence.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main duties?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four requirements?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exact phrases would you quote in your cover letter?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no driving licence, what would you write?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you send, and by what date?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three duties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schedules for three depots · supervise six drivers · report weekly.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Each duty suggests a STAR story you should have ready for the interview.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the four requirements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years' logistics · stock control · English · driving licence.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Your letter should address all four, in this order, because that is the order they thought of them.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phrases to reuse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“logistics” · “stock control” · “delivery schedules” · “supervise”.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Quoting their words back makes the match obvious and easy for them to record.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a missing requirement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it briefly and positively. Do not ignore it.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Silence reads as concealment. One honest line is far better than hoping it goes unnoticed.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what to send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CV and a cover letter, by 30 April.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Sending only a CV when a letter was requested removes you at the first sort.</a:t>
            </a:r>
            <a:endParaRPr lang="en-US" sz="11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a cover letter that works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paragraphs. Matched to the advert on slide 41.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Ms Alemu,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writing to apply for the position of Logistics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Coordinator, advertised on 2 April. I was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to see you are opening a third depot.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currently a logistics officer in Adama, where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manage schedules for two depots and supervise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eight. I have run stock control for two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and cut losses by 15%.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hold a driving licence and would welcome the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to discuss my application.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sincerely,  Mimi Tadesse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advert words appear here?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numbers are in paragraph 2?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paragraph 1 prove she did?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this letter be sent to any other company?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is it?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answers and vocabulary review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advert words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“Logistics Coordinator” · “delivery schedules” · “supervise” · “stock control” · “driving licence”.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Five phrases quoted back. The reader can tick every requirement without hunting for it.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the numbers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Three: two years, 15%, and six days to four.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 one is checkable. Numbers are what separate a claim from evidence.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paragraph 1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proves she read about them — the third depot.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One specific sentence that could not appear in any other letter. That is the whole test.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could it go elsewhere?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The third-depot line makes it specific to this employer.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general letter tells the employer they are one of many, which is the opposite of what you want.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check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· responsible · achievement · position · reference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Note she never writes “responsible for”. She uses “manage”, “supervise”, “run” and “cut” instead.</a:t>
            </a:r>
            <a:endParaRPr lang="en-US" sz="11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— fix the CV lines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line with an action verb and a number.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Responsible for managing the warehouse team.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Duties included writing monthly reports.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Was in charge of stock control.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Helped to train new staff.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Hard-working and motivated team player.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— your cover letter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cover letter using the frames from slide 19.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“I am writing to apply for the position of ___, advertised on ___.”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One specific sentence about THIS employer.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Your current role, with two achievements and numbers.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Address any requirement you do not fully meet.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“I would welcome the opportunity to discuss my application.”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Test: could this letter be sent to any other company?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your twelve answers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NOTES, not scripts, for all twelve questions from slide 20.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Tell me about yourself — three parts, one number.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Why this job — one specific thing about them.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leaving · CV gap — facts, no complaints.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Strengths · weakness — facts, then a real weakness with a fix.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Three STAR stories — each with a numerical Result.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Five years · your three questions for them.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what good notes look like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notes or script?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points. Three or four per question.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script gets recited at the wrong question. Notes adapt to what was actually asked.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does every STAR have a number?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must. “Fell from six days to four”, not “it improved”.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Result is the only part that proves the story mattered.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is the weakness real?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admit something that actually cost you.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“I'm a perfectionist” is heard several times a week and registers as evasion.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do you criticise anyone?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not. Anywhere. Once.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interviewer assumes you will speak about them the same way after you leave.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do you have three questions ready?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Three, because two may get answered during the interview.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Having none left at the end is read as disengagement, and it is entirely avoidable.</a:t>
            </a:r>
            <a:endParaRPr lang="en-US" sz="11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interview checklist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81508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1911645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CV line have an action verb and a number?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every “responsible for”.</a:t>
            </a:r>
            <a:endParaRPr lang="en-US" sz="1630" dirty="0"/>
          </a:p>
        </p:txBody>
      </p:sp>
      <p:sp>
        <p:nvSpPr>
          <p:cNvPr id="14" name="Shape 9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6384" y="253746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634021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my cover letter be sent to any other company?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yes, it is too general. Add one specific line.</a:t>
            </a:r>
            <a:endParaRPr lang="en-US" sz="1630" dirty="0"/>
          </a:p>
        </p:txBody>
      </p:sp>
      <p:sp>
        <p:nvSpPr>
          <p:cNvPr id="18" name="Shape 12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86384" y="325983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356397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90-second answer prepared and timed?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before · why here.</a:t>
            </a:r>
            <a:endParaRPr lang="en-US" sz="1630" dirty="0"/>
          </a:p>
        </p:txBody>
      </p:sp>
      <p:sp>
        <p:nvSpPr>
          <p:cNvPr id="22" name="Shape 15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86384" y="398221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078773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have three STAR stories with numerical Results?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conflict · something that went wrong.</a:t>
            </a:r>
            <a:endParaRPr lang="en-US" sz="1630" dirty="0"/>
          </a:p>
        </p:txBody>
      </p:sp>
      <p:sp>
        <p:nvSpPr>
          <p:cNvPr id="26" name="Shape 18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86384" y="470458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4801149"/>
            <a:ext cx="209215" cy="209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criticised any employer anywhere?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letter and every prepared answer.</a:t>
            </a:r>
            <a:endParaRPr lang="en-US" sz="1630" dirty="0"/>
          </a:p>
        </p:txBody>
      </p:sp>
      <p:sp>
        <p:nvSpPr>
          <p:cNvPr id="30" name="Shape 21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86384" y="542696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5" y="5523525"/>
            <a:ext cx="209215" cy="20921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have three questions to ask them?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about salary.</a:t>
            </a:r>
            <a:endParaRPr lang="en-US" sz="163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— multiple choice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a, b or c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is the better CV line?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Responsible for the team     b) Managed a team of eight     c) Hard-working team player</a:t>
            </a:r>
            <a:endParaRPr lang="en-US" sz="148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“Tell me about yourself” should start with: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where you were born     b) what you do now     c) your school</a:t>
            </a:r>
            <a:endParaRPr lang="en-US" sz="148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STAR stands for: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Story, Task, Answer, Reason     b) Situation, Task, Action, Result     c) Skills, Training, Aims, References</a:t>
            </a:r>
            <a:endParaRPr lang="en-US" sz="148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 the end they ask if you have questions. You should: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say no     b) ask about salary     c) ask three prepared questions</a:t>
            </a:r>
            <a:endParaRPr lang="en-US" sz="148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You apply ___ a job and ___ a company.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for / to     b) to / for     c) for / for</a:t>
            </a:r>
            <a:endParaRPr lang="en-US" sz="14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— which tense?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tense you would use to answer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long have you worked there?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did you do before that?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Have you ever managed a team?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Tell me about a time you solved a problem.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Where do you see yourself in five years?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What are you doing at the moment?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— matching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techniques and CV verbs.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pairs: 1–c, 2–a, and so on.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match the QUESTION to the TECHNIQUE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“Tell me about yourself”     2. “A time you solved a problem”     3. “Your weakness?”     4. “Why should we hire you?”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STAR     b) now / before / why here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two achievements matching the advert     d) a real one plus your fix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match the WEAK phrase to the STRONG one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Responsible for the team     2. Duties included reports     3. Helped train staff          a) Trained 12 staff in 6 months     b) Managed a team of eight     c) Cut reporting time by 60%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match STAR to its MEANING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     2. T     3. A     4. R          a) what you had to do     b) the outcome, with a number     c) the background     d) what you actually did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— write your profile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three-line CV profile.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Line 1 — who you are and what you do now.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Line 2 — your strongest achievement, with a number.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Line 3 — what you are looking for next.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Check: any adjectives about yourself? Delete them.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Check: is there at least one number?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— fix the interview answers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answer properly.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“I left because my manager was difficult and unfair.”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“My weakness? I work too hard.”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“I helped with some problems and it worked out fine.”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“I'm hard-working, honest and a good team player.”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“No, I don't have any questions.”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— true or false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 or F. For every F, write the correction.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CV should be four pages long.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“Responsible for” is a strong CV phrase.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R in STAR is the most important part.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You should say “no” if you have no questions at the end.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You should never criticise a former employer.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 cover letter should summarise your CV.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— short answer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sentence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your strongest achievement, with a number?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Why are you leaving, or why did you leave? No complaints.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a real weakness, and what do you do about it?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three questions will you ask them?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Which requirement in a real advert do you not fully meet?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— speaking tasks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Partner is the interviewer.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DEDE8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Speak. Your partner checks the structure and times you.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“Tell me about yourself.” 90 seconds, three parts, one number.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One STAR story. Partner checks all four parts.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“Why are you leaving?” Partner listens for any criticism.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“Any questions?” You must ask three.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— the full application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advert on slide 41, or a real one you have found.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your CV profile and three achievement lines.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verbs and numbers only.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the full cover letter.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paragraphs, one specific fact about them.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Prepare notes for all twelve questions.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points, not scripts.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Write three STAR stories with numerical Results.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conflict · something that went wrong.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 a full ten-minute mock interview.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and your three at the end.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— think and explain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Explain your thinking.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English if you can. These test understanding, not memory.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Answer A on slide 36 was fluent and got nowhere. Why?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missing?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must you never criticise a former employer, even truthfully?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interviewer conclude?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is “no questions” a costly answer?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signal?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Is preparing twelve answers dishonest or over-rehearsed?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 with improvising.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quiz — Part 1 · The CV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3EF"/>
          </a:solidFill>
          <a:ln w="12700">
            <a:solidFill>
              <a:srgbClr val="0A5D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on paper. Books and slides closed. Question 20 is the mock interview.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How long should a CV be?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1–2 pages     b) 4 pages     c) as long as needed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Improve: “Responsible for managing the team.”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line.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must every achievement line contain?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word.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Name the five CV sections in order.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answers.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quiz — Part 2 · The cover letter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many paragraphs?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must paragraph 1 contain?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What is the test of a good cover letter?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You apply ___ a position ___ a company.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quiz — Part 3 · Tell me about yourself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Name the three parts.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How long should it be?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Where should you NOT start?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Why put a number in your answer?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quiz — Part 4 · STAR and hard questions</a:t>
            </a:r>
            <a:endParaRPr lang="en-US" sz="35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What does STAR stand for?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words.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Which part do people forget?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letter, and why.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“Why are you leaving?” — what must you avoid?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What makes a good weakness answer?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quiz — Part 5 · The end of the interview</a:t>
            </a:r>
            <a:endParaRPr lang="en-US" sz="3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How many questions should you prepare?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and why.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Name one strong question to ask.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What should you NOT ask about at a first interview?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SPEAKING: a full ten-minute mock interview.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live.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 to 4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CV length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One or two pages.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Recruiters spend about thirty seconds on a first read. Four pages guarantees the second one is never seen.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improve the line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“Managed a team of eight.”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 action verb and a number. “Responsible for” describes the chair, not the person in it.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every achievement needs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Without one it is a claim. With one it is evidence the reader can repeat to their own manager.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the five sections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· profile · experience · education · skills.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Newest first throughout, because nobody reads to the bottom.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5 to 8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how many paragraphs?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Why this job · why you · the close. One page, usually much less.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paragraph 1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position, where you saw it, and one specific thing about THEM.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specific line proves you read about them, which almost no candidate does.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the test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it be sent to any other company?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If yes, it is too general and tells this employer they are one of many.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the prepositions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a position, TO a company.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different prepositions, and mixing them is very common in learner letters.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9 to 12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the three parts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before · why here.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ends pointing at their vacancy, which turns a summary into an argument.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how long?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ninety seconds.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Five minutes loses them. Twenty seconds wastes the best question you will be asked.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where not to start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were born, or your childhood.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interviewer wants a professional summary, not a biography.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why a number?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directs their next question to ground you have prepared.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Planting a figure is a real technique for controlling where the interview goes.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13 to 16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STAR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· Task · Action · Result.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Four parts, about ninety seconds. It stops rambling and guarantees you end with evidence.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the forgotten part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the Result. It is what proves the story mattered.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Without it you have told an anecdote rather than given evidence.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— “why are you leaving?”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criticise a former employer.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interviewer assumes you would speak about them the same way after leaving.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a good weakness answer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weakness, and what you now do about it.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“I'm a perfectionist” is heard several times a week and registers as evasion.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17 to 20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how many questions?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— because two may be answered during the interview.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Having none left at the end is read as disengagement and is entirely avoidable.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— a strong question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success look like in the first six months?”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shows you are thinking about doing the job rather than merely getting it.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— what not to ask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or holiday, at a first interview.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Those come later, once they want you. Asking early suggests the money is your only interest.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— the mock interview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on structure and evidence, not on grammar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Six checks: numbers, a specific letter, a timed opening, three STAR stories, no criticism, three questions.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1 — every day this week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directly useful week in this course.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your CV: every line an action verb and a number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every “responsible for”.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three-line profile and read it aloud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adjectives about yourself.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three STAR stories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a numerical Result.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notes for all twelve questions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points. Not scripts.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your 90-second answer five times, timed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from memory.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2 — to hand 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these to the next lesson.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28295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282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rewritten CV — one or two pages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experience with numbers, education, skills.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328574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35889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 letter for a real advertisement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paragraphs. One specific fact about the employer.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468782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50871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5087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76097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for all twelve questions, plus three STAR stories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points. Every Result with a number.</a:t>
            </a:r>
            <a:endParaRPr 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homework will be marked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standard before you start.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— 10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pages (2) · profile with a number (2) · action verb on every line (3) · at least three numbers (3).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— 8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paragraphs (2) · one specific fact about the employer (3) · advert words reused (2) · one page (1).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answers — 7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twelve in note form (3) · three STAR stories with numerical Results (3) · no criticism anywhere (1).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25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excellent · 15–19 good · 10–14 keep working · below 10 → rewrite the CV with your teacher line by line.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in this module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things. Check each one — can you do it?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CV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40"/>
              </a:spcBef>
              <a:buNone/>
            </a:pPr>
            <a:r>
              <a:rPr lang="en-US" sz="12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verbs and numbers. Delete every “responsible for”.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 letter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paragraphs. One line that fits no other employer.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yourself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before · why here. Ninety seconds, one number.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40"/>
              </a:spcBef>
              <a:buNone/>
            </a:pPr>
            <a:r>
              <a:rPr lang="en-US" sz="12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· Task · Action · Result. The R is what counts.</a:t>
            </a:r>
            <a:endParaRPr lang="en-US" sz="170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questions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never complaints. A real weakness with a fix.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questions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“no”. Never salary at a first interview.</a:t>
            </a:r>
            <a:endParaRPr lang="en-US" sz="1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where you can see them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interview toolkit. Photograph this slide.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217420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yourself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68096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NOW  —  what you do, where, how long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BEFORE  —  one previous role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ACHIEVEMENT  —  with a number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WHY HERE  —  connect to THIS job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seconds. Plant a number.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15888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17420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9664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415888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—  the situation, ONE line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—  what you had to do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—  what you actually did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—  the result, WITH A NUMBER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three stories.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8096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47972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61872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CV line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68096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VERB  +  WHAT  +  NUMBER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“Managed a team of eight.”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“Cut reporting from 5 days to 2.”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“responsible for”.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“hard-working”.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15888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00" y="4347972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09664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 three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6415888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success look like in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six months?”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biggest challenge here?”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next steps?”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salary at a first interview.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CV with numbers on it, a letter that fits one employer, and twelve prepared answers.</a:t>
            </a:r>
            <a:endParaRPr lang="en-US" sz="4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more preparation than most candidates ever do, in any language.</a:t>
            </a:r>
            <a:endParaRPr lang="en-US" sz="15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were always predictable. You are simply one of the few people who prepared for them.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Module 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for Work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emails and the last module of Level 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7 — Interviews &amp; Employability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English Learning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· Module 7 — Interviews &amp; Employability</dc:title>
  <dc:subject>English course for Ethiopian learners — Level 3 Intermediate English</dc:subject>
  <dc:creator>English Learning Platform</dc:creator>
  <cp:lastModifiedBy>English Learning Platform</cp:lastModifiedBy>
  <cp:revision>1</cp:revision>
  <dcterms:created xsi:type="dcterms:W3CDTF">2026-07-28T11:08:10Z</dcterms:created>
  <dcterms:modified xsi:type="dcterms:W3CDTF">2026-07-28T11:08:10Z</dcterms:modified>
</cp:coreProperties>
</file>