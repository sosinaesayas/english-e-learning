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saying that almost nothing here is new. Every tense has appeared before; what is new is seeing them as one system with two simple choices behind it.
TIP: Learners who find tenses overwhelming are usually holding eight unrelated rules. Slide 5 replaces those with two questions, and the relief is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2 is where most of the module's time goes. It is the choice that separates B1 from A2 more than any other.
TIP: Objective 5 is the Module 1 lesson applied to grammar: a rule you cannot apply in two seconds is not yet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Both versions in tasks 1 and 2 are correct English. That surprises learners who expect a right and a wrong answer, and it reframes tense as a choice about meaning rather than a rule to obey.
COMMON MISTAKES: Correct nothing. Collect the explanations learners offer — they reveal which model of the tense system the class is carrying.
TIP: Task 3 usually produces “present perfect”. That answer tells you where to spend lessons two and three.
ANSWERS: 1 “worked” = finished, a specific past time. “Have worked” = connected to now, time unspecified. · 2 “read” = finished the book. “Was reading” = in the middle of it, maybe unfinished.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Draw the two questions as a grid on the board before showing slide 5. Building it live is far more convincing than presenting it finished.
COMMON MISTAKES: Learners have met tenses as eight separate lessons and assume eight separate systems. The grid is the correction, and it should be shown early and often.
EXTRA EXAMPLES: The second question is the one nobody explains: simple means finished or general, continuous means in progress, perfect means connected to another time.
TIP: Say plainly that this module teaches almost no new forms. It teaches the map, and the map is what makes the forms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The most important slide in the module.
HOW TO TEACH: Build it on the board box by box, asking the class to supply each form. They can fill most of it themselves, which is the point — the knowledge is there but unorganised.
COMMON MISTAKES: Learners try to memorise nine forms. They should read the grid instead: pick the column for time, pick the row for aspect, and the form is at the intersection.
EXTRA EXAMPLES: The forms are mechanical: continuous is always be + -ing, perfect is always have + past participle. Two patterns generate six of the nine boxes.
TIP: Leave this grid on the board for the entire module and point at it every time a tense comes up. Repetition against the map is what builds the system.
CLASSROOM ACTIVITY: Fill the grid: give a different verb and have learners complete all nine boxes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Give this the time it needs.
HOW TO TEACH: The note is the most usable test in the module: a stated past time forces the past simple. Apply it mechanically before discussing meaning.
COMMON MISTAKES: “I have seen him yesterday” is the classic error. Once a finished time word appears, the perfect becomes impossible.
EXTRA EXAMPLES: The Jimma pair is the clearest: “she lived” means she has left, “she has lived” means she is still there. The tense carries information no word in the sentence contains.
TIP: Many languages use one past tense for both. There is no equivalent to transfer, so this must be built from nothing — expect it to take weeks, not one lesson.
CLASSROOM ACTIVITY: Finished or not: give twenty sentences and have learners decide from the time expression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test is mechanical: length of time takes “for”, starting point takes “since”. Learners can apply it without understanding the aspect at all, which is a useful foothold.
COMMON MISTAKES: “I am working here since 2020” and “I work here since 2020” are both very common. Both need the present perfect.
EXTRA EXAMPLES: “How long have you worked here?” is the question these answer, and it appears in every job interview. Module 7 depends on it.
TIP: Drill the question and answer together as a chunk: “How long have you…?” → “I have… for/since…”. Chunking beats analysis here.
CLASSROOM ACTIVITY: For or since: give twenty time expressions and have learners sort them into two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Draw it: a long line for the background action and an arrow cutting through it for the interruption. The picture explains it in five seconds.
COMMON MISTAKES: Reversing them — “I cooked when the phone was ringing” — describes a completely different and rather odd scene. Point that out; the error is meaningful, not just wrong.
EXTRA EXAMPLES: Two continuous actions at once take “while” for both: “I was cooking while she was studying.”
TIP: This is the tense that makes storytelling work. It connects directly to Level 2 Module 3 and forward to the narrative work in Module 8.
CLASSROOM ACTIVITY: Interrupt me: give ten background actions and have learners supply an interruption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two versions in the side panel describe genuinely different events. That contrast is what justifies the tense — without it the past perfect looks like decoration.
COMMON MISTAKES: Over-using it. Learners who have just learned it apply it to every past sentence. It is only needed when the sequence matters and is not already clear.
EXTRA EXAMPLES: “Already”, “just” and “by the time” often signal it: “By the time I arrived, they had left.”
TIP: Be honest that spoken English often skips this tense. It matters most in writing and in careful narrative, which is where it will be assessed.
CLASSROOM ACTIVITY: Which came first: give ten pairs of past events and have learners combine each into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Question 2 resolves most of the difficulty before any thinking about aspect is needed. Teach it as a shortcut, because it genuinely is one.
COMMON MISTAKES: Learners try to reason about aspect first, which is slow and error-prone. The time-word check is faster and settles the majority of cases.
EXTRA EXAMPLES: This is the Module 1 principle applied to grammar. A rule you cannot run in two seconds will not survive a real conversation.
TIP: Drill it as a spoken procedure: say a time expression, learners name the tense, within two seconds. Twenty rounds.
CLASSROOM ACTIVITY: Two-second tense: call out a sentence with a time expression and have learners name the required tense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Position is the whole lesson. Write “I have ___ finished” on the board and have learners place it. Middle position, every time.
COMMON MISTAKES: Learners put it at the front or the end. Both are possible in some registers but the middle is the standard and the safest.
EXTRA EXAMPLES: Already is a perfect-tense signal word, alongside just, yet and ever. All four sit in the same position.
TIP: Stress on the second syllable: al-REA-dy. Three syllables, not four.
CLASSROOM ACTIVITY: Place the word: give ten perfect sentences and have learners insert “already” correctly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Teach it against “already”: already for positives in the middle, yet for questions and negatives at the end. The contrast is what fixes both.
COMMON MISTAKES: “I have yet finished” is wrong. Positive statements take “already”.
EXTRA EXAMPLES: “Not yet” is a complete answer on its own, and a very useful one at work.
TIP: “Have you finished yet?” can sound impatient. “Have you finished?” is more neutral — worth mentioning for workplace use.
CLASSROOM ACTIVITY: Already or yet: give twelve sentences and have learners choose and place the right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Always teach it beside “for”. The two are only learnable as a contrast, because each is defined by what the other is not.
COMMON MISTAKES: “Since two years” is one of the most persistent errors at this level and it appears in almost every learner CV.
EXTRA EXAMPLES: “Since” also means “because” in formal writing: “Since the road was closed, we took another route.” Mention it briefly.
TIP: Pair the drill: “How long have you worked here?” answered both ways, with for and with since.
CLASSROOM ACTIVITY: Both ways: learners answer five “how long” questions twice, once with for and once with since.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grammar of slide 8 carried by a single word. While marks the background; when marks the interruption.
COMMON MISTAKES: “While the phone rang, I was cooking” reverses the roles and describes a strange scene.
EXTRA EXAMPLES: Two long actions at once take “while” for both: “I was working while she was studying.”
TIP: The /w/ sound at the start needs rounded lips. It is not one of the six target sounds but it is worth ten seconds.
CLASSROOM ACTIVITY: While or when: give twelve sentences and have learners choose the right conjunction.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A useful bridge word: it signals the present perfect without naming a specific time, which is exactly the condition for that tense.
COMMON MISTAKES: Learners avoid it and lose a natural way of talking about the near past. Drill it into the perfect frame.
EXTRA EXAMPLES: Other perfect signals: lately · so far · up to now · in the last few months.
TIP: “Recently” is very useful in interviews for describing what you have been doing. Flag it forward to Module 7.
CLASSROOM ACTIVITY: Recent news: every learner says three things they have recently done, using the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Show that the aspect determines the formula and the tense determines only which form of be or have is used. Six forms collapse into two patterns.
COMMON MISTAKES: The past participle is the weak point. Regular verbs add -ed; the irregular list must be learned, and it is worth a printed sheet.
EXTRA EXAMPLES: The most common irregular participles: been · gone · done · seen · taken · made · written · spoken · given · known.
TIP: Learners who see the two patterns stop treating the tenses as six unrelated things to memorise.
CLASSROOM ACTIVITY: Build it: give a verb and a tense and have learners produce the form within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Drill the signals until they trigger the tense automatically. This is pattern recognition, and it is far faster than reasoning about completion.
COMMON MISTAKES: “I have seen him yesterday” combines a right-column tense with a left-column word. That combination is always wrong.
EXTRA EXAMPLES: “Today”, “this week” and “this year” can take either, because the period includes now but is not over. Mention it only if the class is strong.
TIP: Print these two lists. Learners who know the signals get most tense choices right without any grammatical analysis.
CLASSROOM ACTIVITY: Signal spotting: read twenty sentences and have learners name the required tense from the time word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been/gone distinction is the sophisticated point and learners enjoy it. “She has been to Adama” means she is back; “she has gone to Adama” means she is not here.
COMMON MISTAKES: Using “gone” when the person has returned. It tells the listener the opposite of what was meant.
EXTRA EXAMPLES: Note that no time is ever stated with these. The moment a time appears, the past simple takes over.
TIP: “Have you ever…?” is the most natural conversation opener in the present perfect. It appears in Module 5 and Module 7.
CLASSROOM ACTIVITY: Ever chain: learners ask each other “Have you ever…?” around the room, each with a different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decision-history test from Level 2 Module 4 is still the fastest route. Apply it before discussing anything else.
COMMON MISTAKES: Using “will” for arrangements already made. “I will meet her at four” when it is already in the diary should be “I'm meeting her at four”.
EXTRA EXAMPLES: The last two are the ones learners never produce, and they are what makes future talk sound natural rather than textbook.
TIP: In real speech the present continuous is used for the future constantly. Point that out — learners are often surprised it is not a mistake.
CLASSROOM ACTIVITY: Four futures: give ten situations and have learners choose which of the four forms fits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Steps 1 and 2 settle the great majority of real cases and both are pure pattern recognition. Steps 3 and 4 handle the rest.
COMMON MISTAKES: Learners start at step 3 and reason about meaning, which is slow. The signal words are faster and more reliable.
EXTRA EXAMPLES: This is the accuracy routine from Module 3 applied to tense: a mechanical procedure beats intuition until intuition is built.
TIP: Print these four steps. They fit on a card and they cover almost every tense decision at this level.
CLASSROOM ACTIVITY: Run the steps: give fifteen sentences and have learners name the step that decided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Have learners label the tense of every verb. The switch in line 4 to the past simple is the key moment — that job is finished, so the perfect becomes impossible.
COMMON MISTAKES: Learners answer “how long have you worked here” with the past simple. The question form dictates the answer form.
EXTRA EXAMPLES: Tolosa gives both “for” and “since” for the same fact, which is natural and shows they are interchangeable.
TIP: This exact exchange opens most job interviews. Drill it until both the question and the answer are automatic.
CLASSROOM ACTIVITY: Real answers: pairs ask each other all three questions about their actual work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Line 4 is the past perfect doing real work: the asking happened before the arriving, and saying so is what clears Chaltu's team.
COMMON MISTAKES: Learners would say “we asked for them on Wednesday”, which is understandable but loses the sequence that makes the defence work.
EXTRA EXAMPLES: The last line switches to the present perfect because the relevant fact is the current state — it is finished now.
TIP: This is tense choice as professional communication, not as grammar. The tenses are carrying the argument.
CLASSROOM ACTIVITY: Explain a delay: learners explain a real or invented delay using all three past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The question form dictates the answer form. Teach each as a pair rather than teaching the tenses separately.
COMMON MISTAKES: Answering a perfect question with the past simple is the commonest interview error and it sounds noticeably wrong.
EXTRA EXAMPLES: All six of these appear in Module 7. Learners are rehearsing interview content while practising tense.
TIP: Drill question and answer together as chunks, in the Module 1 sense. Analysis is too slow for an interview.
CLASSROOM ACTIVITY: Six questions: pairs ask and answer all six, then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Have learners name which of the four steps decided each gap. Naming the step is what makes the procedure transferable.
COMMON MISTAKES: Gap 4 is the trap — “last year” is a finished time, so the past simple is required even though the question was in the perfect.
TIP: Gap 6 catches almost everyone. A fixed arrangement takes the present continuous, not “will meet”.
CLASSROOM ACTIVITY: Do it again with a different job and different times.
ANSWERS: 1 have ... worked · 2 For / worked · 3 Have ... worked · 4 worked · 5 are ... doing · 6 am meeting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 for all four rounds.
HOW TO TEACH: The two-second limit is what moves the rules from paper to speech. Slow correct answers do not transfer to conversation.
COMMON MISTAKES: Round 3 has a built-in trap: “Have you ever been to Gondar?” “Yes, I went last year.” The switch to the past simple is correct and learners often resist it.
TIP: Round 2 is the storytelling skill from Level 2 Module 3, now with the correct tense pairing.
CLASSROOM ACTIVITY: Speed tense: whole-class round where each learner answers a tense question within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contrast between tasks 1 and 2 is the entire past-versus-perfect lesson made personal. Same kind of fact, different tense, because of the time frame.
COMMON MISTAKES: Learners use the past simple for task 2. Ask whether this year is finished — the question answers itself.
EXTRA EXAMPLES: Task 4 combines fluency and accuracy, which is hard. Warn them and accept more errors in that round.
TIP: This activity is also interview preparation. Every one of these three questions appears in Module 7.
CLASSROOM ACTIVITY: Nine facts: every learner delivers all nine to a partner within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Give the background and let learners supply the interruption. Providing half the sentence removes the planning load and focuses attention on the tense.
COMMON MISTAKES: Learners give an interruption in the continuous — “when the phone was ringing”. The short action takes the simple.
EXTRA EXAMPLES: Task 4 uses “while”, which must attach to the long action. That is the slide 8 rule in a single word.
TIP: Task 5 is the real storytelling test and it connects forward to the narrative writing in Module 8.
CLASSROOM ACTIVITY: Story chain: each learner adds one interrupted sentence to a class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This is why the present perfect is hard to hear as well as to produce. “I've worked” and “I worked” differ by a fraction of a second in real speech.
COMMON MISTAKES: Learners say the full form, which is correct but sounds formal and effortful in conversation.
EXTRA EXAMPLES: “She's” is ambiguous between “she is” and “she has”. Only the following word resolves it: “she's gone” is has, “she's going” is is.
TIP: This connects Module 2 and this module. The perfect is a listening problem as much as a grammar problem.
CLASSROOM ACTIVITY: Contract it: give ten full sentences and have learners say each with the contraction, at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Task 2 contains the module's central pattern: the perfect opens the topic, and the past simple supplies the detail once a time is mentioned.
COMMON MISTAKES: Staying in the perfect for the detail — “Yes, I have gone there in 2022”. Once a time appears, the past simple takes over.
EXTRA EXAMPLES: Task 4 is genuinely enjoyable and produces a lot of unplanned language. It is worth the time.
TIP: Task 5 also practises the third-person -s from Module 3 — “he has worked”, “he went”. Two modules working together.
CLASSROOM ACTIVITY: Class survey: collect the most unusual finding from task 4 and share it with the whole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including listening back.
HOW TO TEACH: Five tenses in one two-minute recording. Have learners label each section with the tense they intended before listening back.
COMMON MISTAKES: Step 1 and step 2 together are the diagnostic: the switch from perfect to past simple is where errors appear.
TIP: Compare with the Module 1 recording. Learners often find their fluency has held while their accuracy has risen, which is the ideal outcome.
CLASSROOM ACTIVITY: Keep every recording for the Level 3 comparison.
ANSWERS: SUCCESS CRITERIA: correct perfect with for/since · three accurate past simple sentences · one correct continuous-plus-simple pair · two correct never sentences · two different future forms used appropriately.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Read with natural contractions. “I've worked” and “I worked” are genuinely hard to tell apart at speed, and that is the point of items 1 and 2.
COMMON MISTAKES: Learners cannot hear the contracted “'ve”. Read those two items three times and let them struggle — the difficulty is real, not a failure.
EXTRA EXAMPLES: Item 8 is present continuous used for the future, which learners often mis-identify as present.
ANSWERS: 1 present perfect · 2 past simple · 3 present perfect (she is still there) · 4 past simple · 5 past continuous + past simple · 6 past perfect (finishing came first) · 7 present perfect · 8 present continuous, future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Items 1 and 2 are the honest lesson: even native listeners rely on the time expression rather than the contraction. Tell learners that — it removes the sense of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4 is the key: the interviewer asks in the perfect and Bethlehem answers in the perfect, then switches to the past simple to give the specific finished detail.
COMMON MISTAKES: Learners think the switch is an error. It is exactly right, and it is what a fluent speaker does.
EXTRA EXAMPLES: Every question here appears in Module 7. Learners are rehearsing interview content while doing a listening task.
ANSWERS: 1 About six years. · 2 Worked in a warehouse in Adama for two years. · 3 Yes, eight people in her last job. · 4 The perfect opens it; the past simple gives the finished detail. · 5 Studying, and recently finished a course. · 6 The present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6 is worth saying explicitly: the present perfect is the tense of job interviews. A learner who avoids it will struggle in Module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fourth point is genuinely useful advice: listen for the time expression rather than straining to hear the contraction. That is what fluent listeners do.
COMMON MISTAKES: Learners blame their ears. The contraction really is very short, and even native listeners rely on context.
TIP: This reframes a frustration as a strategy. Learners leave with something to do rather than something to feel bad about.
CLASSROOM ACTIVITY: Time-word listening: read ten sentences and have learners identify the tense from the time expression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This passage is built to contain all eight tenses in a natural, non-artificial way. Work through it verb by verb, naming the tense and the reason.
COMMON MISTAKES: Learners identify forms correctly and cannot say why. Push for the reason every time — the reason is the transferable part.
EXTRA EXAMPLES: “He is meeting their team next month” is the present continuous with future meaning, which learners rarely spot.
ANSWERS: Perfect: “has worked… since 2021” (continues). Past simple: “worked for two years” (finished). Past continuous: “was studying” interrupted by “got”. Past perfect: “had already finished” came before deciding. Future: “is meeting” — present continuous, an arrangement. Yes, he still works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Each question is asked in the tense the answer requires. That mirroring is how tense works in real conversation and it is worth naming.
COMMON MISTAKES: Answering question 1 with the past simple. The question is in the perfect and the job continues, so the answer must be too.
TIP: Question 4 requires the past perfect in the answer: “No, he hadn't finished it yet.” Accept the past simple but point out the better version.
ANSWERS: 1 He has worked there since 2021. · 2 He worked at a logistics firm in Adama for two years. · 3 He was studying at Bahir Dar University. · 4 No — he had finished three years but not the degree. · 5 No, he has never worked abroad. · 6 He is meeting a team in Nairobi.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2 is the important correction: “for” is a perfect signal only when the period continues. “I worked there for two years” is perfectly correct for a finished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Use the four steps from slide 20 systematically. Most of these errors are caught by step 1 alone — a stated past time forcing the past simple.
COMMON MISTAKES: The commonest pattern here is a perfect tense combined with a finished time word, which is always wrong.
EXTRA EXAMPLES: The last sentence has two errors in one clause, which is realistic for learner writing at this level.
ANSWERS: 1 “I have worked in this office since 2022” · 2 “I worked in Hawassa” · 3 “Last month I attended” · 4 “While I was attending it” · 5 “I applied for a position… last week” · 6 “since I started this job”.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Four of the six errors are the same one: a perfect tense with a finished time word. Point that out — one rule, correctly applied, would have fixed most of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Have learners circle the time expression before choosing. The time word decides most of these before any thinking about aspect.
COMMON MISTAKES: Item 6 is the trap: “for three years” looks like a perfect signal, but “he left in 2021” makes it a finished period.
TIP: Item 6 is worth discussing as a class. It proves that “for” alone does not decide the tense — the whole context does.
ANSWERS: 1 have worked · 2 worked · 3 Have you ever been · 4 went · 5 haven't finished · 6 lived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Ask which of the four steps decided each sentence. Naming the step is what makes the procedure usable outside the exercise.
COMMON MISTAKES: Item 3 catches almost everyone — a diary arrangement takes the present continuous, not “will meet”.
TIP: Item 6 is the present simple for a timetable, which is the fourth future from slide 19 and the one nobody produces.
ANSWERS: 1 was cooking / rang · 2 had already started · 3 am meeting · 4 was studying / got · 5 haven't seen · 6 leaves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minutes.
HOW TO TEACH: This is a genuine interview answer as well as a tense exercise. Say so — it raises the effort considerably.
COMMON MISTAKES: Learners write everything in the past simple and add a perfect at the end. Require all six elements as separate sentences.
TIP: Keep these. They become the basis of the interview answers in Module 7 and the CV work in Module 8.
ANSWERS: MODEL: see slide 41. The Yonas text is exactly this task done well, at the required length, using all six tenses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Read the model aloud and ask the class to name each tense as it passes. Then have learners check their own paragraph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Steps 1 and 2 settle most real cases and are pure pattern recognition. Teach them as the fast route.
TIP: Print this beside the nine-box grid from slide 5. Together they are the whole module on one page.
CLASSROOM ACTIVITY: Run the steps on every written task for the rest of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5 is the one most classes get wrong. A diary arrangement takes the present continuous.
ANSWERS: 1 b · 2 c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Ask for each one: is this a length or a starting point? The test is mechanical and reliable.
COMMON MISTAKES: Item 5 takes a clause after “since”, not just a noun. Point out that both are possible.
TIP: Items 1 and 2 say the same thing two ways. That equivalence is worth demonstrating.
ANSWERS: 1 for · 2 since · 3 since · 4 for · 5 since · 6 for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In Part 2 both “since” and “already” point to the present perfect, which is a useful reminder that signals cluster by tense.
ANSWERS: Part 1: 1–c, 2–a, 3–b, 4–d.  ·  Part 2: 1–b, 2–a, 3–c, 4–a.  ·  Part 3: 1–b, 2–c, 3–a.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tests the two formulas from slide 16. Learners who know be + -ing and have + participle can produce all seven mechanically.
COMMON MISTAKES: Item 1 needs the third-person -s from Module 3. Check it — the two modules meet here.
TIP: Repeat with an irregular verb such as “go” or “write”. The participle is where the difficulty lies.
ANSWERS: 1 she studies · 2 she is studying · 3 she has studied · 4 she studied · 5 she was studying · 6 she had studied · 7 she will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Ask which of the four steps catches each error. Most are caught by step 1 or step 2.
COMMON MISTAKES: Item 5 is the been/gone pair: “gone twice” would mean she is still there twice, which is impossible.
TIP: Items 1 and 3 are the same error — a perfect tense with a finished time word. Point out the repetition.
ANSWERS: 1 I saw him yesterday. · 2 I have worked here since 2022. · 3 Last month I attended a course. · 4 While I was attending the meeting… · 5 She has been to Gondar twice. · 6 I am meeting the client at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3 catches almost everyone. Say the correct pair aloud twice: been = back, gone = still away.
ANSWERS: 1 F — “I saw him yesterday” · 2 T · 3 F — “gone” means still there; “been” means returned · 4 T · 5 F — the EARLIER of the two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Each question is asked in the tense the answer requires. Point out the mirroring — it is how real conversation works.
COMMON MISTAKES: Question 5 answered with “will”. If there is a plan, the present continuous is more natural.
TIP: These five questions cover five tenses and all of them appear in ordinary conversation. Drill them as a set.
ANSWERS: 1 for/since + present perfect · 2 past simple · 3 past continuous · 4 present perfect with never · 5 present continuous with future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two-second limit moves the rules from paper into speech, which is the whole point of this module.
TIP: Round 3 is where the tense switch appears. Praise anyone who moves to the past simple for the detail — it is the mark of real control.
ANSWERS: SUCCESS CRITERIA: 1 present perfect every time · 2 continuous background plus simple interruption, twice · 3 perfect question, then past simple for the detail · 4 will, going to and present continuous used appropriately.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minutes.
HOW TO TEACH: Question 5 is the real assessment. Everything else can be done carefully; unprepared speech is where tense control is genuinely tested.
TIP: Question 2 is a fair memory test because the grid is a system, not a list. Learners who understand it can reconstruct it.
ANSWERS: 1 the six corrections from slide 45 · 2 he writes, is writing, has written, wrote, was writing, had written, will write, will be writing, will have written · 3 six correct labelled sentences · 4 five tenses marked.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 Discussion, not writing.
HOW TO TEACH: Question 4 keeps the module honest: the past perfect is often optional, and pretending otherwise makes learners over-use it.
TIP: Question 2 is the clearest single demonstration in the module. Use it as the summary if time runs short.
ANSWERS: 1 The perfect means the time is not finished; “yesterday” is finished, so the two contradict each other. 2 “Lived” means she has left; “has lived” means she is still there. The tense carries information no word in the sentence contains. 3 Because they ask about experience up to now, which is exactly what the present perfect expresses. 4 No — when the order is already obvious from the words or from “then”, “after” and “before”, the past simple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the Module 7 interview answer in draft form. Mark it on tense accuracy and keep it — learners will reuse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the Module 7 interview answer in draft form. Mark it on tense accuracy and keep it — learners will reuse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the Module 7 interview answer in draft form. Mark it on tense accuracy and keep it — learners will reuse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the Module 7 interview answer in draft form. Mark it on tense accuracy and keep it — learners will reuse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the Module 7 interview answer in draft form. Mark it on tense accuracy and keep it — learners will reuse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Q15 are the diagnostic block: the finished-time rule, been versus gone, and the diary future. Errors here need slides 6,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Q15 are the diagnostic block: the finished-time rule, been versus gone, and the diary future. Errors here need slides 6,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Q15 are the diagnostic block: the finished-time rule, been versus gone, and the diary future. Errors here need slides 6,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Q15 are the diagnostic block: the finished-time rule, been versus gone, and the diary future. Errors here need slides 6,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Q15 are the diagnostic block: the finished-time rule, been versus gone, and the diary future. Errors here need slides 6,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Monday's task is the most valuable. Reconstructing the grid daily turns eight separate rules into one system.
TIP: Friday's task is the assessment. Naming your own tenses on a recording is the skill that transfers to real speech.
CLASSROOM ACTIVITY: Ask learners to bring Monday's grid and Friday's recording to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Task 1 is Module 7 preparation as much as a tense exercise. Tell learners they will reuse it in the interview module.
COMMON MISTAKES: Learners who cannot record must not be excluded. Offer the live option openly.
TIP: Mark task 1 for tense only. Vocabulary and style belong to Module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Mark tense only. Mixing in vocabulary or fluency criteria muddies the feedback and learners cannot act on it.
COMMON MISTAKES: Do not penalise a learner who uses a simpler tense correctly rather than a complex one wrongly. Correct and simple beats ambitious and wrong.
TIP: Give the mark privately, with two corrections — the Module 3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 and ask the same three questions again. The class should now be able to explain both versions of each pair.
TIP: Ask which tense learners avoided at the start of the module. Most say the present perfect, and most can now use it.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 alongside slide 5. The grid and these four boxes are the whole module.
TIP: The third box is the fastest route to a correct tense. Print it and keep it visible during writing tasks.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Be honest that the past-versus-perfect choice takes months to become automatic. Learners who expect instant mastery conclude they have failed.
TIP: Preview Module 5: from here Level 3 turns towards work. Everything built in Modules 1 to 4 — fluency, pronunciation, accuracy, tense — now gets used in meetings, emails and interviews.
CLASSROOM ACTIVITY: Ask every learner to say one sentence about their career using the present perfect before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A2 → B1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Tenses in Depth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met the tenses one at a time across two levels. This module puts the whole system on one page — so you can see how the pieces fit instead of memorising them separately.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The last one is the real goal.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eight tenses as ONE system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decide every tense you will ever need.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the past simple and the present perfect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hardest choice in English for most learners.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past continuous for interrupted actions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cooking when the phone rang.”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the past that is finished, and the past that is not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worked there” versus “I have worked there”.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tense at SPEED, not on paper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rule and using it in real time are different skills.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which one and why?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pairs. Both versions are grammatical. What changes?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Past or perfect?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worked in Adama.”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in Adama.”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difference?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Simple or continuous?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read a book last night.”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reading a book last night.”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finished?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Which is harder?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tense do you avoid because you are not sure? Be honest.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not eight rules to memorise. There are two questions to answer.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past, present or future?    HOW — is it finished, in progress, or connected to now?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English tense is one answer to the first question combined with one answer to the second.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past · present · future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simple · continuous · perfect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choices, one tense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on one page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 across. Three aspects down. That is all of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291840"/>
                <a:gridCol w="3596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(finished / general)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worked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work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work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 progress)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working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working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be working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(connected)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worked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worked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have worked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boxes. You already know six of them. Photograph this slide — it is the map for the whole module.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choice — past simple or present perfect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about the past. The difference is whether the time is finished.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— finished time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worked there in 2019.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saw him yesterday.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lived in Jimma for two years.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she does not live there now 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is stated or known.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time period is over.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— time not finished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worked there for two years.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seen him three times.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lived in Jimma since 2020.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she still lives there 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WHEN is not stated.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Connected to now.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say WHEN, you must use the past simple. “I have seen him yesterday” is wrong — “yesterday” is a finished time.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since and the perfect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that almost always signal the present perfect.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IN ONE LINE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+  a LENGTH of time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for two years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for six months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for a long time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 +  a STARTING POINT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since 2020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since Monday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since I left school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here for three years.”  — how long.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here since 2023.”  — when it started.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mean the same thing. Both need the present perfect.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work here since 2023” is wrong — that is the commonest error with these two words.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continuous — the background and the interruption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action, one short action that cuts into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— was / were + -ing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cooking…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driving to work…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were having a meeting…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Long. Already in progress.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Sets the scene.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INTERRUPTION — past simple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…when the phone rang.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…when the accident happened.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…when I arrived.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Short. Cuts in.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Moves the story on.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action takes the continuous. The short one takes the simple. “While” goes with the long action; “when” usually goes with the short one.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perfect — the past before the past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past events. Which one happened first?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EVENTS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I arrived, the meeting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had already started.”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1st  →  the meeting started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2nd  →  I arrived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PERFECT marks the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of two past events.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+ past participle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ACTUALLY NEED IT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ORDER matters and is not obvious.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meeting had started when I arrived” — I missed the beginning.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meeting started when I arrived” — I was on time.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everyday speech people often use the past simple for both. Use the past perfect when the order is the point.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tense in two seconds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in this order. It becomes automatic.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 Past, present or future.</a:t>
            </a:r>
            <a:endParaRPr lang="en-US" sz="19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picks the column. It is almost never difficult.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finished time word? — yesterday, in 2019, last week</a:t>
            </a:r>
            <a:endParaRPr lang="en-US" sz="19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use the SIMPLE past. The choice is already made.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going on, or connected to now?</a:t>
            </a:r>
            <a:endParaRPr lang="en-US" sz="19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progress → continuous. Connected to now → perfect.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already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/ɔːlˈredi/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now, or earlier than expected.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already finished. The meeting had already started.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BETWEEN the helper and the main verb: “I have already finished”, not “I already have finished”.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yet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/jet/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now. Used in questions and negatives only.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finished yet? I haven't finished yet.</a:t>
            </a:r>
            <a:endParaRPr lang="en-US" sz="21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at the END of the sentence, and only in questions and negatives. Never in a positive statement.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since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/sɪns/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 / conjunction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point in the past until now.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worked here since 2023. She has been ill since Monday.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STARTING POINT, not a length. “Since two years” is wrong — say “for two years”.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while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/waɪl/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time that something else was happening.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 was cooking, the phone rang. She read while she waited.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“While” goes with the LONG action — the continuous one. “When” usually goes with the short one.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recently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/ˈriːsntli/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long ago. In the near past.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recently started a new job. Have you seen him recently?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takes the present perfect, because the time is not finished. Stress on the FIRST syllable: RE-cent-ly.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each tense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 generate almost everything.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432785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continuous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/ is / are + -ing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working.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/ were + -ing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was working.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/ has + past participle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worked.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+ past participle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had worked.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simple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+ base verb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will work.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is always be + -ing.   PERFECT is always have + past participle.   Learn two patterns, not six forms.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words tell you the tense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signals and most of the choice disappears.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signals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/ month / year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ago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was young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FINISHED time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signals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·  since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 ·  yet  ·  just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 ·  never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 ·  lately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 ·  up to now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 NOT finished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fastest route to the right tense. If a left-column word appears, the past simple is required — no thinking about aspect needed.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Ever, never and life experience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perfect's most natural everyday use.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327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…?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 about any time in life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been to Lalibela?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 …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once in my life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 flown.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…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went and came back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Gondar twice.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gone to …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went and is still there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gone to Adama.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= went and returned.   GONE = went and is still there. This pair is small and it changes the meaning completely.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the future — four ways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Level 2 Module 4, now with the whole picture.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FUTURE, AND WHEN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         →  decided NOW, or a prediction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“I'll help you.”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 →  decided BEFORE, or evidence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“I'm going to study medicine.”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  →  a fixed arrangement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“I'm meeting her at four.”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simple  →  a timetable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“The bus leaves at six.”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WORKS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decide before this conversation? → going to.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deciding right now? → will.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in a diary with a person and a time? → present continuous.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published schedule? → present simple.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the tense decision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steps. Under two seconds once it is automatic.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finished time word?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in 2019, last week → past simple. Stop here.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perfect signal?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since, already, yet, ever, never, recently → present perfect.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action in progress at that moment?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continuous. was working, am working.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two past events out of order?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past perfect for the earlier one.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past simple or present perfect?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time word first.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___ him yesterday.”  saw or have seen?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“Yesterday” is a finished time. A stated past time forces the past simple, with no exceptions.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___ him three times this week.”  saw or have seen?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seen.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“This week” is not finished — it is still going on — so the perfect connects it to now.</a:t>
            </a:r>
            <a:endParaRPr lang="en-US" sz="116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___ in Jimma for two years.”  lived or has lived?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lived — if she still lives there.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“For” plus the perfect means it continues. “She lived there for two years” means she has left.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for or since?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or starting point?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here ___ three years.”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years is a length of time. For measures duration; since marks a start.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here ___ 2023.”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2023 is a point where it started. Both sentences can mean the same thing, expressed differently.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“I work here since 2023” wrong?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“Since” requires the present perfect.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action started in the past and continues now, and only the perfect expresses both at once.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simple or continuous?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action is long?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___ when the phone rang.”  cooked or was cooking?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cooking.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cooking was long and already in progress; the ring was short and cut into it.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“I cooked when the phone rang”?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you started cooking because it rang.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error is not just grammatical — it describes a completely different sequence of events.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___ a book last night.”  read or was reading?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correct — with different meanings.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“Read” means you finished it. “Was reading” means you were in the middle and may not have finished.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been or gone?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person back?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has ___ to Adama. She'll be back on Friday.”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She is still there. “Gone” means departed and not yet returned.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___ to Lalibela twice.”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 went and came back — twice. “Been” describes a completed visit within your life experience.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“I have gone to Lalibela twice” sound wrong?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suggests you are still there — twice, which is impossible.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small words, opposite meanings. It is worth learning as a fixed pair.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which future?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you decide?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rings. “I ___ get it.”  will or am going to?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Decided at this instant. “Will” is the tense of a decision made while speaking.</a:t>
            </a:r>
            <a:endParaRPr lang="en-US" sz="127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___ study medicine next year.” (decided months ago)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going to.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prior decision or intention. The decision existed before this conversation started.</a:t>
            </a:r>
            <a:endParaRPr lang="en-US" sz="116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___ the manager at four.” (already in the diary)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meeting.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fixed arrangement with a person and a time takes the present continuous, not “will”.</a:t>
            </a:r>
            <a:endParaRPr lang="en-US" sz="11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worked here?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opens every interview and every new-colleague conversation.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worked here?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about three years. Since March 2023, actually.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did you do before that?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worked for an NGO in Hawassa for two years.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worked outside Ethiopia?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never. But I've recently applied for a job in Kenya.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tenses in six lines: present perfect for now, past simple for the finished job, present perfect again for recent news.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what went wrong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 explains a delay. Notice the past continuous and the past perfect.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didn't the report arrive on Friday?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still waiting for the figures when the office closed.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thought you had them on Wednesday.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asked for them on Wednesday, but they arrived on Friday afternoon.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see. So it wasn't your team.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We've already finished it now — I sent it this morning.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continuous for the background, past perfect for the earlier action, present perfect for the result that matters now.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questions you will actually be asked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questions. Learn the tense of the answer with the question.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have you worked here?”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2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for or since + present perfect.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you do before that?”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46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simple. That job is finished.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you ever worked abroad?”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46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perfect. Life experience, no time stated.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have you been doing recently?”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perfect. Recent, unfinished period.</a:t>
            </a:r>
            <a:endParaRPr lang="en-US" sz="148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you doing next week?”</a:t>
            </a:r>
            <a:endParaRPr lang="en-US" sz="1550" dirty="0"/>
          </a:p>
          <a:p>
            <a:pPr indent="0" marL="0">
              <a:lnSpc>
                <a:spcPct val="102000"/>
              </a:lnSpc>
              <a:spcBef>
                <a:spcPts val="335"/>
              </a:spcBef>
              <a:buNone/>
            </a:pPr>
            <a:r>
              <a:rPr lang="en-US" sz="126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 — a fixed arrangement.</a:t>
            </a:r>
            <a:endParaRPr lang="en-US" sz="15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you want to be in five years?”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to, or would like to. A prior intention.</a:t>
            </a:r>
            <a:endParaRPr lang="en-US" sz="14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conversation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Choose the right tense for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______ you ______ in this office?  (work)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two years. Before that I ______ in Bahir Dar.  (work)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you ever ______ on a project like this?  (work)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______ on one last year.  (work)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Good. What ______ you ______ next Monday?  (do)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______ the client at ten.  (meet)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different tenses in six lines. Use the four steps from slide 20.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tense under pressure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Two seconds per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ten “how long” questions with for and since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every time. Two seconds each.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story with one interruption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… when …” Partner checks both tenses.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“Have you ever…?” questions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answers with never or a past simple detail.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next week using three different futures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· going to · present continuous.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your life in three tenses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topic, three ways.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three things you did last year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simple. Finished time.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three things you have done this year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perfect. The year is not over.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three things you are going to do next year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to. Prior intention.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all nine without stopping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seconds. Partner checks every tense.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the interrupted 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interruption. In pairs.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walking to work when…”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it. Past continuous, then past simple.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was cooking dinner when…”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it.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were having a meeting when…”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start your own with “While I was…”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supplies the interruption.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60-second story with three interruptions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counts correct tense pairs.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contractions and weak forms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tenses almost always contract in speech.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full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worked here.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gone.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already left.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finished.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seen him.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will have arrived.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like this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worked here.”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“She's gone.”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“They've already left.”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finished.”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haven't seen him.”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“He'll've arrived.”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“I've” and “I'd” are very short and easy to miss — both when speaking and when listening. Practise both directions.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Have you ever…?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natural use of the present perfect.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“Have you ever…?” questions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to · worked in · tried · met · lost.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“yes” and add ONE past simple detail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“Yes, I went there in 2022.” Note the tense switch.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“no” with never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“No, I've never been there.”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thing nobody else in the class has done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around. Report back.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three findings about your partner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has worked in Kenya. He went there in 2021.”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record yourself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minutes. Everyone does this. Five tenses, one recording.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how long you have done your current job or study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with for and since.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three things you did last year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simple. Finished time.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30-second story with one interruption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continuous plus past simple.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two things you have never done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with never.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are doing next week and what you are going to do next year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 and going to.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which tense did you hear?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sentences. Listen twice.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AT NATURAL SPEED, CONTRACTED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I've worked here for three years.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worked there in 2019.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She's gone to Adama.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 went to Adama on Monday.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 was cooking when he arrived.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I'd already finished when he arrived.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Have you ever been to Lalibela?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I'm meeting the client at four.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tense of each sentence.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sound almost the same?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3, is she still in Adama?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6, which happened first?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8, is this present or future?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2 — the hard pair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worked” (perfect) and “I worked” (past simple).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contracted 've is a fraction of a second. In real speech the time expression is what tells you which one.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is she still in Adama?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“Gone” means departed and not returned.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“Has been” would mean she went and came back. Two small words, opposite meanings.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what happened?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cooking was in progress; the arriving cut into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Long action in the continuous, short action in the simple. The standard pairing from slide 8.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which happened first?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finishing. “I'd already finished when he arrived.”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past perfect marks the earlier of two past events. “Already” is the usual signal.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present or future?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Future. A fixed arrangement.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present continuous is used for the future constantly in real speech, and learners rarely produce it.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 job interview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the tense of every question and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 How long have you worked in logistics?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For about six years now.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 And what did you do before that?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I worked in a warehouse in Adama for two years.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 Have you ever managed a team?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Yes. I managed eight people in my last job.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 What have you been doing since you left?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I've been studying, and I've recently finished a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 supply chain management.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long in logistics?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did she do before?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Has she managed a team?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does she switch tense in that answer?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has she done since leaving?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tense do the questions use most?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how long?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about six years. Present perfect with “for”.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job continues, so the perfect is required. “I worked for six years” would mean she has left.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before that?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worked in a warehouse for two years. Past simple.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That job is finished, so the perfect becomes impossible. The question itself used the past simple.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4 — the tense switch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you ever managed…?” → “Yes. I managed eight people in my last job.”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perfect asks about life experience; the past simple supplies the finished detail. This switch is correct and natural.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since leaving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been studying, and I've recently finished a course.”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“Since” forces the perfect. “Recently” is a perfect signal from slide 17.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the dominant tense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perfect.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Interviews are largely about experience up to now, which is precisely what the present perfect expresses.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perfect is hard to HEAR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reasons. None of them is your fault.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contraction is tiny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“I've” is barely longer than “I”. At natural speed the difference from “I worked” is a fraction of a second.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“She's” is ambiguous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“she is” or “she has”. Only the next word tells you: “she's gone” is has, “she's going” is is.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languages have no equivalent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first language uses one past tense, there is no pattern to transfer. The whole distinction has to be built new.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word carries the meaning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listeners use for, since, yesterday and already more than the verb form itself. So can you.</a:t>
            </a:r>
            <a:endParaRPr lang="en-US" sz="15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work history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tense in this module appears here.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— SUPPLY CHAIN OFFICER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has worked for the same company since 2021. Before that he worked for two years at a small logistics firm in Adama.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studying at Bahir Dar University when he got his first job offer. He had already finished three years of his degree, so he decided to complete it part-time.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has never worked outside Ethiopia, but he has recently applied for a position in Nairobi. He is meeting their team next month.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learned more in the last two years than in the five before that,” he says.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present perfect and say why.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past simple and say why.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past continuous. What interrupted it?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past perfect. Which event came first?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future. Which form is it?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Yonas still work for the same company?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sentence, using the correct tense.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has Yonas worked for his current company?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he do before that, and for how long?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he doing when he got his first job offer?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he finished his degree at that point?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he ever worked abroad?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 doing next month?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how long?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has worked there since 2021. Present perfect.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“Since” plus a job that continues. The past simple would mean he has left.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before that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worked in Adama for two years. Past simple.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That job is over. Note “for two years” with the past simple — “for” does not always force the perfect.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when he got the offer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studying at Bahir Dar. Past continuous.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studying was long and in progress; the offer was the short event that cut into it.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had he finished?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he had finished three years, not the degree. Past perfect.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finishing came before the offer, and the past perfect marks the earlier of two past events.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next month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meeting their team. Present continuous, future meaning.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fixed arrangement with a person and a time. “Will meet” would sound like a decision made just now.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find the tense errors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text has SIX tense errors. Find them.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CAREER SO FAR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this office since 2022. Before that I have worked in Hawassa for three years.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 I have attended a training course in Addis Ababa. While I attended it, I met several people from other regions.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never been abroad, but I have applied for a position in Kenya last week. I will meet their team on Tuesday — it is already in my diary.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I have learned a lot since I am starting this job.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six tense errors.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correction for each.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from slide 20 catches each one?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errors involve a stated past time.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whole text correctly.</a:t>
            </a:r>
            <a:endParaRPr lang="en-US" sz="15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corrections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work in this office since 2022.”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in this office since 2022.”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“Since” requires the present perfect. This is the commonest error with for and since.</a:t>
            </a:r>
            <a:endParaRPr lang="en-US" sz="119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that I have worked in Hawassa.”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that I WORKED in Hawassa.”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finished job in a finished period. Step 1 catches it — the perfect is impossible here.</a:t>
            </a:r>
            <a:endParaRPr lang="en-US" sz="119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month I have attended a course.”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month I ATTENDED a course.”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“Last month” is a finished time word, which forces the past simple every time.</a:t>
            </a:r>
            <a:endParaRPr lang="en-US" sz="119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“While I attended it, I met people.”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“While I WAS ATTENDING it, I met people.”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“While” attaches to the long background action, which takes the past continuous.</a:t>
            </a:r>
            <a:endParaRPr lang="en-US" sz="119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applied… last week.” · “since I am starting”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APPLIED… last week.” · “since I STARTED this job.”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stated time forces the past simple; and “since” takes a past simple for the starting point.</a:t>
            </a:r>
            <a:endParaRPr lang="en-US" sz="119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past simple or present perfect?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sentence with the correct tense.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(work) here since 2022.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(work) in Hawassa from 2018 to 2020.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(you / ever / be) to Lalibela?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 (go) to Adama yesterday.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We (not / finish) the report yet.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He (live) in Jimma for three years, but he left in 2021.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mixed tenses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sentence with the correct tense.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(cook) when the phone (ring).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When I arrived, the meeting (already / start).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 (meet) the client at four tomorrow — it's in my diary.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 (study) at university when she (get) the job offer.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 (not / see) him since Monday.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bus (leave) at six every morning.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your work history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your work or study history. Use at least six different tenses.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long you have done your current job or course.  (present perfect)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you did before that.  (past simple)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you were doing when something changed.  (past continuous)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Something you had done before that point.  (past perfect)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Something you have never done, and something you have recently done.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What you are doing next month and going to do next year.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model answer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present perfect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at the health centre since 2022.”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job continues, so the perfect connects it to now. “Since” gives the starting point.</a:t>
            </a:r>
            <a:endParaRPr lang="en-US" sz="119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past simple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that I worked in a pharmacy for two years.”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finished job. Note that “for two years” sits happily with the past simple here.</a:t>
            </a:r>
            <a:endParaRPr lang="en-US" sz="119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past continuous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studying part-time when the position came up.”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studying was the long background; the position appearing was the short event.</a:t>
            </a:r>
            <a:endParaRPr lang="en-US" sz="119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past perfect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had already passed my exams, so I could apply.”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passing came before the applying, and saying so explains why she was eligible.</a:t>
            </a:r>
            <a:endParaRPr lang="en-US" sz="119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9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and 6 — perfect and future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183"/>
              </a:spcBef>
              <a:buNone/>
            </a:pPr>
            <a:r>
              <a:rPr lang="en-US" sz="147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never worked in a hospital, but I've recently applied to one. I'm starting a course next month.”</a:t>
            </a:r>
            <a:endParaRPr lang="en-US" sz="1190" dirty="0"/>
          </a:p>
          <a:p>
            <a:pPr indent="0" marL="0">
              <a:lnSpc>
                <a:spcPct val="102000"/>
              </a:lnSpc>
              <a:spcBef>
                <a:spcPts val="275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Never for life experience, recently for the near past, present continuous for a fixed arrangement.</a:t>
            </a:r>
            <a:endParaRPr lang="en-US" sz="119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tense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Under two seconds once it is automatic.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3512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231685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finished time word?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· last week · in 2019 · ago → past simple. Stop.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31866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3283245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perfect signal?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· since · already · yet · ever · never · recently → present perfect.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423824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433480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action in progress at that moment?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continuous. was working · am working.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528980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5386365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two past events out of order?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past perfect for the earlier one.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“I ___ him yesterday.”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have seen     b) saw     c) had seen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“I ___ here since 2022.”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work     b) worked     c) have worked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“I ___ when the phone rang.”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cooked     b) was cooking     c) have cooked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“She has ___ to Adama.” (still there)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been     b) gone     c) went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“I ___ the client at four.” (in the diary)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will meet     b) am meeting     c) meet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for or since?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“for” or “since” in each gap.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have worked here ___ three years.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have worked here ___ 2022.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She has been ill ___ Monday.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 have known each other ___ a long time.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He hasn't called ___ he left.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They have lived in Jimma ___ six months.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Tenses, signals and formulas.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TENSE to its FORMULA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 perfect     2. past continuous     3. past perfect     4. present continuous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was/were + -ing     b) had + participle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have/has + participle     d) am/is/are + -ing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SIGNAL to the TENSE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yesterday     2. since     3. while     4. already          a) present perfect     b) past simple     c) past continuous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FUTURE FORM to its USE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will     2. going to     3. present continuous          a) fixed arrangement     b) decided now     c) prior intention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build the tense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verb “study” with the subject “she” in each tense.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140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present simple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548640" y="2935224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293522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2990088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present continuous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548640" y="3456432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45643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511296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present perfect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548640" y="3977640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03250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past simple</a:t>
            </a:r>
            <a:endParaRPr lang="en-US" sz="1550" dirty="0"/>
          </a:p>
        </p:txBody>
      </p:sp>
      <p:sp>
        <p:nvSpPr>
          <p:cNvPr id="30" name="Shape 25"/>
          <p:cNvSpPr/>
          <p:nvPr/>
        </p:nvSpPr>
        <p:spPr>
          <a:xfrm>
            <a:off x="548640" y="4498848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49884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553712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past continuous</a:t>
            </a:r>
            <a:endParaRPr lang="en-US" sz="1550" dirty="0"/>
          </a:p>
        </p:txBody>
      </p:sp>
      <p:sp>
        <p:nvSpPr>
          <p:cNvPr id="34" name="Shape 29"/>
          <p:cNvSpPr/>
          <p:nvPr/>
        </p:nvSpPr>
        <p:spPr>
          <a:xfrm>
            <a:off x="548640" y="5020056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02005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074920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past perfect</a:t>
            </a:r>
            <a:endParaRPr lang="en-US" sz="1550" dirty="0"/>
          </a:p>
        </p:txBody>
      </p:sp>
      <p:sp>
        <p:nvSpPr>
          <p:cNvPr id="38" name="Shape 33"/>
          <p:cNvSpPr/>
          <p:nvPr/>
        </p:nvSpPr>
        <p:spPr>
          <a:xfrm>
            <a:off x="548640" y="5541264"/>
            <a:ext cx="11094415" cy="402336"/>
          </a:xfrm>
          <a:prstGeom prst="roundRect">
            <a:avLst>
              <a:gd name="adj" fmla="val 3181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49808" y="55412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749808" y="5541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1353312" y="5596128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future with will</a:t>
            </a:r>
            <a:endParaRPr lang="en-US" sz="15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correct the tense error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sentence correctly.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have seen him yesterday.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work here since 2022.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Last month I have attended a course.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While I attended the meeting, my phone rang.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She has gone to Gondar twice.</a:t>
            </a:r>
            <a:endParaRPr lang="en-US" sz="17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 will meet the client at four — it's in my diary.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“I have seen him yesterday” is correct.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“Since” is followed by a starting point.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“Been” means the person is still there.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long action takes the past continuous.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past perfect marks the later of two past events.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 diary arrangement takes the present continuous.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each. Tense will be marked.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long have you studied English?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did you do last weekend?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were you doing at eight o'clock last night?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Name something you have never done.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What are you doing next weekend?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 per answer. Partner checks the tense.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names the tense you used and whether it was right.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Answer ten “how long” questions with for and since.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Tell a 30-second story with two interruptions.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Ask and answer five “Have you ever…?” questions.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Describe next week using three different future forms.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mixed challenge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alone, then compare with a partner.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Rewrite the slide 44 text with all six errors corrected.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 if you can.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the nine-box grid from memory with the verb “write”.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he.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six sentences, one in each of six different tenses.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one.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a 100-word work history using at least five tenses.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tense in the margin.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Speak for 60 seconds about your career. Partner names every tense.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preparation.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 if you can.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can't you say “I have seen him yesterday”?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perfect mean about time?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“She lived in Jimma” and “She has lived in Jimma” — what changes?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she now?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 interviews use the present perfect so much?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interviewers asking about?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the past perfect always necessary when two past events happen?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you leave it out?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1 · The system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worth double.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are the two questions that choose a tense?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formula for the present perfect?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formula for the past continuous?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Name the three aspects.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2 · Past or perfect?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“I ___ him yesterday.”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have seen     b) saw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“I ___ here since 2022.”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work     b) have worked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Why is “I have seen him yesterday” wrong?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Name three present perfect signal words.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3 · Continuous and perfect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“I ___ when the phone rang.”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cooked     b) was cooking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Which action takes the continuous — long or short?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“When I arrived, the meeting ___.”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started     b) had already started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Which event does the past perfect mark?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4 · Been, gone and the future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“She has ___ to Adama.” (still there)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been     b) gone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What is the difference between been and gone?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“I ___ the client at four.” (in the diary)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will meet     b) am meeting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Name the four ways to talk about the future.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quiz — Part 5 · Using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Correct: “I work here since 2022.”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Correct: “Last month I have attended a course.”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Correct: “While I attended the meeting, my phone rang.”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WRITING: 150 words on your work history, using six tenses.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tense in the margin.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two questions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(past, present, future) and HOW (simple, continuous, perfect).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choices generate all nine boxes. There are not eight separate rules to memorise.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present perfect formula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/ has + past participle.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Perfect is always have + participle, in every tense. Only the form of “have” changes.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past continuous formula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/ were + -ing.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Continuous is always be + -ing. Two formulas generate six of the nine boxes.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the three aspects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(finished or general) · continuous (in progress) · perfect (connected).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aspect is the part nobody explains, and it is what the second question decides.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“I ___ him yesterday.”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saw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“Yesterday” is a finished time, and a stated past time always forces the past simple.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“I ___ here since 2022.”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have worked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“Since” marks a start that continues to now, which only the present perfect expresses.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why is it wrong?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perfect means the time is not finished; “yesterday” is finished.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tense and the time word contradict each other, so the sentence cannot stand.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three signals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three of: for · since · already · yet · ever · never · recently · just.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Learning the signals gets most tense choices right without any grammatical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“I ___ when the phone rang.”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was cooking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cooking was long and in progress; the ring was short and cut into 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long or short?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long background action takes the continuous; the short interruption takes the simple.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“the meeting ___”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had already started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starting came before the arriving, and the past perfect marks the earlier event.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what does the past perfect mark?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of two past events.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only needed when the order matters and is not already obvious.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“She has ___ to Adama.”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gone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She is still there. “Been” would mean she went and came back.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been or gone?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= went and returned. GONE = went and is still there.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small words with opposite meanings. Worth learning as a fixed pair.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“I ___ the client at four.”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am meeting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fixed arrangement with a person and a time takes the present continuous, not “will”.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the four futures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· going to · present continuous · present simple (timetable).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last two are the ones learners never produce, and they are what sounds natural.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“I work here since 2022.”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worked here since 2022.”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“Since” requires the present perfect. This is the commonest error with for and since.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“Last month I have attended…”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month I attended a course.”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finished time word forces the past simple. Step 1 catches it immediately.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“While I attended…”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“While I was attending the meeting, my phone rang.”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“While” attaches to the long background action, which takes the past continuous.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writing task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words, six tenses, each one marked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Marked on tense accuracy. Keep it — this becomes your interview answer in Module 7.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nine-box grid from memory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different verb each day. Check it against slide 5.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ten “how long” questions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since. Two seconds each.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three interrupted stories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… when …” Record one of them.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ten sentences, one per tense, and check them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four steps from slide 20.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60 seconds on your career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listen back and name every tense you used.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150-word work history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six tenses, each marked in the margin.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nine-box grid from memory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verb, all nine forms.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two-minute speaking challenge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tenses: perfect · past · continuous · never · two futures.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history — 10 marks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words (2) · six different tenses (4) · each tense marked (2) · all tenses used correctly (2).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— 5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boxes (3) · all forms correct including the participle (2).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10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with for/since (2) · three past simple (2) · one interruption pair (2) · two never sentences (2) · two futures (2).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practising · below 10 → redo the four steps daily with your teacher.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nine-box grid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times, three aspects. Two questions choose any tense.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or perfect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30"/>
              </a:spcBef>
              <a:buNone/>
            </a:pPr>
            <a:r>
              <a:rPr lang="en-US" sz="12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finished time forces the past simple. Every time.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since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4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time, or starting point. Both take the perfect.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actions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action continuous, short action simple.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before the past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perfect marks the earlier of two past events.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futures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· going to · present continuous · timetable.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tense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formulas, six tenses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 =  be + -ing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 =  have + past participle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working · am working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worked · have worked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steps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Finished time word?  → past simple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Perfect signal?  → present perfect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 progress then?  → continuous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Two events out of order?  → past perfect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words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SIMPLE:  yesterday · last week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 · ago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PERFECT:  for · since · already · yet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· never · recently · just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futures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 →  decided now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 →  decided before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  →  arrangement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simple  →  timetable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tenses stopped being eight rules and became one system with two questions.</a:t>
            </a:r>
            <a:endParaRPr lang="en-US" sz="4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still hesitate over the present perfect for a while. That is normal 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hardest choice in English for most learners, and you now know exactly what decides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English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Meetings, emails, updates and polite disagreement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4 — Tenses in Depth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· Module 4 — Tenses in Depth</dc:title>
  <dc:subject>English course for Ethiopian learners — Level 3 Intermediate English</dc:subject>
  <dc:creator>English Learning Platform</dc:creator>
  <cp:lastModifiedBy>English Learning Platform</cp:lastModifiedBy>
  <cp:revision>1</cp:revision>
  <dcterms:created xsi:type="dcterms:W3CDTF">2026-07-28T10:35:10Z</dcterms:created>
  <dcterms:modified xsi:type="dcterms:W3CDTF">2026-07-28T10:35:10Z</dcterms:modified>
</cp:coreProperties>
</file>