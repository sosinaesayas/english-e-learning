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Whole module: four 60-minute lessons.
HOW TO TEACH: Open by naming the switch. Module 1 said ignore your errors and keep going. This module says stop and fix them. Both are correct — at different moments — and learners must be told which mode they are in.
TIP: These ten errors do not stop you being understood, which is exactly why they survive. Listeners understand and move on, so nobody ever tells you. That is the whole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Objective 5 is the real one. Learners who can self-edit continue improving for years; learners who depend on a teacher stop the day the course ends.
TIP: Objective 1 is the flagship. If a learner leaves Level 3 with the third-person -s automatic, this module has paid for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Most classes find three or four quickly and miss one. Whichever one the class misses is the one to teach hardest — that is your real curriculum for this module.
COMMON MISTAKES: Correct nothing yet. Note which errors went unnoticed.
TIP: Task 3 usually reveals that learners know the rule and still make the error. Name that gap — it is what fossilisation means, and slide 5 explains it.
ANSWERS: He workS · I need SOME information (no article, uncountable) · She is A teacher · Where ARE YOU going · I didn't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Ask who knows that “he” takes an -s. Every hand goes up. Then ask who still says “he work” under pressure. Most hands stay up. That gap is the entire subject of this module.
COMMON MISTAKES: Teaching the rule again is the standard response and it does not work — the rule is already known. What is missing is noticing, which is a different skill entirely.
EXTRA EXAMPLES: In language teaching this is called fossilisation: an error that has stopped improving because it never causes a problem.
TIP: Say clearly that this module will feel repetitive. It is meant to. Un-learning a habit takes far more repetition than learning a rule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Step 6 is the important one. The correct form feels wrong to a learner who has said the incorrect one for years, and if they are not warned they will assume the correction is wrong.
COMMON MISTAKES: Learners get discouraged when the right version feels unnatural. Tell them in advance that it will, and that the feeling passes in a few weeks.
EXTRA EXAMPLES: This is exactly why Module 1 and this module are separated. You cannot notice errors and speak fluently at the same time — attention is finite.
TIP: Say the estimate honestly: about three weeks of daily attention to un-learn one fossilised error. That is achievable, and knowing the timescale stops people giving up in week one.
CLASSROOM ACTIVITY: Which is yours? Every learner names the one error they know they still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Read all ten aloud, wrong version then right version. Ask the class to raise a hand on any they recognise in their own English. The show of hands tells you where to spend the module.
COMMON MISTAKES: Do not try to fix all ten. Slides 7 to 10 take the four hardest; the rest are covered in the practice section.
EXTRA EXAMPLES: Errors 1, 6 and 9 all come from the same source: English marks grammar with small sounds at the ends of words, and those sounds are easy to drop.
TIP: Connect this to Module 2 slide 18. Half of these are pronunciation problems as much as grammar problems — the -s is missing from the mouth, not from the knowledge.
CLASSROOM ACTIVITY: Own it: every learner writes down their top three from this list and keeps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Give the replacement test as a physical procedure: point at the subject, ask “is it he, she or it?”, then add the -s. Applied mechanically it works every time.
COMMON MISTAKES: “Everybody”, “everyone” and “nobody” all take the -s, which surprises learners because they feel plural. Drill those three separately.
EXTRA EXAMPLES: Irregular forms: have → has · do → does · go → goes · be → is. These four are the most frequent verbs in English, which is why the error is so visible.
TIP: Under pressure the -s is the first thing to go. That is a speed problem, not a knowledge problem, and it needs drilling at speed rather than more explanation.
CLASSROOM ACTIVITY: Subject swap: give a sentence with “they” and have learners repeat it with “he”, adding the -s. Twenty rounds,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 The longest concept slide, and articles deserve it.
HOW TO TEACH: Work the three questions as a flowchart on the board with a real sentence. Learners have usually been told articles are a matter of feel; showing them a decision procedure changes that.
COMMON MISTAKES: Many first languages have no articles at all, so there is no equivalent to transfer and the whole system has to be built new.
EXTRA EXAMPLES: The first-mention / second-mention pattern is the clearest demonstration: “I bought a car. The car is red.” Same object, different article, and the reason is obvious.
TIP: Do not attempt every article rule. These three questions plus the job rule cover the great majority of real cases.
CLASSROOM ACTIVITY: Three questions: give twenty nouns in context and have learners work the flowchart aloud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double-past error is the interesting one. Once “did” carries the past, the main verb must return to base form. Show it as a rule about who carries the tense.
COMMON MISTAKES: “What time it starts?” has no helper at all. “Does” must be added and “starts” loses its -s, because “does” has taken it.
EXTRA EXAMPLES: The same logic runs through negatives: “She doesn't works” is wrong for exactly the same reason. One marker, one place.
TIP: Connect it to Level 2 Module 5, where question forms were first taught. Here it is a speed problem, not a new rule.
CLASSROOM ACTIVITY: Fix it fast: give fifteen wrong questions and have learners correct each within three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Check ONE error type at a time, all the way through. Reading through looking for “any errors” finds almost nothing — the attention has nowhere to focus.
COMMON MISTAKES: Learners re-read for meaning and see nothing wrong. Meaning is not what they are checking for, and their brain repairs the text automatically.
EXTRA EXAMPLES: This extends the six-question checklist from Level 2 Module 8, now aimed at the specific errors of this level.
TIP: Give a text with exactly six errors, one of each type, and have learners find them using the list in order. The method proves itself.
CLASSROOM ACTIVITY: One pass per error: learners check their own writing six times, once per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Teach the whole uncountable family together — information, advice, research, equipment, furniture, news. One rule covers all of them and the pattern is what sticks.
COMMON MISTAKES: “Informations” is one of the most persistent errors in professional English and it appears in almost every learner report.
EXTRA EXAMPLES: To count it, use a counter: “a piece of information”, “two pieces of information”. That is how English counts uncountable nouns.
TIP: Stress is on the fourth syllable — in-for-MA-tion — the -tion rule from Module 2. Two modules working together.
CLASSROOM ACTIVITY: Some or a? Give fifteen nouns and have learners choose between “some” and “a/an”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The noun/verb pair is a spelling and sound distinction at once: advice ends in an /s/ sound, advise ends in a /z/. Write both and say both.
COMMON MISTAKES: “He adviced me” — should be “advised”. And “give me an advice” — should be “some advice”.
EXTRA EXAMPLES: The same c/s pattern appears in practice/practise and licence/license in British English.
TIP: “Can I ask your advice?” is a genuinely useful workplace phrase. Teach it as a chunk, in the Module 1 sense.
CLASSROOM ACTIVITY: Noun or verb: give ten sentences and have learners choose advice or advise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Another uncountable, and a common one in professional and academic writing. Reinforce the family pattern rather than teaching it as a separate fact.
COMMON MISTAKES: “I did researches about it.” Should be “I did some research on it” — note the preposition changes too.
EXTRA EXAMPLES: research ON or INTO a topic, not “about”. Prepositions with nouns must be learned with the noun.
TIP: This word matters for anyone applying to study or working with NGOs, which is a large share of professional English use in Ethiopia.
CLASSROOM ACTIVITY: Collocations: teach do research · carry out research · research on. Three fixed pairings.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By now the pattern should be recognised rather than taught. Ask the class what the plural is and let them answer.
COMMON MISTAKES: The /kw/ cluster in the middle is also a pronunciation point — e-QUIP-ment, stress on the second syllable.
EXTRA EXAMPLES: Also uncountable: furniture, luggage, machinery, software, staff. Same rule, same counter.
TIP: This is a common word in every workplace inventory, order form and report. Getting it wrong in writing is highly visible.
CLASSROOM ACTIVITY: Count it: give six uncountable nouns and have learners write a countable version using a counter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one is different from the others: it is uncountable in form but plural in agreement, which is why it belongs at the end of the set.
COMMON MISTAKES: “The staffs is helpful” contains two errors — the false plural and the wrong verb agreement.
EXTRA EXAMPLES: Other collectives: team, family, government, company. British English treats them as plural; American English often as singular.
TIP: For one person: “a member of staff” or “a staff member”. Never “a staff”.
CLASSROOM ACTIVITY: Collective agreement: give eight sentences with team, family and staff and have learners choose is or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Rows 3 and 4 are the hard ones. Have learners cross out the phrase between the subject and the verb — the agreement then becomes obvious.
COMMON MISTAKES: “One of the teachers work here” is extremely common. The subject is “one”, which is singular, and the plural noun in between is a distractor.
EXTRA EXAMPLES: The crossing-out technique works reliably: “the price ~~of the books~~ is high”.
TIP: This is where the -s error survives even in learners who have fixed the simple cases. Give it real time.
CLASSROOM ACTIVITY: Cross it out: give twelve sentences with long subjects and have learners delete the middle before choosing the verb.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The size rule makes it memorable: at is a point, on is a day, in is a container. Draw the three as shapes on the board.
COMMON MISTAKES: “In Monday” and “on May” are the two commonest errors. Also “in the weekend” — British English uses “at the weekend”.
EXTRA EXAMPLES: The note is as important as the table. “I will see you on next week” is wrong, and it is a very frequent error.
TIP: “At night” but “in the morning” looks inconsistent because it is. Teach it as a fixed exception rather than trying to justify it.
CLASSROOM ACTIVITY: Sort them: give twenty time expressions and have learners put each into the at, on, in or nothing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The note is the sophisticated point and learners find it satisfying: “at” carries purpose, “in” carries location. “At work” means working; “in the office” means inside a room.
COMMON MISTAKES: “I am in work” instead of “at work”. And “on the bus” but “in the car” — a genuine irregularity worth flagging as one.
EXTRA EXAMPLES: Transport: on a bus, on a train, on a plane, but IN a car, IN a taxi. Big vehicles you walk in take “on”.
TIP: Prepositions are the last thing to become accurate in any language. Progress here is slow and that is normal — say so.
CLASSROOM ACTIVITY: Where am I? Describe five locations and have learners supply the preposition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Frame it as a transfer of responsibility: the helper takes over the grammar and the main verb is released. That single image explains both errors at once.
COMMON MISTAKES: “Does she works here?” and “I didn't went” are the same error in two tenses. Teaching them together is more efficient than separately.
EXTRA EXAMPLES: The verb “be” is the exception and needs no helper: “Is she tired?”, “She isn't tired”. It moves itself.
TIP: This connects Level 2 Modules 1, 3 and 5 into one principle. Learners who see the pattern stop treating them as three separate rules.
CLASSROOM ACTIVITY: Transform: give fifteen statements and have learners produce the question and the negative for each, at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Step 1 matters as much as the rest. Learners who edit while composing write badly and slowly, and still miss errors.
COMMON MISTAKES: Doing all the checks in one pass. Attention cannot split across six error types simultaneously — that is why the single-pass method fails.
EXTRA EXAMPLES: Step 5 is the bridge from writing to speaking. An error noticed in writing is the one you can begin to catch in speech.
TIP: This is a genuine professional editing method, not a classroom exercise. Say so — adults take it more seriously when they know it is real practice.
CLASSROOM ACTIVITY: Six passes: learners edit one piece of their own writing with six separate passes and count what each pass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This dialogue solves the fossilisation problem from slide 5. If nobody ever corrects you, ask somebody to. It is the single most effective thing a learner can do outside class.
COMMON MISTAKES: Learners find asking for correction embarrassing. Point out that Tolosa gives a reason, which makes it a professional request rather than a personal one.
EXTRA EXAMPLES: “Can I ask your advice?” uses the uncountable noun correctly, and it is a genuinely useful workplace opener.
TIP: Set this up as a real arrangement in class: every learner asks one person outside class to correct one specific error for two weeks.
CLASSROOM ACTIVITY: Find a corrector: each learner names who they will ask and which error they will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Model the technique explicitly: praise first, then a small named number of specific corrections. Twenty corrections produce nothing but discouragement.
COMMON MISTAKES: Correcting everything. It feels thorough and it teaches nothing, because the learner cannot hold twenty items.
EXTRA EXAMPLES: Bethlehem names the rule each time rather than just marking the error. “No -s, always” is far more useful than a red line.
TIP: Use exactly this method when you return written work. Two corrections per piece, chosen from the learner's own top-three list.
CLASSROOM ACTIVITY: Two things: pairs exchange writing and each gives one piece of praise and exactly two corrections.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
HOW TO TEACH: Phrase 5 is the professional one: “we usually say…” corrects without judging, and it is what colleagues actually use.
COMMON MISTAKES: Learners over-apologise when corrected, which makes the corrector reluctant to do it again. Phrase 6 is the right response.
EXTRA EXAMPLES: Phrase 2 is more useful than it looks. Asking about one sentence gets a real answer; asking “is my English OK?” gets a polite nothing.
TIP: The goal is to make correction a normal, low-cost exchange between colleagues. That is what keeps it happening after this course.
CLASSROOM ACTIVITY: Both sides: pairs practise all six phrases, swapping roles halfway.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Give five minutes to find them, then take the corrections line by line. Ask which numbered error from slide 6 each one is.
COMMON MISTAKES: “I go to Adama” for a future plan is arguably a seventh error — “I'm going” is more natural. Mention it if the class is strong.
TIP: Have pairs perform the corrected version aloud. Saying it right immediately after seeing it wrong is what makes it stick.
CLASSROOM ACTIVITY: Write your own: pairs write a six-line dialogue containing three deliberate errors for another pair to find.
ANSWERS: 1 “Where ARE YOU going” · 2 “My brother workS” · 3 “Is he AN engineer” · 4 “he didn't GO” · 5 “some information” (no -s) · 6 “The staff ARE very helpful”.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 for all four rounds.
HOW TO TEACH: This is accuracy time and must be announced as such. Slow deliberate speech is correct here — it is the opposite of Module 1 and learners need telling.
COMMON MISTAKES: Partners stay silent to be polite. The whole point is to be corrected — insist that every error is flagged.
TIP: Round 1 is the flagship. Sixty seconds of forced he/she speech surfaces the -s error more reliably than any written exercise.
CLASSROOM ACTIVITY: Error count: each learner records their own count for round 1 and repeats the round at the end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Task 2 is the diagnostic. Almost everyone is accurate when slow and loses the -s at speed, which shows the problem is automaticity rather than knowledge.
COMMON MISTAKES: Learners conclude they have fixed it after task 1. Task 2 proves otherwise and is essential.
EXTRA EXAMPLES: The tap is better than a spoken correction: it flags the error without interrupting the sentence.
TIP: Do this drill for five minutes at the start of every lesson for the rest of Level 3. Fossilised errors need frequency, not duration.
CLASSROOM ACTIVITY: Daily five: five minutes of he/she drilling at the start of every lesson from now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Task 1 is slow and deliberate on purpose. Saying the decision aloud — “can I count it? yes. first mention? yes. so, a” — is what builds the habit.
COMMON MISTAKES: Learners guess by feel and are right about half the time. The procedure is slower at first and far more reliable.
EXTRA EXAMPLES: Task 3 is the clearest demonstration of first-mention and second-mention in the whole module.
TIP: Articles improve slowly. Expect months, not weeks, and tell learners so — otherwise they conclude the method has failed.
CLASSROOM ACTIVITY: Narrate the room: one learner describes the room aloud while the class flags every article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Drill it as pronunciation, not grammar. Learners know the rule; what fails is the physical production of a final consonant under speed.
COMMON MISTAKES: The last two on the right add a syllable because the base ends in t or d. Everything else does not — this is the rule from Level 2 Module 3.
EXTRA EXAMPLES: This is where Module 2 and Module 3 meet. The same missing sound is a pronunciation error and a grammar error simultaneously.
TIP: Exaggerate first, then normalise. Over-producing the ending for a week is a reasonable price for making it automatic.
CLASSROOM ACTIVITY: Ending hunt: learners read a paragraph aloud while a partner counts every dropped -s and -ed.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The three-second limit is the method. Question formation is a speed skill by this level, and slow practice does not transfer to real conversation.
COMMON MISTAKES: Under time pressure learners revert to statement word order — “Where you are going?”. That is the error to catch.
EXTRA EXAMPLES: Task 4 catches the double-marking error: “She doesn't works” and “I didn't went”.
TIP: Run this as a whole-class fast round too. Public speed pressure surfaces the error more reliably than pair work.
CLASSROOM ACTIVITY: Question chain: each learner asks the next one a question within three seconds. Any error means starting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 including listening back.
HOW TO TEACH: Step 5 is the assessment. Finding your own errors on a recording is the skill this module exists to build, and it is what continues working after the course.
COMMON MISTAKES: Learners cannot hear their own errors on the first listen. Have them listen three times, checking one error type each time.
TIP: The self-count matters more than the error count. A learner who finds four of their five errors is in better shape than one who made three and noticed none.
CLASSROOM ACTIVITY: Keep every recording. Repeat this exact task at the end of Level 3.
ANSWERS: SUCCESS CRITERIA: fewer than three missing -s in 45 seconds · five correctly formed questions · five past sentences with no double marking · all five uncountables correct · an honest self-count.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Read at normal conversational speed. Reading slowly makes the errors obvious and tests nothing.
COMMON MISTAKES: Item 7 is the hardest — “one of my friends” takes a singular verb and almost everyone misses it.
EXTRA EXAMPLES: Items 2, 4, 6 and 8 are correct. Learners who “correct” them are guessing rather than listening.
ANSWERS: 1 X — workS · 2 C · 3 X — Where ARE YOU going · 4 C · 5 X — didn't GO · 6 C · 7 X — liveS · 8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Ask how many learners marked a correct sentence as wrong. That over-correction is common and worth naming — accuracy work should not turn into suspicion of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Question 6 is the trick: this conversation is entirely correct. Learners primed to hunt errors will invent some, which is worth demonstrating.
COMMON MISTAKES: After a whole module of error-hunting, learners over-correct. Hearing a fully correct model is a necessary counterweight.
EXTRA EXAMPLES: Note the prepositions: on Saturdays, on the second floor, at the end, in room twelve, on Monday morning. Five correct uses in seven lines.
ANSWERS: 1 Two Saturdays a month. · 2 Advice about the new system. · 3 At the end of the corridor, room 12, second floor. · 4 on the second floor, at the end, in room twelve. · 5 on Monday morning. · 6 No — it is all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Read this conversation again at the end of the lesson as a correct model. Hearing seven accurate lines in a row is worth as much as finding seven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Step 2 is the one that keeps people going. Catching the error a second late feels like failing; it is actually the first real sign of progress.
COMMON MISTAKES: Choosing several errors at once. Say the number out loud: one.
TIP: Three weeks is an honest estimate for one fossilised error with daily attention. Learners who expect three days give up on day four.
CLASSROOM ACTIVITY: Name it: every learner writes down their one error, their corrector's name, and the date they will review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Use the single-pass method from slide 20: check for missing -s all the way through first, then articles, then the rest. Learners who read looking for “errors” in general find four or five; learners using single passes find all eight.
COMMON MISTAKES: Four of the eight are the third-person -s. That repetition is deliberate — it shows learners how often one error can appear in a short text.
EXTRA EXAMPLES: The last paragraph contains three uncountable errors in two sentences, which is realistic for learner writing.
ANSWERS: workS · AN engineer · likeS · leaveS · takeS · didn't GO · three weekS · staff ARE · equipment IS (no -s) · some ADVICE. Eight distinct error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
HOW TO TEACH: The instruction matters: answers are marked for accuracy as well as content. That forces learners to apply the module while answering.
COMMON MISTAKES: Learners answer correctly in content and reproduce the text's errors in their answers. Point that out — it shows how contagious a wrong form is.
TIP: Question 5 is the metacognitive one. Recognising which error dominates a text is exactly the self-editing skill from slide 10.
ANSWERS: 1 He works for a construction company in Adama. He is an engineer. · 2 He leaves at six o'clock. · 3 Because the company was very busy. · 4 Three weeks. · 5 The third-person -s.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four -s errors in one text is the lesson. Ask learners to count how many times their own most frequent error appears in a page of their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Questions 4 and 5 are the honest heart of the module. The first version was perfectly understandable — which is exactly why the errors survived — and the answer to “why does it matter” is professional, not communicative.
COMMON MISTAKES: Do not pretend these errors block communication. They do not. The real reason is that written English is judged, especially in job applications and reports.
EXTRA EXAMPLES: About a dozen letters separate the two versions. The change is tiny and the impression is completely different.
TIP: Answer question 5 honestly: it matters because people judge you on it, in writing, when applying for work. That is a better reason than pretending nobody understood you.
CLASSROOM ACTIVITY: Count the letters: learners count exactly how many characters differ between the two 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4 is the one to say out loud. Learners deserve the real reason, and the real reason is more motivating than a pretended communication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
HOW TO TEACH: Item 4 is correct. Including a correct sentence stops learners from changing things at random.
COMMON MISTAKES: Item 6 is the hardest — the subject is “one”, not “colleagues”.
TIP: Ask which numbered error from slide 6 each one is. Naming the error type is what makes it findable next time.
ANSWERS: 1 works · 2 some advice (or “your advice”) · 3 Where are you going? · 4 CORRECT · 5 didn't go · 6 speaks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Take each gap separately and ask which rule applies. Working the procedure aloud is what transfers to real use.
COMMON MISTAKES: Item 3 is the trap — “next week” takes no preposition. Item 5's second gap takes “the” because the course was already mentioned.
TIP: Item 5 combines an uncountable noun and a second-mention article in one sentence. Anyone who gets both has understood slide 8.
ANSWERS: 1 an / a · 2 on / at · 3 X (no preposition) · 4 in / in · 5 X or “some” / the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minutes.
HOW TO TEACH: Enforce step 1 strictly. Learners who edit while writing produce four safe sentences and learn nothing about their own error patterns.
COMMON MISTAKES: Learners do all the passes at once and find two errors. Six separate passes typically find five or six.
TIP: The topic is chosen deliberately: describing a colleague in the present tense makes the target error unavoidable.
ANSWERS: MODEL: a 120-word description in the present simple, which forces the third-person -s roughly ten times. That is the point of the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Collect the per-pass counts for the whole class. The pattern tells you exactly what to drill for the rest of Level 3, with real numbers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Print this and require it before every piece of written work for the rest of the course.
TIP: The order matters. Most frequent error first, so the highest-value pass happens while attention is freshest.
CLASSROOM ACTIVITY: Six passes, always: apply this to every written task in Modules 4 to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Answer alone, then compare in pairs before taking answers from the class.
TIP: These five are errors 1, 2, 3, 4 and 5 from slide 6. Anyone scoring below four should keep slide 6 in front of them.
ANSWERS: 1 b · 2 b · 3 b · 4 b · 5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Have learners identify the real subject first, out loud, before writing the verb.
COMMON MISTAKES: Items 3, 4 and 6 are the tricky subjects from slide 16. Items 2 and 5 are genuine plurals and need no -s.
TIP: Items 4 and 6 both hide the subject behind a phrase. Have learners cross the phrase out before choosing.
ANSWERS: 1 works · 2 live · 3 knows · 4 speaks · 5 study · 6 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Three short tasks. Let learners work in pairs and compare.
TIP: Part 3 is the subtle one: staff takes a plural verb, equipment takes a singular one, and both are uncountable.
ANSWERS: Part 1: 1–c, 2–a, 3–d, 4–b.  ·  Part 2: 1–c, 2–a, 3–b, 4–d.  ·  Part 3: 1–b, 2–a, 3–c.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Ask which rule applies for each gap: point, day, longer period, surface, or inside.
COMMON MISTAKES: Item 4 takes no preposition. Item 6 is “at the weekend” in British English — a fixed expression rather than a rule.
TIP: Item 3 accepts both “in a bank” and “at a bank”. “At” emphasises the workplace, “in” the building. Both are correct.
ANSWERS: 1 on / at · 2 in / in · 3 in (or at) / on · 4 X · 5 in / in · 6 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Have learners count the errors before correcting. Counting first forces a careful pass instead of a quick guess.
COMMON MISTAKES: Item 4 has three errors in one short sentence, which is realistic. Item 1's “a office” needs “an” because of the vowel sound.
TIP: This is the hardest exercise in the module. Let pairs work together and take the corrections publicly.
ANSWERS: 1 works / an office (2) · 2 Where IS SHE going ON Monday (2) · 3 didn't GO / doesn't have (2) · 4 The staff ARE / good ADVICE (3, with staffs→staff) · 5 friendS / liveS (2)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Correcting each false statement is what makes this teach rather than test.
TIP: Item 1 catches almost everyone because “everybody” feels plural. Say the correct form aloud three times.
ANSWERS: 1 F — singular: everybody knows · 2 T · 3 F — uncountable, no plural · 4 T · 5 F — no preposition · 6 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
HOW TO TEACH: Question 3 should refer to the actual counts from Writing 3. Evidence, not impression.
COMMON MISTAKES: Question 2 is often skipped. Push for a real name and a real commitment — that arrangement is what fixes fossilised errors.
TIP: Answers are marked for accuracy as well as content. Say so before they start.
ANSWERS: No fixed answers for 1 to 3. 4 and 5 must be grammatically correct — mark them strictly, since they are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One error type per round is the method. A partner listening for everything catches almost nothing.
TIP: Round 1 repeats the slide 30 baseline. Compare the two counts and show the class the difference.
ANSWERS: SUCCESS CRITERIA: 1 fewer than three missing -s · 2 ten correctly formed questions · 3 all prepositions correct · 4 no double marking.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minutes.
HOW TO TEACH: Question 5 is the assessment. The six numbers are a personal error profile and they are more useful than a mark.
TIP: Collect the six-number profiles. They tell you precisely what to drill for the rest of Level 3.
ANSWERS: 2 ten verbs, all with -s · 3 helper first, base form after, no double marking · 4 no plural -s on any of the five, and “staff are” · 5 six honest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 Discussion, not writing.
HOW TO TEACH: Question 4 resolves the apparent contradiction between the two modules and is worth the most time.
TIP: Question 2 deserves an honest answer. Do not claim these errors cause misunderstanding when they do not — learners know better and will trust you less.
ANSWERS: 1 They never block communication, so nobody corrects them, so the wrong form gets practised until it feels right. 2 No, they would understand — you fix it because written English is judged, especially in job applications. 3 Noticing costs attention, and attention is limited; watching for ten errors means catching none. 4 Yes — fluency time while speaking, accuracy time while writing and drilling. Trying to do both at once produces neither.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marked on the EDITING, not the writing. Hand in both the first draft and the edited version so the corrections are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marked on the EDITING, not the writing. Hand in both the first draft and the edited version so the corrections are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marked on the EDITING, not the writing. Hand in both the first draft and the edited version so the corrections are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marked on the EDITING, not the writing. Hand in both the first draft and the edited version so the corrections are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marked on the EDITING, not the writing. Hand in both the first draft and the edited version so the corrections are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Q3, Q10 and Q14 are the diagnostic block: hidden subjects, double marking, and the no-preposition rule. Errors here need slides 16, 19 and 17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Q3, Q10 and Q14 are the diagnostic block: hidden subjects, double marking, and the no-preposition rule. Errors here need slides 16, 19 and 17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Q3, Q10 and Q14 are the diagnostic block: hidden subjects, double marking, and the no-preposition rule. Errors here need slides 16, 19 and 17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Q3, Q10 and Q14 are the diagnostic block: hidden subjects, double marking, and the no-preposition rule. Errors here need slides 16, 19 and 17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Q3, Q10 and Q14 are the diagnostic block: hidden subjects, double marking, and the no-preposition rule. Errors here need slides 16, 19 and 17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Monday's task is the whole week's discipline: one error, written down, visible. Learners who choose three make no measurable progress on any.
TIP: Wednesday's task is the one that actually breaks fossilisation. Nobody corrects an adult's English unless they are asked, so the asking is the intervention.
CLASSROOM ACTIVITY: Ask learners to report on Wednesday's conversation at the next lesson — who they asked and what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Task 1 requires both drafts. The corrections between them are what is being assessed, not the quality of the writing.
COMMON MISTAKES: Learners hand in only the clean version. Insist on both — without the first draft there is no evidence of editing.
TIP: Task 3's final element is the self-count. Compare it with your own count of their errors: the gap tells you how well they can hear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Note that the editing carries more marks than the writing. That is deliberate and learners should know it before they start.
COMMON MISTAKES: Do not mark fluency or vocabulary range here. This is the accuracy module and mixing the criteria confuses the message.
TIP: Give the mark privately, with exactly two corrections — the technique from slide 27. Twenty corrections teach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Repeat the warm-up from slide 3 with the same five sentences. Compare how fast the class finds all five now.
TIP: Also repeat the round-1 speaking drill from slide 30 and compare the -s error count. A visible drop in one module is strong evidence.
CLASSROOM ACTIVITY: Quick-fire recap: point at each card and ask a different learner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Tell learners to photograph this slide. The fourth box is the emergency version — four errors, four corrections, one card.
TIP: Print the first box and require it before every written task for the rest of the course.
CLASSROOM ACTIVITY: Cover each box in turn and ask the class to say what was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5 minutes.
HOW TO TEACH: Close on the honest promise: one error at a time, about three weeks each. Learners who expect to fix everything at once give up; learners who expect one at a time succeed.
TIP: Preview Module 4: after fixing the small errors, Module 4 puts the whole tense system in one place — present, past, future and perfect — so learners can see how the pieces relate instead of meeting them one at a time.
CLASSROOM ACTIVITY: Ask every learner to say their one target error and their corrector's name out loud before they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oundRect">
            <a:avLst/>
          </a:prstGeom>
          <a:solidFill>
            <a:srgbClr val="0E7C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A2 → B1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Common Errors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246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errors survive all the way to advanced level — not because they are hard, but because nobody ever corrects them. This module hunts them down.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49240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13832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0104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690104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01784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866376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ERRORS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____________________   Class: ____________   Date: ____________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things. All of them are about noticing.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2996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12652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third-person -s for good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works. She goes. It costs. The most persistent error in English.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28712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96777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a, an, the and no article with a system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feel. There is an actual decision you can make.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37124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0902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in, on and at right for time and place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prepositions cover most of what you need.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455371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650273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questions and negatives correctly, at speed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helper rule, and why word order changes.</a:t>
            </a:r>
            <a:endParaRPr lang="en-US" sz="1580" dirty="0"/>
          </a:p>
        </p:txBody>
      </p:sp>
      <p:sp>
        <p:nvSpPr>
          <p:cNvPr id="27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384" y="539496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5491521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OWN errors before anyone else does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that keeps working after this course ends.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find the errors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sentences. Each has exactly one error.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Find them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work in Adama.”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a information.”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is teacher.”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you are going?”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didn't went.”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Time yourself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did it take to find all five? Did you find all five?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Be honest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make any of these? Which one? Nobody is judging — this is a diagnosis.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these rules. Knowing them was never the problem.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errors survive because they do not stop communication. The listener understands and says nothing,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wrong version gets practised thousands of times until it feels correct.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≠ doing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corrects you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it to fix 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errors survive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mechanism and the fix becomes obvious.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1264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ERROR BECOMES PERMANENT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5778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You say “he work”.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listener understands perfectly.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Nobody corrects you.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You say it again. And again.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After 5,000 times it FEELS right.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Now the correct form feels wrong.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knowing the rule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nothing on its own.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949440" y="1883664"/>
            <a:ext cx="46936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187184" y="2103120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BREAKS IT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223760" y="2505456"/>
            <a:ext cx="41449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NOTICING it as you say it — not afterwards.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deliberate practice where you cannot hide.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or something that corrects you every time.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repetition that the correct form becomes the automatic one.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errors — the full 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ten account for most intermediate mistakes. All ten are fixable.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91840"/>
                <a:gridCol w="359633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Third-person -s missing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workS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Article missing or wrong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teacher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A teacher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Uncountable made plural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Question not inverted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you are going?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ARE YOU going?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Past marked twice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didn't went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didn't 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Plural -s missing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book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bookS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He / she confused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sister… he said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…SHE said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Wrong preposition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Monday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Monday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“Be” dropped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very tired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very tired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Adverb in wrong place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works probably 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PROBABLY works 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1 — the third-person -s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person, one letter, and it survives to advanced level.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work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work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and Dawit work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teachers work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workS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workS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workS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workS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workS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he, she and it. Everything else takes no -s. If you can replace the subject with he, she or it — add the -s.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2 and 3 — articles, as a decision not a feeling</a:t>
            </a:r>
            <a:endParaRPr lang="en-US" sz="3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three questions in order. The answer comes out.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40080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ARTICLE DECISION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85216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Can you count it?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NO  →  no article.  (information, advice)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Does the listener know WHICH one?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YES →  the.  (the report I sent you)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Is it the first time you mention it?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YES →  a / an.  (I wrote a report)</a:t>
            </a: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endParaRPr lang="en-US" sz="15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ALWAYS take a / an:  She is A teacher.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223760" y="1883664"/>
            <a:ext cx="441929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61504" y="2103120"/>
            <a:ext cx="39438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COMMONEST SLIPS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98080" y="2505456"/>
            <a:ext cx="387065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is teacher.” — jobs always need a or an.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an information.” — uncountable, so no article at all.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saw the car yesterday” when the listener does not know which car.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first mention a, second mention the.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4 and 5 — questions and negatives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moves the helper to the front. Nothing else changes.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 going?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like coffee?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it starts?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went.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don't work here.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 is late?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going?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like coffee?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DOES it start?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GO.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DOESN'T work here.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he late?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helper is there, the MAIN verb goes back to base form. “Didn't went” marks the past twice — only the helper carries it.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that outlasts this course — self-editing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78765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" y="1787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he/she/it verb — is the -s there?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this one alone, first, before anything else.</a:t>
            </a:r>
            <a:endParaRPr lang="en-US" sz="163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2510028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noun — does it need a, an, the or nothing?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three questions from slide 8.</a:t>
            </a:r>
            <a:endParaRPr lang="en-US" sz="1630" dirty="0"/>
          </a:p>
        </p:txBody>
      </p:sp>
      <p:sp>
        <p:nvSpPr>
          <p:cNvPr id="18" name="Shape 14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232404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86384" y="3232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plural — is the -s there?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books, many people, some problems.</a:t>
            </a:r>
            <a:endParaRPr lang="en-US" sz="1630" dirty="0"/>
          </a:p>
        </p:txBody>
      </p:sp>
      <p:sp>
        <p:nvSpPr>
          <p:cNvPr id="22" name="Shape 18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395478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6384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— is the helper at the front?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is the main verb in base form?</a:t>
            </a:r>
            <a:endParaRPr lang="en-US" sz="1630" dirty="0"/>
          </a:p>
        </p:txBody>
      </p:sp>
      <p:sp>
        <p:nvSpPr>
          <p:cNvPr id="26" name="Shape 22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" y="4677156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86384" y="4677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“to be” — is it actually written?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very tired” is missing a word.</a:t>
            </a:r>
            <a:endParaRPr lang="en-US" sz="1630" dirty="0"/>
          </a:p>
        </p:txBody>
      </p:sp>
      <p:sp>
        <p:nvSpPr>
          <p:cNvPr id="30" name="Shape 26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86384" y="539953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638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aloud — does anything sound wrong?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ear catches what six checks miss.</a:t>
            </a:r>
            <a:endParaRPr lang="en-US" sz="16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information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/ˌɪnfəˈmeɪʃn/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— uncountable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and details about something.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some information about the course. That is useful information.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“informations” and never “an information”. Say “some information” or “a piece of information”.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advice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/ədˈvaɪs/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— uncountable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opinion about what somebody should do.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gave me some good advice. Can I ask your advice?</a:t>
            </a:r>
            <a:endParaRPr lang="en-US" sz="18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traps. “Advices” does not exist. And ADVICE is the noun /ədˈvaɪs/; ADVISE is the verb /ədˈvaɪz/ — c for the noun, s for the verb.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research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/rɪˈsɜːtʃ/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— uncountable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study to find out new facts.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some research on the market. Her research took two years.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“Researches” is wrong as a plural. And the stress can move: re-SEARCH as a verb, RE-search or re-SEARCH as a noun.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equipment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/ɪˈkwɪpmənt/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— uncountable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or machines needed for a job.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 needs new equipment. We bought three pieces of equipment.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“equipments”. To count it: “a piece of equipment”, “two pieces of equipment”.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staff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/stɑːf/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— collective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people who work in an organisation.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staff are very helpful. We have twenty staff.</a:t>
            </a:r>
            <a:endParaRPr lang="en-US" sz="19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-s. “Staffs” is wrong. And it takes a PLURAL verb in British English: “the staff ARE”, not “the staff is”.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LANGUAGE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— the tricky subjects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is easy. Finding the real subject is not.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108960"/>
                <a:gridCol w="432785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everybody · everyone · nobody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singular, even though it feels plural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staff · the team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 (are)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collective — plural in British English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 the teachers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subject is “one”, not “teachers”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price of the books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high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subject is “price”, not “books”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 and Dawit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people — plural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real subject first. Words between the subject and the verb are there to distract you, and they usually succeed.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LANGUAGE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of time — in, on, at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words. A clear rule for each.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50593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for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POINT of time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six o'clock · at night · at the weekend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DAY or a date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Monday · on 5 May · on my birthday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LONGER period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May · in 2026 · in the morning · in summer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preposition at all with: today · tomorrow · yesterday · next week · last year · every day.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LANGUAGE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of place — in, on, at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words. Different logic.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50593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for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POINT or a place with a purpose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the bus stop · at work · at home · at school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SURFACE or a line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table · on the wall · on the second floor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something with edges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room · in Adama · in the car · in my bag</a:t>
                      </a:r>
                      <a:endParaRPr lang="en-US" sz="1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school” = there to study.   “in the school” = physically inside the building. The same word, two different meanings.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LANGUAGE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helper rule — questions and negatives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marker, one place. Never two.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DF3EF"/>
          </a:solidFill>
          <a:ln w="15875">
            <a:solidFill>
              <a:srgbClr val="3F5BD9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CARRIES THE GRAMMAR?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She workS here.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DOES she work here?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 does has taken the -s )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She DOESN'T work here.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DID she work?  ·  She DIDN'T work.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IN ONE LINE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helper appears, the MAIN verb goes to base form.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she works” is wrong — the -s has already been used.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didn't went” is wrong — “did” already marks the past.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grammar marker, in one place, every time.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871216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LANGUAGE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— the accuracy routine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steps. Use them on everything you write.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first. Do not check anything.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while writing produces short, safe, empty sentences.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check ONE error type all the way through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Third-person -s first. Only that, nothing else.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next type, all the way through again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Articles. Then plurals. Then questions. One pass each.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aloud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ear finds what the checks missed.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which error you found most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one to notice while SPEAKING next week.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— the third-person -s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replace the subject with he, she or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6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of my friends ___ in Bahir Dar.”  live or lives?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179"/>
              </a:spcBef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lives.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268"/>
              </a:spcBef>
              <a:buNone/>
            </a:pPr>
            <a:r>
              <a:rPr lang="en-US" sz="134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subject is “one”, not “friends”. Cross out “of my friends” and it becomes obvious.</a:t>
            </a:r>
            <a:endParaRPr lang="en-US" sz="116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“Everybody ___ the answer.”  know or knows?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“Everybody” is singular in English, even though it refers to many people. So are everyone and nobody.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price of the tickets ___ high.”  is or are?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subject is “price”, which is singular. “Of the tickets” is a distractor sitting between them.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— articles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three questions from slide 8.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is ___ teacher.”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Jobs always take a or an. This has no exceptions and is worth memorising as a fixed rule.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___ information about the course.”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information — or no word at all.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Information is uncountable, so it can never take “a” or “an”, and it has no plural.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bought a car. ___ car is red.”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Second mention. The listener now knows which car, so it takes “the”.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— questions and negatives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grammar live?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you are going?” — what is wrong?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ARE you going?” — the helper comes before the subject.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English inverts the helper and the subject in questions. The statement order is not a question.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she works here?” — what is wrong?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she WORK here?”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“Does” has already taken the -s. The main verb returns to base form.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6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didn't went.” — what is wrong?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179"/>
              </a:spcBef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didn't GO.”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268"/>
              </a:spcBef>
              <a:buNone/>
            </a:pPr>
            <a:r>
              <a:rPr lang="en-US" sz="134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“Did” already marks the past. Marking it twice is the same error as “does she works”.</a:t>
            </a:r>
            <a:endParaRPr lang="en-US" sz="11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— prepositions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Point, day, or longer period?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meeting is ___ Monday.”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189"/>
              </a:spcBef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Monday.</a:t>
            </a:r>
            <a:endParaRPr lang="en-US" sz="1230" dirty="0"/>
          </a:p>
          <a:p>
            <a:pPr indent="0" marL="0">
              <a:lnSpc>
                <a:spcPct val="102000"/>
              </a:lnSpc>
              <a:spcBef>
                <a:spcPts val="284"/>
              </a:spcBef>
              <a:buNone/>
            </a:pPr>
            <a:r>
              <a:rPr lang="en-US" sz="142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Days always take “on”. “In Monday” is one of the two commonest preposition errors.</a:t>
            </a:r>
            <a:endParaRPr lang="en-US" sz="123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will see you ___ next week.”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preposition at all. “I will see you next week.”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Next, last, this and every take no preposition. Adding one is a very frequent error.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is ___ work at the moment.”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work.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“At” carries purpose — she is there to work. “In work” is wrong; “in the office” would be about location.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— uncountable nouns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count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gave me three ___.”  advices or pieces of advice?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 of advice.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Advice is uncountable. To count it you need a counter word, exactly like information and equipment.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staff ___ very helpful.”  is or are?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are.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Collective nouns take a plural verb in British English. And “staffs” does not exist.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three more uncountable nouns.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· research · furniture · news · luggage.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Same rule for all of them: no plural -s, no a/an, and a counter word to count them.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to be corrected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 asks a colleague for something most people never ask for.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ask your advice about something?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make a mistake in English, would you tell me?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Really? Most people don't want that.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know. But nobody corrects me, so I never improve.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right. You just said “nobody correct me” — it's “corrects”.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Sara's last line is the whole module in one exchange: the error, noticed, named, and fixed in three seconds.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somebody without embarrassing them</a:t>
            </a:r>
            <a:endParaRPr lang="en-US" sz="37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 checks a colleague's email. Watch how she does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good. Clear and short. Two small things?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“Informations” — no -s. It's always just “information”.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Ah. I do that a lot.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“the staff is” — in British English it's “the staff are”.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Thanks. Two things I can actually remember.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is good first. Then TWO corrections, not twenty. Abel's last line explains why two is the right number.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for correcting and being corrected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phrases. Three for each side of the exchange.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ask your advice?”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68"/>
              </a:spcBef>
              <a:buNone/>
            </a:pPr>
            <a:r>
              <a:rPr lang="en-US" sz="13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conversation. Uncountable — no “an”.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right?”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68"/>
              </a:spcBef>
              <a:buNone/>
            </a:pPr>
            <a:r>
              <a:rPr lang="en-US" sz="13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one specific sentence, not everything.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you say this properly?”</a:t>
            </a:r>
            <a:endParaRPr lang="en-US" sz="1550" dirty="0"/>
          </a:p>
          <a:p>
            <a:pPr indent="0" marL="0">
              <a:lnSpc>
                <a:spcPct val="102000"/>
              </a:lnSpc>
              <a:spcBef>
                <a:spcPts val="326"/>
              </a:spcBef>
              <a:buNone/>
            </a:pPr>
            <a:r>
              <a:rPr lang="en-US" sz="12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the correct form, not just a judgement.</a:t>
            </a:r>
            <a:endParaRPr lang="en-US" sz="15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2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good. Two small things?”</a:t>
            </a:r>
            <a:endParaRPr lang="en-US" sz="152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first, then a named number.</a:t>
            </a:r>
            <a:endParaRPr lang="en-US" sz="152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usually say…”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68"/>
              </a:spcBef>
              <a:buNone/>
            </a:pPr>
            <a:r>
              <a:rPr lang="en-US" sz="13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Softer than “that's wrong”. Gives the right form.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“Thanks — I do that a lot.”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68"/>
              </a:spcBef>
              <a:buNone/>
            </a:pPr>
            <a:r>
              <a:rPr lang="en-US" sz="13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it without apology. Move on.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the errors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This dialogue has SIX errors. Find them all.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 going on Monday?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go to Adama. My brother work there.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 engineer?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He didn't went last month, but he goes now.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give me some informations about the road?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staff at the office is very helpful. Ask them.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errors. All six are on the list from slide 6. Find them, then say each line correctly.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— notice it as you say it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rounds. Accuracy time, not fluency time.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a friend for 60 seconds using he or she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counts every missing third-person -s.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partner ten questions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checks the helper is at the front every time.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workplace using in, on and at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notes every preposition and checks it.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last weekend in the past tense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listens for “didn't went” and plural -s.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the he/she drill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valuable ten minutes in this module.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twenty sentences about one person, all starting “He” or “She”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taps the desk on every missing -s.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say them faster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returns at speed. That is the real test.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subject: “They work” → “He works”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rounds. Fast. No thinking time.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colleague for 60 seconds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your own errors afterwards.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articles out loud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three questions before every noun.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this room. Every noun needs a decision.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an, the, or nothing. Say the decision aloud first.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five people do for a living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is a nurse.” Jobs always take a or an.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two-sentence story introducing something new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saw a dog. The dog was very big.”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five uncountable nouns in sentences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· advice · research · equipment · staff.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drill — the endings that carry grammar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2. Now it is grammar, not just sound.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-s clearly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workS here.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goeS at six.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too much.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bookS.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problemS.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riseS.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-ed clearly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workED there.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askED me.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finishED it.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to go.  (2 beats)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needED help.  (2 beats)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happenED fast.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ending disappears, the grammar disappears with it. This is a mouth problem, not a knowledge problem.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— questions at speed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pairs. Three seconds per question.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five questions with “do” or “does”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she work here?” — no -s on the main verb.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five questions with “did”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you go?” — base form after did.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five wh- questions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straight after the question word.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five negatives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doesn't work here.” “I didn't go.”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asks; you answer in a full sentence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get checked.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challenge — record yourself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minutes. Everyone does this. You will count your own errors.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colleague for 45 seconds using he or she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third-person verb needs its -s.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five questions aloud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at the front, base form after it.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five sentences about last weekend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tense. No double marking.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five uncountable nouns correctly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· advice · research · equipment · staff.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back and count your OWN errors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number down. This is the real task.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spot the error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sentences. Some are correct. Listen twice.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AT NORMAL SPEED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My brother work in Adama.</a:t>
            </a:r>
            <a:endParaRPr lang="en-US" sz="16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She is a nurse at the hospital.</a:t>
            </a:r>
            <a:endParaRPr lang="en-US" sz="16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Where you are going tomorrow?</a:t>
            </a:r>
            <a:endParaRPr lang="en-US" sz="16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 need some information, please.</a:t>
            </a:r>
            <a:endParaRPr lang="en-US" sz="16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He didn't went to the meeting.</a:t>
            </a:r>
            <a:endParaRPr lang="en-US" sz="16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staff are very helpful.</a:t>
            </a:r>
            <a:endParaRPr lang="en-US" sz="16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One of my friends live in Jimma.</a:t>
            </a:r>
            <a:endParaRPr lang="en-US" sz="16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 will see you next week.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 for correct, or X for an error.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X, write the correction.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slide-6 error is each one?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 out of 8.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“My brother work in Adama.”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“works”. Brother = he.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Error 1 from slide 6. The commonest error in intermediate English and the first to check.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“Where you are going tomorrow?”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“Where are you going?”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Error 4. The helper must come before the subject. Statement order is not a question.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“He didn't went to the meeting.”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“didn't go”.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Error 5. “Did” already carries the past, so the main verb returns to base form.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“One of my friends live in Jimma.”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“lives”. The subject is “one”.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hardest item. “Of my friends” sits between the subject and the verb purely as a distractor.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2, 4, 6, 8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CORRECT.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you changed any of these, you were pattern-matching rather than listening. Correct English must be recognised too.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 workplace conversation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content first, then for errors.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TWICE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 Does Yonas work on Saturdays?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MIMI:  He works two Saturdays a month.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 I need some advice about the new system.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MIMI:  Ask the IT staff — they are very good.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 Where are they? On the second floor?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MIMI:  At the end of the corridor, in room twelve.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 Thanks. I'll go on Monday morning.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How often does Yonas work on Saturday?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Chaltu need?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Where is the IT office?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Find three prepositions of place.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Find one preposition of time.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Are there any errors in this conversation?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how often?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Saturdays a month.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“He works” — the -s is there, correctly, because Yonas is “he”.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what does Chaltu need?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advice about the new system.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“Some advice”, not “an advice”. Uncountable, used correctly.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where is IT?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corridor, in room twelve, on the second floor.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Three different prepositions, each following the rule from slide 18.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are there errors?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Every sentence is correct.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After a module of error-hunting you must also be able to recognise correct English. Suspicion is not accuracy.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ear needs correct models, not only wrong ones.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Learners who only ever analyse errors start to distrust forms that are perfectly fine.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 a fossilised error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steps. Expect about three weeks per error.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Choose ONE error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three, not ten. One. Trying to fix several at once fixes none of them, because noticing is what costs attention.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Notice it, even after the fact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week you will catch it a second too late. That is progress, not failure — noticing comes before controlling.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Ask somebody to flag it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person, one error, two weeks. A tap on the desk is enough. Nobody corrects you unless you ask.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Drill it daily at speed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 a day. The error returns under pressure, so the practice has to happen under pressure too.</a:t>
            </a:r>
            <a:endParaRPr lang="en-US" sz="15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find the errors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text has EIGHT errors. Find them all.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BROTHER'S WORK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work for a construction company in Adama. He is engineer. He started there in 2019, and he like it very much.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he leave the house at six o'clock. The traffic is bad, so the journey take almost an hour.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 he didn't went on holiday because the company was very busy. This year he will take three week off.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says the staff is friendly and the equipments are good. I want to ask him some advices about my own career.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eight errors.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correction for each.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which slide-6 error each one is.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error appears most often?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whole text correctly.</a:t>
            </a:r>
            <a:endParaRPr lang="en-US" sz="15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7F3EF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a full, CORRECT sentence. Your answer will be checked for accuracy too.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his brother do, and where?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does he leave the house?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didn't he go on holiday last year?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holiday will he take this year?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error appeared four times in the text?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the corrections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brother work” · “he like” · “he leave” · “the journey take”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need the -s: works, likes, leaves, takes.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Error 1, four times in one short text. This is how a single fossilised error dominates a piece of writing.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is engineer.”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is AN engineer.”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Error 2. Jobs always take a or an — and “engineer” starts with a vowel sound, so it takes “an”.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didn't went”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didn't GO”.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Error 5. “Did” carries the past; the main verb returns to base form.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“three week off”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“three weekS off”.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Error 6. A number greater than one requires the plural -s.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staff is” · “the equipments are” · “some advices”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ARE · equipment IS · some ADVICE.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Error 3 and collective agreement. Note that “equipment” takes a singular verb while “staff” takes a plural one.</a:t>
            </a:r>
            <a:endParaRPr lang="en-US" sz="11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the same text, corrected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aloud. Notice how small each change was.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BROTHER'S WORK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works for a construction company in Adama. He is an engineer. He started there in 2019, and he likes it very much.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he leaves the house at six o'clock. The traffic is bad, so the journey takes almost an hour.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 he didn't go on holiday because the company was very busy. This year he will take three weeks off.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says the staff are friendly and the equipment is good. I want to ask him some advice about my own career.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aloud, saying every -s clearly.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letters changed in total?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MEANING change anywhere?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listener have understood the first version?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why does it matter?</a:t>
            </a:r>
            <a:endParaRPr lang="en-US" sz="15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answers and vocabulary review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how much changed?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dozen letters in a 100-word text.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Accuracy at this level is not about rewriting. It is about very small marks in the right places.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did the meaning change?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Not once.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error was grammatical, not communicative. That is precisely why nobody ever corrected them.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would a listener understand version 1?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completely.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Which is the mechanism from slide 5 — understood, uncorrected, repeated, fossilised.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so why does it matter?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written English is judged, especially in job applications.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honest answer. Not because you were misunderstood, but because a reader forms a judgement about you.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check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· advice · research · equipment · staff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All five are uncountable, all five appear constantly at work, and all five are usually wrong in learner writing.</a:t>
            </a:r>
            <a:endParaRPr lang="en-US" sz="11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— error correction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sentence correctly. One of them is already correct.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My sister work in a bank.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Can you give me an advice?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Where you are going?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She is a very good teacher.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 didn't went to the meeting.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One of my colleagues speak French.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— articles and prepositions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each gap. Some gaps need NO word — write X.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She is ___ engineer at ___ construction company.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meeting is ___ Monday ___ ten o'clock.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 will see you ___ next week.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He lives ___ Adama, ___ a small house.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 need ___ information about ___ course you mentioned.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write, then edit in six passes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120 words about a person you work with. Then edit it six times.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first. Do not check anything. Eight minutes.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Pass 1 — every he/she/it verb. Is the -s there?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Pass 2 — every noun. a, an, the, or nothing?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Pass 3 — every plural. Is the -s there?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Pass 4 — every preposition. in, on, at?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Pass 5 — read it aloud. Pass 6 — count what each pass found.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what each pass should find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 — third-person -s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120-word description of one person, expect 8 to 12 chances.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topic was chosen to force this error. A high count here is normal and useful information.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 — articles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10 to 15 nouns, each needing a decision.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Jobs need a or an. Second mentions need “the”. Uncountables need nothing.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 — plurals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noun after a number or “many”, “some”, “few”.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“Three year” and “many problem” are easy to miss because the number already signals plural.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4 — prepositions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and place phrase. in, on, at, or nothing.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“In Monday” and “on next week” are the two to watch for.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6 — the count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what each pass found. That is your error profile.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pass that found the most is your one error to work on for the next three weeks.</a:t>
            </a:r>
            <a:endParaRPr lang="en-US" sz="11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accuracy checklist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81508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191164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he/she/it verb — is the -s there?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this alone, first. It is the most frequent error.</a:t>
            </a:r>
            <a:endParaRPr lang="en-US" sz="1630" dirty="0"/>
          </a:p>
        </p:txBody>
      </p:sp>
      <p:sp>
        <p:nvSpPr>
          <p:cNvPr id="14" name="Shape 9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6384" y="253746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634021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noun — a, an, the, or nothing?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count it? Does the listener know which one?</a:t>
            </a:r>
            <a:endParaRPr lang="en-US" sz="1630" dirty="0"/>
          </a:p>
        </p:txBody>
      </p:sp>
      <p:sp>
        <p:nvSpPr>
          <p:cNvPr id="18" name="Shape 12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86384" y="325983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356397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plural — is the -s there?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books · many people · some problems.</a:t>
            </a:r>
            <a:endParaRPr lang="en-US" sz="1630" dirty="0"/>
          </a:p>
        </p:txBody>
      </p:sp>
      <p:sp>
        <p:nvSpPr>
          <p:cNvPr id="22" name="Shape 15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86384" y="398221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78773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— helper at the front, base form after?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she work”, not “does she works”.</a:t>
            </a:r>
            <a:endParaRPr lang="en-US" sz="1630" dirty="0"/>
          </a:p>
        </p:txBody>
      </p:sp>
      <p:sp>
        <p:nvSpPr>
          <p:cNvPr id="26" name="Shape 18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86384" y="470458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4801149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“to be” — is it actually there?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very tired” is missing a word.</a:t>
            </a:r>
            <a:endParaRPr lang="en-US" sz="1630" dirty="0"/>
          </a:p>
        </p:txBody>
      </p:sp>
      <p:sp>
        <p:nvSpPr>
          <p:cNvPr id="30" name="Shape 21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86384" y="542696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5523525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aloud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ear finds what the five checks missed.</a:t>
            </a:r>
            <a:endParaRPr lang="en-US" sz="163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— multiple choice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a, b or c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is correct?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He work here     b) He works here     c) He working here</a:t>
            </a:r>
            <a:endParaRPr lang="en-US" sz="148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is correct?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She is teacher     b) She is a teacher     c) She is the teacher (first mention)</a:t>
            </a:r>
            <a:endParaRPr lang="en-US" sz="148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is correct?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an information     b) some information     c) three informations</a:t>
            </a:r>
            <a:endParaRPr lang="en-US" sz="148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is correct?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Where you are going?     b) Where are you going?     c) Where you go?</a:t>
            </a:r>
            <a:endParaRPr lang="en-US" sz="148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Which is correct?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 didn't went     b) I didn't go     c) I didn't goed</a:t>
            </a:r>
            <a:endParaRPr lang="en-US" sz="14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— add the -s where needed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sentence with the correct verb form.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My sister (work) in Hawassa.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My parents (live) in Jimma.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Everybody (know) the answer.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One of the teachers (speak) French.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Sara and Dawit (study) together.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price of the books (be) too high.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— matching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rules and prepositions.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pairs: 1–c, 2–a, and so 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match the ERROR to its CORRECTION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 work     2. an information     3. I didn't went     4. she is teacher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some information     b) she is a teacher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he works        d) I didn't go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match the TIME WORD to its PREPOSITION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Monday     2. six o'clock     3. May     4. next week          a) at     b) in     c) on     d) no preposition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match the NOUN to its VERB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staff     2. the equipment     3. everybody          a) is     b) are     c) knows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— in, on or at?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correct preposition, or X if none is needed.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meeting is ___ Friday ___ nine o'clock.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 live ___ Adama, ___ a small house near the market.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She works ___ a bank ___ the second floor.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 will call you ___ tomorrow.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He was born ___ 1998, ___ May.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We usually meet ___ the weekend.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— error correction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sentence correctly. Say how many errors you found.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My brother work in a office in Adama.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Where she is going in Monday?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He didn't went because he don't have time.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staffs is very helpful and give good advices.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One of my friend live in Bahir Dar.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— true or false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 or F. For every F, write the correction.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“Everybody” takes a plural verb.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Jobs always need “a” or “an”.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“Information” has a plural form.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After “did”, the main verb goes back to base form.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“Next week” needs the preposition “on”.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“The staff are” is correct in British English.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— short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complete, CORRECT sentence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error from slide 6 do you make most? How do you know?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could correct you regularly? Will you ask them?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did your six editing passes find most often?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Write one sentence using “advice” correctly.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Write one sentence using “staff” with the correct verb.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— speaking tasks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time. Slow and correct beats fast and wrong.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DEDE8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Your partner counts errors of ONE type only.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Describe a colleague for 60 seconds. Partner counts missing -s.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Ask ten questions. Partner checks the helper each time.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Describe your route to work. Partner checks in, on and at.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Talk about last month. Partner listens for double-marked past.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— mixed challenge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alone. Then compare with a partner.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Rewrite the slide 41 text correctly from memory.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errors.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ten sentences about a colleague in the present simple.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verb needs the -s. Check it.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five questions and five negatives.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at the front, base form after.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Write five sentences using the five uncountable nouns.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· advice · research · equipment · staff.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Edit everything above using the six passes. Count what each finds.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six numbers down.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— think and explain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Explain your thinking.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English if you can. These test understanding, not memory.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 these errors survive when you already know the rules?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who corrects you, and how often.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Would a listener misunderstand “He work here”? So why fix it?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honest reason.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fix ONE error at a time instead of all ten?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noticing cost?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Module 1 said ignore errors. This module says fix them. Both correct?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each apply?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quiz — Part 1 · Verbs and subjects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3EF"/>
          </a:solidFill>
          <a:ln w="12700">
            <a:solidFill>
              <a:srgbClr val="0A5D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paper. Books and slides closed. Question 20 is worth double.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is correct?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He work here     b) He works here     c) He working here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“Everybody ___ the answer.”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know     b) knows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“One of my friends ___ in Jimma.”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live     b) lives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When do you add the -s to a verb?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quiz — Part 2 · Articles and nouns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“She is ___ engineer.”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X     b) a     c) an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“Can you give me ___ advice?”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an     b) some     c) a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 is the plural of “information”?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Name three uncountable nouns.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quiz — Part 3 · Questions and negatives</a:t>
            </a:r>
            <a:endParaRPr lang="en-US" sz="35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Correct: “Where you are going?”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Correct: “Does she works here?”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Correct: “I didn't went.”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What happens to the main verb after a helper?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quiz — Part 4 · Prepositions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“The meeting is ___ Monday.”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in     b) on     c) at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“I'll see you ___ next week.”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in     b) on     c) no preposition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“She is ___ work at the moment.”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in     b) at     c) on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Which preposition is for a point of time?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quiz — Part 5 · Finding your own errors</a:t>
            </a:r>
            <a:endParaRPr lang="en-US" sz="35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Name the six editing passes, in order.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Why check ONE error type at a time?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Why do fossilised errors survive?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WRITING: 120 words about a colleague, then edit in six passes.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in both versions.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 to 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which is correct?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He works here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He, she and it take the -s. Everything else takes none.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“Everybody ___ the answer.”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knows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Everybody, everyone and nobody are singular in English, even though they feel plural.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“One of my friends ___ in Jimma.”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lives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subject is “one”. Cross out “of my friends” and the agreement is obvious.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when do you add the -s?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subject is he, she or it — or can be replaced by one of them.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replacement test works mechanically every time, which is why it beats intuition.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5 to 8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“She is ___ engineer.”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Jobs always take a or an, and “engineer” begins with a vowel sound, so it takes “an”.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“Can you give me ___ advice?”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some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Advice is uncountable, so it can never take “a” or “an”.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plural of “information”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isn't one. Use “some information” or “pieces of information”.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Uncountable nouns have no plural. “Informations” does not exist in English.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three uncountable nouns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three of: information · advice · research · equipment · furniture · news · staff.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Same rule for all: no plural -s, no a/an, and a counter word to count them.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9 to 12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“Where you are going?”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are you going?”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helper comes before the subject in a question. Statement order is not a question.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“Does she works here?”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she work here?”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“Does” has already taken the -s, so the main verb returns to base form.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“I didn't went.”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didn't go.”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“Did” already marks the past. Marking it twice is the same error as Q10 in a different tense.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the main verb after a helper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goes back to base form.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 grammar marker, in one place. The helper takes over and the main verb is released.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13 to 16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“The meeting is ___ Monday.”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Days and dates always take “on”. “In Monday” is one of the two commonest preposition errors.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“I'll see you ___ next week.”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no preposition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Next, last, this and every take none. Adding one is very frequent and always wrong.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“She is ___ work.”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“At” carries purpose — she is there to work. “In the office” would be about location instead.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a point of time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at six o'clock · at night · at the weekend. On is for days, in is for longer periods.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17 to 20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the six passes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third-person -s · 2 articles · 3 plurals · 4 questions · 5 “to be” · 6 read aloud.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Most frequent error first, so the highest-value pass happens while your attention is freshest.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why one type at a time?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limited. Watching for six errors at once catches almost none.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Single passes typically find five or six errors where a general read-through finds two.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why do they survive?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block communication, so nobody corrects them.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wrong form then gets practised thousands of times until it feels like the right one.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the writing task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on the editing, not the writing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Hand in both drafts. What the six passes caught is the evidence that the method was used.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 — every day this week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 day. ONE error only.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ONE error and write it on paper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paper where you will see it every day.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twenty he/she sentences aloud, slowly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-s clearly audible. Twice through.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person to flag that error for two weeks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tap or a word is enough. Ask them today.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ten sentences and edit them in six passes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what each pass found.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60 seconds and count that ONE error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Monday.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2 — to hand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these to the next lesson.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words about a colleague — BOTH drafts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draft and the edited version, with corrections visible.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six-pass error profile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numbers: what each pass found.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two-minute speaking challenge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seconds he/she · five questions · five past sentences · five uncountables · your own error count.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homework will be marked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standard before you start.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drafts — 10 marks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words (2) · both drafts handed in (2) · corrections visible (3) · final version accurate (3).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profile — 5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numbers given (3) · one error chosen to work on (2).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— 10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3 missing -s (3) · five correct questions (2) · no double-marked past (2) · five uncountables correct (2) · honest self-count (1).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25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excellent · 15–19 good · 10–14 keep practising · below 10 → drill your one error daily with your teacher.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in this module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things. Check each one — can you do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errors survive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Understood, uncorrected, repeated — until wrong feels right.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errors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list. You know which ones are yours.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third-person -s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she, it — and the hidden subjects that fool you.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questions, in order. Jobs always take a or an.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In, on, at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40"/>
              </a:spcBef>
              <a:buNone/>
            </a:pPr>
            <a:r>
              <a:rPr lang="en-US" sz="12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Point, day, longer period. And sometimes nothing at all.</a:t>
            </a:r>
            <a:endParaRPr lang="en-US" sz="170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Six-pass self-editing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error type per pass. The skill that outlasts this course.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where you can see them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toolkit. Photograph this slide.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21742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passes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he/she/it verbs — is the -s there?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every noun — a, an, the, nothing?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every plural — is the -s there?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questions — helper at the front?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“to be” there?   6  read it aloud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1742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9664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— three questions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415888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Can you count it?  NO → no article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Does the listener know which?  YES → the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First mention?  YES → a / an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ALWAYS take a / an.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4797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In, on, at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 →  a point  (six o'clock, work)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 →  a day or surface  (Monday, table)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→  longer or inside  (May, the room)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 →  next week, tomorrow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15888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434797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9664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worst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415888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workS  —  not “he work”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A teacher  —  not “is teacher”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going  —  not “where you are”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GO  —  not “didn't went”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find your own errors — which means you can keep improving without a teacher.</a:t>
            </a:r>
            <a:endParaRPr lang="en-US" sz="4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not fix ten errors this month. You will fix one, and then another.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how it actually works, and it is faster than it sounds.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Module 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Tenses in Depth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English tense system, finally in one place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3 — Accuracy &amp; Common Errors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English Learning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· Module 3 — Accuracy &amp; Common Errors</dc:title>
  <dc:subject>English course for Ethiopian learners — Level 3 Intermediate English</dc:subject>
  <dc:creator>English Learning Platform</dc:creator>
  <cp:lastModifiedBy>English Learning Platform</cp:lastModifiedBy>
  <cp:revision>1</cp:revision>
  <dcterms:created xsi:type="dcterms:W3CDTF">2026-07-28T10:27:06Z</dcterms:created>
  <dcterms:modified xsi:type="dcterms:W3CDTF">2026-07-28T10:27:06Z</dcterms:modified>
</cp:coreProperties>
</file>