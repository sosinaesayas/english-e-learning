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saying what this module is NOT: it is not about losing your accent. Your accent is not a problem and never will be. Being asked to repeat yourself three times is.
TIP: Learners arrive at this module either ashamed of their accent or defensive about it. Remove both feelings in the first two minutes by separating accent from intelligibility.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2 surprises everyone. Learners assume individual sounds matter most; in fact wrong word stress causes more comprehension failures than any single consonant.
TIP: Objective 5 is worth flagging: intonation errors are heard as rudeness, not as language errors, so they are never corrected by the listener.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Task 3 is the diagnostic and it is deliberately loaded: “very” has /v/, “experience” and “development” are both stress traps. Listen carefully and note what the class does.
COMMON MISTAKES: Correct nothing yet. Write down what you hear — you will use it to prioritise slides 6 and 7 for this particular class.
TIP: Task 1 usually produces names, numbers and one or two specific words. Those are the real curriculum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Make the distinction concrete: an accent is how you sound; intelligibility is whether the listener gets it first time. The first is identity and the second is a skill.
COMMON MISTAKES: Learners who try to imitate a British or American accent usually get worse, not better, because they abandon sounds they had right in order to chase sounds they cannot yet make.
EXTRA EXAMPLES: Most fluent English speakers in the world are not native speakers. An international accent is the normal case, not the exception.
TIP: Say plainly that you are not going to try to change anyone's accent, and that you will be very demanding about six specific sounds. Learners relax and work harder once the target is that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the left column by breaking each one deliberately in your own speech. Say deVELopment with the wrong stress and watch the class fail to catch it.
COMMON MISTAKES: Learners work on the right column because it feels like progress. It is not, and saying so early saves them a great deal of wasted effort.
EXTRA EXAMPLES: Research on intelligibility consistently finds stress and specific consonants matter far more than overall accent. That is why this module is organised the way it is.
TIP: Item 3 on the left — missing the ends of words — matters enormously and is rarely taught. It comes back on slide 18.
CLASSROOM ACTIVITY: Break it deliberately: say five sentences with one left-column error each and ask which were hard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The longest concept slide in the module, and it earns it.
HOW TO TEACH: Teach every one physically. Hands on throats for /v/, a strip of paper in front of the mouth for /p/, a mirror for /θ/. Pronunciation is a muscle skill and it is learned through the body.
COMMON MISTAKES: The commonest substitutions are /f/ for /v/, /b/ for /p/, /t/ or /s/ for /θ/, and inserting a vowel before initial clusters — “is-treet” for “street”.
EXTRA EXAMPLES: Minimal pairs are the fastest tool: say one word from a pair and have learners point to which they heard. It trains the ear and the mouth together.
TIP: Do not try to fix all six in one lesson. Pick the two your class struggled with in the warm-up and drill those properly.
CLASSROOM ACTIVITY: Paper test: hold a strip of paper in front of your mouth. It should move for /p/ and stay still for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Clap or tap on the stressed syllable for every word. The physical beat fixes it far better than marking it on paper.
COMMON MISTAKES: Even syllable weight — giving every syllable the same length and force — is the commonest pattern and it makes words very hard to recognise.
EXTRA EXAMPLES: The photograph set is the clearest demonstration in English: the stress moves as the ending changes, and the vowels change with it.
TIP: Say a word with deliberately wrong stress — “DE-vel-op-ment” — and ask the class what you said. Most will not recognise it. That single demonstration does more than ten minutes of explanation.
CLASSROOM ACTIVITY: Tap the beat: give twenty words and have learners tap the desk once, on the stressed syllable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This is counter-intuitive and must be said directly: pronouncing vowels clearly makes you HARDER to understand, not easier, because it destroys the stress pattern the listener is relying on.
COMMON MISTAKES: Learners pronounce every written vowel because that is what the spelling shows. English spelling does not show the schwa, which is why it has to be taught explicitly.
EXTRA EXAMPLES: The schwa is the most frequent sound in spoken English. No other vowel comes close.
TIP: This slide and slide 7 are one idea from two directions: strong syllables get a full vowel, and everything else gets a schwa.
CLASSROOM ACTIVITY: Find the schwa: give ten long words and have learners mark every syllable that becomes a schwa.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slide always produces a reaction.
HOW TO TEACH: Say all five aloud yourself, clearly, and let the class hear the meaning change. Then have individual learners produce a chosen meaning and ask the class which one they heard.
COMMON MISTAKES: Learners stress nothing, giving every word equal weight, which leaves the listener to guess the meaning.
EXTRA EXAMPLES: This is the producer's side of Level 2 Module 7, where learners listened for strong words. Now they choose which word is strong.
TIP: Ask learners which word they would stress to answer “Did she take it?” — the answer teaches the rule better than the rule does.
CLASSROOM ACTIVITY: Guess my meaning: say one version and have learners say which of the five meanings you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Demonstrate the last row properly. Say “Thank you” flat, then with normal movement. The difference in how it lands is obvious and slightly uncomfortable, which is what makes it memorable.
COMMON MISTAKES: Wh- questions going UP is a common transfer error and makes a normal question sound doubtful or challenging.
EXTRA EXAMPLES: Amharic and Oromo have their own intonation patterns which do not map onto English. Carrying them over is heard as an attitude, not as an accent — which is why it matters more than it seems.
TIP: This is the least-taught and most socially costly part of pronunciation. Give it the full thirteen minutes.
CLASSROOM ACTIVITY: Up or down: read fifteen sentences and have learners say whether your voice rose or fell, then produce each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Build it backwards: ty → ni-ty → TU-ni-ty → por-TU-ni-ty → op-por-TU-ni-ty. Long words are learned from the end, and this one is the hardest in the module.
COMMON MISTAKES: Stressing the first syllable, and pronouncing every vowel fully. Both destroy the word's shape.
EXTRA EXAMPLES: “An opportunity TO do something”, not “for do”. And it is countable: an opportunity, two opportunities.
TIP: This word appears in almost every job interview and cover letter. It is worth eight minutes on its own.
CLASSROOM ACTIVITY: Backward build: the whole class builds the word from the last syllable forward, five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Teach the countable/uncountable split clearly: “I have experience” means knowledge; “I had a strange experience” means an event. Both are correct and they are different words in effect.
COMMON MISTAKES: “I have many experiences in this work” — should be “a lot of experience”. This error appears in almost every learner CV.
EXTRA EXAMPLES: experience IN a field · experience OF doing something · five years' experience.
TIP: Alongside “opportunity”, this is the most important word in an interview. Module 7 depends on it.
CLASSROOM ACTIVITY: CV line: every learner writes one true sentence about their own experience, using the uncountable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This word combines the two hardest things in the module: a middle stress and a /v/. Drill the /v/ alone first, then attach it to the word.
COMMON MISTAKES: “DE-vel-op-ment” with initial stress is very common and makes the word hard to recognise.
EXTRA EXAMPLES: develop (verb) · development (noun) · developed / developing (adjectives). The stress stays on VEL throughout.
TIP: A high-frequency word in Ethiopian professional life — NGOs, government, agriculture, construction. Worth getting exactly right.
CLASSROOM ACTIVITY: Word family: learners say all four forms in a row, keeping the stress on the same syllable.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Write the spelling and cross out the “or”. Learners find it hard to believe until they see it crossed out and hear it said.
COMMON MISTAKES: Saying all four syllables — “com-FOR-ta-ble”. It is understandable but immediately marks the speaker as reading the spelling rather than hearing the word.
EXTRA EXAMPLES: Other words that lose a syllable: vegetable (VEDGE-t'-bl) · interesting (IN-tresting) · chocolate (CHOC-lət) · every (EV-ri).
TIP: The second meaning matters: “I'm not comfortable with that” is a polite way to refuse in a professional setting. It belongs with the softening work in Module 1.
CLASSROOM ACTIVITY: Lost syllables: give eight words and have learners count how many syllables are actually spoken.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A good schwa demonstration: one strong syllable at the front and three weak ones after it. Clap once, then say the rest quietly.
COMMON MISTAKES: Stressing the third syllable. And the spelling — one c, two s's — catches almost everyone in writing.
EXTRA EXAMPLES: “It is necessary to…” · “if necessary” · “not necessary”. All three are common at work.
TIP: Pair it with “necessarily”, which adds a syllable but keeps the same stress. Learners find that reassuring.
CLASSROOM ACTIVITY: One clap: learners say all five vocabulary words, clapping only on the stressed syllable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Give the ending and have learners predict the stress before you say the word. Prediction is what turns a rule into a usable skill.
COMMON MISTAKES: Learners memorise words one at a time. These four patterns replace hundreds of separate memorisations.
EXTRA EXAMPLES: Two-syllable words follow a rough tendency: nouns stress the first syllable, verbs the second. REcord (noun) versus reCORD (verb).
TIP: The -ee ending is the odd one out because the stress lands on the ending itself. Employee, trainee, refugee — all common words.
CLASSROOM ACTIVITY: Predict the stress: give twenty words with these endings and have learners mark the stress before hearing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Say each pair in a sentence: “I have a REcord of it” and “I need to reCORD it”. Context makes the pattern obvious in a way that lists do not.
COMMON MISTAKES: Using noun stress for the verb is very common and momentarily confuses the listener, who is expecting a different part of speech.
EXTRA EXAMPLES: Also: EXport / exPORT · IMport / imPORT · PROgress / proGRESS · PERmit / perMIT. All are common at work.
TIP: The rule is a strong tendency, not an absolute law, but it is reliable enough to be worth teaching as one.
CLASSROOM ACTIVITY: Noun or verb: read ten sentences and have learners say which form they heard, based on the stress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the highest-value accuracy fix in the module. Dropping final consonants removes grammatical information that no context can replace.
COMMON MISTAKES: Ethiopian learners often reduce final consonant clusters — “nex” for “next”, “fas” for “fast”. Drill the full cluster with exaggeration first, then at normal speed.
EXTRA EXAMPLES: This connects directly to Module 3, where the same endings are treated as grammar rather than as sound.
TIP: Say “he work” and “he works” and ask what changed. The class hears immediately that the missing /s/ removed the subject agreement.
CLASSROOM ACTIVITY: Endings dictation: read fifteen verbs and have learners write whether each had -s, -ed 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Pattern 1 is the most useful and the easiest. Drill “an apple”, “pick it up”, “turn it on”, “in an hour” until they come out joined without thought.
COMMON MISTAKES: Learners believe separating words makes them clearer. It does the opposite — the listener is expecting joins and has to work harder without them.
EXTRA EXAMPLES: This is exactly why “Whatcha doing?” was hard to hear in Level 2 Module 7. Producing joins is what finally makes them audible.
TIP: Do not push pattern 3 hard. It is optional, more American than British, and pattern 1 delivers most of the benefit.
CLASSROOM ACTIVITY: Join it: give ten phrases and have learners say each separated, then joined. Ask which sounded more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order matters and is deliberate. A learner with perfect consonants and wrong stress is harder to understand than one with the reverse. Say so.
COMMON MISTAKES: Learners start at item 3 because individual sounds feel like the real subject. Redirect them to items 1 and 2, where the gain is largest.
EXTRA EXAMPLES: Items 1 and 2 are one idea: strong syllables get a full vowel, everything else gets a schwa.
TIP: Print this as a card. Use it as the correction order for the rest of Level 3 — correct stress before sounds, always.
CLASSROOM ACTIVITY: Five checks: learners record thirty seconds and check their own recording against all five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Point out that Abel never apologises for his pronunciation. He simply repairs it and moves on — which is exactly the Module 1 repair habit applied to sound.
COMMON MISTAKES: Learners respond to “Sorry?” by repeating the same thing at the same speed. Repeating identically almost never works; changing the stress or spelling it out does.
EXTRA EXAMPLES: “B for Bahir Dar” is the spelling technique from Level 2 Module 8. It resolves the B/V/P confusion instantly.
TIP: Practise this back to back. Removing the face makes the pronunciation carry the whole load, which is realistic.
CLASSROOM ACTIVITY: Repair the sound: pairs role-play a booking where one number is deliberately misheard.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Have pairs perform it twice, once with Hana's stress as written and once with it corrected. The second version resolves in one turn instead of three.
COMMON MISTAKES: This is a real workplace cost, not a classroom exercise. Wrong sentence stress produces answers to questions you did not ask.
EXTRA EXAMPLES: Hana's repair — “Sorry, I meant…” — is the Module 1 repair phrase applied to stress rather than to a word.
TIP: Ask which word learners would stress to ask about the writer, and which for the action. That distinction is the whole slide.
CLASSROOM ACTIVITY: Stress the right word: give ten questions and a target meaning, and have learners produce each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Response 3 is the key one. Learners repeat louder, which never helps. Moving the stress or spelling it out almost always does.
COMMON MISTAKES: Apologising for your accent. It invites the listener to treat you as a weak speaker rather than solving the actual problem.
EXTRA EXAMPLES: Response 5 is the practical adult strategy: if a word keeps failing, replace it. Nobody is grading your vocabulary.
TIP: Response 6 is the strongest of the six. Rebuilding a sentence differently succeeds far more often than repeating the same one.
CLASSROOM ACTIVITY: Six repairs: learners practise a phone call where the listener fails to understand three separate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This uses four of the five vocabulary words in one realistic exchange. Have pairs perform it with correct stress on every one.
COMMON MISTAKES: Every one of the four is a stress trap. Listen specifically for op-por-TU-ni-ty and ex-PE-ri-ence.
TIP: The repair in line 3 — saying the word syllable by syllable with correct stress — is the technique from slide 28. Praise anyone who does it naturally.
CLASSROOM ACTIVITY: Do it again, changing the field of work and the number of years.
ANSWERS: 1 experience · 2 opportunity · 3 necessary · 4 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for all four rounds.
HOW TO TEACH: Round 2 is the objective test: the partner's written answer shows whether the distinction was actually produced, not whether it felt produced.
COMMON MISTAKES: Learners believe they made a distinction that the partner did not hear. The written record settles it without argument.
TIP: Round 4 back to back is realistic and hard. Names and addresses are where pronunciation failures cost real time.
CLASSROOM ACTIVITY: Score it: count correct identifications in round 2 and repeat at the end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Run it both ways. First you say one word and learners point to which they heard; then a learner says one and the class points. Producing is harder than hearing and both must be practised.
COMMON MISTAKES: Learners hear the difference long before they can produce it. That gap is normal — say so, or they lose heart.
EXTRA EXAMPLES: Ten minutes a day on two pairs beats an hour a week on all six. Muscle habits need frequency, not duration.
TIP: Pick the two rows your class actually needs from the warm-up. Doing all six badly is worse than doing two well.
CLASSROOM ACTIVITY: Pair test: learners score each other out of ten on one row and record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Task 2 is the most instructive. Hearing their own wrong-stress version fail to be understood teaches more than any correct repetition.
COMMON MISTAKES: Two taps per word means the stress is not being placed. English words have exactly one strong syllable.
EXTRA EXAMPLES: Tapping engages the body, and stress is a rhythmic skill, so a physical beat is genuinely more effective than marking a page.
TIP: Use tapping as your correction signal for the rest of Level 3. Tap the correct pattern instead of explaining it.
CLASSROOM ACTIVITY: Wrong on purpose: half the class says a word with wrong stress and the other half guesses what was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three-speed method matters. A sound is only really learned when it survives at speed, because that is when the old habit reasserts itself.
COMMON MISTAKES: Learners produce a sound perfectly in isolation and lose it entirely in a sentence. That is normal and is exactly why sentence practice is needed.
EXTRA EXAMPLES: Record the class saying these at the start and end of the module. The improvement over four lessons is usually clearly audible.
TIP: Line 4 is the hardest. “Leave the ship, not the sheep” contains both vowels twice and catches nearly everyone.
CLASSROOM ACTIVITY: Three speeds: every learner performs one line at all three speeds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Task 3 is uncomfortable and that is the point. Learners hear their own flat “thank you” land badly and never forget it.
COMMON MISTAKES: Wh- questions rising is the commonest intonation transfer error and makes ordinary questions sound suspicious.
EXTRA EXAMPLES: Task 5 shows that politeness lives in the tune as much as in the words. The same sentence can be gracious or sarcastic.
TIP: This is the module's most socially valuable activity. Intonation errors are judged as character, not as language.
CLASSROOM ACTIVITY: How did that feel? After each round, the listener reports the impression, not the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listening back.
HOW TO TEACH: Listening back is essential here in a way it is not elsewhere. Learners cannot hear their own stress while speaking; on a recording they can hear all of it.
COMMON MISTAKES: Step 5 is where the endings disappear. Under the pressure of free speech, -s and -ed are the first things dropped.
TIP: Have learners mark their own recording against the five checks on slide 20. Self-assessment is what makes the habit continue after the module ends.
CLASSROOM ACTIVITY: Keep every recording for the Level 3 comparison.
ANSWERS: SUCCESS CRITERIA: all five words stressed correctly · six pairs distinguishable to a listener · six sentences at normal speed with the target sounds intact · three clear stress placements · endings audible in free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Choose which word to read at random and keep your own list. Read each twice, at normal volume, without exaggerating.
COMMON MISTAKES: Do not over-articulate. Exaggerated production makes the test easy and teaches nothing about real listening.
EXTRA EXAMPLES: Run it again at the end of the module with the same eight pairs and compare scores.
ANSWERS: Answers depend on which word you read. Keep your list and mark it with the class. Item 4 and item 8 are usually the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Repeating this exact test at the end of Level 3 gives you a hard number showing improvement, which is rare in pronunciation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Each answer requires inferring what was NOT said. Stressing a word implies a contrast with an alternative, and identifying that alternative is the skill.
COMMON MISTAKES: Learners answer what the sentence says rather than what the stress implies. Push them to the implied contrast every time.
EXTRA EXAMPLES: This is a genuinely advanced listening skill and it appears in every real meeting. It is also almost never taught.
ANSWERS: 1 Somebody else, not her. · 2 The deadline, not the task. · 3 A different colour was mentioned. · 4 They thought it was somebody else. · 5 The date — today rather than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Point out that every one of these answers is about something the speaker did NOT say. Stress carries meaning that no word in the sentence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Method 4 is the habit that pays off longest. Learning a word with the wrong stress means learning it twice.
COMMON MISTAKES: Learners learn spelling and meaning and never check the stress. Then the word fails in conversation and they blame their accent.
TIP: Method 2 is uncomfortable and effective. Most learners have never actually heard their own English.
CLASSROOM ACTIVITY: Check three words: learners look up the stress of three work-related words and report back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last line is the one to dwell on: the measure of success is how often you are asked to repeat, not how native you sound. It is measurable and it is achievable.
COMMON MISTAKES: Learners resist this because they have been told for years that a native accent is the goal. Give them time to argue with it — question 6 exists for that.
EXTRA EXAMPLES: Ask which is more useful: sounding British, or never being asked to repeat. The question answers itself once it is stated plainly.
TIP: This text supports slide 4. Some learners will not accept the idea from a teacher but will accept it from a text.
CLASSROOM ACTIVITY: Count the repeats: learners note how many times they are asked to repeat in one week, before and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Questions 4 and 5 are inferences. The text never mentions that word or that test directly — both must be worked out from what it does say.
COMMON MISTAKES: Learners look for question 4's answer in the text and, not finding it, say there is none. The teacher is strict about stress, so the answer is yes.
TIP: Question 5 is the one that matters. The answer — fewer people asking you to repeat — is a measurement anyone can take.
ANSWERS: 1 No — most learned it as a second language (D). · 2 Wrong stress and missing final sounds (D). · 3 No, never (D). · 4 Yes — that is a stress error, and she is strict about stress (I). · 5 People ask you to repeat less often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5 gives learners a self-assessment they can run for the rest of their lives. Ask them to count repeat requests for one week and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Task 5 is the real test. Reading with the stress marked is easy; reproducing it from memory is what shows the pattern has been learned.
COMMON MISTAKES: Learners tap on every syllable. One tap per word, on the strong syllable only.
EXTRA EXAMPLES: “volunTEER” is the -eer ending from slide 16 — stress on the ending itself. It is the only such word in the passage.
TIP: This passage is also a model interview answer. It reappears in Module 7, so learners are rehearsing content as well as sound.
CLASSROOM ACTIVITY: Mark it yourself: give an unmarked paragraph and have learners mark the stress before reading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Have three learners read the passage aloud without the capitals. The class marks which words were stressed correctly — peer assessment works well for stress because it is audible.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Rows 1 to 4 are rule-based and should be predicted, not recalled. Row 5 must be learned individually.
COMMON MISTAKES: Row 5 is the hard one — “necessary” takes the stress at the front while the other two take it on the second syllable.
TIP: Have learners say each word aloud as they mark it. Marking without saying trains the eye and not the mouth.
ANSWERS: 1 informATion, educATion, deCIsion · 2 opporTUnity, aBILity, seCUrity · 3 ecoNOMic, poLITical, sPECific · 4 employEE, engineER, voluntEER · 5 exPErience, deVELopment,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answers by having learners SAY the sentence rather than write the capital. The point is production, and writing it proves nothing.
COMMON MISTAKES: Learners get the written answer right and then read the sentence with flat stress. Insist on hearing each one.
TIP: Ask what each stressed word is being contrasted with. Naming the alternative makes the rule stick.
ANSWERS: 1 FRIDAY · 2 SARA · 3 RED · 4 TODAY · 5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Question 1 must be evidence-based — the minimal pair score from slide 37, not a feeling. Guessing which sound is weakest is usually wrong.
COMMON MISTAKES: Learners choose all six sounds. Two is the maximum that can actually be changed at once — insist on it.
TIP: Collect these plans and hand them back at the end of Level 3. The ones that named a time and place will have been done.
ANSWERS: MODEL for 5: “I will count how many times people ask me to repeat in one week, and do the same test again next month. It is necessary to measure it, otherwise I will not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Read two answers to question 1 aloud — one evidence-based and one guessed. The class hears the difference between a plan and a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Use this as your correction ORDER for the rest of Level 3. Correct stress before sounds, every time.
TIP: Print it as a card. Learners can run all five checks on their own recording in two minutes.
CLASSROOM ACTIVITY: Self-check: learners apply all five to their own recording and write down which one failed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1 is the module's central claim. Anyone choosing a) needs slides 4 and 5 again.
ANSWERS: 1 b · 2 b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Take answers by having learners say each word. A written mark proves nothing about production.
COMMON MISTAKES: Items 1 and 5 are the traps — both take second-syllable stress and both are usually said with initial stress.
TIP: Items 3, 4 and 6 follow rules from slide 16 and should be predicted rather than recalled.
ANSWERS: 1 deVELopment · 2 NEcessary · 3 informATion · 4 employEE · 5 exPErience · 6 poLITical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3 items 1 and 3 both fall, which surprises learners who expect all questions to rise.
ANSWERS: Part 1: 1–d, 2–b, 3–a, 4–c.  ·  Part 2: 1–c, 2–a, 3–b.  ·  Part 3: 1–b, 2–a, 3–c.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rule is mechanical: mark the stress first, then every OTHER syllable is a candidate for the schwa.
COMMON MISTAKES: Learners mark the stressed syllable as a schwa. By definition it cannot be — stressed syllables always keep a full vowel.
TIP: Item 4 has three schwas in one word. Say it slowly with all three fully pronounced and ask the class how it sounds.
ANSWERS: 1 b/ə/-NA-n/ə/ — two · 2 /ə/-BOUT — one · 3 PHO-t/ə/-graph — one · 4 d/ə/-VEL-/ə/p-m/ə/nt — three · 5 NE-c/ə/-ss/ə/-r/ə/ —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Have learners identify the word class first, then apply the rule. Nouns take the stress at the front, verbs at the back.
COMMON MISTAKES: Learners guess by feel. Ask them to say “is it a thing or an action?” first — the rule then applies mechanically.
TIP: Read the sentences aloud with the wrong stress and ask whether they still make sense. They mostly do, but they cost the listener a beat.
ANSWERS: 1 reCORD (verb) · 2 REcord (noun) · 3 inCREASE (verb) · 4 INcrease (noun) · 5 preSENT (verb) · 6 PREsent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Correcting each false statement is what makes this teach rather than test.
TIP: Items 1 and 3 are the two beliefs that hold learners back. Correct both firmly and out loud.
ANSWERS: 1 F — your accent is fine; fix stress and six sounds · 2 T · 3 F — unstressed vowels become schwas · 4 F — they go down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 5 is the baseline measurement. Write the class average on the board and repeat the question at the end of Level 3.
COMMON MISTAKES: Question 1 answered by feel rather than by the dictation score. Send learners back to their result from slide 37.
TIP: Question 2 often produces the same two or three words across a whole class. Those words are worth drilling together.
ANSWERS: No fixed answers. Question 3 should name a specific technique: move the stress, spell it out, or use a different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In every task the partner writes down what they actually heard. That written record is the only honest test of whether a distinction was produced.
TIP: Task 4 is the hardest and the most useful. Endings vanish under the pressure of connected speech, which is exactly when they are needed.
ANSWERS: SUCCESS CRITERIA: 1 six or more of eight identified correctly · 2 all five stress patterns correct · 3 five distinct meanings recognised · 4 fewer than three dropped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 minutes.
HOW TO TEACH: Question 5 is the real test. Everything else can be done carefully; free speech is where the old habits return.
TIP: Question 2 at full speed is where learners discover that a sound they “have” disappears under pressure. That discovery is the point.
ANSWERS: 2 all six sounds intact at speed · 3 stress matching slide 44 · 4 verbs stressed second, nouns first · 5 fewer than three dropped endings in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Discussion, not writing.
HOW TO TEACH: Question 4 is the one to end on. Nobody corrects intonation, because the listener experiences it as an attitude rather than as an error.
TIP: Question 3 deserves both sides. Imitating a model is a good learning technique; sounding native is a poor goal.
ANSWERS: 1 Listeners identify words by their stress SHAPE; full vowels everywhere destroy that shape. 2 A wrong consonant leaves the word's shape intact and is usually guessable; wrong stress makes the listener search for a word that does not exist. 3 Not as a goal — being understood matters and sounding native does not; but copying a model you hear often is a useful practice method. 4 Because it is heard as rudeness or boredom, and nobody corrects a stranger's manner — so the speaker never finds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the teacher writes down what they hear, and the score is how many were identified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the teacher writes down what they hear, and the score is how many were identified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the teacher writes down what they hear, and the score is how many were identified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the teacher writes down what they hear, and the score is how many were identified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the teacher writes down what they hear, and the score is how many were identified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Q6 and Q14 are the diagnostic block: what actually matters, second-syllable stress, and wh- question intonation. Errors here need slides 5, 7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Q6 and Q14 are the diagnostic block: what actually matters, second-syllable stress, and wh- question intonation. Errors here need slides 5, 7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Q6 and Q14 are the diagnostic block: what actually matters, second-syllable stress, and wh- question intonation. Errors here need slides 5, 7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Q6 and Q14 are the diagnostic block: what actually matters, second-syllable stress, and wh- question intonation. Errors here need slides 5, 7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Q6 and Q14 are the diagnostic block: what actually matters, second-syllable stress, and wh- question intonation. Errors here need slides 5, 7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Friday's task is the measurement that matters. Learners who count repeat requests get an honest, personal number that no test can give them.
TIP: Monday's task must be two sounds only. Learners who attempt all six make no measurable progress on any of them.
CLASSROOM ACTIVITY: Ask learners to bring Friday's number to the next lesson and write the class total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builds the habit that matters longest: checking stress before learning meaning. Insist the source is a dictionary.
COMMON MISTAKES: Learners who cannot record must not be excluded. Offer the live option openly.
TIP: Reply to every recording by voice, saying the words back correctly. Hearing the correct version immediately after their own is what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Mark the recording by writing down what you actually hear, then comparing. Do not mark on how close it sounds to a native speaker.
COMMON MISTAKES: Do not deduct for accent. The criterion is whether a listener can identify the word, and nothing else.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Repeat the eight-item minimal pair dictation from slide 36 and compare scores with the first attempt. That number is the module's evidence.
TIP: Also revisit warm-up task 3. Have the class say “I have very good experience in development work” again and listen for the difference.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or print the third box as a card. The five checks are the whole module in order of importance.
TIP: The fourth box is the one they will use in public. Print it small enough to keep in a wallet.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Close on the measurement. Learners leave with a specific target of two sounds and a way to check their own progress, which is far more useful than a general instruction to practise.
TIP: Preview Module 3 clearly: after a whole module of ignoring errors for fluency, Module 3 goes back and fixes the ten errors that survive to advanced level. Both modes matter, and now learners have done one of each.
CLASSROOM ACTIVITY: Ask every learner to name their two target sounds out loud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3</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3</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Intermediate</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A2 → B1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2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Pronunciation Mastery</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700" dirty="0">
                <a:solidFill>
                  <a:srgbClr val="B9CFC1"/>
                </a:solidFill>
                <a:latin typeface="Calibri" pitchFamily="34" charset="0"/>
                <a:ea typeface="Calibri" pitchFamily="34" charset="-122"/>
                <a:cs typeface="Calibri" pitchFamily="34" charset="-120"/>
              </a:rPr>
              <a:t>The goal is not to sound British or American. The goal is to be understood the FIRST time, every time — by anyone.</a:t>
            </a:r>
            <a:endParaRPr lang="en-US" sz="17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6</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TARGET SOUNDS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All of them are physical habits, not knowledge.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the six sounds that cause you the most trouble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/v/ · /p/ · /θ/ and /ð/ · /ɪ/ and /iː/ · /æ/ and /e/ · initial clusters.</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Put the stress on the right syllable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Wrong stress breaks understanding faster than a wrong sound does.</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schwa — the commonest sound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It is in almost every long word, and it is why English sounds the way it does.</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Stress the right WORDS in a sentence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other side of the listening work from Level 2 Module 7.</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intonation so people know what you mean</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same words can be a question, a statement or an insult.</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when are you not understood?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 specific. Vague answers cannot be fixed.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“Sorry?”</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When did somebody last ask you to repeat something? What was the word?</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On the phone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Is it harder on the phone? Which words go wrong most often — names? numbers?</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Read this aloud</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 have very good experience in development work.” Say it. What felt difficult?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Your accent is not the problem. Nobody has ever been refused a job for having an Ethiopian accent.</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People are refused when the listener has to work too hard. That is a different thing, it is measurable,</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and it comes down to about six sounds and where you put the stress.</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Keep your accent</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Fix six sounds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Fix the stress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actually breaks understanding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Not everything matters equally. These two lists are not the same size.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Matters a LOT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Word stress in the wrong place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six target sounds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Missing the ends of words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Adding a vowel inside a cluster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The listener stops understanding.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Matters very little</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Sounding British or American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 “perfect” /r/ sound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Speaking fast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Having an accent at all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The listener understands fine.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Spend your effort on the left column. The right column is where most learners waste years and gain nothing.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six sounds — what to do with your mouth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Each one is a physical instruction, not a rule to remember.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286000"/>
                <a:gridCol w="4023360"/>
                <a:gridCol w="4785055"/>
              </a:tblGrid>
              <a:tr h="420624">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Sound</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to do</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Practise with</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/v/</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top teeth on bottom lip, voice ON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very · village · leave · seven · give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/p/</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lips together, then a puff of air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people · problem · price · shop · help</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/θ/  /ð/</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tongue tip between the teeth</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think · three · this · the · brother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/ɪ/  vs  /iː/</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short and relaxed  vs  long and tense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ship / sheep · fit / feet · live / leave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/æ/  vs  /e/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mouth wide open  vs  half open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bad / bed · man / men · sat / set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str-  spr-  scr-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NO vowel before or inside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street · spring · school · strong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Put a hand on your throat for /v/ — you should feel it buzz. For /f/ you feel nothing. That is the whole difference.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Word stress — the biggest single fix</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English word has ONE strong syllable. Only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61264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5778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SAY THESE. STRESS THE CAPITALS.</a:t>
            </a:r>
            <a:endParaRPr lang="en-US" sz="1200" dirty="0"/>
          </a:p>
        </p:txBody>
      </p:sp>
      <p:sp>
        <p:nvSpPr>
          <p:cNvPr id="13" name="Text 9"/>
          <p:cNvSpPr txBox="1"/>
          <p:nvPr/>
        </p:nvSpPr>
        <p:spPr>
          <a:xfrm>
            <a:off x="822960" y="2487168"/>
            <a:ext cx="5577840" cy="3218688"/>
          </a:xfrm>
          <a:prstGeom prst="rect">
            <a:avLst/>
          </a:prstGeom>
          <a:noFill/>
          <a:ln/>
        </p:spPr>
        <p:txBody>
          <a:bodyPr wrap="square" lIns="0" tIns="0" rIns="0" bIns="0" rtlCol="0" anchor="ctr"/>
          <a:lstStyle/>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PHO-to-graph</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pho-TO-gra-pher</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pho-to-GRAPH-ic</a:t>
            </a:r>
            <a:endParaRPr lang="en-US" sz="1800" dirty="0"/>
          </a:p>
          <a:p>
            <a:pPr indent="0" marL="0">
              <a:lnSpc>
                <a:spcPct val="142000"/>
              </a:lnSpc>
              <a:buNone/>
            </a:pP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de-VEL-op-ment</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op-por-TU-ni-ty</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ex-PE-ri-ence</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COM-fort-a-ble</a:t>
            </a:r>
            <a:endParaRPr lang="en-US" sz="1800" dirty="0"/>
          </a:p>
        </p:txBody>
      </p:sp>
      <p:sp>
        <p:nvSpPr>
          <p:cNvPr id="14" name="Shape 10"/>
          <p:cNvSpPr/>
          <p:nvPr/>
        </p:nvSpPr>
        <p:spPr>
          <a:xfrm>
            <a:off x="6949440" y="1883664"/>
            <a:ext cx="46936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187184" y="2103120"/>
            <a:ext cx="42181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IT MATTERS SO MUCH</a:t>
            </a:r>
            <a:endParaRPr lang="en-US" sz="1200" dirty="0"/>
          </a:p>
        </p:txBody>
      </p:sp>
      <p:sp>
        <p:nvSpPr>
          <p:cNvPr id="16" name="Text 12"/>
          <p:cNvSpPr/>
          <p:nvPr/>
        </p:nvSpPr>
        <p:spPr>
          <a:xfrm>
            <a:off x="7223760" y="2505456"/>
            <a:ext cx="41449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Listeners find a word by its stress pattern before they hear the sounds.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Wrong stress means the listener searches for a word that does not exist.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One word, three forms, three different stresses — photograph, photographer, photographic.</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Get the stress right and a wrong sound is usually forgiven.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The schwa /ə/ — the commonest sound in English</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unstressed syllable wants to become this sound.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61264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5778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VOWEL YOU SEE IS NOT THE VOWEL YOU SAY</a:t>
            </a:r>
            <a:endParaRPr lang="en-US" sz="1200" dirty="0"/>
          </a:p>
        </p:txBody>
      </p:sp>
      <p:sp>
        <p:nvSpPr>
          <p:cNvPr id="13" name="Text 9"/>
          <p:cNvSpPr txBox="1"/>
          <p:nvPr/>
        </p:nvSpPr>
        <p:spPr>
          <a:xfrm>
            <a:off x="822960" y="2487168"/>
            <a:ext cx="5577840" cy="3218688"/>
          </a:xfrm>
          <a:prstGeom prst="rect">
            <a:avLst/>
          </a:prstGeom>
          <a:noFill/>
          <a:ln/>
        </p:spPr>
        <p:txBody>
          <a:bodyPr wrap="square" lIns="0" tIns="0" rIns="0" bIns="0" rtlCol="0" anchor="ctr"/>
          <a:lstStyle/>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banana        →  b/ə/-NA-n/ə/</a:t>
            </a:r>
            <a:endParaRPr lang="en-US" sz="1750" dirty="0"/>
          </a:p>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comfortable  →  COMF-t/ə/-bl</a:t>
            </a:r>
            <a:endParaRPr lang="en-US" sz="1750" dirty="0"/>
          </a:p>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photograph  →  PHO-t/ə/-graph</a:t>
            </a:r>
            <a:endParaRPr lang="en-US" sz="1750" dirty="0"/>
          </a:p>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about           →  /ə/-BOUT</a:t>
            </a:r>
            <a:endParaRPr lang="en-US" sz="1750" dirty="0"/>
          </a:p>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development →  d/ə/-VEL-/ə/p-m/ə/nt</a:t>
            </a:r>
            <a:endParaRPr lang="en-US" sz="1750" dirty="0"/>
          </a:p>
          <a:p>
            <a:pPr indent="0" marL="0">
              <a:lnSpc>
                <a:spcPct val="140000"/>
              </a:lnSpc>
              <a:buNone/>
            </a:pPr>
            <a:endParaRPr lang="en-US" sz="1750" dirty="0"/>
          </a:p>
          <a:p>
            <a:pPr indent="0" marL="0">
              <a:lnSpc>
                <a:spcPct val="140000"/>
              </a:lnSpc>
              <a:buNone/>
            </a:pPr>
            <a:r>
              <a:rPr lang="en-US" sz="1750" dirty="0">
                <a:solidFill>
                  <a:srgbClr val="12211B"/>
                </a:solidFill>
                <a:latin typeface="Calibri" pitchFamily="34" charset="0"/>
                <a:ea typeface="Calibri" pitchFamily="34" charset="-122"/>
                <a:cs typeface="Calibri" pitchFamily="34" charset="-120"/>
              </a:rPr>
              <a:t>Say it lazy. Say it short. Say it weak.</a:t>
            </a:r>
            <a:endParaRPr lang="en-US" sz="1750" dirty="0"/>
          </a:p>
        </p:txBody>
      </p:sp>
      <p:sp>
        <p:nvSpPr>
          <p:cNvPr id="14" name="Shape 10"/>
          <p:cNvSpPr/>
          <p:nvPr/>
        </p:nvSpPr>
        <p:spPr>
          <a:xfrm>
            <a:off x="6949440" y="1883664"/>
            <a:ext cx="46936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187184" y="2103120"/>
            <a:ext cx="42181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WHAT THE SCHWA DOES</a:t>
            </a:r>
            <a:endParaRPr lang="en-US" sz="1200" dirty="0"/>
          </a:p>
        </p:txBody>
      </p:sp>
      <p:sp>
        <p:nvSpPr>
          <p:cNvPr id="16" name="Text 12"/>
          <p:cNvSpPr/>
          <p:nvPr/>
        </p:nvSpPr>
        <p:spPr>
          <a:xfrm>
            <a:off x="7223760" y="2505456"/>
            <a:ext cx="41449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It is a short, lazy, weak “uh”. Your mouth barely moves.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It only ever appears in UNSTRESSED syllables.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It is why English sounds fast — half the vowels are almost swallowed.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Saying every vowel clearly is what makes speech sound heavy and unnatural.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Sentence stress — the same words, four meanings</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 you stress changes what the sentence means.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Stress a different word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say she took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say she took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SAY she took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say SHE took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say she TOOK it.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it now means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neutral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Someone else said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hinted, I didn't say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Somebody else took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borrowed it, not took it.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Same six words. Five different meanings. This is why stressing the wrong word confuses people even when every sound is correct.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Intonation — the music that carries your meaning</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Your voice going up or down changes everything.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291840"/>
                <a:gridCol w="487649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Voice goes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signals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DOWN at the end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statement, or certainty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meeting is at four.”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UP at the end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yes/no question, or doubt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meeting is at four?”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DOWN on a wh- question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normal, polite question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“Where do you work?”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FLAT, no movement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boredom or rudeness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“Thank you.” — sounds insincere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Flat intonation is heard as rude or uninterested — and nobody will ever tell you. That is why it must be taught.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opportunity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opportunity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/ˌɒpəˈtjuːnəti/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chance to do something good.</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50" b="1" dirty="0">
                <a:solidFill>
                  <a:srgbClr val="12211B"/>
                </a:solidFill>
                <a:latin typeface="Calibri" pitchFamily="34" charset="0"/>
                <a:ea typeface="Calibri" pitchFamily="34" charset="-122"/>
                <a:cs typeface="Calibri" pitchFamily="34" charset="-120"/>
              </a:rPr>
              <a:t>This is a great opportunity. I had the opportunity to work abroad.</a:t>
            </a:r>
            <a:endParaRPr lang="en-US" sz="14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FIVE syllables, stress on the THIRD: op-por-TU-ni-ty. Three of the five vowels are schwas.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experience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experience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/ɪkˈspɪəriəns/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650" dirty="0">
                <a:solidFill>
                  <a:srgbClr val="12211B"/>
                </a:solidFill>
                <a:latin typeface="Calibri" pitchFamily="34" charset="0"/>
                <a:ea typeface="Calibri" pitchFamily="34" charset="-122"/>
                <a:cs typeface="Calibri" pitchFamily="34" charset="-120"/>
              </a:rPr>
              <a:t>Knowledge and skill you get from doing something over time.</a:t>
            </a:r>
            <a:endParaRPr lang="en-US" sz="16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She has five years of experience. I have experience in sales.</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Stress on the SECOND syllable: ex-PE-ri-ence. And as “knowledge” it is UNCOUNTABLE — never “experiences” in that sense.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development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development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/dɪˈveləpmənt/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process of growing or improving.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He works in rural development. The development of the project took a year.</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Stress on the SECOND syllable: de-VEL-op-ment. And it contains /v/ — one of your six target sounds.</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comfortable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comfortable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/ˈkʌmftəbl/</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Physically relaxed, or feeling at ease.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50" b="1" dirty="0">
                <a:solidFill>
                  <a:srgbClr val="12211B"/>
                </a:solidFill>
                <a:latin typeface="Calibri" pitchFamily="34" charset="0"/>
                <a:ea typeface="Calibri" pitchFamily="34" charset="-122"/>
                <a:cs typeface="Calibri" pitchFamily="34" charset="-120"/>
              </a:rPr>
              <a:t>The chair is comfortable. I'm not comfortable speaking in public.</a:t>
            </a:r>
            <a:endParaRPr lang="en-US" sz="14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THREE syllables when spoken, not four: COMF-t'-bl. The “or” disappears completely.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necessary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necessary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/ˈnesəsəri/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Needed. Something you must have or do.</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Is it necessary to come early? Bring the necessary documents.</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NE-ce-ssa-ry. The three unstressed vowels are all schwas.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SOUND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Word stress rules that actually work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English stress looks random. These four patterns are not.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657600"/>
                <a:gridCol w="487649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Stress goes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-tion  ·  -sion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on the syllable BEFORE 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educaTION · deciSION · informaTION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-ity  ·  -ety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two syllables before 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opportUNity · abIlity · socIety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-ic  ·  -ical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on the syllable BEFORE 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econOMic · politIcal · specIFic</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-ee  ·  -eer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ON the ending itself</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employEE · engineER · volunteER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These four endings cover thousands of words. Learn the pattern once and you never have to learn those words individually.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SOUND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Same word, different stress, different job</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Nouns take the stress at the front. Verbs take it at the back.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NOUN — stress first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REcord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PREsent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an INcrease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PROduce (rare)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an OBject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CONtract</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VERB — stress second</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reCORD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preSENT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inCREASE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proDUCE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obJECT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to conTRACT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Roughly a hundred English words work this way. The spelling never changes — only the beat does.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SOUND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ends of words — where meaning gets lost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Dropping a final consonant deletes grammar the listener needs.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384048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If you drop</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 listener loses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it clearly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final -s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plural, or he/she/it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he workS · three bookS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final -ed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past tense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workED · she askED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final -t  /  -d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whole word sometimes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wenT · nexT · fasT · builD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final -n  /  -ng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which word you said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thin / thing · win / wing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-ed rule from Level 2:  /t/ after voiceless — walked.   /d/ after voiced — played.   /ɪd/ only after t or d — wanted.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SOUND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Connected speech — why you sound separated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Fluent English joins words together. So should you.</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6309360" cy="4059936"/>
          </a:xfrm>
          <a:prstGeom prst="roundRect">
            <a:avLst>
              <a:gd name="adj" fmla="val 3153"/>
            </a:avLst>
          </a:prstGeom>
          <a:solidFill>
            <a:srgbClr val="EDF3EF"/>
          </a:solidFill>
          <a:ln w="15875">
            <a:solidFill>
              <a:srgbClr val="3F5BD9"/>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THREE WAYS ENGLISH JOINS WORDS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1.  CONSONANT + VOWEL  →  join them</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     “an apple”     →  “a-napple”</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     “pick it up”  →  “pi-ki-tup”</a:t>
            </a:r>
            <a:endParaRPr lang="en-US" sz="1700" dirty="0"/>
          </a:p>
          <a:p>
            <a:pPr indent="0" marL="0">
              <a:lnSpc>
                <a:spcPct val="138000"/>
              </a:lnSpc>
              <a:buNone/>
            </a:pP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2.  SAME SOUND TWICE  →  say it once</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     “next time”  →  “nex-time”</a:t>
            </a:r>
            <a:endParaRPr lang="en-US" sz="1700" dirty="0"/>
          </a:p>
          <a:p>
            <a:pPr indent="0" marL="0">
              <a:lnSpc>
                <a:spcPct val="138000"/>
              </a:lnSpc>
              <a:buNone/>
            </a:pP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3.  /t/ BETWEEN VOWELS  →  softens</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     “a lot of”  →  “a lo-dof”</a:t>
            </a:r>
            <a:endParaRPr lang="en-US" sz="170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WHY THIS MATTERS BOTH WAYS</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Saying every word separately sounds slow and effortful.</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It also makes you harder to follow, not easier.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And if you never JOIN, you never learn to HEAR joins.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This is the producer's side of Level 2 Module 7.</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SOUND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Put it all together — five things to check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order of how much difference each one makes.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Is the stress on the right syllable?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Biggest single fix. Wrong stress hides the word completely.</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unstressed syllables weak?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Schwa. Saying every vowel fully destroys the stress pattern.</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six target sounds right?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/v/ · /p/ · /θ/ /ð/ · /ɪ/ /iː/ · /æ/ /e/ · initial clusters.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ENDS of words there?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 and -ed carry grammar the listener cannot guess.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Does the intonation go the right way?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Down for statements, up for yes/no questions. Never flat.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Guided examples 1 — where does the stress go?</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the rules from slide 16.</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“information” — which syllable?</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in-for-MA-tion.</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The -tion rule: stress falls on the syllable immediately before the ending. Always.</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“opportunity” — which syllable?</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op-por-TU-ni-ty.</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-ity rule: two syllables before the ending. Same for ability, security, activity.</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“employee” — which syllable?</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em-ploy-EE.</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-ee ending takes the stress itself. It is the exception, and it is worth knowing.</a:t>
            </a:r>
            <a:endParaRPr lang="en-US" sz="11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noun or verb?</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stress tells you which.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 need to ___ this meeting.”  REcord or reCORD?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reCORD — it is a verb here.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Verbs take the stress on the second syllable. The spelling is identical; only the beat differs.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“Sales showed a big ___.”  INcrease or inCREASE?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INcrease — it is a noun here.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Nouns take the stress at the front. “A big INcrease”, but “prices inCREASED”.</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Why does this matter?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 listener uses stress to decide which word class you meant.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Wrong stress makes them briefly parse the sentence wrongly, which costs a second of comprehension.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the schwa</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vowels get swallowed?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“comfortable” — how many syllables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Three: COMF-t'-bl.</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“or” disappears entirely. The spelling shows four; speech has three.</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“development” — which vowels are schwas?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 first, third and fourth: d/ə/-VEL-/ə/p-m/ə/nt.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Only the stressed syllable keeps a full vowel. That is the rule, in every long English word.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Should you pronounce every vowel clearly?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 that makes you HARDER to understand.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Full vowels everywhere destroy the stress pattern the listener is using to identify the word.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the ends of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does the listener lose?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You say “he work here”. What did the listener lose?</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The -s, which marks he/she/it.</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Nothing in the context replaces it. The grammar was carried by a sound you dropped.</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You say “I walk to Adama yesterday”. What is missing?</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The -ed. It should be “walked”.</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Without it the sentence sounds present tense, and “yesterday” now contradicts the verb.</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How do you say “walked”?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/wɔːkt/ — one syllable, ending in a /t/ sound.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-ed after a voiceless sound is /t/. It never adds a syllable unless the verb ends in t or 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intonation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Up, down, or flat?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“Where do you work?” — which way?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DOWN at the end.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Wh- questions fall. Rising here sounds doubtful or challenging, which is not what you meant.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“You're coming tomorrow?” — which way?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UP at the end.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yes/no question rises. The rise is what makes it a question — the word order here is a statement.</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say “Thank you” completely flat. How does it sound?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Insincere, or even rude.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Flat intonation reads as an attitude, not as a language error — and nobody will ever tell you.</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Being asked to repeat — and fixing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Abel is on the phone. The problem is one sound.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I'd like to book a room for the fifteenth.</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 the fiftieth?</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the fifTEENTH. One five.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Ah, the fifteenth. And your name?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Abel Bekele. B for Bahir Dar, E-K-E-L-E.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Got it. Thank you, Mr Bekele.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Abel does two things right: he stresses the -TEENTH, and he confirms with digits. Neither is an apology.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Stress changing the meaning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Hana and Dawit are talking past each other. Watch which word is stressed.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Did YOU write this report?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Sara did. Why — is something wrong?</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I meant: did you WRITE this report, or just check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Ah. I checked it. Sara wrote it.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Right. And is it FINISHED, or nearly finished?</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Nearly. Two more days.</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Hana's first question stressed the wrong word, so Dawit answered a different question. One misplaced beat cost two turns.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to say when you are not understood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responses. None of them is an apology for your accent.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“One five, not five zero.”</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Digits remove all doubt about numbers.</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“B for Bahir Dar.”</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Fixes B, V and P instantly on the phone.</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Repeat with the stress moved</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“fifTEENTH” — do not just say it louder.</a:t>
            </a:r>
            <a:endParaRPr lang="en-US" sz="170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“Shall I write it down?”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For names, addresses and anything unusual.</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Use a different word</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If “vehicle” fails, say “car”. Do not fight it.</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“Let me say that another way.”</a:t>
            </a:r>
            <a:endParaRPr lang="en-US" sz="1600" dirty="0"/>
          </a:p>
          <a:p>
            <a:pPr indent="0" marL="0">
              <a:lnSpc>
                <a:spcPct val="102000"/>
              </a:lnSpc>
              <a:spcBef>
                <a:spcPts val="337"/>
              </a:spcBef>
              <a:buNone/>
            </a:pPr>
            <a:r>
              <a:rPr lang="en-US" sz="1260" dirty="0">
                <a:solidFill>
                  <a:srgbClr val="3A473F"/>
                </a:solidFill>
                <a:latin typeface="Calibri" pitchFamily="34" charset="0"/>
                <a:ea typeface="Calibri" pitchFamily="34" charset="-122"/>
                <a:cs typeface="Calibri" pitchFamily="34" charset="-120"/>
              </a:rPr>
              <a:t>Rebuild the whole sentence, do not repeat it.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have five years of ______ in development work.</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five years of what?</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Ex-PE-ri-ence. Five years. Would this be a good ______ for me?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could be. Is it ______ for you to travel?</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I'm ______ with travelling, yes. That's not a problem.</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Let's talk next week.</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“experience”  ·  “opportunity”  ·  “necessary”  ·  “comfortable”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Pair practice — say it so it lands first time</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the five vocabulary words. Partner marks the stress they heard.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Compare with the correct pattern.</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ten minimal pairs. Partner writes which word they heard.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ship/sheep · bad/bed · very/ferry.</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one sentence five ways, stressing a different word each time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says which meaning they got.</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Spell your name and address on the phone, back to back</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writes it. Check every letter.</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minimal pairs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787652"/>
            <a:ext cx="457200" cy="457200"/>
          </a:xfrm>
          <a:prstGeom prst="ellipse">
            <a:avLst/>
          </a:prstGeom>
          <a:solidFill>
            <a:srgbClr val="E4572E"/>
          </a:solidFill>
          <a:ln/>
        </p:spPr>
      </p:sp>
      <p:sp>
        <p:nvSpPr>
          <p:cNvPr id="12" name="Text 8"/>
          <p:cNvSpPr txBox="1"/>
          <p:nvPr/>
        </p:nvSpPr>
        <p:spPr>
          <a:xfrm>
            <a:off x="786384" y="17876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9"/>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very / ferry  ·  vote / boat  ·  leave / leaf</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/v/ — teeth on lip, voice ON.</a:t>
            </a:r>
            <a:endParaRPr lang="en-US" sz="1630" dirty="0"/>
          </a:p>
        </p:txBody>
      </p:sp>
      <p:sp>
        <p:nvSpPr>
          <p:cNvPr id="14" name="Shape 10"/>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1"/>
          <p:cNvSpPr/>
          <p:nvPr/>
        </p:nvSpPr>
        <p:spPr>
          <a:xfrm>
            <a:off x="786384" y="2510028"/>
            <a:ext cx="457200" cy="457200"/>
          </a:xfrm>
          <a:prstGeom prst="ellipse">
            <a:avLst/>
          </a:prstGeom>
          <a:solidFill>
            <a:srgbClr val="E4572E"/>
          </a:solidFill>
          <a:ln/>
        </p:spPr>
      </p:sp>
      <p:sp>
        <p:nvSpPr>
          <p:cNvPr id="16" name="Text 12"/>
          <p:cNvSpPr txBox="1"/>
          <p:nvPr/>
        </p:nvSpPr>
        <p:spPr>
          <a:xfrm>
            <a:off x="786384" y="25100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3"/>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pay / bay  ·  pin / bin  ·  cup / cub</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/p/ — lips together, then a puff of air.</a:t>
            </a:r>
            <a:endParaRPr lang="en-US" sz="1630" dirty="0"/>
          </a:p>
        </p:txBody>
      </p:sp>
      <p:sp>
        <p:nvSpPr>
          <p:cNvPr id="18" name="Shape 14"/>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5"/>
          <p:cNvSpPr/>
          <p:nvPr/>
        </p:nvSpPr>
        <p:spPr>
          <a:xfrm>
            <a:off x="786384" y="3232404"/>
            <a:ext cx="457200" cy="457200"/>
          </a:xfrm>
          <a:prstGeom prst="ellipse">
            <a:avLst/>
          </a:prstGeom>
          <a:solidFill>
            <a:srgbClr val="E4572E"/>
          </a:solidFill>
          <a:ln/>
        </p:spPr>
      </p:sp>
      <p:sp>
        <p:nvSpPr>
          <p:cNvPr id="20" name="Text 16"/>
          <p:cNvSpPr txBox="1"/>
          <p:nvPr/>
        </p:nvSpPr>
        <p:spPr>
          <a:xfrm>
            <a:off x="786384" y="32324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think / sink  ·  three / tree  ·  they / day</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/θ/ and /ð/ — tongue between the teeth.</a:t>
            </a:r>
            <a:endParaRPr lang="en-US" sz="1630" dirty="0"/>
          </a:p>
        </p:txBody>
      </p:sp>
      <p:sp>
        <p:nvSpPr>
          <p:cNvPr id="22" name="Shape 18"/>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9"/>
          <p:cNvSpPr/>
          <p:nvPr/>
        </p:nvSpPr>
        <p:spPr>
          <a:xfrm>
            <a:off x="786384" y="3954780"/>
            <a:ext cx="457200" cy="457200"/>
          </a:xfrm>
          <a:prstGeom prst="ellipse">
            <a:avLst/>
          </a:prstGeom>
          <a:solidFill>
            <a:srgbClr val="E4572E"/>
          </a:solidFill>
          <a:ln/>
        </p:spPr>
      </p:sp>
      <p:sp>
        <p:nvSpPr>
          <p:cNvPr id="24" name="Text 20"/>
          <p:cNvSpPr txBox="1"/>
          <p:nvPr/>
        </p:nvSpPr>
        <p:spPr>
          <a:xfrm>
            <a:off x="786384" y="39547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1"/>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ship / sheep  ·  fit / feet  ·  live / leave</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/ɪ/ short and relaxed, /iː/ long and tense.</a:t>
            </a:r>
            <a:endParaRPr lang="en-US" sz="1630" dirty="0"/>
          </a:p>
        </p:txBody>
      </p:sp>
      <p:sp>
        <p:nvSpPr>
          <p:cNvPr id="26" name="Shape 22"/>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23"/>
          <p:cNvSpPr/>
          <p:nvPr/>
        </p:nvSpPr>
        <p:spPr>
          <a:xfrm>
            <a:off x="786384" y="4677156"/>
            <a:ext cx="457200" cy="457200"/>
          </a:xfrm>
          <a:prstGeom prst="ellipse">
            <a:avLst/>
          </a:prstGeom>
          <a:solidFill>
            <a:srgbClr val="E4572E"/>
          </a:solidFill>
          <a:ln/>
        </p:spPr>
      </p:sp>
      <p:sp>
        <p:nvSpPr>
          <p:cNvPr id="28" name="Text 24"/>
          <p:cNvSpPr txBox="1"/>
          <p:nvPr/>
        </p:nvSpPr>
        <p:spPr>
          <a:xfrm>
            <a:off x="786384" y="46771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5"/>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bad / bed  ·  man / men  ·  sat / set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/æ/ mouth wide, /e/ mouth half open.</a:t>
            </a:r>
            <a:endParaRPr lang="en-US" sz="1630" dirty="0"/>
          </a:p>
        </p:txBody>
      </p:sp>
      <p:sp>
        <p:nvSpPr>
          <p:cNvPr id="30" name="Shape 26"/>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7"/>
          <p:cNvSpPr/>
          <p:nvPr/>
        </p:nvSpPr>
        <p:spPr>
          <a:xfrm>
            <a:off x="786384" y="5399532"/>
            <a:ext cx="457200" cy="457200"/>
          </a:xfrm>
          <a:prstGeom prst="ellipse">
            <a:avLst/>
          </a:prstGeom>
          <a:solidFill>
            <a:srgbClr val="E4572E"/>
          </a:solidFill>
          <a:ln/>
        </p:spPr>
      </p:sp>
      <p:sp>
        <p:nvSpPr>
          <p:cNvPr id="32" name="Text 28"/>
          <p:cNvSpPr txBox="1"/>
          <p:nvPr/>
        </p:nvSpPr>
        <p:spPr>
          <a:xfrm>
            <a:off x="786384" y="53995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29"/>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street  ·  spring  ·  school  ·  strong</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No vowel before or inside the cluster.</a:t>
            </a:r>
            <a:endParaRPr lang="en-US" sz="16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the stress drill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Tap the desk on the strong syllable. Every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twenty long words, tapping once on the stress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One tap per word. Only one.</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the same words with the WRONG stress on purpose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partner says what they thought they heard.</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the photograph set: photograph, photographer, photographic</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stress moves every time.</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a noun/verb pair in two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 REcord” and “to reCORD”.</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Sound drill — the six sounds in real sentences</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Isolated words are easy. Sentences are the real test.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these slowly first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Seven very brave villagers.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People pay a big price.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think this is the third thing.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Please leave the ship, not the sheep.</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bad bed is in the back.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strong student stopped.</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Watch out for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/v/ four times — voice ON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/p/ and /b/ alternating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/θ/ and /ð/ in one line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/ɪ/ and /iː/ in one line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/æ/ and /e/ in one line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str- and st- clusters</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each one three times: very slowly, at normal speed, then fast. If it survives fast, you have it.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intonation and meaning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Your voice does the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meeting is at four” as a statement, then as a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Only your voice changes. Not one word.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five wh- questions with the voice going DOWN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Where · when · why · how · what.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“Thank you” flat, then normally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 partner says how each one felt.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“I didn't say she took it” five ways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Partner identifies the meaning each time.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Disagree politely, then bluntly — same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“I'm not sure that's right.” Change only the tune.</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Compare it with Module 1's recording.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five vocabulary words with correct stress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opportunity · experience · development · comfortable · necessary.</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six minimal pairs clearly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from each of the six target sounds.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the six sentences from slide 33 at normal speed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All six sounds in context.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sentence three ways, stressing a different word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State the meaning you intended each time.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Speak for 30 seconds about your work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Check the ends of your words: -s and -ed.</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minimal pair dictation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 did you hear? Listen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ONE WORD FROM EACH PAIR</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1.  very  /  ferry</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2.  pin  /  bin</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3.  think  /  sink</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4.  ship  /  sheep</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5.  bad  /  bed</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6.  vote  /  boat</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7.  three  /  tree</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8.  live  /  leave</a:t>
            </a:r>
            <a:endParaRPr lang="en-US" sz="17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Write the word you hear each time.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Then your teacher reads the answers.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Count your score out of 8.</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sound was hardest for you?</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That is the sound to practise this week.</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what your score means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7 or 8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Your ear is good. Now work on producing the sounds.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Hearing comes before saying. A high score means the next work is with your mouth, not your ear.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to 6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Normal at this level. Drill the pairs you missed daily.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Most learners at B1 score here. Ten minutes a day on two pairs moves it quickly.</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Below 4</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Start with just ONE pair and do it every day for a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Trying to fix six sounds at once fixes none of them. One at a time is faster overall.</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Which items are usually hardest?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4 (ship/sheep) and 8 (live/leave) — the /ɪ/ and /iː/ pair.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Many languages have only one sound in this space, so the distinction has to be built from nothing.</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if you hear it but cannot say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That is normal and it is good news.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Hearing always develops first. The production follows with physical practice, usually within weeks.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which word is stressed?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sentence, different meaning each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EACH WITH THE MARKED STRESS</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1.  “I didn't say SHE took it.”</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2.  “We need it by FRIDAY.”</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3.  “I said the RED one.”</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4.  “SARA wrote the report.”</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5.  “Can you send it TODAY?”</a:t>
            </a:r>
            <a:endParaRPr lang="en-US" sz="1650" dirty="0"/>
          </a:p>
          <a:p>
            <a:pPr indent="0" marL="0">
              <a:lnSpc>
                <a:spcPct val="134000"/>
              </a:lnSpc>
              <a:buNone/>
            </a:pP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Read each one twice.</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Stress only the capitalised word.</a:t>
            </a:r>
            <a:endParaRPr lang="en-US" sz="165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1. Who does the speaker think took it?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2. What is the speaker emphasising?</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3. What colour did somebody else suggest?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4. Who did the listener think wrote it?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5. Is the speaker asking about the date or the task?</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“I didn't say SHE took it.”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speaker thinks somebody else took it.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Stressing “she” sets up a contrast with another person. The sentence denies her specifically.</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“We need it by FRIDAY.”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deadline is the point, not the task.</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Stress marks new or contrastive information. Here the date is what the listener needs to register.</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“I said the RED one.”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Somebody suggested a different colour.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correction is on the colour. The rest of the sentence is agreed and therefore unstressed.</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“SARA wrote the report.”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listener thought somebody else wrote it.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Stressing the subject corrects an assumption about who did it.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“Can you send it TODAY?”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date. The task is already agreed.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Same words, unstressed, would be a neutral request. The stress makes the timing the question.</a:t>
            </a:r>
            <a:endParaRPr lang="en-US" sz="11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fix a sound on your own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methods. All free, all effective.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Minimal pairs, ten minutes a day</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Two pairs only. Say them, record them, listen back. Frequency beats duration for muscle habits.</a:t>
            </a:r>
            <a:endParaRPr lang="en-US" sz="160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Record and compare</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Record yourself, then a native or fluent speaker saying the same words. You will hear the gap immediately.</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Shadowing for stress</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Speak along with audio one second behind. It trains rhythm and stress without any grammar work.</a:t>
            </a:r>
            <a:endParaRPr lang="en-US" sz="160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Look up the stress</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Every dictionary marks it. Check the stress of every new work word before you learn the meaning.</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the accent question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Skim it in 30 seconds. Then read it properly.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DOES YOUR ACCENT MATTER?</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Most English speakers today learned it as a second language. An Ethiopian accent, an Indian accent and a Nigerian accent are all normal English.</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What matters is narrower. Studies of intelligibility find that listeners cope easily with unfamiliar accents, but struggle badly with two things: stress in the wrong place, and missing sounds at the ends of words.</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“I never try to change a student's accent,” one teacher says. “I am very strict about six sounds and about stress. That is where the difficulty actually is.”</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The test is not whether you sound native. It is whether people ask you to repeat.</a:t>
            </a:r>
            <a:endParaRPr lang="en-US" sz="12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Skim: what is the main argument?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do listeners cope with easily?</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two things cause real difficulty?</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is the teacher strict about?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is “the practical test”?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Do you agree? Why or why not?</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Mark each answer D (direct) or I (inference).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Are most English speakers in the world native speakers?</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two things cause real difficulty for listeners?</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Does the teacher try to change accents?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Would the teacher correct a student who said “DE-vel-op-ment”?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would you know if your pronunciation had improved?</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mostly native speakers?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 most learned English as a second language.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This reframes the whole question. An international accent is the normal case, not a deviation.</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the real difficulties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Stress in the wrong place, and missing sounds at the ends of words.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Exactly slides 7 and 18. Two problems, both fixable, neither about accent.</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does she change accents?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never.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She separates accent from intelligibility, which is the distinction the module is built on.</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would she correct “DE-vel-op-ment”?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Yes — it is a stress error. (Inference)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text never names the word. You apply her stated policy to a new case.</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how would you know?</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People would ask you to repeat less often. (Inference)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measurable test that needs no teacher, no equipment and no native speaker to judge you.</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stress-marked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The CAPITALS are the strong syllables.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 TAPPING THE CAPITALS</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“I have five YEARS of ex-PE-ri-ence in</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de-VEL-op-ment WORK. I started as a</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vol-un-TEER, and then I had the</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op-por-TU-ni-ty to MAN-age a small</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PRO-ject in a-DA-ma.</a:t>
            </a:r>
            <a:endParaRPr lang="en-US" sz="1650" dirty="0"/>
          </a:p>
          <a:p>
            <a:pPr indent="0" marL="0">
              <a:lnSpc>
                <a:spcPct val="134000"/>
              </a:lnSpc>
              <a:buNone/>
            </a:pP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It was not COM-fort-a-ble at first, but</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it was NE-ce-ssa-ry, and I LEARNED a</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lot from it.”</a:t>
            </a:r>
            <a:endParaRPr lang="en-US" sz="165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Read it aloud, tapping every capital.</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Find all five vocabulary words.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word has the stress on the LAST syllable?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many syllables do you SAY in “comfortable”?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Now read it again without looking at the capitals.</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the five vocabulary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experience · development · opportunity · comfortable · necessary.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five appear naturally in one short professional answer, which is exactly where you will need them.</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stress on the LAST syllable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“volunteer” — vol-un-TEER.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-eer ending takes the stress itself, like employee and engineer. It is the exception from slide 16.</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syllables in “comfortable”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Three when spoken: COMF-t'-bl.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spelling shows four. The “or” disappears entirely in normal speech.</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which two have stress on the second syllable?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ex-PE-ri-ence and de-VEL-op-ment.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Both are extremely common at work and both are usually stressed wrongly at the front.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where is the stress in “opportunity”?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third syllable: op-por-TU-ni-ty.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-ity rule from slide 16: two syllables before the ending. Same as ability and security.</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mark the stress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Use the rules from slide 16. Then say each word aloud.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information  ·  education  ·  decision</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opportunity  ·  ability  ·  security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economic  ·  political  ·  specific</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employee  ·  engineer  ·  volunteer</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experience  ·  development  ·  necessary</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which word is stressed?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For each meaning, decide which word carries the stress.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You want to say the deadline matters, not the task.  “We need it by Friday.”</a:t>
            </a:r>
            <a:endParaRPr lang="en-US" sz="19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You want to correct who wrote it.  “Sara wrote the report.”</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You want to correct the colour.  “I said the red one.”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You want to know about the date, not the task.  “Can you send it today?”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5.  You are denying that a particular person did it.  “I didn't say she took it.”</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your pronunciation plan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six sentences. Use experience, opportunity, development and necessary at least once each.</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Which TWO of the six sounds are hardest for you? How do you know?</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Which minimal pairs will you practise this week?</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When and where will you do your ten minutes a day?</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Which work words do you need to check the stress of?</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How will you know whether it worked?</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What will you say when somebody does not understand you?</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which two sounds?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“/v/ and /ɪ/ vs /iː/ — I scored 4 out of 8 and both errors were there.”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Evidence, not a feeling. The dictation score tells you where the problem actually is.</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which pairs?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“very/ferry, vote/boat, ship/sheep, live/leave.”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Four pairs covering two sounds. Ten minutes a day is enough for this many and no more.</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when and where?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“In the taxi to work, every morning.”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specific time attached to something you already do every day. That is how a habit survives.</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which work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“development, opportunity, experience, necessary.”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Check the stress of every new work word before learning the meaning, or you learn it twice.</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how will you know?</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will count repeat requests for a week, then again next month.”</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only measurement that matters, and it needs no teacher and no equipment.</a:t>
            </a:r>
            <a:endParaRPr lang="en-US" sz="11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pronunciation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checks, in order of importance.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Is the stress on the right syllable?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biggest single fix. Check it for every new word.</a:t>
            </a:r>
            <a:endParaRPr lang="en-US" sz="160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unstressed syllables weak?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Schwa. Do not pronounce every vowel clearly.</a:t>
            </a:r>
            <a:endParaRPr lang="en-US" sz="160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six target sounds right?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Work on two at a time, never all six.</a:t>
            </a:r>
            <a:endParaRPr lang="en-US" sz="160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Are the ends of words there?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 and -ed carry grammar nothing else can replace.</a:t>
            </a:r>
            <a:endParaRPr lang="en-US" sz="160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7A4FBF"/>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Does the intonation move?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Down for statements, up for yes/no. Never flat.</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What matters most for being understood?</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sounding native     b) word stress     c) speaking fast</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Where is the stress in “opportunity”?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OP-por-tu-ni-ty     b) op-por-TU-ni-ty     c) op-por-tu-NI-ty</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How many syllables do you SAY in “comfortable”?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two     b) three     c) four</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“Where do you work?” — your voice should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go up     b) go down     c) stay flat</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Dropping the final -ed removes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nothing     b) the past tense     c) the plural</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mark the stress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word and mark the stressed syllable.</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development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necessary</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information</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employee</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experience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political</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Sounds, rules and intonation.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SOUND to the INSTRUCTION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/v/     2. /p/     3. /θ/     4. str-</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tongue between the teeth     b) lips together then a puff</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no vowel before it     d) teeth on lip, voice on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ENDING to the STRESS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-tion     2. -ity     3. -ee          a) two syllables before     b) on the ending     c) one syllable before</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Part 3 — match the SENTENCE TYPE to the INTONATION</a:t>
            </a:r>
            <a:endParaRPr lang="en-US" sz="1550" dirty="0"/>
          </a:p>
          <a:p>
            <a:pPr indent="0" marL="0">
              <a:lnSpc>
                <a:spcPct val="102000"/>
              </a:lnSpc>
              <a:spcBef>
                <a:spcPts val="274"/>
              </a:spcBef>
              <a:buNone/>
            </a:pPr>
            <a:r>
              <a:rPr lang="en-US" sz="1190" dirty="0">
                <a:solidFill>
                  <a:srgbClr val="3A473F"/>
                </a:solidFill>
                <a:latin typeface="Calibri" pitchFamily="34" charset="0"/>
                <a:ea typeface="Calibri" pitchFamily="34" charset="-122"/>
                <a:cs typeface="Calibri" pitchFamily="34" charset="-120"/>
              </a:rPr>
              <a:t>1. statement     2. yes/no question     3. wh- question          a) up ↗     b) down ↘     c) down ↘</a:t>
            </a:r>
            <a:endParaRPr lang="en-US" sz="15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find the schwa</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word and mark every schwa syllable.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banana</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about</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photograph</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development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necessary</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noun or verb?</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Say each sentence and mark the stress on the underlined word.</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We need to record the meeting.</a:t>
            </a:r>
            <a:endParaRPr lang="en-US" sz="17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I have a record of the payment.</a:t>
            </a:r>
            <a:endParaRPr lang="en-US" sz="17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Prices will increase next month.</a:t>
            </a:r>
            <a:endParaRPr lang="en-US" sz="17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There was a big increase in sales.</a:t>
            </a:r>
            <a:endParaRPr lang="en-US" sz="17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Can you present the report on Friday?</a:t>
            </a:r>
            <a:endParaRPr lang="en-US" sz="17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6.  I bought her a present.</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 should try to lose your accent.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Wrong word stress can make a word unrecognisable.</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should pronounce every vowel clearly.</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 questions end with the voice going up.</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Dropping the final -s can remove grammar the listener needs.</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Flat intonation can sound rude.</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Which two sounds are hardest for you? What is your evidence?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Which word do people most often ask you to repeat?</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will you do instead of repeating it louder?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Name three work words whose stress you should check.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How often are you asked to repeat, in a normal week?</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Your partner is the test.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Your partner writes down what they heard.</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eight minimal pairs. Partner writes which word they heard.</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Say the five vocabulary words. Partner marks the stress they heard.</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one sentence five ways. Partner identifies each meaning.</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Read a short paragraph. Partner counts dropped word endings.</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Work in pairs. Say everything aloud — this is not a written exercise.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Mark the stress on twelve words your teacher gives you.</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Then say all twelve.</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Say the six sentences from slide 33 at full speed.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Partner counts the sounds you lost.</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Read the stress-marked passage from slide 44 without the capitals.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Partner marks what they heard.</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Say five noun/verb pairs in sentences.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record · increase · present · object · contract.</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Speak for 60 seconds. Partner counts dropped -s and -ed endings.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Aim for fewer than three.</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does pronouncing every vowel clearly make you harder to understand?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the listener uses to find a word.</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wrong stress worse than a wrong consonant?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Which one hides the whole word?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Should a learner try to sound British or American?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reasons either way.</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Why is flat intonation a bigger problem than it seems?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Who will tell you about it?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1 · What matters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Question 20 is spoken.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What matters most for being understood?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sounding native     b) word stress     c) speed</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Name two things listeners struggle with.</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Two answers.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Does having an accent make you hard to understand?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Yes or no, and why.</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Name the six target sounds.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Six answers.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2 · Word stress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Mark the stress: opportunity.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it in syllables.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Mark the stress: development.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it in syllables.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Where does the stress go before -tion?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“I need to record it.” Which syllable is stressed?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RE-cord     b) re-CORD</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Module 2 quiz — Part 3 · The schwa and endings</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What is the schwa?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How many syllables do you SAY in “comfortable”?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two     b) three     c) four</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What does dropping the final -ed remove?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How is “walked” pronounced?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or two syllables?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Module 2 quiz — Part 4 · Sentence stress and intonation</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“I didn't say SHE took it.” What does this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Which way does your voice go in a wh- question?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up     b) down</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Which way in a yes/no question?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up     b) down</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How does flat intonation sound to a listener?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or two words.</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5 · Doing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Somebody does not understand your word. Name two things to try.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Name two ways to practise a sound alone.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How would you know your pronunciation had improved?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say five words and five minimal pairs.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Assessed live by your teacher.</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what matters most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word stress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Wrong stress hides the whole word. A wrong consonant usually leaves it guessable.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two struggles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Stress in the wrong place, and missing sounds at the ends of words.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are fixable and neither has anything to do with having an accent.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does an accent make you hard to understand?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Listeners cope easily with unfamiliar accents.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struggle with wrong stress and missing endings — which are different things entirely.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six sounds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/v/ · /p/ · /θ/ and /ð/ · /ɪ/ and /iː/ · /æ/ and /e/ · initial clusters.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Work on two at a time. Trying to fix all six at once fixes none of them.</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opportunity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op-por-TU-ni-ty — third syllable.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-ity rule: stress falls two syllables before the ending. Same as ability and security.</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development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de-VEL-op-ment — second syllable.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initial stress. This is one of the two most commonly mis-stressed work words in English.</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before -tion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 the syllable immediately before the ending.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informATion, educATion, decISion. The rule holds for thousands of words.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“I need to record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re-CORD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a verb here. Verbs take second-syllable stress; the noun REcord takes it at the front.</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the schwa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short, weak “uh” sound in unstressed syllables.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commonest sound in English. It only ever appears where there is no stress.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“comfortable”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three — COMF-t'-bl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“or” disappears completely. The spelling shows four syllables; speech has three.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dropping final -ed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past tense.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Nothing in the context replaces it, so the listener hears a present-tense verb in a past-tense sentence.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“walked”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One syllable: /wɔːkt/, ending in a /t/ sound.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-ed adds a syllable only after t or d — wanted, needed. Otherwise it is just /t/ or /d/.</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“I didn't say SHE took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Somebody else took it — the speaker is denying that she did.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Stress marks a contrast with an unnamed alternative. The meaning is in what was not said.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wh- questions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down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Rising here sounds doubtful or challenging. It is one of the commonest intonation transfer errors.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yes/no questions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up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rise is what makes it a question, especially when the word order is that of a statement.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flat intonation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Rude, bored or insincere.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heard as an attitude rather than a language error, so nobody ever corrects it for you.</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two things to try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Move the stress and repeat · spell it out · use a different word · rebuild the sentence.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Repeating the same thing louder almost never works, and it is what most learners do.</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two solo methods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Minimal pairs daily · record and compare · shadowing · look up the stress.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four are free and none needs a partner or a native speaker.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how would you know?</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People would ask you to repeat less often.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only measurement that matters, and one you can take yourself in any ordinary week.</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Assessed on what the listener writes down, not on how it felt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Producing a distinction and believing you produced one are different things. Only the listener's record settles it.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Two sounds only.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Minimal pairs for your two hardest sounds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Four pairs, twenty times each, out loud.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Look up the stress of ten work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each one in syllables with the stress marked.</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Shadow five minutes of English audio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Copy the rhythm, not the accent.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Record yourself reading slide 44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Listen back and mark the stress you actually produced.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Count how many times you are asked to repeat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the number down. This is your baseline.</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written pronunciation plan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Six sentences, using the four target words correctly.</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Twenty work words with the stress marked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Checked in a dictionary, not guessed.</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words · six pairs · six sentences · three stress placements · 30 seconds free speech.</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Pronunciation plan — 8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Six sentences (2) · two sounds only, chosen from evidence (2) · specific time and place (2) · four target words used correctly (2).</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Twenty stressed words — 7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Twenty words (2) · stress marked correctly (4) · work-relevant words chosen (1).</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Five words stressed correctly (3) · six pairs distinguishable (3) · three stress placements clear (2) · endings audible in free speech (2).</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drill two sounds daily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actually matters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Stress and six sounds. Not your accent, and not speed.</a:t>
            </a:r>
            <a:endParaRPr lang="en-US" sz="175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six sounds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/v/ · /p/ · /θ/ /ð/ · /ɪ/ /iː/ · /æ/ /e/ · initial clusters.</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Word stress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One strong syllable per word. Four rules cover thousands of words.</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schwa</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Unstressed syllables go weak. Do not say every vowel clearly.</a:t>
            </a:r>
            <a:endParaRPr lang="en-US" sz="160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Sentence stress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Which word you stress changes what the sentence means.</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Intonation</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Down for statements, up for yes/no. Never flat.</a:t>
            </a:r>
            <a:endParaRPr lang="en-US" sz="1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pronunciation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six sounds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/v/  teeth on lip, voice 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/p/  lips together, then a puff</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/θ/ /ð/  tongue between the teeth</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/ɪ/ /iː/  short and relaxed vs long</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/æ/ /e/  wide vs half open</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Stress rules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-tion · -sion  →  one syllable before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-ity · -ety  →  two syllables before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-ic · -ical  →  one syllable before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-ee · -eer  →  ON the ending</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Nouns first, verbs second.</a:t>
            </a:r>
            <a:endParaRPr lang="en-US" sz="12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checks, in order</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Stress on the right syllable?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Unstressed syllables weak?</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Six target sounds right?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Ends of words there?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Does the intonation move?</a:t>
            </a:r>
            <a:endParaRPr lang="en-US" sz="12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When misunderstood</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Move the stress and repeat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Spell it: “B for Bahir Dar”</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Digits: “one five, not five zero”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Use a different word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Rebuild the whole sentence</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do not need a different accent. You need six sounds, the right stress, and endings that stay on.</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The measure of success is not sounding native. It is how often people ask you to repeat —</a:t>
            </a:r>
            <a:endParaRPr lang="en-US" sz="1750" dirty="0"/>
          </a:p>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and that is a number you can count yourself, this week, without any teacher.</a:t>
            </a:r>
            <a:endParaRPr lang="en-US" sz="17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3</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Accuracy &amp; Common Errors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The mistakes that survive to advanced level</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2 — Pronunciation Mastery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 Module 2 — Pronunciation Mastery</dc:title>
  <dc:subject>English course for Ethiopian learners — Level 3 Intermediate English</dc:subject>
  <dc:creator>English Learning Platform</dc:creator>
  <cp:lastModifiedBy>English Learning Platform</cp:lastModifiedBy>
  <cp:revision>1</cp:revision>
  <dcterms:created xsi:type="dcterms:W3CDTF">2026-07-28T10:17:38Z</dcterms:created>
  <dcterms:modified xsi:type="dcterms:W3CDTF">2026-07-28T10:17:38Z</dcterms:modified>
</cp:coreProperties>
</file>