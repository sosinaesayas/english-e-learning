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Lst>
  <p:notesMasterIdLst>
    <p:notesMasterId r:id="rId7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notesMaster" Target="notesMasters/notesMaster1.xml"/><Relationship Id="rId79" Type="http://schemas.openxmlformats.org/officeDocument/2006/relationships/presProps" Target="presProps.xml"/><Relationship Id="rId80" Type="http://schemas.openxmlformats.org/officeDocument/2006/relationships/viewProps" Target="viewProps.xml"/><Relationship Id="rId81" Type="http://schemas.openxmlformats.org/officeDocument/2006/relationships/theme" Target="theme/theme1.xml"/><Relationship Id="rId8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Whole module: four 60-minute lessons.
HOW TO TEACH: Open by doing something — write on the board, drink water, walk to the window — and narrating it: “I am writing. I am drinking. I am walking to the window.” Then say: “That is this module. Not what I do every day — what I am doing now.”
TIP: This module must be taught against Module 1, not after it. Every lesson should contain at least one direct contrast between the two tenses, or learners will use the continuous for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Read each objective and ask “Can you do this now?” Objective 5 is the one that matters most — say that choosing correctly between the two tenses is what this module is really for.
TIP: Return to this slide at the end of the module and ask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Task 3 is the diagnostic and the whole module in miniature. Most learners will answer both questions the same way. Do not correct — note it, because it is exactly what slide 9 fixes.
COMMON MISTAKES: Correct nothing in the warm-up.
TIP: Write two learners' answers to task 3 on the board, one under each question, and leave them there. You will return to them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Say both example sentences about yourself, with a gesture: sweep your hand wide for “every day”, point at the floor for “now”. The gesture makes the difference physical before it is grammatical.
COMMON MISTAKES: Learners who meet the continuous first tend to use it for everything: “I am going to school every day.” Teaching the two together, as this module does, prevents that.
TIP: Ask the class how their own language marks this difference. In Amharic it is marked differently, and naming that makes the English pattern easier to accept.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Demonstrate use 1 by narrating your own actions. Demonstrate use 3 with any picture. Use 2 is the hardest — give two examples and move on; it becomes clear with exposure.
COMMON MISTAKES: Use 2 confuses learners because it is not literally “now”. Do not over-explain it. The key idea is temporary, not permanent.
EXTRA EXAMPLES: Signal words: now · right now · at the moment · today · this week · this year.
TIP: Use 3 is what makes the exam picture-description task possible. It is also the most enjoyable, so lead with it if energy is low.
CLASSROOM ACTIVITY: Narrate the room: every learner says one sentence about what someone in the room is doing at this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Write the two parts in two boxes on the board and build ten sentences by filling both. Learners see that neither box can be empty.
COMMON MISTAKES: Dropping the auxiliary — “I working” — is the commonest error and comes straight from Level 1, where the verb “to be” was also dropped. Point out that it is the same verb and the same mistake.
EXTRA EXAMPLES: Note that this uses the verb “to be” from Level 1 Module 3. Learners already know am/is/are; they only have to add the -ing.
TIP: Frame it as good news: half of this tense is something they learned in Level 1. Only the -ing is new.
CLASSROOM ACTIVITY: Two-box drill: teacher says a person and a verb, learner produces both parts. “She — cook” → “She is cooking.” Thirty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Teach rule 1 and drill it hard. Then rule 2 with five verbs. Then rule 3, which is the hardest — write the last three letters of each verb on the board and show the vowel-consonant pattern.
COMMON MISTAKES: “Writeing” and “runing” are the two commonest. Rule 3 is genuinely difficult; accept a good attempt and correct without fuss.
EXTRA EXAMPLES: Sort these aloud: take, swim, listen, begin, drive, wait, put, open.
TIP: The contrast with Module 1 matters: study → studies for the -s form, but study → studying for -ing. Say both aloud together so the difference is heard.
CLASSROOM ACTIVITY: Three columns on the board. Teacher says a verb, a learner writes it in the right column with its -ing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Show the parallel with Level 1 explicitly. Write “She is a nurse” and “She is working” one above the other and make both negative, then both questions. The operation is identical.
COMMON MISTAKES: Learners import “do” and “does” from Module 1: “Does she working?” Point out that this tense already has a helping verb — am, is or are — so it does not need another.
EXTRA EXAMPLES: Ten questions to drill: What are you doing? Is he sleeping? Are they working today? Why are you laughing?
TIP: This is the easiest grammar point in Level 2 because learners already know the operation. Say so — an easy win after Module 1 is welcome.
CLASSROOM ACTIVITY: Statement to question: teacher says a positive sentence, learner produces the question and a short answer. Twenty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This is the most important slide in the module.
HOW TO TEACH: Read each pair aloud, left then right, and ask the class which is which before you say. Then return to the learners' own warm-up answers on the board and sort them into the two columns together.
COMMON MISTAKES: The right-hand column of row 3 is the temporary-situation use: they normally live in Gondar but are in Adama this year. Do not over-explain — say “this year” makes it temporary and move on.
EXTRA EXAMPLES: Give ten sentences and have learners hold up one finger for simple, two for continuous.
TIP: The single test question — always or now? — is the tool learners take away. Drill the question itself, not just the answers.
CLASSROOM ACTIVITY: Two corners: label one wall EVERY DAY and the other RIGHT NOW. Read sentences and learners walk to the correct wall. Twenty rounds, physical and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all four steps on one picture, out loud, in ninety seconds. Then hand the picture to a learner and have them do the same. The four-step frame is what turns silence into ten sentences.
COMMON MISTAKES: Learners produce single words when describing. The frame prevents that by telling them what to say next.
EXTRA EXAMPLES: Position words to teach here: on, in, under, behind, next to, between.
TIP: Picture description is the single most productive speaking task at this level: it generates fifteen sentences in five minutes and recycles the whole of Level 1 vocabulary.
CLASSROOM ACTIVITY: Four-step race: learners get one minute per picture and must produce at least one sentence for each of the four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Demonstrate: put on a jacket — “I am putting on my jacket” — then stand still in it — “Now I am wearing it.” The two verbs in ten seconds.
COMMON MISTAKES: The -ing form is “wearing”, with no spelling change. Learners sometimes write “weareing”.
EXTRA EXAMPLES: Clothes to teach alongside: shirt, trousers, dress, shoes, jacket, hat, netela, gabi.
TIP: This verb makes picture description far richer. Every person in every picture is wearing something.
CLASSROOM ACTIVITY: Describe your classmate: each learner says what the person beside them is wearing.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Write both forms side by side on the board: carries and carrying. Say them aloud. This one verb demonstrates the difference between the two spelling systems.
COMMON MISTAKES: “Carriing” — learners apply the -ies rule to the -ing form. That is exactly the confusion this word is chosen to expose.
EXTRA EXAMPLES: Other verbs with the same contrast: study/studies/studying, try/tries/trying, fly/flies/flying.
TIP: This is the best single verb for teaching that the two spelling systems are separate. Spend the extra minute.
CLASSROOM ACTIVITY: Carry something across the room and have the class narrate it in both tenses.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Teach “wait for” as one chunk from the first second. If learners learn “wait” alone, the missing preposition is very hard to add later.
COMMON MISTAKES: The missing “for” is a transfer error and it is very common. Drill the two words joined.
EXTRA EXAMPLES: wait for the bus · wait for my friend · wait for the doctor · wait for the rain to stop.
TIP: This verb is genuinely useful at a bus stop, a clinic and a bank — three places every learner goes.
CLASSROOM ACTIVITY: Where do you wait? Each learner says two places and what they wait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Demonstrate all three: look at the door deliberately, see something without trying, watch the clock for five seconds. The physical demonstration separates them far better than definitions.
COMMON MISTAKES: Learners use “see” for everything, or drop the “at”. Both are frequent.
EXTRA EXAMPLES: look at a picture · watch television · watch a film · see a friend · see a doctor.
TIP: Also note: “see” is not normally used in the continuous. Do not teach the rule — just avoid it and correct gently if it appears.
CLASSROOM ACTIVITY: Look, see, watch: call out ten situations and learners say which verb 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7 minutes.
HOW TO TEACH: Say the word slowly with the silent t marked on the board — cross out the t. Then drill “listen to” as one chunk.
COMMON MISTAKES: Both errors appear together: the pronounced t and the missing “to”. Fix the sound first, then the preposition.
EXTRA EXAMPLES: Other silent letters worth mentioning once: know, write, hour, half. Do not make a lesson of it.
TIP: “Listen to” and “look at” are a natural pair — both need a preposition. Teach and drill them together.
CLASSROOM ACTIVITY: What are you listening to? Learners ask three classmates and report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Two boxes on the board, both must be filled. Build ten sentences and deliberately leave one box empty each time so learners can spot what is missing.
COMMON MISTAKES: The dropped auxiliary is the same error as “He teacher” in Level 1 Module 3 — the verb “to be” disappearing. Name the connection; learners who see the pattern fix it faster.
EXTRA EXAMPLES: Drill with ten verbs and all four persons.
TIP: Two minutes of the two-box drill at the start of every lesson for the rest of the module.
CLASSROOM ACTIVITY: Missing part: teacher says an incomplete sentence, learners shout which part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Do rules 1 and 2 quickly. Spend the time on rule 3 — write the last three letters of the verb and check the vowel-consonant pattern together, five times.
COMMON MISTAKES: Rule 3 is the hardest in Level 2 spelling. Learners over-apply it and write “readding” or “waitting”. Show that “read” and “wait” have two vowels, so no doubling.
EXTRA EXAMPLES: Sort these aloud: take, swim, listen, begin, drive, wait, put, open, stop, read.
TIP: In speech the doubled consonant makes no difference at all, so a learner who spells it wrong will still be understood. Prioritise the spoken form.
CLASSROOM ACTIVITY: Four columns on the board, one per rule. Learners place twenty verbs.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Show the parallel with Level 1 side by side on the board: “She is a nurse / Is she a nurse?” above “She is working / Is she working?”. The identical operation is the teaching point.
COMMON MISTAKES: The first and third wrong sentences import “do” from Module 1. That is a sign of learning, not carelessness — learners are applying a rule they just learned.
EXTRA EXAMPLES: Ten questions to drill, five yes/no and five with question words.
TIP: “What are you doing?” is worth drilling on its own. It is the most useful question in this module and learners will hear it constantly.
CLASSROOM ACTIVITY: Phone call role play: one learner rings another and asks “What are you doing?” The answer must be in the continuous.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Give twenty sentences with the signal word removed and have learners choose the tense, then say which signal word would fit. Working backwards from the tense to the signal deepens the understanding.
COMMON MISTAKES: Learners latch onto the signal words and stop thinking about meaning. Signal words help, but the test question is what they should rely on.
EXTRA EXAMPLES: Mixed drill: “I ___ (work) in a shop, but today I ___ (help) my brother.” Both tenses in one sentence.
TIP: The sentence with both tenses is the best possible practice. Give five of them and let learners see the contrast inside one sentence.
CLASSROOM ACTIVITY: Two-tense sentences: learners write three sentences each containing both a simple and a continuous clause.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Take each wrong sentence and ask the class to name the error. Each has exactly one — say so in advance.
COMMON MISTAKES: The fourth is the tense error rather than a form error, and it is the hardest to see because the sentence is perfectly well formed. Point that out.
EXTRA EXAMPLES: Two more for pairs: “He is runing to the bus.” and “I am going to church every Sunday.”
TIP: These four checks are the marking standard for this module. Add them to the wall beside the Module 1 checks.
CLASSROOM ACTIVITY: Error auction: teams bid on how many errors they can find in a set of six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per slide.
HOW TO TEACH: Cover the answer and ask the class first. Take answers from two learners before revealing. Then read the WHY aloud — the reason is the teaching, not the answer.
COMMON MISTAKES: Do not let learners copy the answer without hearing the reason. A learner who knows the answer but not the reason cannot do the next one.
TIP: If most of the class gets an item wrong, go back to that concept slide before continuing. These examples are a diagnostic as much as a practice.
CLASSROOM ACTIVITY: Ask a learner who answered correctly to explain the WHY in their own words before you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Listen books closed, chorus, pair reading, then perform on real phones if learners have them. A phone call is the most natural context for this tense and the acting is easy.
COMMON MISTAKES: The one simple-tense line is deliberate. Ask the class why it is different — that question is the whole module.
EXTRA EXAMPLES: Change the situation: cooking, travelling, waiting for a bus, watching football.
TIP: “What are you doing?” is the single most useful phrase in the module. Drill it separately, ten times.
CLASSROOM ACTIVITY: Phone chain: learners sit back to back in pairs, ring each other, and must ask and answer “What are you doing?” with a new activity each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After reading, ask learners to find the four questions and say what makes each one a question. Then find the five -ing verbs and check the spelling of each.
COMMON MISTAKES: “It is raining” has no subject in the learners' first language pattern — expect “Is raining”. It is the dummy-subject error from Level 1 Module 4.
EXTRA EXAMPLES: Note “everybody” takes “is”, not “are”, even though it feels plural. Do not explain — just say it and move on.
TIP: This dialogue is the model for the picture-description task. Point that out: describing a scene is exactly what Abel and Mimi are doing.
CLASSROOM ACTIVITY: Describe Merkato: pairs describe a market scene to each other for two minutes, using at least six continuous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Drill all six in chorus, then in pairs. Phrase 5 is the exam-survival one — it lets learners describe something they are unsure about instead of falling silent.
COMMON MISTAKES: “I think he is…” is often shortened to “I think he…”. Drill the whole phrase.
EXTRA EXAMPLES: Add “It looks like…” for a strong class.
TIP: Phrase 5 is worth more marks in a speaking exam than any vocabulary item. A learner who can hedge keeps talking.
CLASSROOM ACTIVITY: Uncertain descriptions: show a blurry or partial picture and require every sentence to start with “I think”.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Three minutes to fill the gaps in writing, then three pairs perform before you reveal the answers.
COMMON MISTAKES: The negative gap needs three words: “am not carrying”. Learners write two.
TIP: “Waiting for” and “going to” both need their prepositions. Check for them.
CLASSROOM ACTIVITY: Do it again in the rain, or with a different destination.
ANSWERS: are doing · am waiting · Is · is · am not carrying · are going · am going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for all four rounds.
HOW TO TEACH: Round 1 is the fastest and funniest and it produces a very high number of correct sentences in two minutes. Start with it to build momentum.
COMMON MISTAKES: In round 1 learners answer with the base verb — “You drink coffee”. Remind them: it is happening now.
TIP: Round 4 back to back removes visual clues and forces real listening. It is closer to a real phone call than a face-to-face conversation.
CLASSROOM ACTIVITY: Whole-class mime: three learners mime at the front and the class describes all three at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Round A is easy and builds momentum. Round C is the hardest because negatives require an extra word — and it produces some genuinely funny sentences.
COMMON MISTAKES: Round B is where learners drop “am”. Listen for it specifically.
EXTRA EXAMPLES: For a strong class, add round D: ask a question about what someone is doing.
TIP: This activity needs no preparation and can be run in ninety seconds at the start of any lesson for the rest of the module.
CLASSROOM ACTIVITY: Freeze frame: everyone freezes mid-action and the class describes three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Model all five steps on one picture in ninety seconds. Then give a different picture to each pair. Using a different picture each time teaches the method rather than one memorised answer.
COMMON MISTAKES: Learners stop after two sentences. The five-step frame is what prevents that — tell them to count on their fingers.
EXTRA EXAMPLES: Any photograph works: a market, a classroom, a family meal, a bus station, a coffee ceremony.
TIP: Step 5 is what separates a good description from a list. Hedging is a real skill and it is worth marks.
CLASSROOM ACTIVITY: Picture carousel: five pictures around the room, learners rotate every two minutes and describe each in five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Model the sound in isolation first: hold /ŋ/ for two seconds. Then add it to a verb. Learners must feel where the tongue rests before they can produce it.
COMMON MISTAKES: Adding a /k/ — “workink” — is common because the tongue releases at the back. Dropping to /n/ — “workin” — is also common and is actually normal in informal native speech, so correct it lightly.
EXTRA EXAMPLES: Other /ŋ/ words learners know: morning, evening, thing, young, English.
TIP: The word “English” itself contains the sound. Point that out — they have been saying it correctly for months.
CLASSROOM ACTIVITY: Long sing: the whole class holds the /ŋ/ sound for five seconds, then says five -ing verbs in a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Situation 3 is the most useful in real life — explaining a delay is something every learner will need to do.
COMMON MISTAKES: Situation 4 mixes tenses naturally: “My brother is at school” is a state, not an action, so it uses “is” without -ing. Do not over-explain; accept both if the meaning is clear.
EXTRA EXAMPLES: Situation 2 works best if one learner genuinely closes their eyes.
TIP: Give each pair one thing to listen for: the auxiliary, the -ing, or the spelling if they write it down.
CLASSROOM ACTIVITY: Perform two situations to the class and let the class count the correct continuous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including listening back.
HOW TO TEACH: Record on a phone, or perform live to a partner who ticks the five steps.
COMMON MISTAKES: Step 5 is the assessment. It requires the learner to hold both tenses in one sentence, which is the real skill of this module.
TIP: Ask a partner to draw what they hear in step 3. If the drawing matches the picture, the description worked.
CLASSROOM ACTIVITY: Keep every recording for the end-of-level comparison.
ANSWERS: SUCCESS CRITERIA: am/is/are present in every sentence · -ing on every main verb · correct tense choice in step 5 · a listener can draw the picture from step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Read twice at natural pace. The drawing task proves comprehension in a way writing does not, and it works for learners whose writing is still weak.
COMMON MISTAKES: Learners catch the person but miss the action, or the reverse. Tell them both matter before they start.
EXTRA EXAMPLES: Add a seventh line if the class is strong: “A dog is sleeping under a chair.”
ANSWERS: 1 the speaker — standing · 2 a lot of people — waiting · 3 an old man — reading · 4 two women — talking and laughing · 5 a boy — carrying · 6 everybody —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 4 is worth pointing out: two actions share one auxiliary. Learners often repeat it — “are talking and are laughing” — which is understandable but unnecessary.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HOW TO TEACH: Read twice. Then ask learners to identify which lines use the simple and which use the continuous — there are three of each. That sorting task is the real exercise.
COMMON MISTAKES: Question 5 requires joining two pieces of information: the mother usually cooks, but she is away. That is inference, not transcription.
EXTRA EXAMPLES: Ask a sixth: “Which words told you the tense?” The answers are “usually”, “today” and “this week”.
ANSWERS: 1 No, she is not. · 2 On Tuesday. · 3 She is cooking. · 4 Her mother. · 5 Because her mother is visiting Gondar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Answers 2 and 3 sit side by side deliberately: “works” with -s, “is cooking” with -ing. If a learner mixed them, the tense contrast has not landed yet — go back to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Read ten mixed sentences and have learners hold up one finger for simple, two for continuous. Ask which clue told them.
COMMON MISTAKES: Learners guess from meaning alone and get it wrong. The grammatical clues are more reliable than the meaning at this level.
TIP: Clue 1 is the most useful because the auxiliary comes early in the sentence — learners can prepare their ear before the verb.
CLASSROOM ACTIVITY: One finger or two: twenty rapid sentences, whole class, no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11 minutes.
HOW TO TEACH: Teacher, chorus, individuals, then the underlining task. Marking up the text makes the pattern visible and is far more active than answering questions alone.
COMMON MISTAKES: The nine -ing verbs: buying, selling, selling, wearing, carrying, running, sitting, drinking, raining. Check that learners spot “sitting” with its doubled t and “running” with its doubled n.
EXTRA EXAMPLES: Note “It is not raining” — the negative, with “not” between “is” and the verb.
TIP: Ask learners which two verbs doubled their consonant and why. That is the hardest spelling rule and this text contains two clear examples.
CLASSROOM ACTIVITY: Draw the scene: learners draw Merkato from the description, then compare drawings.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Every answer needs both parts of the tense. That is what is being assessed, not the facts.
COMMON MISTAKES: Question 4 has two actions — sitting and drinking — sharing one auxiliary. A complete answer gives both.
TIP: Books closed. If the text is visible, learners copy and no comprehension happens.
ANSWERS: 1 She is selling tomatoes. · 2 She is wearing a white netela. · 3 They are carrying a heavy table. · 4 He is sitting on a chair and drinking coffee. · 5 No, it is not 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Answer 4 is the most informative: it tests the shared auxiliary AND the doubling rule in one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text is the module's central idea in seven lines. Sort the sentences into two columns on the board — normal life and this week — with the class.
COMMON MISTAKES: The last question is genuinely hard: “like” describes a feeling, not an action, so it is not normally used in the continuous. Do not teach the rule as a list — just say that some verbs about feelings and thoughts stay simple.
EXTRA EXAMPLES: Other verbs that stay simple: want, need, know, understand, believe, love.
TIP: Do not over-teach the state verbs. Mention them once, correct gently, and let exposure do the rest. Learners meet them constantly.
CLASSROOM ACTIVITY: Two columns: learners copy the seven sentences into NORMAL LIFE and THIS WEEK columns, then explain their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Question 4 is the hardest in the module. Accept any answer that shows the learner has noticed the difference, even if the wording is imprecise.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Rows 1 to 4 are one rule each. Row 5 is mixed and is the real test — learners must decide which rule applies to each verb.
COMMON MISTAKES: Row 5: “listen” and “open” do not double because the stress is not on the last syllable. Do not teach that rule — just give the answers and let learners learn these as words.
TIP: Row 4 is the contrast with Module 1. Ask learners for both forms: studies and studying.
ANSWERS: 1 working, reading, playing, waiting · 2 writing, coming, making, living · 3 running, sitting, getting, stopping · 4 studying, carrying, trying · 5 listening, beginning, opening, swimming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14 minutes.
HOW TO TEACH: Give every learner the same picture the first time so you can compare, then a different one each in the second round.
COMMON MISTAKES: The frame prevents the commonest failure — stopping after three sentences. Insist on all eight.
EXTRA EXAMPLES: Fast finishers add two more sentences about what people are wearing.
TIP: Collect these and keep them. The same task appears in the Level 2 exam.
CLASSROOM ACTIVITY: Swap and draw: partners exchange descriptions and draw what they read, then compare with the original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10 minutes.
HOW TO TEACH: Do item 1 together, asking the test question aloud — always or now? Then let them work alone.
COMMON MISTAKES: Items 3 and 5 need both tenses in one sentence. That is the module's hardest skill and the most important.
TIP: Items 3 and 5 are the ones to read aloud afterwards. Hearing the contrast in one sentence teaches it better than any explanation.
ANSWERS: 1 drink · 2 is sleeping · 3 works / is working · 4 are ... doing · 5 walks / is taking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Items 3 and 5 are the diagnostic. A learner who gets both right has understood the contrast rather than memorised endings.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Read the four points, then have learners check their picture description against all four.
TIP: The wall now has eight checks across two Level 2 modules. Refer to them by number when marking.
CLASSROOM ACTIVITY: Deliberate error hunt: write four sentences on the board with exactly four errors, one of each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Answer alone, then compare in pairs before taking answers from the class.
TIP: Question 4 is the diagnostic. A learner choosing a) or b) is importing “do” from Module 1.
ANSWERS: 1 b · 2 b · 3 b · 4 c · 5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6 minutes.
HOW TO TEACH: Every item needs two words. Do item 1 together, then leave them to it.
COMMON MISTAKES: Item 3 needs three words because of the negative. Item 4 needs a capital I because it starts the sentence.
TIP: Items 3 and 4 also need their prepositions — “listen to” and “wait for”. Check for them.
ANSWERS: 1 is reading · 2 are playing · 3 am not listening · 4 Is ... waiting · 5 is 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Three short tasks, three chances to succeed. Let them work in pairs.
TIP: Part 3 covers the three prepositional verbs from the vocabulary section. Learners forget these constantly.
ANSWERS: Part 1: 1–d, 2–b, 3–c, 4–a.  ·  Part 2: 1–b, 2–a, 3–c, 4–d.  ·  Part 3: 1–c, 2–a, 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Do item 1 together. Then let them work alone and read five answers aloud at the end.
COMMON MISTAKES: Item 4 needs the doubled t. Item 5 needs the dummy subject “it”, which learners drop.
TIP: Item 5 is the shortest and the most commonly wrong. “Is raining” with no subject is a Level 1 error returning.
ANSWERS: 1 A woman is cooking injera. · 2 Two boys are playing football. · 3 My sister is studying English. · 4 The man is sitting on a chair. · 5 It is 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Tell learners how many errors are in each sentence. Sentence 1 has two.
COMMON MISTAKES: Sentence 4 is the tense error, not a form error. It is grammatically well formed but means the wrong thing. Point that out.
TIP: Have learners count the errors before correcting. Counting forces careful reading.
ANSWERS: 1 She is writing a letter. (missing auxiliary + spelling) · 2 Is he working today? · 3 They are not listening to the teacher. · 4 I go to school every day. (wrong tense) · 5 He is running to the bus. (spelling)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8 minutes.
HOW TO TEACH: Correcting every false statement is what makes this teach rather than test.
TIP: Item 4 is the tense error in disguise. If several learners mark it true, go back to slide 9.
ANSWERS: 1 T · 2 F — “Is she working?” · 3 F — it is “sitting” with a double t · 4 F — “every Sunday” means always, so “I go to church every Sunday” · 5 T · 6 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Items 1 to 3 need the continuous, item 4 needs the simple, item 5 needs both ideas. That mix is the point.
COMMON MISTAKES: Item 4 is the trap. Learners answer in the continuous because the previous three were.
TIP: Ask three learners to read items 4 and 5 aloud one after the other. The tense change is audible.
ANSWERS: 1 I am sitting in the classroom. · 2 He/She is writing. · 3 I am wearing ___. · 4 I usually ___ on Saturday. · 5 This week I am ___.</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9 minutes.
HOW TO TEACH: Give each partner a listening job: task 1 check both parts of the verb, task 3 check the tense matches the time word.
TIP: Task 3 is the module assessment. Listen to as many pairs as you can.
ANSWERS: SUCCESS CRITERIA: 1 am/is/are plus -ing in all five · 2 five sentences covering all four steps · 3 correct tense for each time word · 4 auxiliary before the subject in all four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13 minutes.
HOW TO TEACH: This is the bridge to the quiz. Let learners work in pairs and expect it to be genuinely hard.
TIP: Question 3 is the module's real skill. Read three learners' answers aloud.
ANSWERS: 2 “She is writing a letter and her brother is watching television.” — the -ing on “write”, and the missing auxiliary before “watching”. 4 coming, swimming, studying, beginning, waiting, stopping.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12 minutes. Discussion, not writing.
HOW TO TEACH: Take answers orally. Accept Amharic for the reasoning, then give the English phrase for what they said.
TIP: Question 2 is the best test of understanding in this module, because the sentence is grammatically perfect and still wrong.
ANSWERS: 1 The second tense marks whether something is permanent or temporary, which English keeps separate and many languages leave to context. 2 The form is correct but “every Sunday” means it is a habit, so the simple is needed — the sentence as written says it is happening temporarily this period. 3 “Know” describes a state of mind, not an action, and states do not normally take the continuous. 4 Both, but the simple is more common in conversation because people talk about their lives and habits more than about the present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“An old man is sitting on a chair and reading a newspaper. It is not raining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“An old man is sitting on a chair and reading a newspaper. It is not raining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“An old man is sitting on a chair and reading a newspaper. It is not raining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“An old man is sitting on a chair and reading a newspaper. It is not raining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quiz slide, 20 minutes for the whole quiz.
HOW TO TEACH: Run the whole quiz before showing any answers. Learners write answers on paper and number them 1 to 20. The final question is spoken and is assessed by you or by a partner.
COMMON MISTAKES: Do not let learners mark their own paper before the answer key. Collect the papers or have them swap.
TIP: Pass mark is 16 out of 20. A learner below that should redo Exercises A to F, not repeat the whole module.
FOR QUESTIONS 15 AND 16, READ ALOUD: “An old man is sitting on a chair and reading a newspaper. It is not raining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Q11, Q13 and Q14 are the diagnostic questions. Q11 shows whether learners are importing “do” from Module 1; Q13 and Q14 together show whether the tense contrast has landed. If the class failed those, drill slide 9 before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Q11, Q13 and Q14 are the diagnostic questions. Q11 shows whether learners are importing “do” from Module 1; Q13 and Q14 together show whether the tense contrast has landed. If the class failed those, drill slide 9 before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Q11, Q13 and Q14 are the diagnostic questions. Q11 shows whether learners are importing “do” from Module 1; Q13 and Q14 together show whether the tense contrast has landed. If the class failed those, drill slide 9 before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Q11, Q13 and Q14 are the diagnostic questions. Q11 shows whether learners are importing “do” from Module 1; Q13 and Q14 together show whether the tense contrast has landed. If the class failed those, drill slide 9 before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per slide.
HOW TO TEACH: Read the answer, then the WHY aloud. Ask learners to raise a hand for each one they got wrong — you are collecting data on what to re-teach, not judging anyone. Say so.
COMMON MISTAKES: Do not simply read the answers and move on. The explanation is where the learning happens — a learner who hears only “b” learns nothing.
TIP: Q11, Q13 and Q14 are the diagnostic questions. Q11 shows whether learners are importing “do” from Module 1; Q13 and Q14 together show whether the tense contrast has landed. If the class failed those, drill slide 9 before Module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Monday's task feels strange for about a minute and then it works extremely well. Narrating your own actions is the fastest way to make this tense automatic.
TIP: Thursday's paired sentences are the most valuable. Doing both tenses for the same verb is what fixes the contrast.
CLASSROOM ACTIVITY: Ask learners to send one classmate a photo and a description each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to set.
HOW TO TEACH: Task 2 is the exam task. Show your own completed example so the standard is visible.
COMMON MISTAKES: Learners who cannot record must not be excluded. Offer the live option openly.
TIP: Reply to every recording personally, by voice. Listen specifically for the missing auxiliary and the tense choice in the last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3 minutes.
HOW TO TEACH: Show this before learners do the homework. The final sentence of the recording carries three marks on its own — that tells learners what matters.
COMMON MISTAKES: Mark only what has been taught in Modules 1 and 2 of this level, plus the Level 1 checklist.
TIP: Give the mark privately. Never read marks aloud to the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5 minutes.
HOW TO TEACH: Go back to slide 2 and read the objectives again. Ask the same question you asked at the start.
TIP: Ask each learner to name the one thing they found hardest. That list is your plan for the first ten minutes of Module 3.
CLASSROOM ACTIVITY: Quick-fire recap: point at each card and ask a different learner for one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Tell learners to copy this slide into the back of their exercise book, or photograph it.
TIP: Print it as an A4 poster beside the Module 1 poster. The two tenses side by side on the wall is the best revision aid in Level 2.
CLASSROOM ACTIVITY: Cover each box in turn and ask the class to say what was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4 minutes.
HOW TO TEACH: Name the achievement precisely: two tenses used correctly and kept apart. That is a genuine milestone and many learners never manage it.
TIP: Preview Module 3 honestly: the past simple has regular and irregular verbs, so it is more memory work than rule work. Warn them so nobody is surprised.
CLASSROOM ACTIVITY: Ask every learner to describe one thing happening in the room before they leave.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image" Target="../media/image-28-7.png"/><Relationship Id="rId8" Type="http://schemas.openxmlformats.org/officeDocument/2006/relationships/slideLayout" Target="../slideLayouts/slideLayout1.xml"/><Relationship Id="rId9"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slideLayout" Target="../slideLayouts/slideLayout1.xml"/><Relationship Id="rId5"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image" Target="../media/image-40-2.png"/><Relationship Id="rId3" Type="http://schemas.openxmlformats.org/officeDocument/2006/relationships/image" Target="../media/image-40-3.png"/><Relationship Id="rId4" Type="http://schemas.openxmlformats.org/officeDocument/2006/relationships/image" Target="../media/image-40-4.png"/><Relationship Id="rId5" Type="http://schemas.openxmlformats.org/officeDocument/2006/relationships/image" Target="../media/image-40-5.png"/><Relationship Id="rId6" Type="http://schemas.openxmlformats.org/officeDocument/2006/relationships/slideLayout" Target="../slideLayouts/slideLayout1.xml"/><Relationship Id="rId7"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slideLayout" Target="../slideLayouts/slideLayout1.xml"/><Relationship Id="rId4"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1.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slideLayout" Target="../slideLayouts/slideLayout1.xml"/><Relationship Id="rId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slideLayout" Target="../slideLayouts/slideLayout1.xml"/><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image" Target="../media/image-50-3.png"/><Relationship Id="rId4" Type="http://schemas.openxmlformats.org/officeDocument/2006/relationships/image" Target="../media/image-50-4.png"/><Relationship Id="rId5" Type="http://schemas.openxmlformats.org/officeDocument/2006/relationships/image" Target="../media/image-50-5.png"/><Relationship Id="rId6" Type="http://schemas.openxmlformats.org/officeDocument/2006/relationships/slideLayout" Target="../slideLayouts/slideLayout1.xml"/><Relationship Id="rId7"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image" Target="../media/image-53-2.png"/><Relationship Id="rId3" Type="http://schemas.openxmlformats.org/officeDocument/2006/relationships/slideLayout" Target="../slideLayouts/slideLayout1.xml"/><Relationship Id="rId4"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image" Target="../media/image-54-2.png"/><Relationship Id="rId3" Type="http://schemas.openxmlformats.org/officeDocument/2006/relationships/slideLayout" Target="../slideLayouts/slideLayout1.xml"/><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image" Target="../media/image-55-2.png"/><Relationship Id="rId3" Type="http://schemas.openxmlformats.org/officeDocument/2006/relationships/slideLayout" Target="../slideLayouts/slideLayout1.xml"/><Relationship Id="rId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image" Target="../media/image-56-2.png"/><Relationship Id="rId3" Type="http://schemas.openxmlformats.org/officeDocument/2006/relationships/slideLayout" Target="../slideLayouts/slideLayout1.xml"/><Relationship Id="rId4"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image" Target="../media/image-57-2.png"/><Relationship Id="rId3" Type="http://schemas.openxmlformats.org/officeDocument/2006/relationships/slideLayout" Target="../slideLayouts/slideLayout1.xml"/><Relationship Id="rId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image" Target="../media/image-58-2.png"/><Relationship Id="rId3" Type="http://schemas.openxmlformats.org/officeDocument/2006/relationships/slideLayout" Target="../slideLayouts/slideLayout1.xml"/><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image" Target="../media/image-59-2.png"/><Relationship Id="rId3" Type="http://schemas.openxmlformats.org/officeDocument/2006/relationships/slideLayout" Target="../slideLayouts/slideLayout1.xml"/><Relationship Id="rId4"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image" Target="../media/image-60-2.png"/><Relationship Id="rId3" Type="http://schemas.openxmlformats.org/officeDocument/2006/relationships/slideLayout" Target="../slideLayouts/slideLayout1.xml"/><Relationship Id="rId4"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image" Target="../media/image-61-1.png"/><Relationship Id="rId2" Type="http://schemas.openxmlformats.org/officeDocument/2006/relationships/image" Target="../media/image-61-2.png"/><Relationship Id="rId3" Type="http://schemas.openxmlformats.org/officeDocument/2006/relationships/slideLayout" Target="../slideLayouts/slideLayout1.xml"/><Relationship Id="rId4"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1.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1.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slideLayout" Target="../slideLayouts/slideLayout1.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image" Target="../media/image-70-1.png"/><Relationship Id="rId2" Type="http://schemas.openxmlformats.org/officeDocument/2006/relationships/slideLayout" Target="../slideLayouts/slideLayout1.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1.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image" Target="../media/image-73-2.png"/><Relationship Id="rId3" Type="http://schemas.openxmlformats.org/officeDocument/2006/relationships/image" Target="../media/image-73-3.png"/><Relationship Id="rId4" Type="http://schemas.openxmlformats.org/officeDocument/2006/relationships/image" Target="../media/image-73-4.png"/><Relationship Id="rId5" Type="http://schemas.openxmlformats.org/officeDocument/2006/relationships/image" Target="../media/image-73-5.png"/><Relationship Id="rId6" Type="http://schemas.openxmlformats.org/officeDocument/2006/relationships/slideLayout" Target="../slideLayouts/slideLayout1.xml"/><Relationship Id="rId7"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image" Target="../media/image-74-1.png"/><Relationship Id="rId2" Type="http://schemas.openxmlformats.org/officeDocument/2006/relationships/image" Target="../media/image-74-2.png"/><Relationship Id="rId3" Type="http://schemas.openxmlformats.org/officeDocument/2006/relationships/image" Target="../media/image-74-3.png"/><Relationship Id="rId4" Type="http://schemas.openxmlformats.org/officeDocument/2006/relationships/image" Target="../media/image-74-4.png"/><Relationship Id="rId5" Type="http://schemas.openxmlformats.org/officeDocument/2006/relationships/image" Target="../media/image-74-5.png"/><Relationship Id="rId6" Type="http://schemas.openxmlformats.org/officeDocument/2006/relationships/image" Target="../media/image-74-6.png"/><Relationship Id="rId7" Type="http://schemas.openxmlformats.org/officeDocument/2006/relationships/image" Target="../media/image-74-7.png"/><Relationship Id="rId8" Type="http://schemas.openxmlformats.org/officeDocument/2006/relationships/slideLayout" Target="../slideLayouts/slideLayout1.xml"/><Relationship Id="rId9"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image" Target="../media/image-75-2.png"/><Relationship Id="rId3" Type="http://schemas.openxmlformats.org/officeDocument/2006/relationships/image" Target="../media/image-75-3.png"/><Relationship Id="rId4" Type="http://schemas.openxmlformats.org/officeDocument/2006/relationships/image" Target="../media/image-75-4.png"/><Relationship Id="rId5" Type="http://schemas.openxmlformats.org/officeDocument/2006/relationships/image" Target="../media/image-75-5.png"/><Relationship Id="rId6" Type="http://schemas.openxmlformats.org/officeDocument/2006/relationships/slideLayout" Target="../slideLayouts/slideLayout1.xml"/><Relationship Id="rId7"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31C"/>
        </a:solidFill>
      </p:bgPr>
    </p:bg>
    <p:spTree>
      <p:nvGrpSpPr>
        <p:cNvPr id="1" name=""/>
        <p:cNvGrpSpPr/>
        <p:nvPr/>
      </p:nvGrpSpPr>
      <p:grpSpPr>
        <a:xfrm>
          <a:off x="0" y="0"/>
          <a:ext cx="0" cy="0"/>
          <a:chOff x="0" y="0"/>
          <a:chExt cx="0" cy="0"/>
        </a:xfrm>
      </p:grpSpPr>
      <p:sp>
        <p:nvSpPr>
          <p:cNvPr id="2" name="Shape 0"/>
          <p:cNvSpPr/>
          <p:nvPr/>
        </p:nvSpPr>
        <p:spPr>
          <a:xfrm>
            <a:off x="0" y="0"/>
            <a:ext cx="4663440" cy="6858000"/>
          </a:xfrm>
          <a:prstGeom prst="roundRect">
            <a:avLst/>
          </a:prstGeom>
          <a:solidFill>
            <a:srgbClr val="0E7C5A"/>
          </a:solidFill>
          <a:ln/>
        </p:spPr>
      </p:sp>
      <p:sp>
        <p:nvSpPr>
          <p:cNvPr id="3" name="Text 1"/>
          <p:cNvSpPr txBox="1"/>
          <p:nvPr/>
        </p:nvSpPr>
        <p:spPr>
          <a:xfrm>
            <a:off x="685800" y="1371600"/>
            <a:ext cx="3474720" cy="274320"/>
          </a:xfrm>
          <a:prstGeom prst="rect">
            <a:avLst/>
          </a:prstGeom>
          <a:noFill/>
          <a:ln/>
        </p:spPr>
        <p:txBody>
          <a:bodyPr wrap="square" lIns="0" tIns="0" rIns="0" bIns="0" rtlCol="0" anchor="ctr"/>
          <a:lstStyle/>
          <a:p>
            <a:pPr indent="0" marL="0">
              <a:buNone/>
            </a:pPr>
            <a:r>
              <a:rPr lang="en-US" sz="1300" b="1" spc="240" kern="0" dirty="0">
                <a:solidFill>
                  <a:srgbClr val="BFE6D5"/>
                </a:solidFill>
                <a:latin typeface="Calibri" pitchFamily="34" charset="0"/>
                <a:ea typeface="Calibri" pitchFamily="34" charset="-122"/>
                <a:cs typeface="Calibri" pitchFamily="34" charset="-120"/>
              </a:rPr>
              <a:t>LEVEL 2</a:t>
            </a:r>
            <a:endParaRPr lang="en-US" sz="1300" dirty="0"/>
          </a:p>
        </p:txBody>
      </p:sp>
      <p:sp>
        <p:nvSpPr>
          <p:cNvPr id="4" name="Text 2"/>
          <p:cNvSpPr txBox="1"/>
          <p:nvPr/>
        </p:nvSpPr>
        <p:spPr>
          <a:xfrm>
            <a:off x="685800" y="1664208"/>
            <a:ext cx="3474720" cy="2286000"/>
          </a:xfrm>
          <a:prstGeom prst="rect">
            <a:avLst/>
          </a:prstGeom>
          <a:noFill/>
          <a:ln/>
        </p:spPr>
        <p:txBody>
          <a:bodyPr wrap="square" lIns="0" tIns="0" rIns="0" bIns="0" rtlCol="0" anchor="ctr"/>
          <a:lstStyle/>
          <a:p>
            <a:pPr indent="0" marL="0">
              <a:buNone/>
            </a:pPr>
            <a:r>
              <a:rPr lang="en-US" sz="12800" b="1" dirty="0">
                <a:solidFill>
                  <a:srgbClr val="FFFFFF"/>
                </a:solidFill>
                <a:latin typeface="Calibri" pitchFamily="34" charset="0"/>
                <a:ea typeface="Calibri" pitchFamily="34" charset="-122"/>
                <a:cs typeface="Calibri" pitchFamily="34" charset="-120"/>
              </a:rPr>
              <a:t>2</a:t>
            </a:r>
            <a:endParaRPr lang="en-US" sz="12800" dirty="0"/>
          </a:p>
        </p:txBody>
      </p:sp>
      <p:sp>
        <p:nvSpPr>
          <p:cNvPr id="5" name="Text 3"/>
          <p:cNvSpPr txBox="1"/>
          <p:nvPr/>
        </p:nvSpPr>
        <p:spPr>
          <a:xfrm>
            <a:off x="685800" y="3794760"/>
            <a:ext cx="3474720" cy="822960"/>
          </a:xfrm>
          <a:prstGeom prst="rect">
            <a:avLst/>
          </a:prstGeom>
          <a:noFill/>
          <a:ln/>
        </p:spPr>
        <p:txBody>
          <a:bodyPr wrap="square" lIns="0" tIns="0" rIns="0" bIns="0" rtlCol="0" anchor="ctr"/>
          <a:lstStyle/>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Elementary</a:t>
            </a:r>
            <a:endParaRPr lang="en-US" sz="2600" dirty="0"/>
          </a:p>
          <a:p>
            <a:pPr indent="0" marL="0">
              <a:lnSpc>
                <a:spcPct val="100000"/>
              </a:lnSpc>
              <a:buNone/>
            </a:pPr>
            <a:r>
              <a:rPr lang="en-US" sz="2600" b="1" dirty="0">
                <a:solidFill>
                  <a:srgbClr val="FFFFFF"/>
                </a:solidFill>
                <a:latin typeface="Calibri" pitchFamily="34" charset="0"/>
                <a:ea typeface="Calibri" pitchFamily="34" charset="-122"/>
                <a:cs typeface="Calibri" pitchFamily="34" charset="-120"/>
              </a:rPr>
              <a:t>English</a:t>
            </a:r>
            <a:endParaRPr lang="en-US" sz="2600" dirty="0"/>
          </a:p>
        </p:txBody>
      </p:sp>
      <p:sp>
        <p:nvSpPr>
          <p:cNvPr id="6" name="Text 4"/>
          <p:cNvSpPr txBox="1"/>
          <p:nvPr/>
        </p:nvSpPr>
        <p:spPr>
          <a:xfrm>
            <a:off x="685800" y="4709160"/>
            <a:ext cx="3474720" cy="310896"/>
          </a:xfrm>
          <a:prstGeom prst="rect">
            <a:avLst/>
          </a:prstGeom>
          <a:noFill/>
          <a:ln/>
        </p:spPr>
        <p:txBody>
          <a:bodyPr wrap="square" lIns="0" tIns="0" rIns="0" bIns="0" rtlCol="0" anchor="ctr"/>
          <a:lstStyle/>
          <a:p>
            <a:pPr indent="0" marL="0">
              <a:buNone/>
            </a:pPr>
            <a:r>
              <a:rPr lang="en-US" sz="1500" dirty="0">
                <a:solidFill>
                  <a:srgbClr val="BFE6D5"/>
                </a:solidFill>
                <a:latin typeface="Calibri" pitchFamily="34" charset="0"/>
                <a:ea typeface="Calibri" pitchFamily="34" charset="-122"/>
                <a:cs typeface="Calibri" pitchFamily="34" charset="-120"/>
              </a:rPr>
              <a:t>CEFR A1 → A2</a:t>
            </a:r>
            <a:endParaRPr lang="en-US" sz="1500" dirty="0"/>
          </a:p>
        </p:txBody>
      </p:sp>
      <p:sp>
        <p:nvSpPr>
          <p:cNvPr id="7" name="Text 5"/>
          <p:cNvSpPr txBox="1"/>
          <p:nvPr/>
        </p:nvSpPr>
        <p:spPr>
          <a:xfrm>
            <a:off x="5349240" y="1417320"/>
            <a:ext cx="6309360" cy="274320"/>
          </a:xfrm>
          <a:prstGeom prst="rect">
            <a:avLst/>
          </a:prstGeom>
          <a:noFill/>
          <a:ln/>
        </p:spPr>
        <p:txBody>
          <a:bodyPr wrap="square" lIns="0" tIns="0" rIns="0" bIns="0" rtlCol="0" anchor="ctr"/>
          <a:lstStyle/>
          <a:p>
            <a:pPr indent="0" marL="0">
              <a:buNone/>
            </a:pPr>
            <a:r>
              <a:rPr lang="en-US" sz="1300" b="1" spc="220" kern="0" dirty="0">
                <a:solidFill>
                  <a:srgbClr val="F2A93B"/>
                </a:solidFill>
                <a:latin typeface="Calibri" pitchFamily="34" charset="0"/>
                <a:ea typeface="Calibri" pitchFamily="34" charset="-122"/>
                <a:cs typeface="Calibri" pitchFamily="34" charset="-120"/>
              </a:rPr>
              <a:t>MODULE 2 OF 8</a:t>
            </a:r>
            <a:endParaRPr lang="en-US" sz="1300" dirty="0"/>
          </a:p>
        </p:txBody>
      </p:sp>
      <p:sp>
        <p:nvSpPr>
          <p:cNvPr id="8" name="Text 6"/>
          <p:cNvSpPr txBox="1"/>
          <p:nvPr/>
        </p:nvSpPr>
        <p:spPr>
          <a:xfrm>
            <a:off x="5349240" y="1783080"/>
            <a:ext cx="6309360" cy="1371600"/>
          </a:xfrm>
          <a:prstGeom prst="rect">
            <a:avLst/>
          </a:prstGeom>
          <a:noFill/>
          <a:ln/>
        </p:spPr>
        <p:txBody>
          <a:bodyPr wrap="square" lIns="0" tIns="0" rIns="0" bIns="0" rtlCol="0" anchor="ctr"/>
          <a:lstStyle/>
          <a:p>
            <a:pPr indent="0" marL="0">
              <a:lnSpc>
                <a:spcPct val="102000"/>
              </a:lnSpc>
              <a:buNone/>
            </a:pPr>
            <a:r>
              <a:rPr lang="en-US" sz="4400" b="1" dirty="0">
                <a:solidFill>
                  <a:srgbClr val="FFFFFF"/>
                </a:solidFill>
                <a:latin typeface="Calibri" pitchFamily="34" charset="0"/>
                <a:ea typeface="Calibri" pitchFamily="34" charset="-122"/>
                <a:cs typeface="Calibri" pitchFamily="34" charset="-120"/>
              </a:rPr>
              <a:t>Present Continuous &amp; Describing</a:t>
            </a:r>
            <a:endParaRPr lang="en-US" sz="4400" dirty="0"/>
          </a:p>
        </p:txBody>
      </p:sp>
      <p:sp>
        <p:nvSpPr>
          <p:cNvPr id="9" name="Text 7"/>
          <p:cNvSpPr txBox="1"/>
          <p:nvPr/>
        </p:nvSpPr>
        <p:spPr>
          <a:xfrm>
            <a:off x="5349240" y="3246120"/>
            <a:ext cx="6309360" cy="731520"/>
          </a:xfrm>
          <a:prstGeom prst="rect">
            <a:avLst/>
          </a:prstGeom>
          <a:noFill/>
          <a:ln/>
        </p:spPr>
        <p:txBody>
          <a:bodyPr wrap="square" lIns="0" tIns="0" rIns="0" bIns="0" rtlCol="0" anchor="ctr"/>
          <a:lstStyle/>
          <a:p>
            <a:pPr indent="0" marL="0">
              <a:lnSpc>
                <a:spcPct val="115000"/>
              </a:lnSpc>
              <a:buNone/>
            </a:pPr>
            <a:r>
              <a:rPr lang="en-US" sz="1700" dirty="0">
                <a:solidFill>
                  <a:srgbClr val="B9CFC1"/>
                </a:solidFill>
                <a:latin typeface="Calibri" pitchFamily="34" charset="0"/>
                <a:ea typeface="Calibri" pitchFamily="34" charset="-122"/>
                <a:cs typeface="Calibri" pitchFamily="34" charset="-120"/>
              </a:rPr>
              <a:t>What is happening right now, at this moment. Learned side by side with Module 1, so the two are never confused.</a:t>
            </a:r>
            <a:endParaRPr lang="en-US" sz="1700" dirty="0"/>
          </a:p>
        </p:txBody>
      </p:sp>
      <p:sp>
        <p:nvSpPr>
          <p:cNvPr id="10" name="Shape 8"/>
          <p:cNvSpPr/>
          <p:nvPr/>
        </p:nvSpPr>
        <p:spPr>
          <a:xfrm>
            <a:off x="5349240" y="4206240"/>
            <a:ext cx="1956816" cy="841248"/>
          </a:xfrm>
          <a:prstGeom prst="roundRect">
            <a:avLst>
              <a:gd name="adj" fmla="val 15217"/>
            </a:avLst>
          </a:prstGeom>
          <a:solidFill>
            <a:srgbClr val="1C4E39"/>
          </a:solidFill>
          <a:ln w="12700">
            <a:solidFill>
              <a:srgbClr val="2A6249"/>
            </a:solidFill>
            <a:prstDash val="solid"/>
          </a:ln>
        </p:spPr>
      </p:sp>
      <p:sp>
        <p:nvSpPr>
          <p:cNvPr id="11" name="Text 9"/>
          <p:cNvSpPr txBox="1"/>
          <p:nvPr/>
        </p:nvSpPr>
        <p:spPr>
          <a:xfrm>
            <a:off x="5513832"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76</a:t>
            </a:r>
            <a:endParaRPr lang="en-US" sz="2100" dirty="0"/>
          </a:p>
        </p:txBody>
      </p:sp>
      <p:sp>
        <p:nvSpPr>
          <p:cNvPr id="12" name="Text 10"/>
          <p:cNvSpPr txBox="1"/>
          <p:nvPr/>
        </p:nvSpPr>
        <p:spPr>
          <a:xfrm>
            <a:off x="5513832"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SLIDES</a:t>
            </a:r>
            <a:endParaRPr lang="en-US" sz="1100" dirty="0"/>
          </a:p>
        </p:txBody>
      </p:sp>
      <p:sp>
        <p:nvSpPr>
          <p:cNvPr id="13" name="Shape 11"/>
          <p:cNvSpPr/>
          <p:nvPr/>
        </p:nvSpPr>
        <p:spPr>
          <a:xfrm>
            <a:off x="7525512" y="4206240"/>
            <a:ext cx="1956816" cy="841248"/>
          </a:xfrm>
          <a:prstGeom prst="roundRect">
            <a:avLst>
              <a:gd name="adj" fmla="val 15217"/>
            </a:avLst>
          </a:prstGeom>
          <a:solidFill>
            <a:srgbClr val="1C4E39"/>
          </a:solidFill>
          <a:ln w="12700">
            <a:solidFill>
              <a:srgbClr val="2A6249"/>
            </a:solidFill>
            <a:prstDash val="solid"/>
          </a:ln>
        </p:spPr>
      </p:sp>
      <p:sp>
        <p:nvSpPr>
          <p:cNvPr id="14" name="Text 12"/>
          <p:cNvSpPr txBox="1"/>
          <p:nvPr/>
        </p:nvSpPr>
        <p:spPr>
          <a:xfrm>
            <a:off x="7690104"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4 × 60</a:t>
            </a:r>
            <a:endParaRPr lang="en-US" sz="2100" dirty="0"/>
          </a:p>
        </p:txBody>
      </p:sp>
      <p:sp>
        <p:nvSpPr>
          <p:cNvPr id="15" name="Text 13"/>
          <p:cNvSpPr txBox="1"/>
          <p:nvPr/>
        </p:nvSpPr>
        <p:spPr>
          <a:xfrm>
            <a:off x="7690104"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MINUTES</a:t>
            </a:r>
            <a:endParaRPr lang="en-US" sz="1100" dirty="0"/>
          </a:p>
        </p:txBody>
      </p:sp>
      <p:sp>
        <p:nvSpPr>
          <p:cNvPr id="16" name="Shape 14"/>
          <p:cNvSpPr/>
          <p:nvPr/>
        </p:nvSpPr>
        <p:spPr>
          <a:xfrm>
            <a:off x="9701784" y="4206240"/>
            <a:ext cx="1956816" cy="841248"/>
          </a:xfrm>
          <a:prstGeom prst="roundRect">
            <a:avLst>
              <a:gd name="adj" fmla="val 15217"/>
            </a:avLst>
          </a:prstGeom>
          <a:solidFill>
            <a:srgbClr val="1C4E39"/>
          </a:solidFill>
          <a:ln w="12700">
            <a:solidFill>
              <a:srgbClr val="2A6249"/>
            </a:solidFill>
            <a:prstDash val="solid"/>
          </a:ln>
        </p:spPr>
      </p:sp>
      <p:sp>
        <p:nvSpPr>
          <p:cNvPr id="17" name="Text 15"/>
          <p:cNvSpPr txBox="1"/>
          <p:nvPr/>
        </p:nvSpPr>
        <p:spPr>
          <a:xfrm>
            <a:off x="9866376" y="4315968"/>
            <a:ext cx="1627632" cy="329184"/>
          </a:xfrm>
          <a:prstGeom prst="rect">
            <a:avLst/>
          </a:prstGeom>
          <a:noFill/>
          <a:ln/>
        </p:spPr>
        <p:txBody>
          <a:bodyPr wrap="square" lIns="0" tIns="0" rIns="0" bIns="0" rtlCol="0" anchor="ctr"/>
          <a:lstStyle/>
          <a:p>
            <a:pPr indent="0" marL="0">
              <a:buNone/>
            </a:pPr>
            <a:r>
              <a:rPr lang="en-US" sz="2100" b="1" dirty="0">
                <a:solidFill>
                  <a:srgbClr val="F2A93B"/>
                </a:solidFill>
                <a:latin typeface="Calibri" pitchFamily="34" charset="0"/>
                <a:ea typeface="Calibri" pitchFamily="34" charset="-122"/>
                <a:cs typeface="Calibri" pitchFamily="34" charset="-120"/>
              </a:rPr>
              <a:t>5</a:t>
            </a:r>
            <a:endParaRPr lang="en-US" sz="2100" dirty="0"/>
          </a:p>
        </p:txBody>
      </p:sp>
      <p:sp>
        <p:nvSpPr>
          <p:cNvPr id="18" name="Text 16"/>
          <p:cNvSpPr txBox="1"/>
          <p:nvPr/>
        </p:nvSpPr>
        <p:spPr>
          <a:xfrm>
            <a:off x="9866376" y="4663440"/>
            <a:ext cx="1627632" cy="274320"/>
          </a:xfrm>
          <a:prstGeom prst="rect">
            <a:avLst/>
          </a:prstGeom>
          <a:noFill/>
          <a:ln/>
        </p:spPr>
        <p:txBody>
          <a:bodyPr wrap="square" lIns="0" tIns="0" rIns="0" bIns="0" rtlCol="0" anchor="ctr"/>
          <a:lstStyle/>
          <a:p>
            <a:pPr indent="0" marL="0">
              <a:buNone/>
            </a:pPr>
            <a:r>
              <a:rPr lang="en-US" sz="1100" dirty="0">
                <a:solidFill>
                  <a:srgbClr val="9DB3A6"/>
                </a:solidFill>
                <a:latin typeface="Calibri" pitchFamily="34" charset="0"/>
                <a:ea typeface="Calibri" pitchFamily="34" charset="-122"/>
                <a:cs typeface="Calibri" pitchFamily="34" charset="-120"/>
              </a:rPr>
              <a:t>NEW VERBS</a:t>
            </a:r>
            <a:endParaRPr lang="en-US" sz="1100" dirty="0"/>
          </a:p>
        </p:txBody>
      </p:sp>
      <p:sp>
        <p:nvSpPr>
          <p:cNvPr id="19" name="Text 17"/>
          <p:cNvSpPr txBox="1"/>
          <p:nvPr/>
        </p:nvSpPr>
        <p:spPr>
          <a:xfrm>
            <a:off x="5349240" y="5349240"/>
            <a:ext cx="6309360" cy="365760"/>
          </a:xfrm>
          <a:prstGeom prst="rect">
            <a:avLst/>
          </a:prstGeom>
          <a:noFill/>
          <a:ln/>
        </p:spPr>
        <p:txBody>
          <a:bodyPr wrap="square" lIns="0" tIns="0" rIns="0" bIns="0" rtlCol="0" anchor="ctr"/>
          <a:lstStyle/>
          <a:p>
            <a:pPr indent="0" marL="0">
              <a:buNone/>
            </a:pPr>
            <a:r>
              <a:rPr lang="en-US" sz="1200" dirty="0">
                <a:solidFill>
                  <a:srgbClr val="7C9488"/>
                </a:solidFill>
                <a:latin typeface="Calibri" pitchFamily="34" charset="0"/>
                <a:ea typeface="Calibri" pitchFamily="34" charset="-122"/>
                <a:cs typeface="Calibri" pitchFamily="34" charset="-120"/>
              </a:rPr>
              <a:t>Teacher: ____________________   Class: ____________   Date: ____________</a:t>
            </a:r>
            <a:endParaRPr lang="en-US" sz="1200" dirty="0"/>
          </a:p>
        </p:txBody>
      </p:sp>
      <p:sp>
        <p:nvSpPr>
          <p:cNvPr id="20" name="Text 18"/>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21" name="Text 19"/>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LEARNING OBJECTIVES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What you will be able to do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Five things — all about the present moment.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29968"/>
            <a:ext cx="402336" cy="402336"/>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945" y="2126529"/>
            <a:ext cx="209215" cy="209215"/>
          </a:xfrm>
          <a:prstGeom prst="rect">
            <a:avLst/>
          </a:prstGeom>
        </p:spPr>
      </p:pic>
      <p:sp>
        <p:nvSpPr>
          <p:cNvPr id="14" name="Text 9"/>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Say what is happening right now</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am studying English.”  “They are playing football.”</a:t>
            </a:r>
            <a:endParaRPr lang="en-US" sz="1580" dirty="0"/>
          </a:p>
        </p:txBody>
      </p:sp>
      <p:sp>
        <p:nvSpPr>
          <p:cNvPr id="15" name="Shape 10"/>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1"/>
          <p:cNvSpPr/>
          <p:nvPr/>
        </p:nvSpPr>
        <p:spPr>
          <a:xfrm>
            <a:off x="786384" y="2871216"/>
            <a:ext cx="402336" cy="402336"/>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882945" y="2967777"/>
            <a:ext cx="209215" cy="209215"/>
          </a:xfrm>
          <a:prstGeom prst="rect">
            <a:avLst/>
          </a:prstGeom>
        </p:spPr>
      </p:pic>
      <p:sp>
        <p:nvSpPr>
          <p:cNvPr id="18" name="Text 12"/>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Spell the -ing form correctly</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run → running · write → writing · study → studying. Three rules.</a:t>
            </a:r>
            <a:endParaRPr lang="en-US" sz="1580" dirty="0"/>
          </a:p>
        </p:txBody>
      </p:sp>
      <p:sp>
        <p:nvSpPr>
          <p:cNvPr id="19" name="Shape 13"/>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4"/>
          <p:cNvSpPr/>
          <p:nvPr/>
        </p:nvSpPr>
        <p:spPr>
          <a:xfrm>
            <a:off x="786384" y="3712464"/>
            <a:ext cx="402336" cy="402336"/>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82945" y="3809025"/>
            <a:ext cx="209215" cy="209215"/>
          </a:xfrm>
          <a:prstGeom prst="rect">
            <a:avLst/>
          </a:prstGeom>
        </p:spPr>
      </p:pic>
      <p:sp>
        <p:nvSpPr>
          <p:cNvPr id="22" name="Text 15"/>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Ask what someone is doing</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“What are you doing?”  “Is she working today?”</a:t>
            </a:r>
            <a:endParaRPr lang="en-US" sz="1580" dirty="0"/>
          </a:p>
        </p:txBody>
      </p:sp>
      <p:sp>
        <p:nvSpPr>
          <p:cNvPr id="23" name="Shape 16"/>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17"/>
          <p:cNvSpPr/>
          <p:nvPr/>
        </p:nvSpPr>
        <p:spPr>
          <a:xfrm>
            <a:off x="786384" y="4553712"/>
            <a:ext cx="402336" cy="402336"/>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945" y="4650273"/>
            <a:ext cx="209215" cy="209215"/>
          </a:xfrm>
          <a:prstGeom prst="rect">
            <a:avLst/>
          </a:prstGeom>
        </p:spPr>
      </p:pic>
      <p:sp>
        <p:nvSpPr>
          <p:cNvPr id="26" name="Text 18"/>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Describe a picture in detail</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“A woman is selling tomatoes. Two children are running.”</a:t>
            </a:r>
            <a:endParaRPr lang="en-US" sz="1580" dirty="0"/>
          </a:p>
        </p:txBody>
      </p:sp>
      <p:sp>
        <p:nvSpPr>
          <p:cNvPr id="27" name="Shape 19"/>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0"/>
          <p:cNvSpPr/>
          <p:nvPr/>
        </p:nvSpPr>
        <p:spPr>
          <a:xfrm>
            <a:off x="786384" y="5394960"/>
            <a:ext cx="402336" cy="402336"/>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882945" y="5491521"/>
            <a:ext cx="209215" cy="209215"/>
          </a:xfrm>
          <a:prstGeom prst="rect">
            <a:avLst/>
          </a:prstGeom>
        </p:spPr>
      </p:pic>
      <p:sp>
        <p:nvSpPr>
          <p:cNvPr id="30" name="Text 21"/>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580" b="1" dirty="0">
                <a:solidFill>
                  <a:srgbClr val="12211B"/>
                </a:solidFill>
                <a:latin typeface="Calibri" pitchFamily="34" charset="0"/>
                <a:ea typeface="Calibri" pitchFamily="34" charset="-122"/>
                <a:cs typeface="Calibri" pitchFamily="34" charset="-120"/>
              </a:rPr>
              <a:t>Choose between the two present tenses</a:t>
            </a:r>
            <a:endParaRPr lang="en-US" sz="1580" dirty="0"/>
          </a:p>
          <a:p>
            <a:pPr indent="0" marL="0">
              <a:lnSpc>
                <a:spcPct val="102000"/>
              </a:lnSpc>
              <a:spcBef>
                <a:spcPts val="225"/>
              </a:spcBef>
              <a:buNone/>
            </a:pPr>
            <a:r>
              <a:rPr lang="en-US" sz="1200" dirty="0">
                <a:solidFill>
                  <a:srgbClr val="3A473F"/>
                </a:solidFill>
                <a:latin typeface="Calibri" pitchFamily="34" charset="0"/>
                <a:ea typeface="Calibri" pitchFamily="34" charset="-122"/>
                <a:cs typeface="Calibri" pitchFamily="34" charset="-120"/>
              </a:rPr>
              <a:t>“I drink coffee every day.”  vs  “I am drinking coffee now.”</a:t>
            </a:r>
            <a:endParaRPr lang="en-US" sz="15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WARM-UP</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Warm-up: right now</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wrong answers. Nobody is corrected here.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a:t>
            </a:r>
            <a:endParaRPr lang="en-US" sz="1100" dirty="0"/>
          </a:p>
        </p:txBody>
      </p:sp>
      <p:sp>
        <p:nvSpPr>
          <p:cNvPr id="11" name="Shape 7"/>
          <p:cNvSpPr/>
          <p:nvPr/>
        </p:nvSpPr>
        <p:spPr>
          <a:xfrm>
            <a:off x="548640" y="1883664"/>
            <a:ext cx="3564026" cy="4059936"/>
          </a:xfrm>
          <a:prstGeom prst="roundRect">
            <a:avLst>
              <a:gd name="adj" fmla="val 3592"/>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Look around</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are three people in this room doing at this moment? Say it any way you can.</a:t>
            </a:r>
            <a:endParaRPr lang="en-US" sz="2100" dirty="0"/>
          </a:p>
        </p:txBody>
      </p:sp>
      <p:sp>
        <p:nvSpPr>
          <p:cNvPr id="15" name="Shape 10"/>
          <p:cNvSpPr/>
          <p:nvPr/>
        </p:nvSpPr>
        <p:spPr>
          <a:xfrm>
            <a:off x="4313834" y="1883664"/>
            <a:ext cx="3564026" cy="4059936"/>
          </a:xfrm>
          <a:prstGeom prst="roundRect">
            <a:avLst>
              <a:gd name="adj" fmla="val 3592"/>
            </a:avLst>
          </a:prstGeom>
          <a:solidFill>
            <a:srgbClr val="FDF3E7"/>
          </a:solidFill>
          <a:ln w="12700">
            <a:solidFill>
              <a:srgbClr val="EFDCB2"/>
            </a:solidFill>
            <a:prstDash val="solid"/>
          </a:ln>
        </p:spPr>
      </p:sp>
      <p:sp>
        <p:nvSpPr>
          <p:cNvPr id="16" name="Shape 11"/>
          <p:cNvSpPr/>
          <p:nvPr/>
        </p:nvSpPr>
        <p:spPr>
          <a:xfrm>
            <a:off x="4533290"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Mime it</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Your teacher does an action. Say what they are doing. Any words you know.</a:t>
            </a:r>
            <a:endParaRPr lang="en-US" sz="2100" dirty="0"/>
          </a:p>
        </p:txBody>
      </p:sp>
      <p:sp>
        <p:nvSpPr>
          <p:cNvPr id="19" name="Shape 13"/>
          <p:cNvSpPr/>
          <p:nvPr/>
        </p:nvSpPr>
        <p:spPr>
          <a:xfrm>
            <a:off x="8079029" y="1883664"/>
            <a:ext cx="3564026" cy="4059936"/>
          </a:xfrm>
          <a:prstGeom prst="roundRect">
            <a:avLst>
              <a:gd name="adj" fmla="val 3592"/>
            </a:avLst>
          </a:prstGeom>
          <a:solidFill>
            <a:srgbClr val="FDF3E7"/>
          </a:solidFill>
          <a:ln w="12700">
            <a:solidFill>
              <a:srgbClr val="EFDCB2"/>
            </a:solidFill>
            <a:prstDash val="solid"/>
          </a:ln>
        </p:spPr>
      </p:sp>
      <p:sp>
        <p:nvSpPr>
          <p:cNvPr id="20" name="Shape 14"/>
          <p:cNvSpPr/>
          <p:nvPr/>
        </p:nvSpPr>
        <p:spPr>
          <a:xfrm>
            <a:off x="8298485" y="2103120"/>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Two times</a:t>
            </a:r>
            <a:endParaRPr lang="en-US" sz="21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What do you do every morning? What are you doing now? Notice they are different.</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INTRODUCTION</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Two present tenses. One is for always. One is for now.</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 work in a shop.”  — that is my job, every day.</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“I am working now.”  — that is this moment, and it will stop.</a:t>
            </a:r>
            <a:endParaRPr lang="en-US" sz="1500" dirty="0"/>
          </a:p>
          <a:p>
            <a:pPr indent="0" marL="0">
              <a:lnSpc>
                <a:spcPct val="120000"/>
              </a:lnSpc>
              <a:buNone/>
            </a:pPr>
            <a:r>
              <a:rPr lang="en-US" sz="1500" dirty="0">
                <a:solidFill>
                  <a:srgbClr val="B9CFC1"/>
                </a:solidFill>
                <a:latin typeface="Calibri" pitchFamily="34" charset="0"/>
                <a:ea typeface="Calibri" pitchFamily="34" charset="-122"/>
                <a:cs typeface="Calibri" pitchFamily="34" charset="-120"/>
              </a:rPr>
              <a:t>English keeps these two completely separate. Most languages do not.</a:t>
            </a:r>
            <a:endParaRPr lang="en-US" sz="150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Every day  →  present simple</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Right now  →  present continuous</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Never mix them</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Three jobs the present continuous does</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All three are about now, or about a temporary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a:t>
            </a:r>
            <a:endParaRPr lang="en-US" sz="1100" dirty="0"/>
          </a:p>
        </p:txBody>
      </p:sp>
      <p:sp>
        <p:nvSpPr>
          <p:cNvPr id="11" name="Shape 7"/>
          <p:cNvSpPr/>
          <p:nvPr/>
        </p:nvSpPr>
        <p:spPr>
          <a:xfrm>
            <a:off x="548640"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1 · At this moment</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Happening as you speak.</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am writing on the board.”</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“The baby is sleeping.”</a:t>
            </a:r>
            <a:endParaRPr lang="en-US" sz="2100" dirty="0"/>
          </a:p>
        </p:txBody>
      </p:sp>
      <p:sp>
        <p:nvSpPr>
          <p:cNvPr id="15" name="Shape 10"/>
          <p:cNvSpPr/>
          <p:nvPr/>
        </p:nvSpPr>
        <p:spPr>
          <a:xfrm>
            <a:off x="4313834"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2 · Around this time</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Not this second, but this period.</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“I am studying English this year.”</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“She is working in Adama this month.”</a:t>
            </a:r>
            <a:endParaRPr lang="en-US" sz="2100" dirty="0"/>
          </a:p>
        </p:txBody>
      </p:sp>
      <p:sp>
        <p:nvSpPr>
          <p:cNvPr id="19" name="Shape 13"/>
          <p:cNvSpPr/>
          <p:nvPr/>
        </p:nvSpPr>
        <p:spPr>
          <a:xfrm>
            <a:off x="8079029" y="1883664"/>
            <a:ext cx="3564026" cy="4059936"/>
          </a:xfrm>
          <a:prstGeom prst="roundRect">
            <a:avLst>
              <a:gd name="adj" fmla="val 3592"/>
            </a:avLst>
          </a:prstGeom>
          <a:solidFill>
            <a:srgbClr val="FFFFFF"/>
          </a:solidFill>
          <a:ln w="12700">
            <a:solidFill>
              <a:srgbClr val="E3E9E5"/>
            </a:solidFill>
            <a:prstDash val="solid"/>
          </a:ln>
          <a:effectLst>
            <a:outerShdw sx="100000" sy="100000" kx="0" ky="0" algn="bl" rotWithShape="0" blurRad="101600" dist="25400" dir="5400000">
              <a:srgbClr val="94A69C">
                <a:alpha val="30000"/>
              </a:srgbClr>
            </a:outerShdw>
          </a:effectLst>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3054096"/>
          </a:xfrm>
          <a:prstGeom prst="rect">
            <a:avLst/>
          </a:prstGeom>
          <a:noFill/>
          <a:ln/>
        </p:spPr>
        <p:txBody>
          <a:bodyPr wrap="square" lIns="0" tIns="0" rIns="0" bIns="0" rtlCol="0" anchor="t"/>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3 · Describing a scene</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What you can see happening.</a:t>
            </a:r>
            <a:endParaRPr lang="en-US" sz="2100" dirty="0"/>
          </a:p>
          <a:p>
            <a:pPr indent="0" marL="0">
              <a:lnSpc>
                <a:spcPct val="102000"/>
              </a:lnSpc>
              <a:spcBef>
                <a:spcPts val="400"/>
              </a:spcBef>
              <a:buNone/>
            </a:pP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“A woman is selling tomatoes.”</a:t>
            </a:r>
            <a:endParaRPr lang="en-US" sz="2100" dirty="0"/>
          </a:p>
          <a:p>
            <a:pPr indent="0" marL="0">
              <a:lnSpc>
                <a:spcPct val="102000"/>
              </a:lnSpc>
              <a:spcBef>
                <a:spcPts val="400"/>
              </a:spcBef>
              <a:buNone/>
            </a:pPr>
            <a:r>
              <a:rPr lang="en-US" sz="1600" dirty="0">
                <a:solidFill>
                  <a:srgbClr val="3A473F"/>
                </a:solidFill>
                <a:latin typeface="Calibri" pitchFamily="34" charset="0"/>
                <a:ea typeface="Calibri" pitchFamily="34" charset="-122"/>
                <a:cs typeface="Calibri" pitchFamily="34" charset="-120"/>
              </a:rPr>
              <a:t>“Two men are carrying a table.”</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form — two parts, always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am / is / are  +  the verb with -ing.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194560"/>
                <a:gridCol w="2377440"/>
                <a:gridCol w="2743200"/>
                <a:gridCol w="3779215"/>
              </a:tblGrid>
              <a:tr h="402336">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Person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be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 + 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I</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am</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 am working now.</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You</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reading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You are reading a book.</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He / she /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sleeping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is sleeping.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02336">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We / they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playing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They are playing football.</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BOTH parts are needed. “I working” is wrong. “I am work” is wrong. You need am/is/are AND the -ing together.</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three spelling rules for -ing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Most verbs just add -ing. Two groups change first.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657600"/>
                <a:gridCol w="3108960"/>
                <a:gridCol w="4327855"/>
              </a:tblGrid>
              <a:tr h="475488">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Rule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Verbs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-ing form</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7548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Most verbs: add -ing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 · read · play · study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working · reading · playing · studying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7548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Ends in -e: drop the 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write · come · make · live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writing · coming · making · living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75488">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vowel + one consonant: double it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run · sit · get · stop</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running · sitting · getting · stopping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Notice: “study” keeps its y and just adds -ing → studying. The y only changes for the -s ending in Module 1, never for -ing.</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Negatives and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Easier than Module 1 — no “do” or “does” at all.</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8</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2743200"/>
                <a:gridCol w="3840480"/>
                <a:gridCol w="451073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Type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Pattern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0E7C5A"/>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Positive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subject + am/is/are + -ing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is working.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Negative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add “not” after am/is/are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She is not working.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Question</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am/is/are before the subject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Is she working?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Short answer</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keep am/is/are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Yes, she is.  /  No, she is not.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Good news: this works exactly like the verb “to be” in Level 1. “She is a nurse” → “Is she a nurse?” · “She is working” → “Is she working?”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The big one — simple or continuous?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Same verb, same person, two completely different meanings.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9</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Present simple — every day</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drink coffee every morning.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works in a bank.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live in Gondar.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teaches English.</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Present continuous — right now</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drinking coffee now.</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working today.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are living in Adama this year.</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He is teaching Level 2 now.</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Ask one question:  is this ALWAYS true, or is it happening AT THIS MOMENT?   Always → simple.   Now → continuous.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CONCEPT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Describing what you can see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things to say about any picture or scene.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10</a:t>
            </a:r>
            <a:endParaRPr lang="en-US" sz="1100" dirty="0"/>
          </a:p>
        </p:txBody>
      </p:sp>
      <p:sp>
        <p:nvSpPr>
          <p:cNvPr id="11" name="Shape 7"/>
          <p:cNvSpPr/>
          <p:nvPr/>
        </p:nvSpPr>
        <p:spPr>
          <a:xfrm>
            <a:off x="548640" y="1883664"/>
            <a:ext cx="2622728" cy="4059936"/>
          </a:xfrm>
          <a:prstGeom prst="roundRect">
            <a:avLst>
              <a:gd name="adj" fmla="val 4881"/>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 Who</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“There is a woman.”</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“There are three children.”</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Uses “there is / there are” from Level 1.</a:t>
            </a:r>
            <a:endParaRPr lang="en-US" sz="2000" dirty="0"/>
          </a:p>
        </p:txBody>
      </p:sp>
      <p:sp>
        <p:nvSpPr>
          <p:cNvPr id="15" name="Shape 10"/>
          <p:cNvSpPr/>
          <p:nvPr/>
        </p:nvSpPr>
        <p:spPr>
          <a:xfrm>
            <a:off x="3372536" y="1883664"/>
            <a:ext cx="2622728" cy="4059936"/>
          </a:xfrm>
          <a:prstGeom prst="roundRect">
            <a:avLst>
              <a:gd name="adj" fmla="val 4881"/>
            </a:avLst>
          </a:prstGeom>
          <a:solidFill>
            <a:srgbClr val="F6F9F7"/>
          </a:solidFill>
          <a:ln w="12700">
            <a:solidFill>
              <a:srgbClr val="E3E9E5"/>
            </a:solidFill>
            <a:prstDash val="solid"/>
          </a:ln>
        </p:spPr>
      </p:sp>
      <p:sp>
        <p:nvSpPr>
          <p:cNvPr id="16" name="Shape 11"/>
          <p:cNvSpPr/>
          <p:nvPr/>
        </p:nvSpPr>
        <p:spPr>
          <a:xfrm>
            <a:off x="3591992"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3706292" y="2217420"/>
            <a:ext cx="228600" cy="228600"/>
          </a:xfrm>
          <a:prstGeom prst="rect">
            <a:avLst/>
          </a:prstGeom>
        </p:spPr>
      </p:pic>
      <p:sp>
        <p:nvSpPr>
          <p:cNvPr id="18" name="Text 12"/>
          <p:cNvSpPr/>
          <p:nvPr/>
        </p:nvSpPr>
        <p:spPr>
          <a:xfrm>
            <a:off x="3591992"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 What they are doing</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“She is selling tomatoes.”</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“They are running.”</a:t>
            </a:r>
            <a:endParaRPr lang="en-US" sz="2000" dirty="0"/>
          </a:p>
          <a:p>
            <a:pPr indent="0" marL="0">
              <a:lnSpc>
                <a:spcPct val="102000"/>
              </a:lnSpc>
              <a:spcBef>
                <a:spcPts val="400"/>
              </a:spcBef>
              <a:buNone/>
            </a:pP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 present continuous.</a:t>
            </a:r>
            <a:endParaRPr lang="en-US" sz="2000" dirty="0"/>
          </a:p>
        </p:txBody>
      </p:sp>
      <p:sp>
        <p:nvSpPr>
          <p:cNvPr id="19" name="Shape 13"/>
          <p:cNvSpPr/>
          <p:nvPr/>
        </p:nvSpPr>
        <p:spPr>
          <a:xfrm>
            <a:off x="6196432" y="1883664"/>
            <a:ext cx="2622728" cy="4059936"/>
          </a:xfrm>
          <a:prstGeom prst="roundRect">
            <a:avLst>
              <a:gd name="adj" fmla="val 4881"/>
            </a:avLst>
          </a:prstGeom>
          <a:solidFill>
            <a:srgbClr val="F6F9F7"/>
          </a:solidFill>
          <a:ln w="12700">
            <a:solidFill>
              <a:srgbClr val="E3E9E5"/>
            </a:solidFill>
            <a:prstDash val="solid"/>
          </a:ln>
        </p:spPr>
      </p:sp>
      <p:sp>
        <p:nvSpPr>
          <p:cNvPr id="20" name="Shape 14"/>
          <p:cNvSpPr/>
          <p:nvPr/>
        </p:nvSpPr>
        <p:spPr>
          <a:xfrm>
            <a:off x="6415888"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6530188" y="2217420"/>
            <a:ext cx="228600" cy="228600"/>
          </a:xfrm>
          <a:prstGeom prst="rect">
            <a:avLst/>
          </a:prstGeom>
        </p:spPr>
      </p:pic>
      <p:sp>
        <p:nvSpPr>
          <p:cNvPr id="22" name="Text 15"/>
          <p:cNvSpPr/>
          <p:nvPr/>
        </p:nvSpPr>
        <p:spPr>
          <a:xfrm>
            <a:off x="6415888"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 What they are wearing</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“He is wearing a blue shirt.”</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“She is wearing a netela.”</a:t>
            </a:r>
            <a:endParaRPr lang="en-US" sz="2000" dirty="0"/>
          </a:p>
        </p:txBody>
      </p:sp>
      <p:sp>
        <p:nvSpPr>
          <p:cNvPr id="23" name="Shape 16"/>
          <p:cNvSpPr/>
          <p:nvPr/>
        </p:nvSpPr>
        <p:spPr>
          <a:xfrm>
            <a:off x="9020327" y="1883664"/>
            <a:ext cx="2622728" cy="4059936"/>
          </a:xfrm>
          <a:prstGeom prst="roundRect">
            <a:avLst>
              <a:gd name="adj" fmla="val 4881"/>
            </a:avLst>
          </a:prstGeom>
          <a:solidFill>
            <a:srgbClr val="F6F9F7"/>
          </a:solidFill>
          <a:ln w="12700">
            <a:solidFill>
              <a:srgbClr val="E3E9E5"/>
            </a:solidFill>
            <a:prstDash val="solid"/>
          </a:ln>
        </p:spPr>
      </p:sp>
      <p:sp>
        <p:nvSpPr>
          <p:cNvPr id="24" name="Shape 17"/>
          <p:cNvSpPr/>
          <p:nvPr/>
        </p:nvSpPr>
        <p:spPr>
          <a:xfrm>
            <a:off x="9239783" y="2103120"/>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9354083" y="2217420"/>
            <a:ext cx="228600" cy="228600"/>
          </a:xfrm>
          <a:prstGeom prst="rect">
            <a:avLst/>
          </a:prstGeom>
        </p:spPr>
      </p:pic>
      <p:sp>
        <p:nvSpPr>
          <p:cNvPr id="26" name="Text 18"/>
          <p:cNvSpPr/>
          <p:nvPr/>
        </p:nvSpPr>
        <p:spPr>
          <a:xfrm>
            <a:off x="9239783" y="2706624"/>
            <a:ext cx="2183816" cy="3054096"/>
          </a:xfrm>
          <a:prstGeom prst="rect">
            <a:avLst/>
          </a:prstGeom>
          <a:noFill/>
          <a:ln/>
        </p:spPr>
        <p:txBody>
          <a:bodyPr wrap="square" lIns="0" tIns="0" rIns="0" bIns="0" rtlCol="0" anchor="t"/>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 Where things are</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“The bag is on the table.”</a:t>
            </a:r>
            <a:endParaRPr lang="en-US" sz="2000" dirty="0"/>
          </a:p>
          <a:p>
            <a:pPr indent="0" marL="0">
              <a:lnSpc>
                <a:spcPct val="102000"/>
              </a:lnSpc>
              <a:spcBef>
                <a:spcPts val="400"/>
              </a:spcBef>
              <a:buNone/>
            </a:pPr>
            <a:r>
              <a:rPr lang="en-US" sz="1500" dirty="0">
                <a:solidFill>
                  <a:srgbClr val="3A473F"/>
                </a:solidFill>
                <a:latin typeface="Calibri" pitchFamily="34" charset="0"/>
                <a:ea typeface="Calibri" pitchFamily="34" charset="-122"/>
                <a:cs typeface="Calibri" pitchFamily="34" charset="-120"/>
              </a:rPr>
              <a:t>“A bus is behind them.”</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wear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11</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wear</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/weə/</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have clothes on your body.</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00" b="1" dirty="0">
                <a:solidFill>
                  <a:srgbClr val="12211B"/>
                </a:solidFill>
                <a:latin typeface="Calibri" pitchFamily="34" charset="0"/>
                <a:ea typeface="Calibri" pitchFamily="34" charset="-122"/>
                <a:cs typeface="Calibri" pitchFamily="34" charset="-120"/>
              </a:rPr>
              <a:t>She is wearing a blue dress. I wear a uniform at work.</a:t>
            </a:r>
            <a:endParaRPr lang="en-US" sz="18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Do not confuse “wear” with “put on”. You PUT ON a shirt (the action, one moment) and then you WEAR it (the state, all day).</a:t>
            </a:r>
            <a:endParaRPr lang="en-US" sz="1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carry</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12</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carry</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/ˈkæri/</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hold something and move with it.</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600" b="1" dirty="0">
                <a:solidFill>
                  <a:srgbClr val="12211B"/>
                </a:solidFill>
                <a:latin typeface="Calibri" pitchFamily="34" charset="0"/>
                <a:ea typeface="Calibri" pitchFamily="34" charset="-122"/>
                <a:cs typeface="Calibri" pitchFamily="34" charset="-120"/>
              </a:rPr>
              <a:t>He is carrying a heavy bag. She carries her books to school.</a:t>
            </a:r>
            <a:endParaRPr lang="en-US" sz="16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Two forms to watch: the -ing form keeps the y — “carrying” — but the -s form from Module 1 changes it — “carries”. Same verb, two different rules.</a:t>
            </a:r>
            <a:endParaRPr lang="en-US" sz="1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wait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13</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wait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/weɪt/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stay in one place until something happens.</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450" b="1" dirty="0">
                <a:solidFill>
                  <a:srgbClr val="12211B"/>
                </a:solidFill>
                <a:latin typeface="Calibri" pitchFamily="34" charset="0"/>
                <a:ea typeface="Calibri" pitchFamily="34" charset="-122"/>
                <a:cs typeface="Calibri" pitchFamily="34" charset="-120"/>
              </a:rPr>
              <a:t>I am waiting for the bus. She waits for her friend every morning.</a:t>
            </a:r>
            <a:endParaRPr lang="en-US" sz="14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You wait FOR someone or something — the preposition is part of the phrase. “I am waiting the bus” is wrong.</a:t>
            </a:r>
            <a:endParaRPr lang="en-US" sz="1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look at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14</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look at</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/lʊk æt/</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turn your eyes towards something on purpose.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850" b="1" dirty="0">
                <a:solidFill>
                  <a:srgbClr val="12211B"/>
                </a:solidFill>
                <a:latin typeface="Calibri" pitchFamily="34" charset="0"/>
                <a:ea typeface="Calibri" pitchFamily="34" charset="-122"/>
                <a:cs typeface="Calibri" pitchFamily="34" charset="-120"/>
              </a:rPr>
              <a:t>They are looking at the board. Look at this picture.</a:t>
            </a:r>
            <a:endParaRPr lang="en-US" sz="185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Three similar verbs: LOOK AT (you choose to), SEE (it happens), WATCH (for a long time). “I am watching television” — not “looking television”.</a:t>
            </a:r>
            <a:endParaRPr lang="en-US" sz="1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E8963A"/>
          </a:solidFill>
          <a:ln/>
        </p:spPr>
      </p:sp>
      <p:sp>
        <p:nvSpPr>
          <p:cNvPr id="3" name="Shape 1"/>
          <p:cNvSpPr/>
          <p:nvPr/>
        </p:nvSpPr>
        <p:spPr>
          <a:xfrm>
            <a:off x="649224" y="539496"/>
            <a:ext cx="219456" cy="219456"/>
          </a:xfrm>
          <a:prstGeom prst="ellipse">
            <a:avLst/>
          </a:prstGeom>
          <a:solidFill>
            <a:srgbClr val="E8963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VOCABULARY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New verb: listen to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Word · pronunciation · meaning · example · common mistake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15</a:t>
            </a:r>
            <a:endParaRPr lang="en-US" sz="1100" dirty="0"/>
          </a:p>
        </p:txBody>
      </p:sp>
      <p:sp>
        <p:nvSpPr>
          <p:cNvPr id="11" name="Shape 7"/>
          <p:cNvSpPr/>
          <p:nvPr/>
        </p:nvSpPr>
        <p:spPr>
          <a:xfrm>
            <a:off x="548640" y="1883664"/>
            <a:ext cx="4114800" cy="4059936"/>
          </a:xfrm>
          <a:prstGeom prst="roundRect">
            <a:avLst>
              <a:gd name="adj" fmla="val 3153"/>
            </a:avLst>
          </a:prstGeom>
          <a:solidFill>
            <a:srgbClr val="FDF3E7"/>
          </a:solidFill>
          <a:ln w="12700">
            <a:solidFill>
              <a:srgbClr val="E8963A"/>
            </a:solidFill>
            <a:prstDash val="solid"/>
          </a:ln>
        </p:spPr>
      </p:sp>
      <p:sp>
        <p:nvSpPr>
          <p:cNvPr id="12" name="Shape 8"/>
          <p:cNvSpPr/>
          <p:nvPr/>
        </p:nvSpPr>
        <p:spPr>
          <a:xfrm>
            <a:off x="1920240" y="2267712"/>
            <a:ext cx="1371600" cy="1371600"/>
          </a:xfrm>
          <a:prstGeom prst="ellipse">
            <a:avLst/>
          </a:prstGeom>
          <a:solidFill>
            <a:srgbClr val="E8963A"/>
          </a:solidFill>
          <a:ln/>
        </p:spPr>
      </p:sp>
      <p:pic>
        <p:nvPicPr>
          <p:cNvPr id="13" name="Image 1" descr="preencoded.png">    </p:cNvPr>
          <p:cNvPicPr>
            <a:picLocks noChangeAspect="1"/>
          </p:cNvPicPr>
          <p:nvPr/>
        </p:nvPicPr>
        <p:blipFill>
          <a:blip r:embed="rId2"/>
          <a:stretch>
            <a:fillRect/>
          </a:stretch>
        </p:blipFill>
        <p:spPr>
          <a:xfrm>
            <a:off x="2263140" y="2610612"/>
            <a:ext cx="685800" cy="685800"/>
          </a:xfrm>
          <a:prstGeom prst="rect">
            <a:avLst/>
          </a:prstGeom>
        </p:spPr>
      </p:pic>
      <p:sp>
        <p:nvSpPr>
          <p:cNvPr id="14" name="Text 9"/>
          <p:cNvSpPr txBox="1"/>
          <p:nvPr/>
        </p:nvSpPr>
        <p:spPr>
          <a:xfrm>
            <a:off x="731520" y="3858768"/>
            <a:ext cx="3749040" cy="749808"/>
          </a:xfrm>
          <a:prstGeom prst="rect">
            <a:avLst/>
          </a:prstGeom>
          <a:noFill/>
          <a:ln/>
        </p:spPr>
        <p:txBody>
          <a:bodyPr wrap="square" lIns="0" tIns="0" rIns="0" bIns="0" rtlCol="0" anchor="ctr"/>
          <a:lstStyle/>
          <a:p>
            <a:pPr algn="ctr" indent="0" marL="0">
              <a:buNone/>
            </a:pPr>
            <a:r>
              <a:rPr lang="en-US" sz="4900" b="1" dirty="0">
                <a:solidFill>
                  <a:srgbClr val="12211B"/>
                </a:solidFill>
                <a:latin typeface="Calibri" pitchFamily="34" charset="0"/>
                <a:ea typeface="Calibri" pitchFamily="34" charset="-122"/>
                <a:cs typeface="Calibri" pitchFamily="34" charset="-120"/>
              </a:rPr>
              <a:t>listen to</a:t>
            </a:r>
            <a:endParaRPr lang="en-US" sz="4900" dirty="0"/>
          </a:p>
        </p:txBody>
      </p:sp>
      <p:sp>
        <p:nvSpPr>
          <p:cNvPr id="15" name="Text 10"/>
          <p:cNvSpPr txBox="1"/>
          <p:nvPr/>
        </p:nvSpPr>
        <p:spPr>
          <a:xfrm>
            <a:off x="731520" y="4626864"/>
            <a:ext cx="3749040" cy="365760"/>
          </a:xfrm>
          <a:prstGeom prst="rect">
            <a:avLst/>
          </a:prstGeom>
          <a:noFill/>
          <a:ln/>
        </p:spPr>
        <p:txBody>
          <a:bodyPr wrap="square" lIns="0" tIns="0" rIns="0" bIns="0" rtlCol="0" anchor="ctr"/>
          <a:lstStyle/>
          <a:p>
            <a:pPr algn="ctr" indent="0" marL="0">
              <a:buNone/>
            </a:pPr>
            <a:r>
              <a:rPr lang="en-US" sz="2200" dirty="0">
                <a:solidFill>
                  <a:srgbClr val="7A4A0E"/>
                </a:solidFill>
                <a:latin typeface="Calibri" pitchFamily="34" charset="0"/>
                <a:ea typeface="Calibri" pitchFamily="34" charset="-122"/>
                <a:cs typeface="Calibri" pitchFamily="34" charset="-120"/>
              </a:rPr>
              <a:t>/ˈlɪsən tuː/</a:t>
            </a:r>
            <a:endParaRPr lang="en-US" sz="2200" dirty="0"/>
          </a:p>
        </p:txBody>
      </p:sp>
      <p:sp>
        <p:nvSpPr>
          <p:cNvPr id="16" name="Text 11"/>
          <p:cNvSpPr txBox="1"/>
          <p:nvPr/>
        </p:nvSpPr>
        <p:spPr>
          <a:xfrm>
            <a:off x="731520" y="5010912"/>
            <a:ext cx="3749040" cy="274320"/>
          </a:xfrm>
          <a:prstGeom prst="rect">
            <a:avLst/>
          </a:prstGeom>
          <a:noFill/>
          <a:ln/>
        </p:spPr>
        <p:txBody>
          <a:bodyPr wrap="square" lIns="0" tIns="0" rIns="0" bIns="0" rtlCol="0" anchor="ctr"/>
          <a:lstStyle/>
          <a:p>
            <a:pPr algn="ctr" indent="0" marL="0">
              <a:buNone/>
            </a:pPr>
            <a:r>
              <a:rPr lang="en-US" sz="1300" i="1" dirty="0">
                <a:solidFill>
                  <a:srgbClr val="6B7C71"/>
                </a:solidFill>
                <a:latin typeface="Calibri" pitchFamily="34" charset="0"/>
                <a:ea typeface="Calibri" pitchFamily="34" charset="-122"/>
                <a:cs typeface="Calibri" pitchFamily="34" charset="-120"/>
              </a:rPr>
              <a:t>verb</a:t>
            </a:r>
            <a:endParaRPr lang="en-US" sz="1300" dirty="0"/>
          </a:p>
        </p:txBody>
      </p:sp>
      <p:sp>
        <p:nvSpPr>
          <p:cNvPr id="17" name="Shape 12"/>
          <p:cNvSpPr/>
          <p:nvPr/>
        </p:nvSpPr>
        <p:spPr>
          <a:xfrm>
            <a:off x="4937760" y="1883664"/>
            <a:ext cx="6705295" cy="960486"/>
          </a:xfrm>
          <a:prstGeom prst="roundRect">
            <a:avLst>
              <a:gd name="adj" fmla="val 13328"/>
            </a:avLst>
          </a:prstGeom>
          <a:solidFill>
            <a:srgbClr val="F6F9F7"/>
          </a:solidFill>
          <a:ln w="12700">
            <a:solidFill>
              <a:srgbClr val="E3E9E5"/>
            </a:solidFill>
            <a:prstDash val="solid"/>
          </a:ln>
        </p:spPr>
      </p:sp>
      <p:sp>
        <p:nvSpPr>
          <p:cNvPr id="18" name="Shape 13"/>
          <p:cNvSpPr/>
          <p:nvPr/>
        </p:nvSpPr>
        <p:spPr>
          <a:xfrm>
            <a:off x="5138928" y="2029968"/>
            <a:ext cx="310896" cy="310896"/>
          </a:xfrm>
          <a:prstGeom prst="ellipse">
            <a:avLst/>
          </a:prstGeom>
          <a:solidFill>
            <a:srgbClr val="E8963A"/>
          </a:solidFill>
          <a:ln/>
        </p:spPr>
      </p:sp>
      <p:pic>
        <p:nvPicPr>
          <p:cNvPr id="19" name="Image 2" descr="preencoded.png">    </p:cNvPr>
          <p:cNvPicPr>
            <a:picLocks noChangeAspect="1"/>
          </p:cNvPicPr>
          <p:nvPr/>
        </p:nvPicPr>
        <p:blipFill>
          <a:blip r:embed="rId3"/>
          <a:stretch>
            <a:fillRect/>
          </a:stretch>
        </p:blipFill>
        <p:spPr>
          <a:xfrm>
            <a:off x="5216652" y="2107692"/>
            <a:ext cx="155448" cy="155448"/>
          </a:xfrm>
          <a:prstGeom prst="rect">
            <a:avLst/>
          </a:prstGeom>
        </p:spPr>
      </p:pic>
      <p:sp>
        <p:nvSpPr>
          <p:cNvPr id="20" name="Text 14"/>
          <p:cNvSpPr txBox="1"/>
          <p:nvPr/>
        </p:nvSpPr>
        <p:spPr>
          <a:xfrm>
            <a:off x="5541264" y="2029968"/>
            <a:ext cx="5864047" cy="310896"/>
          </a:xfrm>
          <a:prstGeom prst="rect">
            <a:avLst/>
          </a:prstGeom>
          <a:noFill/>
          <a:ln/>
        </p:spPr>
        <p:txBody>
          <a:bodyPr wrap="square" lIns="0" tIns="0" rIns="0" bIns="0" rtlCol="0" anchor="ctr"/>
          <a:lstStyle/>
          <a:p>
            <a:pPr indent="0" marL="0">
              <a:buNone/>
            </a:pPr>
            <a:r>
              <a:rPr lang="en-US" sz="1150" b="1" spc="110" kern="0" dirty="0">
                <a:solidFill>
                  <a:srgbClr val="E8963A"/>
                </a:solidFill>
                <a:latin typeface="Calibri" pitchFamily="34" charset="0"/>
                <a:ea typeface="Calibri" pitchFamily="34" charset="-122"/>
                <a:cs typeface="Calibri" pitchFamily="34" charset="-120"/>
              </a:rPr>
              <a:t>MEANING</a:t>
            </a:r>
            <a:endParaRPr lang="en-US" sz="1150" dirty="0"/>
          </a:p>
        </p:txBody>
      </p:sp>
      <p:sp>
        <p:nvSpPr>
          <p:cNvPr id="21" name="Text 15"/>
          <p:cNvSpPr txBox="1"/>
          <p:nvPr/>
        </p:nvSpPr>
        <p:spPr>
          <a:xfrm>
            <a:off x="5157216" y="2395728"/>
            <a:ext cx="6266383" cy="302118"/>
          </a:xfrm>
          <a:prstGeom prst="rect">
            <a:avLst/>
          </a:prstGeom>
          <a:noFill/>
          <a:ln/>
        </p:spPr>
        <p:txBody>
          <a:bodyPr wrap="square" lIns="0" tIns="0" rIns="0" bIns="0" rtlCol="0" anchor="ctr"/>
          <a:lstStyle/>
          <a:p>
            <a:pPr indent="0" marL="0">
              <a:lnSpc>
                <a:spcPct val="106000"/>
              </a:lnSpc>
              <a:buNone/>
            </a:pPr>
            <a:r>
              <a:rPr lang="en-US" sz="1850" dirty="0">
                <a:solidFill>
                  <a:srgbClr val="12211B"/>
                </a:solidFill>
                <a:latin typeface="Calibri" pitchFamily="34" charset="0"/>
                <a:ea typeface="Calibri" pitchFamily="34" charset="-122"/>
                <a:cs typeface="Calibri" pitchFamily="34" charset="-120"/>
              </a:rPr>
              <a:t>To pay attention to a sound on purpose.</a:t>
            </a:r>
            <a:endParaRPr lang="en-US" sz="1850" dirty="0"/>
          </a:p>
        </p:txBody>
      </p:sp>
      <p:sp>
        <p:nvSpPr>
          <p:cNvPr id="22" name="Shape 16"/>
          <p:cNvSpPr/>
          <p:nvPr/>
        </p:nvSpPr>
        <p:spPr>
          <a:xfrm>
            <a:off x="4937760" y="3027030"/>
            <a:ext cx="6705295" cy="1108253"/>
          </a:xfrm>
          <a:prstGeom prst="roundRect">
            <a:avLst>
              <a:gd name="adj" fmla="val 11551"/>
            </a:avLst>
          </a:prstGeom>
          <a:solidFill>
            <a:srgbClr val="F6F9F7"/>
          </a:solidFill>
          <a:ln w="12700">
            <a:solidFill>
              <a:srgbClr val="E3E9E5"/>
            </a:solidFill>
            <a:prstDash val="solid"/>
          </a:ln>
        </p:spPr>
      </p:sp>
      <p:sp>
        <p:nvSpPr>
          <p:cNvPr id="23" name="Shape 17"/>
          <p:cNvSpPr/>
          <p:nvPr/>
        </p:nvSpPr>
        <p:spPr>
          <a:xfrm>
            <a:off x="5138928" y="3173334"/>
            <a:ext cx="310896" cy="310896"/>
          </a:xfrm>
          <a:prstGeom prst="ellipse">
            <a:avLst/>
          </a:prstGeom>
          <a:solidFill>
            <a:srgbClr val="0E7C5A"/>
          </a:solidFill>
          <a:ln/>
        </p:spPr>
      </p:sp>
      <p:pic>
        <p:nvPicPr>
          <p:cNvPr id="24" name="Image 3" descr="preencoded.png">    </p:cNvPr>
          <p:cNvPicPr>
            <a:picLocks noChangeAspect="1"/>
          </p:cNvPicPr>
          <p:nvPr/>
        </p:nvPicPr>
        <p:blipFill>
          <a:blip r:embed="rId4"/>
          <a:stretch>
            <a:fillRect/>
          </a:stretch>
        </p:blipFill>
        <p:spPr>
          <a:xfrm>
            <a:off x="5216652" y="3251058"/>
            <a:ext cx="155448" cy="155448"/>
          </a:xfrm>
          <a:prstGeom prst="rect">
            <a:avLst/>
          </a:prstGeom>
        </p:spPr>
      </p:pic>
      <p:sp>
        <p:nvSpPr>
          <p:cNvPr id="25" name="Text 18"/>
          <p:cNvSpPr txBox="1"/>
          <p:nvPr/>
        </p:nvSpPr>
        <p:spPr>
          <a:xfrm>
            <a:off x="5541264" y="3173334"/>
            <a:ext cx="5864047" cy="310896"/>
          </a:xfrm>
          <a:prstGeom prst="rect">
            <a:avLst/>
          </a:prstGeom>
          <a:noFill/>
          <a:ln/>
        </p:spPr>
        <p:txBody>
          <a:bodyPr wrap="square" lIns="0" tIns="0" rIns="0" bIns="0" rtlCol="0" anchor="ctr"/>
          <a:lstStyle/>
          <a:p>
            <a:pPr indent="0" marL="0">
              <a:buNone/>
            </a:pPr>
            <a:r>
              <a:rPr lang="en-US" sz="1150" b="1" spc="110" kern="0" dirty="0">
                <a:solidFill>
                  <a:srgbClr val="0E7C5A"/>
                </a:solidFill>
                <a:latin typeface="Calibri" pitchFamily="34" charset="0"/>
                <a:ea typeface="Calibri" pitchFamily="34" charset="-122"/>
                <a:cs typeface="Calibri" pitchFamily="34" charset="-120"/>
              </a:rPr>
              <a:t>EXAMPLE SENTENCE</a:t>
            </a:r>
            <a:endParaRPr lang="en-US" sz="1150" dirty="0"/>
          </a:p>
        </p:txBody>
      </p:sp>
      <p:sp>
        <p:nvSpPr>
          <p:cNvPr id="26" name="Text 19"/>
          <p:cNvSpPr txBox="1"/>
          <p:nvPr/>
        </p:nvSpPr>
        <p:spPr>
          <a:xfrm>
            <a:off x="5157216" y="3539094"/>
            <a:ext cx="6266383" cy="449885"/>
          </a:xfrm>
          <a:prstGeom prst="rect">
            <a:avLst/>
          </a:prstGeom>
          <a:noFill/>
          <a:ln/>
        </p:spPr>
        <p:txBody>
          <a:bodyPr wrap="square" lIns="0" tIns="0" rIns="0" bIns="0" rtlCol="0" anchor="ctr"/>
          <a:lstStyle/>
          <a:p>
            <a:pPr indent="0" marL="0">
              <a:lnSpc>
                <a:spcPct val="106000"/>
              </a:lnSpc>
              <a:buNone/>
            </a:pPr>
            <a:r>
              <a:rPr lang="en-US" sz="1500" b="1" dirty="0">
                <a:solidFill>
                  <a:srgbClr val="12211B"/>
                </a:solidFill>
                <a:latin typeface="Calibri" pitchFamily="34" charset="0"/>
                <a:ea typeface="Calibri" pitchFamily="34" charset="-122"/>
                <a:cs typeface="Calibri" pitchFamily="34" charset="-120"/>
              </a:rPr>
              <a:t>I am listening to the radio. She listens to music every evening.</a:t>
            </a:r>
            <a:endParaRPr lang="en-US" sz="1500" dirty="0"/>
          </a:p>
        </p:txBody>
      </p:sp>
      <p:sp>
        <p:nvSpPr>
          <p:cNvPr id="27" name="Shape 20"/>
          <p:cNvSpPr/>
          <p:nvPr/>
        </p:nvSpPr>
        <p:spPr>
          <a:xfrm>
            <a:off x="4937760" y="4318163"/>
            <a:ext cx="6705295" cy="1625437"/>
          </a:xfrm>
          <a:prstGeom prst="roundRect">
            <a:avLst>
              <a:gd name="adj" fmla="val 7876"/>
            </a:avLst>
          </a:prstGeom>
          <a:solidFill>
            <a:srgbClr val="FBEAEA"/>
          </a:solidFill>
          <a:ln w="12700">
            <a:solidFill>
              <a:srgbClr val="E3E9E5"/>
            </a:solidFill>
            <a:prstDash val="solid"/>
          </a:ln>
        </p:spPr>
      </p:sp>
      <p:sp>
        <p:nvSpPr>
          <p:cNvPr id="28" name="Shape 21"/>
          <p:cNvSpPr/>
          <p:nvPr/>
        </p:nvSpPr>
        <p:spPr>
          <a:xfrm>
            <a:off x="5138928" y="4464467"/>
            <a:ext cx="310896" cy="310896"/>
          </a:xfrm>
          <a:prstGeom prst="ellipse">
            <a:avLst/>
          </a:prstGeom>
          <a:solidFill>
            <a:srgbClr val="D64545"/>
          </a:solidFill>
          <a:ln/>
        </p:spPr>
      </p:sp>
      <p:pic>
        <p:nvPicPr>
          <p:cNvPr id="29" name="Image 4" descr="preencoded.png">    </p:cNvPr>
          <p:cNvPicPr>
            <a:picLocks noChangeAspect="1"/>
          </p:cNvPicPr>
          <p:nvPr/>
        </p:nvPicPr>
        <p:blipFill>
          <a:blip r:embed="rId5"/>
          <a:stretch>
            <a:fillRect/>
          </a:stretch>
        </p:blipFill>
        <p:spPr>
          <a:xfrm>
            <a:off x="5216652" y="4542191"/>
            <a:ext cx="155448" cy="155448"/>
          </a:xfrm>
          <a:prstGeom prst="rect">
            <a:avLst/>
          </a:prstGeom>
        </p:spPr>
      </p:pic>
      <p:sp>
        <p:nvSpPr>
          <p:cNvPr id="30" name="Text 22"/>
          <p:cNvSpPr txBox="1"/>
          <p:nvPr/>
        </p:nvSpPr>
        <p:spPr>
          <a:xfrm>
            <a:off x="5541264" y="4464467"/>
            <a:ext cx="5864047" cy="310896"/>
          </a:xfrm>
          <a:prstGeom prst="rect">
            <a:avLst/>
          </a:prstGeom>
          <a:noFill/>
          <a:ln/>
        </p:spPr>
        <p:txBody>
          <a:bodyPr wrap="square" lIns="0" tIns="0" rIns="0" bIns="0" rtlCol="0" anchor="ctr"/>
          <a:lstStyle/>
          <a:p>
            <a:pPr indent="0" marL="0">
              <a:buNone/>
            </a:pPr>
            <a:r>
              <a:rPr lang="en-US" sz="1150" b="1" spc="110" kern="0" dirty="0">
                <a:solidFill>
                  <a:srgbClr val="D64545"/>
                </a:solidFill>
                <a:latin typeface="Calibri" pitchFamily="34" charset="0"/>
                <a:ea typeface="Calibri" pitchFamily="34" charset="-122"/>
                <a:cs typeface="Calibri" pitchFamily="34" charset="-120"/>
              </a:rPr>
              <a:t>COMMON MISTAKE</a:t>
            </a:r>
            <a:endParaRPr lang="en-US" sz="1150" dirty="0"/>
          </a:p>
        </p:txBody>
      </p:sp>
      <p:sp>
        <p:nvSpPr>
          <p:cNvPr id="31" name="Text 23"/>
          <p:cNvSpPr txBox="1"/>
          <p:nvPr/>
        </p:nvSpPr>
        <p:spPr>
          <a:xfrm>
            <a:off x="5157216" y="4830227"/>
            <a:ext cx="6266383" cy="967069"/>
          </a:xfrm>
          <a:prstGeom prst="rect">
            <a:avLst/>
          </a:prstGeom>
          <a:noFill/>
          <a:ln/>
        </p:spPr>
        <p:txBody>
          <a:bodyPr wrap="square" lIns="0" tIns="0" rIns="0" bIns="0" rtlCol="0" anchor="ctr"/>
          <a:lstStyle/>
          <a:p>
            <a:pPr indent="0" marL="0">
              <a:lnSpc>
                <a:spcPct val="106000"/>
              </a:lnSpc>
              <a:buNone/>
            </a:pPr>
            <a:r>
              <a:rPr lang="en-US" sz="1950" dirty="0">
                <a:solidFill>
                  <a:srgbClr val="12211B"/>
                </a:solidFill>
                <a:latin typeface="Calibri" pitchFamily="34" charset="0"/>
                <a:ea typeface="Calibri" pitchFamily="34" charset="-122"/>
                <a:cs typeface="Calibri" pitchFamily="34" charset="-120"/>
              </a:rPr>
              <a:t>Two things: the t is SILENT — say /ˈlɪsən/, not “list-en”. And you listen TO something — “I am listening the radio” is wrong.</a:t>
            </a:r>
            <a:endParaRPr lang="en-US" sz="1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1 — both parts, every time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am / is / are  +  verb + ing. Neither part can be missing.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16</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working.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reading a book.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are playing football.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are waiting for the bus.</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working.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reading a book.</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playing football.</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We are wait for the bus.</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first three errors drop am/is/are. The fourth keeps it but forgets the -ing. Both halves are needed.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2 — spelling the -ing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rules. Check the end of the verb first.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17</a:t>
            </a:r>
            <a:endParaRPr lang="en-US" sz="11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4023360"/>
                <a:gridCol w="2926080"/>
                <a:gridCol w="414497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Ending</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Change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Examples</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most verbs</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add -ing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work → working · play → playing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ends in -e</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drop the e, add -ing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write → writing · come → coming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one vowel + one consonant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double the consonant</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run → running · sit → sitting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800" b="1" dirty="0">
                          <a:solidFill>
                            <a:srgbClr val="12211B"/>
                          </a:solidFill>
                          <a:latin typeface="Calibri" pitchFamily="34" charset="0"/>
                          <a:ea typeface="Calibri" pitchFamily="34" charset="-122"/>
                          <a:cs typeface="Calibri" pitchFamily="34" charset="-120"/>
                        </a:rPr>
                        <a:t>ends in -y</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no change — just add -ing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800" dirty="0">
                          <a:solidFill>
                            <a:srgbClr val="3A473F"/>
                          </a:solidFill>
                          <a:latin typeface="Calibri" pitchFamily="34" charset="0"/>
                          <a:ea typeface="Calibri" pitchFamily="34" charset="-122"/>
                          <a:cs typeface="Calibri" pitchFamily="34" charset="-120"/>
                        </a:rPr>
                        <a:t>study → studying · carry → carrying</a:t>
                      </a:r>
                      <a:endParaRPr lang="en-US" sz="18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Careful with the difference from Module 1:  study → studieS  (the -s form)  but  study → studyING  (the -ing form).</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3 — negatives and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“do” or “does” here. The verb “to be” does all the work.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18</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not working today.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are not listening.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Is he sleeping?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are you doing?</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does not working today.</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not listening.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Does he sleeping?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you are doing?</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Negative: put “not” after am/is/are.   Question: put am/is/are before the person.   Exactly like Level 1.</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Rule 4 — choosing between the two present tenses</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signal words tell you which one to use.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19</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83664"/>
          <a:ext cx="11094415" cy="914400"/>
        </p:xfrm>
        <a:graphic>
          <a:graphicData uri="http://schemas.openxmlformats.org/drawingml/2006/table">
            <a:tbl>
              <a:tblPr/>
              <a:tblGrid>
                <a:gridCol w="3108960"/>
                <a:gridCol w="3657600"/>
                <a:gridCol w="4327855"/>
              </a:tblGrid>
              <a:tr h="45720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If you see or mean…</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Use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Example</a:t>
                      </a:r>
                      <a:endParaRPr lang="en-US" sz="160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3F5BD9"/>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every day · always · usually · never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present simple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always drink coffee in the morning.</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now · right now · at the moment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present continuous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I am drinking coffee at the moment.</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on Mondays · twice a week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present simple</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works on Mondays.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FFFFF"/>
                    </a:solidFill>
                  </a:tcPr>
                </a:tc>
              </a:tr>
              <a:tr h="457200">
                <a:tc>
                  <a:txBody>
                    <a:bodyPr/>
                    <a:lstStyle/>
                    <a:p>
                      <a:pPr algn="l" indent="0" marL="0">
                        <a:buNone/>
                      </a:pPr>
                      <a:r>
                        <a:rPr lang="en-US" sz="1750" b="1" dirty="0">
                          <a:solidFill>
                            <a:srgbClr val="12211B"/>
                          </a:solidFill>
                          <a:latin typeface="Calibri" pitchFamily="34" charset="0"/>
                          <a:ea typeface="Calibri" pitchFamily="34" charset="-122"/>
                          <a:cs typeface="Calibri" pitchFamily="34" charset="-120"/>
                        </a:rPr>
                        <a:t>today · this week · this year</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present continuous</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c>
                  <a:txBody>
                    <a:bodyPr/>
                    <a:lstStyle/>
                    <a:p>
                      <a:pPr algn="l" indent="0" marL="0">
                        <a:buNone/>
                      </a:pPr>
                      <a:r>
                        <a:rPr lang="en-US" sz="1750" dirty="0">
                          <a:solidFill>
                            <a:srgbClr val="3A473F"/>
                          </a:solidFill>
                          <a:latin typeface="Calibri" pitchFamily="34" charset="0"/>
                          <a:ea typeface="Calibri" pitchFamily="34" charset="-122"/>
                          <a:cs typeface="Calibri" pitchFamily="34" charset="-120"/>
                        </a:rPr>
                        <a:t>She is working in Adama this week.</a:t>
                      </a:r>
                      <a:endParaRPr lang="en-US" sz="1750" dirty="0">
                        <a:latin typeface="Calibri" charset="0"/>
                        <a:ea typeface="Calibri" charset="0"/>
                        <a:cs typeface="Calibri" charset="0"/>
                      </a:endParaRPr>
                    </a:p>
                  </a:txBody>
                  <a:tcPr marL="127000" marR="127000" marT="63500" marB="63500" anchor="ctr">
                    <a:lnL w="12700" cap="flat" cmpd="sng" algn="ctr">
                      <a:solidFill>
                        <a:srgbClr val="E3E9E5"/>
                      </a:solidFill>
                      <a:prstDash val="solid"/>
                      <a:round/>
                      <a:headEnd type="none" w="med" len="med"/>
                      <a:tailEnd type="none" w="med" len="med"/>
                    </a:lnL>
                    <a:lnR w="12700" cap="flat" cmpd="sng" algn="ctr">
                      <a:solidFill>
                        <a:srgbClr val="E3E9E5"/>
                      </a:solidFill>
                      <a:prstDash val="solid"/>
                      <a:round/>
                      <a:headEnd type="none" w="med" len="med"/>
                      <a:tailEnd type="none" w="med" len="med"/>
                    </a:lnR>
                    <a:lnT w="12700" cap="flat" cmpd="sng" algn="ctr">
                      <a:solidFill>
                        <a:srgbClr val="E3E9E5"/>
                      </a:solidFill>
                      <a:prstDash val="solid"/>
                      <a:round/>
                      <a:headEnd type="none" w="med" len="med"/>
                      <a:tailEnd type="none" w="med" len="med"/>
                    </a:lnT>
                    <a:lnB w="12700" cap="flat" cmpd="sng" algn="ctr">
                      <a:solidFill>
                        <a:srgbClr val="E3E9E5"/>
                      </a:solidFill>
                      <a:prstDash val="solid"/>
                      <a:round/>
                      <a:headEnd type="none" w="med" len="med"/>
                      <a:tailEnd type="none" w="med" len="med"/>
                    </a:lnB>
                    <a:solidFill>
                      <a:srgbClr val="F6F9F7"/>
                    </a:solidFill>
                  </a:tcPr>
                </a:tc>
              </a:tr>
            </a:tbl>
          </a:graphicData>
        </a:graphic>
      </p:graphicFrame>
      <p:sp>
        <p:nvSpPr>
          <p:cNvPr id="12" name="Shape 7"/>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13" name="Text 8"/>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 one test question:  is this ALWAYS true, or is it happening NOW?   That question answers every case.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GRAMMAR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Rule 5 — put it all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Both parts, correct spelling, right tense.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20</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Correct</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writing a letter now.</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are not listening to 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are you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work here, but today I am helping.</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Wrong</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She is writeing a letter now.</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They not listening to me.</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What you are doing?</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I am working here every day.</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Four checks:  1 · am/is/are present?   2 · -ing on the verb?   3 · spelling correct?   4 · is “now” or “every day” meant?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1 — building the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Both parts, every time.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21</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Complete: “She ___ ___ a book.”  (read)</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is reading a book.</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Two parts: “is” because the subject is “she”, and “reading” with the -ing. Neither can be left out.</a:t>
            </a:r>
            <a:endParaRPr lang="en-US" sz="11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Complete: “They ___ ___ football.”  (play)</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They are playing football.</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“Are” for a plural subject. “Play” ends in a vowel + y, so it simply adds -ing.</a:t>
            </a:r>
            <a:endParaRPr lang="en-US" sz="127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Correct this: “I working now.”</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I am working now.</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The verb “to be” is missing. This is the same error as “He teacher” from Level 1 — the verb disappearing.</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2 — spelling the -ing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Look at the end of the verb.</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22</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Write the -ing form of “write”.</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writing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It ends in -e, so the e is dropped before adding -ing. Never “writeing”.</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Write the -ing form of “run”.</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running</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One vowel and one consonant at the end, so the consonant doubles. Compare “read”, which has two vowels and does not double.</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Write the -ing form of “study”.</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studying</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The y does not change for -ing. It only changes for the -s form from Module 1: studies.</a:t>
            </a:r>
            <a:endParaRPr lang="en-US" sz="116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3 — negatives and questions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No “do” or “does” in this tense.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23</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Make it negative: “He is sleeping.”</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He is not sleeping.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“Not” goes after “is”. Nothing else changes — the -ing stays.</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Make it a question: “They are working.”</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Are they working?</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“Are” moves in front of “they”, exactly as in Level 1 with “Are they students?”</a:t>
            </a:r>
            <a:endParaRPr lang="en-US" sz="127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270" i="1" dirty="0">
                <a:solidFill>
                  <a:srgbClr val="6B7C71"/>
                </a:solidFill>
                <a:latin typeface="Calibri" pitchFamily="34" charset="0"/>
                <a:ea typeface="Calibri" pitchFamily="34" charset="-122"/>
                <a:cs typeface="Calibri" pitchFamily="34" charset="-120"/>
              </a:rPr>
              <a:t>Correct this: “Does she working?”</a:t>
            </a:r>
            <a:endParaRPr lang="en-US" sz="1270" dirty="0"/>
          </a:p>
          <a:p>
            <a:pPr indent="0" marL="0">
              <a:lnSpc>
                <a:spcPct val="102000"/>
              </a:lnSpc>
              <a:spcBef>
                <a:spcPts val="195"/>
              </a:spcBef>
              <a:buNone/>
            </a:pPr>
            <a:r>
              <a:rPr lang="en-US" sz="1850" b="1" dirty="0">
                <a:solidFill>
                  <a:srgbClr val="12211B"/>
                </a:solidFill>
                <a:latin typeface="Calibri" pitchFamily="34" charset="0"/>
                <a:ea typeface="Calibri" pitchFamily="34" charset="-122"/>
                <a:cs typeface="Calibri" pitchFamily="34" charset="-120"/>
              </a:rPr>
              <a:t>Is she working?</a:t>
            </a:r>
            <a:endParaRPr lang="en-US" sz="1270" dirty="0"/>
          </a:p>
          <a:p>
            <a:pPr indent="0" marL="0">
              <a:lnSpc>
                <a:spcPct val="102000"/>
              </a:lnSpc>
              <a:spcBef>
                <a:spcPts val="292"/>
              </a:spcBef>
              <a:buNone/>
            </a:pPr>
            <a:r>
              <a:rPr lang="en-US" sz="1460" dirty="0">
                <a:solidFill>
                  <a:srgbClr val="0A4634"/>
                </a:solidFill>
                <a:latin typeface="Calibri" pitchFamily="34" charset="0"/>
                <a:ea typeface="Calibri" pitchFamily="34" charset="-122"/>
                <a:cs typeface="Calibri" pitchFamily="34" charset="-120"/>
              </a:rPr>
              <a:t>WHY: This tense already has a helping verb — “is”. It does not need “does” as well.</a:t>
            </a:r>
            <a:endParaRPr lang="en-US" sz="12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4 — which tense?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Always true, or happening now?</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24</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Choose: “I ___ coffee every morning.”  (drink)</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I drink coffee every morning.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“Every morning” means always, so the present simple. No -ing.</a:t>
            </a:r>
            <a:endParaRPr lang="en-US" sz="130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300" i="1" dirty="0">
                <a:solidFill>
                  <a:srgbClr val="6B7C71"/>
                </a:solidFill>
                <a:latin typeface="Calibri" pitchFamily="34" charset="0"/>
                <a:ea typeface="Calibri" pitchFamily="34" charset="-122"/>
                <a:cs typeface="Calibri" pitchFamily="34" charset="-120"/>
              </a:rPr>
              <a:t>Choose: “Be quiet — the baby ___.”  (sleep)</a:t>
            </a:r>
            <a:endParaRPr lang="en-US" sz="1300" dirty="0"/>
          </a:p>
          <a:p>
            <a:pPr indent="0" marL="0">
              <a:lnSpc>
                <a:spcPct val="102000"/>
              </a:lnSpc>
              <a:spcBef>
                <a:spcPts val="200"/>
              </a:spcBef>
              <a:buNone/>
            </a:pPr>
            <a:r>
              <a:rPr lang="en-US" sz="1900" b="1" dirty="0">
                <a:solidFill>
                  <a:srgbClr val="12211B"/>
                </a:solidFill>
                <a:latin typeface="Calibri" pitchFamily="34" charset="0"/>
                <a:ea typeface="Calibri" pitchFamily="34" charset="-122"/>
                <a:cs typeface="Calibri" pitchFamily="34" charset="-120"/>
              </a:rPr>
              <a:t>The baby is sleeping.</a:t>
            </a:r>
            <a:endParaRPr lang="en-US" sz="1300" dirty="0"/>
          </a:p>
          <a:p>
            <a:pPr indent="0" marL="0">
              <a:lnSpc>
                <a:spcPct val="102000"/>
              </a:lnSpc>
              <a:spcBef>
                <a:spcPts val="300"/>
              </a:spcBef>
              <a:buNone/>
            </a:pPr>
            <a:r>
              <a:rPr lang="en-US" sz="1500" dirty="0">
                <a:solidFill>
                  <a:srgbClr val="0A4634"/>
                </a:solidFill>
                <a:latin typeface="Calibri" pitchFamily="34" charset="0"/>
                <a:ea typeface="Calibri" pitchFamily="34" charset="-122"/>
                <a:cs typeface="Calibri" pitchFamily="34" charset="-120"/>
              </a:rPr>
              <a:t>WHY: It is happening at this moment, so the present continuous.</a:t>
            </a:r>
            <a:endParaRPr lang="en-US" sz="13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Choose: “She ___ in a bank, but this week she ___ at home.”  (work / work)</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works in a bank, but this week she is working at home.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Her job is permanent, so simple. This week is temporary, so continuous. One sentence, both tenses.</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3F5BD9"/>
          </a:solidFill>
          <a:ln/>
        </p:spPr>
      </p:sp>
      <p:sp>
        <p:nvSpPr>
          <p:cNvPr id="3" name="Shape 1"/>
          <p:cNvSpPr/>
          <p:nvPr/>
        </p:nvSpPr>
        <p:spPr>
          <a:xfrm>
            <a:off x="649224" y="539496"/>
            <a:ext cx="219456" cy="219456"/>
          </a:xfrm>
          <a:prstGeom prst="ellipse">
            <a:avLst/>
          </a:prstGeom>
          <a:solidFill>
            <a:srgbClr val="3F5BD9"/>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GUIDED EXAMPLES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Guided examples 5 — describing a picture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steps: who, what they are doing, what they are wearing, where things are.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25</a:t>
            </a:r>
            <a:endParaRPr lang="en-US" sz="1100" dirty="0"/>
          </a:p>
        </p:txBody>
      </p:sp>
      <p:sp>
        <p:nvSpPr>
          <p:cNvPr id="11" name="Shape 7"/>
          <p:cNvSpPr/>
          <p:nvPr/>
        </p:nvSpPr>
        <p:spPr>
          <a:xfrm>
            <a:off x="548640" y="1883664"/>
            <a:ext cx="11094415" cy="1274064"/>
          </a:xfrm>
          <a:prstGeom prst="roundRect">
            <a:avLst>
              <a:gd name="adj" fmla="val 10048"/>
            </a:avLst>
          </a:prstGeom>
          <a:solidFill>
            <a:srgbClr val="E6F5EC"/>
          </a:solidFill>
          <a:ln w="12700">
            <a:solidFill>
              <a:srgbClr val="2E9E5B"/>
            </a:solidFill>
            <a:prstDash val="solid"/>
          </a:ln>
        </p:spPr>
      </p:sp>
      <p:sp>
        <p:nvSpPr>
          <p:cNvPr id="12" name="Shape 8"/>
          <p:cNvSpPr/>
          <p:nvPr/>
        </p:nvSpPr>
        <p:spPr>
          <a:xfrm>
            <a:off x="731520" y="2328672"/>
            <a:ext cx="384048" cy="384048"/>
          </a:xfrm>
          <a:prstGeom prst="ellipse">
            <a:avLst/>
          </a:prstGeom>
          <a:solidFill>
            <a:srgbClr val="2E9E5B"/>
          </a:solidFill>
          <a:ln/>
        </p:spPr>
      </p:sp>
      <p:sp>
        <p:nvSpPr>
          <p:cNvPr id="13" name="Text 9"/>
          <p:cNvSpPr txBox="1"/>
          <p:nvPr/>
        </p:nvSpPr>
        <p:spPr>
          <a:xfrm>
            <a:off x="731520" y="23286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1164336"/>
          </a:xfrm>
          <a:prstGeom prst="rect">
            <a:avLst/>
          </a:prstGeom>
          <a:noFill/>
          <a:ln/>
        </p:spPr>
        <p:txBody>
          <a:bodyPr wrap="square" lIns="0" tIns="0" rIns="0" bIns="0" rtlCol="0" anchor="ctr"/>
          <a:lstStyle/>
          <a:p>
            <a:pPr indent="0" marL="0">
              <a:lnSpc>
                <a:spcPct val="102000"/>
              </a:lnSpc>
              <a:buNone/>
            </a:pPr>
            <a:r>
              <a:rPr lang="en-US" sz="1160" i="1" dirty="0">
                <a:solidFill>
                  <a:srgbClr val="6B7C71"/>
                </a:solidFill>
                <a:latin typeface="Calibri" pitchFamily="34" charset="0"/>
                <a:ea typeface="Calibri" pitchFamily="34" charset="-122"/>
                <a:cs typeface="Calibri" pitchFamily="34" charset="-120"/>
              </a:rPr>
              <a:t>There is a woman at a market stall. What do you say?</a:t>
            </a:r>
            <a:endParaRPr lang="en-US" sz="1160" dirty="0"/>
          </a:p>
          <a:p>
            <a:pPr indent="0" marL="0">
              <a:lnSpc>
                <a:spcPct val="102000"/>
              </a:lnSpc>
              <a:spcBef>
                <a:spcPts val="179"/>
              </a:spcBef>
              <a:buNone/>
            </a:pPr>
            <a:r>
              <a:rPr lang="en-US" sz="1700" b="1" dirty="0">
                <a:solidFill>
                  <a:srgbClr val="12211B"/>
                </a:solidFill>
                <a:latin typeface="Calibri" pitchFamily="34" charset="0"/>
                <a:ea typeface="Calibri" pitchFamily="34" charset="-122"/>
                <a:cs typeface="Calibri" pitchFamily="34" charset="-120"/>
              </a:rPr>
              <a:t>There is a woman. She is selling tomatoes.</a:t>
            </a:r>
            <a:endParaRPr lang="en-US" sz="1160" dirty="0"/>
          </a:p>
          <a:p>
            <a:pPr indent="0" marL="0">
              <a:lnSpc>
                <a:spcPct val="102000"/>
              </a:lnSpc>
              <a:spcBef>
                <a:spcPts val="268"/>
              </a:spcBef>
              <a:buNone/>
            </a:pPr>
            <a:r>
              <a:rPr lang="en-US" sz="1340" dirty="0">
                <a:solidFill>
                  <a:srgbClr val="0A4634"/>
                </a:solidFill>
                <a:latin typeface="Calibri" pitchFamily="34" charset="0"/>
                <a:ea typeface="Calibri" pitchFamily="34" charset="-122"/>
                <a:cs typeface="Calibri" pitchFamily="34" charset="-120"/>
              </a:rPr>
              <a:t>WHY: Step 1 uses “there is” from Level 1; step 2 uses the present continuous for the action.</a:t>
            </a:r>
            <a:endParaRPr lang="en-US" sz="1160" dirty="0"/>
          </a:p>
        </p:txBody>
      </p:sp>
      <p:sp>
        <p:nvSpPr>
          <p:cNvPr id="15" name="Shape 11"/>
          <p:cNvSpPr/>
          <p:nvPr/>
        </p:nvSpPr>
        <p:spPr>
          <a:xfrm>
            <a:off x="548640" y="3276600"/>
            <a:ext cx="11094415" cy="1274064"/>
          </a:xfrm>
          <a:prstGeom prst="roundRect">
            <a:avLst>
              <a:gd name="adj" fmla="val 10048"/>
            </a:avLst>
          </a:prstGeom>
          <a:solidFill>
            <a:srgbClr val="E6F5EC"/>
          </a:solidFill>
          <a:ln w="12700">
            <a:solidFill>
              <a:srgbClr val="2E9E5B"/>
            </a:solidFill>
            <a:prstDash val="solid"/>
          </a:ln>
        </p:spPr>
      </p:sp>
      <p:sp>
        <p:nvSpPr>
          <p:cNvPr id="16" name="Shape 12"/>
          <p:cNvSpPr/>
          <p:nvPr/>
        </p:nvSpPr>
        <p:spPr>
          <a:xfrm>
            <a:off x="731520" y="3721608"/>
            <a:ext cx="384048" cy="384048"/>
          </a:xfrm>
          <a:prstGeom prst="ellipse">
            <a:avLst/>
          </a:prstGeom>
          <a:solidFill>
            <a:srgbClr val="2E9E5B"/>
          </a:solidFill>
          <a:ln/>
        </p:spPr>
      </p:sp>
      <p:sp>
        <p:nvSpPr>
          <p:cNvPr id="17" name="Text 13"/>
          <p:cNvSpPr txBox="1"/>
          <p:nvPr/>
        </p:nvSpPr>
        <p:spPr>
          <a:xfrm>
            <a:off x="731520" y="37216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3331464"/>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The woman has a green dress.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She is wearing a green dress.</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“Wearing” for clothes, and the colour comes before the noun — the Level 1 rule still applies.</a:t>
            </a:r>
            <a:endParaRPr lang="en-US" sz="1100" dirty="0"/>
          </a:p>
        </p:txBody>
      </p:sp>
      <p:sp>
        <p:nvSpPr>
          <p:cNvPr id="19" name="Shape 15"/>
          <p:cNvSpPr/>
          <p:nvPr/>
        </p:nvSpPr>
        <p:spPr>
          <a:xfrm>
            <a:off x="548640" y="4669536"/>
            <a:ext cx="11094415" cy="1274064"/>
          </a:xfrm>
          <a:prstGeom prst="roundRect">
            <a:avLst>
              <a:gd name="adj" fmla="val 10048"/>
            </a:avLst>
          </a:prstGeom>
          <a:solidFill>
            <a:srgbClr val="E6F5EC"/>
          </a:solidFill>
          <a:ln w="12700">
            <a:solidFill>
              <a:srgbClr val="2E9E5B"/>
            </a:solidFill>
            <a:prstDash val="solid"/>
          </a:ln>
        </p:spPr>
      </p:sp>
      <p:sp>
        <p:nvSpPr>
          <p:cNvPr id="20" name="Shape 16"/>
          <p:cNvSpPr/>
          <p:nvPr/>
        </p:nvSpPr>
        <p:spPr>
          <a:xfrm>
            <a:off x="731520" y="5114544"/>
            <a:ext cx="384048" cy="384048"/>
          </a:xfrm>
          <a:prstGeom prst="ellipse">
            <a:avLst/>
          </a:prstGeom>
          <a:solidFill>
            <a:srgbClr val="2E9E5B"/>
          </a:solidFill>
          <a:ln/>
        </p:spPr>
      </p:sp>
      <p:sp>
        <p:nvSpPr>
          <p:cNvPr id="21" name="Text 17"/>
          <p:cNvSpPr txBox="1"/>
          <p:nvPr/>
        </p:nvSpPr>
        <p:spPr>
          <a:xfrm>
            <a:off x="731520" y="5114544"/>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724400"/>
            <a:ext cx="10106863" cy="1164336"/>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A bag is under the table. What do you say?</a:t>
            </a:r>
            <a:endParaRPr lang="en-US" sz="1100" dirty="0"/>
          </a:p>
          <a:p>
            <a:pPr indent="0" marL="0">
              <a:lnSpc>
                <a:spcPct val="102000"/>
              </a:lnSpc>
              <a:spcBef>
                <a:spcPts val="169"/>
              </a:spcBef>
              <a:buNone/>
            </a:pPr>
            <a:r>
              <a:rPr lang="en-US" sz="1610" b="1" dirty="0">
                <a:solidFill>
                  <a:srgbClr val="12211B"/>
                </a:solidFill>
                <a:latin typeface="Calibri" pitchFamily="34" charset="0"/>
                <a:ea typeface="Calibri" pitchFamily="34" charset="-122"/>
                <a:cs typeface="Calibri" pitchFamily="34" charset="-120"/>
              </a:rPr>
              <a:t>The bag is under the table.</a:t>
            </a:r>
            <a:endParaRPr lang="en-US" sz="1100" dirty="0"/>
          </a:p>
          <a:p>
            <a:pPr indent="0" marL="0">
              <a:lnSpc>
                <a:spcPct val="102000"/>
              </a:lnSpc>
              <a:spcBef>
                <a:spcPts val="254"/>
              </a:spcBef>
              <a:buNone/>
            </a:pPr>
            <a:r>
              <a:rPr lang="en-US" sz="1270" dirty="0">
                <a:solidFill>
                  <a:srgbClr val="0A4634"/>
                </a:solidFill>
                <a:latin typeface="Calibri" pitchFamily="34" charset="0"/>
                <a:ea typeface="Calibri" pitchFamily="34" charset="-122"/>
                <a:cs typeface="Calibri" pitchFamily="34" charset="-120"/>
              </a:rPr>
              <a:t>WHY: Position uses the simple verb “is”, not the continuous — nothing is happening, it is just where the bag is.</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 phone call</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Sara rings Dawit. The most natural use of this tense.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26</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Hello Dawit. What are you doing?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working. We are very busy today.</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Are you working this evening too?</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No, I am not. I finish at five.</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SARA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Good. I am studying at the library. Come and join me.</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DAWIT</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am coming at six. Wait for me!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Notice “I finish at five” — that is the present SIMPLE, because it is his normal time. Everything else is happening now.</a:t>
            </a:r>
            <a:endParaRPr lang="en-US" sz="15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At the market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Abel and Mimi describe what they can see at Merkato.</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27</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Look at that woman. What is she selling?</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She is selling tomatoes and onions.</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And those two men? What are they carrying?</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They are carrying a big table. It looks heavy.</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MIMI</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Why is everybody running?</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ABEL</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Because it is raining! Come under here.</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Every question uses am/is/are before the person. Find the four questions and the five -ing verbs.</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Useful phrases for describing what is happening</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phrases you will use every time you describe a scene.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28</a:t>
            </a:r>
            <a:endParaRPr lang="en-US" sz="1100" dirty="0"/>
          </a:p>
        </p:txBody>
      </p:sp>
      <p:sp>
        <p:nvSpPr>
          <p:cNvPr id="11" name="Shape 7"/>
          <p:cNvSpPr/>
          <p:nvPr/>
        </p:nvSpPr>
        <p:spPr>
          <a:xfrm>
            <a:off x="548640" y="1883664"/>
            <a:ext cx="3564026" cy="1929384"/>
          </a:xfrm>
          <a:prstGeom prst="roundRect">
            <a:avLst>
              <a:gd name="adj" fmla="val 6635"/>
            </a:avLst>
          </a:prstGeom>
          <a:solidFill>
            <a:srgbClr val="FDEDE8"/>
          </a:solidFill>
          <a:ln w="12700">
            <a:solidFill>
              <a:srgbClr val="F3C9BB"/>
            </a:solidFill>
            <a:prstDash val="solid"/>
          </a:ln>
        </p:spPr>
      </p:sp>
      <p:sp>
        <p:nvSpPr>
          <p:cNvPr id="12" name="Shape 8"/>
          <p:cNvSpPr/>
          <p:nvPr/>
        </p:nvSpPr>
        <p:spPr>
          <a:xfrm>
            <a:off x="768096" y="2103120"/>
            <a:ext cx="457200" cy="457200"/>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“What are you doing?”</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The most useful question in this module.</a:t>
            </a:r>
            <a:endParaRPr lang="en-US" sz="1750" dirty="0"/>
          </a:p>
        </p:txBody>
      </p:sp>
      <p:sp>
        <p:nvSpPr>
          <p:cNvPr id="15" name="Shape 10"/>
          <p:cNvSpPr/>
          <p:nvPr/>
        </p:nvSpPr>
        <p:spPr>
          <a:xfrm>
            <a:off x="4313834" y="1883664"/>
            <a:ext cx="3564026" cy="1929384"/>
          </a:xfrm>
          <a:prstGeom prst="roundRect">
            <a:avLst>
              <a:gd name="adj" fmla="val 6635"/>
            </a:avLst>
          </a:prstGeom>
          <a:solidFill>
            <a:srgbClr val="FDEDE8"/>
          </a:solidFill>
          <a:ln w="12700">
            <a:solidFill>
              <a:srgbClr val="F3C9BB"/>
            </a:solidFill>
            <a:prstDash val="solid"/>
          </a:ln>
        </p:spPr>
      </p:sp>
      <p:sp>
        <p:nvSpPr>
          <p:cNvPr id="16" name="Shape 11"/>
          <p:cNvSpPr/>
          <p:nvPr/>
        </p:nvSpPr>
        <p:spPr>
          <a:xfrm>
            <a:off x="4533290" y="2103120"/>
            <a:ext cx="457200" cy="457200"/>
          </a:xfrm>
          <a:prstGeom prst="ellipse">
            <a:avLst/>
          </a:prstGeom>
          <a:solidFill>
            <a:srgbClr val="E4572E"/>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“Look at that man / woman.”</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Directs attention before you describe.</a:t>
            </a:r>
            <a:endParaRPr lang="en-US" sz="1750" dirty="0"/>
          </a:p>
        </p:txBody>
      </p:sp>
      <p:sp>
        <p:nvSpPr>
          <p:cNvPr id="19" name="Shape 13"/>
          <p:cNvSpPr/>
          <p:nvPr/>
        </p:nvSpPr>
        <p:spPr>
          <a:xfrm>
            <a:off x="8079029" y="1883664"/>
            <a:ext cx="3564026" cy="1929384"/>
          </a:xfrm>
          <a:prstGeom prst="roundRect">
            <a:avLst>
              <a:gd name="adj" fmla="val 6635"/>
            </a:avLst>
          </a:prstGeom>
          <a:solidFill>
            <a:srgbClr val="FDEDE8"/>
          </a:solidFill>
          <a:ln w="12700">
            <a:solidFill>
              <a:srgbClr val="F3C9BB"/>
            </a:solidFill>
            <a:prstDash val="solid"/>
          </a:ln>
        </p:spPr>
      </p:sp>
      <p:sp>
        <p:nvSpPr>
          <p:cNvPr id="20" name="Shape 14"/>
          <p:cNvSpPr/>
          <p:nvPr/>
        </p:nvSpPr>
        <p:spPr>
          <a:xfrm>
            <a:off x="8298485" y="2103120"/>
            <a:ext cx="457200" cy="457200"/>
          </a:xfrm>
          <a:prstGeom prst="ellipse">
            <a:avLst/>
          </a:prstGeom>
          <a:solidFill>
            <a:srgbClr val="E4572E"/>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“There is a … / There are …”</a:t>
            </a:r>
            <a:endParaRPr lang="en-US" sz="1700" dirty="0"/>
          </a:p>
          <a:p>
            <a:pPr indent="0" marL="0">
              <a:lnSpc>
                <a:spcPct val="102000"/>
              </a:lnSpc>
              <a:spcBef>
                <a:spcPts val="358"/>
              </a:spcBef>
              <a:buNone/>
            </a:pPr>
            <a:r>
              <a:rPr lang="en-US" sz="1340" dirty="0">
                <a:solidFill>
                  <a:srgbClr val="3A473F"/>
                </a:solidFill>
                <a:latin typeface="Calibri" pitchFamily="34" charset="0"/>
                <a:ea typeface="Calibri" pitchFamily="34" charset="-122"/>
                <a:cs typeface="Calibri" pitchFamily="34" charset="-120"/>
              </a:rPr>
              <a:t>From Level 1. Always start a description with this.</a:t>
            </a:r>
            <a:endParaRPr lang="en-US" sz="1700" dirty="0"/>
          </a:p>
        </p:txBody>
      </p:sp>
      <p:sp>
        <p:nvSpPr>
          <p:cNvPr id="23" name="Shape 16"/>
          <p:cNvSpPr/>
          <p:nvPr/>
        </p:nvSpPr>
        <p:spPr>
          <a:xfrm>
            <a:off x="548640" y="4014216"/>
            <a:ext cx="3564026" cy="1929384"/>
          </a:xfrm>
          <a:prstGeom prst="roundRect">
            <a:avLst>
              <a:gd name="adj" fmla="val 6635"/>
            </a:avLst>
          </a:prstGeom>
          <a:solidFill>
            <a:srgbClr val="FDEDE8"/>
          </a:solidFill>
          <a:ln w="12700">
            <a:solidFill>
              <a:srgbClr val="F3C9BB"/>
            </a:solidFill>
            <a:prstDash val="solid"/>
          </a:ln>
        </p:spPr>
      </p:sp>
      <p:sp>
        <p:nvSpPr>
          <p:cNvPr id="24" name="Shape 17"/>
          <p:cNvSpPr/>
          <p:nvPr/>
        </p:nvSpPr>
        <p:spPr>
          <a:xfrm>
            <a:off x="768096" y="4233672"/>
            <a:ext cx="457200" cy="457200"/>
          </a:xfrm>
          <a:prstGeom prst="ellipse">
            <a:avLst/>
          </a:prstGeom>
          <a:solidFill>
            <a:srgbClr val="E4572E"/>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“He is wearing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Clothes and colours in one phrase.</a:t>
            </a:r>
            <a:endParaRPr lang="en-US" sz="1750" dirty="0"/>
          </a:p>
        </p:txBody>
      </p:sp>
      <p:sp>
        <p:nvSpPr>
          <p:cNvPr id="27" name="Shape 19"/>
          <p:cNvSpPr/>
          <p:nvPr/>
        </p:nvSpPr>
        <p:spPr>
          <a:xfrm>
            <a:off x="4313834" y="4014216"/>
            <a:ext cx="3564026" cy="1929384"/>
          </a:xfrm>
          <a:prstGeom prst="roundRect">
            <a:avLst>
              <a:gd name="adj" fmla="val 6635"/>
            </a:avLst>
          </a:prstGeom>
          <a:solidFill>
            <a:srgbClr val="FDEDE8"/>
          </a:solidFill>
          <a:ln w="12700">
            <a:solidFill>
              <a:srgbClr val="F3C9BB"/>
            </a:solidFill>
            <a:prstDash val="solid"/>
          </a:ln>
        </p:spPr>
      </p:sp>
      <p:sp>
        <p:nvSpPr>
          <p:cNvPr id="28" name="Shape 20"/>
          <p:cNvSpPr/>
          <p:nvPr/>
        </p:nvSpPr>
        <p:spPr>
          <a:xfrm>
            <a:off x="4533290" y="4233672"/>
            <a:ext cx="457200" cy="457200"/>
          </a:xfrm>
          <a:prstGeom prst="ellipse">
            <a:avLst/>
          </a:prstGeom>
          <a:solidFill>
            <a:srgbClr val="E4572E"/>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“I think he is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When you are not sure. Very useful in an exam.</a:t>
            </a:r>
            <a:endParaRPr lang="en-US" sz="1750" dirty="0"/>
          </a:p>
        </p:txBody>
      </p:sp>
      <p:sp>
        <p:nvSpPr>
          <p:cNvPr id="31" name="Shape 22"/>
          <p:cNvSpPr/>
          <p:nvPr/>
        </p:nvSpPr>
        <p:spPr>
          <a:xfrm>
            <a:off x="8079029" y="4014216"/>
            <a:ext cx="3564026" cy="1929384"/>
          </a:xfrm>
          <a:prstGeom prst="roundRect">
            <a:avLst>
              <a:gd name="adj" fmla="val 6635"/>
            </a:avLst>
          </a:prstGeom>
          <a:solidFill>
            <a:srgbClr val="FDEDE8"/>
          </a:solidFill>
          <a:ln w="12700">
            <a:solidFill>
              <a:srgbClr val="F3C9BB"/>
            </a:solidFill>
            <a:prstDash val="solid"/>
          </a:ln>
        </p:spPr>
      </p:sp>
      <p:sp>
        <p:nvSpPr>
          <p:cNvPr id="32" name="Shape 23"/>
          <p:cNvSpPr/>
          <p:nvPr/>
        </p:nvSpPr>
        <p:spPr>
          <a:xfrm>
            <a:off x="8298485" y="4233672"/>
            <a:ext cx="457200" cy="457200"/>
          </a:xfrm>
          <a:prstGeom prst="ellipse">
            <a:avLst/>
          </a:prstGeom>
          <a:solidFill>
            <a:srgbClr val="E4572E"/>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“At the moment …”</a:t>
            </a:r>
            <a:endParaRPr lang="en-US" sz="1750" dirty="0"/>
          </a:p>
          <a:p>
            <a:pPr indent="0" marL="0">
              <a:lnSpc>
                <a:spcPct val="102000"/>
              </a:lnSpc>
              <a:spcBef>
                <a:spcPts val="368"/>
              </a:spcBef>
              <a:buNone/>
            </a:pPr>
            <a:r>
              <a:rPr lang="en-US" sz="1380" dirty="0">
                <a:solidFill>
                  <a:srgbClr val="3A473F"/>
                </a:solidFill>
                <a:latin typeface="Calibri" pitchFamily="34" charset="0"/>
                <a:ea typeface="Calibri" pitchFamily="34" charset="-122"/>
                <a:cs typeface="Calibri" pitchFamily="34" charset="-120"/>
              </a:rPr>
              <a:t>Signals the continuous tense clearly.</a:t>
            </a:r>
            <a:endParaRPr lang="en-US" sz="17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Complete the conversation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Fill each gap. Answers are in the Answer Key.</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29</a:t>
            </a:r>
            <a:endParaRPr lang="en-US" sz="1100" dirty="0"/>
          </a:p>
        </p:txBody>
      </p:sp>
      <p:sp>
        <p:nvSpPr>
          <p:cNvPr id="11" name="Shape 7"/>
          <p:cNvSpPr/>
          <p:nvPr/>
        </p:nvSpPr>
        <p:spPr>
          <a:xfrm>
            <a:off x="548640" y="1883664"/>
            <a:ext cx="11094415" cy="455676"/>
          </a:xfrm>
          <a:prstGeom prst="roundRect">
            <a:avLst>
              <a:gd name="adj" fmla="val 28094"/>
            </a:avLst>
          </a:prstGeom>
          <a:solidFill>
            <a:srgbClr val="EDF3EF"/>
          </a:solidFill>
          <a:ln w="12700">
            <a:solidFill>
              <a:srgbClr val="E3E9E5"/>
            </a:solidFill>
            <a:prstDash val="solid"/>
          </a:ln>
        </p:spPr>
      </p:sp>
      <p:sp>
        <p:nvSpPr>
          <p:cNvPr id="12" name="Shape 8"/>
          <p:cNvSpPr/>
          <p:nvPr/>
        </p:nvSpPr>
        <p:spPr>
          <a:xfrm>
            <a:off x="694944" y="1975104"/>
            <a:ext cx="1417320" cy="272796"/>
          </a:xfrm>
          <a:prstGeom prst="roundRect">
            <a:avLst>
              <a:gd name="adj" fmla="val 33520"/>
            </a:avLst>
          </a:prstGeom>
          <a:solidFill>
            <a:srgbClr val="6B7C71"/>
          </a:solidFill>
          <a:ln/>
        </p:spPr>
      </p:sp>
      <p:sp>
        <p:nvSpPr>
          <p:cNvPr id="13" name="Text 9"/>
          <p:cNvSpPr txBox="1"/>
          <p:nvPr/>
        </p:nvSpPr>
        <p:spPr>
          <a:xfrm>
            <a:off x="731520" y="19751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14" name="Text 10"/>
          <p:cNvSpPr txBox="1"/>
          <p:nvPr/>
        </p:nvSpPr>
        <p:spPr>
          <a:xfrm>
            <a:off x="2276856" y="19385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Hello. What ______ you ______ ?</a:t>
            </a:r>
            <a:endParaRPr lang="en-US" sz="2000" dirty="0"/>
          </a:p>
        </p:txBody>
      </p:sp>
      <p:sp>
        <p:nvSpPr>
          <p:cNvPr id="15" name="Shape 11"/>
          <p:cNvSpPr/>
          <p:nvPr/>
        </p:nvSpPr>
        <p:spPr>
          <a:xfrm>
            <a:off x="548640" y="2439924"/>
            <a:ext cx="11094415" cy="455676"/>
          </a:xfrm>
          <a:prstGeom prst="roundRect">
            <a:avLst>
              <a:gd name="adj" fmla="val 28094"/>
            </a:avLst>
          </a:prstGeom>
          <a:solidFill>
            <a:srgbClr val="E7F3EF"/>
          </a:solidFill>
          <a:ln w="12700">
            <a:solidFill>
              <a:srgbClr val="C4E0D5"/>
            </a:solidFill>
            <a:prstDash val="solid"/>
          </a:ln>
        </p:spPr>
      </p:sp>
      <p:sp>
        <p:nvSpPr>
          <p:cNvPr id="16" name="Shape 12"/>
          <p:cNvSpPr/>
          <p:nvPr/>
        </p:nvSpPr>
        <p:spPr>
          <a:xfrm>
            <a:off x="694944" y="2531364"/>
            <a:ext cx="1417320" cy="272796"/>
          </a:xfrm>
          <a:prstGeom prst="roundRect">
            <a:avLst>
              <a:gd name="adj" fmla="val 33520"/>
            </a:avLst>
          </a:prstGeom>
          <a:solidFill>
            <a:srgbClr val="0E7C5A"/>
          </a:solidFill>
          <a:ln/>
        </p:spPr>
      </p:sp>
      <p:sp>
        <p:nvSpPr>
          <p:cNvPr id="17" name="Text 13"/>
          <p:cNvSpPr txBox="1"/>
          <p:nvPr/>
        </p:nvSpPr>
        <p:spPr>
          <a:xfrm>
            <a:off x="731520" y="253136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18" name="Text 14"/>
          <p:cNvSpPr txBox="1"/>
          <p:nvPr/>
        </p:nvSpPr>
        <p:spPr>
          <a:xfrm>
            <a:off x="2276856" y="249478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______ ______ for the bus.</a:t>
            </a:r>
            <a:endParaRPr lang="en-US" sz="2000" dirty="0"/>
          </a:p>
        </p:txBody>
      </p:sp>
      <p:sp>
        <p:nvSpPr>
          <p:cNvPr id="19" name="Shape 15"/>
          <p:cNvSpPr/>
          <p:nvPr/>
        </p:nvSpPr>
        <p:spPr>
          <a:xfrm>
            <a:off x="548640" y="2996184"/>
            <a:ext cx="11094415" cy="455676"/>
          </a:xfrm>
          <a:prstGeom prst="roundRect">
            <a:avLst>
              <a:gd name="adj" fmla="val 28094"/>
            </a:avLst>
          </a:prstGeom>
          <a:solidFill>
            <a:srgbClr val="EDF3EF"/>
          </a:solidFill>
          <a:ln w="12700">
            <a:solidFill>
              <a:srgbClr val="E3E9E5"/>
            </a:solidFill>
            <a:prstDash val="solid"/>
          </a:ln>
        </p:spPr>
      </p:sp>
      <p:sp>
        <p:nvSpPr>
          <p:cNvPr id="20" name="Shape 16"/>
          <p:cNvSpPr/>
          <p:nvPr/>
        </p:nvSpPr>
        <p:spPr>
          <a:xfrm>
            <a:off x="694944" y="3087624"/>
            <a:ext cx="1417320" cy="272796"/>
          </a:xfrm>
          <a:prstGeom prst="roundRect">
            <a:avLst>
              <a:gd name="adj" fmla="val 33520"/>
            </a:avLst>
          </a:prstGeom>
          <a:solidFill>
            <a:srgbClr val="6B7C71"/>
          </a:solidFill>
          <a:ln/>
        </p:spPr>
      </p:sp>
      <p:sp>
        <p:nvSpPr>
          <p:cNvPr id="21" name="Text 17"/>
          <p:cNvSpPr txBox="1"/>
          <p:nvPr/>
        </p:nvSpPr>
        <p:spPr>
          <a:xfrm>
            <a:off x="731520" y="308762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22" name="Text 18"/>
          <p:cNvSpPr txBox="1"/>
          <p:nvPr/>
        </p:nvSpPr>
        <p:spPr>
          <a:xfrm>
            <a:off x="2276856" y="305104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______ it raining?</a:t>
            </a:r>
            <a:endParaRPr lang="en-US" sz="2000" dirty="0"/>
          </a:p>
        </p:txBody>
      </p:sp>
      <p:sp>
        <p:nvSpPr>
          <p:cNvPr id="23" name="Shape 19"/>
          <p:cNvSpPr/>
          <p:nvPr/>
        </p:nvSpPr>
        <p:spPr>
          <a:xfrm>
            <a:off x="548640" y="3552444"/>
            <a:ext cx="11094415" cy="455676"/>
          </a:xfrm>
          <a:prstGeom prst="roundRect">
            <a:avLst>
              <a:gd name="adj" fmla="val 28094"/>
            </a:avLst>
          </a:prstGeom>
          <a:solidFill>
            <a:srgbClr val="E7F3EF"/>
          </a:solidFill>
          <a:ln w="12700">
            <a:solidFill>
              <a:srgbClr val="C4E0D5"/>
            </a:solidFill>
            <a:prstDash val="solid"/>
          </a:ln>
        </p:spPr>
      </p:sp>
      <p:sp>
        <p:nvSpPr>
          <p:cNvPr id="24" name="Shape 20"/>
          <p:cNvSpPr/>
          <p:nvPr/>
        </p:nvSpPr>
        <p:spPr>
          <a:xfrm>
            <a:off x="694944" y="3643884"/>
            <a:ext cx="1417320" cy="272796"/>
          </a:xfrm>
          <a:prstGeom prst="roundRect">
            <a:avLst>
              <a:gd name="adj" fmla="val 33520"/>
            </a:avLst>
          </a:prstGeom>
          <a:solidFill>
            <a:srgbClr val="0E7C5A"/>
          </a:solidFill>
          <a:ln/>
        </p:spPr>
      </p:sp>
      <p:sp>
        <p:nvSpPr>
          <p:cNvPr id="25" name="Text 21"/>
          <p:cNvSpPr txBox="1"/>
          <p:nvPr/>
        </p:nvSpPr>
        <p:spPr>
          <a:xfrm>
            <a:off x="731520" y="364388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26" name="Text 22"/>
          <p:cNvSpPr txBox="1"/>
          <p:nvPr/>
        </p:nvSpPr>
        <p:spPr>
          <a:xfrm>
            <a:off x="2276856" y="360730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Yes, it ______ . I ______ not ______ an umbrella.</a:t>
            </a:r>
            <a:endParaRPr lang="en-US" sz="2000" dirty="0"/>
          </a:p>
        </p:txBody>
      </p:sp>
      <p:sp>
        <p:nvSpPr>
          <p:cNvPr id="27" name="Shape 23"/>
          <p:cNvSpPr/>
          <p:nvPr/>
        </p:nvSpPr>
        <p:spPr>
          <a:xfrm>
            <a:off x="548640" y="4108704"/>
            <a:ext cx="11094415" cy="455676"/>
          </a:xfrm>
          <a:prstGeom prst="roundRect">
            <a:avLst>
              <a:gd name="adj" fmla="val 28094"/>
            </a:avLst>
          </a:prstGeom>
          <a:solidFill>
            <a:srgbClr val="EDF3EF"/>
          </a:solidFill>
          <a:ln w="12700">
            <a:solidFill>
              <a:srgbClr val="E3E9E5"/>
            </a:solidFill>
            <a:prstDash val="solid"/>
          </a:ln>
        </p:spPr>
      </p:sp>
      <p:sp>
        <p:nvSpPr>
          <p:cNvPr id="28" name="Shape 24"/>
          <p:cNvSpPr/>
          <p:nvPr/>
        </p:nvSpPr>
        <p:spPr>
          <a:xfrm>
            <a:off x="694944" y="4200144"/>
            <a:ext cx="1417320" cy="272796"/>
          </a:xfrm>
          <a:prstGeom prst="roundRect">
            <a:avLst>
              <a:gd name="adj" fmla="val 33520"/>
            </a:avLst>
          </a:prstGeom>
          <a:solidFill>
            <a:srgbClr val="6B7C71"/>
          </a:solidFill>
          <a:ln/>
        </p:spPr>
      </p:sp>
      <p:sp>
        <p:nvSpPr>
          <p:cNvPr id="29" name="Text 25"/>
          <p:cNvSpPr txBox="1"/>
          <p:nvPr/>
        </p:nvSpPr>
        <p:spPr>
          <a:xfrm>
            <a:off x="731520" y="420014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HANA</a:t>
            </a:r>
            <a:endParaRPr lang="en-US" sz="1200" dirty="0"/>
          </a:p>
        </p:txBody>
      </p:sp>
      <p:sp>
        <p:nvSpPr>
          <p:cNvPr id="30" name="Text 26"/>
          <p:cNvSpPr txBox="1"/>
          <p:nvPr/>
        </p:nvSpPr>
        <p:spPr>
          <a:xfrm>
            <a:off x="2276856" y="416356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Come under mine. Where ______ you ______ ?</a:t>
            </a:r>
            <a:endParaRPr lang="en-US" sz="2000" dirty="0"/>
          </a:p>
        </p:txBody>
      </p:sp>
      <p:sp>
        <p:nvSpPr>
          <p:cNvPr id="31" name="Shape 27"/>
          <p:cNvSpPr/>
          <p:nvPr/>
        </p:nvSpPr>
        <p:spPr>
          <a:xfrm>
            <a:off x="548640" y="4664964"/>
            <a:ext cx="11094415" cy="455676"/>
          </a:xfrm>
          <a:prstGeom prst="roundRect">
            <a:avLst>
              <a:gd name="adj" fmla="val 28094"/>
            </a:avLst>
          </a:prstGeom>
          <a:solidFill>
            <a:srgbClr val="E7F3EF"/>
          </a:solidFill>
          <a:ln w="12700">
            <a:solidFill>
              <a:srgbClr val="C4E0D5"/>
            </a:solidFill>
            <a:prstDash val="solid"/>
          </a:ln>
        </p:spPr>
      </p:sp>
      <p:sp>
        <p:nvSpPr>
          <p:cNvPr id="32" name="Shape 28"/>
          <p:cNvSpPr/>
          <p:nvPr/>
        </p:nvSpPr>
        <p:spPr>
          <a:xfrm>
            <a:off x="694944" y="4756404"/>
            <a:ext cx="1417320" cy="272796"/>
          </a:xfrm>
          <a:prstGeom prst="roundRect">
            <a:avLst>
              <a:gd name="adj" fmla="val 33520"/>
            </a:avLst>
          </a:prstGeom>
          <a:solidFill>
            <a:srgbClr val="0E7C5A"/>
          </a:solidFill>
          <a:ln/>
        </p:spPr>
      </p:sp>
      <p:sp>
        <p:nvSpPr>
          <p:cNvPr id="33" name="Text 29"/>
          <p:cNvSpPr txBox="1"/>
          <p:nvPr/>
        </p:nvSpPr>
        <p:spPr>
          <a:xfrm>
            <a:off x="731520" y="4756404"/>
            <a:ext cx="1344168" cy="2727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YOU</a:t>
            </a:r>
            <a:endParaRPr lang="en-US" sz="1200" dirty="0"/>
          </a:p>
        </p:txBody>
      </p:sp>
      <p:sp>
        <p:nvSpPr>
          <p:cNvPr id="34" name="Text 30"/>
          <p:cNvSpPr txBox="1"/>
          <p:nvPr/>
        </p:nvSpPr>
        <p:spPr>
          <a:xfrm>
            <a:off x="2276856" y="4719828"/>
            <a:ext cx="9128455" cy="345948"/>
          </a:xfrm>
          <a:prstGeom prst="rect">
            <a:avLst/>
          </a:prstGeom>
          <a:noFill/>
          <a:ln/>
        </p:spPr>
        <p:txBody>
          <a:bodyPr wrap="square" lIns="0" tIns="0" rIns="0" bIns="0" rtlCol="0" anchor="ctr"/>
          <a:lstStyle/>
          <a:p>
            <a:pPr indent="0" marL="0">
              <a:lnSpc>
                <a:spcPct val="100000"/>
              </a:lnSpc>
              <a:buNone/>
            </a:pPr>
            <a:r>
              <a:rPr lang="en-US" sz="2000" b="1" dirty="0">
                <a:solidFill>
                  <a:srgbClr val="12211B"/>
                </a:solidFill>
                <a:latin typeface="Calibri" pitchFamily="34" charset="0"/>
                <a:ea typeface="Calibri" pitchFamily="34" charset="-122"/>
                <a:cs typeface="Calibri" pitchFamily="34" charset="-120"/>
              </a:rPr>
              <a:t>I ______ ______ to Piassa. Thank you!</a:t>
            </a:r>
            <a:endParaRPr lang="en-US" sz="2000" dirty="0"/>
          </a:p>
        </p:txBody>
      </p:sp>
      <p:sp>
        <p:nvSpPr>
          <p:cNvPr id="35" name="Shape 31"/>
          <p:cNvSpPr/>
          <p:nvPr/>
        </p:nvSpPr>
        <p:spPr>
          <a:xfrm>
            <a:off x="548640" y="5266944"/>
            <a:ext cx="11094415" cy="676656"/>
          </a:xfrm>
          <a:prstGeom prst="roundRect">
            <a:avLst>
              <a:gd name="adj" fmla="val 18919"/>
            </a:avLst>
          </a:prstGeom>
          <a:solidFill>
            <a:srgbClr val="FDF3E7"/>
          </a:solidFill>
          <a:ln w="12700">
            <a:solidFill>
              <a:srgbClr val="EFDCB2"/>
            </a:solidFill>
            <a:prstDash val="solid"/>
          </a:ln>
        </p:spPr>
      </p:sp>
      <p:sp>
        <p:nvSpPr>
          <p:cNvPr id="36" name="Text 32"/>
          <p:cNvSpPr txBox="1"/>
          <p:nvPr/>
        </p:nvSpPr>
        <p:spPr>
          <a:xfrm>
            <a:off x="786384" y="5266944"/>
            <a:ext cx="10618927" cy="676656"/>
          </a:xfrm>
          <a:prstGeom prst="rect">
            <a:avLst/>
          </a:prstGeom>
          <a:noFill/>
          <a:ln/>
        </p:spPr>
        <p:txBody>
          <a:bodyPr wrap="square" lIns="0" tIns="0" rIns="0" bIns="0" rtlCol="0" anchor="ctr"/>
          <a:lstStyle/>
          <a:p>
            <a:pPr indent="0" marL="0">
              <a:buNone/>
            </a:pPr>
            <a:r>
              <a:rPr lang="en-US" sz="1500" dirty="0">
                <a:solidFill>
                  <a:srgbClr val="12211B"/>
                </a:solidFill>
                <a:latin typeface="Calibri" pitchFamily="34" charset="0"/>
                <a:ea typeface="Calibri" pitchFamily="34" charset="-122"/>
                <a:cs typeface="Calibri" pitchFamily="34" charset="-120"/>
              </a:rPr>
              <a:t>Use these:  are · doing · am · waiting · Is · is · am · carrying · are · going · am · going</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CONVERSATION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Pair practice — mime and describe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rounds. Two minutes each.</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Mime an action, your partner describes it</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“You are drinking coffee.” Ten actions each.</a:t>
            </a:r>
            <a:endParaRPr lang="en-US" sz="21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what people in the room are doing</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Five sentences. Nobody may be described twice.</a:t>
            </a:r>
            <a:endParaRPr lang="en-US" sz="21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Describe a picture in four steps</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Who · what they are doing · what they are wearing · where things are.</a:t>
            </a:r>
            <a:endParaRPr lang="en-US" sz="21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Ring your partner and ask what they are doing</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Back to back. Three exchanges each.</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1 — narrate the room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Three rounds. Everyone speaks.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31</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E4572E"/>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what one person is doing</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“Sara is writing.” Around the class, nobody repeated.</a:t>
            </a:r>
            <a:endParaRPr lang="en-US" sz="21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E4572E"/>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what you are doing</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am sitting. I am listening. I am learning English.”</a:t>
            </a:r>
            <a:endParaRPr lang="en-US" sz="21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E4572E"/>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Say what is NOT happening</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“Nobody is sleeping. We are not speaking Amharic.”</a:t>
            </a:r>
            <a:endParaRPr lang="en-US" sz="2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450" b="1" dirty="0">
                <a:solidFill>
                  <a:srgbClr val="12211B"/>
                </a:solidFill>
                <a:latin typeface="Calibri" pitchFamily="34" charset="0"/>
                <a:ea typeface="Calibri" pitchFamily="34" charset="-122"/>
                <a:cs typeface="Calibri" pitchFamily="34" charset="-120"/>
              </a:rPr>
              <a:t>Activity 2 — describe a picture in five sentences</a:t>
            </a:r>
            <a:endParaRPr lang="en-US" sz="34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exam task. Use the four steps.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32</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who is there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“There is a woman. There are two children.”</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they are doing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“She is cooking. They are playing.”</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they are wearing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“She is wearing a white netela.”</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where things are</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“The pot is on the fire. A dog is under the table.”</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thing you are not sure about</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think it is morning.” “I think they are her children.”</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Sound drill — the -ing ending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ending is /ɪŋ/ — one sound at the back of the mouth. Not “-ink” and not “-in”.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33</a:t>
            </a:r>
            <a:endParaRPr lang="en-US" sz="1100" dirty="0"/>
          </a:p>
        </p:txBody>
      </p:sp>
      <p:sp>
        <p:nvSpPr>
          <p:cNvPr id="11" name="Shape 7"/>
          <p:cNvSpPr/>
          <p:nvPr/>
        </p:nvSpPr>
        <p:spPr>
          <a:xfrm>
            <a:off x="548640" y="1883664"/>
            <a:ext cx="5410048" cy="3273552"/>
          </a:xfrm>
          <a:prstGeom prst="roundRect">
            <a:avLst>
              <a:gd name="adj" fmla="val 3911"/>
            </a:avLst>
          </a:prstGeom>
          <a:solidFill>
            <a:srgbClr val="E6F5EC"/>
          </a:solidFill>
          <a:ln w="15875">
            <a:solidFill>
              <a:srgbClr val="2E9E5B"/>
            </a:solidFill>
            <a:prstDash val="solid"/>
          </a:ln>
        </p:spPr>
      </p:sp>
      <p:sp>
        <p:nvSpPr>
          <p:cNvPr id="12" name="Shape 8"/>
          <p:cNvSpPr/>
          <p:nvPr/>
        </p:nvSpPr>
        <p:spPr>
          <a:xfrm>
            <a:off x="786384" y="2103120"/>
            <a:ext cx="420624" cy="420624"/>
          </a:xfrm>
          <a:prstGeom prst="ellipse">
            <a:avLst/>
          </a:prstGeom>
          <a:solidFill>
            <a:srgbClr val="2E9E5B"/>
          </a:solidFill>
          <a:ln/>
        </p:spPr>
      </p:sp>
      <p:pic>
        <p:nvPicPr>
          <p:cNvPr id="13" name="Image 1" descr="preencoded.png">    </p:cNvPr>
          <p:cNvPicPr>
            <a:picLocks noChangeAspect="1"/>
          </p:cNvPicPr>
          <p:nvPr/>
        </p:nvPicPr>
        <p:blipFill>
          <a:blip r:embed="rId2"/>
          <a:stretch>
            <a:fillRect/>
          </a:stretch>
        </p:blipFill>
        <p:spPr>
          <a:xfrm>
            <a:off x="891540" y="2208276"/>
            <a:ext cx="210312" cy="210312"/>
          </a:xfrm>
          <a:prstGeom prst="rect">
            <a:avLst/>
          </a:prstGeom>
        </p:spPr>
      </p:pic>
      <p:sp>
        <p:nvSpPr>
          <p:cNvPr id="14" name="Text 9"/>
          <p:cNvSpPr txBox="1"/>
          <p:nvPr/>
        </p:nvSpPr>
        <p:spPr>
          <a:xfrm>
            <a:off x="1335024" y="2103120"/>
            <a:ext cx="4404208" cy="420624"/>
          </a:xfrm>
          <a:prstGeom prst="rect">
            <a:avLst/>
          </a:prstGeom>
          <a:noFill/>
          <a:ln/>
        </p:spPr>
        <p:txBody>
          <a:bodyPr wrap="square" lIns="0" tIns="0" rIns="0" bIns="0" rtlCol="0" anchor="ctr"/>
          <a:lstStyle/>
          <a:p>
            <a:pPr indent="0" marL="0">
              <a:buNone/>
            </a:pPr>
            <a:r>
              <a:rPr lang="en-US" sz="2000" b="1" dirty="0">
                <a:solidFill>
                  <a:srgbClr val="2E9E5B"/>
                </a:solidFill>
                <a:latin typeface="Calibri" pitchFamily="34" charset="0"/>
                <a:ea typeface="Calibri" pitchFamily="34" charset="-122"/>
                <a:cs typeface="Calibri" pitchFamily="34" charset="-120"/>
              </a:rPr>
              <a:t>Say the /ŋ/ clearly</a:t>
            </a:r>
            <a:endParaRPr lang="en-US" sz="2000" dirty="0"/>
          </a:p>
        </p:txBody>
      </p:sp>
      <p:sp>
        <p:nvSpPr>
          <p:cNvPr id="15" name="Text 10"/>
          <p:cNvSpPr/>
          <p:nvPr/>
        </p:nvSpPr>
        <p:spPr>
          <a:xfrm>
            <a:off x="822960"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working  /ˈwɜːkɪŋ/</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reading  /ˈriːdɪŋ/</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sitting  /ˈsɪtɪŋ/</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coming  /ˈkʌmɪŋ/</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running  /ˈrʌnɪŋ/</a:t>
            </a:r>
            <a:endParaRPr lang="en-US" sz="1900" dirty="0"/>
          </a:p>
        </p:txBody>
      </p:sp>
      <p:sp>
        <p:nvSpPr>
          <p:cNvPr id="16" name="Shape 11"/>
          <p:cNvSpPr/>
          <p:nvPr/>
        </p:nvSpPr>
        <p:spPr>
          <a:xfrm>
            <a:off x="6233008" y="1883664"/>
            <a:ext cx="5410048" cy="3273552"/>
          </a:xfrm>
          <a:prstGeom prst="roundRect">
            <a:avLst>
              <a:gd name="adj" fmla="val 3911"/>
            </a:avLst>
          </a:prstGeom>
          <a:solidFill>
            <a:srgbClr val="FBEAEA"/>
          </a:solidFill>
          <a:ln w="15875">
            <a:solidFill>
              <a:srgbClr val="D64545"/>
            </a:solidFill>
            <a:prstDash val="solid"/>
          </a:ln>
        </p:spPr>
      </p:sp>
      <p:sp>
        <p:nvSpPr>
          <p:cNvPr id="17" name="Shape 12"/>
          <p:cNvSpPr/>
          <p:nvPr/>
        </p:nvSpPr>
        <p:spPr>
          <a:xfrm>
            <a:off x="6470752" y="2103120"/>
            <a:ext cx="420624" cy="420624"/>
          </a:xfrm>
          <a:prstGeom prst="ellipse">
            <a:avLst/>
          </a:prstGeom>
          <a:solidFill>
            <a:srgbClr val="D64545"/>
          </a:solidFill>
          <a:ln/>
        </p:spPr>
      </p:sp>
      <p:pic>
        <p:nvPicPr>
          <p:cNvPr id="18" name="Image 2" descr="preencoded.png">    </p:cNvPr>
          <p:cNvPicPr>
            <a:picLocks noChangeAspect="1"/>
          </p:cNvPicPr>
          <p:nvPr/>
        </p:nvPicPr>
        <p:blipFill>
          <a:blip r:embed="rId3"/>
          <a:stretch>
            <a:fillRect/>
          </a:stretch>
        </p:blipFill>
        <p:spPr>
          <a:xfrm>
            <a:off x="6575908" y="2208276"/>
            <a:ext cx="210312" cy="210312"/>
          </a:xfrm>
          <a:prstGeom prst="rect">
            <a:avLst/>
          </a:prstGeom>
        </p:spPr>
      </p:pic>
      <p:sp>
        <p:nvSpPr>
          <p:cNvPr id="19" name="Text 13"/>
          <p:cNvSpPr txBox="1"/>
          <p:nvPr/>
        </p:nvSpPr>
        <p:spPr>
          <a:xfrm>
            <a:off x="7019392" y="2103120"/>
            <a:ext cx="4404208" cy="420624"/>
          </a:xfrm>
          <a:prstGeom prst="rect">
            <a:avLst/>
          </a:prstGeom>
          <a:noFill/>
          <a:ln/>
        </p:spPr>
        <p:txBody>
          <a:bodyPr wrap="square" lIns="0" tIns="0" rIns="0" bIns="0" rtlCol="0" anchor="ctr"/>
          <a:lstStyle/>
          <a:p>
            <a:pPr indent="0" marL="0">
              <a:buNone/>
            </a:pPr>
            <a:r>
              <a:rPr lang="en-US" sz="2000" b="1" dirty="0">
                <a:solidFill>
                  <a:srgbClr val="D64545"/>
                </a:solidFill>
                <a:latin typeface="Calibri" pitchFamily="34" charset="0"/>
                <a:ea typeface="Calibri" pitchFamily="34" charset="-122"/>
                <a:cs typeface="Calibri" pitchFamily="34" charset="-120"/>
              </a:rPr>
              <a:t>Do not say these</a:t>
            </a:r>
            <a:endParaRPr lang="en-US" sz="2000" dirty="0"/>
          </a:p>
        </p:txBody>
      </p:sp>
      <p:sp>
        <p:nvSpPr>
          <p:cNvPr id="20" name="Text 14"/>
          <p:cNvSpPr/>
          <p:nvPr/>
        </p:nvSpPr>
        <p:spPr>
          <a:xfrm>
            <a:off x="6507328" y="2724912"/>
            <a:ext cx="4861408" cy="2212848"/>
          </a:xfrm>
          <a:prstGeom prst="rect">
            <a:avLst/>
          </a:prstGeom>
          <a:noFill/>
          <a:ln/>
        </p:spPr>
        <p:txBody>
          <a:bodyPr wrap="square" lIns="0" tIns="0" rIns="0" bIns="0" rtlCol="0" anchor="t"/>
          <a:lstStyle/>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workink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readin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sittink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comin  ✗</a:t>
            </a:r>
            <a:endParaRPr lang="en-US" sz="1900" dirty="0"/>
          </a:p>
          <a:p>
            <a:pPr marL="228600" indent="-228600">
              <a:lnSpc>
                <a:spcPct val="100000"/>
              </a:lnSpc>
              <a:spcAft>
                <a:spcPts val="1100"/>
              </a:spcAft>
              <a:buSzPct val="100000"/>
              <a:buChar char="•"/>
            </a:pPr>
            <a:r>
              <a:rPr lang="en-US" sz="1900" dirty="0">
                <a:solidFill>
                  <a:srgbClr val="12211B"/>
                </a:solidFill>
                <a:latin typeface="Calibri" pitchFamily="34" charset="0"/>
                <a:ea typeface="Calibri" pitchFamily="34" charset="-122"/>
                <a:cs typeface="Calibri" pitchFamily="34" charset="-120"/>
              </a:rPr>
              <a:t>runnink  ✗</a:t>
            </a:r>
            <a:endParaRPr lang="en-US" sz="1900" dirty="0"/>
          </a:p>
        </p:txBody>
      </p:sp>
      <p:sp>
        <p:nvSpPr>
          <p:cNvPr id="21" name="Shape 15"/>
          <p:cNvSpPr/>
          <p:nvPr/>
        </p:nvSpPr>
        <p:spPr>
          <a:xfrm>
            <a:off x="548640" y="5285232"/>
            <a:ext cx="11094415" cy="658368"/>
          </a:xfrm>
          <a:prstGeom prst="roundRect">
            <a:avLst>
              <a:gd name="adj" fmla="val 19444"/>
            </a:avLst>
          </a:prstGeom>
          <a:solidFill>
            <a:srgbClr val="FDF3E7"/>
          </a:solidFill>
          <a:ln w="12700">
            <a:solidFill>
              <a:srgbClr val="EFDCB2"/>
            </a:solidFill>
            <a:prstDash val="solid"/>
          </a:ln>
        </p:spPr>
      </p:sp>
      <p:sp>
        <p:nvSpPr>
          <p:cNvPr id="22" name="Text 16"/>
          <p:cNvSpPr txBox="1"/>
          <p:nvPr/>
        </p:nvSpPr>
        <p:spPr>
          <a:xfrm>
            <a:off x="786384" y="5285232"/>
            <a:ext cx="10618927" cy="658368"/>
          </a:xfrm>
          <a:prstGeom prst="rect">
            <a:avLst/>
          </a:prstGeom>
          <a:noFill/>
          <a:ln/>
        </p:spPr>
        <p:txBody>
          <a:bodyPr wrap="square" lIns="0" tIns="0" rIns="0" bIns="0" rtlCol="0" anchor="ctr"/>
          <a:lstStyle/>
          <a:p>
            <a:pPr indent="0" marL="0">
              <a:buNone/>
            </a:pPr>
            <a:r>
              <a:rPr lang="en-US" sz="1600" dirty="0">
                <a:solidFill>
                  <a:srgbClr val="12211B"/>
                </a:solidFill>
                <a:latin typeface="Calibri" pitchFamily="34" charset="0"/>
                <a:ea typeface="Calibri" pitchFamily="34" charset="-122"/>
                <a:cs typeface="Calibri" pitchFamily="34" charset="-120"/>
              </a:rPr>
              <a:t>There is no /k/ at the end. Your tongue goes to the back of the mouth and stays there. Say a long “sing…” and feel where it stops.</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Activity 4 — role plays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Two minutes per situation.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34</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07692"/>
            <a:ext cx="457200" cy="457200"/>
          </a:xfrm>
          <a:prstGeom prst="ellipse">
            <a:avLst/>
          </a:prstGeom>
          <a:solidFill>
            <a:srgbClr val="E4572E"/>
          </a:solidFill>
          <a:ln/>
        </p:spPr>
      </p:sp>
      <p:sp>
        <p:nvSpPr>
          <p:cNvPr id="13" name="Text 9"/>
          <p:cNvSpPr txBox="1"/>
          <p:nvPr/>
        </p:nvSpPr>
        <p:spPr>
          <a:xfrm>
            <a:off x="786384" y="21076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A phone call: “What are you doing?”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Three exchanges. Back to back if you can.</a:t>
            </a:r>
            <a:endParaRPr lang="en-US" sz="2000" dirty="0"/>
          </a:p>
        </p:txBody>
      </p:sp>
      <p:sp>
        <p:nvSpPr>
          <p:cNvPr id="15" name="Shape 11"/>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2"/>
          <p:cNvSpPr/>
          <p:nvPr/>
        </p:nvSpPr>
        <p:spPr>
          <a:xfrm>
            <a:off x="786384" y="3159252"/>
            <a:ext cx="457200" cy="457200"/>
          </a:xfrm>
          <a:prstGeom prst="ellipse">
            <a:avLst/>
          </a:prstGeom>
          <a:solidFill>
            <a:srgbClr val="E4572E"/>
          </a:solidFill>
          <a:ln/>
        </p:spPr>
      </p:sp>
      <p:sp>
        <p:nvSpPr>
          <p:cNvPr id="17" name="Text 13"/>
          <p:cNvSpPr txBox="1"/>
          <p:nvPr/>
        </p:nvSpPr>
        <p:spPr>
          <a:xfrm>
            <a:off x="786384" y="315925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are at a market. Describe it to a friend who cannot see it.</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Six sentences, all continuous.</a:t>
            </a:r>
            <a:endParaRPr lang="en-US" sz="2000" dirty="0"/>
          </a:p>
        </p:txBody>
      </p:sp>
      <p:sp>
        <p:nvSpPr>
          <p:cNvPr id="19" name="Shape 15"/>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6"/>
          <p:cNvSpPr/>
          <p:nvPr/>
        </p:nvSpPr>
        <p:spPr>
          <a:xfrm>
            <a:off x="786384" y="4210812"/>
            <a:ext cx="457200" cy="457200"/>
          </a:xfrm>
          <a:prstGeom prst="ellipse">
            <a:avLst/>
          </a:prstGeom>
          <a:solidFill>
            <a:srgbClr val="E4572E"/>
          </a:solidFill>
          <a:ln/>
        </p:spPr>
      </p:sp>
      <p:sp>
        <p:nvSpPr>
          <p:cNvPr id="21" name="Text 17"/>
          <p:cNvSpPr txBox="1"/>
          <p:nvPr/>
        </p:nvSpPr>
        <p:spPr>
          <a:xfrm>
            <a:off x="786384" y="421081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You are late. Explain what is happening.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“I am waiting for the bus. It is raining. The traffic is not moving.”</a:t>
            </a:r>
            <a:endParaRPr lang="en-US" sz="2000" dirty="0"/>
          </a:p>
        </p:txBody>
      </p:sp>
      <p:sp>
        <p:nvSpPr>
          <p:cNvPr id="23" name="Shape 19"/>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20"/>
          <p:cNvSpPr/>
          <p:nvPr/>
        </p:nvSpPr>
        <p:spPr>
          <a:xfrm>
            <a:off x="786384" y="5262372"/>
            <a:ext cx="457200" cy="457200"/>
          </a:xfrm>
          <a:prstGeom prst="ellipse">
            <a:avLst/>
          </a:prstGeom>
          <a:solidFill>
            <a:srgbClr val="E4572E"/>
          </a:solidFill>
          <a:ln/>
        </p:spPr>
      </p:sp>
      <p:sp>
        <p:nvSpPr>
          <p:cNvPr id="25" name="Text 21"/>
          <p:cNvSpPr txBox="1"/>
          <p:nvPr/>
        </p:nvSpPr>
        <p:spPr>
          <a:xfrm>
            <a:off x="786384" y="526237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Describe your own family right now — where they are and what they are doing.</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“My mother is cooking. My brother is at school.”</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007108" cy="420624"/>
          </a:xfrm>
          <a:prstGeom prst="roundRect">
            <a:avLst>
              <a:gd name="adj" fmla="val 50000"/>
            </a:avLst>
          </a:prstGeom>
          <a:solidFill>
            <a:srgbClr val="E4572E"/>
          </a:solidFill>
          <a:ln/>
        </p:spPr>
      </p:sp>
      <p:sp>
        <p:nvSpPr>
          <p:cNvPr id="3" name="Shape 1"/>
          <p:cNvSpPr/>
          <p:nvPr/>
        </p:nvSpPr>
        <p:spPr>
          <a:xfrm>
            <a:off x="649224" y="539496"/>
            <a:ext cx="219456" cy="219456"/>
          </a:xfrm>
          <a:prstGeom prst="ellipse">
            <a:avLst/>
          </a:prstGeom>
          <a:solidFill>
            <a:srgbClr val="E4572E"/>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513332"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SPEAKING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Speaking challenge — record yourself</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90 seconds. Everyone does this. It is the main speaking task of the module.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35</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E4572E"/>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you are doing right now</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sentences.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E4572E"/>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what three other people are doing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Three sentences with he, she or they.</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E4572E"/>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a picture in five sentences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Use the four steps plus one “I think”.</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E4572E"/>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two things that are NOT happening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“Nobody is sleeping.”</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E4572E"/>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one sentence with BOTH tenses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 usually walk to work, but today I am taking the bus.”</a:t>
            </a:r>
            <a:endParaRPr lang="en-US" sz="16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what is happening?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twice. Write who and what.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36</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 am standing at the bus station in Piassa.</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A lot of people are waiting for the bus.</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An old man is reading a newspaper.</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Two women are talking and laughing.</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A boy is carrying a big bag of onions.</a:t>
            </a:r>
            <a:endParaRPr lang="en-US" sz="1750" dirty="0"/>
          </a:p>
          <a:p>
            <a:pPr indent="0" marL="0">
              <a:lnSpc>
                <a:spcPct val="136000"/>
              </a:lnSpc>
              <a:buNone/>
            </a:pPr>
            <a:r>
              <a:rPr lang="en-US" sz="1750" dirty="0">
                <a:solidFill>
                  <a:srgbClr val="12211B"/>
                </a:solidFill>
                <a:latin typeface="Calibri" pitchFamily="34" charset="0"/>
                <a:ea typeface="Calibri" pitchFamily="34" charset="-122"/>
                <a:cs typeface="Calibri" pitchFamily="34" charset="-120"/>
              </a:rPr>
              <a:t>It is starting to rain, so everybody is running.”</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YOUR TASK</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the six people or groups you hear.</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Write what each one is doing.</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draw the scene.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it twice, at natural speed.</a:t>
            </a:r>
            <a:endParaRPr lang="en-US" sz="17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1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37</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the speaker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standing at the bus station.</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 am standing” becomes “he is standing” when you report it. The auxiliary changes with the person.</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a lot of people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are waiting for the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lot of people” is plural, so “are”. And “waiting FOR” — the preposition is part of the verb.</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an old man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reading a newspaper.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person, so “is”. “Read” has two vowels, so no doubling: reading, not readding.</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two women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are talking and laughing.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verbs sharing one “are”. You do not repeat the auxiliary for the second verb.</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a boy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carrying a big bag.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“Carry” keeps its y for the -ing form: carrying. Compare “carries” for the -s form.</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two tenses together</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Listen for which tense each sentence uses.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38</a:t>
            </a:r>
            <a:endParaRPr lang="en-US" sz="1100" dirty="0"/>
          </a:p>
        </p:txBody>
      </p:sp>
      <p:sp>
        <p:nvSpPr>
          <p:cNvPr id="11" name="Shape 7"/>
          <p:cNvSpPr/>
          <p:nvPr/>
        </p:nvSpPr>
        <p:spPr>
          <a:xfrm>
            <a:off x="548640" y="1883664"/>
            <a:ext cx="6766560" cy="4059936"/>
          </a:xfrm>
          <a:prstGeom prst="roundRect">
            <a:avLst>
              <a:gd name="adj" fmla="val 3153"/>
            </a:avLst>
          </a:prstGeom>
          <a:solidFill>
            <a:srgbClr val="E8F6F6"/>
          </a:solidFill>
          <a:ln w="15875">
            <a:solidFill>
              <a:srgbClr val="1FA3A3"/>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AUDIO SCRIPT — TEACHER READS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MIMI:   Hello Hana. Are you working today?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HANA:   No, I am not. I usually work on Tuesday, but today is my day off.</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MIMI:   What are you doing?</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HANA:   I am cooking. My sister is helping me.</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MIMI:   Do you cook every day?</a:t>
            </a:r>
            <a:endParaRPr lang="en-US" sz="1700" dirty="0"/>
          </a:p>
          <a:p>
            <a:pPr indent="0" marL="0">
              <a:lnSpc>
                <a:spcPct val="134000"/>
              </a:lnSpc>
              <a:buNone/>
            </a:pPr>
            <a:r>
              <a:rPr lang="en-US" sz="1700" dirty="0">
                <a:solidFill>
                  <a:srgbClr val="12211B"/>
                </a:solidFill>
                <a:latin typeface="Calibri" pitchFamily="34" charset="0"/>
                <a:ea typeface="Calibri" pitchFamily="34" charset="-122"/>
                <a:cs typeface="Calibri" pitchFamily="34" charset="-120"/>
              </a:rPr>
              <a:t>HANA:   No, I do not. My mother usually cooks. But she is visiting Gondar this week.</a:t>
            </a:r>
            <a:endParaRPr lang="en-US" sz="17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1FA3A3"/>
                </a:solidFill>
                <a:latin typeface="Calibri" pitchFamily="34" charset="0"/>
                <a:ea typeface="Calibri" pitchFamily="34" charset="-122"/>
                <a:cs typeface="Calibri" pitchFamily="34" charset="-120"/>
              </a:rPr>
              <a:t>QUESTIONS</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1. Is Hana working today?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2. Which day does she usually work?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3. What is she doing now?</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4. Who usually cooks?</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5. Why is Hana cooking today?</a:t>
            </a:r>
            <a:endParaRPr lang="en-US" sz="16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58318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08940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2 · ANSWERS</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Listening 2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39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Is Hana working today?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she is not.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short answer keeps the auxiliary “is”. The question was in the continuous, so the answer is too.</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Which day does she usually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usually works on Tuesday.</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“Usually” signals the present simple, so the verb takes the -s from Module 1 — not the -ing.</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is she doing now?</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cooking.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Happening at this moment, so the continuous. Both parts needed.</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Who usually cooks?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Her mother usually cooks.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“Usually” again, so the simple, with the -s on “cooks”.</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Why is Hana cooking today?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Because her mother is visiting Gondar this week.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week” makes it temporary, so the continuous. Two tenses appear in this one answer.</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03120" cy="420624"/>
          </a:xfrm>
          <a:prstGeom prst="roundRect">
            <a:avLst>
              <a:gd name="adj" fmla="val 50000"/>
            </a:avLst>
          </a:prstGeom>
          <a:solidFill>
            <a:srgbClr val="1FA3A3"/>
          </a:solidFill>
          <a:ln/>
        </p:spPr>
      </p:sp>
      <p:sp>
        <p:nvSpPr>
          <p:cNvPr id="3" name="Shape 1"/>
          <p:cNvSpPr/>
          <p:nvPr/>
        </p:nvSpPr>
        <p:spPr>
          <a:xfrm>
            <a:off x="649224" y="539496"/>
            <a:ext cx="219456" cy="219456"/>
          </a:xfrm>
          <a:prstGeom prst="ellipse">
            <a:avLst/>
          </a:prstGeom>
          <a:solidFill>
            <a:srgbClr val="1FA3A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60934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LISTENING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to hear which tense is being used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Four clues that tell you before the verb arrives.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40</a:t>
            </a:r>
            <a:endParaRPr lang="en-US" sz="1100" dirty="0"/>
          </a:p>
        </p:txBody>
      </p:sp>
      <p:sp>
        <p:nvSpPr>
          <p:cNvPr id="11" name="Shape 7"/>
          <p:cNvSpPr/>
          <p:nvPr/>
        </p:nvSpPr>
        <p:spPr>
          <a:xfrm>
            <a:off x="548640" y="1883664"/>
            <a:ext cx="5446624" cy="1929384"/>
          </a:xfrm>
          <a:prstGeom prst="roundRect">
            <a:avLst>
              <a:gd name="adj" fmla="val 6635"/>
            </a:avLst>
          </a:prstGeom>
          <a:solidFill>
            <a:srgbClr val="E8F6F6"/>
          </a:solidFill>
          <a:ln w="12700">
            <a:solidFill>
              <a:srgbClr val="BEE2E2"/>
            </a:solidFill>
            <a:prstDash val="solid"/>
          </a:ln>
        </p:spPr>
      </p:sp>
      <p:sp>
        <p:nvSpPr>
          <p:cNvPr id="12" name="Shape 8"/>
          <p:cNvSpPr/>
          <p:nvPr/>
        </p:nvSpPr>
        <p:spPr>
          <a:xfrm>
            <a:off x="768096" y="2103120"/>
            <a:ext cx="457200" cy="457200"/>
          </a:xfrm>
          <a:prstGeom prst="ellipse">
            <a:avLst/>
          </a:prstGeom>
          <a:solidFill>
            <a:srgbClr val="1FA3A3"/>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 for am, is or are</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If you hear one of them, an -ing is coming. The auxiliary always arrives first.</a:t>
            </a:r>
            <a:endParaRPr lang="en-US" sz="1750" dirty="0"/>
          </a:p>
        </p:txBody>
      </p:sp>
      <p:sp>
        <p:nvSpPr>
          <p:cNvPr id="15" name="Shape 10"/>
          <p:cNvSpPr/>
          <p:nvPr/>
        </p:nvSpPr>
        <p:spPr>
          <a:xfrm>
            <a:off x="6196432" y="1883664"/>
            <a:ext cx="5446624" cy="1929384"/>
          </a:xfrm>
          <a:prstGeom prst="roundRect">
            <a:avLst>
              <a:gd name="adj" fmla="val 6635"/>
            </a:avLst>
          </a:prstGeom>
          <a:solidFill>
            <a:srgbClr val="E8F6F6"/>
          </a:solidFill>
          <a:ln w="12700">
            <a:solidFill>
              <a:srgbClr val="BEE2E2"/>
            </a:solidFill>
            <a:prstDash val="solid"/>
          </a:ln>
        </p:spPr>
      </p:sp>
      <p:sp>
        <p:nvSpPr>
          <p:cNvPr id="16" name="Shape 11"/>
          <p:cNvSpPr/>
          <p:nvPr/>
        </p:nvSpPr>
        <p:spPr>
          <a:xfrm>
            <a:off x="6415888" y="2103120"/>
            <a:ext cx="457200" cy="457200"/>
          </a:xfrm>
          <a:prstGeom prst="ellipse">
            <a:avLst/>
          </a:prstGeom>
          <a:solidFill>
            <a:srgbClr val="1FA3A3"/>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 for the time word</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“Every day”, “usually” → simple. “Now”, “today”, “this week” → continuous.</a:t>
            </a:r>
            <a:endParaRPr lang="en-US" sz="1750" dirty="0"/>
          </a:p>
        </p:txBody>
      </p:sp>
      <p:sp>
        <p:nvSpPr>
          <p:cNvPr id="19" name="Shape 13"/>
          <p:cNvSpPr/>
          <p:nvPr/>
        </p:nvSpPr>
        <p:spPr>
          <a:xfrm>
            <a:off x="548640" y="4014216"/>
            <a:ext cx="5446624" cy="1929384"/>
          </a:xfrm>
          <a:prstGeom prst="roundRect">
            <a:avLst>
              <a:gd name="adj" fmla="val 6635"/>
            </a:avLst>
          </a:prstGeom>
          <a:solidFill>
            <a:srgbClr val="E8F6F6"/>
          </a:solidFill>
          <a:ln w="12700">
            <a:solidFill>
              <a:srgbClr val="BEE2E2"/>
            </a:solidFill>
            <a:prstDash val="solid"/>
          </a:ln>
        </p:spPr>
      </p:sp>
      <p:sp>
        <p:nvSpPr>
          <p:cNvPr id="20" name="Shape 14"/>
          <p:cNvSpPr/>
          <p:nvPr/>
        </p:nvSpPr>
        <p:spPr>
          <a:xfrm>
            <a:off x="768096" y="4233672"/>
            <a:ext cx="457200" cy="457200"/>
          </a:xfrm>
          <a:prstGeom prst="ellipse">
            <a:avLst/>
          </a:prstGeom>
          <a:solidFill>
            <a:srgbClr val="1FA3A3"/>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 for do or does</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If you hear those, it is the present simple. This tense never uses them.</a:t>
            </a:r>
            <a:endParaRPr lang="en-US" sz="1750" dirty="0"/>
          </a:p>
        </p:txBody>
      </p:sp>
      <p:sp>
        <p:nvSpPr>
          <p:cNvPr id="23" name="Shape 16"/>
          <p:cNvSpPr/>
          <p:nvPr/>
        </p:nvSpPr>
        <p:spPr>
          <a:xfrm>
            <a:off x="6196432" y="4014216"/>
            <a:ext cx="5446624" cy="1929384"/>
          </a:xfrm>
          <a:prstGeom prst="roundRect">
            <a:avLst>
              <a:gd name="adj" fmla="val 6635"/>
            </a:avLst>
          </a:prstGeom>
          <a:solidFill>
            <a:srgbClr val="E8F6F6"/>
          </a:solidFill>
          <a:ln w="12700">
            <a:solidFill>
              <a:srgbClr val="BEE2E2"/>
            </a:solidFill>
            <a:prstDash val="solid"/>
          </a:ln>
        </p:spPr>
      </p:sp>
      <p:sp>
        <p:nvSpPr>
          <p:cNvPr id="24" name="Shape 17"/>
          <p:cNvSpPr/>
          <p:nvPr/>
        </p:nvSpPr>
        <p:spPr>
          <a:xfrm>
            <a:off x="6415888" y="4233672"/>
            <a:ext cx="457200" cy="457200"/>
          </a:xfrm>
          <a:prstGeom prst="ellipse">
            <a:avLst/>
          </a:prstGeom>
          <a:solidFill>
            <a:srgbClr val="1FA3A3"/>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Listen for the ending</a:t>
            </a:r>
            <a:endParaRPr lang="en-US" sz="1750" dirty="0"/>
          </a:p>
          <a:p>
            <a:pPr indent="0" marL="0">
              <a:lnSpc>
                <a:spcPct val="102000"/>
              </a:lnSpc>
              <a:spcBef>
                <a:spcPts val="333"/>
              </a:spcBef>
              <a:buNone/>
            </a:pPr>
            <a:r>
              <a:rPr lang="en-US" sz="1330" dirty="0">
                <a:solidFill>
                  <a:srgbClr val="3A473F"/>
                </a:solidFill>
                <a:latin typeface="Calibri" pitchFamily="34" charset="0"/>
                <a:ea typeface="Calibri" pitchFamily="34" charset="-122"/>
                <a:cs typeface="Calibri" pitchFamily="34" charset="-120"/>
              </a:rPr>
              <a:t>-s means simple. -ing means continuous. Two different endings, two different tenses.</a:t>
            </a:r>
            <a:endParaRPr lang="en-US" sz="17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 Saturday at Merkato</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Read it aloud twice before you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41</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It is Saturday morning and Merkato is very busy.</a:t>
            </a:r>
            <a:endParaRPr lang="en-US" sz="1800" dirty="0"/>
          </a:p>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Hundreds of people are buying and selling.</a:t>
            </a:r>
            <a:endParaRPr lang="en-US" sz="1800" dirty="0"/>
          </a:p>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A woman is selling tomatoes. She is wearing a white netela.</a:t>
            </a:r>
            <a:endParaRPr lang="en-US" sz="1800" dirty="0"/>
          </a:p>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Two men are carrying a heavy table.</a:t>
            </a:r>
            <a:endParaRPr lang="en-US" sz="1800" dirty="0"/>
          </a:p>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A young boy is running between the stalls.</a:t>
            </a:r>
            <a:endParaRPr lang="en-US" sz="1800" dirty="0"/>
          </a:p>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An old man is sitting on a chair and drinking coffee.</a:t>
            </a:r>
            <a:endParaRPr lang="en-US" sz="1800" dirty="0"/>
          </a:p>
          <a:p>
            <a:pPr indent="0" marL="0">
              <a:lnSpc>
                <a:spcPct val="136000"/>
              </a:lnSpc>
              <a:buNone/>
            </a:pPr>
            <a:r>
              <a:rPr lang="en-US" sz="1800" dirty="0">
                <a:solidFill>
                  <a:srgbClr val="12211B"/>
                </a:solidFill>
                <a:latin typeface="Calibri" pitchFamily="34" charset="0"/>
                <a:ea typeface="Calibri" pitchFamily="34" charset="-122"/>
                <a:cs typeface="Calibri" pitchFamily="34" charset="-120"/>
              </a:rPr>
              <a:t>It is not raining today, so everybody is happy.</a:t>
            </a:r>
            <a:endParaRPr lang="en-US" sz="180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HOW TO READ IT</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teacher reads the whole text once.</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 class reads it together, in chorus.</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Then seven learners read one line each.</a:t>
            </a:r>
            <a:endParaRPr lang="en-US" sz="1700" dirty="0"/>
          </a:p>
          <a:p>
            <a:pPr marL="228600" indent="-228600">
              <a:lnSpc>
                <a:spcPct val="100000"/>
              </a:lnSpc>
              <a:spcAft>
                <a:spcPts val="900"/>
              </a:spcAft>
              <a:buSzPct val="100000"/>
              <a:buChar char="•"/>
            </a:pPr>
            <a:r>
              <a:rPr lang="en-US" sz="1700" dirty="0">
                <a:solidFill>
                  <a:srgbClr val="3A473F"/>
                </a:solidFill>
                <a:latin typeface="Calibri" pitchFamily="34" charset="0"/>
                <a:ea typeface="Calibri" pitchFamily="34" charset="-122"/>
                <a:cs typeface="Calibri" pitchFamily="34" charset="-120"/>
              </a:rPr>
              <a:t>Underline every -ing verb. There are nine.</a:t>
            </a:r>
            <a:endParaRPr lang="en-US" sz="17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questions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42</a:t>
            </a:r>
            <a:endParaRPr lang="en-US" sz="1100" dirty="0"/>
          </a:p>
        </p:txBody>
      </p:sp>
      <p:sp>
        <p:nvSpPr>
          <p:cNvPr id="10" name="Shape 6"/>
          <p:cNvSpPr/>
          <p:nvPr/>
        </p:nvSpPr>
        <p:spPr>
          <a:xfrm>
            <a:off x="548640" y="1700784"/>
            <a:ext cx="11094415" cy="566928"/>
          </a:xfrm>
          <a:prstGeom prst="roundRect">
            <a:avLst>
              <a:gd name="adj" fmla="val 22581"/>
            </a:avLst>
          </a:prstGeom>
          <a:solidFill>
            <a:srgbClr val="E7F3EF"/>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a FULL SENTENCE, using the present continuous.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the woman selling?</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she wearing?</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are the two men doing?</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What is the old man doing?</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Is it raining?</a:t>
            </a:r>
            <a:endParaRPr lang="en-US" sz="2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1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43</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What is the woman selling?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selling tomatoes.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parts: “is” for one woman, and “selling” with the -ing. Neither can be dropped.</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is she wearing?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wearing a white netela.</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colour comes before the noun — the Level 1 rule still applies inside this tense.</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What are the two men doing?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They are carrying a heavy table.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“Are” for a plural subject. “Carry” keeps its y for the -ing form.</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is the old man doing?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sitting on a chair and drinking coffee.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actions, one auxiliary. “Sit” doubles its t; “drink” has two consonants already so it does not.</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Is it raining?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it is not raining.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 short answer would be “No, it is not.” The full form repeats the verb and is also correct.</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Reading 2 — both tenses in one text</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hardest reading in this module. Watch the tense change.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44</a:t>
            </a:r>
            <a:endParaRPr lang="en-US" sz="1100" dirty="0"/>
          </a:p>
        </p:txBody>
      </p:sp>
      <p:sp>
        <p:nvSpPr>
          <p:cNvPr id="11" name="Shape 7"/>
          <p:cNvSpPr/>
          <p:nvPr/>
        </p:nvSpPr>
        <p:spPr>
          <a:xfrm>
            <a:off x="548640" y="1883664"/>
            <a:ext cx="6766560" cy="4059936"/>
          </a:xfrm>
          <a:prstGeom prst="roundRect">
            <a:avLst>
              <a:gd name="adj" fmla="val 3153"/>
            </a:avLst>
          </a:prstGeom>
          <a:solidFill>
            <a:srgbClr val="E7F3EF"/>
          </a:solidFill>
          <a:ln w="15875">
            <a:solidFill>
              <a:srgbClr val="0E7C5A"/>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217920"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READ ALOUD</a:t>
            </a:r>
            <a:endParaRPr lang="en-US" sz="1200" dirty="0"/>
          </a:p>
        </p:txBody>
      </p:sp>
      <p:sp>
        <p:nvSpPr>
          <p:cNvPr id="13" name="Text 9"/>
          <p:cNvSpPr txBox="1"/>
          <p:nvPr/>
        </p:nvSpPr>
        <p:spPr>
          <a:xfrm>
            <a:off x="822960" y="2487168"/>
            <a:ext cx="6217920" cy="3218688"/>
          </a:xfrm>
          <a:prstGeom prst="rect">
            <a:avLst/>
          </a:prstGeom>
          <a:noFill/>
          <a:ln/>
        </p:spPr>
        <p:txBody>
          <a:bodyPr wrap="square" lIns="0" tIns="0" rIns="0" bIns="0" rtlCol="0" anchor="ctr"/>
          <a:lstStyle/>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Hana is a nurse. She works at the health centre in Gondar.</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She usually starts at seven o'clock and finishes at four.</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But this week she is not working at the health centre.</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She is helping at a clinic in a small village.</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She is staying with her aunt there.</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She likes the work, but she misses her family.</a:t>
            </a:r>
            <a:endParaRPr lang="en-US" sz="1750" dirty="0"/>
          </a:p>
          <a:p>
            <a:pPr indent="0" marL="0">
              <a:lnSpc>
                <a:spcPct val="134000"/>
              </a:lnSpc>
              <a:buNone/>
            </a:pPr>
            <a:r>
              <a:rPr lang="en-US" sz="1750" dirty="0">
                <a:solidFill>
                  <a:srgbClr val="12211B"/>
                </a:solidFill>
                <a:latin typeface="Calibri" pitchFamily="34" charset="0"/>
                <a:ea typeface="Calibri" pitchFamily="34" charset="-122"/>
                <a:cs typeface="Calibri" pitchFamily="34" charset="-120"/>
              </a:rPr>
              <a:t>Next week she goes back to Gondar.</a:t>
            </a:r>
            <a:endParaRPr lang="en-US" sz="1750" dirty="0"/>
          </a:p>
        </p:txBody>
      </p:sp>
      <p:sp>
        <p:nvSpPr>
          <p:cNvPr id="14" name="Shape 10"/>
          <p:cNvSpPr/>
          <p:nvPr/>
        </p:nvSpPr>
        <p:spPr>
          <a:xfrm>
            <a:off x="7589520" y="1883664"/>
            <a:ext cx="4053535" cy="4059936"/>
          </a:xfrm>
          <a:prstGeom prst="roundRect">
            <a:avLst>
              <a:gd name="adj" fmla="val 3158"/>
            </a:avLst>
          </a:prstGeom>
          <a:solidFill>
            <a:srgbClr val="F6F9F7"/>
          </a:solidFill>
          <a:ln w="12700">
            <a:solidFill>
              <a:srgbClr val="E3E9E5"/>
            </a:solidFill>
            <a:prstDash val="solid"/>
          </a:ln>
        </p:spPr>
      </p:sp>
      <p:sp>
        <p:nvSpPr>
          <p:cNvPr id="15" name="Text 11"/>
          <p:cNvSpPr txBox="1"/>
          <p:nvPr/>
        </p:nvSpPr>
        <p:spPr>
          <a:xfrm>
            <a:off x="7827264" y="2103120"/>
            <a:ext cx="3578047" cy="274320"/>
          </a:xfrm>
          <a:prstGeom prst="rect">
            <a:avLst/>
          </a:prstGeom>
          <a:noFill/>
          <a:ln/>
        </p:spPr>
        <p:txBody>
          <a:bodyPr wrap="square" lIns="0" tIns="0" rIns="0" bIns="0" rtlCol="0" anchor="ctr"/>
          <a:lstStyle/>
          <a:p>
            <a:pPr indent="0" marL="0">
              <a:buNone/>
            </a:pPr>
            <a:r>
              <a:rPr lang="en-US" sz="1200" b="1" spc="120" kern="0" dirty="0">
                <a:solidFill>
                  <a:srgbClr val="0E7C5A"/>
                </a:solidFill>
                <a:latin typeface="Calibri" pitchFamily="34" charset="0"/>
                <a:ea typeface="Calibri" pitchFamily="34" charset="-122"/>
                <a:cs typeface="Calibri" pitchFamily="34" charset="-120"/>
              </a:rPr>
              <a:t>THE TENSE QUESTION</a:t>
            </a:r>
            <a:endParaRPr lang="en-US" sz="1200" dirty="0"/>
          </a:p>
        </p:txBody>
      </p:sp>
      <p:sp>
        <p:nvSpPr>
          <p:cNvPr id="16" name="Text 12"/>
          <p:cNvSpPr/>
          <p:nvPr/>
        </p:nvSpPr>
        <p:spPr>
          <a:xfrm>
            <a:off x="7863840" y="2505456"/>
            <a:ext cx="350489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sentences are about her normal life?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Which sentences are about this week only?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Find the words that tell you: usually · this week · next week.</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Why is “She likes the work” NOT continuous?</a:t>
            </a:r>
            <a:endParaRPr lang="en-US" sz="16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READING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250" b="1" dirty="0">
                <a:solidFill>
                  <a:srgbClr val="12211B"/>
                </a:solidFill>
                <a:latin typeface="Calibri" pitchFamily="34" charset="0"/>
                <a:ea typeface="Calibri" pitchFamily="34" charset="-122"/>
                <a:cs typeface="Calibri" pitchFamily="34" charset="-120"/>
              </a:rPr>
              <a:t>Reading 2 — questions, answers and vocabulary review</a:t>
            </a:r>
            <a:endParaRPr lang="en-US" sz="325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45</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Where does Hana normally work?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works at the health centre in Gondar.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 normal job, so the present simple with the -s from Module 1.</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What is she doing this week?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helping at a clinic in a village.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week” makes it temporary, so the continuous. Both parts needed.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Where is she staying?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is staying with her aunt.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Temporary again. “Stay” has two vowels so no doubling: staying.</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Why is “She likes the work” not continuous?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Because “like” is a feeling, not an action. Feelings stay in the simple form.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Other verbs like this: want, need, know, understand. Do not use them with -ing.</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Vocabulary check: name the five verbs from this module.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wear · carry · wait for · look at · listen to</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All five appeared in this module. Three of them need a preposition — check you remember which.</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1 — write the -ing form</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46</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-ing form of each verb. Say which rule you used.</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work · read · play · wait</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write · come · make · live</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run · sit · get · stop</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study · carry · try</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5.  listen · begin · open · swim</a:t>
            </a:r>
            <a:endParaRPr lang="en-US" sz="2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2 — describe a picture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Level 2 writing task. Eight sentences.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47</a:t>
            </a:r>
            <a:endParaRPr lang="en-US" sz="1100" dirty="0"/>
          </a:p>
        </p:txBody>
      </p:sp>
      <p:sp>
        <p:nvSpPr>
          <p:cNvPr id="11" name="Shape 7"/>
          <p:cNvSpPr/>
          <p:nvPr/>
        </p:nvSpPr>
        <p:spPr>
          <a:xfrm>
            <a:off x="548640" y="1883664"/>
            <a:ext cx="6949440" cy="4059936"/>
          </a:xfrm>
          <a:prstGeom prst="roundRect">
            <a:avLst>
              <a:gd name="adj" fmla="val 3153"/>
            </a:avLst>
          </a:prstGeom>
          <a:solidFill>
            <a:srgbClr val="F2ECFA"/>
          </a:solidFill>
          <a:ln w="15875">
            <a:solidFill>
              <a:srgbClr val="7A4FBF"/>
            </a:solidFill>
            <a:prstDash val="solid"/>
          </a:ln>
          <a:effectLst>
            <a:outerShdw sx="100000" sy="100000" kx="0" ky="0" algn="bl" rotWithShape="0" blurRad="101600" dist="25400" dir="5400000">
              <a:srgbClr val="94A69C">
                <a:alpha val="30000"/>
              </a:srgbClr>
            </a:outerShdw>
          </a:effectLst>
        </p:spPr>
      </p:sp>
      <p:sp>
        <p:nvSpPr>
          <p:cNvPr id="12" name="Text 8"/>
          <p:cNvSpPr txBox="1"/>
          <p:nvPr/>
        </p:nvSpPr>
        <p:spPr>
          <a:xfrm>
            <a:off x="822960" y="2103120"/>
            <a:ext cx="6400800"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WRITE EIGHT SENTENCES USING THIS FRAME</a:t>
            </a:r>
            <a:endParaRPr lang="en-US" sz="1200" dirty="0"/>
          </a:p>
        </p:txBody>
      </p:sp>
      <p:sp>
        <p:nvSpPr>
          <p:cNvPr id="13" name="Text 9"/>
          <p:cNvSpPr txBox="1"/>
          <p:nvPr/>
        </p:nvSpPr>
        <p:spPr>
          <a:xfrm>
            <a:off x="822960" y="2487168"/>
            <a:ext cx="6400800" cy="3218688"/>
          </a:xfrm>
          <a:prstGeom prst="rect">
            <a:avLst/>
          </a:prstGeom>
          <a:noFill/>
          <a:ln/>
        </p:spPr>
        <p:txBody>
          <a:bodyPr wrap="square" lIns="0" tIns="0" rIns="0" bIns="0" rtlCol="0" anchor="ctr"/>
          <a:lstStyle/>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In this picture there is ______________.</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There are ______________.</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______ is ______________ing.</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______ are ______________ing.</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______ is wearing ______________.</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The ______________ is on / under / next to the ______________.</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It is not ______________ing.</a:t>
            </a:r>
            <a:endParaRPr lang="en-US" sz="1600" dirty="0"/>
          </a:p>
          <a:p>
            <a:pPr indent="0" marL="0">
              <a:lnSpc>
                <a:spcPct val="145000"/>
              </a:lnSpc>
              <a:buNone/>
            </a:pPr>
            <a:r>
              <a:rPr lang="en-US" sz="1600" dirty="0">
                <a:solidFill>
                  <a:srgbClr val="12211B"/>
                </a:solidFill>
                <a:latin typeface="Calibri" pitchFamily="34" charset="0"/>
                <a:ea typeface="Calibri" pitchFamily="34" charset="-122"/>
                <a:cs typeface="Calibri" pitchFamily="34" charset="-120"/>
              </a:rPr>
              <a:t>I think ______________.</a:t>
            </a:r>
            <a:endParaRPr lang="en-US" sz="1600" dirty="0"/>
          </a:p>
        </p:txBody>
      </p:sp>
      <p:sp>
        <p:nvSpPr>
          <p:cNvPr id="14" name="Shape 10"/>
          <p:cNvSpPr/>
          <p:nvPr/>
        </p:nvSpPr>
        <p:spPr>
          <a:xfrm>
            <a:off x="7772400" y="1883664"/>
            <a:ext cx="3870655" cy="4059936"/>
          </a:xfrm>
          <a:prstGeom prst="roundRect">
            <a:avLst>
              <a:gd name="adj" fmla="val 3307"/>
            </a:avLst>
          </a:prstGeom>
          <a:solidFill>
            <a:srgbClr val="F6F9F7"/>
          </a:solidFill>
          <a:ln w="12700">
            <a:solidFill>
              <a:srgbClr val="E3E9E5"/>
            </a:solidFill>
            <a:prstDash val="solid"/>
          </a:ln>
        </p:spPr>
      </p:sp>
      <p:sp>
        <p:nvSpPr>
          <p:cNvPr id="15" name="Text 11"/>
          <p:cNvSpPr txBox="1"/>
          <p:nvPr/>
        </p:nvSpPr>
        <p:spPr>
          <a:xfrm>
            <a:off x="8010144" y="2103120"/>
            <a:ext cx="3395167" cy="274320"/>
          </a:xfrm>
          <a:prstGeom prst="rect">
            <a:avLst/>
          </a:prstGeom>
          <a:noFill/>
          <a:ln/>
        </p:spPr>
        <p:txBody>
          <a:bodyPr wrap="square" lIns="0" tIns="0" rIns="0" bIns="0" rtlCol="0" anchor="ctr"/>
          <a:lstStyle/>
          <a:p>
            <a:pPr indent="0" marL="0">
              <a:buNone/>
            </a:pPr>
            <a:r>
              <a:rPr lang="en-US" sz="1200" b="1" spc="120" kern="0" dirty="0">
                <a:solidFill>
                  <a:srgbClr val="7A4FBF"/>
                </a:solidFill>
                <a:latin typeface="Calibri" pitchFamily="34" charset="0"/>
                <a:ea typeface="Calibri" pitchFamily="34" charset="-122"/>
                <a:cs typeface="Calibri" pitchFamily="34" charset="-120"/>
              </a:rPr>
              <a:t>BEFORE YOU WRITE, CHECK</a:t>
            </a:r>
            <a:endParaRPr lang="en-US" sz="1200" dirty="0"/>
          </a:p>
        </p:txBody>
      </p:sp>
      <p:sp>
        <p:nvSpPr>
          <p:cNvPr id="16" name="Text 12"/>
          <p:cNvSpPr/>
          <p:nvPr/>
        </p:nvSpPr>
        <p:spPr>
          <a:xfrm>
            <a:off x="8046720" y="2505456"/>
            <a:ext cx="3322015" cy="3200400"/>
          </a:xfrm>
          <a:prstGeom prst="rect">
            <a:avLst/>
          </a:prstGeom>
          <a:noFill/>
          <a:ln/>
        </p:spPr>
        <p:txBody>
          <a:bodyPr wrap="square" lIns="0" tIns="0" rIns="0" bIns="0" rtlCol="0" anchor="t"/>
          <a:lstStyle/>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am / is / are in every action sentence?</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 -ing on every action verb?</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Is the spelling of the -ing form correct?</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Did you use “there is” for one and “there are” for many?</a:t>
            </a:r>
            <a:endParaRPr lang="en-US" sz="1600" dirty="0"/>
          </a:p>
          <a:p>
            <a:pPr marL="228600" indent="-228600">
              <a:lnSpc>
                <a:spcPct val="100000"/>
              </a:lnSpc>
              <a:spcAft>
                <a:spcPts val="900"/>
              </a:spcAft>
              <a:buSzPct val="100000"/>
              <a:buChar char="•"/>
            </a:pPr>
            <a:r>
              <a:rPr lang="en-US" sz="1600" dirty="0">
                <a:solidFill>
                  <a:srgbClr val="3A473F"/>
                </a:solidFill>
                <a:latin typeface="Calibri" pitchFamily="34" charset="0"/>
                <a:ea typeface="Calibri" pitchFamily="34" charset="-122"/>
                <a:cs typeface="Calibri" pitchFamily="34" charset="-120"/>
              </a:rPr>
              <a:t>Did you finish with an “I think” sentence?</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choose the tense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48</a:t>
            </a:r>
            <a:endParaRPr lang="en-US" sz="1100" dirty="0"/>
          </a:p>
        </p:txBody>
      </p:sp>
      <p:sp>
        <p:nvSpPr>
          <p:cNvPr id="10" name="Shape 6"/>
          <p:cNvSpPr/>
          <p:nvPr/>
        </p:nvSpPr>
        <p:spPr>
          <a:xfrm>
            <a:off x="548640" y="1700784"/>
            <a:ext cx="11094415" cy="566928"/>
          </a:xfrm>
          <a:prstGeom prst="roundRect">
            <a:avLst>
              <a:gd name="adj" fmla="val 22581"/>
            </a:avLst>
          </a:prstGeom>
          <a:solidFill>
            <a:srgbClr val="F2ECFA"/>
          </a:solidFill>
          <a:ln w="12700">
            <a:solidFill>
              <a:srgbClr val="7A4FBF"/>
            </a:solidFill>
            <a:prstDash val="solid"/>
          </a:ln>
        </p:spPr>
      </p:sp>
      <p:sp>
        <p:nvSpPr>
          <p:cNvPr id="11" name="Shape 7"/>
          <p:cNvSpPr/>
          <p:nvPr/>
        </p:nvSpPr>
        <p:spPr>
          <a:xfrm>
            <a:off x="749808" y="1810512"/>
            <a:ext cx="347472" cy="347472"/>
          </a:xfrm>
          <a:prstGeom prst="ellipse">
            <a:avLst/>
          </a:prstGeom>
          <a:solidFill>
            <a:srgbClr val="7A4FBF"/>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each sentence with the verb in the correct tense.</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7A4FBF"/>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1.  I ______ coffee every morning.  (drink)</a:t>
            </a:r>
            <a:endParaRPr lang="en-US" sz="20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7A4FBF"/>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2.  Be quiet! The baby ______.  (sleep)</a:t>
            </a:r>
            <a:endParaRPr lang="en-US" sz="20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7A4FBF"/>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3.  She ______ in a bank, but this week she ______ at home.  (work / work)</a:t>
            </a:r>
            <a:endParaRPr lang="en-US" sz="20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7A4FBF"/>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4.  What ______ you ______ at the moment?  (do)</a:t>
            </a:r>
            <a:endParaRPr lang="en-US" sz="20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7A4FBF"/>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50" b="1" dirty="0">
                <a:solidFill>
                  <a:srgbClr val="12211B"/>
                </a:solidFill>
                <a:latin typeface="Calibri" pitchFamily="34" charset="0"/>
                <a:ea typeface="Calibri" pitchFamily="34" charset="-122"/>
                <a:cs typeface="Calibri" pitchFamily="34" charset="-120"/>
              </a:rPr>
              <a:t>5.  My brother usually ______ to school, but today he ______ the bus.  (walk / take)</a:t>
            </a:r>
            <a:endParaRPr lang="en-US" sz="18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Writing 3 — answers and why</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49</a:t>
            </a:r>
            <a:endParaRPr lang="en-US" sz="1100" dirty="0"/>
          </a:p>
        </p:txBody>
      </p:sp>
      <p:sp>
        <p:nvSpPr>
          <p:cNvPr id="10" name="Shape 6"/>
          <p:cNvSpPr/>
          <p:nvPr/>
        </p:nvSpPr>
        <p:spPr>
          <a:xfrm>
            <a:off x="548640" y="1700784"/>
            <a:ext cx="11094415" cy="753466"/>
          </a:xfrm>
          <a:prstGeom prst="roundRect">
            <a:avLst>
              <a:gd name="adj" fmla="val 16990"/>
            </a:avLst>
          </a:prstGeom>
          <a:solidFill>
            <a:srgbClr val="E6F5EC"/>
          </a:solidFill>
          <a:ln w="12700">
            <a:solidFill>
              <a:srgbClr val="2E9E5B"/>
            </a:solidFill>
            <a:prstDash val="solid"/>
          </a:ln>
        </p:spPr>
      </p:sp>
      <p:sp>
        <p:nvSpPr>
          <p:cNvPr id="11" name="Shape 7"/>
          <p:cNvSpPr/>
          <p:nvPr/>
        </p:nvSpPr>
        <p:spPr>
          <a:xfrm>
            <a:off x="731520" y="1885493"/>
            <a:ext cx="384048" cy="384048"/>
          </a:xfrm>
          <a:prstGeom prst="ellipse">
            <a:avLst/>
          </a:prstGeom>
          <a:solidFill>
            <a:srgbClr val="2E9E5B"/>
          </a:solidFill>
          <a:ln/>
        </p:spPr>
      </p:sp>
      <p:sp>
        <p:nvSpPr>
          <p:cNvPr id="12" name="Text 8"/>
          <p:cNvSpPr txBox="1"/>
          <p:nvPr/>
        </p:nvSpPr>
        <p:spPr>
          <a:xfrm>
            <a:off x="731520" y="188549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p:nvPr/>
        </p:nvSpPr>
        <p:spPr>
          <a:xfrm>
            <a:off x="1316736" y="175564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1 — “I ___ coffee every morning.”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 drink coffee every morning.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“Every morning” means always, so the present simple. With “I” there is no -s.</a:t>
            </a:r>
            <a:endParaRPr lang="en-US" sz="1100" dirty="0"/>
          </a:p>
        </p:txBody>
      </p:sp>
      <p:sp>
        <p:nvSpPr>
          <p:cNvPr id="14" name="Shape 10"/>
          <p:cNvSpPr/>
          <p:nvPr/>
        </p:nvSpPr>
        <p:spPr>
          <a:xfrm>
            <a:off x="548640" y="2573122"/>
            <a:ext cx="11094415" cy="753466"/>
          </a:xfrm>
          <a:prstGeom prst="roundRect">
            <a:avLst>
              <a:gd name="adj" fmla="val 16990"/>
            </a:avLst>
          </a:prstGeom>
          <a:solidFill>
            <a:srgbClr val="E6F5EC"/>
          </a:solidFill>
          <a:ln w="12700">
            <a:solidFill>
              <a:srgbClr val="2E9E5B"/>
            </a:solidFill>
            <a:prstDash val="solid"/>
          </a:ln>
        </p:spPr>
      </p:sp>
      <p:sp>
        <p:nvSpPr>
          <p:cNvPr id="15" name="Shape 11"/>
          <p:cNvSpPr/>
          <p:nvPr/>
        </p:nvSpPr>
        <p:spPr>
          <a:xfrm>
            <a:off x="731520" y="2757830"/>
            <a:ext cx="384048" cy="384048"/>
          </a:xfrm>
          <a:prstGeom prst="ellipse">
            <a:avLst/>
          </a:prstGeom>
          <a:solidFill>
            <a:srgbClr val="2E9E5B"/>
          </a:solidFill>
          <a:ln/>
        </p:spPr>
      </p:sp>
      <p:sp>
        <p:nvSpPr>
          <p:cNvPr id="16" name="Text 12"/>
          <p:cNvSpPr txBox="1"/>
          <p:nvPr/>
        </p:nvSpPr>
        <p:spPr>
          <a:xfrm>
            <a:off x="731520" y="275783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p:nvPr/>
        </p:nvSpPr>
        <p:spPr>
          <a:xfrm>
            <a:off x="1316736" y="2627986"/>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2 — “Be quiet! The baby ___.”</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The baby is sleeping.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happening at this moment, so the continuous. Both parts needed.</a:t>
            </a:r>
            <a:endParaRPr lang="en-US" sz="1100" dirty="0"/>
          </a:p>
        </p:txBody>
      </p:sp>
      <p:sp>
        <p:nvSpPr>
          <p:cNvPr id="18" name="Shape 14"/>
          <p:cNvSpPr/>
          <p:nvPr/>
        </p:nvSpPr>
        <p:spPr>
          <a:xfrm>
            <a:off x="548640" y="3445459"/>
            <a:ext cx="11094415" cy="753466"/>
          </a:xfrm>
          <a:prstGeom prst="roundRect">
            <a:avLst>
              <a:gd name="adj" fmla="val 16990"/>
            </a:avLst>
          </a:prstGeom>
          <a:solidFill>
            <a:srgbClr val="E6F5EC"/>
          </a:solidFill>
          <a:ln w="12700">
            <a:solidFill>
              <a:srgbClr val="2E9E5B"/>
            </a:solidFill>
            <a:prstDash val="solid"/>
          </a:ln>
        </p:spPr>
      </p:sp>
      <p:sp>
        <p:nvSpPr>
          <p:cNvPr id="19" name="Shape 15"/>
          <p:cNvSpPr/>
          <p:nvPr/>
        </p:nvSpPr>
        <p:spPr>
          <a:xfrm>
            <a:off x="731520" y="3630168"/>
            <a:ext cx="384048" cy="384048"/>
          </a:xfrm>
          <a:prstGeom prst="ellipse">
            <a:avLst/>
          </a:prstGeom>
          <a:solidFill>
            <a:srgbClr val="2E9E5B"/>
          </a:solidFill>
          <a:ln/>
        </p:spPr>
      </p:sp>
      <p:sp>
        <p:nvSpPr>
          <p:cNvPr id="20" name="Text 16"/>
          <p:cNvSpPr txBox="1"/>
          <p:nvPr/>
        </p:nvSpPr>
        <p:spPr>
          <a:xfrm>
            <a:off x="731520" y="363016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p:nvPr/>
        </p:nvSpPr>
        <p:spPr>
          <a:xfrm>
            <a:off x="1316736" y="3500323"/>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3 — “She ___ in a bank, but this week she ___ at home.”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She works in a bank, but this week she is working at home.</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Her job is permanent, so simple with -s. “This week” is temporary, so continuous.</a:t>
            </a:r>
            <a:endParaRPr lang="en-US" sz="1100" dirty="0"/>
          </a:p>
        </p:txBody>
      </p:sp>
      <p:sp>
        <p:nvSpPr>
          <p:cNvPr id="22" name="Shape 18"/>
          <p:cNvSpPr/>
          <p:nvPr/>
        </p:nvSpPr>
        <p:spPr>
          <a:xfrm>
            <a:off x="548640" y="4317797"/>
            <a:ext cx="11094415" cy="753466"/>
          </a:xfrm>
          <a:prstGeom prst="roundRect">
            <a:avLst>
              <a:gd name="adj" fmla="val 16990"/>
            </a:avLst>
          </a:prstGeom>
          <a:solidFill>
            <a:srgbClr val="E6F5EC"/>
          </a:solidFill>
          <a:ln w="12700">
            <a:solidFill>
              <a:srgbClr val="2E9E5B"/>
            </a:solidFill>
            <a:prstDash val="solid"/>
          </a:ln>
        </p:spPr>
      </p:sp>
      <p:sp>
        <p:nvSpPr>
          <p:cNvPr id="23" name="Shape 19"/>
          <p:cNvSpPr/>
          <p:nvPr/>
        </p:nvSpPr>
        <p:spPr>
          <a:xfrm>
            <a:off x="731520" y="4502506"/>
            <a:ext cx="384048" cy="384048"/>
          </a:xfrm>
          <a:prstGeom prst="ellipse">
            <a:avLst/>
          </a:prstGeom>
          <a:solidFill>
            <a:srgbClr val="2E9E5B"/>
          </a:solidFill>
          <a:ln/>
        </p:spPr>
      </p:sp>
      <p:sp>
        <p:nvSpPr>
          <p:cNvPr id="24" name="Text 20"/>
          <p:cNvSpPr txBox="1"/>
          <p:nvPr/>
        </p:nvSpPr>
        <p:spPr>
          <a:xfrm>
            <a:off x="731520" y="450250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p:nvPr/>
        </p:nvSpPr>
        <p:spPr>
          <a:xfrm>
            <a:off x="1316736" y="4372661"/>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4 — “What ___ you ___ at the moment?”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What are you doing at the moment?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“At the moment” signals the continuous, and the auxiliary comes before the subject in a question.</a:t>
            </a:r>
            <a:endParaRPr lang="en-US" sz="1100" dirty="0"/>
          </a:p>
        </p:txBody>
      </p:sp>
      <p:sp>
        <p:nvSpPr>
          <p:cNvPr id="26" name="Shape 22"/>
          <p:cNvSpPr/>
          <p:nvPr/>
        </p:nvSpPr>
        <p:spPr>
          <a:xfrm>
            <a:off x="548640" y="5190134"/>
            <a:ext cx="11094415" cy="753466"/>
          </a:xfrm>
          <a:prstGeom prst="roundRect">
            <a:avLst>
              <a:gd name="adj" fmla="val 16990"/>
            </a:avLst>
          </a:prstGeom>
          <a:solidFill>
            <a:srgbClr val="E6F5EC"/>
          </a:solidFill>
          <a:ln w="12700">
            <a:solidFill>
              <a:srgbClr val="2E9E5B"/>
            </a:solidFill>
            <a:prstDash val="solid"/>
          </a:ln>
        </p:spPr>
      </p:sp>
      <p:sp>
        <p:nvSpPr>
          <p:cNvPr id="27" name="Shape 23"/>
          <p:cNvSpPr/>
          <p:nvPr/>
        </p:nvSpPr>
        <p:spPr>
          <a:xfrm>
            <a:off x="731520" y="5374843"/>
            <a:ext cx="384048" cy="384048"/>
          </a:xfrm>
          <a:prstGeom prst="ellipse">
            <a:avLst/>
          </a:prstGeom>
          <a:solidFill>
            <a:srgbClr val="2E9E5B"/>
          </a:solidFill>
          <a:ln/>
        </p:spPr>
      </p:sp>
      <p:sp>
        <p:nvSpPr>
          <p:cNvPr id="28" name="Text 24"/>
          <p:cNvSpPr txBox="1"/>
          <p:nvPr/>
        </p:nvSpPr>
        <p:spPr>
          <a:xfrm>
            <a:off x="731520" y="5374843"/>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9" name="Text 25"/>
          <p:cNvSpPr/>
          <p:nvPr/>
        </p:nvSpPr>
        <p:spPr>
          <a:xfrm>
            <a:off x="1316736" y="5244998"/>
            <a:ext cx="10106863" cy="643738"/>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5 — “My brother usually ___, but today he ___ the bus.”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My brother usually walks to school, but today he is taking the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“Usually” → simple with -s. “Today” → continuous. Two tenses, one sentence.</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911096" cy="420624"/>
          </a:xfrm>
          <a:prstGeom prst="roundRect">
            <a:avLst>
              <a:gd name="adj" fmla="val 50000"/>
            </a:avLst>
          </a:prstGeom>
          <a:solidFill>
            <a:srgbClr val="7A4FBF"/>
          </a:solidFill>
          <a:ln/>
        </p:spPr>
      </p:sp>
      <p:sp>
        <p:nvSpPr>
          <p:cNvPr id="3" name="Shape 1"/>
          <p:cNvSpPr/>
          <p:nvPr/>
        </p:nvSpPr>
        <p:spPr>
          <a:xfrm>
            <a:off x="649224" y="539496"/>
            <a:ext cx="219456" cy="219456"/>
          </a:xfrm>
          <a:prstGeom prst="ellipse">
            <a:avLst/>
          </a:prstGeom>
          <a:solidFill>
            <a:srgbClr val="7A4FBF"/>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41732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WRITING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Your writing checklist for this module</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Add these to your Module 1 checks.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50</a:t>
            </a:r>
            <a:endParaRPr lang="en-US" sz="1100" dirty="0"/>
          </a:p>
        </p:txBody>
      </p:sp>
      <p:sp>
        <p:nvSpPr>
          <p:cNvPr id="11" name="Shape 7"/>
          <p:cNvSpPr/>
          <p:nvPr/>
        </p:nvSpPr>
        <p:spPr>
          <a:xfrm>
            <a:off x="548640" y="1883664"/>
            <a:ext cx="11094415" cy="905256"/>
          </a:xfrm>
          <a:prstGeom prst="roundRect">
            <a:avLst>
              <a:gd name="adj" fmla="val 14141"/>
            </a:avLst>
          </a:prstGeom>
          <a:solidFill>
            <a:srgbClr val="F6F9F7"/>
          </a:solidFill>
          <a:ln w="12700">
            <a:solidFill>
              <a:srgbClr val="E3E9E5"/>
            </a:solidFill>
            <a:prstDash val="solid"/>
          </a:ln>
        </p:spPr>
      </p:sp>
      <p:sp>
        <p:nvSpPr>
          <p:cNvPr id="12" name="Shape 8"/>
          <p:cNvSpPr/>
          <p:nvPr/>
        </p:nvSpPr>
        <p:spPr>
          <a:xfrm>
            <a:off x="786384" y="2135124"/>
            <a:ext cx="402336" cy="402336"/>
          </a:xfrm>
          <a:prstGeom prst="ellipse">
            <a:avLst/>
          </a:prstGeom>
          <a:solidFill>
            <a:srgbClr val="7A4FBF"/>
          </a:solidFill>
          <a:ln/>
        </p:spPr>
      </p:sp>
      <p:pic>
        <p:nvPicPr>
          <p:cNvPr id="13" name="Image 1" descr="preencoded.png">    </p:cNvPr>
          <p:cNvPicPr>
            <a:picLocks noChangeAspect="1"/>
          </p:cNvPicPr>
          <p:nvPr/>
        </p:nvPicPr>
        <p:blipFill>
          <a:blip r:embed="rId2"/>
          <a:stretch>
            <a:fillRect/>
          </a:stretch>
        </p:blipFill>
        <p:spPr>
          <a:xfrm>
            <a:off x="882945" y="2231685"/>
            <a:ext cx="209215" cy="209215"/>
          </a:xfrm>
          <a:prstGeom prst="rect">
            <a:avLst/>
          </a:prstGeom>
        </p:spPr>
      </p:pic>
      <p:sp>
        <p:nvSpPr>
          <p:cNvPr id="14" name="Text 9"/>
          <p:cNvSpPr/>
          <p:nvPr/>
        </p:nvSpPr>
        <p:spPr>
          <a:xfrm>
            <a:off x="1463040" y="195681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am / is / are there?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working” is never correct. Both parts, every time.</a:t>
            </a:r>
            <a:endParaRPr lang="en-US" sz="2100" dirty="0"/>
          </a:p>
        </p:txBody>
      </p:sp>
      <p:sp>
        <p:nvSpPr>
          <p:cNvPr id="15" name="Shape 10"/>
          <p:cNvSpPr/>
          <p:nvPr/>
        </p:nvSpPr>
        <p:spPr>
          <a:xfrm>
            <a:off x="548640" y="2935224"/>
            <a:ext cx="11094415" cy="905256"/>
          </a:xfrm>
          <a:prstGeom prst="roundRect">
            <a:avLst>
              <a:gd name="adj" fmla="val 14141"/>
            </a:avLst>
          </a:prstGeom>
          <a:solidFill>
            <a:srgbClr val="F6F9F7"/>
          </a:solidFill>
          <a:ln w="12700">
            <a:solidFill>
              <a:srgbClr val="E3E9E5"/>
            </a:solidFill>
            <a:prstDash val="solid"/>
          </a:ln>
        </p:spPr>
      </p:sp>
      <p:sp>
        <p:nvSpPr>
          <p:cNvPr id="16" name="Shape 11"/>
          <p:cNvSpPr/>
          <p:nvPr/>
        </p:nvSpPr>
        <p:spPr>
          <a:xfrm>
            <a:off x="786384" y="3186684"/>
            <a:ext cx="402336" cy="402336"/>
          </a:xfrm>
          <a:prstGeom prst="ellipse">
            <a:avLst/>
          </a:prstGeom>
          <a:solidFill>
            <a:srgbClr val="7A4FBF"/>
          </a:solidFill>
          <a:ln/>
        </p:spPr>
      </p:sp>
      <p:pic>
        <p:nvPicPr>
          <p:cNvPr id="17" name="Image 2" descr="preencoded.png">    </p:cNvPr>
          <p:cNvPicPr>
            <a:picLocks noChangeAspect="1"/>
          </p:cNvPicPr>
          <p:nvPr/>
        </p:nvPicPr>
        <p:blipFill>
          <a:blip r:embed="rId3"/>
          <a:stretch>
            <a:fillRect/>
          </a:stretch>
        </p:blipFill>
        <p:spPr>
          <a:xfrm>
            <a:off x="882945" y="3283245"/>
            <a:ext cx="209215" cy="209215"/>
          </a:xfrm>
          <a:prstGeom prst="rect">
            <a:avLst/>
          </a:prstGeom>
        </p:spPr>
      </p:pic>
      <p:sp>
        <p:nvSpPr>
          <p:cNvPr id="18" name="Text 12"/>
          <p:cNvSpPr/>
          <p:nvPr/>
        </p:nvSpPr>
        <p:spPr>
          <a:xfrm>
            <a:off x="1463040" y="300837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-ing on the main verb?</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“I am work” is never correct either.</a:t>
            </a:r>
            <a:endParaRPr lang="en-US" sz="2100" dirty="0"/>
          </a:p>
        </p:txBody>
      </p:sp>
      <p:sp>
        <p:nvSpPr>
          <p:cNvPr id="19" name="Shape 13"/>
          <p:cNvSpPr/>
          <p:nvPr/>
        </p:nvSpPr>
        <p:spPr>
          <a:xfrm>
            <a:off x="548640" y="3986784"/>
            <a:ext cx="11094415" cy="905256"/>
          </a:xfrm>
          <a:prstGeom prst="roundRect">
            <a:avLst>
              <a:gd name="adj" fmla="val 14141"/>
            </a:avLst>
          </a:prstGeom>
          <a:solidFill>
            <a:srgbClr val="F6F9F7"/>
          </a:solidFill>
          <a:ln w="12700">
            <a:solidFill>
              <a:srgbClr val="E3E9E5"/>
            </a:solidFill>
            <a:prstDash val="solid"/>
          </a:ln>
        </p:spPr>
      </p:sp>
      <p:sp>
        <p:nvSpPr>
          <p:cNvPr id="20" name="Shape 14"/>
          <p:cNvSpPr/>
          <p:nvPr/>
        </p:nvSpPr>
        <p:spPr>
          <a:xfrm>
            <a:off x="786384" y="4238244"/>
            <a:ext cx="402336" cy="402336"/>
          </a:xfrm>
          <a:prstGeom prst="ellipse">
            <a:avLst/>
          </a:prstGeom>
          <a:solidFill>
            <a:srgbClr val="7A4FBF"/>
          </a:solidFill>
          <a:ln/>
        </p:spPr>
      </p:sp>
      <p:pic>
        <p:nvPicPr>
          <p:cNvPr id="21" name="Image 3" descr="preencoded.png">    </p:cNvPr>
          <p:cNvPicPr>
            <a:picLocks noChangeAspect="1"/>
          </p:cNvPicPr>
          <p:nvPr/>
        </p:nvPicPr>
        <p:blipFill>
          <a:blip r:embed="rId4"/>
          <a:stretch>
            <a:fillRect/>
          </a:stretch>
        </p:blipFill>
        <p:spPr>
          <a:xfrm>
            <a:off x="882945" y="4334805"/>
            <a:ext cx="209215" cy="209215"/>
          </a:xfrm>
          <a:prstGeom prst="rect">
            <a:avLst/>
          </a:prstGeom>
        </p:spPr>
      </p:pic>
      <p:sp>
        <p:nvSpPr>
          <p:cNvPr id="22" name="Text 15"/>
          <p:cNvSpPr/>
          <p:nvPr/>
        </p:nvSpPr>
        <p:spPr>
          <a:xfrm>
            <a:off x="1463040" y="405993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the -ing spelled correctly?</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writing (drop the e) · running (double the n) · studying (keep the y).</a:t>
            </a:r>
            <a:endParaRPr lang="en-US" sz="2100" dirty="0"/>
          </a:p>
        </p:txBody>
      </p:sp>
      <p:sp>
        <p:nvSpPr>
          <p:cNvPr id="23" name="Shape 16"/>
          <p:cNvSpPr/>
          <p:nvPr/>
        </p:nvSpPr>
        <p:spPr>
          <a:xfrm>
            <a:off x="548640" y="5038344"/>
            <a:ext cx="11094415" cy="905256"/>
          </a:xfrm>
          <a:prstGeom prst="roundRect">
            <a:avLst>
              <a:gd name="adj" fmla="val 14141"/>
            </a:avLst>
          </a:prstGeom>
          <a:solidFill>
            <a:srgbClr val="F6F9F7"/>
          </a:solidFill>
          <a:ln w="12700">
            <a:solidFill>
              <a:srgbClr val="E3E9E5"/>
            </a:solidFill>
            <a:prstDash val="solid"/>
          </a:ln>
        </p:spPr>
      </p:sp>
      <p:sp>
        <p:nvSpPr>
          <p:cNvPr id="24" name="Shape 17"/>
          <p:cNvSpPr/>
          <p:nvPr/>
        </p:nvSpPr>
        <p:spPr>
          <a:xfrm>
            <a:off x="786384" y="5289804"/>
            <a:ext cx="402336" cy="402336"/>
          </a:xfrm>
          <a:prstGeom prst="ellipse">
            <a:avLst/>
          </a:prstGeom>
          <a:solidFill>
            <a:srgbClr val="7A4FBF"/>
          </a:solidFill>
          <a:ln/>
        </p:spPr>
      </p:sp>
      <p:pic>
        <p:nvPicPr>
          <p:cNvPr id="25" name="Image 4" descr="preencoded.png">    </p:cNvPr>
          <p:cNvPicPr>
            <a:picLocks noChangeAspect="1"/>
          </p:cNvPicPr>
          <p:nvPr/>
        </p:nvPicPr>
        <p:blipFill>
          <a:blip r:embed="rId5"/>
          <a:stretch>
            <a:fillRect/>
          </a:stretch>
        </p:blipFill>
        <p:spPr>
          <a:xfrm>
            <a:off x="882945" y="5386365"/>
            <a:ext cx="209215" cy="209215"/>
          </a:xfrm>
          <a:prstGeom prst="rect">
            <a:avLst/>
          </a:prstGeom>
        </p:spPr>
      </p:pic>
      <p:sp>
        <p:nvSpPr>
          <p:cNvPr id="26" name="Text 18"/>
          <p:cNvSpPr/>
          <p:nvPr/>
        </p:nvSpPr>
        <p:spPr>
          <a:xfrm>
            <a:off x="1463040" y="5111496"/>
            <a:ext cx="9905695" cy="758952"/>
          </a:xfrm>
          <a:prstGeom prst="rect">
            <a:avLst/>
          </a:prstGeom>
          <a:noFill/>
          <a:ln/>
        </p:spPr>
        <p:txBody>
          <a:bodyPr wrap="square" lIns="0" tIns="0" rIns="0" bIns="0" rtlCol="0" anchor="ctr"/>
          <a:lstStyle/>
          <a:p>
            <a:pPr indent="0" marL="0">
              <a:lnSpc>
                <a:spcPct val="102000"/>
              </a:lnSpc>
              <a:buNone/>
            </a:pPr>
            <a:r>
              <a:rPr lang="en-US" sz="2100" b="1" dirty="0">
                <a:solidFill>
                  <a:srgbClr val="12211B"/>
                </a:solidFill>
                <a:latin typeface="Calibri" pitchFamily="34" charset="0"/>
                <a:ea typeface="Calibri" pitchFamily="34" charset="-122"/>
                <a:cs typeface="Calibri" pitchFamily="34" charset="-120"/>
              </a:rPr>
              <a:t>Is it the right tense?</a:t>
            </a:r>
            <a:endParaRPr lang="en-US" sz="2100" dirty="0"/>
          </a:p>
          <a:p>
            <a:pPr indent="0" marL="0">
              <a:lnSpc>
                <a:spcPct val="102000"/>
              </a:lnSpc>
              <a:spcBef>
                <a:spcPts val="300"/>
              </a:spcBef>
              <a:buNone/>
            </a:pPr>
            <a:r>
              <a:rPr lang="en-US" sz="1600" dirty="0">
                <a:solidFill>
                  <a:srgbClr val="3A473F"/>
                </a:solidFill>
                <a:latin typeface="Calibri" pitchFamily="34" charset="0"/>
                <a:ea typeface="Calibri" pitchFamily="34" charset="-122"/>
                <a:cs typeface="Calibri" pitchFamily="34" charset="-120"/>
              </a:rPr>
              <a:t>Every day → simple. Right now → continuous. Ask the question every time.</a:t>
            </a:r>
            <a:endParaRPr lang="en-US" sz="2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A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A — multiple choice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51</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b or c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1. Which is correct?</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I working now.     b) I am working now.     c) I am work now.</a:t>
            </a:r>
            <a:endParaRPr lang="en-US" sz="148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2. The -ing form of “write” is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writeing     b) writing     c) writting</a:t>
            </a:r>
            <a:endParaRPr lang="en-US" sz="148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3. The -ing form of “run” is …</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runing     b) running     c) runnning</a:t>
            </a:r>
            <a:endParaRPr lang="en-US" sz="148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4. Complete: “___ she working today?”</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Do     b) Does     c) Is</a:t>
            </a:r>
            <a:endParaRPr lang="en-US" sz="148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480" b="1" dirty="0">
                <a:solidFill>
                  <a:srgbClr val="12211B"/>
                </a:solidFill>
                <a:latin typeface="Calibri" pitchFamily="34" charset="0"/>
                <a:ea typeface="Calibri" pitchFamily="34" charset="-122"/>
                <a:cs typeface="Calibri" pitchFamily="34" charset="-120"/>
              </a:rPr>
              <a:t>5. Choose: “I ___ coffee every morning.”</a:t>
            </a:r>
            <a:endParaRPr lang="en-US" sz="1480" dirty="0"/>
          </a:p>
          <a:p>
            <a:pPr indent="0" marL="0">
              <a:lnSpc>
                <a:spcPct val="102000"/>
              </a:lnSpc>
              <a:spcBef>
                <a:spcPts val="246"/>
              </a:spcBef>
              <a:buNone/>
            </a:pPr>
            <a:r>
              <a:rPr lang="en-US" sz="1150" dirty="0">
                <a:solidFill>
                  <a:srgbClr val="3A473F"/>
                </a:solidFill>
                <a:latin typeface="Calibri" pitchFamily="34" charset="0"/>
                <a:ea typeface="Calibri" pitchFamily="34" charset="-122"/>
                <a:cs typeface="Calibri" pitchFamily="34" charset="-120"/>
              </a:rPr>
              <a:t>a) drink     b) am drinking     c) drinking</a:t>
            </a:r>
            <a:endParaRPr lang="en-US" sz="148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B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B — fill in the blank</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52</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Copy each sentence and fill the gaps.</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She ______ ______ a book.  (read)</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They ______ ______ football.  (play)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I ______ not ______ to the radio.  (listen)</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______ he ______ for the bus?  (wait)</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It ______ ______ , so take an umbrella.  (rain)</a:t>
            </a:r>
            <a:endParaRPr lang="en-US" sz="1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C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C — matching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Verbs, spellings and tenses.</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53</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the pairs: 1–c, 2–a, and so on.</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1 — match the VERB to its -ing FORM</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write     2. run     3. study     4. work          a) working     b) running     c) studying     d) writing</a:t>
            </a:r>
            <a:endParaRPr lang="en-US" sz="15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Part 2 — match the SENTENCE to the TENSE</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1. I drink tea every day.     2. I am drinking tea now.     3. She works in a bank.     4. She is working at home today.</a:t>
            </a:r>
            <a:endParaRPr lang="en-US" sz="15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a) present continuous        b) present simple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c) present simple        d) present continuous</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Part 3 — match the VERB to its PREPOSITION</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1. wait     2. listen     3. look          a) to     b) at     c) for</a:t>
            </a:r>
            <a:endParaRPr lang="en-US" sz="17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D · EASY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D — describe the actions</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54</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full present continuous sentence for each.</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a woman · cook · injera</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two boys · play · football</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my sister · study · English</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the man · sit · on a chair</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it · rain</a:t>
            </a:r>
            <a:endParaRPr lang="en-US" sz="1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E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E — find and correct the mistake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55</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Rewrite each sentence correctly.</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She writeing a letter.</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Does he working today?</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They not listening to the teacher.</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 am go to school every 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He is runing to the bus.</a:t>
            </a:r>
            <a:endParaRPr lang="en-US" sz="1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F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F — true or false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56</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T or F. For every F, write the correction.</a:t>
            </a:r>
            <a:endParaRPr lang="en-US" sz="1700" dirty="0"/>
          </a:p>
        </p:txBody>
      </p:sp>
      <p:sp>
        <p:nvSpPr>
          <p:cNvPr id="14" name="Shape 9"/>
          <p:cNvSpPr/>
          <p:nvPr/>
        </p:nvSpPr>
        <p:spPr>
          <a:xfrm>
            <a:off x="548640" y="2414016"/>
            <a:ext cx="11094415" cy="489204"/>
          </a:xfrm>
          <a:prstGeom prst="roundRect">
            <a:avLst>
              <a:gd name="adj" fmla="val 26168"/>
            </a:avLst>
          </a:prstGeom>
          <a:solidFill>
            <a:srgbClr val="F6F9F7"/>
          </a:solidFill>
          <a:ln w="12700">
            <a:solidFill>
              <a:srgbClr val="E3E9E5"/>
            </a:solidFill>
            <a:prstDash val="solid"/>
          </a:ln>
        </p:spPr>
      </p:sp>
      <p:sp>
        <p:nvSpPr>
          <p:cNvPr id="15" name="Shape 10"/>
          <p:cNvSpPr/>
          <p:nvPr/>
        </p:nvSpPr>
        <p:spPr>
          <a:xfrm>
            <a:off x="749808" y="2457450"/>
            <a:ext cx="402336" cy="402336"/>
          </a:xfrm>
          <a:prstGeom prst="ellipse">
            <a:avLst/>
          </a:prstGeom>
          <a:solidFill>
            <a:srgbClr val="0E7C5A"/>
          </a:solidFill>
          <a:ln/>
        </p:spPr>
      </p:sp>
      <p:sp>
        <p:nvSpPr>
          <p:cNvPr id="16" name="Text 11"/>
          <p:cNvSpPr txBox="1"/>
          <p:nvPr/>
        </p:nvSpPr>
        <p:spPr>
          <a:xfrm>
            <a:off x="749808" y="245745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The present continuous needs am, is or are.</a:t>
            </a:r>
            <a:endParaRPr lang="en-US" sz="1800" dirty="0"/>
          </a:p>
        </p:txBody>
      </p:sp>
      <p:sp>
        <p:nvSpPr>
          <p:cNvPr id="18" name="Shape 13"/>
          <p:cNvSpPr/>
          <p:nvPr/>
        </p:nvSpPr>
        <p:spPr>
          <a:xfrm>
            <a:off x="548640" y="3022092"/>
            <a:ext cx="11094415" cy="489204"/>
          </a:xfrm>
          <a:prstGeom prst="roundRect">
            <a:avLst>
              <a:gd name="adj" fmla="val 26168"/>
            </a:avLst>
          </a:prstGeom>
          <a:solidFill>
            <a:srgbClr val="F6F9F7"/>
          </a:solidFill>
          <a:ln w="12700">
            <a:solidFill>
              <a:srgbClr val="E3E9E5"/>
            </a:solidFill>
            <a:prstDash val="solid"/>
          </a:ln>
        </p:spPr>
      </p:sp>
      <p:sp>
        <p:nvSpPr>
          <p:cNvPr id="19" name="Shape 14"/>
          <p:cNvSpPr/>
          <p:nvPr/>
        </p:nvSpPr>
        <p:spPr>
          <a:xfrm>
            <a:off x="749808" y="3065526"/>
            <a:ext cx="402336" cy="402336"/>
          </a:xfrm>
          <a:prstGeom prst="ellipse">
            <a:avLst/>
          </a:prstGeom>
          <a:solidFill>
            <a:srgbClr val="0E7C5A"/>
          </a:solidFill>
          <a:ln/>
        </p:spPr>
      </p:sp>
      <p:sp>
        <p:nvSpPr>
          <p:cNvPr id="20" name="Text 15"/>
          <p:cNvSpPr txBox="1"/>
          <p:nvPr/>
        </p:nvSpPr>
        <p:spPr>
          <a:xfrm>
            <a:off x="749808" y="306552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076956"/>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“Does she working?” is a correct question.</a:t>
            </a:r>
            <a:endParaRPr lang="en-US" sz="1800" dirty="0"/>
          </a:p>
        </p:txBody>
      </p:sp>
      <p:sp>
        <p:nvSpPr>
          <p:cNvPr id="22" name="Shape 17"/>
          <p:cNvSpPr/>
          <p:nvPr/>
        </p:nvSpPr>
        <p:spPr>
          <a:xfrm>
            <a:off x="548640" y="3630168"/>
            <a:ext cx="11094415" cy="489204"/>
          </a:xfrm>
          <a:prstGeom prst="roundRect">
            <a:avLst>
              <a:gd name="adj" fmla="val 26168"/>
            </a:avLst>
          </a:prstGeom>
          <a:solidFill>
            <a:srgbClr val="F6F9F7"/>
          </a:solidFill>
          <a:ln w="12700">
            <a:solidFill>
              <a:srgbClr val="E3E9E5"/>
            </a:solidFill>
            <a:prstDash val="solid"/>
          </a:ln>
        </p:spPr>
      </p:sp>
      <p:sp>
        <p:nvSpPr>
          <p:cNvPr id="23" name="Shape 18"/>
          <p:cNvSpPr/>
          <p:nvPr/>
        </p:nvSpPr>
        <p:spPr>
          <a:xfrm>
            <a:off x="749808" y="3673602"/>
            <a:ext cx="402336" cy="402336"/>
          </a:xfrm>
          <a:prstGeom prst="ellipse">
            <a:avLst/>
          </a:prstGeom>
          <a:solidFill>
            <a:srgbClr val="0E7C5A"/>
          </a:solidFill>
          <a:ln/>
        </p:spPr>
      </p:sp>
      <p:sp>
        <p:nvSpPr>
          <p:cNvPr id="24" name="Text 19"/>
          <p:cNvSpPr txBox="1"/>
          <p:nvPr/>
        </p:nvSpPr>
        <p:spPr>
          <a:xfrm>
            <a:off x="749808" y="367360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685032"/>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The -ing form of “sit” is “siting”.</a:t>
            </a:r>
            <a:endParaRPr lang="en-US" sz="1800" dirty="0"/>
          </a:p>
        </p:txBody>
      </p:sp>
      <p:sp>
        <p:nvSpPr>
          <p:cNvPr id="26" name="Shape 21"/>
          <p:cNvSpPr/>
          <p:nvPr/>
        </p:nvSpPr>
        <p:spPr>
          <a:xfrm>
            <a:off x="548640" y="4238244"/>
            <a:ext cx="11094415" cy="489204"/>
          </a:xfrm>
          <a:prstGeom prst="roundRect">
            <a:avLst>
              <a:gd name="adj" fmla="val 26168"/>
            </a:avLst>
          </a:prstGeom>
          <a:solidFill>
            <a:srgbClr val="F6F9F7"/>
          </a:solidFill>
          <a:ln w="12700">
            <a:solidFill>
              <a:srgbClr val="E3E9E5"/>
            </a:solidFill>
            <a:prstDash val="solid"/>
          </a:ln>
        </p:spPr>
      </p:sp>
      <p:sp>
        <p:nvSpPr>
          <p:cNvPr id="27" name="Shape 22"/>
          <p:cNvSpPr/>
          <p:nvPr/>
        </p:nvSpPr>
        <p:spPr>
          <a:xfrm>
            <a:off x="749808" y="4281678"/>
            <a:ext cx="402336" cy="402336"/>
          </a:xfrm>
          <a:prstGeom prst="ellipse">
            <a:avLst/>
          </a:prstGeom>
          <a:solidFill>
            <a:srgbClr val="0E7C5A"/>
          </a:solidFill>
          <a:ln/>
        </p:spPr>
      </p:sp>
      <p:sp>
        <p:nvSpPr>
          <p:cNvPr id="28" name="Text 23"/>
          <p:cNvSpPr txBox="1"/>
          <p:nvPr/>
        </p:nvSpPr>
        <p:spPr>
          <a:xfrm>
            <a:off x="749808" y="428167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293108"/>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“I am going to church every Sunday” is correct.</a:t>
            </a:r>
            <a:endParaRPr lang="en-US" sz="1800" dirty="0"/>
          </a:p>
        </p:txBody>
      </p:sp>
      <p:sp>
        <p:nvSpPr>
          <p:cNvPr id="30" name="Shape 25"/>
          <p:cNvSpPr/>
          <p:nvPr/>
        </p:nvSpPr>
        <p:spPr>
          <a:xfrm>
            <a:off x="548640" y="4846320"/>
            <a:ext cx="11094415" cy="489204"/>
          </a:xfrm>
          <a:prstGeom prst="roundRect">
            <a:avLst>
              <a:gd name="adj" fmla="val 26168"/>
            </a:avLst>
          </a:prstGeom>
          <a:solidFill>
            <a:srgbClr val="F6F9F7"/>
          </a:solidFill>
          <a:ln w="12700">
            <a:solidFill>
              <a:srgbClr val="E3E9E5"/>
            </a:solidFill>
            <a:prstDash val="solid"/>
          </a:ln>
        </p:spPr>
      </p:sp>
      <p:sp>
        <p:nvSpPr>
          <p:cNvPr id="31" name="Shape 26"/>
          <p:cNvSpPr/>
          <p:nvPr/>
        </p:nvSpPr>
        <p:spPr>
          <a:xfrm>
            <a:off x="749808" y="4889754"/>
            <a:ext cx="402336" cy="402336"/>
          </a:xfrm>
          <a:prstGeom prst="ellipse">
            <a:avLst/>
          </a:prstGeom>
          <a:solidFill>
            <a:srgbClr val="0E7C5A"/>
          </a:solidFill>
          <a:ln/>
        </p:spPr>
      </p:sp>
      <p:sp>
        <p:nvSpPr>
          <p:cNvPr id="32" name="Text 27"/>
          <p:cNvSpPr txBox="1"/>
          <p:nvPr/>
        </p:nvSpPr>
        <p:spPr>
          <a:xfrm>
            <a:off x="749808" y="488975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4901184"/>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You wait FOR someone.</a:t>
            </a:r>
            <a:endParaRPr lang="en-US" sz="1800" dirty="0"/>
          </a:p>
        </p:txBody>
      </p:sp>
      <p:sp>
        <p:nvSpPr>
          <p:cNvPr id="34" name="Shape 29"/>
          <p:cNvSpPr/>
          <p:nvPr/>
        </p:nvSpPr>
        <p:spPr>
          <a:xfrm>
            <a:off x="548640" y="5454396"/>
            <a:ext cx="11094415" cy="489204"/>
          </a:xfrm>
          <a:prstGeom prst="roundRect">
            <a:avLst>
              <a:gd name="adj" fmla="val 26168"/>
            </a:avLst>
          </a:prstGeom>
          <a:solidFill>
            <a:srgbClr val="F6F9F7"/>
          </a:solidFill>
          <a:ln w="12700">
            <a:solidFill>
              <a:srgbClr val="E3E9E5"/>
            </a:solidFill>
            <a:prstDash val="solid"/>
          </a:ln>
        </p:spPr>
      </p:sp>
      <p:sp>
        <p:nvSpPr>
          <p:cNvPr id="35" name="Shape 30"/>
          <p:cNvSpPr/>
          <p:nvPr/>
        </p:nvSpPr>
        <p:spPr>
          <a:xfrm>
            <a:off x="749808" y="5497830"/>
            <a:ext cx="402336" cy="402336"/>
          </a:xfrm>
          <a:prstGeom prst="ellipse">
            <a:avLst/>
          </a:prstGeom>
          <a:solidFill>
            <a:srgbClr val="0E7C5A"/>
          </a:solidFill>
          <a:ln/>
        </p:spPr>
      </p:sp>
      <p:sp>
        <p:nvSpPr>
          <p:cNvPr id="36" name="Text 31"/>
          <p:cNvSpPr txBox="1"/>
          <p:nvPr/>
        </p:nvSpPr>
        <p:spPr>
          <a:xfrm>
            <a:off x="749808" y="549783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7" name="Text 32"/>
          <p:cNvSpPr/>
          <p:nvPr/>
        </p:nvSpPr>
        <p:spPr>
          <a:xfrm>
            <a:off x="1353312" y="5509260"/>
            <a:ext cx="10033711" cy="379476"/>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“Study” becomes “studying” for the -ing form.</a:t>
            </a:r>
            <a:endParaRPr lang="en-US" sz="1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G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G — short answer</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57</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a complete sentence for each question.</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  What are you doing right now?</a:t>
            </a:r>
            <a:endParaRPr lang="en-US" sz="18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  What is the person next to you doing?</a:t>
            </a:r>
            <a:endParaRPr lang="en-US" sz="18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3.  What are you wearing today?</a:t>
            </a:r>
            <a:endParaRPr lang="en-US" sz="18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4.  What do you usually do on Saturday?</a:t>
            </a:r>
            <a:endParaRPr lang="en-US" sz="18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What are you doing this week that is different from usual?</a:t>
            </a:r>
            <a:endParaRPr lang="en-US" sz="1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391156"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897380"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H · MEDIUM</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H — speaking tasks</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Work in pairs. One minute per task.</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58</a:t>
            </a:r>
            <a:endParaRPr lang="en-US" sz="1100" dirty="0"/>
          </a:p>
        </p:txBody>
      </p:sp>
      <p:sp>
        <p:nvSpPr>
          <p:cNvPr id="11" name="Shape 7"/>
          <p:cNvSpPr/>
          <p:nvPr/>
        </p:nvSpPr>
        <p:spPr>
          <a:xfrm>
            <a:off x="548640" y="1883664"/>
            <a:ext cx="11094415" cy="566928"/>
          </a:xfrm>
          <a:prstGeom prst="roundRect">
            <a:avLst>
              <a:gd name="adj" fmla="val 22581"/>
            </a:avLst>
          </a:prstGeom>
          <a:solidFill>
            <a:srgbClr val="FDEDE8"/>
          </a:solidFill>
          <a:ln w="12700">
            <a:solidFill>
              <a:srgbClr val="E4572E"/>
            </a:solidFill>
            <a:prstDash val="solid"/>
          </a:ln>
        </p:spPr>
      </p:sp>
      <p:sp>
        <p:nvSpPr>
          <p:cNvPr id="12" name="Shape 8"/>
          <p:cNvSpPr/>
          <p:nvPr/>
        </p:nvSpPr>
        <p:spPr>
          <a:xfrm>
            <a:off x="749808" y="1993392"/>
            <a:ext cx="347472" cy="347472"/>
          </a:xfrm>
          <a:prstGeom prst="ellipse">
            <a:avLst/>
          </a:prstGeom>
          <a:solidFill>
            <a:srgbClr val="E4572E"/>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Speak, do not write. Your partner listens and checks.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E4572E"/>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1.  Say five things that are happening in this room right now.</a:t>
            </a:r>
            <a:endParaRPr lang="en-US" sz="19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E4572E"/>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2.  Describe a picture in five sentences using the four steps.</a:t>
            </a:r>
            <a:endParaRPr lang="en-US" sz="19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E4572E"/>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3.  Say three sentences with “every day” and three with “right now”.</a:t>
            </a:r>
            <a:endParaRPr lang="en-US" sz="19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E4572E"/>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4.  Ask your partner four questions in the present continuous.</a:t>
            </a:r>
            <a:endParaRPr lang="en-US" sz="1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I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I — mixed challenge</a:t>
            </a:r>
            <a:endParaRPr lang="en-US" sz="3800" dirty="0"/>
          </a:p>
        </p:txBody>
      </p:sp>
      <p:sp>
        <p:nvSpPr>
          <p:cNvPr id="7" name="Text 4"/>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8" name="Text 5"/>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59</a:t>
            </a:r>
            <a:endParaRPr lang="en-US" sz="1100" dirty="0"/>
          </a:p>
        </p:txBody>
      </p:sp>
      <p:sp>
        <p:nvSpPr>
          <p:cNvPr id="10" name="Shape 6"/>
          <p:cNvSpPr/>
          <p:nvPr/>
        </p:nvSpPr>
        <p:spPr>
          <a:xfrm>
            <a:off x="548640" y="1700784"/>
            <a:ext cx="11094415" cy="566928"/>
          </a:xfrm>
          <a:prstGeom prst="roundRect">
            <a:avLst>
              <a:gd name="adj" fmla="val 22581"/>
            </a:avLst>
          </a:prstGeom>
          <a:solidFill>
            <a:srgbClr val="EDF0FD"/>
          </a:solidFill>
          <a:ln w="12700">
            <a:solidFill>
              <a:srgbClr val="0E7C5A"/>
            </a:solidFill>
            <a:prstDash val="solid"/>
          </a:ln>
        </p:spPr>
      </p:sp>
      <p:sp>
        <p:nvSpPr>
          <p:cNvPr id="11" name="Shape 7"/>
          <p:cNvSpPr/>
          <p:nvPr/>
        </p:nvSpPr>
        <p:spPr>
          <a:xfrm>
            <a:off x="749808" y="1810512"/>
            <a:ext cx="347472" cy="347472"/>
          </a:xfrm>
          <a:prstGeom prst="ellipse">
            <a:avLst/>
          </a:prstGeom>
          <a:solidFill>
            <a:srgbClr val="0E7C5A"/>
          </a:solidFill>
          <a:ln/>
        </p:spPr>
      </p:sp>
      <p:pic>
        <p:nvPicPr>
          <p:cNvPr id="12" name="Image 1" descr="preencoded.png">    </p:cNvPr>
          <p:cNvPicPr>
            <a:picLocks noChangeAspect="1"/>
          </p:cNvPicPr>
          <p:nvPr/>
        </p:nvPicPr>
        <p:blipFill>
          <a:blip r:embed="rId2"/>
          <a:stretch>
            <a:fillRect/>
          </a:stretch>
        </p:blipFill>
        <p:spPr>
          <a:xfrm>
            <a:off x="836676" y="1897380"/>
            <a:ext cx="173736" cy="173736"/>
          </a:xfrm>
          <a:prstGeom prst="rect">
            <a:avLst/>
          </a:prstGeom>
        </p:spPr>
      </p:pic>
      <p:sp>
        <p:nvSpPr>
          <p:cNvPr id="13" name="Text 8"/>
          <p:cNvSpPr txBox="1"/>
          <p:nvPr/>
        </p:nvSpPr>
        <p:spPr>
          <a:xfrm>
            <a:off x="1207008" y="170078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Take your time. Look back at earlier slides if you need to.</a:t>
            </a:r>
            <a:endParaRPr lang="en-US" sz="1700" dirty="0"/>
          </a:p>
        </p:txBody>
      </p:sp>
      <p:sp>
        <p:nvSpPr>
          <p:cNvPr id="14" name="Shape 9"/>
          <p:cNvSpPr/>
          <p:nvPr/>
        </p:nvSpPr>
        <p:spPr>
          <a:xfrm>
            <a:off x="548640" y="2414016"/>
            <a:ext cx="11094415" cy="610819"/>
          </a:xfrm>
          <a:prstGeom prst="roundRect">
            <a:avLst>
              <a:gd name="adj" fmla="val 20958"/>
            </a:avLst>
          </a:prstGeom>
          <a:solidFill>
            <a:srgbClr val="F6F9F7"/>
          </a:solidFill>
          <a:ln w="12700">
            <a:solidFill>
              <a:srgbClr val="E3E9E5"/>
            </a:solidFill>
            <a:prstDash val="solid"/>
          </a:ln>
        </p:spPr>
      </p:sp>
      <p:sp>
        <p:nvSpPr>
          <p:cNvPr id="15" name="Shape 10"/>
          <p:cNvSpPr/>
          <p:nvPr/>
        </p:nvSpPr>
        <p:spPr>
          <a:xfrm>
            <a:off x="749808" y="2518258"/>
            <a:ext cx="402336" cy="402336"/>
          </a:xfrm>
          <a:prstGeom prst="ellipse">
            <a:avLst/>
          </a:prstGeom>
          <a:solidFill>
            <a:srgbClr val="0E7C5A"/>
          </a:solidFill>
          <a:ln/>
        </p:spPr>
      </p:sp>
      <p:sp>
        <p:nvSpPr>
          <p:cNvPr id="16" name="Text 11"/>
          <p:cNvSpPr txBox="1"/>
          <p:nvPr/>
        </p:nvSpPr>
        <p:spPr>
          <a:xfrm>
            <a:off x="749808" y="251825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7" name="Text 12"/>
          <p:cNvSpPr/>
          <p:nvPr/>
        </p:nvSpPr>
        <p:spPr>
          <a:xfrm>
            <a:off x="1353312" y="2468880"/>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1. Write five sentences describing this room right now.</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All present continuous.</a:t>
            </a:r>
            <a:endParaRPr lang="en-US" sz="1500" dirty="0"/>
          </a:p>
        </p:txBody>
      </p:sp>
      <p:sp>
        <p:nvSpPr>
          <p:cNvPr id="18" name="Shape 13"/>
          <p:cNvSpPr/>
          <p:nvPr/>
        </p:nvSpPr>
        <p:spPr>
          <a:xfrm>
            <a:off x="548640" y="3143707"/>
            <a:ext cx="11094415" cy="610819"/>
          </a:xfrm>
          <a:prstGeom prst="roundRect">
            <a:avLst>
              <a:gd name="adj" fmla="val 20958"/>
            </a:avLst>
          </a:prstGeom>
          <a:solidFill>
            <a:srgbClr val="F6F9F7"/>
          </a:solidFill>
          <a:ln w="12700">
            <a:solidFill>
              <a:srgbClr val="E3E9E5"/>
            </a:solidFill>
            <a:prstDash val="solid"/>
          </a:ln>
        </p:spPr>
      </p:sp>
      <p:sp>
        <p:nvSpPr>
          <p:cNvPr id="19" name="Shape 14"/>
          <p:cNvSpPr/>
          <p:nvPr/>
        </p:nvSpPr>
        <p:spPr>
          <a:xfrm>
            <a:off x="749808" y="3247949"/>
            <a:ext cx="402336" cy="402336"/>
          </a:xfrm>
          <a:prstGeom prst="ellipse">
            <a:avLst/>
          </a:prstGeom>
          <a:solidFill>
            <a:srgbClr val="0E7C5A"/>
          </a:solidFill>
          <a:ln/>
        </p:spPr>
      </p:sp>
      <p:sp>
        <p:nvSpPr>
          <p:cNvPr id="20" name="Text 15"/>
          <p:cNvSpPr txBox="1"/>
          <p:nvPr/>
        </p:nvSpPr>
        <p:spPr>
          <a:xfrm>
            <a:off x="749808" y="324794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1" name="Text 16"/>
          <p:cNvSpPr/>
          <p:nvPr/>
        </p:nvSpPr>
        <p:spPr>
          <a:xfrm>
            <a:off x="1353312" y="3198571"/>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Correct this:  “She is write a letter and her brother watching television.”</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There are three things to fix.</a:t>
            </a:r>
            <a:endParaRPr lang="en-US" sz="1500" dirty="0"/>
          </a:p>
        </p:txBody>
      </p:sp>
      <p:sp>
        <p:nvSpPr>
          <p:cNvPr id="22" name="Shape 17"/>
          <p:cNvSpPr/>
          <p:nvPr/>
        </p:nvSpPr>
        <p:spPr>
          <a:xfrm>
            <a:off x="548640" y="3873398"/>
            <a:ext cx="11094415" cy="610819"/>
          </a:xfrm>
          <a:prstGeom prst="roundRect">
            <a:avLst>
              <a:gd name="adj" fmla="val 20958"/>
            </a:avLst>
          </a:prstGeom>
          <a:solidFill>
            <a:srgbClr val="F6F9F7"/>
          </a:solidFill>
          <a:ln w="12700">
            <a:solidFill>
              <a:srgbClr val="E3E9E5"/>
            </a:solidFill>
            <a:prstDash val="solid"/>
          </a:ln>
        </p:spPr>
      </p:sp>
      <p:sp>
        <p:nvSpPr>
          <p:cNvPr id="23" name="Shape 18"/>
          <p:cNvSpPr/>
          <p:nvPr/>
        </p:nvSpPr>
        <p:spPr>
          <a:xfrm>
            <a:off x="749808" y="3977640"/>
            <a:ext cx="402336" cy="402336"/>
          </a:xfrm>
          <a:prstGeom prst="ellipse">
            <a:avLst/>
          </a:prstGeom>
          <a:solidFill>
            <a:srgbClr val="0E7C5A"/>
          </a:solidFill>
          <a:ln/>
        </p:spPr>
      </p:sp>
      <p:sp>
        <p:nvSpPr>
          <p:cNvPr id="24" name="Text 19"/>
          <p:cNvSpPr txBox="1"/>
          <p:nvPr/>
        </p:nvSpPr>
        <p:spPr>
          <a:xfrm>
            <a:off x="749808" y="39776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5" name="Text 20"/>
          <p:cNvSpPr/>
          <p:nvPr/>
        </p:nvSpPr>
        <p:spPr>
          <a:xfrm>
            <a:off x="1353312" y="3928262"/>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3. Write three sentences that contain BOTH tenses.</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“I usually …, but today I am …”</a:t>
            </a:r>
            <a:endParaRPr lang="en-US" sz="1500" dirty="0"/>
          </a:p>
        </p:txBody>
      </p:sp>
      <p:sp>
        <p:nvSpPr>
          <p:cNvPr id="26" name="Shape 21"/>
          <p:cNvSpPr/>
          <p:nvPr/>
        </p:nvSpPr>
        <p:spPr>
          <a:xfrm>
            <a:off x="548640" y="4603090"/>
            <a:ext cx="11094415" cy="610819"/>
          </a:xfrm>
          <a:prstGeom prst="roundRect">
            <a:avLst>
              <a:gd name="adj" fmla="val 20958"/>
            </a:avLst>
          </a:prstGeom>
          <a:solidFill>
            <a:srgbClr val="F6F9F7"/>
          </a:solidFill>
          <a:ln w="12700">
            <a:solidFill>
              <a:srgbClr val="E3E9E5"/>
            </a:solidFill>
            <a:prstDash val="solid"/>
          </a:ln>
        </p:spPr>
      </p:sp>
      <p:sp>
        <p:nvSpPr>
          <p:cNvPr id="27" name="Shape 22"/>
          <p:cNvSpPr/>
          <p:nvPr/>
        </p:nvSpPr>
        <p:spPr>
          <a:xfrm>
            <a:off x="749808" y="4707331"/>
            <a:ext cx="402336" cy="402336"/>
          </a:xfrm>
          <a:prstGeom prst="ellipse">
            <a:avLst/>
          </a:prstGeom>
          <a:solidFill>
            <a:srgbClr val="0E7C5A"/>
          </a:solidFill>
          <a:ln/>
        </p:spPr>
      </p:sp>
      <p:sp>
        <p:nvSpPr>
          <p:cNvPr id="28" name="Text 23"/>
          <p:cNvSpPr txBox="1"/>
          <p:nvPr/>
        </p:nvSpPr>
        <p:spPr>
          <a:xfrm>
            <a:off x="749808" y="470733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9" name="Text 24"/>
          <p:cNvSpPr/>
          <p:nvPr/>
        </p:nvSpPr>
        <p:spPr>
          <a:xfrm>
            <a:off x="1353312" y="4657954"/>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4. Write the -ing form of:  come · swim · study · begin · wait · stop</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Six verbs, three rules.</a:t>
            </a:r>
            <a:endParaRPr lang="en-US" sz="1500" dirty="0"/>
          </a:p>
        </p:txBody>
      </p:sp>
      <p:sp>
        <p:nvSpPr>
          <p:cNvPr id="30" name="Shape 25"/>
          <p:cNvSpPr/>
          <p:nvPr/>
        </p:nvSpPr>
        <p:spPr>
          <a:xfrm>
            <a:off x="548640" y="5332781"/>
            <a:ext cx="11094415" cy="610819"/>
          </a:xfrm>
          <a:prstGeom prst="roundRect">
            <a:avLst>
              <a:gd name="adj" fmla="val 20958"/>
            </a:avLst>
          </a:prstGeom>
          <a:solidFill>
            <a:srgbClr val="F6F9F7"/>
          </a:solidFill>
          <a:ln w="12700">
            <a:solidFill>
              <a:srgbClr val="E3E9E5"/>
            </a:solidFill>
            <a:prstDash val="solid"/>
          </a:ln>
        </p:spPr>
      </p:sp>
      <p:sp>
        <p:nvSpPr>
          <p:cNvPr id="31" name="Shape 26"/>
          <p:cNvSpPr/>
          <p:nvPr/>
        </p:nvSpPr>
        <p:spPr>
          <a:xfrm>
            <a:off x="749808" y="5437022"/>
            <a:ext cx="402336" cy="402336"/>
          </a:xfrm>
          <a:prstGeom prst="ellipse">
            <a:avLst/>
          </a:prstGeom>
          <a:solidFill>
            <a:srgbClr val="0E7C5A"/>
          </a:solidFill>
          <a:ln/>
        </p:spPr>
      </p:sp>
      <p:sp>
        <p:nvSpPr>
          <p:cNvPr id="32" name="Text 27"/>
          <p:cNvSpPr txBox="1"/>
          <p:nvPr/>
        </p:nvSpPr>
        <p:spPr>
          <a:xfrm>
            <a:off x="749808" y="543702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3" name="Text 28"/>
          <p:cNvSpPr/>
          <p:nvPr/>
        </p:nvSpPr>
        <p:spPr>
          <a:xfrm>
            <a:off x="1353312" y="5387645"/>
            <a:ext cx="10033711" cy="501091"/>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5. Write two questions in the present continuous and answer them.</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Use short answers.</a:t>
            </a:r>
            <a:endParaRPr lang="en-US" sz="15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679192"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218541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EXERCISE J · DIFFICULT</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Exercise J — think and explain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There is no single right answer. Explain your thinking.</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60</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0FD"/>
          </a:solidFill>
          <a:ln w="12700">
            <a:solidFill>
              <a:srgbClr val="0E7C5A"/>
            </a:solidFill>
            <a:prstDash val="solid"/>
          </a:ln>
        </p:spPr>
      </p:sp>
      <p:sp>
        <p:nvSpPr>
          <p:cNvPr id="12" name="Shape 8"/>
          <p:cNvSpPr/>
          <p:nvPr/>
        </p:nvSpPr>
        <p:spPr>
          <a:xfrm>
            <a:off x="749808" y="1993392"/>
            <a:ext cx="347472" cy="347472"/>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Answer in English if you can. These test understanding, not memory.</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E7C5A"/>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Why does English have two present tenses when many languages have one?</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extra information does the second one give?</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E7C5A"/>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2. Your friend says “I am going to church every Sunday.” Why is it wrong, and how would you explain it?</a:t>
            </a:r>
            <a:endParaRPr lang="en-US" sz="1500" dirty="0"/>
          </a:p>
          <a:p>
            <a:pPr indent="0" marL="0">
              <a:lnSpc>
                <a:spcPct val="102000"/>
              </a:lnSpc>
              <a:spcBef>
                <a:spcPts val="265"/>
              </a:spcBef>
              <a:buNone/>
            </a:pPr>
            <a:r>
              <a:rPr lang="en-US" sz="1150" dirty="0">
                <a:solidFill>
                  <a:srgbClr val="3A473F"/>
                </a:solidFill>
                <a:latin typeface="Calibri" pitchFamily="34" charset="0"/>
                <a:ea typeface="Calibri" pitchFamily="34" charset="-122"/>
                <a:cs typeface="Calibri" pitchFamily="34" charset="-120"/>
              </a:rPr>
              <a:t>The grammar is fine. The meaning is not.</a:t>
            </a:r>
            <a:endParaRPr lang="en-US" sz="15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E7C5A"/>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Why do we say “I know the answer” and not “I am knowing the answer”?</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What kind of word is “know”?</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E7C5A"/>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Which tense do you think you will use more in real conversation? Why?</a:t>
            </a:r>
            <a:endParaRPr lang="en-US" sz="1700" dirty="0"/>
          </a:p>
          <a:p>
            <a:pPr indent="0" marL="0">
              <a:lnSpc>
                <a:spcPct val="102000"/>
              </a:lnSpc>
              <a:spcBef>
                <a:spcPts val="300"/>
              </a:spcBef>
              <a:buNone/>
            </a:pPr>
            <a:r>
              <a:rPr lang="en-US" sz="1300" dirty="0">
                <a:solidFill>
                  <a:srgbClr val="3A473F"/>
                </a:solidFill>
                <a:latin typeface="Calibri" pitchFamily="34" charset="0"/>
                <a:ea typeface="Calibri" pitchFamily="34" charset="-122"/>
                <a:cs typeface="Calibri" pitchFamily="34" charset="-120"/>
              </a:rPr>
              <a:t>Think about what people actually talk about.</a:t>
            </a:r>
            <a:endParaRPr lang="en-US" sz="17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1 · The form</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61</a:t>
            </a:r>
            <a:endParaRPr lang="en-US" sz="1100" dirty="0"/>
          </a:p>
        </p:txBody>
      </p:sp>
      <p:sp>
        <p:nvSpPr>
          <p:cNvPr id="11" name="Shape 7"/>
          <p:cNvSpPr/>
          <p:nvPr/>
        </p:nvSpPr>
        <p:spPr>
          <a:xfrm>
            <a:off x="548640" y="1883664"/>
            <a:ext cx="11094415" cy="566928"/>
          </a:xfrm>
          <a:prstGeom prst="roundRect">
            <a:avLst>
              <a:gd name="adj" fmla="val 22581"/>
            </a:avLst>
          </a:prstGeom>
          <a:solidFill>
            <a:srgbClr val="EDF3EF"/>
          </a:solidFill>
          <a:ln w="12700">
            <a:solidFill>
              <a:srgbClr val="0A5D43"/>
            </a:solidFill>
            <a:prstDash val="solid"/>
          </a:ln>
        </p:spPr>
      </p:sp>
      <p:sp>
        <p:nvSpPr>
          <p:cNvPr id="12" name="Shape 8"/>
          <p:cNvSpPr/>
          <p:nvPr/>
        </p:nvSpPr>
        <p:spPr>
          <a:xfrm>
            <a:off x="749808" y="1993392"/>
            <a:ext cx="347472" cy="347472"/>
          </a:xfrm>
          <a:prstGeom prst="ellipse">
            <a:avLst/>
          </a:prstGeom>
          <a:solidFill>
            <a:srgbClr val="0A5D43"/>
          </a:solidFill>
          <a:ln/>
        </p:spPr>
      </p:sp>
      <p:pic>
        <p:nvPicPr>
          <p:cNvPr id="13" name="Image 1" descr="preencoded.png">    </p:cNvPr>
          <p:cNvPicPr>
            <a:picLocks noChangeAspect="1"/>
          </p:cNvPicPr>
          <p:nvPr/>
        </p:nvPicPr>
        <p:blipFill>
          <a:blip r:embed="rId2"/>
          <a:stretch>
            <a:fillRect/>
          </a:stretch>
        </p:blipFill>
        <p:spPr>
          <a:xfrm>
            <a:off x="836676" y="2080260"/>
            <a:ext cx="173736" cy="173736"/>
          </a:xfrm>
          <a:prstGeom prst="rect">
            <a:avLst/>
          </a:prstGeom>
        </p:spPr>
      </p:pic>
      <p:sp>
        <p:nvSpPr>
          <p:cNvPr id="14" name="Text 9"/>
          <p:cNvSpPr txBox="1"/>
          <p:nvPr/>
        </p:nvSpPr>
        <p:spPr>
          <a:xfrm>
            <a:off x="1207008" y="1883664"/>
            <a:ext cx="10198303" cy="566928"/>
          </a:xfrm>
          <a:prstGeom prst="rect">
            <a:avLst/>
          </a:prstGeom>
          <a:noFill/>
          <a:ln/>
        </p:spPr>
        <p:txBody>
          <a:bodyPr wrap="square" lIns="0" tIns="0" rIns="0" bIns="0" rtlCol="0" anchor="ctr"/>
          <a:lstStyle/>
          <a:p>
            <a:pPr indent="0" marL="0">
              <a:buNone/>
            </a:pPr>
            <a:r>
              <a:rPr lang="en-US" sz="1700" b="1" dirty="0">
                <a:solidFill>
                  <a:srgbClr val="12211B"/>
                </a:solidFill>
                <a:latin typeface="Calibri" pitchFamily="34" charset="0"/>
                <a:ea typeface="Calibri" pitchFamily="34" charset="-122"/>
                <a:cs typeface="Calibri" pitchFamily="34" charset="-120"/>
              </a:rPr>
              <a:t>Write your answers on paper. Do not look back at the earlier slides.</a:t>
            </a:r>
            <a:endParaRPr lang="en-US" sz="1700" dirty="0"/>
          </a:p>
        </p:txBody>
      </p:sp>
      <p:sp>
        <p:nvSpPr>
          <p:cNvPr id="15" name="Shape 10"/>
          <p:cNvSpPr/>
          <p:nvPr/>
        </p:nvSpPr>
        <p:spPr>
          <a:xfrm>
            <a:off x="548640" y="2596896"/>
            <a:ext cx="11094415" cy="747522"/>
          </a:xfrm>
          <a:prstGeom prst="roundRect">
            <a:avLst>
              <a:gd name="adj" fmla="val 17125"/>
            </a:avLst>
          </a:prstGeom>
          <a:solidFill>
            <a:srgbClr val="F6F9F7"/>
          </a:solidFill>
          <a:ln w="12700">
            <a:solidFill>
              <a:srgbClr val="E3E9E5"/>
            </a:solidFill>
            <a:prstDash val="solid"/>
          </a:ln>
        </p:spPr>
      </p:sp>
      <p:sp>
        <p:nvSpPr>
          <p:cNvPr id="16" name="Shape 11"/>
          <p:cNvSpPr/>
          <p:nvPr/>
        </p:nvSpPr>
        <p:spPr>
          <a:xfrm>
            <a:off x="749808" y="2769489"/>
            <a:ext cx="402336" cy="402336"/>
          </a:xfrm>
          <a:prstGeom prst="ellipse">
            <a:avLst/>
          </a:prstGeom>
          <a:solidFill>
            <a:srgbClr val="0A5D43"/>
          </a:solidFill>
          <a:ln/>
        </p:spPr>
      </p:sp>
      <p:sp>
        <p:nvSpPr>
          <p:cNvPr id="17" name="Text 12"/>
          <p:cNvSpPr txBox="1"/>
          <p:nvPr/>
        </p:nvSpPr>
        <p:spPr>
          <a:xfrm>
            <a:off x="749808" y="2769489"/>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8" name="Text 13"/>
          <p:cNvSpPr/>
          <p:nvPr/>
        </p:nvSpPr>
        <p:spPr>
          <a:xfrm>
            <a:off x="1353312" y="2651760"/>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1. Which is correct?</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a) I working.     b) I am working.     c) I am work.</a:t>
            </a:r>
            <a:endParaRPr lang="en-US" sz="1700" dirty="0"/>
          </a:p>
        </p:txBody>
      </p:sp>
      <p:sp>
        <p:nvSpPr>
          <p:cNvPr id="19" name="Shape 14"/>
          <p:cNvSpPr/>
          <p:nvPr/>
        </p:nvSpPr>
        <p:spPr>
          <a:xfrm>
            <a:off x="548640" y="3463290"/>
            <a:ext cx="11094415" cy="747522"/>
          </a:xfrm>
          <a:prstGeom prst="roundRect">
            <a:avLst>
              <a:gd name="adj" fmla="val 17125"/>
            </a:avLst>
          </a:prstGeom>
          <a:solidFill>
            <a:srgbClr val="F6F9F7"/>
          </a:solidFill>
          <a:ln w="12700">
            <a:solidFill>
              <a:srgbClr val="E3E9E5"/>
            </a:solidFill>
            <a:prstDash val="solid"/>
          </a:ln>
        </p:spPr>
      </p:sp>
      <p:sp>
        <p:nvSpPr>
          <p:cNvPr id="20" name="Shape 15"/>
          <p:cNvSpPr/>
          <p:nvPr/>
        </p:nvSpPr>
        <p:spPr>
          <a:xfrm>
            <a:off x="749808" y="3635883"/>
            <a:ext cx="402336" cy="402336"/>
          </a:xfrm>
          <a:prstGeom prst="ellipse">
            <a:avLst/>
          </a:prstGeom>
          <a:solidFill>
            <a:srgbClr val="0A5D43"/>
          </a:solidFill>
          <a:ln/>
        </p:spPr>
      </p:sp>
      <p:sp>
        <p:nvSpPr>
          <p:cNvPr id="21" name="Text 16"/>
          <p:cNvSpPr txBox="1"/>
          <p:nvPr/>
        </p:nvSpPr>
        <p:spPr>
          <a:xfrm>
            <a:off x="749808" y="363588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22" name="Text 17"/>
          <p:cNvSpPr/>
          <p:nvPr/>
        </p:nvSpPr>
        <p:spPr>
          <a:xfrm>
            <a:off x="1353312" y="3518154"/>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2. Complete: “She ___ ___ a letter.”  (write)</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both words.</a:t>
            </a:r>
            <a:endParaRPr lang="en-US" sz="1700" dirty="0"/>
          </a:p>
        </p:txBody>
      </p:sp>
      <p:sp>
        <p:nvSpPr>
          <p:cNvPr id="23" name="Shape 18"/>
          <p:cNvSpPr/>
          <p:nvPr/>
        </p:nvSpPr>
        <p:spPr>
          <a:xfrm>
            <a:off x="548640" y="4329684"/>
            <a:ext cx="11094415" cy="747522"/>
          </a:xfrm>
          <a:prstGeom prst="roundRect">
            <a:avLst>
              <a:gd name="adj" fmla="val 17125"/>
            </a:avLst>
          </a:prstGeom>
          <a:solidFill>
            <a:srgbClr val="F6F9F7"/>
          </a:solidFill>
          <a:ln w="12700">
            <a:solidFill>
              <a:srgbClr val="E3E9E5"/>
            </a:solidFill>
            <a:prstDash val="solid"/>
          </a:ln>
        </p:spPr>
      </p:sp>
      <p:sp>
        <p:nvSpPr>
          <p:cNvPr id="24" name="Shape 19"/>
          <p:cNvSpPr/>
          <p:nvPr/>
        </p:nvSpPr>
        <p:spPr>
          <a:xfrm>
            <a:off x="749808" y="4502277"/>
            <a:ext cx="402336" cy="402336"/>
          </a:xfrm>
          <a:prstGeom prst="ellipse">
            <a:avLst/>
          </a:prstGeom>
          <a:solidFill>
            <a:srgbClr val="0A5D43"/>
          </a:solidFill>
          <a:ln/>
        </p:spPr>
      </p:sp>
      <p:sp>
        <p:nvSpPr>
          <p:cNvPr id="25" name="Text 20"/>
          <p:cNvSpPr txBox="1"/>
          <p:nvPr/>
        </p:nvSpPr>
        <p:spPr>
          <a:xfrm>
            <a:off x="749808" y="450227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6" name="Text 21"/>
          <p:cNvSpPr/>
          <p:nvPr/>
        </p:nvSpPr>
        <p:spPr>
          <a:xfrm>
            <a:off x="1353312" y="4384548"/>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3. Complete: “They ___ ___ football.”  (play)</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Write both words.</a:t>
            </a:r>
            <a:endParaRPr lang="en-US" sz="1700" dirty="0"/>
          </a:p>
        </p:txBody>
      </p:sp>
      <p:sp>
        <p:nvSpPr>
          <p:cNvPr id="27" name="Shape 22"/>
          <p:cNvSpPr/>
          <p:nvPr/>
        </p:nvSpPr>
        <p:spPr>
          <a:xfrm>
            <a:off x="548640" y="5196078"/>
            <a:ext cx="11094415" cy="747522"/>
          </a:xfrm>
          <a:prstGeom prst="roundRect">
            <a:avLst>
              <a:gd name="adj" fmla="val 17125"/>
            </a:avLst>
          </a:prstGeom>
          <a:solidFill>
            <a:srgbClr val="F6F9F7"/>
          </a:solidFill>
          <a:ln w="12700">
            <a:solidFill>
              <a:srgbClr val="E3E9E5"/>
            </a:solidFill>
            <a:prstDash val="solid"/>
          </a:ln>
        </p:spPr>
      </p:sp>
      <p:sp>
        <p:nvSpPr>
          <p:cNvPr id="28" name="Shape 23"/>
          <p:cNvSpPr/>
          <p:nvPr/>
        </p:nvSpPr>
        <p:spPr>
          <a:xfrm>
            <a:off x="749808" y="5368671"/>
            <a:ext cx="402336" cy="402336"/>
          </a:xfrm>
          <a:prstGeom prst="ellipse">
            <a:avLst/>
          </a:prstGeom>
          <a:solidFill>
            <a:srgbClr val="0A5D43"/>
          </a:solidFill>
          <a:ln/>
        </p:spPr>
      </p:sp>
      <p:sp>
        <p:nvSpPr>
          <p:cNvPr id="29" name="Text 24"/>
          <p:cNvSpPr txBox="1"/>
          <p:nvPr/>
        </p:nvSpPr>
        <p:spPr>
          <a:xfrm>
            <a:off x="749808" y="536867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30" name="Text 25"/>
          <p:cNvSpPr/>
          <p:nvPr/>
        </p:nvSpPr>
        <p:spPr>
          <a:xfrm>
            <a:off x="1353312" y="5250942"/>
            <a:ext cx="10033711" cy="637794"/>
          </a:xfrm>
          <a:prstGeom prst="rect">
            <a:avLst/>
          </a:prstGeom>
          <a:noFill/>
          <a:ln/>
        </p:spPr>
        <p:txBody>
          <a:bodyPr wrap="square" lIns="0" tIns="0" rIns="0" bIns="0" rtlCol="0" anchor="ctr"/>
          <a:lstStyle/>
          <a:p>
            <a:pPr indent="0" marL="0">
              <a:lnSpc>
                <a:spcPct val="102000"/>
              </a:lnSpc>
              <a:buNone/>
            </a:pPr>
            <a:r>
              <a:rPr lang="en-US" sz="1700" b="1" dirty="0">
                <a:solidFill>
                  <a:srgbClr val="12211B"/>
                </a:solidFill>
                <a:latin typeface="Calibri" pitchFamily="34" charset="0"/>
                <a:ea typeface="Calibri" pitchFamily="34" charset="-122"/>
                <a:cs typeface="Calibri" pitchFamily="34" charset="-120"/>
              </a:rPr>
              <a:t>4. What two parts does this tense always need?</a:t>
            </a:r>
            <a:endParaRPr lang="en-US" sz="1700" dirty="0"/>
          </a:p>
          <a:p>
            <a:pPr indent="0" marL="0">
              <a:lnSpc>
                <a:spcPct val="102000"/>
              </a:lnSpc>
              <a:spcBef>
                <a:spcPts val="283"/>
              </a:spcBef>
              <a:buNone/>
            </a:pPr>
            <a:r>
              <a:rPr lang="en-US" sz="1320" dirty="0">
                <a:solidFill>
                  <a:srgbClr val="3A473F"/>
                </a:solidFill>
                <a:latin typeface="Calibri" pitchFamily="34" charset="0"/>
                <a:ea typeface="Calibri" pitchFamily="34" charset="-122"/>
                <a:cs typeface="Calibri" pitchFamily="34" charset="-120"/>
              </a:rPr>
              <a:t>Name both.</a:t>
            </a:r>
            <a:endParaRPr lang="en-US" sz="17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Module 2 quiz — Part 2 · Spelling</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62</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5. The -ing form of “come”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comeing     b) coming     c) comming</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6. The -ing form of “sit”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siting     b) sitting     c) siteing</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7. The -ing form of “study” is …</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studing     b) studiing     c) studying</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8. Write the -ing form of:  run · write · wait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verbs, three rules.</a:t>
            </a:r>
            <a:endParaRPr lang="en-US" sz="1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550" b="1" dirty="0">
                <a:solidFill>
                  <a:srgbClr val="12211B"/>
                </a:solidFill>
                <a:latin typeface="Calibri" pitchFamily="34" charset="0"/>
                <a:ea typeface="Calibri" pitchFamily="34" charset="-122"/>
                <a:cs typeface="Calibri" pitchFamily="34" charset="-120"/>
              </a:rPr>
              <a:t>Module 2 quiz — Part 3 · Negatives and questions</a:t>
            </a:r>
            <a:endParaRPr lang="en-US" sz="35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63</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9. Make it negative: “He is sleeping.”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10. Make it a question: “They are working.”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Write the full sentence.</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11. Which is correct?</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Does she working?     b) Is she working?     c) Do she working?</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12. Write the short answer: “Are you studying?”  (yes)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Three words.</a:t>
            </a:r>
            <a:endParaRPr lang="en-US" sz="1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300" b="1" dirty="0">
                <a:solidFill>
                  <a:srgbClr val="12211B"/>
                </a:solidFill>
                <a:latin typeface="Calibri" pitchFamily="34" charset="0"/>
                <a:ea typeface="Calibri" pitchFamily="34" charset="-122"/>
                <a:cs typeface="Calibri" pitchFamily="34" charset="-120"/>
              </a:rPr>
              <a:t>Module 2 quiz — Part 4 · Which tense, and listening</a:t>
            </a:r>
            <a:endParaRPr lang="en-US" sz="33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64</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13. Choose: “I ___ coffee every morning.”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drink     b) am drinking</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14. Choose: “Be quiet — the baby ___.”</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a) sleeps     b) is sleeping</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15. Listen: what is the old man doing?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16. Listen: is it raining?</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Full sentence.</a:t>
            </a:r>
            <a:endParaRPr lang="en-US" sz="1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A5D43"/>
          </a:solidFill>
          <a:ln/>
        </p:spPr>
      </p:sp>
      <p:sp>
        <p:nvSpPr>
          <p:cNvPr id="3" name="Shape 1"/>
          <p:cNvSpPr/>
          <p:nvPr/>
        </p:nvSpPr>
        <p:spPr>
          <a:xfrm>
            <a:off x="649224" y="539496"/>
            <a:ext cx="219456" cy="219456"/>
          </a:xfrm>
          <a:prstGeom prst="ellipse">
            <a:avLst/>
          </a:prstGeom>
          <a:solidFill>
            <a:srgbClr val="0A5D43"/>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QUIZ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750" b="1" dirty="0">
                <a:solidFill>
                  <a:srgbClr val="12211B"/>
                </a:solidFill>
                <a:latin typeface="Calibri" pitchFamily="34" charset="0"/>
                <a:ea typeface="Calibri" pitchFamily="34" charset="-122"/>
                <a:cs typeface="Calibri" pitchFamily="34" charset="-120"/>
              </a:rPr>
              <a:t>Module 2 quiz — Part 5 · Writing and speaking</a:t>
            </a:r>
            <a:endParaRPr lang="en-US" sz="375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20 questions in total. Answer key follows. Pass mark: 16 out of 20.</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65</a:t>
            </a:r>
            <a:endParaRPr lang="en-US" sz="1100" dirty="0"/>
          </a:p>
        </p:txBody>
      </p:sp>
      <p:sp>
        <p:nvSpPr>
          <p:cNvPr id="11" name="Shape 7"/>
          <p:cNvSpPr/>
          <p:nvPr/>
        </p:nvSpPr>
        <p:spPr>
          <a:xfrm>
            <a:off x="548640" y="1883664"/>
            <a:ext cx="11094415" cy="925830"/>
          </a:xfrm>
          <a:prstGeom prst="roundRect">
            <a:avLst>
              <a:gd name="adj" fmla="val 13827"/>
            </a:avLst>
          </a:prstGeom>
          <a:solidFill>
            <a:srgbClr val="F6F9F7"/>
          </a:solidFill>
          <a:ln w="12700">
            <a:solidFill>
              <a:srgbClr val="E3E9E5"/>
            </a:solidFill>
            <a:prstDash val="solid"/>
          </a:ln>
        </p:spPr>
      </p:sp>
      <p:sp>
        <p:nvSpPr>
          <p:cNvPr id="12" name="Shape 8"/>
          <p:cNvSpPr/>
          <p:nvPr/>
        </p:nvSpPr>
        <p:spPr>
          <a:xfrm>
            <a:off x="749808" y="2145411"/>
            <a:ext cx="402336" cy="402336"/>
          </a:xfrm>
          <a:prstGeom prst="ellipse">
            <a:avLst/>
          </a:prstGeom>
          <a:solidFill>
            <a:srgbClr val="0A5D43"/>
          </a:solidFill>
          <a:ln/>
        </p:spPr>
      </p:sp>
      <p:sp>
        <p:nvSpPr>
          <p:cNvPr id="13" name="Text 9"/>
          <p:cNvSpPr txBox="1"/>
          <p:nvPr/>
        </p:nvSpPr>
        <p:spPr>
          <a:xfrm>
            <a:off x="749808" y="2145411"/>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14" name="Text 10"/>
          <p:cNvSpPr/>
          <p:nvPr/>
        </p:nvSpPr>
        <p:spPr>
          <a:xfrm>
            <a:off x="1353312" y="1938528"/>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17. Write two sentences about what is happening in this room.</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Both parts of the verb.</a:t>
            </a:r>
            <a:endParaRPr lang="en-US" sz="1800" dirty="0"/>
          </a:p>
        </p:txBody>
      </p:sp>
      <p:sp>
        <p:nvSpPr>
          <p:cNvPr id="15" name="Shape 11"/>
          <p:cNvSpPr/>
          <p:nvPr/>
        </p:nvSpPr>
        <p:spPr>
          <a:xfrm>
            <a:off x="548640" y="2928366"/>
            <a:ext cx="11094415" cy="925830"/>
          </a:xfrm>
          <a:prstGeom prst="roundRect">
            <a:avLst>
              <a:gd name="adj" fmla="val 13827"/>
            </a:avLst>
          </a:prstGeom>
          <a:solidFill>
            <a:srgbClr val="F6F9F7"/>
          </a:solidFill>
          <a:ln w="12700">
            <a:solidFill>
              <a:srgbClr val="E3E9E5"/>
            </a:solidFill>
            <a:prstDash val="solid"/>
          </a:ln>
        </p:spPr>
      </p:sp>
      <p:sp>
        <p:nvSpPr>
          <p:cNvPr id="16" name="Shape 12"/>
          <p:cNvSpPr/>
          <p:nvPr/>
        </p:nvSpPr>
        <p:spPr>
          <a:xfrm>
            <a:off x="749808" y="3190113"/>
            <a:ext cx="402336" cy="402336"/>
          </a:xfrm>
          <a:prstGeom prst="ellipse">
            <a:avLst/>
          </a:prstGeom>
          <a:solidFill>
            <a:srgbClr val="0A5D43"/>
          </a:solidFill>
          <a:ln/>
        </p:spPr>
      </p:sp>
      <p:sp>
        <p:nvSpPr>
          <p:cNvPr id="17" name="Text 13"/>
          <p:cNvSpPr txBox="1"/>
          <p:nvPr/>
        </p:nvSpPr>
        <p:spPr>
          <a:xfrm>
            <a:off x="749808" y="3190113"/>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18" name="Text 14"/>
          <p:cNvSpPr/>
          <p:nvPr/>
        </p:nvSpPr>
        <p:spPr>
          <a:xfrm>
            <a:off x="1353312" y="2983230"/>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18. Write one sentence with BOTH tenses.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“I usually …, but today I am …”</a:t>
            </a:r>
            <a:endParaRPr lang="en-US" sz="1800" dirty="0"/>
          </a:p>
        </p:txBody>
      </p:sp>
      <p:sp>
        <p:nvSpPr>
          <p:cNvPr id="19" name="Shape 15"/>
          <p:cNvSpPr/>
          <p:nvPr/>
        </p:nvSpPr>
        <p:spPr>
          <a:xfrm>
            <a:off x="548640" y="3973068"/>
            <a:ext cx="11094415" cy="925830"/>
          </a:xfrm>
          <a:prstGeom prst="roundRect">
            <a:avLst>
              <a:gd name="adj" fmla="val 13827"/>
            </a:avLst>
          </a:prstGeom>
          <a:solidFill>
            <a:srgbClr val="F6F9F7"/>
          </a:solidFill>
          <a:ln w="12700">
            <a:solidFill>
              <a:srgbClr val="E3E9E5"/>
            </a:solidFill>
            <a:prstDash val="solid"/>
          </a:ln>
        </p:spPr>
      </p:sp>
      <p:sp>
        <p:nvSpPr>
          <p:cNvPr id="20" name="Shape 16"/>
          <p:cNvSpPr/>
          <p:nvPr/>
        </p:nvSpPr>
        <p:spPr>
          <a:xfrm>
            <a:off x="749808" y="4234815"/>
            <a:ext cx="402336" cy="402336"/>
          </a:xfrm>
          <a:prstGeom prst="ellipse">
            <a:avLst/>
          </a:prstGeom>
          <a:solidFill>
            <a:srgbClr val="0A5D43"/>
          </a:solidFill>
          <a:ln/>
        </p:spPr>
      </p:sp>
      <p:sp>
        <p:nvSpPr>
          <p:cNvPr id="21" name="Text 17"/>
          <p:cNvSpPr txBox="1"/>
          <p:nvPr/>
        </p:nvSpPr>
        <p:spPr>
          <a:xfrm>
            <a:off x="749808" y="4234815"/>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22" name="Text 18"/>
          <p:cNvSpPr/>
          <p:nvPr/>
        </p:nvSpPr>
        <p:spPr>
          <a:xfrm>
            <a:off x="1353312" y="4027932"/>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19. Describe a person in this room in two sentences.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What they are doing and wearing.</a:t>
            </a:r>
            <a:endParaRPr lang="en-US" sz="1800" dirty="0"/>
          </a:p>
        </p:txBody>
      </p:sp>
      <p:sp>
        <p:nvSpPr>
          <p:cNvPr id="23" name="Shape 19"/>
          <p:cNvSpPr/>
          <p:nvPr/>
        </p:nvSpPr>
        <p:spPr>
          <a:xfrm>
            <a:off x="548640" y="5017770"/>
            <a:ext cx="11094415" cy="925830"/>
          </a:xfrm>
          <a:prstGeom prst="roundRect">
            <a:avLst>
              <a:gd name="adj" fmla="val 13827"/>
            </a:avLst>
          </a:prstGeom>
          <a:solidFill>
            <a:srgbClr val="F6F9F7"/>
          </a:solidFill>
          <a:ln w="12700">
            <a:solidFill>
              <a:srgbClr val="E3E9E5"/>
            </a:solidFill>
            <a:prstDash val="solid"/>
          </a:ln>
        </p:spPr>
      </p:sp>
      <p:sp>
        <p:nvSpPr>
          <p:cNvPr id="24" name="Shape 20"/>
          <p:cNvSpPr/>
          <p:nvPr/>
        </p:nvSpPr>
        <p:spPr>
          <a:xfrm>
            <a:off x="749808" y="5279517"/>
            <a:ext cx="402336" cy="402336"/>
          </a:xfrm>
          <a:prstGeom prst="ellipse">
            <a:avLst/>
          </a:prstGeom>
          <a:solidFill>
            <a:srgbClr val="0A5D43"/>
          </a:solidFill>
          <a:ln/>
        </p:spPr>
      </p:sp>
      <p:sp>
        <p:nvSpPr>
          <p:cNvPr id="25" name="Text 21"/>
          <p:cNvSpPr txBox="1"/>
          <p:nvPr/>
        </p:nvSpPr>
        <p:spPr>
          <a:xfrm>
            <a:off x="749808" y="5279517"/>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20</a:t>
            </a:r>
            <a:endParaRPr lang="en-US" sz="1500" dirty="0"/>
          </a:p>
        </p:txBody>
      </p:sp>
      <p:sp>
        <p:nvSpPr>
          <p:cNvPr id="26" name="Text 22"/>
          <p:cNvSpPr/>
          <p:nvPr/>
        </p:nvSpPr>
        <p:spPr>
          <a:xfrm>
            <a:off x="1353312" y="5072634"/>
            <a:ext cx="10033711" cy="816102"/>
          </a:xfrm>
          <a:prstGeom prst="rect">
            <a:avLst/>
          </a:prstGeom>
          <a:noFill/>
          <a:ln/>
        </p:spPr>
        <p:txBody>
          <a:bodyPr wrap="square" lIns="0" tIns="0" rIns="0" bIns="0" rtlCol="0" anchor="ctr"/>
          <a:lstStyle/>
          <a:p>
            <a:pPr indent="0" marL="0">
              <a:lnSpc>
                <a:spcPct val="102000"/>
              </a:lnSpc>
              <a:buNone/>
            </a:pPr>
            <a:r>
              <a:rPr lang="en-US" sz="1800" b="1" dirty="0">
                <a:solidFill>
                  <a:srgbClr val="12211B"/>
                </a:solidFill>
                <a:latin typeface="Calibri" pitchFamily="34" charset="0"/>
                <a:ea typeface="Calibri" pitchFamily="34" charset="-122"/>
                <a:cs typeface="Calibri" pitchFamily="34" charset="-120"/>
              </a:rPr>
              <a:t>20. SPEAKING: describe a picture in five sentences.</a:t>
            </a:r>
            <a:endParaRPr lang="en-US" sz="1800" dirty="0"/>
          </a:p>
          <a:p>
            <a:pPr indent="0" marL="0">
              <a:lnSpc>
                <a:spcPct val="102000"/>
              </a:lnSpc>
              <a:spcBef>
                <a:spcPts val="300"/>
              </a:spcBef>
              <a:buNone/>
            </a:pPr>
            <a:r>
              <a:rPr lang="en-US" sz="1400" dirty="0">
                <a:solidFill>
                  <a:srgbClr val="3A473F"/>
                </a:solidFill>
                <a:latin typeface="Calibri" pitchFamily="34" charset="0"/>
                <a:ea typeface="Calibri" pitchFamily="34" charset="-122"/>
                <a:cs typeface="Calibri" pitchFamily="34" charset="-120"/>
              </a:rPr>
              <a:t>Your teacher or partner listens and checks.</a:t>
            </a:r>
            <a:endParaRPr lang="en-US" sz="1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1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 to 4</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66</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 am working.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Both parts are needed: the verb “to be” and the -ing. Option a) drops one, option c) drops the other.</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 — “She ___ ___ a letter.”</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is writing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“Is” for one person, and “write” drops its e before -ing.</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Q3 — “They ___ ___ football.”</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are playing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“Are” for a plural subject. “Play” has a vowel before the y, so it simply adds -ing.</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Q4 — the two parts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am / is / are  +  the verb with -ing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Neither part can be missing. This is the single most important fact in the module.</a:t>
            </a:r>
            <a:endParaRPr lang="en-US" sz="11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2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5 to 8</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67</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Q5 — “come”</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coming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ends in -e, so the e is dropped. The consonant does not double.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Q6 — “sit”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sitting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vowel and one consonant at the end, so the consonant doubles.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Q7 — “study”</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c) studying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y does not change for the -ing form. It only changes for the -s form from Module 1: studies.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8</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Q8 — run · write · wait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running · writing · waiting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One doubles, one drops the e, one changes nothing — the three rules in three verbs.</a:t>
            </a:r>
            <a:endParaRPr lang="en-US" sz="11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3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9 to 12</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68</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Q9 — negative of “He is sleeping.”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not sleeping.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“Not” goes after “is”. Nothing else changes and the -ing stays.</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Q10 — question from “They are working.”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Are they working?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“Are” moves in front of the subject, exactly as with the verb “to be” in Level 1.</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11</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Q11 — which is correct?</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Is she working?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tense uses am, is or are as its helping verb. It never uses do or does.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12</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Q12 — short answer to “Are you studying?”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Yes, I am.</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short answer keeps the auxiliary. “Yes” alone is understood but incomplete.</a:t>
            </a:r>
            <a:endParaRPr lang="en-US" sz="11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4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13 to 16</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69</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13</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Q13 — “I ___ coffee every morning.”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a) drink</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“Every morning” means always, so the present simple from Module 1.</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14</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Q14 — “Be quiet — the baby ___.”</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b) is sleeping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It is happening at this moment, so the present continuous.</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15</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Q15 — what is the old man doing?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He is sitting on a chair and reading a newspaper.</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Two actions sharing one auxiliary. Note the doubled t in “sitting”.</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16</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Q16 — is it raining?</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No, it is not raining.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The negative goes between “is” and the verb. And “it” is needed as the subject.</a:t>
            </a:r>
            <a:endParaRPr lang="en-US" sz="11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2199132" cy="420624"/>
          </a:xfrm>
          <a:prstGeom prst="roundRect">
            <a:avLst>
              <a:gd name="adj" fmla="val 50000"/>
            </a:avLst>
          </a:prstGeom>
          <a:solidFill>
            <a:srgbClr val="2E9E5B"/>
          </a:solidFill>
          <a:ln/>
        </p:spPr>
      </p:sp>
      <p:sp>
        <p:nvSpPr>
          <p:cNvPr id="3" name="Shape 1"/>
          <p:cNvSpPr/>
          <p:nvPr/>
        </p:nvSpPr>
        <p:spPr>
          <a:xfrm>
            <a:off x="649224" y="539496"/>
            <a:ext cx="219456" cy="219456"/>
          </a:xfrm>
          <a:prstGeom prst="ellipse">
            <a:avLst/>
          </a:prstGeom>
          <a:solidFill>
            <a:srgbClr val="2E9E5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705356"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ANSWER KEY 5 OF 5</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Quiz answers — questions 17 to 20</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Every answer has a reason. Read the reason, not just the answer.</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70</a:t>
            </a:r>
            <a:endParaRPr lang="en-US" sz="1100" dirty="0"/>
          </a:p>
        </p:txBody>
      </p:sp>
      <p:sp>
        <p:nvSpPr>
          <p:cNvPr id="11" name="Shape 7"/>
          <p:cNvSpPr/>
          <p:nvPr/>
        </p:nvSpPr>
        <p:spPr>
          <a:xfrm>
            <a:off x="548640" y="1883664"/>
            <a:ext cx="11094415" cy="925830"/>
          </a:xfrm>
          <a:prstGeom prst="roundRect">
            <a:avLst>
              <a:gd name="adj" fmla="val 13827"/>
            </a:avLst>
          </a:prstGeom>
          <a:solidFill>
            <a:srgbClr val="E6F5EC"/>
          </a:solidFill>
          <a:ln w="12700">
            <a:solidFill>
              <a:srgbClr val="2E9E5B"/>
            </a:solidFill>
            <a:prstDash val="solid"/>
          </a:ln>
        </p:spPr>
      </p:sp>
      <p:sp>
        <p:nvSpPr>
          <p:cNvPr id="12" name="Shape 8"/>
          <p:cNvSpPr/>
          <p:nvPr/>
        </p:nvSpPr>
        <p:spPr>
          <a:xfrm>
            <a:off x="731520" y="2154555"/>
            <a:ext cx="384048" cy="384048"/>
          </a:xfrm>
          <a:prstGeom prst="ellipse">
            <a:avLst/>
          </a:prstGeom>
          <a:solidFill>
            <a:srgbClr val="2E9E5B"/>
          </a:solidFill>
          <a:ln/>
        </p:spPr>
      </p:sp>
      <p:sp>
        <p:nvSpPr>
          <p:cNvPr id="13" name="Text 9"/>
          <p:cNvSpPr txBox="1"/>
          <p:nvPr/>
        </p:nvSpPr>
        <p:spPr>
          <a:xfrm>
            <a:off x="731520" y="2154555"/>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17</a:t>
            </a:r>
            <a:endParaRPr lang="en-US" sz="1400" dirty="0"/>
          </a:p>
        </p:txBody>
      </p:sp>
      <p:sp>
        <p:nvSpPr>
          <p:cNvPr id="14" name="Text 10"/>
          <p:cNvSpPr/>
          <p:nvPr/>
        </p:nvSpPr>
        <p:spPr>
          <a:xfrm>
            <a:off x="1316736" y="1938528"/>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Q17 — two sentences about this room</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“The teacher is standing. We are writing.”</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both parts of the verb appearing in each sentence.</a:t>
            </a:r>
            <a:endParaRPr lang="en-US" sz="1100" dirty="0"/>
          </a:p>
        </p:txBody>
      </p:sp>
      <p:sp>
        <p:nvSpPr>
          <p:cNvPr id="15" name="Shape 11"/>
          <p:cNvSpPr/>
          <p:nvPr/>
        </p:nvSpPr>
        <p:spPr>
          <a:xfrm>
            <a:off x="548640" y="2928366"/>
            <a:ext cx="11094415" cy="925830"/>
          </a:xfrm>
          <a:prstGeom prst="roundRect">
            <a:avLst>
              <a:gd name="adj" fmla="val 13827"/>
            </a:avLst>
          </a:prstGeom>
          <a:solidFill>
            <a:srgbClr val="E6F5EC"/>
          </a:solidFill>
          <a:ln w="12700">
            <a:solidFill>
              <a:srgbClr val="2E9E5B"/>
            </a:solidFill>
            <a:prstDash val="solid"/>
          </a:ln>
        </p:spPr>
      </p:sp>
      <p:sp>
        <p:nvSpPr>
          <p:cNvPr id="16" name="Shape 12"/>
          <p:cNvSpPr/>
          <p:nvPr/>
        </p:nvSpPr>
        <p:spPr>
          <a:xfrm>
            <a:off x="731520" y="3199257"/>
            <a:ext cx="384048" cy="384048"/>
          </a:xfrm>
          <a:prstGeom prst="ellipse">
            <a:avLst/>
          </a:prstGeom>
          <a:solidFill>
            <a:srgbClr val="2E9E5B"/>
          </a:solidFill>
          <a:ln/>
        </p:spPr>
      </p:sp>
      <p:sp>
        <p:nvSpPr>
          <p:cNvPr id="17" name="Text 13"/>
          <p:cNvSpPr txBox="1"/>
          <p:nvPr/>
        </p:nvSpPr>
        <p:spPr>
          <a:xfrm>
            <a:off x="731520" y="3199257"/>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a:t>
            </a:r>
            <a:endParaRPr lang="en-US" sz="1400" dirty="0"/>
          </a:p>
        </p:txBody>
      </p:sp>
      <p:sp>
        <p:nvSpPr>
          <p:cNvPr id="18" name="Text 14"/>
          <p:cNvSpPr/>
          <p:nvPr/>
        </p:nvSpPr>
        <p:spPr>
          <a:xfrm>
            <a:off x="1316736" y="2983230"/>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Q18 — one sentence with both tenses</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“I usually walk to school, but today I am taking the bus.”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This is the hardest item and it carries the most marks. Simple for the habit, continuous for today.</a:t>
            </a:r>
            <a:endParaRPr lang="en-US" sz="1100" dirty="0"/>
          </a:p>
        </p:txBody>
      </p:sp>
      <p:sp>
        <p:nvSpPr>
          <p:cNvPr id="19" name="Shape 15"/>
          <p:cNvSpPr/>
          <p:nvPr/>
        </p:nvSpPr>
        <p:spPr>
          <a:xfrm>
            <a:off x="548640" y="3973068"/>
            <a:ext cx="11094415" cy="925830"/>
          </a:xfrm>
          <a:prstGeom prst="roundRect">
            <a:avLst>
              <a:gd name="adj" fmla="val 13827"/>
            </a:avLst>
          </a:prstGeom>
          <a:solidFill>
            <a:srgbClr val="E6F5EC"/>
          </a:solidFill>
          <a:ln w="12700">
            <a:solidFill>
              <a:srgbClr val="2E9E5B"/>
            </a:solidFill>
            <a:prstDash val="solid"/>
          </a:ln>
        </p:spPr>
      </p:sp>
      <p:sp>
        <p:nvSpPr>
          <p:cNvPr id="20" name="Shape 16"/>
          <p:cNvSpPr/>
          <p:nvPr/>
        </p:nvSpPr>
        <p:spPr>
          <a:xfrm>
            <a:off x="731520" y="4243959"/>
            <a:ext cx="384048" cy="384048"/>
          </a:xfrm>
          <a:prstGeom prst="ellipse">
            <a:avLst/>
          </a:prstGeom>
          <a:solidFill>
            <a:srgbClr val="2E9E5B"/>
          </a:solidFill>
          <a:ln/>
        </p:spPr>
      </p:sp>
      <p:sp>
        <p:nvSpPr>
          <p:cNvPr id="21" name="Text 17"/>
          <p:cNvSpPr txBox="1"/>
          <p:nvPr/>
        </p:nvSpPr>
        <p:spPr>
          <a:xfrm>
            <a:off x="731520" y="4243959"/>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19</a:t>
            </a:r>
            <a:endParaRPr lang="en-US" sz="1400" dirty="0"/>
          </a:p>
        </p:txBody>
      </p:sp>
      <p:sp>
        <p:nvSpPr>
          <p:cNvPr id="22" name="Text 18"/>
          <p:cNvSpPr/>
          <p:nvPr/>
        </p:nvSpPr>
        <p:spPr>
          <a:xfrm>
            <a:off x="1316736" y="4027932"/>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Q19 — describe a person</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e.g. “She is writing. She is wearing a blue shirt.”</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Action and clothing — two of the four description steps.</a:t>
            </a:r>
            <a:endParaRPr lang="en-US" sz="1100" dirty="0"/>
          </a:p>
        </p:txBody>
      </p:sp>
      <p:sp>
        <p:nvSpPr>
          <p:cNvPr id="23" name="Shape 19"/>
          <p:cNvSpPr/>
          <p:nvPr/>
        </p:nvSpPr>
        <p:spPr>
          <a:xfrm>
            <a:off x="548640" y="5017770"/>
            <a:ext cx="11094415" cy="925830"/>
          </a:xfrm>
          <a:prstGeom prst="roundRect">
            <a:avLst>
              <a:gd name="adj" fmla="val 13827"/>
            </a:avLst>
          </a:prstGeom>
          <a:solidFill>
            <a:srgbClr val="E6F5EC"/>
          </a:solidFill>
          <a:ln w="12700">
            <a:solidFill>
              <a:srgbClr val="2E9E5B"/>
            </a:solidFill>
            <a:prstDash val="solid"/>
          </a:ln>
        </p:spPr>
      </p:sp>
      <p:sp>
        <p:nvSpPr>
          <p:cNvPr id="24" name="Shape 20"/>
          <p:cNvSpPr/>
          <p:nvPr/>
        </p:nvSpPr>
        <p:spPr>
          <a:xfrm>
            <a:off x="731520" y="5288661"/>
            <a:ext cx="384048" cy="384048"/>
          </a:xfrm>
          <a:prstGeom prst="ellipse">
            <a:avLst/>
          </a:prstGeom>
          <a:solidFill>
            <a:srgbClr val="2E9E5B"/>
          </a:solidFill>
          <a:ln/>
        </p:spPr>
      </p:sp>
      <p:sp>
        <p:nvSpPr>
          <p:cNvPr id="25" name="Text 21"/>
          <p:cNvSpPr txBox="1"/>
          <p:nvPr/>
        </p:nvSpPr>
        <p:spPr>
          <a:xfrm>
            <a:off x="731520" y="5288661"/>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20</a:t>
            </a:r>
            <a:endParaRPr lang="en-US" sz="1400" dirty="0"/>
          </a:p>
        </p:txBody>
      </p:sp>
      <p:sp>
        <p:nvSpPr>
          <p:cNvPr id="26" name="Text 22"/>
          <p:cNvSpPr/>
          <p:nvPr/>
        </p:nvSpPr>
        <p:spPr>
          <a:xfrm>
            <a:off x="1316736" y="5072634"/>
            <a:ext cx="10106863" cy="816102"/>
          </a:xfrm>
          <a:prstGeom prst="rect">
            <a:avLst/>
          </a:prstGeom>
          <a:noFill/>
          <a:ln/>
        </p:spPr>
        <p:txBody>
          <a:bodyPr wrap="square" lIns="0" tIns="0" rIns="0" bIns="0" rtlCol="0" anchor="ctr"/>
          <a:lstStyle/>
          <a:p>
            <a:pPr indent="0" marL="0">
              <a:lnSpc>
                <a:spcPct val="102000"/>
              </a:lnSpc>
              <a:buNone/>
            </a:pPr>
            <a:r>
              <a:rPr lang="en-US" sz="1100" i="1" dirty="0">
                <a:solidFill>
                  <a:srgbClr val="6B7C71"/>
                </a:solidFill>
                <a:latin typeface="Calibri" pitchFamily="34" charset="0"/>
                <a:ea typeface="Calibri" pitchFamily="34" charset="-122"/>
                <a:cs typeface="Calibri" pitchFamily="34" charset="-120"/>
              </a:rPr>
              <a:t>Q20 — speaking task</a:t>
            </a:r>
            <a:endParaRPr lang="en-US" sz="1100" dirty="0"/>
          </a:p>
          <a:p>
            <a:pPr indent="0" marL="0">
              <a:lnSpc>
                <a:spcPct val="102000"/>
              </a:lnSpc>
              <a:spcBef>
                <a:spcPts val="169"/>
              </a:spcBef>
              <a:buNone/>
            </a:pPr>
            <a:r>
              <a:rPr lang="en-US" sz="1440" b="1" dirty="0">
                <a:solidFill>
                  <a:srgbClr val="12211B"/>
                </a:solidFill>
                <a:latin typeface="Calibri" pitchFamily="34" charset="0"/>
                <a:ea typeface="Calibri" pitchFamily="34" charset="-122"/>
                <a:cs typeface="Calibri" pitchFamily="34" charset="-120"/>
              </a:rPr>
              <a:t>Five sentences using the four steps</a:t>
            </a:r>
            <a:endParaRPr lang="en-US" sz="1100" dirty="0"/>
          </a:p>
          <a:p>
            <a:pPr indent="0" marL="0">
              <a:lnSpc>
                <a:spcPct val="102000"/>
              </a:lnSpc>
              <a:spcBef>
                <a:spcPts val="254"/>
              </a:spcBef>
              <a:buNone/>
            </a:pPr>
            <a:r>
              <a:rPr lang="en-US" sz="1100" dirty="0">
                <a:solidFill>
                  <a:srgbClr val="0A4634"/>
                </a:solidFill>
                <a:latin typeface="Calibri" pitchFamily="34" charset="0"/>
                <a:ea typeface="Calibri" pitchFamily="34" charset="-122"/>
                <a:cs typeface="Calibri" pitchFamily="34" charset="-120"/>
              </a:rPr>
              <a:t>WHY: Marked on both parts of the verb, correct spelling in speech, and covering who, what, wearing and where.</a:t>
            </a:r>
            <a:endParaRPr lang="en-US" sz="11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1 — every day this week</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Ten minutes a day. Out loud.</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71</a:t>
            </a:r>
            <a:endParaRPr lang="en-US" sz="1100" dirty="0"/>
          </a:p>
        </p:txBody>
      </p:sp>
      <p:sp>
        <p:nvSpPr>
          <p:cNvPr id="11" name="Shape 7"/>
          <p:cNvSpPr/>
          <p:nvPr/>
        </p:nvSpPr>
        <p:spPr>
          <a:xfrm>
            <a:off x="548640" y="1883664"/>
            <a:ext cx="11094415" cy="694944"/>
          </a:xfrm>
          <a:prstGeom prst="roundRect">
            <a:avLst>
              <a:gd name="adj" fmla="val 18421"/>
            </a:avLst>
          </a:prstGeom>
          <a:solidFill>
            <a:srgbClr val="F6F9F7"/>
          </a:solidFill>
          <a:ln w="12700">
            <a:solidFill>
              <a:srgbClr val="E3E9E5"/>
            </a:solidFill>
            <a:prstDash val="solid"/>
          </a:ln>
        </p:spPr>
      </p:sp>
      <p:sp>
        <p:nvSpPr>
          <p:cNvPr id="12" name="Shape 8"/>
          <p:cNvSpPr/>
          <p:nvPr/>
        </p:nvSpPr>
        <p:spPr>
          <a:xfrm>
            <a:off x="786384" y="2002536"/>
            <a:ext cx="457200" cy="457200"/>
          </a:xfrm>
          <a:prstGeom prst="ellipse">
            <a:avLst/>
          </a:prstGeom>
          <a:solidFill>
            <a:srgbClr val="F2A93B"/>
          </a:solidFill>
          <a:ln/>
        </p:spPr>
      </p:sp>
      <p:sp>
        <p:nvSpPr>
          <p:cNvPr id="13" name="Text 9"/>
          <p:cNvSpPr txBox="1"/>
          <p:nvPr/>
        </p:nvSpPr>
        <p:spPr>
          <a:xfrm>
            <a:off x="786384" y="2002536"/>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MON</a:t>
            </a:r>
            <a:endParaRPr lang="en-US" sz="1300" dirty="0"/>
          </a:p>
        </p:txBody>
      </p:sp>
      <p:sp>
        <p:nvSpPr>
          <p:cNvPr id="14" name="Text 10"/>
          <p:cNvSpPr/>
          <p:nvPr/>
        </p:nvSpPr>
        <p:spPr>
          <a:xfrm>
            <a:off x="1463040" y="1956816"/>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Narrate ten minutes of your day</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Say out loud what you are doing, as you do it. “I am cooking. I am washing the plates.”</a:t>
            </a:r>
            <a:endParaRPr lang="en-US" sz="1600" dirty="0"/>
          </a:p>
        </p:txBody>
      </p:sp>
      <p:sp>
        <p:nvSpPr>
          <p:cNvPr id="15" name="Shape 11"/>
          <p:cNvSpPr/>
          <p:nvPr/>
        </p:nvSpPr>
        <p:spPr>
          <a:xfrm>
            <a:off x="548640" y="2724912"/>
            <a:ext cx="11094415" cy="694944"/>
          </a:xfrm>
          <a:prstGeom prst="roundRect">
            <a:avLst>
              <a:gd name="adj" fmla="val 18421"/>
            </a:avLst>
          </a:prstGeom>
          <a:solidFill>
            <a:srgbClr val="F6F9F7"/>
          </a:solidFill>
          <a:ln w="12700">
            <a:solidFill>
              <a:srgbClr val="E3E9E5"/>
            </a:solidFill>
            <a:prstDash val="solid"/>
          </a:ln>
        </p:spPr>
      </p:sp>
      <p:sp>
        <p:nvSpPr>
          <p:cNvPr id="16" name="Shape 12"/>
          <p:cNvSpPr/>
          <p:nvPr/>
        </p:nvSpPr>
        <p:spPr>
          <a:xfrm>
            <a:off x="786384" y="2843784"/>
            <a:ext cx="457200" cy="457200"/>
          </a:xfrm>
          <a:prstGeom prst="ellipse">
            <a:avLst/>
          </a:prstGeom>
          <a:solidFill>
            <a:srgbClr val="F2A93B"/>
          </a:solidFill>
          <a:ln/>
        </p:spPr>
      </p:sp>
      <p:sp>
        <p:nvSpPr>
          <p:cNvPr id="17" name="Text 13"/>
          <p:cNvSpPr txBox="1"/>
          <p:nvPr/>
        </p:nvSpPr>
        <p:spPr>
          <a:xfrm>
            <a:off x="786384" y="2843784"/>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TUE</a:t>
            </a:r>
            <a:endParaRPr lang="en-US" sz="1300" dirty="0"/>
          </a:p>
        </p:txBody>
      </p:sp>
      <p:sp>
        <p:nvSpPr>
          <p:cNvPr id="18" name="Text 14"/>
          <p:cNvSpPr/>
          <p:nvPr/>
        </p:nvSpPr>
        <p:spPr>
          <a:xfrm>
            <a:off x="1463040" y="2798064"/>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Write the -ing form of twenty verbs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Check them against the three rules.</a:t>
            </a:r>
            <a:endParaRPr lang="en-US" sz="1600" dirty="0"/>
          </a:p>
        </p:txBody>
      </p:sp>
      <p:sp>
        <p:nvSpPr>
          <p:cNvPr id="19" name="Shape 15"/>
          <p:cNvSpPr/>
          <p:nvPr/>
        </p:nvSpPr>
        <p:spPr>
          <a:xfrm>
            <a:off x="548640" y="3566160"/>
            <a:ext cx="11094415" cy="694944"/>
          </a:xfrm>
          <a:prstGeom prst="roundRect">
            <a:avLst>
              <a:gd name="adj" fmla="val 18421"/>
            </a:avLst>
          </a:prstGeom>
          <a:solidFill>
            <a:srgbClr val="F6F9F7"/>
          </a:solidFill>
          <a:ln w="12700">
            <a:solidFill>
              <a:srgbClr val="E3E9E5"/>
            </a:solidFill>
            <a:prstDash val="solid"/>
          </a:ln>
        </p:spPr>
      </p:sp>
      <p:sp>
        <p:nvSpPr>
          <p:cNvPr id="20" name="Shape 16"/>
          <p:cNvSpPr/>
          <p:nvPr/>
        </p:nvSpPr>
        <p:spPr>
          <a:xfrm>
            <a:off x="786384" y="3685032"/>
            <a:ext cx="457200" cy="457200"/>
          </a:xfrm>
          <a:prstGeom prst="ellipse">
            <a:avLst/>
          </a:prstGeom>
          <a:solidFill>
            <a:srgbClr val="F2A93B"/>
          </a:solidFill>
          <a:ln/>
        </p:spPr>
      </p:sp>
      <p:sp>
        <p:nvSpPr>
          <p:cNvPr id="21" name="Text 17"/>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WED</a:t>
            </a:r>
            <a:endParaRPr lang="en-US" sz="1300" dirty="0"/>
          </a:p>
        </p:txBody>
      </p:sp>
      <p:sp>
        <p:nvSpPr>
          <p:cNvPr id="22" name="Text 18"/>
          <p:cNvSpPr/>
          <p:nvPr/>
        </p:nvSpPr>
        <p:spPr>
          <a:xfrm>
            <a:off x="1463040" y="3639312"/>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Describe three photographs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Five sentences each, using the four steps.</a:t>
            </a:r>
            <a:endParaRPr lang="en-US" sz="1600" dirty="0"/>
          </a:p>
        </p:txBody>
      </p:sp>
      <p:sp>
        <p:nvSpPr>
          <p:cNvPr id="23" name="Shape 19"/>
          <p:cNvSpPr/>
          <p:nvPr/>
        </p:nvSpPr>
        <p:spPr>
          <a:xfrm>
            <a:off x="548640" y="4407408"/>
            <a:ext cx="11094415" cy="694944"/>
          </a:xfrm>
          <a:prstGeom prst="roundRect">
            <a:avLst>
              <a:gd name="adj" fmla="val 18421"/>
            </a:avLst>
          </a:prstGeom>
          <a:solidFill>
            <a:srgbClr val="F6F9F7"/>
          </a:solidFill>
          <a:ln w="12700">
            <a:solidFill>
              <a:srgbClr val="E3E9E5"/>
            </a:solidFill>
            <a:prstDash val="solid"/>
          </a:ln>
        </p:spPr>
      </p:sp>
      <p:sp>
        <p:nvSpPr>
          <p:cNvPr id="24" name="Shape 20"/>
          <p:cNvSpPr/>
          <p:nvPr/>
        </p:nvSpPr>
        <p:spPr>
          <a:xfrm>
            <a:off x="786384" y="4526280"/>
            <a:ext cx="457200" cy="457200"/>
          </a:xfrm>
          <a:prstGeom prst="ellipse">
            <a:avLst/>
          </a:prstGeom>
          <a:solidFill>
            <a:srgbClr val="F2A93B"/>
          </a:solidFill>
          <a:ln/>
        </p:spPr>
      </p:sp>
      <p:sp>
        <p:nvSpPr>
          <p:cNvPr id="25" name="Text 21"/>
          <p:cNvSpPr txBox="1"/>
          <p:nvPr/>
        </p:nvSpPr>
        <p:spPr>
          <a:xfrm>
            <a:off x="786384" y="4526280"/>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THU</a:t>
            </a:r>
            <a:endParaRPr lang="en-US" sz="1300" dirty="0"/>
          </a:p>
        </p:txBody>
      </p:sp>
      <p:sp>
        <p:nvSpPr>
          <p:cNvPr id="26" name="Text 22"/>
          <p:cNvSpPr/>
          <p:nvPr/>
        </p:nvSpPr>
        <p:spPr>
          <a:xfrm>
            <a:off x="1463040" y="4480560"/>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Say five pairs of sentences</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One with “every day”, one with “right now”, for the same verb.</a:t>
            </a:r>
            <a:endParaRPr lang="en-US" sz="1600" dirty="0"/>
          </a:p>
        </p:txBody>
      </p:sp>
      <p:sp>
        <p:nvSpPr>
          <p:cNvPr id="27" name="Shape 23"/>
          <p:cNvSpPr/>
          <p:nvPr/>
        </p:nvSpPr>
        <p:spPr>
          <a:xfrm>
            <a:off x="548640" y="5248656"/>
            <a:ext cx="11094415" cy="694944"/>
          </a:xfrm>
          <a:prstGeom prst="roundRect">
            <a:avLst>
              <a:gd name="adj" fmla="val 18421"/>
            </a:avLst>
          </a:prstGeom>
          <a:solidFill>
            <a:srgbClr val="F6F9F7"/>
          </a:solidFill>
          <a:ln w="12700">
            <a:solidFill>
              <a:srgbClr val="E3E9E5"/>
            </a:solidFill>
            <a:prstDash val="solid"/>
          </a:ln>
        </p:spPr>
      </p:sp>
      <p:sp>
        <p:nvSpPr>
          <p:cNvPr id="28" name="Shape 24"/>
          <p:cNvSpPr/>
          <p:nvPr/>
        </p:nvSpPr>
        <p:spPr>
          <a:xfrm>
            <a:off x="786384" y="5367528"/>
            <a:ext cx="457200" cy="457200"/>
          </a:xfrm>
          <a:prstGeom prst="ellipse">
            <a:avLst/>
          </a:prstGeom>
          <a:solidFill>
            <a:srgbClr val="F2A93B"/>
          </a:solidFill>
          <a:ln/>
        </p:spPr>
      </p:sp>
      <p:sp>
        <p:nvSpPr>
          <p:cNvPr id="29" name="Text 25"/>
          <p:cNvSpPr txBox="1"/>
          <p:nvPr/>
        </p:nvSpPr>
        <p:spPr>
          <a:xfrm>
            <a:off x="786384" y="5367528"/>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FRI</a:t>
            </a:r>
            <a:endParaRPr lang="en-US" sz="1300" dirty="0"/>
          </a:p>
        </p:txBody>
      </p:sp>
      <p:sp>
        <p:nvSpPr>
          <p:cNvPr id="30" name="Text 26"/>
          <p:cNvSpPr/>
          <p:nvPr/>
        </p:nvSpPr>
        <p:spPr>
          <a:xfrm>
            <a:off x="1463040" y="5321808"/>
            <a:ext cx="9905695" cy="548640"/>
          </a:xfrm>
          <a:prstGeom prst="rect">
            <a:avLst/>
          </a:prstGeom>
          <a:noFill/>
          <a:ln/>
        </p:spPr>
        <p:txBody>
          <a:bodyPr wrap="square" lIns="0" tIns="0" rIns="0" bIns="0" rtlCol="0" anchor="ctr"/>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Ask three people “What are you doing?”</a:t>
            </a:r>
            <a:endParaRPr lang="en-US" sz="1600" dirty="0"/>
          </a:p>
          <a:p>
            <a:pPr indent="0" marL="0">
              <a:lnSpc>
                <a:spcPct val="102000"/>
              </a:lnSpc>
              <a:spcBef>
                <a:spcPts val="240"/>
              </a:spcBef>
              <a:buNone/>
            </a:pPr>
            <a:r>
              <a:rPr lang="en-US" sz="1200" dirty="0">
                <a:solidFill>
                  <a:srgbClr val="3A473F"/>
                </a:solidFill>
                <a:latin typeface="Calibri" pitchFamily="34" charset="0"/>
                <a:ea typeface="Calibri" pitchFamily="34" charset="-122"/>
                <a:cs typeface="Calibri" pitchFamily="34" charset="-120"/>
              </a:rPr>
              <a:t>In English if you can. Family counts.</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3800" b="1" dirty="0">
                <a:solidFill>
                  <a:srgbClr val="12211B"/>
                </a:solidFill>
                <a:latin typeface="Calibri" pitchFamily="34" charset="0"/>
                <a:ea typeface="Calibri" pitchFamily="34" charset="-122"/>
                <a:cs typeface="Calibri" pitchFamily="34" charset="-120"/>
              </a:rPr>
              <a:t>Homework 2 — to hand in</a:t>
            </a:r>
            <a:endParaRPr lang="en-US" sz="38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Bring these to the next lesson.</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72</a:t>
            </a:r>
            <a:endParaRPr lang="en-US" sz="1100" dirty="0"/>
          </a:p>
        </p:txBody>
      </p:sp>
      <p:sp>
        <p:nvSpPr>
          <p:cNvPr id="11" name="Shape 7"/>
          <p:cNvSpPr/>
          <p:nvPr/>
        </p:nvSpPr>
        <p:spPr>
          <a:xfrm>
            <a:off x="548640" y="1883664"/>
            <a:ext cx="11094415" cy="1255776"/>
          </a:xfrm>
          <a:prstGeom prst="roundRect">
            <a:avLst>
              <a:gd name="adj" fmla="val 10194"/>
            </a:avLst>
          </a:prstGeom>
          <a:solidFill>
            <a:srgbClr val="F6F9F7"/>
          </a:solidFill>
          <a:ln w="12700">
            <a:solidFill>
              <a:srgbClr val="E3E9E5"/>
            </a:solidFill>
            <a:prstDash val="solid"/>
          </a:ln>
        </p:spPr>
      </p:sp>
      <p:sp>
        <p:nvSpPr>
          <p:cNvPr id="12" name="Shape 8"/>
          <p:cNvSpPr/>
          <p:nvPr/>
        </p:nvSpPr>
        <p:spPr>
          <a:xfrm>
            <a:off x="786384" y="2282952"/>
            <a:ext cx="457200" cy="457200"/>
          </a:xfrm>
          <a:prstGeom prst="ellipse">
            <a:avLst/>
          </a:prstGeom>
          <a:solidFill>
            <a:srgbClr val="F2A93B"/>
          </a:solidFill>
          <a:ln/>
        </p:spPr>
      </p:sp>
      <p:sp>
        <p:nvSpPr>
          <p:cNvPr id="13" name="Text 9"/>
          <p:cNvSpPr txBox="1"/>
          <p:nvPr/>
        </p:nvSpPr>
        <p:spPr>
          <a:xfrm>
            <a:off x="786384" y="228295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1</a:t>
            </a:r>
            <a:endParaRPr lang="en-US" sz="1300" dirty="0"/>
          </a:p>
        </p:txBody>
      </p:sp>
      <p:sp>
        <p:nvSpPr>
          <p:cNvPr id="14" name="Text 10"/>
          <p:cNvSpPr/>
          <p:nvPr/>
        </p:nvSpPr>
        <p:spPr>
          <a:xfrm>
            <a:off x="1463040" y="195681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Write the -ing form of thirty verbs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Ten from each spelling rule. Underline the letters that changed.</a:t>
            </a:r>
            <a:endParaRPr lang="en-US" sz="2000" dirty="0"/>
          </a:p>
        </p:txBody>
      </p:sp>
      <p:sp>
        <p:nvSpPr>
          <p:cNvPr id="15" name="Shape 11"/>
          <p:cNvSpPr/>
          <p:nvPr/>
        </p:nvSpPr>
        <p:spPr>
          <a:xfrm>
            <a:off x="548640" y="3285744"/>
            <a:ext cx="11094415" cy="1255776"/>
          </a:xfrm>
          <a:prstGeom prst="roundRect">
            <a:avLst>
              <a:gd name="adj" fmla="val 10194"/>
            </a:avLst>
          </a:prstGeom>
          <a:solidFill>
            <a:srgbClr val="F6F9F7"/>
          </a:solidFill>
          <a:ln w="12700">
            <a:solidFill>
              <a:srgbClr val="E3E9E5"/>
            </a:solidFill>
            <a:prstDash val="solid"/>
          </a:ln>
        </p:spPr>
      </p:sp>
      <p:sp>
        <p:nvSpPr>
          <p:cNvPr id="16" name="Shape 12"/>
          <p:cNvSpPr/>
          <p:nvPr/>
        </p:nvSpPr>
        <p:spPr>
          <a:xfrm>
            <a:off x="786384" y="3685032"/>
            <a:ext cx="457200" cy="457200"/>
          </a:xfrm>
          <a:prstGeom prst="ellipse">
            <a:avLst/>
          </a:prstGeom>
          <a:solidFill>
            <a:srgbClr val="F2A93B"/>
          </a:solidFill>
          <a:ln/>
        </p:spPr>
      </p:sp>
      <p:sp>
        <p:nvSpPr>
          <p:cNvPr id="17" name="Text 13"/>
          <p:cNvSpPr txBox="1"/>
          <p:nvPr/>
        </p:nvSpPr>
        <p:spPr>
          <a:xfrm>
            <a:off x="786384" y="368503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2</a:t>
            </a:r>
            <a:endParaRPr lang="en-US" sz="1300" dirty="0"/>
          </a:p>
        </p:txBody>
      </p:sp>
      <p:sp>
        <p:nvSpPr>
          <p:cNvPr id="18" name="Text 14"/>
          <p:cNvSpPr/>
          <p:nvPr/>
        </p:nvSpPr>
        <p:spPr>
          <a:xfrm>
            <a:off x="1463040" y="335889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Describe a photograph in eight sentences</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Use the frame from slide 47. Check all four points.</a:t>
            </a:r>
            <a:endParaRPr lang="en-US" sz="2000" dirty="0"/>
          </a:p>
        </p:txBody>
      </p:sp>
      <p:sp>
        <p:nvSpPr>
          <p:cNvPr id="19" name="Shape 15"/>
          <p:cNvSpPr/>
          <p:nvPr/>
        </p:nvSpPr>
        <p:spPr>
          <a:xfrm>
            <a:off x="548640" y="4687824"/>
            <a:ext cx="11094415" cy="1255776"/>
          </a:xfrm>
          <a:prstGeom prst="roundRect">
            <a:avLst>
              <a:gd name="adj" fmla="val 10194"/>
            </a:avLst>
          </a:prstGeom>
          <a:solidFill>
            <a:srgbClr val="F6F9F7"/>
          </a:solidFill>
          <a:ln w="12700">
            <a:solidFill>
              <a:srgbClr val="E3E9E5"/>
            </a:solidFill>
            <a:prstDash val="solid"/>
          </a:ln>
        </p:spPr>
      </p:sp>
      <p:sp>
        <p:nvSpPr>
          <p:cNvPr id="20" name="Shape 16"/>
          <p:cNvSpPr/>
          <p:nvPr/>
        </p:nvSpPr>
        <p:spPr>
          <a:xfrm>
            <a:off x="786384" y="5087112"/>
            <a:ext cx="457200" cy="457200"/>
          </a:xfrm>
          <a:prstGeom prst="ellipse">
            <a:avLst/>
          </a:prstGeom>
          <a:solidFill>
            <a:srgbClr val="F2A93B"/>
          </a:solidFill>
          <a:ln/>
        </p:spPr>
      </p:sp>
      <p:sp>
        <p:nvSpPr>
          <p:cNvPr id="21" name="Text 17"/>
          <p:cNvSpPr txBox="1"/>
          <p:nvPr/>
        </p:nvSpPr>
        <p:spPr>
          <a:xfrm>
            <a:off x="786384" y="5087112"/>
            <a:ext cx="457200" cy="457200"/>
          </a:xfrm>
          <a:prstGeom prst="rect">
            <a:avLst/>
          </a:prstGeom>
          <a:noFill/>
          <a:ln/>
        </p:spPr>
        <p:txBody>
          <a:bodyPr wrap="square" lIns="0" tIns="0" rIns="0" bIns="0" rtlCol="0" anchor="ctr"/>
          <a:lstStyle/>
          <a:p>
            <a:pPr algn="ctr" indent="0" marL="0">
              <a:buNone/>
            </a:pPr>
            <a:r>
              <a:rPr lang="en-US" sz="1300" b="1" dirty="0">
                <a:solidFill>
                  <a:srgbClr val="0B231C"/>
                </a:solidFill>
                <a:latin typeface="Calibri" pitchFamily="34" charset="0"/>
                <a:ea typeface="Calibri" pitchFamily="34" charset="-122"/>
                <a:cs typeface="Calibri" pitchFamily="34" charset="-120"/>
              </a:rPr>
              <a:t>3</a:t>
            </a:r>
            <a:endParaRPr lang="en-US" sz="1300" dirty="0"/>
          </a:p>
        </p:txBody>
      </p:sp>
      <p:sp>
        <p:nvSpPr>
          <p:cNvPr id="22" name="Text 18"/>
          <p:cNvSpPr/>
          <p:nvPr/>
        </p:nvSpPr>
        <p:spPr>
          <a:xfrm>
            <a:off x="1463040" y="4760976"/>
            <a:ext cx="9905695" cy="1109472"/>
          </a:xfrm>
          <a:prstGeom prst="rect">
            <a:avLst/>
          </a:prstGeom>
          <a:noFill/>
          <a:ln/>
        </p:spPr>
        <p:txBody>
          <a:bodyPr wrap="square" lIns="0" tIns="0" rIns="0" bIns="0" rtlCol="0" anchor="ctr"/>
          <a:lstStyle/>
          <a:p>
            <a:pPr indent="0" marL="0">
              <a:lnSpc>
                <a:spcPct val="102000"/>
              </a:lnSpc>
              <a:buNone/>
            </a:pPr>
            <a:r>
              <a:rPr lang="en-US" sz="2000" b="1" dirty="0">
                <a:solidFill>
                  <a:srgbClr val="12211B"/>
                </a:solidFill>
                <a:latin typeface="Calibri" pitchFamily="34" charset="0"/>
                <a:ea typeface="Calibri" pitchFamily="34" charset="-122"/>
                <a:cs typeface="Calibri" pitchFamily="34" charset="-120"/>
              </a:rPr>
              <a:t>Record your 90-second speaking challenge</a:t>
            </a:r>
            <a:endParaRPr lang="en-US" sz="2000" dirty="0"/>
          </a:p>
          <a:p>
            <a:pPr indent="0" marL="0">
              <a:lnSpc>
                <a:spcPct val="102000"/>
              </a:lnSpc>
              <a:spcBef>
                <a:spcPts val="300"/>
              </a:spcBef>
              <a:buNone/>
            </a:pPr>
            <a:r>
              <a:rPr lang="en-US" sz="1500" dirty="0">
                <a:solidFill>
                  <a:srgbClr val="3A473F"/>
                </a:solidFill>
                <a:latin typeface="Calibri" pitchFamily="34" charset="0"/>
                <a:ea typeface="Calibri" pitchFamily="34" charset="-122"/>
                <a:cs typeface="Calibri" pitchFamily="34" charset="-120"/>
              </a:rPr>
              <a:t>What you are doing · three other people · a picture in five sentences · two negatives · one sentence with both tenses.</a:t>
            </a:r>
            <a:endParaRPr lang="en-US" sz="2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F2A93B"/>
          </a:solidFill>
          <a:ln/>
        </p:spPr>
      </p:sp>
      <p:sp>
        <p:nvSpPr>
          <p:cNvPr id="3" name="Shape 1"/>
          <p:cNvSpPr/>
          <p:nvPr/>
        </p:nvSpPr>
        <p:spPr>
          <a:xfrm>
            <a:off x="649224" y="539496"/>
            <a:ext cx="219456" cy="219456"/>
          </a:xfrm>
          <a:prstGeom prst="ellipse">
            <a:avLst/>
          </a:prstGeom>
          <a:solidFill>
            <a:srgbClr val="F2A93B"/>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How your homework will be marked</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You know the standard before you start.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73</a:t>
            </a:r>
            <a:endParaRPr lang="en-US" sz="1100" dirty="0"/>
          </a:p>
        </p:txBody>
      </p:sp>
      <p:sp>
        <p:nvSpPr>
          <p:cNvPr id="11" name="Shape 7"/>
          <p:cNvSpPr/>
          <p:nvPr/>
        </p:nvSpPr>
        <p:spPr>
          <a:xfrm>
            <a:off x="548640" y="1883664"/>
            <a:ext cx="5446624" cy="1929384"/>
          </a:xfrm>
          <a:prstGeom prst="roundRect">
            <a:avLst>
              <a:gd name="adj" fmla="val 6635"/>
            </a:avLst>
          </a:prstGeom>
          <a:solidFill>
            <a:srgbClr val="FDF3E7"/>
          </a:solidFill>
          <a:ln w="12700">
            <a:solidFill>
              <a:srgbClr val="EFDCB2"/>
            </a:solidFill>
            <a:prstDash val="solid"/>
          </a:ln>
        </p:spPr>
      </p:sp>
      <p:sp>
        <p:nvSpPr>
          <p:cNvPr id="12" name="Shape 8"/>
          <p:cNvSpPr/>
          <p:nvPr/>
        </p:nvSpPr>
        <p:spPr>
          <a:xfrm>
            <a:off x="768096" y="2103120"/>
            <a:ext cx="457200" cy="457200"/>
          </a:xfrm>
          <a:prstGeom prst="ellipse">
            <a:avLst/>
          </a:prstGeom>
          <a:solidFill>
            <a:srgbClr val="F2A93B"/>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5007712" cy="923544"/>
          </a:xfrm>
          <a:prstGeom prst="rect">
            <a:avLst/>
          </a:prstGeom>
          <a:noFill/>
          <a:ln/>
        </p:spPr>
        <p:txBody>
          <a:bodyPr wrap="square" lIns="0" tIns="0" rIns="0" bIns="0" rtlCol="0" anchor="t"/>
          <a:lstStyle/>
          <a:p>
            <a:pPr indent="0" marL="0">
              <a:lnSpc>
                <a:spcPct val="102000"/>
              </a:lnSpc>
              <a:buNone/>
            </a:pPr>
            <a:r>
              <a:rPr lang="en-US" sz="1900" b="1" dirty="0">
                <a:solidFill>
                  <a:srgbClr val="12211B"/>
                </a:solidFill>
                <a:latin typeface="Calibri" pitchFamily="34" charset="0"/>
                <a:ea typeface="Calibri" pitchFamily="34" charset="-122"/>
                <a:cs typeface="Calibri" pitchFamily="34" charset="-120"/>
              </a:rPr>
              <a:t>Thirty -ing forms — 5 marks</a:t>
            </a:r>
            <a:endParaRPr lang="en-US" sz="1900" dirty="0"/>
          </a:p>
          <a:p>
            <a:pPr indent="0" marL="0">
              <a:lnSpc>
                <a:spcPct val="102000"/>
              </a:lnSpc>
              <a:spcBef>
                <a:spcPts val="380"/>
              </a:spcBef>
              <a:buNone/>
            </a:pPr>
            <a:r>
              <a:rPr lang="en-US" sz="1520" dirty="0">
                <a:solidFill>
                  <a:srgbClr val="3A473F"/>
                </a:solidFill>
                <a:latin typeface="Calibri" pitchFamily="34" charset="0"/>
                <a:ea typeface="Calibri" pitchFamily="34" charset="-122"/>
                <a:cs typeface="Calibri" pitchFamily="34" charset="-120"/>
              </a:rPr>
              <a:t>Ten per rule (3) · spelling correct (2).</a:t>
            </a:r>
            <a:endParaRPr lang="en-US" sz="1900" dirty="0"/>
          </a:p>
        </p:txBody>
      </p:sp>
      <p:sp>
        <p:nvSpPr>
          <p:cNvPr id="15" name="Shape 10"/>
          <p:cNvSpPr/>
          <p:nvPr/>
        </p:nvSpPr>
        <p:spPr>
          <a:xfrm>
            <a:off x="6196432" y="1883664"/>
            <a:ext cx="5446624" cy="1929384"/>
          </a:xfrm>
          <a:prstGeom prst="roundRect">
            <a:avLst>
              <a:gd name="adj" fmla="val 6635"/>
            </a:avLst>
          </a:prstGeom>
          <a:solidFill>
            <a:srgbClr val="FDF3E7"/>
          </a:solidFill>
          <a:ln w="12700">
            <a:solidFill>
              <a:srgbClr val="EFDCB2"/>
            </a:solidFill>
            <a:prstDash val="solid"/>
          </a:ln>
        </p:spPr>
      </p:sp>
      <p:sp>
        <p:nvSpPr>
          <p:cNvPr id="16" name="Shape 11"/>
          <p:cNvSpPr/>
          <p:nvPr/>
        </p:nvSpPr>
        <p:spPr>
          <a:xfrm>
            <a:off x="6415888" y="2103120"/>
            <a:ext cx="457200" cy="457200"/>
          </a:xfrm>
          <a:prstGeom prst="ellipse">
            <a:avLst/>
          </a:prstGeom>
          <a:solidFill>
            <a:srgbClr val="F2A93B"/>
          </a:solidFill>
          <a:ln/>
        </p:spPr>
      </p:sp>
      <p:pic>
        <p:nvPicPr>
          <p:cNvPr id="17" name="Image 2" descr="preencoded.png">    </p:cNvPr>
          <p:cNvPicPr>
            <a:picLocks noChangeAspect="1"/>
          </p:cNvPicPr>
          <p:nvPr/>
        </p:nvPicPr>
        <p:blipFill>
          <a:blip r:embed="rId3"/>
          <a:stretch>
            <a:fillRect/>
          </a:stretch>
        </p:blipFill>
        <p:spPr>
          <a:xfrm>
            <a:off x="6530188" y="2217420"/>
            <a:ext cx="228600" cy="228600"/>
          </a:xfrm>
          <a:prstGeom prst="rect">
            <a:avLst/>
          </a:prstGeom>
        </p:spPr>
      </p:pic>
      <p:sp>
        <p:nvSpPr>
          <p:cNvPr id="18" name="Text 12"/>
          <p:cNvSpPr/>
          <p:nvPr/>
        </p:nvSpPr>
        <p:spPr>
          <a:xfrm>
            <a:off x="6415888" y="2706624"/>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Picture description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Eight sentences (2) · am/is/are in every action sentence (3) · -ing on every verb (3) · all four steps covered (2).</a:t>
            </a:r>
            <a:endParaRPr lang="en-US" sz="1500" dirty="0"/>
          </a:p>
        </p:txBody>
      </p:sp>
      <p:sp>
        <p:nvSpPr>
          <p:cNvPr id="19" name="Shape 13"/>
          <p:cNvSpPr/>
          <p:nvPr/>
        </p:nvSpPr>
        <p:spPr>
          <a:xfrm>
            <a:off x="548640" y="4014216"/>
            <a:ext cx="5446624" cy="1929384"/>
          </a:xfrm>
          <a:prstGeom prst="roundRect">
            <a:avLst>
              <a:gd name="adj" fmla="val 6635"/>
            </a:avLst>
          </a:prstGeom>
          <a:solidFill>
            <a:srgbClr val="FDF3E7"/>
          </a:solidFill>
          <a:ln w="12700">
            <a:solidFill>
              <a:srgbClr val="EFDCB2"/>
            </a:solidFill>
            <a:prstDash val="solid"/>
          </a:ln>
        </p:spPr>
      </p:sp>
      <p:sp>
        <p:nvSpPr>
          <p:cNvPr id="20" name="Shape 14"/>
          <p:cNvSpPr/>
          <p:nvPr/>
        </p:nvSpPr>
        <p:spPr>
          <a:xfrm>
            <a:off x="768096" y="4233672"/>
            <a:ext cx="457200" cy="457200"/>
          </a:xfrm>
          <a:prstGeom prst="ellipse">
            <a:avLst/>
          </a:prstGeom>
          <a:solidFill>
            <a:srgbClr val="F2A93B"/>
          </a:solidFill>
          <a:ln/>
        </p:spPr>
      </p:sp>
      <p:pic>
        <p:nvPicPr>
          <p:cNvPr id="21" name="Image 3" descr="preencoded.png">    </p:cNvPr>
          <p:cNvPicPr>
            <a:picLocks noChangeAspect="1"/>
          </p:cNvPicPr>
          <p:nvPr/>
        </p:nvPicPr>
        <p:blipFill>
          <a:blip r:embed="rId4"/>
          <a:stretch>
            <a:fillRect/>
          </a:stretch>
        </p:blipFill>
        <p:spPr>
          <a:xfrm>
            <a:off x="882396" y="4347972"/>
            <a:ext cx="228600" cy="228600"/>
          </a:xfrm>
          <a:prstGeom prst="rect">
            <a:avLst/>
          </a:prstGeom>
        </p:spPr>
      </p:pic>
      <p:sp>
        <p:nvSpPr>
          <p:cNvPr id="22" name="Text 15"/>
          <p:cNvSpPr/>
          <p:nvPr/>
        </p:nvSpPr>
        <p:spPr>
          <a:xfrm>
            <a:off x="768096"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Recording — 10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All five parts (3) · both parts of the verb throughout (4) · correct tense in the final sentence (3).</a:t>
            </a:r>
            <a:endParaRPr lang="en-US" sz="1500" dirty="0"/>
          </a:p>
        </p:txBody>
      </p:sp>
      <p:sp>
        <p:nvSpPr>
          <p:cNvPr id="23" name="Shape 16"/>
          <p:cNvSpPr/>
          <p:nvPr/>
        </p:nvSpPr>
        <p:spPr>
          <a:xfrm>
            <a:off x="6196432" y="4014216"/>
            <a:ext cx="5446624" cy="1929384"/>
          </a:xfrm>
          <a:prstGeom prst="roundRect">
            <a:avLst>
              <a:gd name="adj" fmla="val 6635"/>
            </a:avLst>
          </a:prstGeom>
          <a:solidFill>
            <a:srgbClr val="FDF3E7"/>
          </a:solidFill>
          <a:ln w="12700">
            <a:solidFill>
              <a:srgbClr val="EFDCB2"/>
            </a:solidFill>
            <a:prstDash val="solid"/>
          </a:ln>
        </p:spPr>
      </p:sp>
      <p:sp>
        <p:nvSpPr>
          <p:cNvPr id="24" name="Shape 17"/>
          <p:cNvSpPr/>
          <p:nvPr/>
        </p:nvSpPr>
        <p:spPr>
          <a:xfrm>
            <a:off x="6415888" y="4233672"/>
            <a:ext cx="457200" cy="457200"/>
          </a:xfrm>
          <a:prstGeom prst="ellipse">
            <a:avLst/>
          </a:prstGeom>
          <a:solidFill>
            <a:srgbClr val="F2A93B"/>
          </a:solidFill>
          <a:ln/>
        </p:spPr>
      </p:sp>
      <p:pic>
        <p:nvPicPr>
          <p:cNvPr id="25" name="Image 4" descr="preencoded.png">    </p:cNvPr>
          <p:cNvPicPr>
            <a:picLocks noChangeAspect="1"/>
          </p:cNvPicPr>
          <p:nvPr/>
        </p:nvPicPr>
        <p:blipFill>
          <a:blip r:embed="rId5"/>
          <a:stretch>
            <a:fillRect/>
          </a:stretch>
        </p:blipFill>
        <p:spPr>
          <a:xfrm>
            <a:off x="6530188" y="4347972"/>
            <a:ext cx="228600" cy="228600"/>
          </a:xfrm>
          <a:prstGeom prst="rect">
            <a:avLst/>
          </a:prstGeom>
        </p:spPr>
      </p:pic>
      <p:sp>
        <p:nvSpPr>
          <p:cNvPr id="26" name="Text 18"/>
          <p:cNvSpPr/>
          <p:nvPr/>
        </p:nvSpPr>
        <p:spPr>
          <a:xfrm>
            <a:off x="6415888" y="4837176"/>
            <a:ext cx="5007712" cy="923544"/>
          </a:xfrm>
          <a:prstGeom prst="rect">
            <a:avLst/>
          </a:prstGeom>
          <a:noFill/>
          <a:ln/>
        </p:spPr>
        <p:txBody>
          <a:bodyPr wrap="square" lIns="0" tIns="0" rIns="0" bIns="0" rtlCol="0" anchor="t"/>
          <a:lstStyle/>
          <a:p>
            <a:pPr indent="0" marL="0">
              <a:lnSpc>
                <a:spcPct val="102000"/>
              </a:lnSpc>
              <a:buNone/>
            </a:pPr>
            <a:r>
              <a:rPr lang="en-US" sz="1500" b="1" dirty="0">
                <a:solidFill>
                  <a:srgbClr val="12211B"/>
                </a:solidFill>
                <a:latin typeface="Calibri" pitchFamily="34" charset="0"/>
                <a:ea typeface="Calibri" pitchFamily="34" charset="-122"/>
                <a:cs typeface="Calibri" pitchFamily="34" charset="-120"/>
              </a:rPr>
              <a:t>Total — 25 marks</a:t>
            </a:r>
            <a:endParaRPr lang="en-US" sz="1500" dirty="0"/>
          </a:p>
          <a:p>
            <a:pPr indent="0" marL="0">
              <a:lnSpc>
                <a:spcPct val="102000"/>
              </a:lnSpc>
              <a:spcBef>
                <a:spcPts val="300"/>
              </a:spcBef>
              <a:buNone/>
            </a:pPr>
            <a:r>
              <a:rPr lang="en-US" sz="1200" dirty="0">
                <a:solidFill>
                  <a:srgbClr val="3A473F"/>
                </a:solidFill>
                <a:latin typeface="Calibri" pitchFamily="34" charset="0"/>
                <a:ea typeface="Calibri" pitchFamily="34" charset="-122"/>
                <a:cs typeface="Calibri" pitchFamily="34" charset="-120"/>
              </a:rPr>
              <a:t>20+ excellent · 15–19 good · 10–14 keep practising · below 10 → repeat Exercises A–F with your teacher.</a:t>
            </a:r>
            <a:endParaRPr lang="en-US" sz="15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What you learned in this module</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Six things. Check each one — can you do it?</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74</a:t>
            </a:r>
            <a:endParaRPr lang="en-US" sz="1100" dirty="0"/>
          </a:p>
        </p:txBody>
      </p:sp>
      <p:sp>
        <p:nvSpPr>
          <p:cNvPr id="11" name="Shape 7"/>
          <p:cNvSpPr/>
          <p:nvPr/>
        </p:nvSpPr>
        <p:spPr>
          <a:xfrm>
            <a:off x="548640" y="1883664"/>
            <a:ext cx="3564026" cy="1929384"/>
          </a:xfrm>
          <a:prstGeom prst="roundRect">
            <a:avLst>
              <a:gd name="adj" fmla="val 6635"/>
            </a:avLst>
          </a:prstGeom>
          <a:solidFill>
            <a:srgbClr val="F6F9F7"/>
          </a:solidFill>
          <a:ln w="12700">
            <a:solidFill>
              <a:srgbClr val="E3E9E5"/>
            </a:solidFill>
            <a:prstDash val="solid"/>
          </a:ln>
        </p:spPr>
      </p:sp>
      <p:sp>
        <p:nvSpPr>
          <p:cNvPr id="12" name="Shape 8"/>
          <p:cNvSpPr/>
          <p:nvPr/>
        </p:nvSpPr>
        <p:spPr>
          <a:xfrm>
            <a:off x="768096" y="2103120"/>
            <a:ext cx="457200" cy="457200"/>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82396" y="2217420"/>
            <a:ext cx="228600" cy="228600"/>
          </a:xfrm>
          <a:prstGeom prst="rect">
            <a:avLst/>
          </a:prstGeom>
        </p:spPr>
      </p:pic>
      <p:sp>
        <p:nvSpPr>
          <p:cNvPr id="14" name="Text 9"/>
          <p:cNvSpPr/>
          <p:nvPr/>
        </p:nvSpPr>
        <p:spPr>
          <a:xfrm>
            <a:off x="768096" y="2706624"/>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The present continuous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For what is happening now, or temporarily around now.</a:t>
            </a:r>
            <a:endParaRPr lang="en-US" sz="1750" dirty="0"/>
          </a:p>
        </p:txBody>
      </p:sp>
      <p:sp>
        <p:nvSpPr>
          <p:cNvPr id="15" name="Shape 10"/>
          <p:cNvSpPr/>
          <p:nvPr/>
        </p:nvSpPr>
        <p:spPr>
          <a:xfrm>
            <a:off x="4313834" y="1883664"/>
            <a:ext cx="3564026" cy="1929384"/>
          </a:xfrm>
          <a:prstGeom prst="roundRect">
            <a:avLst>
              <a:gd name="adj" fmla="val 6635"/>
            </a:avLst>
          </a:prstGeom>
          <a:solidFill>
            <a:srgbClr val="F6F9F7"/>
          </a:solidFill>
          <a:ln w="12700">
            <a:solidFill>
              <a:srgbClr val="E3E9E5"/>
            </a:solidFill>
            <a:prstDash val="solid"/>
          </a:ln>
        </p:spPr>
      </p:sp>
      <p:sp>
        <p:nvSpPr>
          <p:cNvPr id="16" name="Shape 11"/>
          <p:cNvSpPr/>
          <p:nvPr/>
        </p:nvSpPr>
        <p:spPr>
          <a:xfrm>
            <a:off x="4533290" y="2103120"/>
            <a:ext cx="457200" cy="457200"/>
          </a:xfrm>
          <a:prstGeom prst="ellipse">
            <a:avLst/>
          </a:prstGeom>
          <a:solidFill>
            <a:srgbClr val="0E7C5A"/>
          </a:solidFill>
          <a:ln/>
        </p:spPr>
      </p:sp>
      <p:pic>
        <p:nvPicPr>
          <p:cNvPr id="17" name="Image 2" descr="preencoded.png">    </p:cNvPr>
          <p:cNvPicPr>
            <a:picLocks noChangeAspect="1"/>
          </p:cNvPicPr>
          <p:nvPr/>
        </p:nvPicPr>
        <p:blipFill>
          <a:blip r:embed="rId3"/>
          <a:stretch>
            <a:fillRect/>
          </a:stretch>
        </p:blipFill>
        <p:spPr>
          <a:xfrm>
            <a:off x="4647590" y="2217420"/>
            <a:ext cx="228600" cy="228600"/>
          </a:xfrm>
          <a:prstGeom prst="rect">
            <a:avLst/>
          </a:prstGeom>
        </p:spPr>
      </p:pic>
      <p:sp>
        <p:nvSpPr>
          <p:cNvPr id="18" name="Text 12"/>
          <p:cNvSpPr/>
          <p:nvPr/>
        </p:nvSpPr>
        <p:spPr>
          <a:xfrm>
            <a:off x="4533290" y="2706624"/>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The two-part form</a:t>
            </a:r>
            <a:endParaRPr lang="en-US" sz="1650" dirty="0"/>
          </a:p>
          <a:p>
            <a:pPr indent="0" marL="0">
              <a:lnSpc>
                <a:spcPct val="102000"/>
              </a:lnSpc>
              <a:spcBef>
                <a:spcPts val="330"/>
              </a:spcBef>
              <a:buNone/>
            </a:pPr>
            <a:r>
              <a:rPr lang="en-US" sz="1240" dirty="0">
                <a:solidFill>
                  <a:srgbClr val="3A473F"/>
                </a:solidFill>
                <a:latin typeface="Calibri" pitchFamily="34" charset="0"/>
                <a:ea typeface="Calibri" pitchFamily="34" charset="-122"/>
                <a:cs typeface="Calibri" pitchFamily="34" charset="-120"/>
              </a:rPr>
              <a:t>am / is / are  +  verb + ing. Neither part can be missing.</a:t>
            </a:r>
            <a:endParaRPr lang="en-US" sz="1650" dirty="0"/>
          </a:p>
        </p:txBody>
      </p:sp>
      <p:sp>
        <p:nvSpPr>
          <p:cNvPr id="19" name="Shape 13"/>
          <p:cNvSpPr/>
          <p:nvPr/>
        </p:nvSpPr>
        <p:spPr>
          <a:xfrm>
            <a:off x="8079029" y="1883664"/>
            <a:ext cx="3564026" cy="1929384"/>
          </a:xfrm>
          <a:prstGeom prst="roundRect">
            <a:avLst>
              <a:gd name="adj" fmla="val 6635"/>
            </a:avLst>
          </a:prstGeom>
          <a:solidFill>
            <a:srgbClr val="F6F9F7"/>
          </a:solidFill>
          <a:ln w="12700">
            <a:solidFill>
              <a:srgbClr val="E3E9E5"/>
            </a:solidFill>
            <a:prstDash val="solid"/>
          </a:ln>
        </p:spPr>
      </p:sp>
      <p:sp>
        <p:nvSpPr>
          <p:cNvPr id="20" name="Shape 14"/>
          <p:cNvSpPr/>
          <p:nvPr/>
        </p:nvSpPr>
        <p:spPr>
          <a:xfrm>
            <a:off x="8298485" y="2103120"/>
            <a:ext cx="457200" cy="457200"/>
          </a:xfrm>
          <a:prstGeom prst="ellipse">
            <a:avLst/>
          </a:prstGeom>
          <a:solidFill>
            <a:srgbClr val="0E7C5A"/>
          </a:solidFill>
          <a:ln/>
        </p:spPr>
      </p:sp>
      <p:pic>
        <p:nvPicPr>
          <p:cNvPr id="21" name="Image 3" descr="preencoded.png">    </p:cNvPr>
          <p:cNvPicPr>
            <a:picLocks noChangeAspect="1"/>
          </p:cNvPicPr>
          <p:nvPr/>
        </p:nvPicPr>
        <p:blipFill>
          <a:blip r:embed="rId4"/>
          <a:stretch>
            <a:fillRect/>
          </a:stretch>
        </p:blipFill>
        <p:spPr>
          <a:xfrm>
            <a:off x="8412785" y="2217420"/>
            <a:ext cx="228600" cy="228600"/>
          </a:xfrm>
          <a:prstGeom prst="rect">
            <a:avLst/>
          </a:prstGeom>
        </p:spPr>
      </p:pic>
      <p:sp>
        <p:nvSpPr>
          <p:cNvPr id="22" name="Text 15"/>
          <p:cNvSpPr/>
          <p:nvPr/>
        </p:nvSpPr>
        <p:spPr>
          <a:xfrm>
            <a:off x="8298485" y="2706624"/>
            <a:ext cx="3125114" cy="923544"/>
          </a:xfrm>
          <a:prstGeom prst="rect">
            <a:avLst/>
          </a:prstGeom>
          <a:noFill/>
          <a:ln/>
        </p:spPr>
        <p:txBody>
          <a:bodyPr wrap="square" lIns="0" tIns="0" rIns="0" bIns="0" rtlCol="0" anchor="t"/>
          <a:lstStyle/>
          <a:p>
            <a:pPr indent="0" marL="0">
              <a:lnSpc>
                <a:spcPct val="102000"/>
              </a:lnSpc>
              <a:buNone/>
            </a:pPr>
            <a:r>
              <a:rPr lang="en-US" sz="1650" b="1" dirty="0">
                <a:solidFill>
                  <a:srgbClr val="12211B"/>
                </a:solidFill>
                <a:latin typeface="Calibri" pitchFamily="34" charset="0"/>
                <a:ea typeface="Calibri" pitchFamily="34" charset="-122"/>
                <a:cs typeface="Calibri" pitchFamily="34" charset="-120"/>
              </a:rPr>
              <a:t>The spelling rules</a:t>
            </a:r>
            <a:endParaRPr lang="en-US" sz="1650" dirty="0"/>
          </a:p>
          <a:p>
            <a:pPr indent="0" marL="0">
              <a:lnSpc>
                <a:spcPct val="102000"/>
              </a:lnSpc>
              <a:spcBef>
                <a:spcPts val="330"/>
              </a:spcBef>
              <a:buNone/>
            </a:pPr>
            <a:r>
              <a:rPr lang="en-US" sz="1240" dirty="0">
                <a:solidFill>
                  <a:srgbClr val="3A473F"/>
                </a:solidFill>
                <a:latin typeface="Calibri" pitchFamily="34" charset="0"/>
                <a:ea typeface="Calibri" pitchFamily="34" charset="-122"/>
                <a:cs typeface="Calibri" pitchFamily="34" charset="-120"/>
              </a:rPr>
              <a:t>add -ing · drop the e · double the consonant · keep the y.</a:t>
            </a:r>
            <a:endParaRPr lang="en-US" sz="1650" dirty="0"/>
          </a:p>
        </p:txBody>
      </p:sp>
      <p:sp>
        <p:nvSpPr>
          <p:cNvPr id="23" name="Shape 16"/>
          <p:cNvSpPr/>
          <p:nvPr/>
        </p:nvSpPr>
        <p:spPr>
          <a:xfrm>
            <a:off x="548640" y="4014216"/>
            <a:ext cx="3564026" cy="1929384"/>
          </a:xfrm>
          <a:prstGeom prst="roundRect">
            <a:avLst>
              <a:gd name="adj" fmla="val 6635"/>
            </a:avLst>
          </a:prstGeom>
          <a:solidFill>
            <a:srgbClr val="F6F9F7"/>
          </a:solidFill>
          <a:ln w="12700">
            <a:solidFill>
              <a:srgbClr val="E3E9E5"/>
            </a:solidFill>
            <a:prstDash val="solid"/>
          </a:ln>
        </p:spPr>
      </p:sp>
      <p:sp>
        <p:nvSpPr>
          <p:cNvPr id="24" name="Shape 17"/>
          <p:cNvSpPr/>
          <p:nvPr/>
        </p:nvSpPr>
        <p:spPr>
          <a:xfrm>
            <a:off x="768096" y="4233672"/>
            <a:ext cx="457200" cy="457200"/>
          </a:xfrm>
          <a:prstGeom prst="ellipse">
            <a:avLst/>
          </a:prstGeom>
          <a:solidFill>
            <a:srgbClr val="0E7C5A"/>
          </a:solidFill>
          <a:ln/>
        </p:spPr>
      </p:sp>
      <p:pic>
        <p:nvPicPr>
          <p:cNvPr id="25" name="Image 4" descr="preencoded.png">    </p:cNvPr>
          <p:cNvPicPr>
            <a:picLocks noChangeAspect="1"/>
          </p:cNvPicPr>
          <p:nvPr/>
        </p:nvPicPr>
        <p:blipFill>
          <a:blip r:embed="rId5"/>
          <a:stretch>
            <a:fillRect/>
          </a:stretch>
        </p:blipFill>
        <p:spPr>
          <a:xfrm>
            <a:off x="882396" y="4347972"/>
            <a:ext cx="228600" cy="228600"/>
          </a:xfrm>
          <a:prstGeom prst="rect">
            <a:avLst/>
          </a:prstGeom>
        </p:spPr>
      </p:pic>
      <p:sp>
        <p:nvSpPr>
          <p:cNvPr id="26" name="Text 18"/>
          <p:cNvSpPr/>
          <p:nvPr/>
        </p:nvSpPr>
        <p:spPr>
          <a:xfrm>
            <a:off x="768096" y="4837176"/>
            <a:ext cx="3125114" cy="923544"/>
          </a:xfrm>
          <a:prstGeom prst="rect">
            <a:avLst/>
          </a:prstGeom>
          <a:noFill/>
          <a:ln/>
        </p:spPr>
        <p:txBody>
          <a:bodyPr wrap="square" lIns="0" tIns="0" rIns="0" bIns="0" rtlCol="0" anchor="t"/>
          <a:lstStyle/>
          <a:p>
            <a:pPr indent="0" marL="0">
              <a:lnSpc>
                <a:spcPct val="102000"/>
              </a:lnSpc>
              <a:buNone/>
            </a:pPr>
            <a:r>
              <a:rPr lang="en-US" sz="1750" b="1" dirty="0">
                <a:solidFill>
                  <a:srgbClr val="12211B"/>
                </a:solidFill>
                <a:latin typeface="Calibri" pitchFamily="34" charset="0"/>
                <a:ea typeface="Calibri" pitchFamily="34" charset="-122"/>
                <a:cs typeface="Calibri" pitchFamily="34" charset="-120"/>
              </a:rPr>
              <a:t>Negatives and questions</a:t>
            </a:r>
            <a:endParaRPr lang="en-US" sz="1750" dirty="0"/>
          </a:p>
          <a:p>
            <a:pPr indent="0" marL="0">
              <a:lnSpc>
                <a:spcPct val="102000"/>
              </a:lnSpc>
              <a:spcBef>
                <a:spcPts val="350"/>
              </a:spcBef>
              <a:buNone/>
            </a:pPr>
            <a:r>
              <a:rPr lang="en-US" sz="1310" dirty="0">
                <a:solidFill>
                  <a:srgbClr val="3A473F"/>
                </a:solidFill>
                <a:latin typeface="Calibri" pitchFamily="34" charset="0"/>
                <a:ea typeface="Calibri" pitchFamily="34" charset="-122"/>
                <a:cs typeface="Calibri" pitchFamily="34" charset="-120"/>
              </a:rPr>
              <a:t>No “do” or “does”. The verb “to be” does all the work.</a:t>
            </a:r>
            <a:endParaRPr lang="en-US" sz="1750" dirty="0"/>
          </a:p>
        </p:txBody>
      </p:sp>
      <p:sp>
        <p:nvSpPr>
          <p:cNvPr id="27" name="Shape 19"/>
          <p:cNvSpPr/>
          <p:nvPr/>
        </p:nvSpPr>
        <p:spPr>
          <a:xfrm>
            <a:off x="4313834" y="4014216"/>
            <a:ext cx="3564026" cy="1929384"/>
          </a:xfrm>
          <a:prstGeom prst="roundRect">
            <a:avLst>
              <a:gd name="adj" fmla="val 6635"/>
            </a:avLst>
          </a:prstGeom>
          <a:solidFill>
            <a:srgbClr val="F6F9F7"/>
          </a:solidFill>
          <a:ln w="12700">
            <a:solidFill>
              <a:srgbClr val="E3E9E5"/>
            </a:solidFill>
            <a:prstDash val="solid"/>
          </a:ln>
        </p:spPr>
      </p:sp>
      <p:sp>
        <p:nvSpPr>
          <p:cNvPr id="28" name="Shape 20"/>
          <p:cNvSpPr/>
          <p:nvPr/>
        </p:nvSpPr>
        <p:spPr>
          <a:xfrm>
            <a:off x="4533290" y="4233672"/>
            <a:ext cx="457200" cy="457200"/>
          </a:xfrm>
          <a:prstGeom prst="ellipse">
            <a:avLst/>
          </a:prstGeom>
          <a:solidFill>
            <a:srgbClr val="0E7C5A"/>
          </a:solidFill>
          <a:ln/>
        </p:spPr>
      </p:sp>
      <p:pic>
        <p:nvPicPr>
          <p:cNvPr id="29" name="Image 5" descr="preencoded.png">    </p:cNvPr>
          <p:cNvPicPr>
            <a:picLocks noChangeAspect="1"/>
          </p:cNvPicPr>
          <p:nvPr/>
        </p:nvPicPr>
        <p:blipFill>
          <a:blip r:embed="rId6"/>
          <a:stretch>
            <a:fillRect/>
          </a:stretch>
        </p:blipFill>
        <p:spPr>
          <a:xfrm>
            <a:off x="4647590" y="4347972"/>
            <a:ext cx="228600" cy="228600"/>
          </a:xfrm>
          <a:prstGeom prst="rect">
            <a:avLst/>
          </a:prstGeom>
        </p:spPr>
      </p:pic>
      <p:sp>
        <p:nvSpPr>
          <p:cNvPr id="30" name="Text 21"/>
          <p:cNvSpPr/>
          <p:nvPr/>
        </p:nvSpPr>
        <p:spPr>
          <a:xfrm>
            <a:off x="4533290"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Describing a scene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Who · what they are doing · what they are wearing · where things are.</a:t>
            </a:r>
            <a:endParaRPr lang="en-US" sz="1600" dirty="0"/>
          </a:p>
        </p:txBody>
      </p:sp>
      <p:sp>
        <p:nvSpPr>
          <p:cNvPr id="31" name="Shape 22"/>
          <p:cNvSpPr/>
          <p:nvPr/>
        </p:nvSpPr>
        <p:spPr>
          <a:xfrm>
            <a:off x="8079029" y="4014216"/>
            <a:ext cx="3564026" cy="1929384"/>
          </a:xfrm>
          <a:prstGeom prst="roundRect">
            <a:avLst>
              <a:gd name="adj" fmla="val 6635"/>
            </a:avLst>
          </a:prstGeom>
          <a:solidFill>
            <a:srgbClr val="F6F9F7"/>
          </a:solidFill>
          <a:ln w="12700">
            <a:solidFill>
              <a:srgbClr val="E3E9E5"/>
            </a:solidFill>
            <a:prstDash val="solid"/>
          </a:ln>
        </p:spPr>
      </p:sp>
      <p:sp>
        <p:nvSpPr>
          <p:cNvPr id="32" name="Shape 23"/>
          <p:cNvSpPr/>
          <p:nvPr/>
        </p:nvSpPr>
        <p:spPr>
          <a:xfrm>
            <a:off x="8298485" y="4233672"/>
            <a:ext cx="457200" cy="457200"/>
          </a:xfrm>
          <a:prstGeom prst="ellipse">
            <a:avLst/>
          </a:prstGeom>
          <a:solidFill>
            <a:srgbClr val="0E7C5A"/>
          </a:solidFill>
          <a:ln/>
        </p:spPr>
      </p:sp>
      <p:pic>
        <p:nvPicPr>
          <p:cNvPr id="33" name="Image 6" descr="preencoded.png">    </p:cNvPr>
          <p:cNvPicPr>
            <a:picLocks noChangeAspect="1"/>
          </p:cNvPicPr>
          <p:nvPr/>
        </p:nvPicPr>
        <p:blipFill>
          <a:blip r:embed="rId7"/>
          <a:stretch>
            <a:fillRect/>
          </a:stretch>
        </p:blipFill>
        <p:spPr>
          <a:xfrm>
            <a:off x="8412785" y="4347972"/>
            <a:ext cx="228600" cy="228600"/>
          </a:xfrm>
          <a:prstGeom prst="rect">
            <a:avLst/>
          </a:prstGeom>
        </p:spPr>
      </p:pic>
      <p:sp>
        <p:nvSpPr>
          <p:cNvPr id="34" name="Text 24"/>
          <p:cNvSpPr/>
          <p:nvPr/>
        </p:nvSpPr>
        <p:spPr>
          <a:xfrm>
            <a:off x="8298485" y="4837176"/>
            <a:ext cx="3125114" cy="923544"/>
          </a:xfrm>
          <a:prstGeom prst="rect">
            <a:avLst/>
          </a:prstGeom>
          <a:noFill/>
          <a:ln/>
        </p:spPr>
        <p:txBody>
          <a:bodyPr wrap="square" lIns="0" tIns="0" rIns="0" bIns="0" rtlCol="0" anchor="t"/>
          <a:lstStyle/>
          <a:p>
            <a:pPr indent="0" marL="0">
              <a:lnSpc>
                <a:spcPct val="102000"/>
              </a:lnSpc>
              <a:buNone/>
            </a:pPr>
            <a:r>
              <a:rPr lang="en-US" sz="1600" b="1" dirty="0">
                <a:solidFill>
                  <a:srgbClr val="12211B"/>
                </a:solidFill>
                <a:latin typeface="Calibri" pitchFamily="34" charset="0"/>
                <a:ea typeface="Calibri" pitchFamily="34" charset="-122"/>
                <a:cs typeface="Calibri" pitchFamily="34" charset="-120"/>
              </a:rPr>
              <a:t>Choosing the tense</a:t>
            </a:r>
            <a:endParaRPr lang="en-US" sz="1600" dirty="0"/>
          </a:p>
          <a:p>
            <a:pPr indent="0" marL="0">
              <a:lnSpc>
                <a:spcPct val="102000"/>
              </a:lnSpc>
              <a:spcBef>
                <a:spcPts val="320"/>
              </a:spcBef>
              <a:buNone/>
            </a:pPr>
            <a:r>
              <a:rPr lang="en-US" sz="1200" dirty="0">
                <a:solidFill>
                  <a:srgbClr val="3A473F"/>
                </a:solidFill>
                <a:latin typeface="Calibri" pitchFamily="34" charset="0"/>
                <a:ea typeface="Calibri" pitchFamily="34" charset="-122"/>
                <a:cs typeface="Calibri" pitchFamily="34" charset="-120"/>
              </a:rPr>
              <a:t>Always true → simple. Happening now → continuous. Ask the question.</a:t>
            </a:r>
            <a:endParaRPr lang="en-US" sz="16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38912"/>
            <a:ext cx="1737360" cy="420624"/>
          </a:xfrm>
          <a:prstGeom prst="roundRect">
            <a:avLst>
              <a:gd name="adj" fmla="val 50000"/>
            </a:avLst>
          </a:prstGeom>
          <a:solidFill>
            <a:srgbClr val="0E7C5A"/>
          </a:solidFill>
          <a:ln/>
        </p:spPr>
      </p:sp>
      <p:sp>
        <p:nvSpPr>
          <p:cNvPr id="3" name="Shape 1"/>
          <p:cNvSpPr/>
          <p:nvPr/>
        </p:nvSpPr>
        <p:spPr>
          <a:xfrm>
            <a:off x="649224" y="539496"/>
            <a:ext cx="219456" cy="219456"/>
          </a:xfrm>
          <a:prstGeom prst="ellipse">
            <a:avLst/>
          </a:prstGeom>
          <a:solidFill>
            <a:srgbClr val="0E7C5A"/>
          </a:solidFill>
          <a:ln/>
        </p:spPr>
      </p:sp>
      <p:pic>
        <p:nvPicPr>
          <p:cNvPr id="4" name="Image 0" descr="preencoded.png">    </p:cNvPr>
          <p:cNvPicPr>
            <a:picLocks noChangeAspect="1"/>
          </p:cNvPicPr>
          <p:nvPr/>
        </p:nvPicPr>
        <p:blipFill>
          <a:blip r:embed="rId1"/>
          <a:stretch>
            <a:fillRect/>
          </a:stretch>
        </p:blipFill>
        <p:spPr>
          <a:xfrm>
            <a:off x="649224" y="539496"/>
            <a:ext cx="219456" cy="219456"/>
          </a:xfrm>
          <a:prstGeom prst="rect">
            <a:avLst/>
          </a:prstGeom>
        </p:spPr>
      </p:pic>
      <p:sp>
        <p:nvSpPr>
          <p:cNvPr id="5" name="Text 2"/>
          <p:cNvSpPr txBox="1"/>
          <p:nvPr/>
        </p:nvSpPr>
        <p:spPr>
          <a:xfrm>
            <a:off x="932688" y="438912"/>
            <a:ext cx="1243584" cy="420624"/>
          </a:xfrm>
          <a:prstGeom prst="rect">
            <a:avLst/>
          </a:prstGeom>
          <a:noFill/>
          <a:ln/>
        </p:spPr>
        <p:txBody>
          <a:bodyPr wrap="square" lIns="0" tIns="0" rIns="0" bIns="0" rtlCol="0" anchor="ctr"/>
          <a:lstStyle/>
          <a:p>
            <a:pPr indent="0" marL="0">
              <a:buNone/>
            </a:pPr>
            <a:r>
              <a:rPr lang="en-US" sz="1200" b="1" spc="120" kern="0" dirty="0">
                <a:solidFill>
                  <a:srgbClr val="FFFFFF"/>
                </a:solidFill>
                <a:latin typeface="Calibri" pitchFamily="34" charset="0"/>
                <a:ea typeface="Calibri" pitchFamily="34" charset="-122"/>
                <a:cs typeface="Calibri" pitchFamily="34" charset="-120"/>
              </a:rPr>
              <a:t>SUMMARY</a:t>
            </a:r>
            <a:endParaRPr lang="en-US" sz="1200" dirty="0"/>
          </a:p>
        </p:txBody>
      </p:sp>
      <p:sp>
        <p:nvSpPr>
          <p:cNvPr id="6" name="Text 3"/>
          <p:cNvSpPr txBox="1"/>
          <p:nvPr/>
        </p:nvSpPr>
        <p:spPr>
          <a:xfrm>
            <a:off x="548640" y="896112"/>
            <a:ext cx="10972800" cy="621792"/>
          </a:xfrm>
          <a:prstGeom prst="rect">
            <a:avLst/>
          </a:prstGeom>
          <a:noFill/>
          <a:ln/>
        </p:spPr>
        <p:txBody>
          <a:bodyPr wrap="square" lIns="0" tIns="0" rIns="0" bIns="0" rtlCol="0" anchor="ctr"/>
          <a:lstStyle/>
          <a:p>
            <a:pPr indent="0" marL="0">
              <a:buNone/>
            </a:pPr>
            <a:r>
              <a:rPr lang="en-US" sz="2600" b="1" dirty="0">
                <a:solidFill>
                  <a:srgbClr val="12211B"/>
                </a:solidFill>
                <a:latin typeface="Calibri" pitchFamily="34" charset="0"/>
                <a:ea typeface="Calibri" pitchFamily="34" charset="-122"/>
                <a:cs typeface="Calibri" pitchFamily="34" charset="-120"/>
              </a:rPr>
              <a:t>Keep these where you can see them</a:t>
            </a:r>
            <a:endParaRPr lang="en-US" sz="2600" dirty="0"/>
          </a:p>
        </p:txBody>
      </p:sp>
      <p:sp>
        <p:nvSpPr>
          <p:cNvPr id="7" name="Text 4"/>
          <p:cNvSpPr txBox="1"/>
          <p:nvPr/>
        </p:nvSpPr>
        <p:spPr>
          <a:xfrm>
            <a:off x="548640" y="1536192"/>
            <a:ext cx="10972800" cy="292608"/>
          </a:xfrm>
          <a:prstGeom prst="rect">
            <a:avLst/>
          </a:prstGeom>
          <a:noFill/>
          <a:ln/>
        </p:spPr>
        <p:txBody>
          <a:bodyPr wrap="square" lIns="0" tIns="0" rIns="0" bIns="0" rtlCol="0" anchor="ctr"/>
          <a:lstStyle/>
          <a:p>
            <a:pPr indent="0" marL="0">
              <a:buNone/>
            </a:pPr>
            <a:r>
              <a:rPr lang="en-US" sz="1650" dirty="0">
                <a:solidFill>
                  <a:srgbClr val="6B7C71"/>
                </a:solidFill>
                <a:latin typeface="Calibri" pitchFamily="34" charset="0"/>
                <a:ea typeface="Calibri" pitchFamily="34" charset="-122"/>
                <a:cs typeface="Calibri" pitchFamily="34" charset="-120"/>
              </a:rPr>
              <a:t>The language you must be able to produce, not just recognise.</a:t>
            </a:r>
            <a:endParaRPr lang="en-US" sz="1650" dirty="0"/>
          </a:p>
        </p:txBody>
      </p:sp>
      <p:sp>
        <p:nvSpPr>
          <p:cNvPr id="8" name="Text 5"/>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6B7C71"/>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9" name="Text 6"/>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6B7C71"/>
                </a:solidFill>
                <a:latin typeface="Calibri" pitchFamily="34" charset="0"/>
                <a:ea typeface="Calibri" pitchFamily="34" charset="-122"/>
                <a:cs typeface="Calibri" pitchFamily="34" charset="-120"/>
              </a:rPr>
              <a:t>75</a:t>
            </a:r>
            <a:endParaRPr lang="en-US" sz="1100" dirty="0"/>
          </a:p>
        </p:txBody>
      </p:sp>
      <p:sp>
        <p:nvSpPr>
          <p:cNvPr id="11" name="Shape 7"/>
          <p:cNvSpPr/>
          <p:nvPr/>
        </p:nvSpPr>
        <p:spPr>
          <a:xfrm>
            <a:off x="548640" y="1883664"/>
            <a:ext cx="5446624" cy="1929384"/>
          </a:xfrm>
          <a:prstGeom prst="roundRect">
            <a:avLst>
              <a:gd name="adj" fmla="val 6635"/>
            </a:avLst>
          </a:prstGeom>
          <a:solidFill>
            <a:srgbClr val="E7F3EF"/>
          </a:solidFill>
          <a:ln w="12700">
            <a:solidFill>
              <a:srgbClr val="C4E0D5"/>
            </a:solidFill>
            <a:prstDash val="solid"/>
          </a:ln>
        </p:spPr>
      </p:sp>
      <p:sp>
        <p:nvSpPr>
          <p:cNvPr id="12" name="Shape 8"/>
          <p:cNvSpPr/>
          <p:nvPr/>
        </p:nvSpPr>
        <p:spPr>
          <a:xfrm>
            <a:off x="768096" y="2121408"/>
            <a:ext cx="384048" cy="384048"/>
          </a:xfrm>
          <a:prstGeom prst="ellipse">
            <a:avLst/>
          </a:prstGeom>
          <a:solidFill>
            <a:srgbClr val="0E7C5A"/>
          </a:solidFill>
          <a:ln/>
        </p:spPr>
      </p:sp>
      <p:pic>
        <p:nvPicPr>
          <p:cNvPr id="13" name="Image 1" descr="preencoded.png">    </p:cNvPr>
          <p:cNvPicPr>
            <a:picLocks noChangeAspect="1"/>
          </p:cNvPicPr>
          <p:nvPr/>
        </p:nvPicPr>
        <p:blipFill>
          <a:blip r:embed="rId2"/>
          <a:stretch>
            <a:fillRect/>
          </a:stretch>
        </p:blipFill>
        <p:spPr>
          <a:xfrm>
            <a:off x="864108" y="2217420"/>
            <a:ext cx="192024" cy="192024"/>
          </a:xfrm>
          <a:prstGeom prst="rect">
            <a:avLst/>
          </a:prstGeom>
        </p:spPr>
      </p:pic>
      <p:sp>
        <p:nvSpPr>
          <p:cNvPr id="14" name="Text 9"/>
          <p:cNvSpPr txBox="1"/>
          <p:nvPr/>
        </p:nvSpPr>
        <p:spPr>
          <a:xfrm>
            <a:off x="1261872"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form</a:t>
            </a:r>
            <a:endParaRPr lang="en-US" sz="2000" dirty="0"/>
          </a:p>
        </p:txBody>
      </p:sp>
      <p:sp>
        <p:nvSpPr>
          <p:cNvPr id="15" name="Text 10"/>
          <p:cNvSpPr txBox="1"/>
          <p:nvPr/>
        </p:nvSpPr>
        <p:spPr>
          <a:xfrm>
            <a:off x="768096" y="2615184"/>
            <a:ext cx="5007712" cy="1033272"/>
          </a:xfrm>
          <a:prstGeom prst="rect">
            <a:avLst/>
          </a:prstGeom>
          <a:noFill/>
          <a:ln/>
        </p:spPr>
        <p:txBody>
          <a:bodyPr wrap="square" lIns="0" tIns="0" rIns="0" bIns="0" rtlCol="0" anchor="ctr"/>
          <a:lstStyle/>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I am working  ·  you are working</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he / she / it is working</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we / they are working</a:t>
            </a:r>
            <a:endParaRPr lang="en-US" sz="1450" dirty="0"/>
          </a:p>
          <a:p>
            <a:pPr indent="0" marL="0">
              <a:lnSpc>
                <a:spcPct val="112000"/>
              </a:lnSpc>
              <a:buNone/>
            </a:pPr>
            <a:r>
              <a:rPr lang="en-US" sz="1450" dirty="0">
                <a:solidFill>
                  <a:srgbClr val="3A473F"/>
                </a:solidFill>
                <a:latin typeface="Calibri" pitchFamily="34" charset="0"/>
                <a:ea typeface="Calibri" pitchFamily="34" charset="-122"/>
                <a:cs typeface="Calibri" pitchFamily="34" charset="-120"/>
              </a:rPr>
              <a:t>Negative: is NOT working  ·  Question: IS he working?</a:t>
            </a:r>
            <a:endParaRPr lang="en-US" sz="1450" dirty="0"/>
          </a:p>
        </p:txBody>
      </p:sp>
      <p:sp>
        <p:nvSpPr>
          <p:cNvPr id="16" name="Shape 11"/>
          <p:cNvSpPr/>
          <p:nvPr/>
        </p:nvSpPr>
        <p:spPr>
          <a:xfrm>
            <a:off x="6196432" y="1883664"/>
            <a:ext cx="5446624" cy="1929384"/>
          </a:xfrm>
          <a:prstGeom prst="roundRect">
            <a:avLst>
              <a:gd name="adj" fmla="val 6635"/>
            </a:avLst>
          </a:prstGeom>
          <a:solidFill>
            <a:srgbClr val="E7F3EF"/>
          </a:solidFill>
          <a:ln w="12700">
            <a:solidFill>
              <a:srgbClr val="C4E0D5"/>
            </a:solidFill>
            <a:prstDash val="solid"/>
          </a:ln>
        </p:spPr>
      </p:sp>
      <p:sp>
        <p:nvSpPr>
          <p:cNvPr id="17" name="Shape 12"/>
          <p:cNvSpPr/>
          <p:nvPr/>
        </p:nvSpPr>
        <p:spPr>
          <a:xfrm>
            <a:off x="6415888" y="2121408"/>
            <a:ext cx="384048" cy="384048"/>
          </a:xfrm>
          <a:prstGeom prst="ellipse">
            <a:avLst/>
          </a:prstGeom>
          <a:solidFill>
            <a:srgbClr val="0E7C5A"/>
          </a:solidFill>
          <a:ln/>
        </p:spPr>
      </p:sp>
      <p:pic>
        <p:nvPicPr>
          <p:cNvPr id="18" name="Image 2" descr="preencoded.png">    </p:cNvPr>
          <p:cNvPicPr>
            <a:picLocks noChangeAspect="1"/>
          </p:cNvPicPr>
          <p:nvPr/>
        </p:nvPicPr>
        <p:blipFill>
          <a:blip r:embed="rId3"/>
          <a:stretch>
            <a:fillRect/>
          </a:stretch>
        </p:blipFill>
        <p:spPr>
          <a:xfrm>
            <a:off x="6511900" y="2217420"/>
            <a:ext cx="192024" cy="192024"/>
          </a:xfrm>
          <a:prstGeom prst="rect">
            <a:avLst/>
          </a:prstGeom>
        </p:spPr>
      </p:pic>
      <p:sp>
        <p:nvSpPr>
          <p:cNvPr id="19" name="Text 13"/>
          <p:cNvSpPr txBox="1"/>
          <p:nvPr/>
        </p:nvSpPr>
        <p:spPr>
          <a:xfrm>
            <a:off x="6909664" y="2103120"/>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The spelling rules</a:t>
            </a:r>
            <a:endParaRPr lang="en-US" sz="2000" dirty="0"/>
          </a:p>
        </p:txBody>
      </p:sp>
      <p:sp>
        <p:nvSpPr>
          <p:cNvPr id="20" name="Text 14"/>
          <p:cNvSpPr txBox="1"/>
          <p:nvPr/>
        </p:nvSpPr>
        <p:spPr>
          <a:xfrm>
            <a:off x="6415888" y="2615184"/>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most: + ing  →  working</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ends in -e: drop it  →  writing</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vowel + 1 consonant: double  →  running</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ends in -y: no change  →  studying</a:t>
            </a:r>
            <a:endParaRPr lang="en-US" sz="1500" dirty="0"/>
          </a:p>
        </p:txBody>
      </p:sp>
      <p:sp>
        <p:nvSpPr>
          <p:cNvPr id="21" name="Shape 15"/>
          <p:cNvSpPr/>
          <p:nvPr/>
        </p:nvSpPr>
        <p:spPr>
          <a:xfrm>
            <a:off x="548640" y="4014216"/>
            <a:ext cx="5446624" cy="1929384"/>
          </a:xfrm>
          <a:prstGeom prst="roundRect">
            <a:avLst>
              <a:gd name="adj" fmla="val 6635"/>
            </a:avLst>
          </a:prstGeom>
          <a:solidFill>
            <a:srgbClr val="E7F3EF"/>
          </a:solidFill>
          <a:ln w="12700">
            <a:solidFill>
              <a:srgbClr val="C4E0D5"/>
            </a:solidFill>
            <a:prstDash val="solid"/>
          </a:ln>
        </p:spPr>
      </p:sp>
      <p:sp>
        <p:nvSpPr>
          <p:cNvPr id="22" name="Shape 16"/>
          <p:cNvSpPr/>
          <p:nvPr/>
        </p:nvSpPr>
        <p:spPr>
          <a:xfrm>
            <a:off x="768096" y="4251960"/>
            <a:ext cx="384048" cy="384048"/>
          </a:xfrm>
          <a:prstGeom prst="ellipse">
            <a:avLst/>
          </a:prstGeom>
          <a:solidFill>
            <a:srgbClr val="0E7C5A"/>
          </a:solidFill>
          <a:ln/>
        </p:spPr>
      </p:sp>
      <p:pic>
        <p:nvPicPr>
          <p:cNvPr id="23" name="Image 3" descr="preencoded.png">    </p:cNvPr>
          <p:cNvPicPr>
            <a:picLocks noChangeAspect="1"/>
          </p:cNvPicPr>
          <p:nvPr/>
        </p:nvPicPr>
        <p:blipFill>
          <a:blip r:embed="rId4"/>
          <a:stretch>
            <a:fillRect/>
          </a:stretch>
        </p:blipFill>
        <p:spPr>
          <a:xfrm>
            <a:off x="864108" y="4347972"/>
            <a:ext cx="192024" cy="192024"/>
          </a:xfrm>
          <a:prstGeom prst="rect">
            <a:avLst/>
          </a:prstGeom>
        </p:spPr>
      </p:pic>
      <p:sp>
        <p:nvSpPr>
          <p:cNvPr id="24" name="Text 17"/>
          <p:cNvSpPr txBox="1"/>
          <p:nvPr/>
        </p:nvSpPr>
        <p:spPr>
          <a:xfrm>
            <a:off x="1261872"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Simple or continuous?</a:t>
            </a:r>
            <a:endParaRPr lang="en-US" sz="2000" dirty="0"/>
          </a:p>
        </p:txBody>
      </p:sp>
      <p:sp>
        <p:nvSpPr>
          <p:cNvPr id="25" name="Text 18"/>
          <p:cNvSpPr txBox="1"/>
          <p:nvPr/>
        </p:nvSpPr>
        <p:spPr>
          <a:xfrm>
            <a:off x="768096" y="4745736"/>
            <a:ext cx="5007712" cy="1033272"/>
          </a:xfrm>
          <a:prstGeom prst="rect">
            <a:avLst/>
          </a:prstGeom>
          <a:noFill/>
          <a:ln/>
        </p:spPr>
        <p:txBody>
          <a:bodyPr wrap="square" lIns="0" tIns="0" rIns="0" bIns="0" rtlCol="0" anchor="ctr"/>
          <a:lstStyle/>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every day · usually · always  →  SIMPLE</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now · today · this week  →  CONTINUOUS</a:t>
            </a:r>
            <a:endParaRPr lang="en-US" sz="1650" dirty="0"/>
          </a:p>
          <a:p>
            <a:pPr indent="0" marL="0">
              <a:lnSpc>
                <a:spcPct val="112000"/>
              </a:lnSpc>
              <a:buNone/>
            </a:pPr>
            <a:r>
              <a:rPr lang="en-US" sz="1650" dirty="0">
                <a:solidFill>
                  <a:srgbClr val="3A473F"/>
                </a:solidFill>
                <a:latin typeface="Calibri" pitchFamily="34" charset="0"/>
                <a:ea typeface="Calibri" pitchFamily="34" charset="-122"/>
                <a:cs typeface="Calibri" pitchFamily="34" charset="-120"/>
              </a:rPr>
              <a:t>Ask: always true, or happening now?</a:t>
            </a:r>
            <a:endParaRPr lang="en-US" sz="1650" dirty="0"/>
          </a:p>
        </p:txBody>
      </p:sp>
      <p:sp>
        <p:nvSpPr>
          <p:cNvPr id="26" name="Shape 19"/>
          <p:cNvSpPr/>
          <p:nvPr/>
        </p:nvSpPr>
        <p:spPr>
          <a:xfrm>
            <a:off x="6196432" y="4014216"/>
            <a:ext cx="5446624" cy="1929384"/>
          </a:xfrm>
          <a:prstGeom prst="roundRect">
            <a:avLst>
              <a:gd name="adj" fmla="val 6635"/>
            </a:avLst>
          </a:prstGeom>
          <a:solidFill>
            <a:srgbClr val="E7F3EF"/>
          </a:solidFill>
          <a:ln w="12700">
            <a:solidFill>
              <a:srgbClr val="C4E0D5"/>
            </a:solidFill>
            <a:prstDash val="solid"/>
          </a:ln>
        </p:spPr>
      </p:sp>
      <p:sp>
        <p:nvSpPr>
          <p:cNvPr id="27" name="Shape 20"/>
          <p:cNvSpPr/>
          <p:nvPr/>
        </p:nvSpPr>
        <p:spPr>
          <a:xfrm>
            <a:off x="6415888" y="4251960"/>
            <a:ext cx="384048" cy="384048"/>
          </a:xfrm>
          <a:prstGeom prst="ellipse">
            <a:avLst/>
          </a:prstGeom>
          <a:solidFill>
            <a:srgbClr val="0E7C5A"/>
          </a:solidFill>
          <a:ln/>
        </p:spPr>
      </p:sp>
      <p:pic>
        <p:nvPicPr>
          <p:cNvPr id="28" name="Image 4" descr="preencoded.png">    </p:cNvPr>
          <p:cNvPicPr>
            <a:picLocks noChangeAspect="1"/>
          </p:cNvPicPr>
          <p:nvPr/>
        </p:nvPicPr>
        <p:blipFill>
          <a:blip r:embed="rId5"/>
          <a:stretch>
            <a:fillRect/>
          </a:stretch>
        </p:blipFill>
        <p:spPr>
          <a:xfrm>
            <a:off x="6511900" y="4347972"/>
            <a:ext cx="192024" cy="192024"/>
          </a:xfrm>
          <a:prstGeom prst="rect">
            <a:avLst/>
          </a:prstGeom>
        </p:spPr>
      </p:pic>
      <p:sp>
        <p:nvSpPr>
          <p:cNvPr id="29" name="Text 21"/>
          <p:cNvSpPr txBox="1"/>
          <p:nvPr/>
        </p:nvSpPr>
        <p:spPr>
          <a:xfrm>
            <a:off x="6909664" y="4233672"/>
            <a:ext cx="4513936" cy="420624"/>
          </a:xfrm>
          <a:prstGeom prst="rect">
            <a:avLst/>
          </a:prstGeom>
          <a:noFill/>
          <a:ln/>
        </p:spPr>
        <p:txBody>
          <a:bodyPr wrap="square" lIns="0" tIns="0" rIns="0" bIns="0" rtlCol="0" anchor="ctr"/>
          <a:lstStyle/>
          <a:p>
            <a:pPr indent="0" marL="0">
              <a:buNone/>
            </a:pPr>
            <a:r>
              <a:rPr lang="en-US" sz="2000" b="1" dirty="0">
                <a:solidFill>
                  <a:srgbClr val="12211B"/>
                </a:solidFill>
                <a:latin typeface="Calibri" pitchFamily="34" charset="0"/>
                <a:ea typeface="Calibri" pitchFamily="34" charset="-122"/>
                <a:cs typeface="Calibri" pitchFamily="34" charset="-120"/>
              </a:rPr>
              <a:t>Describing a picture</a:t>
            </a:r>
            <a:endParaRPr lang="en-US" sz="2000" dirty="0"/>
          </a:p>
        </p:txBody>
      </p:sp>
      <p:sp>
        <p:nvSpPr>
          <p:cNvPr id="30" name="Text 22"/>
          <p:cNvSpPr txBox="1"/>
          <p:nvPr/>
        </p:nvSpPr>
        <p:spPr>
          <a:xfrm>
            <a:off x="6415888" y="4745736"/>
            <a:ext cx="5007712" cy="1033272"/>
          </a:xfrm>
          <a:prstGeom prst="rect">
            <a:avLst/>
          </a:prstGeom>
          <a:noFill/>
          <a:ln/>
        </p:spPr>
        <p:txBody>
          <a:bodyPr wrap="square" lIns="0" tIns="0" rIns="0" bIns="0" rtlCol="0" anchor="ctr"/>
          <a:lstStyle/>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1 Who is there?  →  There is / There are</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2 What are they doing?  →  is / are + -ing</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3 What are they wearing?</a:t>
            </a:r>
            <a:endParaRPr lang="en-US" sz="1500" dirty="0"/>
          </a:p>
          <a:p>
            <a:pPr indent="0" marL="0">
              <a:lnSpc>
                <a:spcPct val="112000"/>
              </a:lnSpc>
              <a:buNone/>
            </a:pPr>
            <a:r>
              <a:rPr lang="en-US" sz="1500" dirty="0">
                <a:solidFill>
                  <a:srgbClr val="3A473F"/>
                </a:solidFill>
                <a:latin typeface="Calibri" pitchFamily="34" charset="0"/>
                <a:ea typeface="Calibri" pitchFamily="34" charset="-122"/>
                <a:cs typeface="Calibri" pitchFamily="34" charset="-120"/>
              </a:rPr>
              <a:t>4 Where are things?  ·  5 “I think …”</a:t>
            </a:r>
            <a:endParaRPr lang="en-US" sz="15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B231C"/>
        </a:solidFill>
      </p:bgPr>
    </p:bg>
    <p:spTree>
      <p:nvGrpSpPr>
        <p:cNvPr id="1" name=""/>
        <p:cNvGrpSpPr/>
        <p:nvPr/>
      </p:nvGrpSpPr>
      <p:grpSpPr>
        <a:xfrm>
          <a:off x="0" y="0"/>
          <a:ext cx="0" cy="0"/>
          <a:chOff x="0" y="0"/>
          <a:chExt cx="0" cy="0"/>
        </a:xfrm>
      </p:grpSpPr>
      <p:sp>
        <p:nvSpPr>
          <p:cNvPr id="2" name="Text 0"/>
          <p:cNvSpPr txBox="1"/>
          <p:nvPr/>
        </p:nvSpPr>
        <p:spPr>
          <a:xfrm>
            <a:off x="548640" y="1554480"/>
            <a:ext cx="10972800" cy="310896"/>
          </a:xfrm>
          <a:prstGeom prst="rect">
            <a:avLst/>
          </a:prstGeom>
          <a:noFill/>
          <a:ln/>
        </p:spPr>
        <p:txBody>
          <a:bodyPr wrap="square" lIns="0" tIns="0" rIns="0" bIns="0" rtlCol="0" anchor="ctr"/>
          <a:lstStyle/>
          <a:p>
            <a:pPr indent="0" marL="0">
              <a:buNone/>
            </a:pPr>
            <a:r>
              <a:rPr lang="en-US" sz="1400" b="1" spc="240" kern="0" dirty="0">
                <a:solidFill>
                  <a:srgbClr val="F2A93B"/>
                </a:solidFill>
                <a:latin typeface="Calibri" pitchFamily="34" charset="0"/>
                <a:ea typeface="Calibri" pitchFamily="34" charset="-122"/>
                <a:cs typeface="Calibri" pitchFamily="34" charset="-120"/>
              </a:rPr>
              <a:t>CONGRATULATIONS</a:t>
            </a:r>
            <a:endParaRPr lang="en-US" sz="1400" dirty="0"/>
          </a:p>
        </p:txBody>
      </p:sp>
      <p:sp>
        <p:nvSpPr>
          <p:cNvPr id="3" name="Text 1"/>
          <p:cNvSpPr txBox="1"/>
          <p:nvPr/>
        </p:nvSpPr>
        <p:spPr>
          <a:xfrm>
            <a:off x="548640" y="2011680"/>
            <a:ext cx="10972800" cy="2011680"/>
          </a:xfrm>
          <a:prstGeom prst="rect">
            <a:avLst/>
          </a:prstGeom>
          <a:noFill/>
          <a:ln/>
        </p:spPr>
        <p:txBody>
          <a:bodyPr wrap="square" lIns="0" tIns="0" rIns="0" bIns="0" rtlCol="0" anchor="ctr"/>
          <a:lstStyle/>
          <a:p>
            <a:pPr indent="0" marL="0">
              <a:lnSpc>
                <a:spcPct val="106000"/>
              </a:lnSpc>
              <a:buNone/>
            </a:pPr>
            <a:r>
              <a:rPr lang="en-US" sz="4400" b="1" dirty="0">
                <a:solidFill>
                  <a:srgbClr val="FFFFFF"/>
                </a:solidFill>
                <a:latin typeface="Calibri" pitchFamily="34" charset="0"/>
                <a:ea typeface="Calibri" pitchFamily="34" charset="-122"/>
                <a:cs typeface="Calibri" pitchFamily="34" charset="-120"/>
              </a:rPr>
              <a:t>You can now describe any scene in front of you — in English, as it happens.</a:t>
            </a:r>
            <a:endParaRPr lang="en-US" sz="4400" dirty="0"/>
          </a:p>
        </p:txBody>
      </p:sp>
      <p:sp>
        <p:nvSpPr>
          <p:cNvPr id="4" name="Text 2"/>
          <p:cNvSpPr txBox="1"/>
          <p:nvPr/>
        </p:nvSpPr>
        <p:spPr>
          <a:xfrm>
            <a:off x="548640" y="4206240"/>
            <a:ext cx="10058400" cy="822960"/>
          </a:xfrm>
          <a:prstGeom prst="rect">
            <a:avLst/>
          </a:prstGeom>
          <a:noFill/>
          <a:ln/>
        </p:spPr>
        <p:txBody>
          <a:bodyPr wrap="square" lIns="0" tIns="0" rIns="0" bIns="0" rtlCol="0" anchor="ctr"/>
          <a:lstStyle/>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Two present tenses, used correctly, is more than many learners manage after years of study.</a:t>
            </a:r>
            <a:endParaRPr lang="en-US" sz="1550" dirty="0"/>
          </a:p>
          <a:p>
            <a:pPr indent="0" marL="0">
              <a:lnSpc>
                <a:spcPct val="120000"/>
              </a:lnSpc>
              <a:buNone/>
            </a:pPr>
            <a:r>
              <a:rPr lang="en-US" sz="1550" dirty="0">
                <a:solidFill>
                  <a:srgbClr val="B9CFC1"/>
                </a:solidFill>
                <a:latin typeface="Calibri" pitchFamily="34" charset="0"/>
                <a:ea typeface="Calibri" pitchFamily="34" charset="-122"/>
                <a:cs typeface="Calibri" pitchFamily="34" charset="-120"/>
              </a:rPr>
              <a:t>You can say what you do, and what you are doing. Those are different things, and now you know why.</a:t>
            </a:r>
            <a:endParaRPr lang="en-US" sz="1550" dirty="0"/>
          </a:p>
        </p:txBody>
      </p:sp>
      <p:sp>
        <p:nvSpPr>
          <p:cNvPr id="5" name="Shape 3"/>
          <p:cNvSpPr/>
          <p:nvPr/>
        </p:nvSpPr>
        <p:spPr>
          <a:xfrm>
            <a:off x="548640" y="5120640"/>
            <a:ext cx="3511296" cy="713232"/>
          </a:xfrm>
          <a:prstGeom prst="roundRect">
            <a:avLst>
              <a:gd name="adj" fmla="val 17949"/>
            </a:avLst>
          </a:prstGeom>
          <a:solidFill>
            <a:srgbClr val="1C4E39"/>
          </a:solidFill>
          <a:ln w="12700">
            <a:solidFill>
              <a:srgbClr val="2A6249"/>
            </a:solidFill>
            <a:prstDash val="solid"/>
          </a:ln>
        </p:spPr>
      </p:sp>
      <p:sp>
        <p:nvSpPr>
          <p:cNvPr id="6" name="Text 4"/>
          <p:cNvSpPr txBox="1"/>
          <p:nvPr/>
        </p:nvSpPr>
        <p:spPr>
          <a:xfrm>
            <a:off x="731520"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NEXT — Module 3</a:t>
            </a:r>
            <a:endParaRPr lang="en-US" sz="1500" dirty="0"/>
          </a:p>
        </p:txBody>
      </p:sp>
      <p:sp>
        <p:nvSpPr>
          <p:cNvPr id="7" name="Shape 5"/>
          <p:cNvSpPr/>
          <p:nvPr/>
        </p:nvSpPr>
        <p:spPr>
          <a:xfrm>
            <a:off x="4279392" y="5120640"/>
            <a:ext cx="3511296" cy="713232"/>
          </a:xfrm>
          <a:prstGeom prst="roundRect">
            <a:avLst>
              <a:gd name="adj" fmla="val 17949"/>
            </a:avLst>
          </a:prstGeom>
          <a:solidFill>
            <a:srgbClr val="1C4E39"/>
          </a:solidFill>
          <a:ln w="12700">
            <a:solidFill>
              <a:srgbClr val="2A6249"/>
            </a:solidFill>
            <a:prstDash val="solid"/>
          </a:ln>
        </p:spPr>
      </p:sp>
      <p:sp>
        <p:nvSpPr>
          <p:cNvPr id="8" name="Text 6"/>
          <p:cNvSpPr txBox="1"/>
          <p:nvPr/>
        </p:nvSpPr>
        <p:spPr>
          <a:xfrm>
            <a:off x="4462272"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Past Simple &amp; Telling a Story</a:t>
            </a:r>
            <a:endParaRPr lang="en-US" sz="1500" dirty="0"/>
          </a:p>
        </p:txBody>
      </p:sp>
      <p:sp>
        <p:nvSpPr>
          <p:cNvPr id="9" name="Shape 7"/>
          <p:cNvSpPr/>
          <p:nvPr/>
        </p:nvSpPr>
        <p:spPr>
          <a:xfrm>
            <a:off x="8010144" y="5120640"/>
            <a:ext cx="3511296" cy="713232"/>
          </a:xfrm>
          <a:prstGeom prst="roundRect">
            <a:avLst>
              <a:gd name="adj" fmla="val 17949"/>
            </a:avLst>
          </a:prstGeom>
          <a:solidFill>
            <a:srgbClr val="1C4E39"/>
          </a:solidFill>
          <a:ln w="12700">
            <a:solidFill>
              <a:srgbClr val="2A6249"/>
            </a:solidFill>
            <a:prstDash val="solid"/>
          </a:ln>
        </p:spPr>
      </p:sp>
      <p:sp>
        <p:nvSpPr>
          <p:cNvPr id="10" name="Text 8"/>
          <p:cNvSpPr txBox="1"/>
          <p:nvPr/>
        </p:nvSpPr>
        <p:spPr>
          <a:xfrm>
            <a:off x="8193024" y="5120640"/>
            <a:ext cx="3145536" cy="713232"/>
          </a:xfrm>
          <a:prstGeom prst="rect">
            <a:avLst/>
          </a:prstGeom>
          <a:noFill/>
          <a:ln/>
        </p:spPr>
        <p:txBody>
          <a:bodyPr wrap="square" lIns="0" tIns="0" rIns="0" bIns="0" rtlCol="0" anchor="ctr"/>
          <a:lstStyle/>
          <a:p>
            <a:pPr indent="0" marL="0">
              <a:buNone/>
            </a:pPr>
            <a:r>
              <a:rPr lang="en-US" sz="1500" dirty="0">
                <a:solidFill>
                  <a:srgbClr val="D2E0D8"/>
                </a:solidFill>
                <a:latin typeface="Calibri" pitchFamily="34" charset="0"/>
                <a:ea typeface="Calibri" pitchFamily="34" charset="-122"/>
                <a:cs typeface="Calibri" pitchFamily="34" charset="-120"/>
              </a:rPr>
              <a:t>What happened yesterday, last week, last year</a:t>
            </a:r>
            <a:endParaRPr lang="en-US" sz="1500" dirty="0"/>
          </a:p>
        </p:txBody>
      </p:sp>
      <p:sp>
        <p:nvSpPr>
          <p:cNvPr id="11" name="Text 9"/>
          <p:cNvSpPr txBox="1"/>
          <p:nvPr/>
        </p:nvSpPr>
        <p:spPr>
          <a:xfrm>
            <a:off x="548640" y="6144768"/>
            <a:ext cx="8778240" cy="292608"/>
          </a:xfrm>
          <a:prstGeom prst="rect">
            <a:avLst/>
          </a:prstGeom>
          <a:noFill/>
          <a:ln/>
        </p:spPr>
        <p:txBody>
          <a:bodyPr wrap="square" lIns="0" tIns="0" rIns="0" bIns="0" rtlCol="0" anchor="ctr"/>
          <a:lstStyle/>
          <a:p>
            <a:pPr indent="0" marL="0">
              <a:buNone/>
            </a:pPr>
            <a:r>
              <a:rPr lang="en-US" sz="1000" spc="50" kern="0" dirty="0">
                <a:solidFill>
                  <a:srgbClr val="7C9488"/>
                </a:solidFill>
                <a:latin typeface="Calibri" pitchFamily="34" charset="0"/>
                <a:ea typeface="Calibri" pitchFamily="34" charset="-122"/>
                <a:cs typeface="Calibri" pitchFamily="34" charset="-120"/>
              </a:rPr>
              <a:t>Level 2 · Elementary English · Module 2 — Present Continuous &amp; Describing</a:t>
            </a:r>
            <a:endParaRPr lang="en-US" sz="1000" dirty="0"/>
          </a:p>
        </p:txBody>
      </p:sp>
      <p:sp>
        <p:nvSpPr>
          <p:cNvPr id="12" name="Text 10"/>
          <p:cNvSpPr txBox="1"/>
          <p:nvPr/>
        </p:nvSpPr>
        <p:spPr>
          <a:xfrm>
            <a:off x="10607040" y="6144768"/>
            <a:ext cx="1033272" cy="292608"/>
          </a:xfrm>
          <a:prstGeom prst="rect">
            <a:avLst/>
          </a:prstGeom>
          <a:noFill/>
          <a:ln/>
        </p:spPr>
        <p:txBody>
          <a:bodyPr wrap="square" lIns="0" tIns="0" rIns="0" bIns="0" rtlCol="0" anchor="ctr"/>
          <a:lstStyle/>
          <a:p>
            <a:pPr algn="r" indent="0" marL="0">
              <a:buNone/>
            </a:pPr>
            <a:r>
              <a:rPr lang="en-US" sz="1100" b="1" dirty="0">
                <a:solidFill>
                  <a:srgbClr val="F2A93B"/>
                </a:solidFill>
                <a:latin typeface="Calibri" pitchFamily="34" charset="0"/>
                <a:ea typeface="Calibri" pitchFamily="34" charset="-122"/>
                <a:cs typeface="Calibri" pitchFamily="34" charset="-120"/>
              </a:rPr>
              <a:t>76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76</Slides>
  <Notes>76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76</vt:i4>
      </vt:variant>
    </vt:vector>
  </HeadingPairs>
  <TitlesOfParts>
    <vt:vector size="7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vector>
  </TitlesOfParts>
  <Company>English Learning Platform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Level 2 · Module 2 — Present Continuous &amp; Describing</dc:title>
  <dc:subject>English course for Ethiopian learners — Level 2 Elementary English</dc:subject>
  <dc:creator>English Learning Platform</dc:creator>
  <cp:lastModifiedBy>English Learning Platform</cp:lastModifiedBy>
  <cp:revision>1</cp:revision>
  <dcterms:created xsi:type="dcterms:W3CDTF">2026-07-27T19:24:45Z</dcterms:created>
  <dcterms:modified xsi:type="dcterms:W3CDTF">2026-07-27T19:24:45Z</dcterms:modified>
</cp:coreProperties>
</file>