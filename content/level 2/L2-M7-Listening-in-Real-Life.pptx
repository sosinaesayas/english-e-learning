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speaking one sentence at natural speed and asking who understood it. Then say it again slowly. The gap between the two is what this module is about.
TIP: This is the module learners find hardest and value most. Say at the start that struggling here is normal and not a sign of weak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Objective 5 is the real one. In reading you can re-read; in listening you cannot, so stopping to think means missing the next sentence too.
TIP: Objective 4 is what learners will use most in the first week outside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Task 3 is the diagnostic. Most learners say nothing at all and simply nod — which makes the conversation worse. Name that habit honestly.
COMMON MISTAKES: Correct nothing in the warm-up.
TIP: Write task 1 answers on the board. Almost everyone says “speed”, and slide 5 explains why speed is not really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Point out that in Amharic or Oromo they miss words constantly — on a noisy bus, in a crowd — and it does not worry them. The difference in English is fear, not ability.
COMMON MISTAKES: Learners believe missing a word means failure. That belief causes them to stop and think, which makes them miss the next three words as well.
TIP: This connects directly to Module 6. The same idea — do not stop at one unknown word — but harder, because you cannot go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Say each sentence twice: once word by word, once at natural speed. The difference is dramatic and learners will laugh — which is exactly the reaction you want.
COMMON MISTAKES: Learners think they are being spoken to carelessly, or that this is “bad English”. Say plainly that it is normal and that news readers and professors do it too.
EXTRA EXAMPLES: The commonest joins: want to → wanna · going to → gonna · what are you → whatcha · did you → didja · got to → gotta.
TIP: This single slide relieves a lot of anxiety. Learners realise their ears are fine — they were listening for the wrong sounds.
CLASSROOM ACTIVITY: Fast then slow: read ten sentences at natural speed and have learners write what they think they heard, then reveal the written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This is the most important slide in the module.
HOW TO TEACH: Read the sentence and beat the table on the strong words only. Learners hear the rhythm immediately. Then read a longer sentence and have them raise a hand on every strong word.
COMMON MISTAKES: Learners try to hear every word equally, so they exhaust themselves on “to” and “the” and miss the number. Retrain the target.
EXTRA EXAMPLES: This is why English sounds like a drum: strong-weak-weak-strong-weak-strong. Amharic and Oromo do not work this way, which is why the rhythm feels foreign.
TIP: If learners take one thing from this module, it should be this slide. Come back to it in every listening exercise.
CLASSROOM ACTIVITY: Beat the rhythm: read five sentences while learners tap the desk only on the strong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Drill the teen/ty pair hard: 13/30, 14/40, 15/50, 16/60. Say one, learners write it. This confusion costs real money in real markets.
COMMON MISTAKES: The teen/ty confusion is the single most expensive listening error learners make. Give it five full minutes of drilling.
EXTRA EXAMPLES: In a market, if you are unsure, ask: “One five or five zero?” Everybody understands and nobody minds.
TIP: Phone numbers said digit by digit revise Level 1 Module 2 — but here they are said fast, which is the new difficulty.
CLASSROOM ACTIVITY: Number dictation: read twenty numbers, prices and times. Learners write them. Mark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Use the classroom. “The door is opposite the window.” “Sara is between Dawit and Hana.” Physical demonstration teaches position words far faster than translation.
COMMON MISTAKES: “Opposite” and “in front of” are confused. Opposite means facing, across a space. In front of means before it, on the same side.
EXTRA EXAMPLES: Add: “at the end of the road” · “on the left-hand side” · “you will see it on your right”.
TIP: Learners will be given directions in English by taxi drivers, hotel staff and strangers. Understanding is more urgent than producing.
CLASSROOM ACTIVITY: Classroom map: draw a simple street on the board and give directions. Learners point to the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Drill all four in chorus. Then role-play: you speak too fast on purpose and learners must stop you with one of the phrases.
COMMON MISTAKES: Learners nod and say “yes” when they have understood nothing. That is the habit to break — it leads to missed appointments and wrong prices.
EXTRA EXAMPLES: “Sorry?” alone, with a rising voice, is what native speakers say most often. Teach it as the shortest option.
TIP: Say clearly: asking somebody to repeat is not rude and is not a sign of weak English. Native speakers do it constantly.
CLASSROOM ACTIVITY: Interrupt me: read a text far too fast and refuse to stop until a learner uses one of the four phrases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Step 1 is a discipline, not knowledge. Practise it: read a text containing a nonsense word and insist learners keep listening rather than stopping.
COMMON MISTAKES: Stopping to translate is the commonest and most damaging listening habit. Name it, demonstrate it, and practise the alternative.
EXTRA EXAMPLES: Step 3 is powerful and underused. Situation tells you most of the meaning before a single word is spoken.
TIP: Compare to Module 6: in reading you may go back, in listening you may not. That is the only real difference between the two skills.
CLASSROOM ACTIVITY: Nonsense word: read a short story containing an invented word three times. Learners must report the story and guess the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two verbs that go with it — leave and get — as fixed pairs. Verb collocations must be taught with the noun, never separately.
COMMON MISTAKES: Stress on the FIRST syllable: MES-sage. And the ending is /ɪdʒ/, a soft j sound.
EXTRA EXAMPLES: leave a message · take a message · get a message · a text message.
TIP: “Can I leave a message?” and “Can I take a message?” are the two phone phrases everyone needs.
CLASSROOM ACTIVITY: Phone role play: one learner calls, the person is out, the other takes 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Break it into three beats and build it up: nounce → announce → announcement. Long words are learned by building, not by repeating whole.
COMMON MISTAKES: Learners stress the first syllable. Clap on the second beat until it sticks.
EXTRA EXAMPLES: Announcements are heard at bus stations, airports, banks and schools — all fast, all through loudspeakers, all difficult.
TIP: Announcements are the hardest listening of all because the sound quality is poor. Warn learners so they do not blame their English.
CLASSROOM ACTIVITY: Station announcement: read one announcement twice through cupped hands to imitate a loudspeaker.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This is the initial-cluster problem from Level 1. Build it: ate → rate → straight. Adding a vowel before the cluster is the transfer error.
COMMON MISTAKES: “Se-traight” or “is-traight”. Drill the cluster slowly then at speed.
EXTRA EXAMPLES: “Go straight on” and “Go straight ahead” mean exactly the same thing.
TIP: Also useful: “straight away” meaning immediately. Mention it but do not drill it now.
CLASSROOM ACTIVITY: Direction chain: each learner adds one instruction, starting with “Go straight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it as an imperative — the form used for directions. Demonstrate physically: everyone stands and turns as you call it.
COMMON MISTAKES: Adding “to” is a transfer error. Drill the correct form ten times with movement.
EXTRA EXAMPLES: turn left · turn right · turn around · take the first left · take the second right.
TIP: “Take the first left” is more common than “turn left at the first road”. Teach both.
CLASSROOM ACTIVITY: Simon says: give direction commands and learners move. Fast, physical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Demonstrate with two learners facing each other across the room, then two sitting side by side. Opposite versus next to becomes obvious in five seconds.
COMMON MISTAKES: Adding “to” after opposite. English does not use one here.
EXTRA EXAMPLES: opposite · next to · between · behind · in front of · on the corner — six position words that cover most directions.
TIP: Stress the FIRST syllable: OP-posite. Three syllables, not four.
CLASSROOM ACTIVITY: Where is it? Learners describe positions of objects in the room using the six position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Point out how easy this is: no I/you/he, no -s, no helper. After five modules of grammar, learners will be relieved.
COMMON MISTAKES: “You go straight on” is not wrong but is not what people say. Directions drop the “you”.
EXTRA EXAMPLES: The negative always uses “do not” or “don't”, even though the positive has no helper. That asymmetry surprises learners.
TIP: Imperatives appear on every sign in Module 6 — “Please wait here”, “Pay at the counter”. Connect the two modules explicitly.
CLASSROOM ACTIVITY: Give me directions: learners direct you around the classroom using imperatives only. Follow them exactly, including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Demonstrate every one physically in the classroom. Position words are learned through the body, not through translation.
COMMON MISTAKES: The opposite / in front of confusion is universal at this level. Demonstrate the difference with two chairs and repeat it three times.
EXTRA EXAMPLES: “Between … and …” needs both parts. “It is between the bank” is incomplete.
TIP: Add “on the corner of” — extremely common in real directions and not obvious from its parts.
CLASSROOM ACTIVITY: Blind directions: one learner closes their eyes and a partner directs them to an object using position words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Do not shorten this.
HOW TO TEACH: Say one number, learners write it. Twenty rounds. Then swap: a learner says one and you write it on the board. The competition keeps attention high.
COMMON MISTAKES: This error costs real money in markets and real appointments in offices. Treat it as a practical matter, not a pronunciation nicety.
EXTRA EXAMPLES: The same pattern holds for 17/70, 18/80, 19/90.
TIP: The digit-by-digit check — “one five or five zero?” — is the practical solution learners will actually use. Drill it as a phrase.
CLASSROOM ACTIVITY: Price war: call out fifteen prices mixing teens and tens. Learners write. Mark together and count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“to” form is the trap: “quarter to three” contains the word three but means 2:45. Draw a clock and show it twice.
COMMON MISTAKES: Hearing “three” in “quarter to three” and writing 3:00. That is a missed appointment in real life.
EXTRA EXAMPLES: Learners may use the simple way when speaking. But they must understand the common way, because that is what they will hear.
TIP: Say clearly: for producing, use “two forty-five” — it is always correct and never confusing. For listening, you need both.
CLASSROOM ACTIVITY: Clock dictation: say fifteen times in the common way. Learners write them in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Model it aloud: play or read a short piece and narrate your own listening. “I did not catch that word — but it is about the bus, so I keep going.”
COMMON MISTAKES: All five are habits requiring practice. Explaining them once achieves nothing.
EXTRA EXAMPLES: Apply all five to every listening exercise for the rest of the level, naming which one you are using.
TIP: Print these five as a card. Learners who see them before every listening task use them.
CLASSROOM ACTIVITY: Think aloud: read a text and pause three times to ask what learners did when they missed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Books closed for the first listening, then chorus, then pairs. Draw the route on the board so the directions become visual.
COMMON MISTAKES: Point out that Bethlehem repeating “opposite the bank” is a real strategy — it confirms understanding and gives the speaker a chance to correct her.
EXTRA EXAMPLES: “Is it far?” and “How long does it take?” are the two follow-up questions everyone needs.
TIP: Learners are embarrassed to ask for a repeat. This dialogue shows a competent speaker doing it without any awkwardness.
CLASSROOM ACTIVITY: Real directions: pairs give each other directions to real places in your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Sit the pairs back to back so they cannot see each other's faces. That single change makes it a genuine phone call and much harder.
COMMON MISTAKES: “Can I speak TO…” — the preposition is required. And the number is said digit by digit, in groups of three or four.
EXTRA EXAMPLES: Also teach: “Who is calling, please?” · “Could you spell that?” · “I will call back later.”
TIP: The phone is the hardest listening situation because there are no faces and the sound is poor. Practise it back to back every time.
CLASSROOM ACTIVITY: Back-to-back calls: three rounds, changing the name, the number and the message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Drill all six in chorus, then run a role play where you speak deliberately too fast until a learner stops you correctly.
COMMON MISTAKES: “Repeat again” is wrong — “repeat” already means again. Just “could you repeat that”.
EXTRA EXAMPLES: Phrase 5 is the practical one for addresses and names. Native speakers use it constantly.
TIP: Phrase 6 is the most advanced and the most useful. Repeating back catches errors before they matter.
CLASSROOM ACTIVITY: Too fast: read an announcement at high speed. Learners must use a different phrase each time to slow you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then three pairs perform before you reveal the answers.
COMMON MISTAKES: Learners write “repeat again” in gap 2. Correct it once for the whole class.
TIP: The line before gap 4 shows repeating back to check. Praise any pair that does it naturally.
CLASSROOM ACTIVITY: Do it again with a different destination and a different landmark.
ANSWERS: 1 Where · 2 repeat · 3 opposite · 4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for all four rounds.
HOW TO TEACH: Round 3 back to back is the most valuable and the most realistic. Do not let pairs face each other.
COMMON MISTAKES: In round 1 learners interrupt constantly. Insist they listen to the whole thing first — that is the skill.
TIP: Round 4 is enjoyable and removes the embarrassment attached to asking for a repeat.
CLASSROOM ACTIVITY: Message relay: a message is passed by phone through four learners. Compare the first and last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Task 4 is a game and produces the most language. Do it last so the energy peaks at the end.
COMMON MISTAKES: “Turn to left” — no preposition. And “opposite to the bank” — also no preposition. Correct both on the spot.
EXTRA EXAMPLES: Encourage landmarks. Directions with landmarks are far easier to follow than directions with distances.
TIP: Have partners draw the route rather than repeat it. Drawing proves comprehension in a way that repeating does not.
CLASSROOM ACTIVITY: Route drawing: collect the drawings and compare them with the intended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Back to back is essential — it removes the face, which is where learners get half their information. This is what makes phone English hard.
COMMON MISTAKES: Numbers are the failure point. Insist that every number is read back to confirm.
EXTRA EXAMPLES: Give each pair a card with the name, number and message so the content is fixed and only the language is being practised.
TIP: Reading a number back is a professional habit, not a sign of weakness. Say that explicitly to working adults.
CLASSROOM ACTIVITY: Accuracy check: compare the written message with the card. Count how many were exactly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Producing joined speech is the fastest way to learn to hear it. The mouth teaches the ear. Insist everyone tries, even if it feels strange.
COMMON MISTAKES: Learners resist, thinking it is bad English. Repeat that this is how educated native speakers speak all the time.
EXTRA EXAMPLES: More joins: “kind of” → kinda · “lots of” → lotsa · “let me” → lemme.
TIP: Make it fun. Exaggerate. The laughter removes the embarrassment and the sounds stick.
CLASSROOM ACTIVITY: Fast and slow: give ten sentences. Learners say each one slowly then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Insist the speaker uses natural speed. Slow, careful speech defeats the purpose of the whole module.
COMMON MISTAKES: Task 1 will produce errors. That is the point — count them and repeat until they fall.
EXTRA EXAMPLES: Have pairs record their error count and compare it after the homework week.
TIP: Task 3 practises reading back, which is the professional habit that prevents costly mistakes.
CLASSROOM ACTIVITY: Error count: total the class errors on task 1 and write the number on the board. Repeat at the end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including listening back.
HOW TO TEACH: Record on a phone or perform live to a partner. Step 4 should be done facing away from the listener.
COMMON MISTAKES: Step 2 is where the teen/ty distinction is assessed. Listen carefully for the stress placement.
TIP: Keep every recording. Comparing the first and last recordings across the level is the strongest motivator learners have.
CLASSROOM ACTIVITY: Keep every recording for the end-of-level comparison.
ANSWERS: SUCCESS CRITERIA: four clear direction steps with two position words · five prices distinguishable as teens or tens · three times correctly using past and to · a complete phone message with a readable number · two correct repair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at natural speed, not slowly. Twice only. Drawing rather than writing forces real comprehension.
COMMON MISTAKES: “The second left” is the hard part — learners hear “left” and turn at the first one. Say it clearly and check.
EXTRA EXAMPLES: Add a third reading for weaker groups, but never read slowly — read again at the same speed.
ANSWERS: Right · the market · a small church · about ten minutes on foot.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3 is the diagnostic. Missing the word “second” means the learner was listening word by word instead of listening for the whole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Read fast and through cupped hands to imitate a loudspeaker. This is deliberately the hardest listening in the module and learners should be told so.
COMMON MISTAKES: The platform change is the trap: they hear “platform two” at the end of the sentence and write it. Listening for “not” is the skill.
EXTRA EXAMPLES: “Delayed” is new. Teach it before the third reading if the class is struggling — it is the key word in the last sentence.
ANSWERS: 1 3:15 · 2 Platform four · 3 Platform two · 4 It is delayed. · 5 Thirty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Questions 3 and 5 are the diagnostic pair: one tests catching a small but reversing word, the other tests the teen/ty distinction under real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Insist on English subtitles rather than translated ones. Translated subtitles let the brain switch off the listening entirely.
COMMON MISTAKES: Learners choose material that is far too hard and give up. Recommend material for learners for the first month.
TIP: Songs are the best value: repetition is built in, the words are available, and learners return to them voluntarily.
CLASSROOM ACTIVITY: Class song: choose one English song, listen twice, then hand out the words with ten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Compare with the listening version. The same information in writing is far easier because you can go back — say so explicitly.
COMMON MISTAKES: “The third building on the left” requires counting, which is a common trap in written directions.
EXTRA EXAMPLES: This is a real text type. Businesses send directions like this by message every day.
TIP: Point out that written directions repeat the landmark — hotel, pharmacy, blue sign — because landmarks are what people actually navigate by.
CLASSROOM ACTIVITY: Write your own: learners write directions from a known landmark to their home in five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Question 4 needs care: the office is the third building, so you pass two before it. Accept either answer if the learner explains.
COMMON MISTAKES: Learners answer question 2 with “ten minutes” without “about”. Accept it, but point out that “about” means approximately.
TIP: Ask afterwards which was easier — the listening or the reading — and why. The answer teaches the module's main point.
ANSWERS: 1 From Bole airport. · 2 About ten minutes. · 3 A big hotel. · 4 Two — the office is the third. · 5 A blue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Ask the class which of these five they would have caught if the text had been spoken once at natural speed. Question 4 is the one almost nobody would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is a real work text type. Ask what a good phone message must contain: who, when, why and a number.
COMMON MISTAKES: Message 3 has two times and learners mix them. “Now at” and “not” mark the new and the old.
EXTRA EXAMPLES: Message 4 is the teaching point: no name, so nothing can be done. A message without a name is almost useless.
TIP: Connect to slide 32 — this is exactly what learners produced in the phone role play.
CLASSROOM ACTIVITY: Improve message 4: learners rewrite it saying what the assistant should have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the practical lesson. Ask learners what one question would have fixed message 4 — the answer is “Who is calling, please?”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Read each one twice at natural speed. Choose one of the two options in items 1 and 2 without telling learners which.
COMMON MISTAKES: Item 2: “quarter to six” is 5:45, not 6:45. The hour you hear is the hour that is coming.
TIP: Do this again at the end of the week and compare the error counts. The improvement is usually large and visible.
ANSWERS: 1 15 or 50 — as read · 2 6:15 or 5:45 — as read · 3 0911 345 678 · 4 230 birr · 5 8:30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five-point checklist is the teaching. Have learners check their own messages against it before handing them in.
COMMON MISTAKES: Learners omit the time, which matters more than they expect — a message from three days ago is treated differently from one from ten minutes ago.
TIP: Message 4 is deliberately incomplete — no name. Ask what is missing and what question would have got it.
ANSWERS: MODEL for 1: “Dawit called at 11:00 about the delivery. Please call him back on 0911 111 222.”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Collect the directions, redistribute them, and have learners draw somebody else's route. If the drawing is wrong, the directions were unclear.
COMMON MISTAKES: “Turn to left” and “opposite to the bank” — neither takes a preposition. Correct these on every paper.
TIP: Swapping and drawing is the best possible feedback. It shows immediately whose directions worked.
ANSWERS: MODEL: “Come out of the school and turn right. Go straight on for five minutes. You will pass a bank on your left. Take the second right after the bank. The market is at the end of the road, opposite a small church.”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Read the model and then two learners' versions. Ask which the class could follow most easily and why — usually it is the one with the most landmarks.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five points and connect each one back to the exercise where it was practised.
TIP: Print these as a card. The listening card and the reading card from Module 6 fit on two sides of one page.
CLASSROOM ACTIVITY: Habit check: after every listening for the rest of the level, ask which habit learners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5 is the module's central idea. Anyone answering a) needs slide 10 again.
ANSWERS: 1 b · 2 b · 3 b · 4 b · 5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The hint in brackets makes this accessible to everyone. Take the answers orally.
COMMON MISTAKES: Item 5 needs “and” later in the sentence to be complete. Point that out.
TIP: Item 2 begins the sentence, so it needs a capital letter. Mention it once.
ANSWERS: 1 straight · 2 Turn · 3 opposite · 4 next · 5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Let learners work in pairs and compare.
TIP: Part 2 is the practical one. If learners get all three, they can repair any conversation.
ANSWERS: Part 1: 1–b, 2–a, 3–d, 4–c.  ·  Part 2: 1–b, 2–a, 3–c.  ·  Part 3: 1–c, 2–a, 3–d, 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Read these twice each at natural speed: 1) forty-five birr · 2) quarter to eight · 3) 0911 456 789 · 4) fifteen birr · 5) half past eleven.
COMMON MISTAKES: Items 1 and 4 test the teen/ty distinction directly. Count the class errors and write the number on the board.
TIP: Repeat this exact exercise at the end of the module and compare error counts. The improvement is measurable and motivating.
ANSWERS: 1 45 birr · 2 7:45 · 3 0911 456 789 · 4 15 birr · 5 11:30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Take answers orally and accept any reasonable phrase. Then point out which is most precise for each situation.
COMMON MISTAKES: Learners use the general repeat phrase for everything. Item 2 and item 4 show that precise questions get faster, better answers.
TIP: Item 5 is the most advanced. Repeating back catches errors before they cost anything.
ANSWERS: 1 “Sorry, could you repeat that?” · 2 “Sorry, one five or five zero?” · 3 “Could you speak more slowly, please?” · 4 “Could you write it down?” · 5 “So, straight on and then left?” — repeat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each false statement is what makes this teach rather than test.
TIP: Item 5 matters socially. Learners avoid asking out of embarrassment, and that single hesitation causes most of their communication failures.
ANSWERS: 1 F — it means 8:45 · 2 F — meaning words are strong, grammar words are weak · 3 F — opposite means facing across a space · 4 F — keep listening; stopping costs more · 5 F — it is completely normal and polite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Question 3 is the same as warm-up task 3. Compare the answers — they should have changed from “nothing” to a real phrase.
COMMON MISTAKES: Question 5 needs honest self-assessment. Use the class results to plan revision.
TIP: Read three answers to question 3 aloud beside the warm-up answers. That comparison is the evidence the module worked.
ANSWERS: No fixed answers. Question 3 should now name one of the six repair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Task 3 must be back to back. Removing the face is what makes it a real phone call.
TIP: Task 4 is enjoyable and removes the embarrassment of asking for a repeat, which is the point.
ANSWERS: SUCCESS CRITERIA: 1 a correct drawing · 2 five prices written correctly · 3 a complete message with name, number and reason · 4 a correct repair phrase used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This is the bridge to the quiz. Expect it to be genuinely hard and let learners work in pairs.
TIP: Question 5 tests recall of the phrases that matter most in real life. Anyone who can write four of the six is well prepared.
ANSWERS: 1 What are you doing? · Do you want …? · I am going to … · Did you eat? · I have got to … · 2 any six, at least two with “to” · 3 must include two landmarks and two position words · 4 must contain all five parts · 5 the six phrases from slide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Question 1 draws out the module's central point: in reading you control the speed, in listening you do not.
TIP: Question 4 is the most practical thing in the module. Precision in asking saves the whole conversation.
ANSWERS: 1 You cannot control the speed and you cannot go back, so a missed word is gone. 2 No face, no gestures, no lip movement, and poor sound quality. 3 Listen for the strong words only, decide what you want before it starts, never stop at a missed word, and practise ten minutes a day. 4 The precise question gets a two-word answer; the general one gets the whole sentence again, which you may miss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Q3 and Q13 are the diagnostic block: the “to” form of times, the teen/ty distinction, and the habit of not stopping at a missed word. Errors here need slides 18, 19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Q3 and Q13 are the diagnostic block: the “to” form of times, the teen/ty distinction, and the habit of not stopping at a missed word. Errors here need slides 18, 19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Q3 and Q13 are the diagnostic block: the “to” form of times, the teen/ty distinction, and the habit of not stopping at a missed word. Errors here need slides 18, 19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Q3 and Q13 are the diagnostic block: the “to” form of times, the teen/ty distinction, and the habit of not stopping at a missed word. Errors here need slides 18, 19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Q3 and Q13 are the diagnostic block: the “to” form of times, the teen/ty distinction, and the habit of not stopping at a missed word. Errors here need slides 18, 19 and 10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Monday's task is the most enjoyable and the most effective. Songs have built-in repetition and learners return to them voluntarily.
TIP: Friday's task matters most: the repair phrases must be automatic, because you have no time to think when somebody is speaking to you.
CLASSROOM ACTIVITY: Choose one song as a class so everyone can compare what they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Redistribute task 1 in the next lesson and have learners draw each other's routes. Whose directions work is immediately visible.
COMMON MISTAKES: Learners who cannot record must not be excluded. Offer the live option openly.
TIP: Reply to every recording by voice. Comment specifically on the prices and times — that is where the measurable improvement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Note that the directions are marked on whether a partner can follow them, not on perfect grammar.
COMMON MISTAKES: Do not deduct marks for accent in the recording. Assess whether the information is clear, not whether it sounds native.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3 and ask warm-up task 3 again: what do you say when you do not understand? The answers should now be real phrases rather than silence.
TIP: Also repeat the Exercise D dictation and compare the error count. Measurable improvement in one week is powerful evidence.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photograph this slide. Better still, print the first box on a card small enough to keep in a wallet.
TIP: The six repair phrases are the highest-value thing in the module. A learner who has them ready never gets stuck in a conversation.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change: learners now have something to DO when they miss a word, instead of freezing. That is the module's real achievement.
TIP: Preview Module 8 as the last module of Level 2 — the one that puts everything on paper. After it, learners will have completed the whole level.
CLASSROOM ACTIVITY: Ask every learner to name one place they will listen for English before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2</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2</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Elementary</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A1 → A2</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7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50" b="1" dirty="0">
                <a:solidFill>
                  <a:srgbClr val="FFFFFF"/>
                </a:solidFill>
                <a:latin typeface="Calibri" pitchFamily="34" charset="0"/>
                <a:ea typeface="Calibri" pitchFamily="34" charset="-122"/>
                <a:cs typeface="Calibri" pitchFamily="34" charset="-120"/>
              </a:rPr>
              <a:t>Listening in Real Life</a:t>
            </a:r>
            <a:endParaRPr lang="en-US" sz="445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350" dirty="0">
                <a:solidFill>
                  <a:srgbClr val="B9CFC1"/>
                </a:solidFill>
                <a:latin typeface="Calibri" pitchFamily="34" charset="0"/>
                <a:ea typeface="Calibri" pitchFamily="34" charset="-122"/>
                <a:cs typeface="Calibri" pitchFamily="34" charset="-120"/>
              </a:rPr>
              <a:t>Real English is fast, joined together, and does not wait for you. This module teaches you what to listen FOR — and what to do when you miss something.</a:t>
            </a:r>
            <a:endParaRPr lang="en-US" sz="135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6</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LISTENING SCRIPTS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all about real speech, not classroom speech.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Catch numbers, prices and times in fast speech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information people actually need.</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Understand and give directions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Go straight · turn left · it is opposite the bank.</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Understand announcements and phone calls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Where speech is fast and you cannot see the speaker's face.</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Ask somebody to repeat or slow down — politely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Four phrases. They save every conversation.</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Keep listening when you miss a word</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most important skill of all. You cannot go back.</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what is hard about listening?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Be honest. Everybody finds this difficult.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What is hardest?</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Speed? Accent? Not knowing the words? Not seeing the person? Say which.</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On the phone</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Is English on the phone harder than face to face? Why do you think that is?</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What do you say?</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When you do not understand somebody, what do you say? What do you WANT to say?</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Nobody understands every word — not even in their own language.</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600" dirty="0">
                <a:solidFill>
                  <a:srgbClr val="B9CFC1"/>
                </a:solidFill>
                <a:latin typeface="Calibri" pitchFamily="34" charset="0"/>
                <a:ea typeface="Calibri" pitchFamily="34" charset="-122"/>
                <a:cs typeface="Calibri" pitchFamily="34" charset="-120"/>
              </a:rPr>
              <a:t>Good listeners are not people who hear everything. They are people who catch the important parts</a:t>
            </a:r>
            <a:endParaRPr lang="en-US" sz="1600" dirty="0"/>
          </a:p>
          <a:p>
            <a:pPr indent="0" marL="0">
              <a:lnSpc>
                <a:spcPct val="120000"/>
              </a:lnSpc>
              <a:buNone/>
            </a:pPr>
            <a:r>
              <a:rPr lang="en-US" sz="1600" dirty="0">
                <a:solidFill>
                  <a:srgbClr val="B9CFC1"/>
                </a:solidFill>
                <a:latin typeface="Calibri" pitchFamily="34" charset="0"/>
                <a:ea typeface="Calibri" pitchFamily="34" charset="-122"/>
                <a:cs typeface="Calibri" pitchFamily="34" charset="-120"/>
              </a:rPr>
              <a:t>and keep going past the rest without panicking.</a:t>
            </a:r>
            <a:endParaRPr lang="en-US" sz="16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Catch the key words</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Guess the rest</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Never stop to think</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Why real English sounds so fast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It is not really faster. The words are JOINED.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What is written</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are you doing?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 you want a coffee?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going to go.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is his name?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Did you eat?</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What you hear</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“Whatcha doing?”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“D'you wanna coffee?”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“I'm gonna go.”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“What's-is-name?”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“Dijeat?”</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speaker is not being lazy. This is normal, correct, educated English. Every native speaker does it, all the time.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 for the STRONG words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English does not say every word with the same strength.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sp>
        <p:nvSpPr>
          <p:cNvPr id="11" name="Shape 7"/>
          <p:cNvSpPr/>
          <p:nvPr/>
        </p:nvSpPr>
        <p:spPr>
          <a:xfrm>
            <a:off x="548640" y="1883664"/>
            <a:ext cx="63093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7607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ONE SENTENCE, TWO KINDS OF WORD</a:t>
            </a:r>
            <a:endParaRPr lang="en-US" sz="1200" dirty="0"/>
          </a:p>
        </p:txBody>
      </p:sp>
      <p:sp>
        <p:nvSpPr>
          <p:cNvPr id="13" name="Text 9"/>
          <p:cNvSpPr txBox="1"/>
          <p:nvPr/>
        </p:nvSpPr>
        <p:spPr>
          <a:xfrm>
            <a:off x="822960" y="2487168"/>
            <a:ext cx="5760720" cy="3218688"/>
          </a:xfrm>
          <a:prstGeom prst="rect">
            <a:avLst/>
          </a:prstGeom>
          <a:noFill/>
          <a:ln/>
        </p:spPr>
        <p:txBody>
          <a:bodyPr wrap="square" lIns="0" tIns="0" rIns="0" bIns="0" rtlCol="0" anchor="ctr"/>
          <a:lstStyle/>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“I went to the MARKET</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  and bought some TOMATOES</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  for TWENTY birr.”</a:t>
            </a:r>
            <a:endParaRPr lang="en-US" sz="1600" dirty="0"/>
          </a:p>
          <a:p>
            <a:pPr indent="0" marL="0">
              <a:lnSpc>
                <a:spcPct val="145000"/>
              </a:lnSpc>
              <a:buNone/>
            </a:pP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STRONG and clear:</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     market · bought · tomatoes · twenty</a:t>
            </a:r>
            <a:endParaRPr lang="en-US" sz="1600" dirty="0"/>
          </a:p>
          <a:p>
            <a:pPr indent="0" marL="0">
              <a:lnSpc>
                <a:spcPct val="145000"/>
              </a:lnSpc>
              <a:buNone/>
            </a:pP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Weak and fast:</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     I · to · the · and · some · for</a:t>
            </a:r>
            <a:endParaRPr lang="en-US" sz="1600" dirty="0"/>
          </a:p>
        </p:txBody>
      </p:sp>
      <p:sp>
        <p:nvSpPr>
          <p:cNvPr id="14" name="Shape 10"/>
          <p:cNvSpPr/>
          <p:nvPr/>
        </p:nvSpPr>
        <p:spPr>
          <a:xfrm>
            <a:off x="7132320" y="1883664"/>
            <a:ext cx="451073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370064" y="2103120"/>
            <a:ext cx="40352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THE RULE</a:t>
            </a:r>
            <a:endParaRPr lang="en-US" sz="1200" dirty="0"/>
          </a:p>
        </p:txBody>
      </p:sp>
      <p:sp>
        <p:nvSpPr>
          <p:cNvPr id="16" name="Text 12"/>
          <p:cNvSpPr/>
          <p:nvPr/>
        </p:nvSpPr>
        <p:spPr>
          <a:xfrm>
            <a:off x="7406640" y="2505456"/>
            <a:ext cx="39620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Words that carry MEANING are said strongly: nouns, main verbs, numbers, names.</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Small grammar words are swallowed: a, the, to, and, of, for, some.</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You do not need the small words — you can guess them.</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Listen only for the strong words. That is the whole information.</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Catching numbers — the information that matters most</a:t>
            </a:r>
            <a:endParaRPr lang="en-US" sz="32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Prices, times, phone numbers and dates are said in fixed ways. Learn the ways.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468880"/>
                <a:gridCol w="4114800"/>
                <a:gridCol w="4510735"/>
              </a:tblGrid>
              <a:tr h="47548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Kind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1FA3A3"/>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How it is said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1FA3A3"/>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Watch out for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1FA3A3"/>
                    </a:solidFill>
                  </a:tcPr>
                </a:tc>
              </a:tr>
              <a:tr h="475488">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Price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“fifty birr”  ·  “two fifty” = 2.50</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“fifteen” and “fifty” sound very similar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Time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“half past two”  ·  “quarter to nine”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“to” means before, “past” means after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75488">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Phone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digit by digit: “oh nine one one…”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0 is said “oh” or “zero”, never “nothing”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Date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fifth of May”  ·  “May the fifth”</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both orders are correct and both are used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THIRTEEN or THIRTY?  Listen to the END: -TEEN is long and stressed. -ty is short and weak. Say them aloud until you hear the difference.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Directions — six phrases cover almost everything</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Learn to understand them first. Saying them comes next.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sp>
        <p:nvSpPr>
          <p:cNvPr id="11" name="Shape 7"/>
          <p:cNvSpPr/>
          <p:nvPr/>
        </p:nvSpPr>
        <p:spPr>
          <a:xfrm>
            <a:off x="548640" y="1883664"/>
            <a:ext cx="3564026"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Go straight on</a:t>
            </a:r>
            <a:endParaRPr lang="en-US" sz="1600" dirty="0"/>
          </a:p>
          <a:p>
            <a:pPr indent="0" marL="0">
              <a:lnSpc>
                <a:spcPct val="102000"/>
              </a:lnSpc>
              <a:spcBef>
                <a:spcPts val="320"/>
              </a:spcBef>
              <a:buNone/>
            </a:pPr>
            <a:r>
              <a:rPr lang="en-US" sz="1240" dirty="0">
                <a:solidFill>
                  <a:srgbClr val="3A473F"/>
                </a:solidFill>
                <a:latin typeface="Calibri" pitchFamily="34" charset="0"/>
                <a:ea typeface="Calibri" pitchFamily="34" charset="-122"/>
                <a:cs typeface="Calibri" pitchFamily="34" charset="-120"/>
              </a:rPr>
              <a:t>Continue. Do not turn.</a:t>
            </a:r>
            <a:endParaRPr lang="en-US" sz="1600" dirty="0"/>
          </a:p>
          <a:p>
            <a:pPr indent="0" marL="0">
              <a:lnSpc>
                <a:spcPct val="102000"/>
              </a:lnSpc>
              <a:spcBef>
                <a:spcPts val="320"/>
              </a:spcBef>
              <a:buNone/>
            </a:pPr>
            <a:r>
              <a:rPr lang="en-US" sz="1240" dirty="0">
                <a:solidFill>
                  <a:srgbClr val="3A473F"/>
                </a:solidFill>
                <a:latin typeface="Calibri" pitchFamily="34" charset="0"/>
                <a:ea typeface="Calibri" pitchFamily="34" charset="-122"/>
                <a:cs typeface="Calibri" pitchFamily="34" charset="-120"/>
              </a:rPr>
              <a:t>“Go straight for two minutes.”</a:t>
            </a:r>
            <a:endParaRPr lang="en-US" sz="1600" dirty="0"/>
          </a:p>
        </p:txBody>
      </p:sp>
      <p:sp>
        <p:nvSpPr>
          <p:cNvPr id="15" name="Shape 10"/>
          <p:cNvSpPr/>
          <p:nvPr/>
        </p:nvSpPr>
        <p:spPr>
          <a:xfrm>
            <a:off x="4313834" y="1883664"/>
            <a:ext cx="3564026"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4533290"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Turn left / right</a:t>
            </a:r>
            <a:endParaRPr lang="en-US" sz="1750" dirty="0"/>
          </a:p>
          <a:p>
            <a:pPr indent="0" marL="0">
              <a:lnSpc>
                <a:spcPct val="102000"/>
              </a:lnSpc>
              <a:spcBef>
                <a:spcPts val="350"/>
              </a:spcBef>
              <a:buNone/>
            </a:pPr>
            <a:r>
              <a:rPr lang="en-US" sz="1360" dirty="0">
                <a:solidFill>
                  <a:srgbClr val="3A473F"/>
                </a:solidFill>
                <a:latin typeface="Calibri" pitchFamily="34" charset="0"/>
                <a:ea typeface="Calibri" pitchFamily="34" charset="-122"/>
                <a:cs typeface="Calibri" pitchFamily="34" charset="-120"/>
              </a:rPr>
              <a:t>“Turn left at the bank.”</a:t>
            </a:r>
            <a:endParaRPr lang="en-US" sz="1750" dirty="0"/>
          </a:p>
          <a:p>
            <a:pPr indent="0" marL="0">
              <a:lnSpc>
                <a:spcPct val="102000"/>
              </a:lnSpc>
              <a:spcBef>
                <a:spcPts val="350"/>
              </a:spcBef>
              <a:buNone/>
            </a:pPr>
            <a:r>
              <a:rPr lang="en-US" sz="1360" dirty="0">
                <a:solidFill>
                  <a:srgbClr val="3A473F"/>
                </a:solidFill>
                <a:latin typeface="Calibri" pitchFamily="34" charset="0"/>
                <a:ea typeface="Calibri" pitchFamily="34" charset="-122"/>
                <a:cs typeface="Calibri" pitchFamily="34" charset="-120"/>
              </a:rPr>
              <a:t>“Take the second right.”</a:t>
            </a:r>
            <a:endParaRPr lang="en-US" sz="1750" dirty="0"/>
          </a:p>
        </p:txBody>
      </p:sp>
      <p:sp>
        <p:nvSpPr>
          <p:cNvPr id="19" name="Shape 13"/>
          <p:cNvSpPr/>
          <p:nvPr/>
        </p:nvSpPr>
        <p:spPr>
          <a:xfrm>
            <a:off x="8079029" y="1883664"/>
            <a:ext cx="3564026"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8298485" y="2103120"/>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It is opposite …</a:t>
            </a:r>
            <a:endParaRPr lang="en-US" sz="1650" dirty="0"/>
          </a:p>
          <a:p>
            <a:pPr indent="0" marL="0">
              <a:lnSpc>
                <a:spcPct val="102000"/>
              </a:lnSpc>
              <a:spcBef>
                <a:spcPts val="330"/>
              </a:spcBef>
              <a:buNone/>
            </a:pPr>
            <a:r>
              <a:rPr lang="en-US" sz="1280" dirty="0">
                <a:solidFill>
                  <a:srgbClr val="3A473F"/>
                </a:solidFill>
                <a:latin typeface="Calibri" pitchFamily="34" charset="0"/>
                <a:ea typeface="Calibri" pitchFamily="34" charset="-122"/>
                <a:cs typeface="Calibri" pitchFamily="34" charset="-120"/>
              </a:rPr>
              <a:t>On the other side, facing it.</a:t>
            </a:r>
            <a:endParaRPr lang="en-US" sz="1650" dirty="0"/>
          </a:p>
          <a:p>
            <a:pPr indent="0" marL="0">
              <a:lnSpc>
                <a:spcPct val="102000"/>
              </a:lnSpc>
              <a:spcBef>
                <a:spcPts val="330"/>
              </a:spcBef>
              <a:buNone/>
            </a:pPr>
            <a:r>
              <a:rPr lang="en-US" sz="1280" dirty="0">
                <a:solidFill>
                  <a:srgbClr val="3A473F"/>
                </a:solidFill>
                <a:latin typeface="Calibri" pitchFamily="34" charset="0"/>
                <a:ea typeface="Calibri" pitchFamily="34" charset="-122"/>
                <a:cs typeface="Calibri" pitchFamily="34" charset="-120"/>
              </a:rPr>
              <a:t>“It is opposite the school.”</a:t>
            </a:r>
            <a:endParaRPr lang="en-US" sz="1650" dirty="0"/>
          </a:p>
        </p:txBody>
      </p:sp>
      <p:sp>
        <p:nvSpPr>
          <p:cNvPr id="23" name="Shape 16"/>
          <p:cNvSpPr/>
          <p:nvPr/>
        </p:nvSpPr>
        <p:spPr>
          <a:xfrm>
            <a:off x="548640" y="4014216"/>
            <a:ext cx="3564026"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768096"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It is next to …</a:t>
            </a:r>
            <a:endParaRPr lang="en-US" sz="1750" dirty="0"/>
          </a:p>
          <a:p>
            <a:pPr indent="0" marL="0">
              <a:lnSpc>
                <a:spcPct val="102000"/>
              </a:lnSpc>
              <a:spcBef>
                <a:spcPts val="350"/>
              </a:spcBef>
              <a:buNone/>
            </a:pPr>
            <a:r>
              <a:rPr lang="en-US" sz="1360" dirty="0">
                <a:solidFill>
                  <a:srgbClr val="3A473F"/>
                </a:solidFill>
                <a:latin typeface="Calibri" pitchFamily="34" charset="0"/>
                <a:ea typeface="Calibri" pitchFamily="34" charset="-122"/>
                <a:cs typeface="Calibri" pitchFamily="34" charset="-120"/>
              </a:rPr>
              <a:t>Beside it, touching it.</a:t>
            </a:r>
            <a:endParaRPr lang="en-US" sz="1750" dirty="0"/>
          </a:p>
          <a:p>
            <a:pPr indent="0" marL="0">
              <a:lnSpc>
                <a:spcPct val="102000"/>
              </a:lnSpc>
              <a:spcBef>
                <a:spcPts val="350"/>
              </a:spcBef>
              <a:buNone/>
            </a:pPr>
            <a:r>
              <a:rPr lang="en-US" sz="1360" dirty="0">
                <a:solidFill>
                  <a:srgbClr val="3A473F"/>
                </a:solidFill>
                <a:latin typeface="Calibri" pitchFamily="34" charset="0"/>
                <a:ea typeface="Calibri" pitchFamily="34" charset="-122"/>
                <a:cs typeface="Calibri" pitchFamily="34" charset="-120"/>
              </a:rPr>
              <a:t>“Next to the pharmacy.”</a:t>
            </a:r>
            <a:endParaRPr lang="en-US" sz="1750" dirty="0"/>
          </a:p>
        </p:txBody>
      </p:sp>
      <p:sp>
        <p:nvSpPr>
          <p:cNvPr id="27" name="Shape 19"/>
          <p:cNvSpPr/>
          <p:nvPr/>
        </p:nvSpPr>
        <p:spPr>
          <a:xfrm>
            <a:off x="4313834" y="4014216"/>
            <a:ext cx="3564026" cy="1929384"/>
          </a:xfrm>
          <a:prstGeom prst="roundRect">
            <a:avLst>
              <a:gd name="adj" fmla="val 6635"/>
            </a:avLst>
          </a:prstGeom>
          <a:solidFill>
            <a:srgbClr val="E8F6F6"/>
          </a:solidFill>
          <a:ln w="12700">
            <a:solidFill>
              <a:srgbClr val="BEE2E2"/>
            </a:solidFill>
            <a:prstDash val="solid"/>
          </a:ln>
        </p:spPr>
      </p:sp>
      <p:sp>
        <p:nvSpPr>
          <p:cNvPr id="28" name="Shape 20"/>
          <p:cNvSpPr/>
          <p:nvPr/>
        </p:nvSpPr>
        <p:spPr>
          <a:xfrm>
            <a:off x="4533290" y="4233672"/>
            <a:ext cx="457200" cy="457200"/>
          </a:xfrm>
          <a:prstGeom prst="ellipse">
            <a:avLst/>
          </a:prstGeom>
          <a:solidFill>
            <a:srgbClr val="1FA3A3"/>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It is between … and …</a:t>
            </a:r>
            <a:endParaRPr lang="en-US" sz="1550" dirty="0"/>
          </a:p>
          <a:p>
            <a:pPr indent="0" marL="0">
              <a:lnSpc>
                <a:spcPct val="102000"/>
              </a:lnSpc>
              <a:spcBef>
                <a:spcPts val="310"/>
              </a:spcBef>
              <a:buNone/>
            </a:pPr>
            <a:r>
              <a:rPr lang="en-US" sz="1200" dirty="0">
                <a:solidFill>
                  <a:srgbClr val="3A473F"/>
                </a:solidFill>
                <a:latin typeface="Calibri" pitchFamily="34" charset="0"/>
                <a:ea typeface="Calibri" pitchFamily="34" charset="-122"/>
                <a:cs typeface="Calibri" pitchFamily="34" charset="-120"/>
              </a:rPr>
              <a:t>One thing on each side.</a:t>
            </a:r>
            <a:endParaRPr lang="en-US" sz="1550" dirty="0"/>
          </a:p>
          <a:p>
            <a:pPr indent="0" marL="0">
              <a:lnSpc>
                <a:spcPct val="102000"/>
              </a:lnSpc>
              <a:spcBef>
                <a:spcPts val="310"/>
              </a:spcBef>
              <a:buNone/>
            </a:pPr>
            <a:r>
              <a:rPr lang="en-US" sz="1200" dirty="0">
                <a:solidFill>
                  <a:srgbClr val="3A473F"/>
                </a:solidFill>
                <a:latin typeface="Calibri" pitchFamily="34" charset="0"/>
                <a:ea typeface="Calibri" pitchFamily="34" charset="-122"/>
                <a:cs typeface="Calibri" pitchFamily="34" charset="-120"/>
              </a:rPr>
              <a:t>“Between the bank and the café.”</a:t>
            </a:r>
            <a:endParaRPr lang="en-US" sz="1550" dirty="0"/>
          </a:p>
        </p:txBody>
      </p:sp>
      <p:sp>
        <p:nvSpPr>
          <p:cNvPr id="31" name="Shape 22"/>
          <p:cNvSpPr/>
          <p:nvPr/>
        </p:nvSpPr>
        <p:spPr>
          <a:xfrm>
            <a:off x="8079029" y="4014216"/>
            <a:ext cx="3564026" cy="1929384"/>
          </a:xfrm>
          <a:prstGeom prst="roundRect">
            <a:avLst>
              <a:gd name="adj" fmla="val 6635"/>
            </a:avLst>
          </a:prstGeom>
          <a:solidFill>
            <a:srgbClr val="E8F6F6"/>
          </a:solidFill>
          <a:ln w="12700">
            <a:solidFill>
              <a:srgbClr val="BEE2E2"/>
            </a:solidFill>
            <a:prstDash val="solid"/>
          </a:ln>
        </p:spPr>
      </p:sp>
      <p:sp>
        <p:nvSpPr>
          <p:cNvPr id="32" name="Shape 23"/>
          <p:cNvSpPr/>
          <p:nvPr/>
        </p:nvSpPr>
        <p:spPr>
          <a:xfrm>
            <a:off x="8298485" y="4233672"/>
            <a:ext cx="457200" cy="457200"/>
          </a:xfrm>
          <a:prstGeom prst="ellipse">
            <a:avLst/>
          </a:prstGeom>
          <a:solidFill>
            <a:srgbClr val="1FA3A3"/>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It is on the corner</a:t>
            </a:r>
            <a:endParaRPr lang="en-US" sz="1550" dirty="0"/>
          </a:p>
          <a:p>
            <a:pPr indent="0" marL="0">
              <a:lnSpc>
                <a:spcPct val="102000"/>
              </a:lnSpc>
              <a:spcBef>
                <a:spcPts val="310"/>
              </a:spcBef>
              <a:buNone/>
            </a:pPr>
            <a:r>
              <a:rPr lang="en-US" sz="1200" dirty="0">
                <a:solidFill>
                  <a:srgbClr val="3A473F"/>
                </a:solidFill>
                <a:latin typeface="Calibri" pitchFamily="34" charset="0"/>
                <a:ea typeface="Calibri" pitchFamily="34" charset="-122"/>
                <a:cs typeface="Calibri" pitchFamily="34" charset="-120"/>
              </a:rPr>
              <a:t>Where two roads meet.</a:t>
            </a:r>
            <a:endParaRPr lang="en-US" sz="1550" dirty="0"/>
          </a:p>
          <a:p>
            <a:pPr indent="0" marL="0">
              <a:lnSpc>
                <a:spcPct val="102000"/>
              </a:lnSpc>
              <a:spcBef>
                <a:spcPts val="310"/>
              </a:spcBef>
              <a:buNone/>
            </a:pPr>
            <a:r>
              <a:rPr lang="en-US" sz="1200" dirty="0">
                <a:solidFill>
                  <a:srgbClr val="3A473F"/>
                </a:solidFill>
                <a:latin typeface="Calibri" pitchFamily="34" charset="0"/>
                <a:ea typeface="Calibri" pitchFamily="34" charset="-122"/>
                <a:cs typeface="Calibri" pitchFamily="34" charset="-120"/>
              </a:rPr>
              <a:t>“On the corner of the main road.”</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When you miss something — four phrases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Say something. Silence and nodding make it worse.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4023360"/>
                <a:gridCol w="3200400"/>
                <a:gridCol w="3870655"/>
              </a:tblGrid>
              <a:tr h="47548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Say this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1FA3A3"/>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When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1FA3A3"/>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 it works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1FA3A3"/>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“Sorry, could you repeat that?”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 missed all of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polite, and everyone understands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“Could you speak more slowly, please?”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 was too fast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asks for a change, not a repeat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“Sorry, did you say fifteen or fifty?”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 missed ONE thing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precise — you get the exact answer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“What does … mean?”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one word blocked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from Module 5. Still the best question.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third one is the best. Naming exactly what you missed gets you a one-second answer instead of the whole sentence again.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to do when you miss a word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steps, in order. The first is the hardest.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1FA3A3"/>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KEEP LISTENING. Do not stop to think.</a:t>
            </a:r>
            <a:endParaRPr lang="en-US" sz="1700" dirty="0"/>
          </a:p>
          <a:p>
            <a:pPr indent="0" marL="0">
              <a:lnSpc>
                <a:spcPct val="102000"/>
              </a:lnSpc>
              <a:spcBef>
                <a:spcPts val="255"/>
              </a:spcBef>
              <a:buNone/>
            </a:pPr>
            <a:r>
              <a:rPr lang="en-US" sz="1280" dirty="0">
                <a:solidFill>
                  <a:srgbClr val="3A473F"/>
                </a:solidFill>
                <a:latin typeface="Calibri" pitchFamily="34" charset="0"/>
                <a:ea typeface="Calibri" pitchFamily="34" charset="-122"/>
                <a:cs typeface="Calibri" pitchFamily="34" charset="-120"/>
              </a:rPr>
              <a:t>If you stop, you miss the next three words too. That is how a whole conversation is lost.</a:t>
            </a:r>
            <a:endParaRPr lang="en-US" sz="17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1FA3A3"/>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Wait — the next sentence often explains it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People repeat themselves. The information usually comes twice.</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1FA3A3"/>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1850" b="1" dirty="0">
                <a:solidFill>
                  <a:srgbClr val="12211B"/>
                </a:solidFill>
                <a:latin typeface="Calibri" pitchFamily="34" charset="0"/>
                <a:ea typeface="Calibri" pitchFamily="34" charset="-122"/>
                <a:cs typeface="Calibri" pitchFamily="34" charset="-120"/>
              </a:rPr>
              <a:t>Guess from the situation</a:t>
            </a:r>
            <a:endParaRPr lang="en-US" sz="1850" dirty="0"/>
          </a:p>
          <a:p>
            <a:pPr indent="0" marL="0">
              <a:lnSpc>
                <a:spcPct val="102000"/>
              </a:lnSpc>
              <a:spcBef>
                <a:spcPts val="278"/>
              </a:spcBef>
              <a:buNone/>
            </a:pPr>
            <a:r>
              <a:rPr lang="en-US" sz="1390" dirty="0">
                <a:solidFill>
                  <a:srgbClr val="3A473F"/>
                </a:solidFill>
                <a:latin typeface="Calibri" pitchFamily="34" charset="0"/>
                <a:ea typeface="Calibri" pitchFamily="34" charset="-122"/>
                <a:cs typeface="Calibri" pitchFamily="34" charset="-120"/>
              </a:rPr>
              <a:t>You are in a bank. The word is probably about money. Context narrows it enormously.</a:t>
            </a:r>
            <a:endParaRPr lang="en-US" sz="185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1FA3A3"/>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Only then, ask — and be precise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“Sorry, did you say fifteen or fifty?” beats “Sorry, I do not understand.”</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message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message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/ˈmesɪdʒ/</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Information you send or leave for somebody.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050" b="1" dirty="0">
                <a:solidFill>
                  <a:srgbClr val="12211B"/>
                </a:solidFill>
                <a:latin typeface="Calibri" pitchFamily="34" charset="0"/>
                <a:ea typeface="Calibri" pitchFamily="34" charset="-122"/>
                <a:cs typeface="Calibri" pitchFamily="34" charset="-120"/>
              </a:rPr>
              <a:t>She left a message for you. I got your message.</a:t>
            </a:r>
            <a:endParaRPr lang="en-US" sz="20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You LEAVE a message and you GET a message. Do not say “I heard a message” for one that was left for you.</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announcement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850" b="1" dirty="0">
                <a:solidFill>
                  <a:srgbClr val="12211B"/>
                </a:solidFill>
                <a:latin typeface="Calibri" pitchFamily="34" charset="0"/>
                <a:ea typeface="Calibri" pitchFamily="34" charset="-122"/>
                <a:cs typeface="Calibri" pitchFamily="34" charset="-120"/>
              </a:rPr>
              <a:t>announcement</a:t>
            </a:r>
            <a:endParaRPr lang="en-US" sz="485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/əˈnaʊnsmənt/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Important information said aloud to many people.</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400" b="1" dirty="0">
                <a:solidFill>
                  <a:srgbClr val="12211B"/>
                </a:solidFill>
                <a:latin typeface="Calibri" pitchFamily="34" charset="0"/>
                <a:ea typeface="Calibri" pitchFamily="34" charset="-122"/>
                <a:cs typeface="Calibri" pitchFamily="34" charset="-120"/>
              </a:rPr>
              <a:t>There was an announcement about the bus. Listen to the announcement.</a:t>
            </a:r>
            <a:endParaRPr lang="en-US" sz="1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Stress on the SECOND syllable: an-NOUNCE-ment. It is a long word — say it slowly at first.</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straight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straight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/streɪt/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 / adjective</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Not turning. Continuing in the same direction.</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Go straight on for two minutes. The road is straight.</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Three consonants at the start — “str”. Do not add a vowel: /streɪt/, not “se-traight”. And the GH is silent.</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turn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turn</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/tɜːn/</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change direction.</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900" b="1" dirty="0">
                <a:solidFill>
                  <a:srgbClr val="12211B"/>
                </a:solidFill>
                <a:latin typeface="Calibri" pitchFamily="34" charset="0"/>
                <a:ea typeface="Calibri" pitchFamily="34" charset="-122"/>
                <a:cs typeface="Calibri" pitchFamily="34" charset="-120"/>
              </a:rPr>
              <a:t>Turn left at the bank. Turn right after the school.</a:t>
            </a:r>
            <a:endParaRPr lang="en-US" sz="19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“Turn left”, not “turn to left”. No preposition before the direction.</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opposite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opposite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/ˈɒpəzɪt/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preposition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On the other side, facing it.</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650" b="1" dirty="0">
                <a:solidFill>
                  <a:srgbClr val="12211B"/>
                </a:solidFill>
                <a:latin typeface="Calibri" pitchFamily="34" charset="0"/>
                <a:ea typeface="Calibri" pitchFamily="34" charset="-122"/>
                <a:cs typeface="Calibri" pitchFamily="34" charset="-120"/>
              </a:rPr>
              <a:t>The bank is opposite the school. It is opposite the market.</a:t>
            </a:r>
            <a:endParaRPr lang="en-US" sz="16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“Opposite the bank”, not “opposite TO the bank”. And opposite is NOT the same as next to.</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967228"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47345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LANGUAGE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The imperative — the form used for directions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person, no helper. Just the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657600"/>
                <a:gridCol w="3657600"/>
                <a:gridCol w="377921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Positive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Negative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Where you hear it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Go straight 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 not turn here.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directions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Turn left at the bank.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 not cross the road.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directions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Wait here, please.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 not wait outside.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notices and instructions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Press the button.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 not touch the screen.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machines and signs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imperative is the SIMPLEST form in English — just the base verb. Add “please” to make it polite.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967228"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47345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LANGUAGE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Position words — where things are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words. Get these right and you will never be lost.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926080"/>
                <a:gridCol w="4023360"/>
                <a:gridCol w="414497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It means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next to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beside it, touching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bank is next to the pharmacy.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opposite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facing it, across the road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school is opposite the bank.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between … and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one thing on each side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 is between the bank and the café.</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behind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at the back of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car park is behind the hotel.</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in front of</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before it, on the same side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There is a tree in front of the shop.</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“Opposite” and “in front of” are NOT the same. Opposite = across a road, facing. In front of = before it, same side.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967228"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47345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LANGUAGE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Numbers you must not confuse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difference is at the END of the word.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-TEEN  ·  long, stressed</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thirTEEN  =  13</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fourTEEN  =  14</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fifTEEN  =  15</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sixTEEN  =  16</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stress is on the END.</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-ty  ·  short, weak</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THIRty  =  30</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FORty  =  40</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FIFty  =  50</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SIXty  =  60</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stress is at the START.</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If you are not sure, ASK: “Sorry, one five or five zero?”  Nobody minds, and it is better than paying the wrong price.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967228"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47345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LANGUAGE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Telling the time by ear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Two systems. You will hear both.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4206240"/>
                <a:gridCol w="45107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Time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The common way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The simple way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2:15</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“quarter past two”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“two fifteen”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2:30</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“half past two”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“two thirty”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2:45</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“quarter to three”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“two forty-five”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2:10</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“ten past two”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“two ten”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2:50</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“ten to three”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“two fifty”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PAST = after the hour.   TO = before the NEXT hour.  “Quarter to three” is 2:45 — the hour you hear is the hour that is COMING.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967228"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47345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LANGUAGE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Put it all together — how a good listener listens</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fluent listeners do automatically.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3F5BD9"/>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Knows what to listen FOR before it starts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 time? A price? A place? Deciding first cuts the work in half.</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3F5BD9"/>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Listens for the STRONG words only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Nouns, main verbs, numbers, names. Ignores a, the, to, and.</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3F5BD9"/>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Never stops to think about a missed word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Stopping costs the next three words as well. Keep going.</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3F5BD9"/>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Uses the situation to guess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You are in a bank. The word is about money. Context does most of the work.</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3F5BD9"/>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Asks precisely when it matters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“Did you say fifteen or fifty?” — one second, exact answer.</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teens and tens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to the end of the word.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 hear “fifTEEN birr”. Is it 15 or 50?</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15.</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stress is at the END — fif-TEEN. The -teen ending is long and strong.</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 hear “FIFty birr”. Is it 15 or 50?</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50.</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stress is at the START — FIF-ty. The ending is short and weak.</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 are not sure. What do you say?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“Sorry, one five or five zero?”</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Digit by digit removes all doubt in one second. Nobody minds being asked.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telling the time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“To” means before the next hour.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“Quarter past four.” What time is it?</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4:15.</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Past means after. A quarter of an hour after four.</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“Quarter to four.” What time is it?</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3:45.</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To means before. Fifteen minutes BEFORE four — so the hour is still three.</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“Half past six.” What time is it?</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6:30.</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Half an hour after six. Note English says “half past six”, never “half six thirty”.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directions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Position words tell you exactly where.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“The bank is opposite the school.” Are they on the same side of the road?</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No — opposite means across the road, facing.</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Opposite always means a space between them, usually a road.</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“It is next to the pharmacy.” How far away is it?</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Right beside it — they are touching.</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Next to means immediately beside, with nothing between.</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“Turn left at the bank.” When do you turn?</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When you reach the bank.</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“At” marks the point where you turn — the bank is the landmark, not the destination.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missing a word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What do you do?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miss one word in the middle of a sentence. What do you do?</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Keep listening. Do not stop.</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If you stop to think about it, you miss the next three words too — and then the sentence is lost, not just the word.</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You are in a bank and hear a word you do not know. What helps?</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The situation. It is probably about money, an account or a form.</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Context narrows the possibilities enormously before a single word is analysed.</a:t>
            </a:r>
            <a:endParaRPr lang="en-US" sz="127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 missed the price only. What do you say?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“Sorry, how much was that?”</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Precise. You get a two-word answer instead of the whole sentence repeated.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joined speech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words are joined, not missing.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 hear “D'you wanna coffee?” What was said?</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“Do you want a coffee?”</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Do you → d'you, want a → wanna. Nothing is missing — the words are joined.</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 hear “I'm gonna go.” What was said?</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am going to go.”</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Going to → gonna. This is the future from Module 4, said at natural speed.</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Is this bad or careless English?</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No. It is normal, correct, educated English.</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Every native speaker joins words this way, including news readers and teachers. Expecting separated words is what causes the difficulty.</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Asking for directions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Bethlehem is looking for the post office in Bahir Dar.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Excuse me. Where is the post office, please?</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 straight on for about two minutes, then turn left.</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could you repeat that?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Straight on, then left. It is opposite the bank.</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Opposite the bank. Is it far?</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five minutes on foot.</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Bethlehem does two clever things: she asks for a repeat, and she repeats the key words back to check.</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 phone call — taking a message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Yonas calls the office. Chaltu answers.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7F3EF"/>
          </a:solidFill>
          <a:ln w="12700">
            <a:solidFill>
              <a:srgbClr val="C4E0D5"/>
            </a:solidFill>
            <a:prstDash val="solid"/>
          </a:ln>
        </p:spPr>
      </p:sp>
      <p:sp>
        <p:nvSpPr>
          <p:cNvPr id="12" name="Shape 8"/>
          <p:cNvSpPr/>
          <p:nvPr/>
        </p:nvSpPr>
        <p:spPr>
          <a:xfrm>
            <a:off x="694944" y="1975104"/>
            <a:ext cx="1417320" cy="272796"/>
          </a:xfrm>
          <a:prstGeom prst="roundRect">
            <a:avLst>
              <a:gd name="adj" fmla="val 33520"/>
            </a:avLst>
          </a:prstGeom>
          <a:solidFill>
            <a:srgbClr val="0E7C5A"/>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CHALTU</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Adama Trading. How can I help you?</a:t>
            </a:r>
            <a:endParaRPr lang="en-US" sz="2000" dirty="0"/>
          </a:p>
        </p:txBody>
      </p:sp>
      <p:sp>
        <p:nvSpPr>
          <p:cNvPr id="15" name="Shape 11"/>
          <p:cNvSpPr/>
          <p:nvPr/>
        </p:nvSpPr>
        <p:spPr>
          <a:xfrm>
            <a:off x="548640" y="2439924"/>
            <a:ext cx="11094415" cy="455676"/>
          </a:xfrm>
          <a:prstGeom prst="roundRect">
            <a:avLst>
              <a:gd name="adj" fmla="val 28094"/>
            </a:avLst>
          </a:prstGeom>
          <a:solidFill>
            <a:srgbClr val="EDF3EF"/>
          </a:solidFill>
          <a:ln w="12700">
            <a:solidFill>
              <a:srgbClr val="E3E9E5"/>
            </a:solidFill>
            <a:prstDash val="solid"/>
          </a:ln>
        </p:spPr>
      </p:sp>
      <p:sp>
        <p:nvSpPr>
          <p:cNvPr id="16" name="Shape 12"/>
          <p:cNvSpPr/>
          <p:nvPr/>
        </p:nvSpPr>
        <p:spPr>
          <a:xfrm>
            <a:off x="694944" y="2531364"/>
            <a:ext cx="1417320" cy="272796"/>
          </a:xfrm>
          <a:prstGeom prst="roundRect">
            <a:avLst>
              <a:gd name="adj" fmla="val 33520"/>
            </a:avLst>
          </a:prstGeom>
          <a:solidFill>
            <a:srgbClr val="6B7C71"/>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Hello. Can I speak to Mr Abel, please?</a:t>
            </a:r>
            <a:endParaRPr lang="en-US" sz="2000" dirty="0"/>
          </a:p>
        </p:txBody>
      </p:sp>
      <p:sp>
        <p:nvSpPr>
          <p:cNvPr id="19" name="Shape 15"/>
          <p:cNvSpPr/>
          <p:nvPr/>
        </p:nvSpPr>
        <p:spPr>
          <a:xfrm>
            <a:off x="548640" y="2996184"/>
            <a:ext cx="11094415" cy="455676"/>
          </a:xfrm>
          <a:prstGeom prst="roundRect">
            <a:avLst>
              <a:gd name="adj" fmla="val 28094"/>
            </a:avLst>
          </a:prstGeom>
          <a:solidFill>
            <a:srgbClr val="E7F3EF"/>
          </a:solidFill>
          <a:ln w="12700">
            <a:solidFill>
              <a:srgbClr val="C4E0D5"/>
            </a:solidFill>
            <a:prstDash val="solid"/>
          </a:ln>
        </p:spPr>
      </p:sp>
      <p:sp>
        <p:nvSpPr>
          <p:cNvPr id="20" name="Shape 16"/>
          <p:cNvSpPr/>
          <p:nvPr/>
        </p:nvSpPr>
        <p:spPr>
          <a:xfrm>
            <a:off x="694944" y="3087624"/>
            <a:ext cx="1417320" cy="272796"/>
          </a:xfrm>
          <a:prstGeom prst="roundRect">
            <a:avLst>
              <a:gd name="adj" fmla="val 33520"/>
            </a:avLst>
          </a:prstGeom>
          <a:solidFill>
            <a:srgbClr val="0E7C5A"/>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CHALTU</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sorry, he is not here. Can I take a message?</a:t>
            </a:r>
            <a:endParaRPr lang="en-US" sz="2000" dirty="0"/>
          </a:p>
        </p:txBody>
      </p:sp>
      <p:sp>
        <p:nvSpPr>
          <p:cNvPr id="23" name="Shape 19"/>
          <p:cNvSpPr/>
          <p:nvPr/>
        </p:nvSpPr>
        <p:spPr>
          <a:xfrm>
            <a:off x="548640" y="3552444"/>
            <a:ext cx="11094415" cy="455676"/>
          </a:xfrm>
          <a:prstGeom prst="roundRect">
            <a:avLst>
              <a:gd name="adj" fmla="val 28094"/>
            </a:avLst>
          </a:prstGeom>
          <a:solidFill>
            <a:srgbClr val="EDF3EF"/>
          </a:solidFill>
          <a:ln w="12700">
            <a:solidFill>
              <a:srgbClr val="E3E9E5"/>
            </a:solidFill>
            <a:prstDash val="solid"/>
          </a:ln>
        </p:spPr>
      </p:sp>
      <p:sp>
        <p:nvSpPr>
          <p:cNvPr id="24" name="Shape 20"/>
          <p:cNvSpPr/>
          <p:nvPr/>
        </p:nvSpPr>
        <p:spPr>
          <a:xfrm>
            <a:off x="694944" y="3643884"/>
            <a:ext cx="1417320" cy="272796"/>
          </a:xfrm>
          <a:prstGeom prst="roundRect">
            <a:avLst>
              <a:gd name="adj" fmla="val 33520"/>
            </a:avLst>
          </a:prstGeom>
          <a:solidFill>
            <a:srgbClr val="6B7C71"/>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please. My name is Yonas. Could you ask him to call me?</a:t>
            </a:r>
            <a:endParaRPr lang="en-US" sz="2000" dirty="0"/>
          </a:p>
        </p:txBody>
      </p:sp>
      <p:sp>
        <p:nvSpPr>
          <p:cNvPr id="27" name="Shape 23"/>
          <p:cNvSpPr/>
          <p:nvPr/>
        </p:nvSpPr>
        <p:spPr>
          <a:xfrm>
            <a:off x="548640" y="4108704"/>
            <a:ext cx="11094415" cy="455676"/>
          </a:xfrm>
          <a:prstGeom prst="roundRect">
            <a:avLst>
              <a:gd name="adj" fmla="val 28094"/>
            </a:avLst>
          </a:prstGeom>
          <a:solidFill>
            <a:srgbClr val="E7F3EF"/>
          </a:solidFill>
          <a:ln w="12700">
            <a:solidFill>
              <a:srgbClr val="C4E0D5"/>
            </a:solidFill>
            <a:prstDash val="solid"/>
          </a:ln>
        </p:spPr>
      </p:sp>
      <p:sp>
        <p:nvSpPr>
          <p:cNvPr id="28" name="Shape 24"/>
          <p:cNvSpPr/>
          <p:nvPr/>
        </p:nvSpPr>
        <p:spPr>
          <a:xfrm>
            <a:off x="694944" y="4200144"/>
            <a:ext cx="1417320" cy="272796"/>
          </a:xfrm>
          <a:prstGeom prst="roundRect">
            <a:avLst>
              <a:gd name="adj" fmla="val 33520"/>
            </a:avLst>
          </a:prstGeom>
          <a:solidFill>
            <a:srgbClr val="0E7C5A"/>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CHALTU</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Of course. What is your number?</a:t>
            </a:r>
            <a:endParaRPr lang="en-US" sz="2000" dirty="0"/>
          </a:p>
        </p:txBody>
      </p:sp>
      <p:sp>
        <p:nvSpPr>
          <p:cNvPr id="31" name="Shape 27"/>
          <p:cNvSpPr/>
          <p:nvPr/>
        </p:nvSpPr>
        <p:spPr>
          <a:xfrm>
            <a:off x="548640" y="4664964"/>
            <a:ext cx="11094415" cy="455676"/>
          </a:xfrm>
          <a:prstGeom prst="roundRect">
            <a:avLst>
              <a:gd name="adj" fmla="val 28094"/>
            </a:avLst>
          </a:prstGeom>
          <a:solidFill>
            <a:srgbClr val="EDF3EF"/>
          </a:solidFill>
          <a:ln w="12700">
            <a:solidFill>
              <a:srgbClr val="E3E9E5"/>
            </a:solidFill>
            <a:prstDash val="solid"/>
          </a:ln>
        </p:spPr>
      </p:sp>
      <p:sp>
        <p:nvSpPr>
          <p:cNvPr id="32" name="Shape 28"/>
          <p:cNvSpPr/>
          <p:nvPr/>
        </p:nvSpPr>
        <p:spPr>
          <a:xfrm>
            <a:off x="694944" y="4756404"/>
            <a:ext cx="1417320" cy="272796"/>
          </a:xfrm>
          <a:prstGeom prst="roundRect">
            <a:avLst>
              <a:gd name="adj" fmla="val 33520"/>
            </a:avLst>
          </a:prstGeom>
          <a:solidFill>
            <a:srgbClr val="6B7C71"/>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Zero nine one one, two three four, five six seven.</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Phone English is fixed. Learn these six lines and you can handle most calls.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Phrases for when you do not understand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Learn them all — you will use them every day.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“Sorry, could you repeat that?”</a:t>
            </a:r>
            <a:endParaRPr lang="en-US" sz="1550" dirty="0"/>
          </a:p>
          <a:p>
            <a:pPr indent="0" marL="0">
              <a:lnSpc>
                <a:spcPct val="102000"/>
              </a:lnSpc>
              <a:spcBef>
                <a:spcPts val="326"/>
              </a:spcBef>
              <a:buNone/>
            </a:pPr>
            <a:r>
              <a:rPr lang="en-US" sz="1220" dirty="0">
                <a:solidFill>
                  <a:srgbClr val="3A473F"/>
                </a:solidFill>
                <a:latin typeface="Calibri" pitchFamily="34" charset="0"/>
                <a:ea typeface="Calibri" pitchFamily="34" charset="-122"/>
                <a:cs typeface="Calibri" pitchFamily="34" charset="-120"/>
              </a:rPr>
              <a:t>You missed all of it. Polite and universal.</a:t>
            </a:r>
            <a:endParaRPr lang="en-US" sz="15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“Could you speak more slowly?”</a:t>
            </a:r>
            <a:endParaRPr lang="en-US" sz="1600" dirty="0"/>
          </a:p>
          <a:p>
            <a:pPr indent="0" marL="0">
              <a:lnSpc>
                <a:spcPct val="102000"/>
              </a:lnSpc>
              <a:spcBef>
                <a:spcPts val="337"/>
              </a:spcBef>
              <a:buNone/>
            </a:pPr>
            <a:r>
              <a:rPr lang="en-US" sz="1260" dirty="0">
                <a:solidFill>
                  <a:srgbClr val="3A473F"/>
                </a:solidFill>
                <a:latin typeface="Calibri" pitchFamily="34" charset="0"/>
                <a:ea typeface="Calibri" pitchFamily="34" charset="-122"/>
                <a:cs typeface="Calibri" pitchFamily="34" charset="-120"/>
              </a:rPr>
              <a:t>Add “please”. Asks for a change, not a repeat.</a:t>
            </a:r>
            <a:endParaRPr lang="en-US" sz="160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“Sorry?”</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One word, rising voice. What people say most often.</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“Did you say fifteen or fifty?”</a:t>
            </a:r>
            <a:endParaRPr lang="en-US" sz="1550" dirty="0"/>
          </a:p>
          <a:p>
            <a:pPr indent="0" marL="0">
              <a:lnSpc>
                <a:spcPct val="102000"/>
              </a:lnSpc>
              <a:spcBef>
                <a:spcPts val="326"/>
              </a:spcBef>
              <a:buNone/>
            </a:pPr>
            <a:r>
              <a:rPr lang="en-US" sz="1220" dirty="0">
                <a:solidFill>
                  <a:srgbClr val="3A473F"/>
                </a:solidFill>
                <a:latin typeface="Calibri" pitchFamily="34" charset="0"/>
                <a:ea typeface="Calibri" pitchFamily="34" charset="-122"/>
                <a:cs typeface="Calibri" pitchFamily="34" charset="-120"/>
              </a:rPr>
              <a:t>The best one. Names exactly what you missed.</a:t>
            </a:r>
            <a:endParaRPr lang="en-US" sz="15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“Could you write it down?”</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For addresses, names and numbers. Very effective.</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520" b="1" dirty="0">
                <a:solidFill>
                  <a:srgbClr val="12211B"/>
                </a:solidFill>
                <a:latin typeface="Calibri" pitchFamily="34" charset="0"/>
                <a:ea typeface="Calibri" pitchFamily="34" charset="-122"/>
                <a:cs typeface="Calibri" pitchFamily="34" charset="-120"/>
              </a:rPr>
              <a:t>“So, straight on and then left?”</a:t>
            </a:r>
            <a:endParaRPr lang="en-US" sz="15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Repeat it back to check. Confirms you understood.</a:t>
            </a:r>
            <a:endParaRPr lang="en-US" sz="15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Excuse me. ______ is the bus station, please?</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WOMAN</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 straight on and take the second right.</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could you ______ that?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WOMAN</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Straight on, then the second right. It is ______ the hospital.</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 straight on and second right. Is it ______ ?</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WOMAN</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about ten minutes on foot.</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“Where”  ·  “repeat”  ·  “opposite”  ·  “far”</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listen and respond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Your partner gives directions. Draw the route.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Do not speak until they finish.</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Your partner says five prices fast. Write them.</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Mix teens and tens deliberately.</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Make a phone call back to back and take a message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Name, number and reason for calling.</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Your partner speaks too fast on purpose. Stop them.</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Use a different phrase each time.</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give directions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To a real place. Your partner must draw the route.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From this classroom to the nearest shop</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Use: go straight · turn left · turn right · it is opposite …</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From here to your home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Three or four steps only. Keep it simple.</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From the bus station to the market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Include one landmark: a bank, a school, a church.</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From here to somewhere secret — your partner guesses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Give the directions. They name the place.</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the phone role play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Back to back. No faces. Three calls.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Call a shop and ask if they have something</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Ask the price. Ask the opening hours. Write both down.</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Call an office. The person is out. Leave a message.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Your name, your number, and why you called.</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Answer a call. The person is out. Take a message.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Write the name, the number and the reason. Read it back to check.</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the joins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Say it joined. Then you will hear it joined.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Say it slowly</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are you doing?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 you want a coffee?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going to go.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Did you eat?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have got to go.</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Now say it fast</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“Whatcha doing?”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“D'you wanna coffee?”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“I'm gonna go.”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“Dijeat?”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“I've gotta go.”</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You do not have to SPEAK like this. But if you can say it, you will recognise it — and that is what matters.</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dictation both ways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One speaks, one writes. Then swap.</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Five prices, mixing teens and tens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15, 50, 14, 40, 16. Say them naturally, not slowly.</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Five times, using past and to</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Half past two · quarter to nine · ten past six.</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Two phone numbers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Digit by digit, in groups. Read them back to check.</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One set of directions with three steps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 listener draws it rather than writing it.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 minutes.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Give directions from your home to the nearest market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At least four steps. Use two position words.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five prices, mixing teens and tens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Clearly enough that a listener could write them.</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three times using “past” and “to”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Half past · quarter to · ten past.</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Leave a phone message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Your name, your number, and why you called.</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two phrases for when you do not understand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Any two of the six from slide 28.</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directions to the hospital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Draw the route, do not write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AT NATURAL SPEED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“Go out of the school and turn right.</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Go straight on for about five minutes,</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past the market on your left.</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Then take the second left, after the bank.</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The hospital is at the end of that road,</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opposite a small church.</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It takes about ten minutes on foot.”</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Draw the route on paper.</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Which way do you turn first?</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What is on your left as you walk?</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What is opposite the hospital?</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How long does it take?</a:t>
            </a:r>
            <a:endParaRPr lang="en-US" sz="16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the first turn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Right, coming out of the school.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first instruction. Learners who missed it usually stopped to think about “out of”.</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is on your left?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market.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“Past the market on your left” — “past” means you walk by it without turning.</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which left do you take?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SECOND left, after the bank.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commonest error. Learners hear “left” and stop listening to the word before it.</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is opposite the hospital?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small church.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Opposite means facing it, across the road — from slide 17.</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how long?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About ten minutes on foot.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 foot” means walking. “About” means approximately — a useful hedge word.</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 announcement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Fast, and through a loudspeaker. Listen three times.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READ FAST, THROUGH CUPPED HANDS</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“Good afternoon. Attention, please.</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The bus to Hawassa will leave at fifteen</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minutes past three, from platform four,</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not platform two.</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Passengers for Hawassa, please go to</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platform four. The bus to Adama is delayed</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by thirty minutes. Thank you.”</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What time does the Hawassa bus leave?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Which platform?</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Which platform was it before?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What happened to the Adama bus?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How long is the delay?</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the departure time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3:15 — “fifteen minutes past three”.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Past means after. Note the announcement says “fifteen minutes past”, not “quarter past” — both are used.</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the platform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Platform four.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Said twice, which is normal in announcements. Important information is always repeated.</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the old platform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Platform two.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word “not” carries the whole meaning. Missing one small word reverses the instruction.</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the Adama bus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is delayed — it will come later than planned.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“Delayed” is the key word of the last sentence and is heard in every station.</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the delay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Thirty minutes, not thirteen.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THIR-ty, stress at the start. If you heard “thirteen” you were listening to the beginning of the word only.</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Where to practise listening for free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beats two hours once a week.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Announcements around you</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Bus stations, the airport, banks, supermarkets. Free, real, and difficult — which is exactly what you need.</a:t>
            </a:r>
            <a:endParaRPr lang="en-US" sz="158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Songs with the words in front of you</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Listen once without the words, then again with them. You will hear the joins clearly.</a:t>
            </a:r>
            <a:endParaRPr lang="en-US" sz="175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Films with English subtitles</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English subtitles, not Amharic. Reading and listening together builds both at once.</a:t>
            </a:r>
            <a:endParaRPr lang="en-US" sz="175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Radio and podcasts for learners</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Ten minutes a day. Do not stop when you miss something — that is the practice.</a:t>
            </a:r>
            <a:endParaRPr lang="en-US" sz="1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written directions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then draw the route.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2000"/>
              </a:lnSpc>
              <a:buNone/>
            </a:pPr>
            <a:r>
              <a:rPr lang="en-US" sz="1300" dirty="0">
                <a:solidFill>
                  <a:srgbClr val="12211B"/>
                </a:solidFill>
                <a:latin typeface="Calibri" pitchFamily="34" charset="0"/>
                <a:ea typeface="Calibri" pitchFamily="34" charset="-122"/>
                <a:cs typeface="Calibri" pitchFamily="34" charset="-120"/>
              </a:rPr>
              <a:t>HOW TO FIND OUR OFFICE</a:t>
            </a:r>
            <a:endParaRPr lang="en-US" sz="1300" dirty="0"/>
          </a:p>
          <a:p>
            <a:pPr indent="0" marL="0">
              <a:lnSpc>
                <a:spcPct val="132000"/>
              </a:lnSpc>
              <a:buNone/>
            </a:pPr>
            <a:endParaRPr lang="en-US" sz="1300" dirty="0"/>
          </a:p>
          <a:p>
            <a:pPr indent="0" marL="0">
              <a:lnSpc>
                <a:spcPct val="132000"/>
              </a:lnSpc>
              <a:buNone/>
            </a:pPr>
            <a:r>
              <a:rPr lang="en-US" sz="1300" dirty="0">
                <a:solidFill>
                  <a:srgbClr val="12211B"/>
                </a:solidFill>
                <a:latin typeface="Calibri" pitchFamily="34" charset="0"/>
                <a:ea typeface="Calibri" pitchFamily="34" charset="-122"/>
                <a:cs typeface="Calibri" pitchFamily="34" charset="-120"/>
              </a:rPr>
              <a:t>Come out of Bole airport and take a taxi to Meskel Square. From the square, go straight on along the main road for about ten minutes.</a:t>
            </a:r>
            <a:endParaRPr lang="en-US" sz="1300" dirty="0"/>
          </a:p>
          <a:p>
            <a:pPr indent="0" marL="0">
              <a:lnSpc>
                <a:spcPct val="132000"/>
              </a:lnSpc>
              <a:buNone/>
            </a:pPr>
            <a:endParaRPr lang="en-US" sz="1300" dirty="0"/>
          </a:p>
          <a:p>
            <a:pPr indent="0" marL="0">
              <a:lnSpc>
                <a:spcPct val="132000"/>
              </a:lnSpc>
              <a:buNone/>
            </a:pPr>
            <a:r>
              <a:rPr lang="en-US" sz="1300" dirty="0">
                <a:solidFill>
                  <a:srgbClr val="12211B"/>
                </a:solidFill>
                <a:latin typeface="Calibri" pitchFamily="34" charset="0"/>
                <a:ea typeface="Calibri" pitchFamily="34" charset="-122"/>
                <a:cs typeface="Calibri" pitchFamily="34" charset="-120"/>
              </a:rPr>
              <a:t>You will pass a big hotel on your right. Take the first left after the hotel.</a:t>
            </a:r>
            <a:endParaRPr lang="en-US" sz="1300" dirty="0"/>
          </a:p>
          <a:p>
            <a:pPr indent="0" marL="0">
              <a:lnSpc>
                <a:spcPct val="132000"/>
              </a:lnSpc>
              <a:buNone/>
            </a:pPr>
            <a:endParaRPr lang="en-US" sz="1300" dirty="0"/>
          </a:p>
          <a:p>
            <a:pPr indent="0" marL="0">
              <a:lnSpc>
                <a:spcPct val="132000"/>
              </a:lnSpc>
              <a:buNone/>
            </a:pPr>
            <a:r>
              <a:rPr lang="en-US" sz="1300" dirty="0">
                <a:solidFill>
                  <a:srgbClr val="12211B"/>
                </a:solidFill>
                <a:latin typeface="Calibri" pitchFamily="34" charset="0"/>
                <a:ea typeface="Calibri" pitchFamily="34" charset="-122"/>
                <a:cs typeface="Calibri" pitchFamily="34" charset="-120"/>
              </a:rPr>
              <a:t>Our office is the third building on the left, opposite a pharmacy. There is a blue sign on the door.</a:t>
            </a:r>
            <a:endParaRPr lang="en-US" sz="1300" dirty="0"/>
          </a:p>
          <a:p>
            <a:pPr indent="0" marL="0">
              <a:lnSpc>
                <a:spcPct val="132000"/>
              </a:lnSpc>
              <a:buNone/>
            </a:pPr>
            <a:endParaRPr lang="en-US" sz="1300" dirty="0"/>
          </a:p>
          <a:p>
            <a:pPr indent="0" marL="0">
              <a:lnSpc>
                <a:spcPct val="132000"/>
              </a:lnSpc>
              <a:buNone/>
            </a:pPr>
            <a:r>
              <a:rPr lang="en-US" sz="1300" dirty="0">
                <a:solidFill>
                  <a:srgbClr val="12211B"/>
                </a:solidFill>
                <a:latin typeface="Calibri" pitchFamily="34" charset="0"/>
                <a:ea typeface="Calibri" pitchFamily="34" charset="-122"/>
                <a:cs typeface="Calibri" pitchFamily="34" charset="-120"/>
              </a:rPr>
              <a:t>If you cannot find us, call 0911 234 567 and we will come and meet you.</a:t>
            </a:r>
            <a:endParaRPr lang="en-US" sz="13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Draw the route from Meskel Square.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What do you pass on your right?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Which left do you take?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What is opposite the office?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What should you do if you are lost?</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do you take a taxi from?</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long do you walk along the main road?</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on your right before you turn?</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many buildings do you pass on the left?</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on the door?</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where do you take a taxi?</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From Bole airport.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first sentence. In a listening you would need to catch it immediately or lose it.</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how long along the main road?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About ten minutes.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“About” means approximately. Directions are rarely exact and “about” signals that.</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on your right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big hotel.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landmark before the turn. Landmarks are how people actually navigate.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how many buildings?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Two — the office is the third.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requires counting, which is hard by ear and easy on paper. That is the whole difference.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on the door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blue sign.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final confirmation. Good directions always end with something you can see.</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phone messages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messages taken by an office assistant.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0000"/>
              </a:lnSpc>
              <a:buNone/>
            </a:pPr>
            <a:r>
              <a:rPr lang="en-US" sz="1450" dirty="0">
                <a:solidFill>
                  <a:srgbClr val="12211B"/>
                </a:solidFill>
                <a:latin typeface="Calibri" pitchFamily="34" charset="0"/>
                <a:ea typeface="Calibri" pitchFamily="34" charset="-122"/>
                <a:cs typeface="Calibri" pitchFamily="34" charset="-120"/>
              </a:rPr>
              <a:t>1.  Mr Yonas called at 10:15. Please call him</a:t>
            </a:r>
            <a:endParaRPr lang="en-US" sz="1450" dirty="0"/>
          </a:p>
          <a:p>
            <a:pPr indent="0" marL="0">
              <a:lnSpc>
                <a:spcPct val="130000"/>
              </a:lnSpc>
              <a:buNone/>
            </a:pPr>
            <a:r>
              <a:rPr lang="en-US" sz="1450" dirty="0">
                <a:solidFill>
                  <a:srgbClr val="12211B"/>
                </a:solidFill>
                <a:latin typeface="Calibri" pitchFamily="34" charset="0"/>
                <a:ea typeface="Calibri" pitchFamily="34" charset="-122"/>
                <a:cs typeface="Calibri" pitchFamily="34" charset="-120"/>
              </a:rPr>
              <a:t>     back on 0911 234 567. It is about Friday.</a:t>
            </a:r>
            <a:endParaRPr lang="en-US" sz="1450" dirty="0"/>
          </a:p>
          <a:p>
            <a:pPr indent="0" marL="0">
              <a:lnSpc>
                <a:spcPct val="130000"/>
              </a:lnSpc>
              <a:buNone/>
            </a:pPr>
            <a:endParaRPr lang="en-US" sz="1450" dirty="0"/>
          </a:p>
          <a:p>
            <a:pPr indent="0" marL="0">
              <a:lnSpc>
                <a:spcPct val="130000"/>
              </a:lnSpc>
              <a:buNone/>
            </a:pPr>
            <a:r>
              <a:rPr lang="en-US" sz="1450" dirty="0">
                <a:solidFill>
                  <a:srgbClr val="12211B"/>
                </a:solidFill>
                <a:latin typeface="Calibri" pitchFamily="34" charset="0"/>
                <a:ea typeface="Calibri" pitchFamily="34" charset="-122"/>
                <a:cs typeface="Calibri" pitchFamily="34" charset="-120"/>
              </a:rPr>
              <a:t>2.  Hana from the bank rang. She will call again</a:t>
            </a:r>
            <a:endParaRPr lang="en-US" sz="1450" dirty="0"/>
          </a:p>
          <a:p>
            <a:pPr indent="0" marL="0">
              <a:lnSpc>
                <a:spcPct val="130000"/>
              </a:lnSpc>
              <a:buNone/>
            </a:pPr>
            <a:r>
              <a:rPr lang="en-US" sz="1450" dirty="0">
                <a:solidFill>
                  <a:srgbClr val="12211B"/>
                </a:solidFill>
                <a:latin typeface="Calibri" pitchFamily="34" charset="0"/>
                <a:ea typeface="Calibri" pitchFamily="34" charset="-122"/>
                <a:cs typeface="Calibri" pitchFamily="34" charset="-120"/>
              </a:rPr>
              <a:t>     at half past two. No message.</a:t>
            </a:r>
            <a:endParaRPr lang="en-US" sz="1450" dirty="0"/>
          </a:p>
          <a:p>
            <a:pPr indent="0" marL="0">
              <a:lnSpc>
                <a:spcPct val="130000"/>
              </a:lnSpc>
              <a:buNone/>
            </a:pPr>
            <a:endParaRPr lang="en-US" sz="1450" dirty="0"/>
          </a:p>
          <a:p>
            <a:pPr indent="0" marL="0">
              <a:lnSpc>
                <a:spcPct val="130000"/>
              </a:lnSpc>
              <a:buNone/>
            </a:pPr>
            <a:r>
              <a:rPr lang="en-US" sz="1450" dirty="0">
                <a:solidFill>
                  <a:srgbClr val="12211B"/>
                </a:solidFill>
                <a:latin typeface="Calibri" pitchFamily="34" charset="0"/>
                <a:ea typeface="Calibri" pitchFamily="34" charset="-122"/>
                <a:cs typeface="Calibri" pitchFamily="34" charset="-120"/>
              </a:rPr>
              <a:t>3.  Chaltu called about the meeting. It is now at</a:t>
            </a:r>
            <a:endParaRPr lang="en-US" sz="1450" dirty="0"/>
          </a:p>
          <a:p>
            <a:pPr indent="0" marL="0">
              <a:lnSpc>
                <a:spcPct val="130000"/>
              </a:lnSpc>
              <a:buNone/>
            </a:pPr>
            <a:r>
              <a:rPr lang="en-US" sz="1450" dirty="0">
                <a:solidFill>
                  <a:srgbClr val="12211B"/>
                </a:solidFill>
                <a:latin typeface="Calibri" pitchFamily="34" charset="0"/>
                <a:ea typeface="Calibri" pitchFamily="34" charset="-122"/>
                <a:cs typeface="Calibri" pitchFamily="34" charset="-120"/>
              </a:rPr>
              <a:t>     quarter to four, not three o'clock.</a:t>
            </a:r>
            <a:endParaRPr lang="en-US" sz="1450" dirty="0"/>
          </a:p>
          <a:p>
            <a:pPr indent="0" marL="0">
              <a:lnSpc>
                <a:spcPct val="130000"/>
              </a:lnSpc>
              <a:buNone/>
            </a:pPr>
            <a:endParaRPr lang="en-US" sz="1450" dirty="0"/>
          </a:p>
          <a:p>
            <a:pPr indent="0" marL="0">
              <a:lnSpc>
                <a:spcPct val="130000"/>
              </a:lnSpc>
              <a:buNone/>
            </a:pPr>
            <a:r>
              <a:rPr lang="en-US" sz="1450" dirty="0">
                <a:solidFill>
                  <a:srgbClr val="12211B"/>
                </a:solidFill>
                <a:latin typeface="Calibri" pitchFamily="34" charset="0"/>
                <a:ea typeface="Calibri" pitchFamily="34" charset="-122"/>
                <a:cs typeface="Calibri" pitchFamily="34" charset="-120"/>
              </a:rPr>
              <a:t>4.  A man called at 9:30 but did not leave his</a:t>
            </a:r>
            <a:endParaRPr lang="en-US" sz="1450" dirty="0"/>
          </a:p>
          <a:p>
            <a:pPr indent="0" marL="0">
              <a:lnSpc>
                <a:spcPct val="130000"/>
              </a:lnSpc>
              <a:buNone/>
            </a:pPr>
            <a:r>
              <a:rPr lang="en-US" sz="1450" dirty="0">
                <a:solidFill>
                  <a:srgbClr val="12211B"/>
                </a:solidFill>
                <a:latin typeface="Calibri" pitchFamily="34" charset="0"/>
                <a:ea typeface="Calibri" pitchFamily="34" charset="-122"/>
                <a:cs typeface="Calibri" pitchFamily="34" charset="-120"/>
              </a:rPr>
              <a:t>     name. He said he would call back tomorrow.</a:t>
            </a:r>
            <a:endParaRPr lang="en-US" sz="14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Who must you call back?</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Who will call you?</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What time is the meeting now?</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What time was it before?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Which message is least useful? Why?</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answers and vocabulary review</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who must you call back?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Mr Yonas, on 0911 234 567.</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Message 1 gives a name, a number and a reason. That is a complete message.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who will call you?</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Hana from the bank, at half past two.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She is calling you, so no action is needed. The distinction matters.</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and 4 — the meeting time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Now quarter to four (3:45). Before, three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“Now at” marks the new time and “not” marks the old — the same pattern as the platform announcement.</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the least useful message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Message 4 — no name, so you cannot call back.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assistant should have asked “Who is calling, please?” A message without a name cannot be acted on.</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Vocabulary check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message · announcement · straight · turn · opposite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the listening scripts, which is where you will meet them again.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write the numbers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each one in digits. Listen carefully to the end of the word.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A price:  fifteen birr  /  fifty birr</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A time:  quarter past six  /  quarter to six</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A number:  oh nine one one, three four five, six seven eight</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A price:  two hundred and thirty birr</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A time:  half past eight in the morning</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write a phone message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things every message needs.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WRITE A MESSAGE FOR EACH CALL</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42000"/>
              </a:lnSpc>
              <a:buNone/>
            </a:pPr>
            <a:r>
              <a:rPr lang="en-US" sz="1450" dirty="0">
                <a:solidFill>
                  <a:srgbClr val="12211B"/>
                </a:solidFill>
                <a:latin typeface="Calibri" pitchFamily="34" charset="0"/>
                <a:ea typeface="Calibri" pitchFamily="34" charset="-122"/>
                <a:cs typeface="Calibri" pitchFamily="34" charset="-120"/>
              </a:rPr>
              <a:t>1.  Dawit called at 11:00 about the delivery.</a:t>
            </a:r>
            <a:endParaRPr lang="en-US" sz="1450" dirty="0"/>
          </a:p>
          <a:p>
            <a:pPr indent="0" marL="0">
              <a:lnSpc>
                <a:spcPct val="142000"/>
              </a:lnSpc>
              <a:buNone/>
            </a:pPr>
            <a:r>
              <a:rPr lang="en-US" sz="1450" dirty="0">
                <a:solidFill>
                  <a:srgbClr val="12211B"/>
                </a:solidFill>
                <a:latin typeface="Calibri" pitchFamily="34" charset="0"/>
                <a:ea typeface="Calibri" pitchFamily="34" charset="-122"/>
                <a:cs typeface="Calibri" pitchFamily="34" charset="-120"/>
              </a:rPr>
              <a:t>     Call him on 0911 111 222.</a:t>
            </a:r>
            <a:endParaRPr lang="en-US" sz="1450" dirty="0"/>
          </a:p>
          <a:p>
            <a:pPr indent="0" marL="0">
              <a:lnSpc>
                <a:spcPct val="142000"/>
              </a:lnSpc>
              <a:buNone/>
            </a:pPr>
            <a:endParaRPr lang="en-US" sz="1450" dirty="0"/>
          </a:p>
          <a:p>
            <a:pPr indent="0" marL="0">
              <a:lnSpc>
                <a:spcPct val="142000"/>
              </a:lnSpc>
              <a:buNone/>
            </a:pPr>
            <a:r>
              <a:rPr lang="en-US" sz="1450" dirty="0">
                <a:solidFill>
                  <a:srgbClr val="12211B"/>
                </a:solidFill>
                <a:latin typeface="Calibri" pitchFamily="34" charset="0"/>
                <a:ea typeface="Calibri" pitchFamily="34" charset="-122"/>
                <a:cs typeface="Calibri" pitchFamily="34" charset="-120"/>
              </a:rPr>
              <a:t>2.  Sara from Hawassa rang. She will call</a:t>
            </a:r>
            <a:endParaRPr lang="en-US" sz="1450" dirty="0"/>
          </a:p>
          <a:p>
            <a:pPr indent="0" marL="0">
              <a:lnSpc>
                <a:spcPct val="142000"/>
              </a:lnSpc>
              <a:buNone/>
            </a:pPr>
            <a:r>
              <a:rPr lang="en-US" sz="1450" dirty="0">
                <a:solidFill>
                  <a:srgbClr val="12211B"/>
                </a:solidFill>
                <a:latin typeface="Calibri" pitchFamily="34" charset="0"/>
                <a:ea typeface="Calibri" pitchFamily="34" charset="-122"/>
                <a:cs typeface="Calibri" pitchFamily="34" charset="-120"/>
              </a:rPr>
              <a:t>     again tomorrow morning.</a:t>
            </a:r>
            <a:endParaRPr lang="en-US" sz="1450" dirty="0"/>
          </a:p>
          <a:p>
            <a:pPr indent="0" marL="0">
              <a:lnSpc>
                <a:spcPct val="142000"/>
              </a:lnSpc>
              <a:buNone/>
            </a:pPr>
            <a:endParaRPr lang="en-US" sz="1450" dirty="0"/>
          </a:p>
          <a:p>
            <a:pPr indent="0" marL="0">
              <a:lnSpc>
                <a:spcPct val="142000"/>
              </a:lnSpc>
              <a:buNone/>
            </a:pPr>
            <a:r>
              <a:rPr lang="en-US" sz="1450" dirty="0">
                <a:solidFill>
                  <a:srgbClr val="12211B"/>
                </a:solidFill>
                <a:latin typeface="Calibri" pitchFamily="34" charset="0"/>
                <a:ea typeface="Calibri" pitchFamily="34" charset="-122"/>
                <a:cs typeface="Calibri" pitchFamily="34" charset="-120"/>
              </a:rPr>
              <a:t>3.  The meeting moved from 2:00 to 3:30.</a:t>
            </a:r>
            <a:endParaRPr lang="en-US" sz="1450" dirty="0"/>
          </a:p>
          <a:p>
            <a:pPr indent="0" marL="0">
              <a:lnSpc>
                <a:spcPct val="142000"/>
              </a:lnSpc>
              <a:buNone/>
            </a:pPr>
            <a:endParaRPr lang="en-US" sz="1450" dirty="0"/>
          </a:p>
          <a:p>
            <a:pPr indent="0" marL="0">
              <a:lnSpc>
                <a:spcPct val="142000"/>
              </a:lnSpc>
              <a:buNone/>
            </a:pPr>
            <a:r>
              <a:rPr lang="en-US" sz="1450" dirty="0">
                <a:solidFill>
                  <a:srgbClr val="12211B"/>
                </a:solidFill>
                <a:latin typeface="Calibri" pitchFamily="34" charset="0"/>
                <a:ea typeface="Calibri" pitchFamily="34" charset="-122"/>
                <a:cs typeface="Calibri" pitchFamily="34" charset="-120"/>
              </a:rPr>
              <a:t>4.  Somebody called about a job. They will</a:t>
            </a:r>
            <a:endParaRPr lang="en-US" sz="1450" dirty="0"/>
          </a:p>
          <a:p>
            <a:pPr indent="0" marL="0">
              <a:lnSpc>
                <a:spcPct val="142000"/>
              </a:lnSpc>
              <a:buNone/>
            </a:pPr>
            <a:r>
              <a:rPr lang="en-US" sz="1450" dirty="0">
                <a:solidFill>
                  <a:srgbClr val="12211B"/>
                </a:solidFill>
                <a:latin typeface="Calibri" pitchFamily="34" charset="0"/>
                <a:ea typeface="Calibri" pitchFamily="34" charset="-122"/>
                <a:cs typeface="Calibri" pitchFamily="34" charset="-120"/>
              </a:rPr>
              <a:t>     send an email.</a:t>
            </a:r>
            <a:endParaRPr lang="en-US" sz="145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EVERY MESSAGE NEEDS</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WHO called — the full name.</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WHEN they called — the time.</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WHY they called — one line.</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WHAT to do — call back, or nothing.</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A NUMBER if a call back is needed.</a:t>
            </a:r>
            <a:endParaRPr lang="en-US" sz="16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write directions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five sentences. Somebody who does not know the place must be able to follow them.</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Start with where you begin.  “Come out of the school and …”</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Use “go straight on” at least once.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Use “turn left” or “turn right” at least once.</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Name at least one landmark: a bank, a hotel, a school.</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End with a position word: opposite · next to · between.</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model answer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Sentence 1 — the start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Come out of the school and turn right.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Directions must start from a place both people know. Without a starting point the rest is useless.</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Sentence 2 — go straight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Go straight on for five minutes.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Time is better than distance. Nobody knows what two hundred metres feels like; everybody knows five minutes.</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Sentence 3 — the landmark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You will pass a bank on your left.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Landmarks tell the listener they are on the right road. Include one every few steps.</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Sentence 4 — the turn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Take the second right after the bank.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“Second” and “after the bank” together make the turn unmistakable.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Sentence 5 — the destination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market is at the end of the road, opposite a small church.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End with something visible. A position word plus a landmark confirms arrival.</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listening checklist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habits. Use them every time you listen.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Decide what you are listening FOR before it starts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 time? A price? A place? It halves the work.</a:t>
            </a:r>
            <a:endParaRPr lang="en-US" sz="160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Listen for the STRONG words only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Nouns, verbs, numbers, names. Ignore a, the, to, and.</a:t>
            </a:r>
            <a:endParaRPr lang="en-US" sz="160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Never stop to think about a missed word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Stopping costs the next three words too.</a:t>
            </a:r>
            <a:endParaRPr lang="en-US" sz="160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Use the situation to guess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You are in a bank — the word is about money.</a:t>
            </a:r>
            <a:endParaRPr lang="en-US" sz="160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7A4FBF"/>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precisely when it matters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“Did you say fifteen or fifty?” — one second, exact answer.</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“Quarter to three” means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3:15     b) 2:45     c) 3:45</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Which is 15?</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FIF-ty     b) fif-TEEN     c) both</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“The bank is opposite the school.” They are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beside each other     b) facing each other     c) the same building</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Which words are said STRONGLY in English?</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 the, to, and     b) nouns, verbs, numbers     c) all words equally</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You miss one word. What should you do first?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stop and think     b) keep listening     c) ask immediately</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missing word.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Go ______ on for two minutes.  (do not turn)</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______ left at the bank.</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The post office is ______ the school.  (across the road, facing)</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The café is ______ to the pharmacy.  (beside it)</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It is ______ the bank and the hotel.  (one on each side)</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Times, phrases and position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1 — match the SPOKEN TIME to the DIGITS</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half past four     2. quarter to seven     3. ten past nine     4. quarter past two</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6:45        b) 4:30</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2:15        d) 9:10</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PROBLEM to the PHRASE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missed everything     2. missed one number     3. too fast          a) “Did you say fifteen or fifty?”     b) “Could you repeat that?”     c) “Could you speak more slowly?”</a:t>
            </a:r>
            <a:endParaRPr lang="en-US" sz="15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POSITION WORD to its MEANING</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opposite     2. next to     3. between     4. behind          a) beside     b) at the back     c) facing     d) one on each side</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number dictation</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each answer in numbers only.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A price in birr</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A time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A phone number</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A second price</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A second time</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what do you say?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phrase you would use in each situation.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Somebody gave you directions but you understood nothing.</a:t>
            </a:r>
            <a:endParaRPr lang="en-US" sz="17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You heard the price but you are not sure if it was 15 or 50.</a:t>
            </a:r>
            <a:endParaRPr lang="en-US" sz="17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The person is speaking far too fast for you.</a:t>
            </a:r>
            <a:endParaRPr lang="en-US" sz="17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They said an address and you could not catch the name of the road.</a:t>
            </a:r>
            <a:endParaRPr lang="en-US" sz="17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5.  You think you understood, but you want to be sure.</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“Quarter to nine” means 9:15.</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In English, all words are said with the same strength.</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“Opposite” and “next to” mean the same thing.</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If you miss a word, you should stop and think about it.</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Asking somebody to repeat is rude.</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Phone numbers in English are said digit by digit.</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is hardest for you about listening to English?</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Where could you hear English near your home?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do you say now when you do not understand?</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Give directions from your home to the nearest shop, in two sentences.</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Which of the five listening habits is hardest for you?</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Give directions to a real place. Your partner draws the route.</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Say five prices mixing teens and tens. Your partner writes them.</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Make a phone call back to back and leave a message.</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Speak too fast on purpose. Your partner must stop you politely.</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Work in pairs. Take your time.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out these joined forms in full: whatcha · wanna · gonna · dijeat · gotta.</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Five full sentences.</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Write six times in words using “past” and “to”.</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Include at least two using “to”.</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directions from the school to the market in five sentences.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Two landmarks, two position words.</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Write a complete phone message with all five required parts.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Who · when · why · what to do · number.</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Write the six repair phrases from memory.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No looking back at slide 28.</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is listening harder than reading?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speed and going back.</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Why is the phone harder than face to face?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do you lose when you cannot see somebody?</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3. Your friend says “I understand nothing when people speak fast.” What advice would you give?</a:t>
            </a:r>
            <a:endParaRPr lang="en-US" sz="1650" dirty="0"/>
          </a:p>
          <a:p>
            <a:pPr indent="0" marL="0">
              <a:lnSpc>
                <a:spcPct val="102000"/>
              </a:lnSpc>
              <a:spcBef>
                <a:spcPts val="291"/>
              </a:spcBef>
              <a:buNone/>
            </a:pPr>
            <a:r>
              <a:rPr lang="en-US" sz="1260" dirty="0">
                <a:solidFill>
                  <a:srgbClr val="3A473F"/>
                </a:solidFill>
                <a:latin typeface="Calibri" pitchFamily="34" charset="0"/>
                <a:ea typeface="Calibri" pitchFamily="34" charset="-122"/>
                <a:cs typeface="Calibri" pitchFamily="34" charset="-120"/>
              </a:rPr>
              <a:t>Be specific and practical.</a:t>
            </a:r>
            <a:endParaRPr lang="en-US" sz="165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Why is it better to ask “fifteen or fifty?” than “could you repeat that?”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what answer each question gets.</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7 quiz — Part 1 · Numbers and times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Books and slides closed.</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“Quarter to five” is …</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5:15     b) 4:45     c) 5:45</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“Half past nine” is …</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9:30     b) 8:30     c) 9:15</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Which one is 40?</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four-TEEN     b) FOR-ty     c) both</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How are phone numbers said in English?</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sentence.</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7 quiz — Part 2 · Directions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Complete: “Go ______ on for two minutes.”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straight     b) direct     c) forward</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“Opposite the bank” means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beside it     b) facing it across the road     c) behind it</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Correct this: “Turn to left at the school.”</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correct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Name two position words other than opposite.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words.</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7 quiz — Part 3 · Real speech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Which words are said STRONGLY in English?</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 the, to     b) nouns, verbs, numbers     c) all equally</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Write “I'm gonna go” in full.</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Full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Write “D'you wanna coffee?” in full.</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Full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Is joined speech bad English?</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Yes or no, and why.</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Module 7 quiz — Part 4 · When you miss something</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You miss ONE word. What should you do FIRST?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stop and think     b) keep listening     c) ask at once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You are not sure if it was 15 or 50. What do you say?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exact words.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Write two other repair phrases.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phrases.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Why is a precise question better than a general one?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7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a phone message: Dawit called at 11:00, call back on 0911 111 222.</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or two sentences.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directions from here to the nearest shop in three sentences.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Use one position word.</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Write three times in words, using “past” and “to”.</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At least one with “to”.</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give directions to a real place in four steps.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partner draws the route.</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quarter to five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4:45</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“To” means before the next hour. The hour you hear is the one that is coming, not the one you are in.</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half past nine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9:30</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“Past” means after. English says “half past nine”, never “half nine thirty”.</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which is 40?</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FOR-ty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Stress at the START and a short weak ending. -TEEN is long and stressed at the end.</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phone numbers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Digit by digit, usually in groups of three or four. 0 is “oh” or “zero”.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Never as whole numbers. “Nine hundred and eleven” is not how a phone number is said.</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go ___ 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straight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“Go straight on” or “go straight ahead”. Both are correct and both are common.</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opposite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facing it across the road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Opposite means there is a space between, usually a road. Next to means touching.</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correct the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Turn left at the school.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 preposition before the direction. “Turn to left” is a direct translation and is wrong.</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two position words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Any two of: next to · between · behind · in front of · on the corner.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Six position words cover almost every direction you will ever be given.</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strong words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nouns, verbs, numbers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Meaning words are strong; grammar words are weak and fast. Listen only for the strong ones.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“I'm gonna go”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am going to go.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Going to → gonna. This is the future from Module 4 at natural speed.</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“D'you wanna coffee?”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Do you want a coffee?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Do you → d'you, want a → wanna. Nothing is missing — the words are joined.</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is it bad English?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 it is normal, correct, educated English.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Every native speaker joins words, including news readers and professors. Expecting separated words is what causes the difficulty.</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you miss one word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keep listening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Stopping to think costs the next three words as well. That is how a whole conversation is lost over one word.</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15 or 50?</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“Sorry, one five or five zero?”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Digit by digit removes all doubt in one second. Nobody minds being asked.</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two more phrases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Any two of: “Sorry?” · “Could you repeat that?” · “Could you speak more slowly?” · “Could you write it down?”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Six phrases repair almost any conversation. Learn all six — see slide 28.</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why precise?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You get a two-word answer instead of the whole sentence again.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And you may miss the whole sentence a second time. Precision saves the conversation.</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the phone message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“Dawit called at 11:00. Please call him back on 0911 111 222.”</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Who, when, what to do, and the number. Four of the five required parts, and the reason may be added.</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the directions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“Come out of the school and turn left. Go straight on for two minutes. The shop is opposite the bank.”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clarity: a starting point, at least one turn, and a position word at the end.</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three times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half past six · quarter to nine · ten past four.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At least one must use “to”, because that is the form learners avoid and mishear.</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Four clear steps that a partner can draw correctly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whether the drawing matches. If the route is wrong, the directions were unclear — however good the grammar.</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Listening only.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Listen to one English song twice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Once without the words, once with them. Write three joined forms you heard.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Practise teens and tens with a partner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Twenty numbers each. Count your errors.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Watch ten minutes with English subtitles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English, not Amharic. Write five sentences you caught.</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Listen for one English announcement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 bus station, a bank, a shop. Write what it said.</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the six repair phrases aloud five times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Until you can say them without thinking.</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Written directions from your home to a place near you</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Five sentences. Two landmarks, two position words.</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One phone message with all five parts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Who · when · why · what to do · number.</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two-minute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Directions · five prices · three times · a phone message · two repair phrases.</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Directions — 8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Five sentences (2) · a clear starting point (1) · two landmarks (2) · two position words (2) · a partner can follow it (1).</a:t>
            </a:r>
            <a:endParaRPr lang="en-US" sz="150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Phone message — 7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Who (2) · when (1) · why (2) · what to do (1) · the number written correctly (1).</a:t>
            </a:r>
            <a:endParaRPr lang="en-US" sz="175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five parts (3) · prices distinguishable (2) · times correct with past and to (2) · complete phone message (2) · two repair phrases (1).</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Why speech sounds fast</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The words are joined, not missing. Wanna · gonna · whatcha.</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Listening for strong words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Nouns, verbs, numbers, names. Ignore a, the, to, and.</a:t>
            </a:r>
            <a:endParaRPr lang="en-US" sz="175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Numbers and times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Fifteen or fifty · quarter to versus quarter past · digit by digit.</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Directions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Straight on · turn left · opposite · next to · between.</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Phone calls and messages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Who · when · why · what to do · the number.</a:t>
            </a:r>
            <a:endParaRPr lang="en-US" sz="175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Six repair phrases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For when you miss something. Precise beats general.</a:t>
            </a:r>
            <a:endParaRPr lang="en-US" sz="17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listening toolkit. Photograph this slide.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Six repair phrases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“Sorry?”  ·  “Could you repeat that?”</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“Could you speak more slowly?”</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“Did you say fifteen or fifty?”</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“Could you write it down?”</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“So, straight on, then left?”</a:t>
            </a:r>
            <a:endParaRPr lang="en-US" sz="1200" dirty="0"/>
          </a:p>
        </p:txBody>
      </p:sp>
      <p:sp>
        <p:nvSpPr>
          <p:cNvPr id="16" name="Shape 11"/>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Numbers and times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-TEEN  =  long, stress at the END  =  15</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-ty  =  short, stress at the START  =  50</a:t>
            </a:r>
            <a:endParaRPr lang="en-US" sz="1200" dirty="0"/>
          </a:p>
          <a:p>
            <a:pPr indent="0" marL="0">
              <a:lnSpc>
                <a:spcPct val="112000"/>
              </a:lnSpc>
              <a:buNone/>
            </a:pP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PAST  =  after the hour</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TO  =  before the NEXT hour</a:t>
            </a:r>
            <a:endParaRPr lang="en-US" sz="1200" dirty="0"/>
          </a:p>
        </p:txBody>
      </p:sp>
      <p:sp>
        <p:nvSpPr>
          <p:cNvPr id="21" name="Shape 15"/>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Directions</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Go straight on  ·  Turn left / right</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Take the second right</a:t>
            </a:r>
            <a:endParaRPr lang="en-US" sz="1200" dirty="0"/>
          </a:p>
          <a:p>
            <a:pPr indent="0" marL="0">
              <a:lnSpc>
                <a:spcPct val="112000"/>
              </a:lnSpc>
              <a:buNone/>
            </a:pP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opposite  =  facing, across</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next to  =  beside  ·  between … and …</a:t>
            </a:r>
            <a:endParaRPr lang="en-US" sz="1200" dirty="0"/>
          </a:p>
        </p:txBody>
      </p:sp>
      <p:sp>
        <p:nvSpPr>
          <p:cNvPr id="26" name="Shape 19"/>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Five listening habits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 Know what you are listening for</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2 Listen for the strong words only</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3 Never stop at a missed word</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4 Use the situation to guess</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5 Ask precisely when it matters</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You now know what to listen FOR — and what to say when you miss it.</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50" dirty="0">
                <a:solidFill>
                  <a:srgbClr val="B9CFC1"/>
                </a:solidFill>
                <a:latin typeface="Calibri" pitchFamily="34" charset="0"/>
                <a:ea typeface="Calibri" pitchFamily="34" charset="-122"/>
                <a:cs typeface="Calibri" pitchFamily="34" charset="-120"/>
              </a:rPr>
              <a:t>Real English will still sound fast. But it will no longer sound impossible,</a:t>
            </a:r>
            <a:endParaRPr lang="en-US" sz="1550" dirty="0"/>
          </a:p>
          <a:p>
            <a:pPr indent="0" marL="0">
              <a:lnSpc>
                <a:spcPct val="120000"/>
              </a:lnSpc>
              <a:buNone/>
            </a:pPr>
            <a:r>
              <a:rPr lang="en-US" sz="1550" dirty="0">
                <a:solidFill>
                  <a:srgbClr val="B9CFC1"/>
                </a:solidFill>
                <a:latin typeface="Calibri" pitchFamily="34" charset="0"/>
                <a:ea typeface="Calibri" pitchFamily="34" charset="-122"/>
                <a:cs typeface="Calibri" pitchFamily="34" charset="-120"/>
              </a:rPr>
              <a:t>because you know it is joined, not missing, and you have six phrases that repair any conversation.</a:t>
            </a:r>
            <a:endParaRPr lang="en-US" sz="15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8</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Writing Everyday Texts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Messages, notes, forms and your first paragraph</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7 — Listening in Real Life</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2 · Module 7 — Listening in Real Life</dc:title>
  <dc:subject>English course for Ethiopian learners — Level 2 Elementary English</dc:subject>
  <dc:creator>English Learning Platform</dc:creator>
  <cp:lastModifiedBy>English Learning Platform</cp:lastModifiedBy>
  <cp:revision>1</cp:revision>
  <dcterms:created xsi:type="dcterms:W3CDTF">2026-07-27T20:47:10Z</dcterms:created>
  <dcterms:modified xsi:type="dcterms:W3CDTF">2026-07-27T20:47:10Z</dcterms:modified>
</cp:coreProperties>
</file>