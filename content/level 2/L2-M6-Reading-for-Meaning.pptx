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holding up a page of English text and asking: “How long would it take you to read this?” Then say: “It depends why you are reading. Today you learn three different ways, and one of them takes thirty seconds.”
TIP: Learners believe reading means understanding every word. That belief is what makes them slow and anxious. Breaking it is the whole purpose of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3 is the one that changes how learners feel about reading — say so.
TIP: Return to this slide at the end of the module and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Task 1 is the diagnostic. Most learners will say they stop or use a dictionary. Both are slow, and both are what this module replaces.
COMMON MISTAKES: Correct nothing in the warm-up.
TIP: Write the answers to task 1 on the board. At the end of the module, ask again — the answers should be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Demonstrate it. Hold up a newspaper: “If I want to know if there is football news, I skim. If I want the score, I scan. If I want to understand an argument, I read closely. Same page, three different ways.”
COMMON MISTAKES: The belief that every word must be understood is the single biggest barrier to reading fluency. Attack it directly and repeatedly.
TIP: Say plainly: a learner who stops at every unknown word will never read a page. A learner who keeps going will finish it and understand most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Demonstrate all three with the same short text: skim it aloud in thirty seconds, scan it for one number, then read one paragraph closely. Learners see that the text has not changed but the method has.
COMMON MISTAKES: Learners use method 3 for everything, which is why reading feels impossible. Method 1 and 2 must be practised deliberately or they will never be used.
EXTRA EXAMPLES: Match the method to the purpose: a menu is scanned, a news headline is skimmed, a medicine label is read closely.
TIP: Ask which method they would use for: a bus timetable, a text message, a job advert, a contract. The answers make the idea concrete.
CLASSROOM ACTIVITY: Three purposes: give the same text three times with three different questions, one for each method. Time each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Give a text and exactly thirty seconds. Then close the books and ask “What is it about?” Learners are always surprised at how much they got.
COMMON MISTAKES: Learners cannot resist reading everything. Enforce the time limit strictly — the constraint is the teaching.
EXTRA EXAMPLES: The first-sentence rule is genuine and useful. Point it out in every reading text for the rest of the level.
TIP: Skimming is a habit, not knowledge. It needs doing ten times, not explaining once.
CLASSROOM ACTIVITY: Thirty-second challenge: three texts, thirty seconds each, one question each. Learners score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Give a timetable or price list and call out one item. First learner to find it wins. Repeat ten times — it becomes a game and the skill builds fast.
COMMON MISTAKES: Learners start at the top and read every line. Teach the eye movement explicitly: down the page, not across the lines.
EXTRA EXAMPLES: Scanning is easiest with numbers and names because they look different from ordinary words. Point that out.
TIP: This is the reading skill learners will use most often outside class, and it is the easiest to teach. Do not skip it.
CLASSROOM ACTIVITY: Scanning race: a price list on the board and ten questions. Fastest correct answer wins each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important slide in the module.
HOW TO TEACH: Give five sentences with a nonsense word in each and have learners guess. They will be right most of the time, which proves the point better than any explanation.
COMMON MISTAKES: Learners believe guessing is cheating. Say clearly: guessing from context is what fluent readers do constantly, in every language, including their own.
EXTRA EXAMPLES: Prefixes worth knowing now: un- (not), re- (again). Two prefixes explain hundreds of words.
TIP: The last row is powerful. Learners already know thousands of word parts — showing them that “unhappy” contains “happy” unlocks a lot of vocabulary at once.
CLASSROOM ACTIVITY: Nonsense words: give six sentences containing invented words and have learners guess each meaning and say which clue they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Signs use very few words and often no verbs. Teach them as whole images rather than sentences — that is how they are read in real life.
COMMON MISTAKES: Learners try to translate signs word by word. “No entry” has no verb and cannot be translated literally. Teach the meaning, not the grammar.
EXTRA EXAMPLES: Bring photographs of real English signs from Bole airport, a hotel, a bank or a supermarket. Real signs are far better than invented ones.
TIP: This is the most immediately useful slide in the module. A learner who can read signs is safer and more independent the same day.
CLASSROOM ACTIVITY: Sign hunt: learners photograph or list five English signs they see before the next lesson and explain what each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Give five short texts, each with one direct question and one inference question. Learners quickly see the difference between finding and working out.
COMMON MISTAKES: Learners look for the answer in the text and, not finding it, say there is no answer. Teach them to ask “what does this tell me?” rather than “where does it say?”
EXTRA EXAMPLES: Inference questions often start with “Why…?”, “How does he feel?” or “What kind of person is…?”
TIP: Say clearly that an inference answer must still be based on the text. A guess with no evidence is not inference — it is invention.
CLASSROOM ACTIVITY: Two questions: for every reading text from now on, ask one direct question and one inference question, and name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Write the word and cross out the g. Then say it three times. Silent letters must be shown on the board, not explained.
COMMON MISTAKES: The silent g is unpredictable and learners rightly find it strange. Just teach it and move on.
EXTRA EXAMPLES: “The sign says…” is the natural way to report what a sign tells you. Drill that phrase.
TIP: Signs are the reading learners meet most often in daily life, so this word earns its place.
CLASSROOM ACTIVITY: What does the sign say? Show five signs and have learners report each with the fixed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noun first, since that is the reading use, then mention the verb briefly with one example.
COMMON MISTAKES: Learners confuse “notice” with “note”. A note is something you write for yourself; a notice is for other people.
EXTRA EXAMPLES: notice board · put up a notice · Did you notice…?
TIP: A notice board in the classroom, used in English, gives daily reading practice for free.
CLASSROOM ACTIVITY: Class notice board: learners write and post three notices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This is a perfect chance to revise the -ed sound rule from Module 3: “closed” is one syllable, “wanted” is two.
COMMON MISTAKES: Saying “clo-sed” with two syllables. Clap it once and the error disappears.
EXTRA EXAMPLES: open · closed · full · free · busy — five adjectives that appear on signs constantly.
TIP: Pair it with “open”. The two words together let learners read most shop doors in the country.
CLASSROOM ACTIVITY: Opening hours: give five real opening-hours notices and ask whether the shop is open at a given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it with its opposite, “exit”, and with the simpler signs “way in” and “way out” which mean the same thing.
COMMON MISTAKES: The “tr” cluster and the stress. Drill the first syllable hard.
EXTRA EXAMPLES: entrance · exit · way in · way out · push · pull — six words that get you through any door.
TIP: “Push” and “pull” are worth thirty seconds here. Learners meet them on every glass door and getting them wrong is publicly embarrassing.
CLASSROOM ACTIVITY: Door signs: teach push, pull, entrance, exit and test them with mimes.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Show the sign form and the sentence form together. Signs drop words; sentences do not.
COMMON MISTAKES: “Do careful” is a transfer error. English uses “be” with adjectives, as learned in Level 1.
EXTRA EXAMPLES: Careful · Danger · Warning · Wet floor · No entry — the five most common warning signs.
TIP: Warning signs carry real safety information. Say that plainly — this is one place where reading English matters immediately.
CLASSROOM ACTIVITY: Safety signs: show five warning signs and have learners explain each in a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These words are signposts. When a reader sees “but”, they know something opposite is coming before they read it. Teach them as prediction tools, not just as grammar.
COMMON MISTAKES: “Because” and “so” are frequently swapped. Draw an arrow on the board showing the direction of the logic in each.
EXTRA EXAMPLES: Give ten sentence halves and have learners join them with the right word.
TIP: This is genuinely a reading skill: recognising these four words lets a reader follow an argument without understanding every word between them.
CLASSROOM ACTIVITY: Predict the ending: read half a sentence up to the joining word and have learners guess how it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Read a set of instructions aloud and have learners raise a hand only at the sequence words. They will catch the structure without catching every word.
COMMON MISTAKES: “At last” and “finally” are close in meaning but “at last” suggests relief after a long wait. Mention it once.
EXTRA EXAMPLES: Recipes, medicine instructions and directions all use these words. Bring one real example of each.
TIP: This connects directly to Module 3's story-telling. The same words that structure a story structure a set of instructions.
CLASSROOM ACTIVITY: Jumbled instructions: give six steps out of order and have learners use the sequence words to reorder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Take a short text and have learners draw an arrow from every pronoun back to the person it refers to. It is a visual, physical task and it makes the skill obvious.
COMMON MISTAKES: Learners read pronouns without checking, then become confused three sentences later and blame their vocabulary. The real problem is lost reference.
EXTRA EXAMPLES: “They” is the hardest because it can refer to two people mentioned separately.
TIP: This is one of the highest-value reading skills at this level and it is almost never taught. Give it the full twelve minutes.
CLASSROOM ACTIVITY: Arrow drill: give a ten-line text and have pairs draw arrows from every pronoun to its noun. Count how many they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Focus on the position rule for “also” and “too”, which is the only new grammar in the module. Everything else is recognition.
COMMON MISTAKES: “She speaks also Oromo” — wrong position. And “She speaks Oromo also” at the end should be “too”.
EXTRA EXAMPLES: “However” is more formal than “but” and usually starts a new sentence. Learners will meet it in reading long before they use it.
TIP: Teach these for recognition, not production. Learners need to understand them when reading; producing them comes in Level 3.
CLASSROOM ACTIVITY: Direction change: read a text aloud and have learners raise a hand every time the direction changes at “however” or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Read a text aloud and narrate your own thinking as you go: “I do not know that word — but it is something about the road, and it sounds bad, so I keep going.” Modelling the internal process is the most useful thing you can do here.
COMMON MISTAKES: All five are habits. None can be learned by explanation alone — they need repeated practice with a time limit.
EXTRA EXAMPLES: Apply all five to every reading text for the rest of the level, naming which one you are using.
TIP: Print these five as a bookmark. Learners who have them in front of them use them; learners who heard them once do not.
CLASSROOM ACTIVITY: Think aloud: a volunteer reads a short text and says out loud what they are doing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Listen books closed, chorus, pair reading, then perform with a real sign or notice you have brought.
COMMON MISTAKES: Mimi's third line is an inference stated as a question — she works out the opposite from what the notice says. Point that out; it is inference in a real conversation.
EXTRA EXAMPLES: Bring three real notices in English and have pairs act out this dialogue with each one.
TIP: Asking about a notice is a normal, everyday act. Learners avoid it out of embarrassment; this dialogue makes it routine.
CLASSROOM ACTIVITY: Notice role play: one learner holds a notice, the other asks the two questions and reports back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ask which parts Dawit scanned for and which he skimmed. The hours and the salary are scanned; the general sense is skimmed.
COMMON MISTAKES: “Did it say…?” is a past question about a text. Learners find that odd because a text does not speak. Teach it as a fixed phrase.
EXTRA EXAMPLES: “Probably” is new and very useful for inference. Teach it here: it means you are not certain but you think so.
TIP: This dialogue models reporting what you read, which is a real skill for work and for study. Point that out to working adults.
CLASSROOM ACTIVITY: Report an advert: bring three job advertisements and have pairs report each other's in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in pairs. Phrase 5 is the precise one: naming which part you do not understand gets far better help than saying you understand nothing.
COMMON MISTAKES: “It is written that…” is a direct translation. English says “It says…”.
EXTRA EXAMPLES: Add “Can you read this for me?” which learners will use in real life more than any of the others.
TIP: Phrase 4 gives learners permission to guess out loud, which is what this whole module is trying to teach.
CLASSROOM ACTIVITY: Notice pass: pass one real notice around and each learner must use a different one of the six phrases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then three pairs perform before you reveal the answers.
COMMON MISTAKES: Both question forms are from Module 5 and both need the helper “does”. That is deliberate revision.
TIP: Gap 2 is an inference. The notice does not say the office is open tomorrow — the learner works it out.
CLASSROOM ACTIVITY: Do it again with a different notice and a different unknown word.
ANSWERS: 1 does ... say · 2 So · 3 does ...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for all four rounds.
HOW TO TEACH: Time each round strictly. The time limit is what forces the skill — without it learners revert to reading every word.
COMMON MISTAKES: Round 4 is the hardest to set up. Model one inference question yourself before pairs try.
TIP: Round 3 is the most valuable. Saying the guess and the clue aloud makes the strategy conscious and repeatable.
CLASSROOM ACTIVITY: Best guess: after round 3, three learners share their best guess and the class judges whether the clue was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Round C is the point of skimming in real life: deciding whether a text is worth your time. Say so.
COMMON MISTAKES: Learners exceed the time limit. Use a visible timer and stop them firmly.
EXTRA EXAMPLES: Use real texts: a newspaper page, a leaflet, a job advert, a message, a notice.
TIP: Skimming feels wrong to learners because it feels lazy. Reframe it: it is what allows you to read ten texts instead of one.
CLASSROOM ACTIVITY: Speed round: six texts, thirty seconds each, one sentence each. Six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Prepare five real documents. Learners work in pairs and race. The competition removes the temptation to read everything.
COMMON MISTAKES: Learners start reading from the top. Remind them: eyes down the page, looking only for the shape of the thing they want.
EXTRA EXAMPLES: Numbers and names are easiest to scan for because they look different from ordinary words.
TIP: This is the reading skill learners will use most often outside class. Practise it until it is fast.
CLASSROOM ACTIVITY: Fastest finder: keep score across the five rounds and announce the winning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each word on the board and physically cross out the silent letter. Seeing the letter crossed out is far more memorable than being told.
COMMON MISTAKES: Learners pronounce silent letters because they are reading, not listening. This module is about reading, so the error appears here more than anywhere else.
EXTRA EXAMPLES: More silent letters: know, knee, walk, talk, could, would, island.
TIP: All six words on this slide have already appeared in the course. Point that out — learners have been saying most of them correctly.
CLASSROOM ACTIVITY: Cross it out: give ten words and have learners cross out the silent letter in each, then say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Task 2 is the real comprehension test: explaining in your own words proves understanding in a way that answering questions does not.
COMMON MISTAKES: Learners re-read the text instead of explaining from memory. Take the text away for task 2.
EXTRA EXAMPLES: Task 1 also revises the reading-aloud skill from Level 1: stopping at full stops.
TIP: Task 3 makes the guessing strategy visible and repeatable. Do not skip it.
CLASSROOM ACTIVITY: Explain to the class: two learners explain their text to the whole group without looking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including listening back.
HOW TO TEACH: Give every learner the same short text so the recordings are comparable. Record on a phone, or perform live to a partner.
COMMON MISTAKES: Step 4 is where learners say “I do not know” instead of guessing. Insist on a guess — a wrong guess with a clue is worth more than silence.
TIP: Step 5 is the exam skill. Every reading paper in Level 2 and Level 3 contains at least one inference question.
CLASSROOM ACTIVITY: Keep every recording for the end-of-level comparison.
ANSWERS: SUCCESS CRITERIA: reading aloud with stops at full stops · a one-sentence summary · three correct facts · a reasonable guess with a named clue · an inference supported by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This is a scanning task done by ear. Read twice at natural speed and tell learners in advance exactly what to listen for.
COMMON MISTAKES: The phone number is said digit by digit, as in Level 1 Module 2. Learners who try to hear whole numbers will fail.
EXTRA EXAMPLES: Add a fifth item if the class is strong: “Closed on public holidays.”
ANSWERS: Mon–Fri 8:00–17:00 · Saturday 8:00–12:00 · closed Sunday · 0911 234 567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inference item and it is deliberately not in the original task. Ask it after marking — learners who can answer it have the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twice, changing your voice for the two speakers. Question 5 is the key one and it teaches the difference between the text and the reader's own thinking.
COMMON MISTAKES: Question 4 requires holding Abel's line, which is the only place his decision appears. Learners look for it in the notice.
EXTRA EXAMPLES: Ask a sixth question: “How do you know they are sorry?” The answer is that the notice says so, reported by Sara.
ANSWERS: 1 On the door. · 2 The water will be off. · 3 At four in the afternoon. · 4 Fill the containers on Wednesday night. · 5 No — it is his own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Questions 4 and 5 together teach the most important idea in the module: a good reader adds their own thinking to the text without confusing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Make the connection explicit: everything learned in this module about reading applies to listening too, which doubles its value.
COMMON MISTAKES: Learners treat the two skills as unrelated. Naming the overlap makes the strategies transfer.
TIP: The difference that matters: in reading you control the speed; in listening you do not. That is why the strategies matter more in listening, which is Module 7.
CLASSROOM ACTIVITY: Same text, two ways: read a text aloud and then give it to learners in writing. Ask which was easier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Signs have very few words and often no verbs. Teach learners to expand each one into a full sentence — that is how you check they have understood it.
COMMON MISTAKES: “No entry” has no verb and cannot be translated word by word. Teach the meaning as a whole.
EXTRA EXAMPLES: Bring real photographs if you can. Signs from Bole airport, a bank or a supermarket are ideal.
TIP: This is the most immediately useful reading in the whole course. A learner who can read these six signs is more independent from today.
CLASSROOM ACTIVITY: Expand the sign: every learner turns three signs into full sentences and reads them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Questions 1, 2 and 3 are all inference: none of the signs says “no”. Learners must work each one out from the hours.
COMMON MISTAKES: Learners look for the word “no” and, not finding it, say the answer is not there. That is exactly the habit this module breaks.
TIP: Time them. Fifteen seconds per question forces scanning rather than reading.
ANSWERS: 1 No — it opens at eight. · 2 No — it is closed for lunch until two. · 3 No — it is open Monday to Saturday only. · 4 “Careful — wet floor.” · 5 At the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Three of these five answers are inferences, and none of them is difficult. Point that out — learners already do this in their own language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Run the four skills in order on one text: skim, scan, guess, infer. Doing all four on the same text is what shows learners they are different activities.
COMMON MISTAKES: Learners want to read closely from the start. Enforce the thirty-second skim first, with books closed afterwards.
EXTRA EXAMPLES: “Membership” contains “member”, which learners may know. The -ship ending makes it the state of being a member.
TIP: The last question is the inference: “popular” never appears, but three hundred people in one week tells you.
CLASSROOM ACTIVITY: Four skills, one text: give the four tasks in order with a timer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Point out that the learner used four different skills on one text in under ten minutes. That is the whole module demonstrated in a single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Do item 1 together and ask which word signals the relationship. Then let them work alone.
COMMON MISTAKES: Items 2 and 3 both involve cause and effect but in opposite orders, so they need different words. That contrast is the test.
TIP: Item 3 could also be “because”, with the halves reversed. Accept it if the learner reorders correctly — that shows real understanding.
ANSWERS: 1 but · 2 because · 3 so · 4 and · 5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Notices are the opposite of everything else in writing: fewer words is better. That reversal is the lesson.
COMMON MISTAKES: Learners write full sentences: “Our shop will be closed on Sunday because…”. A notice says “CLOSED ON SUNDAY”.
TIP: Display the best notices on the classroom wall in English. Real notices in the room give daily reading practice for free.
ANSWERS: MODELS: 1 CLOSED ON SUNDAY · 2 CLOSED FOR LUNCH 12:00–14:00 · 3 PLEASE WAIT OUTSIDE · 4 NO WATER — THURSDAY 8:00–16:00 · 5 CAREFUL — WET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word limit is the teaching. Summarising is choosing what to leave out, and a limit forces that choice.
COMMON MISTAKES: Learners copy sentences directly from the text. Take the text away after two minutes of re-reading.
TIP: Summarising in your own words is the strongest possible proof of comprehension. It is also a Level 3 skill introduced early here.
ANSWERS: MODEL: “The text is about a new library in Adama. It has five thousand books and it is open six days a week, but you must pay fifty birr a year. I think it is a good idea because many people cannot buy books.”  (39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Read two learners' summaries aloud beside the model. The variety shows there is no single right answer, only a right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five points, then apply them to any text on the wall as a demonstration.
TIP: Print these five as a bookmark for every learner. A bookmark is used; a slide is forgotten.
CLASSROOM ACTIVITY: Habit check: after every reading text for the rest of the level, ask which of the five habits learners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2 is inference: the sign does not say “no”, so learners must work it out. Anyone choosing c) has not understood the skill.
ANSWERS: 1 b · 2 b · 3 b · 4 b · 5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Insist that learners name the clue as well as the guess. The clue is the transferable skill; the word is not.
COMMON MISTAKES: Learners guess and then dismiss their own answer as wrong. Item 5 shows how often the text simply tells you, with examples after a dash.
TIP: Items 3 and 4 both use a negative prefix. Point out that “im-” and “un-” both mean “not”.
ANSWERS: 1 a bag for travelling (it is heavy and lifted) · 2 very pleased (an exam result you are happy about) · 3 impossible to travel on (im- means not, and the rain caused it) · 4 without a job (un- means not, plus “looking for work”) · 5 things you write with (the examples are listed after the dash)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three chances to succeed. Let them work in pairs.
TIP: Part 2 is the whole module in three lines. If learners get all three, the method idea has landed.
ANSWERS: Part 1: 1–c, 2–d, 3–a, 4–b.  ·  Part 2: 1–c, 2–a, 3–b.  ·  Part 3: 1–c, 2–a, 3–b, 4–d.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Time them strictly at fifteen seconds per question. The time limit is what forces scanning rather than reading.
COMMON MISTAKES: Learners re-read from the beginning each time. Remind them: eyes down the page, looking for the shape of the answer.
TIP: Short answers are fine here. Scanning is about finding, not about producing full sentences.
ANSWERS: 1 Last month. · 2 More than five thousand. · 3 Amharic, Oromo and English. · 4 Nothing — it is free for students. · 5 One photograph and an identity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Labelling each answer D or I is what makes learners conscious of the difference. That awareness is the skill.
COMMON MISTAKES: Item 3 is the interesting one: the absence of Sunday from the list is the evidence. Absence of information can be information.
TIP: Exams always contain at least one inference question. Learners who can label them can prepare for them.
ANSWERS: 1 Eight o'clock — D · 2 Yes, for an hour — I · 3 No — I (Sunday is not listed) · 4 Yes, probably — I · 5 No — D (the text says free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1 is the belief this whole module exists to break. If anyone still marks it true, say the correction out loud twice.
ANSWERS: 1 F — you do not; good readers skip and guess · 2 T · 3 F — scanning is searching fast for one fact · 4 T · 5 F — you work it out from what IS written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Question 3 is the same question as the warm-up. Compare the answers — most learners will have changed them.
COMMON MISTAKES: Question 5 requires honest self-assessment. Accept any answer and use the class results to plan revision.
TIP: Read three answers to question 3 aloud beside the warm-up answers from slide 3. The change is the evidence the module worked.
ANSWERS: No fixed answers. Question 3 should now say “guess and keep going” rather than “stop” or “use a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Give each pair the same text so they can compare. Time every round.
TIP: Task 4 is the assessment. A learner who can write an inference question has fully understood the idea.
ANSWERS: SUCCESS CRITERIA: 1 one accurate sentence in thirty seconds · 2 three correct facts · 3 two reasonable guesses with named clues · 4 one of each question type, correctly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This is the bridge to the quiz. Let learners work in pairs and expect it to be genuinely hard.
TIP: Question 5 asks learners to name their own method. That metacognitive step is what makes the skills transferable.
ANSWERS: 1 any accurate 25-word summary · 2 e.g. “Is the library popular?” “Do many people speak English in Adama?” “Why is it free for students?” · 3 membership = being a member · book = reserve in advance · identity card = a card that proves who you are · 4 e.g. QUIET PLEASE · NO FOOD · RETURN BOOKS HERE · COMPUTERS — BOOK FIRST · OPEN 9:00–19:00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Question 4 is important: skimming has limits and learners should know where they are.
TIP: Question 4 keeps the module honest. Skimming is a tool, not a universal method, and saying so builds trust.
ANSWERS: 1 You lose the meaning of the sentences around it, and reading becomes so slow that you stop. 2 No — fluent readers guess constantly in their own language without noticing. 3 Decide the purpose first, skim before reading, guess and keep going, and set a time limit. 4 Medicine instructions, a contract, a legal document, safety information, an exam question — anywhere a small detail changes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quiz allows learners to consult the reading texts, because reading skills are being tested rather than memory. Do not allow the teaching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quiz allows learners to consult the reading texts, because reading skills are being tested rather than memory. Do not allow the teaching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quiz allows learners to consult the reading texts, because reading skills are being tested rather than memory. Do not allow the teaching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quiz allows learners to consult the reading texts, because reading skills are being tested rather than memory. Do not allow the teaching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quiz allows learners to consult the reading texts, because reading skills are being tested rather than memory. Do not allow the teaching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Q13, Q15 and Q16 are the diagnostic block: they test whether learners can tell a direct answer from an inference, and whether they notice when a text is genuinely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Q13, Q15 and Q16 are the diagnostic block: they test whether learners can tell a direct answer from an inference, and whether they notice when a text is genuinely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Q13, Q15 and Q16 are the diagnostic block: they test whether learners can tell a direct answer from an inference, and whether they notice when a text is genuinely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Q13, Q15 and Q16 are the diagnostic block: they test whether learners can tell a direct answer from an inference, and whether they notice when a text is genuinely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Q13, Q15 and Q16 are the diagnostic block: they test whether learners can tell a direct answer from an inference, and whether they notice when a text is genuinely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Monday's task is the easiest and most useful. English signs are everywhere and learners who start noticing them read several every day without effort.
TIP: Thursday's task builds the guessing habit, which is the module's central skill. Insist on the clue being written down.
CLASSROOM ACTIVITY: Ask learners to photograph three English signs and bring them to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1 gets learners reading English in the real world, which is the whole point of the module. Task 2 is the exam task.
COMMON MISTAKES: Learners who cannot record must not be excluded. Offer the live option openly.
TIP: Reply to every recording personally, by voice. Comment on the guess and the inference specifically — those are the new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The summary carries the most marks because it proves comprehension better than any question.
COMMON MISTAKES: Do not mark grammar heavily in the summary. This module assesses reading, not writing accuracy.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3 and read the warm-up answers again. Ask task 1 once more: what do you do when you meet an unknown word? The answers should have changed.
TIP: That comparison is the best evidence the module worked, and it takes ninety seconds.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or photograph it. Better still, print the fourth box as a bookmark for every learner.
TIP: A bookmark is used every time they read. A slide is seen once. Print it.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change: they no longer need to understand every word. That belief shift is the module's real achievement and it will speed up everything they read from now on.
TIP: Preview Module 7 honestly: listening is harder than reading because you cannot control the speed or go back. But the strategies are the same ones learned here.
CLASSROOM ACTIVITY: Ask every learner to name one English sign they will look for before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2</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2</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Elementary</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A1 → A2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6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Reading for Meaning</a:t>
            </a:r>
            <a:endParaRPr lang="en-US" sz="46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450" dirty="0">
                <a:solidFill>
                  <a:srgbClr val="B9CFC1"/>
                </a:solidFill>
                <a:latin typeface="Calibri" pitchFamily="34" charset="0"/>
                <a:ea typeface="Calibri" pitchFamily="34" charset="-122"/>
                <a:cs typeface="Calibri" pitchFamily="34" charset="-120"/>
              </a:rPr>
              <a:t>No new grammar. This module teaches you HOW to read — the three different ways, and what to do when you meet a word you do not know.</a:t>
            </a:r>
            <a:endParaRPr lang="en-US" sz="145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3</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READING SKILLS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about reading faster and with less fear.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Get the general idea of a text in thirty seconds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Skimming. You do not read every word.</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Find one piece of information quickly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Scanning. A price, a time, a name — without reading the rest.</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Guess the meaning of a word you do not know</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From the words around it. You will be right most of the time.</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Read signs and notices in English</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reading you will do most often in real life.</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Answer a question the text does not answer directly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Inference — working it out from what IS written.</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how do you read?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What do you do?</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When you meet an English word you do not know, what do you do? Stop? Guess? Use a dictionary? Give up?</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How long?</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How long does it take you to read one page of English? Be honest.</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English around you</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Where do you see English writing every day? Name three places.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You do not have to understand every word to understand the text.</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50" dirty="0">
                <a:solidFill>
                  <a:srgbClr val="B9CFC1"/>
                </a:solidFill>
                <a:latin typeface="Calibri" pitchFamily="34" charset="0"/>
                <a:ea typeface="Calibri" pitchFamily="34" charset="-122"/>
                <a:cs typeface="Calibri" pitchFamily="34" charset="-120"/>
              </a:rPr>
              <a:t>Native speakers skip words constantly. They guess. They read some parts fast and some parts slowly.</a:t>
            </a:r>
            <a:endParaRPr lang="en-US" sz="1550" dirty="0"/>
          </a:p>
          <a:p>
            <a:pPr indent="0" marL="0">
              <a:lnSpc>
                <a:spcPct val="120000"/>
              </a:lnSpc>
              <a:buNone/>
            </a:pPr>
            <a:r>
              <a:rPr lang="en-US" sz="1550" dirty="0">
                <a:solidFill>
                  <a:srgbClr val="B9CFC1"/>
                </a:solidFill>
                <a:latin typeface="Calibri" pitchFamily="34" charset="0"/>
                <a:ea typeface="Calibri" pitchFamily="34" charset="-122"/>
                <a:cs typeface="Calibri" pitchFamily="34" charset="-120"/>
              </a:rPr>
              <a:t>Reading is not one skill — it is three, and you choose which one you need.</a:t>
            </a:r>
            <a:endParaRPr lang="en-US" sz="15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Skim  —  the general idea</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Scan  —  one piece of information</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Read closely  —  every detail</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Three ways to read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Choose the one that matches your purpose.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SKIM</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For the general idea.</a:t>
            </a:r>
            <a:endParaRPr lang="en-US" sz="2100" dirty="0"/>
          </a:p>
          <a:p>
            <a:pPr indent="0" marL="0">
              <a:lnSpc>
                <a:spcPct val="102000"/>
              </a:lnSpc>
              <a:spcBef>
                <a:spcPts val="400"/>
              </a:spcBef>
              <a:buNone/>
            </a:pP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Read the title, the first line of each paragraph, and any big words. Ignore the rest.</a:t>
            </a:r>
            <a:endParaRPr lang="en-US" sz="2100" dirty="0"/>
          </a:p>
          <a:p>
            <a:pPr indent="0" marL="0">
              <a:lnSpc>
                <a:spcPct val="102000"/>
              </a:lnSpc>
              <a:spcBef>
                <a:spcPts val="400"/>
              </a:spcBef>
              <a:buNone/>
            </a:pP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Time: 30 seconds.</a:t>
            </a:r>
            <a:endParaRPr lang="en-US" sz="2100" dirty="0"/>
          </a:p>
        </p:txBody>
      </p:sp>
      <p:sp>
        <p:nvSpPr>
          <p:cNvPr id="15" name="Shape 10"/>
          <p:cNvSpPr/>
          <p:nvPr/>
        </p:nvSpPr>
        <p:spPr>
          <a:xfrm>
            <a:off x="4313834"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1850" b="1" dirty="0">
                <a:solidFill>
                  <a:srgbClr val="12211B"/>
                </a:solidFill>
                <a:latin typeface="Calibri" pitchFamily="34" charset="0"/>
                <a:ea typeface="Calibri" pitchFamily="34" charset="-122"/>
                <a:cs typeface="Calibri" pitchFamily="34" charset="-120"/>
              </a:rPr>
              <a:t>2 · SCAN</a:t>
            </a: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For one piece of information.</a:t>
            </a:r>
            <a:endParaRPr lang="en-US" sz="1850" dirty="0"/>
          </a:p>
          <a:p>
            <a:pPr indent="0" marL="0">
              <a:lnSpc>
                <a:spcPct val="102000"/>
              </a:lnSpc>
              <a:spcBef>
                <a:spcPts val="352"/>
              </a:spcBef>
              <a:buNone/>
            </a:pP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Move your eyes quickly, looking only for the thing you want — a number, a name, a time.</a:t>
            </a:r>
            <a:endParaRPr lang="en-US" sz="1850" dirty="0"/>
          </a:p>
          <a:p>
            <a:pPr indent="0" marL="0">
              <a:lnSpc>
                <a:spcPct val="102000"/>
              </a:lnSpc>
              <a:spcBef>
                <a:spcPts val="352"/>
              </a:spcBef>
              <a:buNone/>
            </a:pPr>
            <a:endParaRPr lang="en-US" sz="1850" dirty="0"/>
          </a:p>
          <a:p>
            <a:pPr indent="0" marL="0">
              <a:lnSpc>
                <a:spcPct val="102000"/>
              </a:lnSpc>
              <a:spcBef>
                <a:spcPts val="352"/>
              </a:spcBef>
              <a:buNone/>
            </a:pPr>
            <a:r>
              <a:rPr lang="en-US" sz="1410" dirty="0">
                <a:solidFill>
                  <a:srgbClr val="3A473F"/>
                </a:solidFill>
                <a:latin typeface="Calibri" pitchFamily="34" charset="0"/>
                <a:ea typeface="Calibri" pitchFamily="34" charset="-122"/>
                <a:cs typeface="Calibri" pitchFamily="34" charset="-120"/>
              </a:rPr>
              <a:t>Time: 15 seconds.</a:t>
            </a:r>
            <a:endParaRPr lang="en-US" sz="1850" dirty="0"/>
          </a:p>
        </p:txBody>
      </p:sp>
      <p:sp>
        <p:nvSpPr>
          <p:cNvPr id="19" name="Shape 13"/>
          <p:cNvSpPr/>
          <p:nvPr/>
        </p:nvSpPr>
        <p:spPr>
          <a:xfrm>
            <a:off x="8079029"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 READ CLOSELY</a:t>
            </a:r>
            <a:endParaRPr lang="en-US" sz="2000" dirty="0"/>
          </a:p>
          <a:p>
            <a:pPr indent="0" marL="0">
              <a:lnSpc>
                <a:spcPct val="102000"/>
              </a:lnSpc>
              <a:spcBef>
                <a:spcPts val="381"/>
              </a:spcBef>
              <a:buNone/>
            </a:pPr>
            <a:r>
              <a:rPr lang="en-US" sz="1520" dirty="0">
                <a:solidFill>
                  <a:srgbClr val="3A473F"/>
                </a:solidFill>
                <a:latin typeface="Calibri" pitchFamily="34" charset="0"/>
                <a:ea typeface="Calibri" pitchFamily="34" charset="-122"/>
                <a:cs typeface="Calibri" pitchFamily="34" charset="-120"/>
              </a:rPr>
              <a:t>For every detail.</a:t>
            </a:r>
            <a:endParaRPr lang="en-US" sz="2000" dirty="0"/>
          </a:p>
          <a:p>
            <a:pPr indent="0" marL="0">
              <a:lnSpc>
                <a:spcPct val="102000"/>
              </a:lnSpc>
              <a:spcBef>
                <a:spcPts val="381"/>
              </a:spcBef>
              <a:buNone/>
            </a:pPr>
            <a:endParaRPr lang="en-US" sz="2000" dirty="0"/>
          </a:p>
          <a:p>
            <a:pPr indent="0" marL="0">
              <a:lnSpc>
                <a:spcPct val="102000"/>
              </a:lnSpc>
              <a:spcBef>
                <a:spcPts val="381"/>
              </a:spcBef>
              <a:buNone/>
            </a:pPr>
            <a:r>
              <a:rPr lang="en-US" sz="1520" dirty="0">
                <a:solidFill>
                  <a:srgbClr val="3A473F"/>
                </a:solidFill>
                <a:latin typeface="Calibri" pitchFamily="34" charset="0"/>
                <a:ea typeface="Calibri" pitchFamily="34" charset="-122"/>
                <a:cs typeface="Calibri" pitchFamily="34" charset="-120"/>
              </a:rPr>
              <a:t>Read every word, in order, slowly. Only do this when you really need to.</a:t>
            </a:r>
            <a:endParaRPr lang="en-US" sz="2000" dirty="0"/>
          </a:p>
          <a:p>
            <a:pPr indent="0" marL="0">
              <a:lnSpc>
                <a:spcPct val="102000"/>
              </a:lnSpc>
              <a:spcBef>
                <a:spcPts val="381"/>
              </a:spcBef>
              <a:buNone/>
            </a:pPr>
            <a:endParaRPr lang="en-US" sz="2000" dirty="0"/>
          </a:p>
          <a:p>
            <a:pPr indent="0" marL="0">
              <a:lnSpc>
                <a:spcPct val="102000"/>
              </a:lnSpc>
              <a:spcBef>
                <a:spcPts val="381"/>
              </a:spcBef>
              <a:buNone/>
            </a:pPr>
            <a:r>
              <a:rPr lang="en-US" sz="1520" dirty="0">
                <a:solidFill>
                  <a:srgbClr val="3A473F"/>
                </a:solidFill>
                <a:latin typeface="Calibri" pitchFamily="34" charset="0"/>
                <a:ea typeface="Calibri" pitchFamily="34" charset="-122"/>
                <a:cs typeface="Calibri" pitchFamily="34" charset="-120"/>
              </a:rPr>
              <a:t>Time: as long as it takes.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Skimming — thirty seconds for the general idea</a:t>
            </a:r>
            <a:endParaRPr lang="en-US" sz="37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only these four things. Ignore everything else.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1" name="Shape 7"/>
          <p:cNvSpPr/>
          <p:nvPr/>
        </p:nvSpPr>
        <p:spPr>
          <a:xfrm>
            <a:off x="548640" y="1883664"/>
            <a:ext cx="621792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66928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WHERE TO LOOK WHEN YOU SKIM</a:t>
            </a:r>
            <a:endParaRPr lang="en-US" sz="1200" dirty="0"/>
          </a:p>
        </p:txBody>
      </p:sp>
      <p:sp>
        <p:nvSpPr>
          <p:cNvPr id="13" name="Text 9"/>
          <p:cNvSpPr txBox="1"/>
          <p:nvPr/>
        </p:nvSpPr>
        <p:spPr>
          <a:xfrm>
            <a:off x="822960" y="2487168"/>
            <a:ext cx="5669280" cy="3218688"/>
          </a:xfrm>
          <a:prstGeom prst="rect">
            <a:avLst/>
          </a:prstGeom>
          <a:noFill/>
          <a:ln/>
        </p:spPr>
        <p:txBody>
          <a:bodyPr wrap="square" lIns="0" tIns="0" rIns="0" bIns="0" rtlCol="0" anchor="ctr"/>
          <a:lstStyle/>
          <a:p>
            <a:pPr indent="0" marL="0">
              <a:lnSpc>
                <a:spcPct val="150000"/>
              </a:lnSpc>
              <a:buNone/>
            </a:pPr>
            <a:r>
              <a:rPr lang="en-US" sz="1900" dirty="0">
                <a:solidFill>
                  <a:srgbClr val="12211B"/>
                </a:solidFill>
                <a:latin typeface="Calibri" pitchFamily="34" charset="0"/>
                <a:ea typeface="Calibri" pitchFamily="34" charset="-122"/>
                <a:cs typeface="Calibri" pitchFamily="34" charset="-120"/>
              </a:rPr>
              <a:t>1.  The TITLE.</a:t>
            </a:r>
            <a:endParaRPr lang="en-US" sz="1900" dirty="0"/>
          </a:p>
          <a:p>
            <a:pPr indent="0" marL="0">
              <a:lnSpc>
                <a:spcPct val="150000"/>
              </a:lnSpc>
              <a:buNone/>
            </a:pPr>
            <a:r>
              <a:rPr lang="en-US" sz="1900" dirty="0">
                <a:solidFill>
                  <a:srgbClr val="12211B"/>
                </a:solidFill>
                <a:latin typeface="Calibri" pitchFamily="34" charset="0"/>
                <a:ea typeface="Calibri" pitchFamily="34" charset="-122"/>
                <a:cs typeface="Calibri" pitchFamily="34" charset="-120"/>
              </a:rPr>
              <a:t>2.  The FIRST sentence of each paragraph.</a:t>
            </a:r>
            <a:endParaRPr lang="en-US" sz="1900" dirty="0"/>
          </a:p>
          <a:p>
            <a:pPr indent="0" marL="0">
              <a:lnSpc>
                <a:spcPct val="150000"/>
              </a:lnSpc>
              <a:buNone/>
            </a:pPr>
            <a:r>
              <a:rPr lang="en-US" sz="1900" dirty="0">
                <a:solidFill>
                  <a:srgbClr val="12211B"/>
                </a:solidFill>
                <a:latin typeface="Calibri" pitchFamily="34" charset="0"/>
                <a:ea typeface="Calibri" pitchFamily="34" charset="-122"/>
                <a:cs typeface="Calibri" pitchFamily="34" charset="-120"/>
              </a:rPr>
              <a:t>3.  Any names, numbers or dates.</a:t>
            </a:r>
            <a:endParaRPr lang="en-US" sz="1900" dirty="0"/>
          </a:p>
          <a:p>
            <a:pPr indent="0" marL="0">
              <a:lnSpc>
                <a:spcPct val="150000"/>
              </a:lnSpc>
              <a:buNone/>
            </a:pPr>
            <a:r>
              <a:rPr lang="en-US" sz="1900" dirty="0">
                <a:solidFill>
                  <a:srgbClr val="12211B"/>
                </a:solidFill>
                <a:latin typeface="Calibri" pitchFamily="34" charset="0"/>
                <a:ea typeface="Calibri" pitchFamily="34" charset="-122"/>
                <a:cs typeface="Calibri" pitchFamily="34" charset="-120"/>
              </a:rPr>
              <a:t>4.  The LAST sentence.</a:t>
            </a:r>
            <a:endParaRPr lang="en-US" sz="1900" dirty="0"/>
          </a:p>
          <a:p>
            <a:pPr indent="0" marL="0">
              <a:lnSpc>
                <a:spcPct val="150000"/>
              </a:lnSpc>
              <a:buNone/>
            </a:pPr>
            <a:endParaRPr lang="en-US" sz="1900" dirty="0"/>
          </a:p>
          <a:p>
            <a:pPr indent="0" marL="0">
              <a:lnSpc>
                <a:spcPct val="150000"/>
              </a:lnSpc>
              <a:buNone/>
            </a:pPr>
            <a:r>
              <a:rPr lang="en-US" sz="1900" dirty="0">
                <a:solidFill>
                  <a:srgbClr val="12211B"/>
                </a:solidFill>
                <a:latin typeface="Calibri" pitchFamily="34" charset="0"/>
                <a:ea typeface="Calibri" pitchFamily="34" charset="-122"/>
                <a:cs typeface="Calibri" pitchFamily="34" charset="-120"/>
              </a:rPr>
              <a:t>Then ask yourself:</a:t>
            </a:r>
            <a:endParaRPr lang="en-US" sz="1900" dirty="0"/>
          </a:p>
          <a:p>
            <a:pPr indent="0" marL="0">
              <a:lnSpc>
                <a:spcPct val="150000"/>
              </a:lnSpc>
              <a:buNone/>
            </a:pPr>
            <a:r>
              <a:rPr lang="en-US" sz="1900" dirty="0">
                <a:solidFill>
                  <a:srgbClr val="12211B"/>
                </a:solidFill>
                <a:latin typeface="Calibri" pitchFamily="34" charset="0"/>
                <a:ea typeface="Calibri" pitchFamily="34" charset="-122"/>
                <a:cs typeface="Calibri" pitchFamily="34" charset="-120"/>
              </a:rPr>
              <a:t>“What is this text about?”</a:t>
            </a:r>
            <a:endParaRPr lang="en-US" sz="1900" dirty="0"/>
          </a:p>
        </p:txBody>
      </p:sp>
      <p:sp>
        <p:nvSpPr>
          <p:cNvPr id="14" name="Shape 10"/>
          <p:cNvSpPr/>
          <p:nvPr/>
        </p:nvSpPr>
        <p:spPr>
          <a:xfrm>
            <a:off x="7040880" y="1883664"/>
            <a:ext cx="460217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278624" y="2103120"/>
            <a:ext cx="412668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WHY IT WORKS</a:t>
            </a:r>
            <a:endParaRPr lang="en-US" sz="1200" dirty="0"/>
          </a:p>
        </p:txBody>
      </p:sp>
      <p:sp>
        <p:nvSpPr>
          <p:cNvPr id="16" name="Text 12"/>
          <p:cNvSpPr/>
          <p:nvPr/>
        </p:nvSpPr>
        <p:spPr>
          <a:xfrm>
            <a:off x="7315200" y="2505456"/>
            <a:ext cx="4053535" cy="3200400"/>
          </a:xfrm>
          <a:prstGeom prst="rect">
            <a:avLst/>
          </a:prstGeom>
          <a:noFill/>
          <a:ln/>
        </p:spPr>
        <p:txBody>
          <a:bodyPr wrap="square" lIns="0" tIns="0" rIns="0" bIns="0" rtlCol="0" anchor="t"/>
          <a:lstStyle/>
          <a:p>
            <a:pPr marL="228600" indent="-228600">
              <a:lnSpc>
                <a:spcPct val="100000"/>
              </a:lnSpc>
              <a:spcAft>
                <a:spcPts val="873"/>
              </a:spcAft>
              <a:buSzPct val="100000"/>
              <a:buChar char="•"/>
            </a:pPr>
            <a:r>
              <a:rPr lang="en-US" sz="1600" dirty="0">
                <a:solidFill>
                  <a:srgbClr val="3A473F"/>
                </a:solidFill>
                <a:latin typeface="Calibri" pitchFamily="34" charset="0"/>
                <a:ea typeface="Calibri" pitchFamily="34" charset="-122"/>
                <a:cs typeface="Calibri" pitchFamily="34" charset="-120"/>
              </a:rPr>
              <a:t>Writers put the main idea in the first sentence of a paragraph. That is a rule of English writing.</a:t>
            </a:r>
            <a:endParaRPr lang="en-US" sz="1600" dirty="0"/>
          </a:p>
          <a:p>
            <a:pPr marL="228600" indent="-228600">
              <a:lnSpc>
                <a:spcPct val="100000"/>
              </a:lnSpc>
              <a:spcAft>
                <a:spcPts val="873"/>
              </a:spcAft>
              <a:buSzPct val="100000"/>
              <a:buChar char="•"/>
            </a:pPr>
            <a:r>
              <a:rPr lang="en-US" sz="1600" dirty="0">
                <a:solidFill>
                  <a:srgbClr val="3A473F"/>
                </a:solidFill>
                <a:latin typeface="Calibri" pitchFamily="34" charset="0"/>
                <a:ea typeface="Calibri" pitchFamily="34" charset="-122"/>
                <a:cs typeface="Calibri" pitchFamily="34" charset="-120"/>
              </a:rPr>
              <a:t>Names and numbers stand out on the page — your eye finds them without effort.</a:t>
            </a:r>
            <a:endParaRPr lang="en-US" sz="1600" dirty="0"/>
          </a:p>
          <a:p>
            <a:pPr marL="228600" indent="-228600">
              <a:lnSpc>
                <a:spcPct val="100000"/>
              </a:lnSpc>
              <a:spcAft>
                <a:spcPts val="873"/>
              </a:spcAft>
              <a:buSzPct val="100000"/>
              <a:buChar char="•"/>
            </a:pPr>
            <a:r>
              <a:rPr lang="en-US" sz="1600" dirty="0">
                <a:solidFill>
                  <a:srgbClr val="3A473F"/>
                </a:solidFill>
                <a:latin typeface="Calibri" pitchFamily="34" charset="0"/>
                <a:ea typeface="Calibri" pitchFamily="34" charset="-122"/>
                <a:cs typeface="Calibri" pitchFamily="34" charset="-120"/>
              </a:rPr>
              <a:t>The last sentence usually repeats the main point.</a:t>
            </a:r>
            <a:endParaRPr lang="en-US" sz="1600" dirty="0"/>
          </a:p>
          <a:p>
            <a:pPr marL="228600" indent="-228600">
              <a:lnSpc>
                <a:spcPct val="100000"/>
              </a:lnSpc>
              <a:spcAft>
                <a:spcPts val="873"/>
              </a:spcAft>
              <a:buSzPct val="100000"/>
              <a:buChar char="•"/>
            </a:pPr>
            <a:r>
              <a:rPr lang="en-US" sz="1600" dirty="0">
                <a:solidFill>
                  <a:srgbClr val="3A473F"/>
                </a:solidFill>
                <a:latin typeface="Calibri" pitchFamily="34" charset="0"/>
                <a:ea typeface="Calibri" pitchFamily="34" charset="-122"/>
                <a:cs typeface="Calibri" pitchFamily="34" charset="-120"/>
              </a:rPr>
              <a:t>Thirty seconds gives you enough to decide whether to read the rest at all.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Scanning — fifteen seconds for one fact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are not reading. You are searching.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621792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66928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SCAN</a:t>
            </a:r>
            <a:endParaRPr lang="en-US" sz="1200" dirty="0"/>
          </a:p>
        </p:txBody>
      </p:sp>
      <p:sp>
        <p:nvSpPr>
          <p:cNvPr id="13" name="Text 9"/>
          <p:cNvSpPr txBox="1"/>
          <p:nvPr/>
        </p:nvSpPr>
        <p:spPr>
          <a:xfrm>
            <a:off x="822960" y="2487168"/>
            <a:ext cx="5669280" cy="3218688"/>
          </a:xfrm>
          <a:prstGeom prst="rect">
            <a:avLst/>
          </a:prstGeom>
          <a:noFill/>
          <a:ln/>
        </p:spPr>
        <p:txBody>
          <a:bodyPr wrap="square" lIns="0" tIns="0" rIns="0" bIns="0" rtlCol="0" anchor="ctr"/>
          <a:lstStyle/>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1.  Know EXACTLY what you want.</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     A price? A time? A name?</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2.  Picture what it looks like.</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     Numbers look like numbers.</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3.  Move your eyes fast</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     down the page, not across.</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4.  Stop when you find it.</a:t>
            </a:r>
            <a:endParaRPr lang="en-US" sz="1750" dirty="0"/>
          </a:p>
          <a:p>
            <a:pPr indent="0" marL="0">
              <a:lnSpc>
                <a:spcPct val="150000"/>
              </a:lnSpc>
              <a:buNone/>
            </a:pPr>
            <a:r>
              <a:rPr lang="en-US" sz="1750" dirty="0">
                <a:solidFill>
                  <a:srgbClr val="12211B"/>
                </a:solidFill>
                <a:latin typeface="Calibri" pitchFamily="34" charset="0"/>
                <a:ea typeface="Calibri" pitchFamily="34" charset="-122"/>
                <a:cs typeface="Calibri" pitchFamily="34" charset="-120"/>
              </a:rPr>
              <a:t>     Do not read anything else.</a:t>
            </a:r>
            <a:endParaRPr lang="en-US" sz="1750" dirty="0"/>
          </a:p>
        </p:txBody>
      </p:sp>
      <p:sp>
        <p:nvSpPr>
          <p:cNvPr id="14" name="Shape 10"/>
          <p:cNvSpPr/>
          <p:nvPr/>
        </p:nvSpPr>
        <p:spPr>
          <a:xfrm>
            <a:off x="7040880" y="1883664"/>
            <a:ext cx="460217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278624" y="2103120"/>
            <a:ext cx="412668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WHEN YOU SCAN IN REAL LIFE</a:t>
            </a:r>
            <a:endParaRPr lang="en-US" sz="1200" dirty="0"/>
          </a:p>
        </p:txBody>
      </p:sp>
      <p:sp>
        <p:nvSpPr>
          <p:cNvPr id="16" name="Text 12"/>
          <p:cNvSpPr/>
          <p:nvPr/>
        </p:nvSpPr>
        <p:spPr>
          <a:xfrm>
            <a:off x="7315200" y="2505456"/>
            <a:ext cx="405353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 bus or plane timetable — you want one time.</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 price list or a menu — you want one price.</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 phone contact list — you want one name.</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 form — you want the box you must fill in.</a:t>
            </a:r>
            <a:endParaRPr lang="en-US" sz="1650" dirty="0"/>
          </a:p>
          <a:p>
            <a:pPr marL="228600" indent="-228600">
              <a:lnSpc>
                <a:spcPct val="100000"/>
              </a:lnSpc>
              <a:spcAft>
                <a:spcPts val="900"/>
              </a:spcAft>
              <a:buSzPct val="100000"/>
              <a:buChar char="•"/>
            </a:pPr>
            <a:r>
              <a:rPr lang="en-US" sz="1650" dirty="0">
                <a:solidFill>
                  <a:srgbClr val="3A473F"/>
                </a:solidFill>
                <a:latin typeface="Calibri" pitchFamily="34" charset="0"/>
                <a:ea typeface="Calibri" pitchFamily="34" charset="-122"/>
                <a:cs typeface="Calibri" pitchFamily="34" charset="-120"/>
              </a:rPr>
              <a:t>A notice on a door — you want the opening hours.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Guessing a word you do not know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clues that are almost always there.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560320"/>
                <a:gridCol w="3840480"/>
                <a:gridCol w="4693615"/>
              </a:tblGrid>
              <a:tr h="49377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Clue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Ask yourself</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9377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 other words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What would make sense here?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 was exhausted after the long journey.” — tired?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9377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 kind of word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Is it a thing, an action or a describing word?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heavy suitcase” — suitcase must be a thing you carry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9377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Is it positive or negative?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the other words sound good or bad?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road was terrible.” — something bad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9377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Does it look like another word?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you know part of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“unhappy” — you know “happy”, and “un” makes it opposite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You do not need the exact meaning. “Something bad about the road” is enough to keep reading. Perfect understanding is not the goal.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Signs and notices — the reading you do every day</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Short, everywhere, and they matter.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2622728" cy="4059936"/>
          </a:xfrm>
          <a:prstGeom prst="roundRect">
            <a:avLst>
              <a:gd name="adj" fmla="val 4881"/>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2183816"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OPEN · CLOSED</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“Open 8:00 – 18:00”</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“Closed on Sunday”</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“Closed for lunch”</a:t>
            </a:r>
            <a:endParaRPr lang="en-US" sz="2000" dirty="0"/>
          </a:p>
        </p:txBody>
      </p:sp>
      <p:sp>
        <p:nvSpPr>
          <p:cNvPr id="15" name="Shape 10"/>
          <p:cNvSpPr/>
          <p:nvPr/>
        </p:nvSpPr>
        <p:spPr>
          <a:xfrm>
            <a:off x="3372536" y="1883664"/>
            <a:ext cx="2622728" cy="4059936"/>
          </a:xfrm>
          <a:prstGeom prst="roundRect">
            <a:avLst>
              <a:gd name="adj" fmla="val 4881"/>
            </a:avLst>
          </a:prstGeom>
          <a:solidFill>
            <a:srgbClr val="F6F9F7"/>
          </a:solidFill>
          <a:ln w="12700">
            <a:solidFill>
              <a:srgbClr val="E3E9E5"/>
            </a:solidFill>
            <a:prstDash val="solid"/>
          </a:ln>
        </p:spPr>
      </p:sp>
      <p:sp>
        <p:nvSpPr>
          <p:cNvPr id="16" name="Shape 11"/>
          <p:cNvSpPr/>
          <p:nvPr/>
        </p:nvSpPr>
        <p:spPr>
          <a:xfrm>
            <a:off x="3591992"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3706292" y="2217420"/>
            <a:ext cx="228600" cy="228600"/>
          </a:xfrm>
          <a:prstGeom prst="rect">
            <a:avLst/>
          </a:prstGeom>
        </p:spPr>
      </p:pic>
      <p:sp>
        <p:nvSpPr>
          <p:cNvPr id="18" name="Text 12"/>
          <p:cNvSpPr/>
          <p:nvPr/>
        </p:nvSpPr>
        <p:spPr>
          <a:xfrm>
            <a:off x="3591992" y="2706624"/>
            <a:ext cx="2183816"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Warnings</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“Careful!”</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“Wet floor”</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“No entry”</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“Do not touch”</a:t>
            </a:r>
            <a:endParaRPr lang="en-US" sz="2000" dirty="0"/>
          </a:p>
        </p:txBody>
      </p:sp>
      <p:sp>
        <p:nvSpPr>
          <p:cNvPr id="19" name="Shape 13"/>
          <p:cNvSpPr/>
          <p:nvPr/>
        </p:nvSpPr>
        <p:spPr>
          <a:xfrm>
            <a:off x="6196432" y="1883664"/>
            <a:ext cx="2622728" cy="4059936"/>
          </a:xfrm>
          <a:prstGeom prst="roundRect">
            <a:avLst>
              <a:gd name="adj" fmla="val 4881"/>
            </a:avLst>
          </a:prstGeom>
          <a:solidFill>
            <a:srgbClr val="F6F9F7"/>
          </a:solidFill>
          <a:ln w="12700">
            <a:solidFill>
              <a:srgbClr val="E3E9E5"/>
            </a:solidFill>
            <a:prstDash val="solid"/>
          </a:ln>
        </p:spPr>
      </p:sp>
      <p:sp>
        <p:nvSpPr>
          <p:cNvPr id="20" name="Shape 14"/>
          <p:cNvSpPr/>
          <p:nvPr/>
        </p:nvSpPr>
        <p:spPr>
          <a:xfrm>
            <a:off x="6415888"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6530188" y="2217420"/>
            <a:ext cx="228600" cy="228600"/>
          </a:xfrm>
          <a:prstGeom prst="rect">
            <a:avLst/>
          </a:prstGeom>
        </p:spPr>
      </p:pic>
      <p:sp>
        <p:nvSpPr>
          <p:cNvPr id="22" name="Text 15"/>
          <p:cNvSpPr/>
          <p:nvPr/>
        </p:nvSpPr>
        <p:spPr>
          <a:xfrm>
            <a:off x="6415888" y="2706624"/>
            <a:ext cx="2183816"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Directions</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“Entrance”  ·  “Exit”</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“Way in”  ·  “Way out”</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“Toilets  →”</a:t>
            </a:r>
            <a:endParaRPr lang="en-US" sz="2000" dirty="0"/>
          </a:p>
        </p:txBody>
      </p:sp>
      <p:sp>
        <p:nvSpPr>
          <p:cNvPr id="23" name="Shape 16"/>
          <p:cNvSpPr/>
          <p:nvPr/>
        </p:nvSpPr>
        <p:spPr>
          <a:xfrm>
            <a:off x="9020327" y="1883664"/>
            <a:ext cx="2622728" cy="4059936"/>
          </a:xfrm>
          <a:prstGeom prst="roundRect">
            <a:avLst>
              <a:gd name="adj" fmla="val 4881"/>
            </a:avLst>
          </a:prstGeom>
          <a:solidFill>
            <a:srgbClr val="F6F9F7"/>
          </a:solidFill>
          <a:ln w="12700">
            <a:solidFill>
              <a:srgbClr val="E3E9E5"/>
            </a:solidFill>
            <a:prstDash val="solid"/>
          </a:ln>
        </p:spPr>
      </p:sp>
      <p:sp>
        <p:nvSpPr>
          <p:cNvPr id="24" name="Shape 17"/>
          <p:cNvSpPr/>
          <p:nvPr/>
        </p:nvSpPr>
        <p:spPr>
          <a:xfrm>
            <a:off x="9239783" y="2103120"/>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9354083" y="2217420"/>
            <a:ext cx="228600" cy="228600"/>
          </a:xfrm>
          <a:prstGeom prst="rect">
            <a:avLst/>
          </a:prstGeom>
        </p:spPr>
      </p:pic>
      <p:sp>
        <p:nvSpPr>
          <p:cNvPr id="26" name="Text 18"/>
          <p:cNvSpPr/>
          <p:nvPr/>
        </p:nvSpPr>
        <p:spPr>
          <a:xfrm>
            <a:off x="9239783" y="2706624"/>
            <a:ext cx="2183816"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Information</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“Please wait here”</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“Pay at the counter”</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“Free”  ·  “Full”</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Inference — what the text does NOT say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Some answers are in the text. Some you have to work out.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Written directly</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shop opens at eight.”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What time does it open?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answer is IN the text.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 only have to find it.</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You work it out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shop opens at eight. Abel arrived at seven thirty.”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Did Abel wait?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text never says “he waited”.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But you know he did.</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Inference is using what IS written to answer what is NOT. Exams always ask at least one of these — and so does real life.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sign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sign</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/saɪn/</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700" dirty="0">
                <a:solidFill>
                  <a:srgbClr val="12211B"/>
                </a:solidFill>
                <a:latin typeface="Calibri" pitchFamily="34" charset="0"/>
                <a:ea typeface="Calibri" pitchFamily="34" charset="-122"/>
                <a:cs typeface="Calibri" pitchFamily="34" charset="-120"/>
              </a:rPr>
              <a:t>A board with words or a picture that tells you something.</a:t>
            </a:r>
            <a:endParaRPr lang="en-US" sz="17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The sign says the shop is closed.</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G is SILENT — say /saɪn/, like “fine”. Not “sig-n”. Careful: “signal” and “signature” DO pronounce the g.</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notice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notice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/ˈnəʊtɪs/</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 and 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250" dirty="0">
                <a:solidFill>
                  <a:srgbClr val="12211B"/>
                </a:solidFill>
                <a:latin typeface="Calibri" pitchFamily="34" charset="0"/>
                <a:ea typeface="Calibri" pitchFamily="34" charset="-122"/>
                <a:cs typeface="Calibri" pitchFamily="34" charset="-120"/>
              </a:rPr>
              <a:t>A short written message on a wall or door. Also the verb: to see something.</a:t>
            </a:r>
            <a:endParaRPr lang="en-US" sz="12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750" b="1" dirty="0">
                <a:solidFill>
                  <a:srgbClr val="12211B"/>
                </a:solidFill>
                <a:latin typeface="Calibri" pitchFamily="34" charset="0"/>
                <a:ea typeface="Calibri" pitchFamily="34" charset="-122"/>
                <a:cs typeface="Calibri" pitchFamily="34" charset="-120"/>
              </a:rPr>
              <a:t>There is a notice on the door. Did you notice the sign?</a:t>
            </a:r>
            <a:endParaRPr lang="en-US" sz="17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Two meanings, two uses. As a noun it is a piece of paper; as a verb it means to see or become aware of something.</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closed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closed</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/kləʊzd/</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Not open. You cannot go in.</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50" b="1" dirty="0">
                <a:solidFill>
                  <a:srgbClr val="12211B"/>
                </a:solidFill>
                <a:latin typeface="Calibri" pitchFamily="34" charset="0"/>
                <a:ea typeface="Calibri" pitchFamily="34" charset="-122"/>
                <a:cs typeface="Calibri" pitchFamily="34" charset="-120"/>
              </a:rPr>
              <a:t>The bank is closed on Sunday. Closed for lunch, 12:00 – 14:00.</a:t>
            </a:r>
            <a:endParaRPr lang="en-US" sz="15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One syllable — /kləʊzd/, not “clo-sed”. The -ed does not add a beat, because the base does not end in t or d.</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entrance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entrance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/ˈentrəns/</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way into a building.</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50" b="1" dirty="0">
                <a:solidFill>
                  <a:srgbClr val="12211B"/>
                </a:solidFill>
                <a:latin typeface="Calibri" pitchFamily="34" charset="0"/>
                <a:ea typeface="Calibri" pitchFamily="34" charset="-122"/>
                <a:cs typeface="Calibri" pitchFamily="34" charset="-120"/>
              </a:rPr>
              <a:t>The entrance is at the front. Use the side entrance.</a:t>
            </a:r>
            <a:endParaRPr lang="en-US" sz="18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FIRST syllable: EN-trance. And the opposite is “exit”, not “outrance”.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careful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careful</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/ˈkeəfʊl/</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Giving attention so nothing bad happens.</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900" b="1" dirty="0">
                <a:solidFill>
                  <a:srgbClr val="12211B"/>
                </a:solidFill>
                <a:latin typeface="Calibri" pitchFamily="34" charset="0"/>
                <a:ea typeface="Calibri" pitchFamily="34" charset="-122"/>
                <a:cs typeface="Calibri" pitchFamily="34" charset="-120"/>
              </a:rPr>
              <a:t>Careful! The floor is wet. Be careful on the road.</a:t>
            </a:r>
            <a:endParaRPr lang="en-US" sz="19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On a sign it appears alone — “Careful!” In a sentence you need “be”: “Be careful.” Do not say “Do careful.”</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LANGUAGE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Joining words — and, but, so, because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These four words tell you how two ideas are connected.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194560"/>
                <a:gridCol w="3291840"/>
                <a:gridCol w="5608015"/>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 tells you</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another similar idea is coming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shop is open and the bank is open.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but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opposite is coming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shop is open but the bank is closed.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because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REASON is coming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was late because the bus did not come.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RESULT is coming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bus did not come, so I was late.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Notice “because” and “so” give the same information in the opposite order.  Reason + so + result.   Result + because + reason.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LANGUAGE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Sequence words — the order of events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These words tell you where you are in a story or a set of instructions.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3108960"/>
                <a:gridCol w="505937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Position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First · At first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beginning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First, boil the water.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Then · Next · After that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middle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Then add the coffee.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Finally · In the end · At last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end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Finally, pour it into the cups.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Before · After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relative order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Wash your hands before you eat.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In instructions these words are the map. If you catch only the sequence words, you already know the shape of the whole text.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LANGUAGE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Who is “he”? — following pronouns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pronoun always points back to somebody already named. Find who.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Clear — you can follow it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Sara went to the market.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bought tomatoes.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“She” = Sara.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Abel has a shop. It is in Merkato.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“It” = the shop.</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Harder — two possibilities</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Sara met Hana. She was late.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Who was late?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 must read on to find out.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Good writers avoid this.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Good readers notice it.</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When you read “he”, “she”, “it” or “they”, stop for one second and ask WHO. If you lose track of that, you lose the whole text.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LANGUAGE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Words that add or contrast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small words that change the direction of a text.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560320"/>
                <a:gridCol w="3291840"/>
                <a:gridCol w="50593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 means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also · too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one more thing, the same direction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speaks English. She also speaks Oromo.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however · but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opposite is coming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room was small. However, it was clean.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for example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 example is coming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Some fruits are cheap — for example, bananas.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that is why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result of what came before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 rained. That is why the road was bad.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“Too” goes at the END of the sentence. “Also” goes in the MIDDLE, before the main verb.</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LANGUAGE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Put it all together — how a good reader reads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a fluent reader does automatically.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3F5BD9"/>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Decides WHY they are reading first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General idea? One fact? Every detail? The purpose chooses the method.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3F5BD9"/>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Reads the title and the first line before anything else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Thirty seconds of skimming saves five minutes of confusion.</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3F5BD9"/>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Does not stop at unknown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Guesses from the four clues and keeps going. Comes back later only if it matters.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3F5BD9"/>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Follows the joining and sequence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and · but · because · so · then · finally. These carry the shape of the text.</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3F5BD9"/>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Checks who “he”, “she” and “they” refer to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second each time. Losing the reference loses the text.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which method?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purpose chooses the method.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want to know if a shop is open on Sunday. Which method?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Scan.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You want one piece of information and you know exactly what it looks like — a day of the week on a notice.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 friend sends a long message. You want to know if it is good news. Which method?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Skim.</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You want the general idea only. Read the first line and any obvious words, and decide from there.</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have medicine and need to know how many tablets to take. Which method?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Read closely.</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Every detail matters and a mistake is dangerous. This is one of the few times close reading is essential.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guessing a word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Use the four clues.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“The road was terrible, so the journey took ten hours.” What does “terrible” mean?</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Very bad.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result — ten hours — tells you it was bad. You did not need to know the word to understand the sentence.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“He carried a heavy suitcase to the bus.” What is a suitcase?</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A bag for clothes when you travel.</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It is carried, it is heavy and it goes on a bus. It must be a thing you take on a journey.</a:t>
            </a:r>
            <a:endParaRPr lang="en-US" sz="11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“She was unhappy with the price.” What does “unhappy” mean?</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Not happy.</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You already know “happy”, and “un-” at the front makes it the opposite. One prefix explains hundreds of words.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joining words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word tells you what is coming.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“The shop is open ___ the bank is closed.”</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but</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two ideas are opposite — one open, one closed — so “but”.</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“I was late ___ the bus did not come.”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because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second half is the REASON for the first. Reason comes after “because”.</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“The bus did not come, ___ I was late.”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so</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Same two facts, opposite order. The result comes after “so”.</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following pronouns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Ask WHO every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“Abel went to Merkato. He bought onions.” Who bought onions?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Abel.</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“He” points back to the last man named. Only one person is mentioned, so there is no doubt.</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“Sara has a shop. It is in Piassa.” What is in Piassa?</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 shop.</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“It” refers to a thing, not a person — so it must be the shop, not Sara.</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“Hana met Mimi. She was tired.” Who was tired?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It is not clear — you must read on.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Both are women, so “she” could be either. Noticing that the text is unclear is itself a reading skill.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inference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answer is not written, but it is there.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“The shop opens at eight. Abel arrived at seven thirty.” Did Abel wait?</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Yes, he waited for thirty minutes.</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text never says “he waited”. You worked it out from two times.</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“Sara looked at the price and put the bag back.” Why did she put it back?</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It was too expensive.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text does not say “expensive”. But looking at a price and then putting something back tells you.</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“He opened his umbrella and walked quickly.” What was the weather?</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It was raining.</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Rain is never mentioned. The umbrella and the quick walking are the evidence.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Asking about a notice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Mimi cannot understand a sign at the bank.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Excuse me. What does this notice say?</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says the bank is closed on Saturday afternoon.</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 it is open on Saturday morning?</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until twelve o'clock.</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And what does this word mean — “counter”?</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is the desk where you pay. Over there.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Two useful questions:  “What does this notice say?”  and  “What does this word mean?”  Both are from Module 5.</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Talking about something you read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Dawit tells Sara about a job advertisement.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read an advertisement for a job at the hotel.</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Really? What does it say?</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They want somebody with good English. The hours are eight to four.</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Did it say how much they pay?</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it did not. But it says “good salary”.</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 it is probably a good job. Are you going to apply?</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Sara's last line is inference: the advertisement never says “good job”. She worked it out.</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talking about texts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for asking about and reporting what you read.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does it say?”</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About a notice, a message or an advert.</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“It says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The natural way to report a text. Not “it is written”.</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does this word mean?”</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From Module 5. The most useful question for reading.</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think it means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For when you have guessed. Honest and useful.</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520" b="1" dirty="0">
                <a:solidFill>
                  <a:srgbClr val="12211B"/>
                </a:solidFill>
                <a:latin typeface="Calibri" pitchFamily="34" charset="0"/>
                <a:ea typeface="Calibri" pitchFamily="34" charset="-122"/>
                <a:cs typeface="Calibri" pitchFamily="34" charset="-120"/>
              </a:rPr>
              <a:t>“I do not understand this part.”</a:t>
            </a:r>
            <a:endParaRPr lang="en-US" sz="152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Precise — it shows exactly where the problem is.</a:t>
            </a:r>
            <a:endParaRPr lang="en-US" sz="152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“So it is probably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For stating what you worked out.</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Excuse me. What ______ this notice ______ ?</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GUARD</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says the office is closed today.</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it is open tomorrow?</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GUARD</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from eight o'clock.</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______ this word ______ — “appointment”?</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GUARD</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is the time they agree to see you.</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“does … say”  ·  “So”  ·  “does … mean”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read and report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Skim a text for thirty seconds, then tell your partner what it is about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One sentence only.</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Scan a timetable and answer your partner's three questions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Fifteen seconds each.</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Find three words you do not know and guess them aloud</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Say which clue you used each time.</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Read a short text and ask your partner one inference question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The answer must not be written in the text.</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the thirty-second skim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texts. Thirty seconds each. Speak, do not write.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Skim and say what it is about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One sentence. “It is about a job at a hotel.”</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Skim and say where you would find it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 newspaper? A door? A phone? A school?</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Skim and say whether you need to read it properly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Yes or no, and why. That is the real purpose of skimming.</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the scanning race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Fifteen seconds per question.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time does the first bus leave?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From a timetable.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How much is a kilo of tomatoes?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From a price list.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Which day is the office closed?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From a notice.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is the phone number?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From an advertisement.</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Who wrote the message?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From a message.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silent letters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Some letters are written but never said. You must know which.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Say the word like this</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sign  /saɪn/</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listen  /ˈlɪsən/</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answer  /ˈɑːnsə/</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write  /raɪt/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hour  /aʊə/</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half  /hɑːf/</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The silent letter</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G is silent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T is silent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W is silent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W is silent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H is silent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L is silent</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You cannot guess these. They must be learned one by one — but there are not many, and you already know most of them.</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read aloud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Two minutes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Read a short text aloud, stopping at every full stop</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partner listens for the stops.</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Explain in your own words what it said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Three sentences. Do not read it again.</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Explain one word you guessed and how you guessed it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Name the clue you used.</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Ask your partner one inference question about the text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 answer must not be written in it.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a short text aloud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Thirty seconds. Stop at every full stop.</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it is about in one sentence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skimming skill.</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Give three facts from the text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scanning skill.</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word you did not know and what you think it means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Name the clue you used.</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Answer one inference question about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Something the text does not say directly.</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someone reads a notice aloud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information.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“The health centre is open from Monday to Friday,</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eight o'clock in the morning until five in the evening.</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On Saturday it is open from eight until twelve.</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It is closed on Sunday.</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For an appointment, please call zero nine one one,</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two three four, five six seven.”</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opening hours for the week.</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Saturday hours.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Which day is it closed?</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phone number.</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weekday hours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Monday to Friday, 8:00 to 17:00.</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“Five in the evening” is 17:00 or 5 p.m. Both ways of writing it are correct.</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Saturday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8:00 to 12:00.</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Half a day. Notice the pattern: many Ethiopian offices work Saturday mornings only.</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closed 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Sunday.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notice says it directly. This is a scanning answer, not an inference.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phone number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0911 234 567</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Said digit by digit, with “zero” or “oh” for 0. Never as whole numbers.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Could you go at 3 p.m. on Saturday?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 it closes at twelve on Saturday.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one is inference. The notice never says “closed at three”; you work it out from the hours.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 message about a text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then answer the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SARA:  Did you read the notice on the door?</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ABEL:  No, I did not. What does it say?</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SARA:  It says the water will be off on Thursday.</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ABEL:  All day?</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SARA:  From eight in the morning until four in the afternoon.</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ABEL:  So we should fill the containers on Wednesday night.</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SARA:  Yes. And it says they are sorry for the problem.</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Where was the notice?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What will happen on Thursday?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What time will the water come back?</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What does Abel decide to do?</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Is Abel's decision written in the notice?</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where was the notice?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On the door.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Sara says it directly in her first line. A finding answer.</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will happen?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water will be off.</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“Will be off” is the future from Module 4, used for a scheduled event.</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when will it come back?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At four in the afternoon.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notice gives the end time, so the water returns then. A small inference from a stated fact.</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does Abel decide?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To fill the containers on Wednesday night.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 says it himself. It is in the conversation but NOT in the notice.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is it in the notice?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It is Abel's own idea, based on what the notice says.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is the difference between what a text says and what a reader does with it. Both matter.</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Reading and listening use the same skills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strategies that work for both.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Know your purpose first</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Are you listening for the general idea or for one fact? It changes what you pay attention to.</a:t>
            </a:r>
            <a:endParaRPr lang="en-US" sz="165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Do not stop at one unknown word</a:t>
            </a:r>
            <a:endParaRPr lang="en-US" sz="1700" dirty="0"/>
          </a:p>
          <a:p>
            <a:pPr indent="0" marL="0">
              <a:lnSpc>
                <a:spcPct val="102000"/>
              </a:lnSpc>
              <a:spcBef>
                <a:spcPts val="324"/>
              </a:spcBef>
              <a:buNone/>
            </a:pPr>
            <a:r>
              <a:rPr lang="en-US" sz="1300" dirty="0">
                <a:solidFill>
                  <a:srgbClr val="3A473F"/>
                </a:solidFill>
                <a:latin typeface="Calibri" pitchFamily="34" charset="0"/>
                <a:ea typeface="Calibri" pitchFamily="34" charset="-122"/>
                <a:cs typeface="Calibri" pitchFamily="34" charset="-120"/>
              </a:rPr>
              <a:t>In reading you can go back. In listening you cannot — so keeping going matters even more.</a:t>
            </a:r>
            <a:endParaRPr lang="en-US" sz="170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Guess from what is around it</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The same four clues work: the other words, the kind of word, positive or negative, and word parts.</a:t>
            </a:r>
            <a:endParaRPr lang="en-US" sz="158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Check who “he” and “they” are</a:t>
            </a:r>
            <a:endParaRPr lang="en-US" sz="1700" dirty="0"/>
          </a:p>
          <a:p>
            <a:pPr indent="0" marL="0">
              <a:lnSpc>
                <a:spcPct val="102000"/>
              </a:lnSpc>
              <a:spcBef>
                <a:spcPts val="324"/>
              </a:spcBef>
              <a:buNone/>
            </a:pPr>
            <a:r>
              <a:rPr lang="en-US" sz="1300" dirty="0">
                <a:solidFill>
                  <a:srgbClr val="3A473F"/>
                </a:solidFill>
                <a:latin typeface="Calibri" pitchFamily="34" charset="0"/>
                <a:ea typeface="Calibri" pitchFamily="34" charset="-122"/>
                <a:cs typeface="Calibri" pitchFamily="34" charset="-120"/>
              </a:rPr>
              <a:t>In a conversation with several people, losing track of who is who loses the whole meaning.</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signs and notices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real signs. What does each one tell you?</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THEM</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1.  OPEN  ·  Monday – Saturday  ·  8:00 – 18:00</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2.  CLOSED FOR LUNCH  12:00 – 14:00</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3.  NO ENTRY</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4.  PLEASE WAIT HERE</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5.  PAY AT THE COUNTER</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6.  CAREFUL — WET FLOOR</a:t>
            </a:r>
            <a:endParaRPr lang="en-US" sz="20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For each sign, say in ONE sentence what it means.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Which two signs tell you what NOT to do?</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Which sign would you see in a shop?</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Which sign is about your safety?</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Look back at the signs.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Can you go to the shop at seven in the morning?</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Can you go at one o'clock in the afternoon?</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It is Sunday. Is the shop open?</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Which sign tells you the floor is dangerous?</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do you pay?</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seven in the morning?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 it opens at eight.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sign never says “closed at seven”. You worked it out from the opening time. That is inference.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one o'clock?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 it is closed for lunch from twelve until two.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signs together give the answer. You had to combine them.</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Sunday?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 it is open Monday to Saturday.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Sunday is not in the list, so it is closed. The absence of information IS the information.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dangerous floor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“Careful — wet floor.”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direct scanning answer. The sign says it in three words.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where do you pay?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At the counter.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Also direct. Note “counter” was the unknown word in the Conversation section.</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longer text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First skim it for thirty seconds. Then read it properly.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0000"/>
              </a:lnSpc>
              <a:buNone/>
            </a:pPr>
            <a:r>
              <a:rPr lang="en-US" sz="1200" dirty="0">
                <a:solidFill>
                  <a:srgbClr val="12211B"/>
                </a:solidFill>
                <a:latin typeface="Calibri" pitchFamily="34" charset="0"/>
                <a:ea typeface="Calibri" pitchFamily="34" charset="-122"/>
                <a:cs typeface="Calibri" pitchFamily="34" charset="-120"/>
              </a:rPr>
              <a:t>THE NEW LIBRARY IN ADAMA</a:t>
            </a:r>
            <a:endParaRPr lang="en-US" sz="1200" dirty="0"/>
          </a:p>
          <a:p>
            <a:pPr indent="0" marL="0">
              <a:lnSpc>
                <a:spcPct val="130000"/>
              </a:lnSpc>
              <a:buNone/>
            </a:pPr>
            <a:endParaRPr lang="en-US" sz="1200" dirty="0"/>
          </a:p>
          <a:p>
            <a:pPr indent="0" marL="0">
              <a:lnSpc>
                <a:spcPct val="130000"/>
              </a:lnSpc>
              <a:buNone/>
            </a:pPr>
            <a:r>
              <a:rPr lang="en-US" sz="1200" dirty="0">
                <a:solidFill>
                  <a:srgbClr val="12211B"/>
                </a:solidFill>
                <a:latin typeface="Calibri" pitchFamily="34" charset="0"/>
                <a:ea typeface="Calibri" pitchFamily="34" charset="-122"/>
                <a:cs typeface="Calibri" pitchFamily="34" charset="-120"/>
              </a:rPr>
              <a:t>A new public library opened in Adama last month. It is open from Monday to Saturday, from nine in the morning until seven in the evening.</a:t>
            </a:r>
            <a:endParaRPr lang="en-US" sz="1200" dirty="0"/>
          </a:p>
          <a:p>
            <a:pPr indent="0" marL="0">
              <a:lnSpc>
                <a:spcPct val="130000"/>
              </a:lnSpc>
              <a:buNone/>
            </a:pPr>
            <a:endParaRPr lang="en-US" sz="1200" dirty="0"/>
          </a:p>
          <a:p>
            <a:pPr indent="0" marL="0">
              <a:lnSpc>
                <a:spcPct val="130000"/>
              </a:lnSpc>
              <a:buNone/>
            </a:pPr>
            <a:r>
              <a:rPr lang="en-US" sz="1200" dirty="0">
                <a:solidFill>
                  <a:srgbClr val="12211B"/>
                </a:solidFill>
                <a:latin typeface="Calibri" pitchFamily="34" charset="0"/>
                <a:ea typeface="Calibri" pitchFamily="34" charset="-122"/>
                <a:cs typeface="Calibri" pitchFamily="34" charset="-120"/>
              </a:rPr>
              <a:t>The library has more than five thousand books in Amharic, Oromo and English. There is also a room with computers, but you must book a computer before you use it.</a:t>
            </a:r>
            <a:endParaRPr lang="en-US" sz="1200" dirty="0"/>
          </a:p>
          <a:p>
            <a:pPr indent="0" marL="0">
              <a:lnSpc>
                <a:spcPct val="130000"/>
              </a:lnSpc>
              <a:buNone/>
            </a:pPr>
            <a:endParaRPr lang="en-US" sz="1200" dirty="0"/>
          </a:p>
          <a:p>
            <a:pPr indent="0" marL="0">
              <a:lnSpc>
                <a:spcPct val="130000"/>
              </a:lnSpc>
              <a:buNone/>
            </a:pPr>
            <a:r>
              <a:rPr lang="en-US" sz="1200" dirty="0">
                <a:solidFill>
                  <a:srgbClr val="12211B"/>
                </a:solidFill>
                <a:latin typeface="Calibri" pitchFamily="34" charset="0"/>
                <a:ea typeface="Calibri" pitchFamily="34" charset="-122"/>
                <a:cs typeface="Calibri" pitchFamily="34" charset="-120"/>
              </a:rPr>
              <a:t>Membership is free for students. Other people pay fifty birr a year. You need one photograph and an identity card to join.</a:t>
            </a:r>
            <a:endParaRPr lang="en-US" sz="1200" dirty="0"/>
          </a:p>
          <a:p>
            <a:pPr indent="0" marL="0">
              <a:lnSpc>
                <a:spcPct val="130000"/>
              </a:lnSpc>
              <a:buNone/>
            </a:pPr>
            <a:endParaRPr lang="en-US" sz="1200" dirty="0"/>
          </a:p>
          <a:p>
            <a:pPr indent="0" marL="0">
              <a:lnSpc>
                <a:spcPct val="130000"/>
              </a:lnSpc>
              <a:buNone/>
            </a:pPr>
            <a:r>
              <a:rPr lang="en-US" sz="1200" dirty="0">
                <a:solidFill>
                  <a:srgbClr val="12211B"/>
                </a:solidFill>
                <a:latin typeface="Calibri" pitchFamily="34" charset="0"/>
                <a:ea typeface="Calibri" pitchFamily="34" charset="-122"/>
                <a:cs typeface="Calibri" pitchFamily="34" charset="-120"/>
              </a:rPr>
              <a:t>“We were very busy in the first week,” said the manager. “More than three hundred people joined.”</a:t>
            </a:r>
            <a:endParaRPr lang="en-US" sz="12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Skim for 30 seconds. What is it about?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Scan: what time does it close?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Scan: how much is membership?</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Guess: what does “membership” mean?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Inference: is the library popular? How do you know?</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SKIM: what is it about?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new library in Adama.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title alone gives you this. Thirty seconds was more than enough.</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SCAN: what time does it close?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At seven in the evening.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found one number without reading the rest. That is scanning.</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SCAN: how much is membership?</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Free for students, fifty birr a year for others.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facts, both scanned. A complete answer gives both.</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GUESS: what is “membership”?</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Being a member — belonging to the library so you can use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know “member”. The rest of the paragraph is about joining, which confirms it.</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INFERENCE: is it popular?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 three hundred people joined in the first week.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word “popular” never appears. The number is the evidence.</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join the ideas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Join each pair into one sentence with the correct word.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The shop is open.  The bank is closed.</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I was late.  The bus did not come.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It rained all night.  The road was very bad.</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She speaks English.  She speaks Oromo.</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The library is free for students.  Other people pay fifty birr.</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write a notice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Short, clear, and only the necessary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WRITE A NOTICE FOR EACH SITUATION</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50000"/>
              </a:lnSpc>
              <a:buNone/>
            </a:pPr>
            <a:r>
              <a:rPr lang="en-US" sz="1250" dirty="0">
                <a:solidFill>
                  <a:srgbClr val="12211B"/>
                </a:solidFill>
                <a:latin typeface="Calibri" pitchFamily="34" charset="0"/>
                <a:ea typeface="Calibri" pitchFamily="34" charset="-122"/>
                <a:cs typeface="Calibri" pitchFamily="34" charset="-120"/>
              </a:rPr>
              <a:t>1.  Your shop is closed on Sunday.</a:t>
            </a:r>
            <a:endParaRPr lang="en-US" sz="1250" dirty="0"/>
          </a:p>
          <a:p>
            <a:pPr indent="0" marL="0">
              <a:lnSpc>
                <a:spcPct val="150000"/>
              </a:lnSpc>
              <a:buNone/>
            </a:pPr>
            <a:endParaRPr lang="en-US" sz="1250" dirty="0"/>
          </a:p>
          <a:p>
            <a:pPr indent="0" marL="0">
              <a:lnSpc>
                <a:spcPct val="150000"/>
              </a:lnSpc>
              <a:buNone/>
            </a:pPr>
            <a:r>
              <a:rPr lang="en-US" sz="1250" dirty="0">
                <a:solidFill>
                  <a:srgbClr val="12211B"/>
                </a:solidFill>
                <a:latin typeface="Calibri" pitchFamily="34" charset="0"/>
                <a:ea typeface="Calibri" pitchFamily="34" charset="-122"/>
                <a:cs typeface="Calibri" pitchFamily="34" charset="-120"/>
              </a:rPr>
              <a:t>2.  The office is closed for lunch</a:t>
            </a:r>
            <a:endParaRPr lang="en-US" sz="1250" dirty="0"/>
          </a:p>
          <a:p>
            <a:pPr indent="0" marL="0">
              <a:lnSpc>
                <a:spcPct val="150000"/>
              </a:lnSpc>
              <a:buNone/>
            </a:pPr>
            <a:r>
              <a:rPr lang="en-US" sz="1250" dirty="0">
                <a:solidFill>
                  <a:srgbClr val="12211B"/>
                </a:solidFill>
                <a:latin typeface="Calibri" pitchFamily="34" charset="0"/>
                <a:ea typeface="Calibri" pitchFamily="34" charset="-122"/>
                <a:cs typeface="Calibri" pitchFamily="34" charset="-120"/>
              </a:rPr>
              <a:t>     from 12 to 2.</a:t>
            </a:r>
            <a:endParaRPr lang="en-US" sz="1250" dirty="0"/>
          </a:p>
          <a:p>
            <a:pPr indent="0" marL="0">
              <a:lnSpc>
                <a:spcPct val="150000"/>
              </a:lnSpc>
              <a:buNone/>
            </a:pPr>
            <a:endParaRPr lang="en-US" sz="1250" dirty="0"/>
          </a:p>
          <a:p>
            <a:pPr indent="0" marL="0">
              <a:lnSpc>
                <a:spcPct val="150000"/>
              </a:lnSpc>
              <a:buNone/>
            </a:pPr>
            <a:r>
              <a:rPr lang="en-US" sz="1250" dirty="0">
                <a:solidFill>
                  <a:srgbClr val="12211B"/>
                </a:solidFill>
                <a:latin typeface="Calibri" pitchFamily="34" charset="0"/>
                <a:ea typeface="Calibri" pitchFamily="34" charset="-122"/>
                <a:cs typeface="Calibri" pitchFamily="34" charset="-120"/>
              </a:rPr>
              <a:t>3.  People must wait outside.</a:t>
            </a:r>
            <a:endParaRPr lang="en-US" sz="1250" dirty="0"/>
          </a:p>
          <a:p>
            <a:pPr indent="0" marL="0">
              <a:lnSpc>
                <a:spcPct val="150000"/>
              </a:lnSpc>
              <a:buNone/>
            </a:pPr>
            <a:endParaRPr lang="en-US" sz="1250" dirty="0"/>
          </a:p>
          <a:p>
            <a:pPr indent="0" marL="0">
              <a:lnSpc>
                <a:spcPct val="150000"/>
              </a:lnSpc>
              <a:buNone/>
            </a:pPr>
            <a:r>
              <a:rPr lang="en-US" sz="1250" dirty="0">
                <a:solidFill>
                  <a:srgbClr val="12211B"/>
                </a:solidFill>
                <a:latin typeface="Calibri" pitchFamily="34" charset="0"/>
                <a:ea typeface="Calibri" pitchFamily="34" charset="-122"/>
                <a:cs typeface="Calibri" pitchFamily="34" charset="-120"/>
              </a:rPr>
              <a:t>4.  There is no water on Thursday</a:t>
            </a:r>
            <a:endParaRPr lang="en-US" sz="1250" dirty="0"/>
          </a:p>
          <a:p>
            <a:pPr indent="0" marL="0">
              <a:lnSpc>
                <a:spcPct val="150000"/>
              </a:lnSpc>
              <a:buNone/>
            </a:pPr>
            <a:r>
              <a:rPr lang="en-US" sz="1250" dirty="0">
                <a:solidFill>
                  <a:srgbClr val="12211B"/>
                </a:solidFill>
                <a:latin typeface="Calibri" pitchFamily="34" charset="0"/>
                <a:ea typeface="Calibri" pitchFamily="34" charset="-122"/>
                <a:cs typeface="Calibri" pitchFamily="34" charset="-120"/>
              </a:rPr>
              <a:t>     from 8 until 4.</a:t>
            </a:r>
            <a:endParaRPr lang="en-US" sz="1250" dirty="0"/>
          </a:p>
          <a:p>
            <a:pPr indent="0" marL="0">
              <a:lnSpc>
                <a:spcPct val="150000"/>
              </a:lnSpc>
              <a:buNone/>
            </a:pPr>
            <a:endParaRPr lang="en-US" sz="1250" dirty="0"/>
          </a:p>
          <a:p>
            <a:pPr indent="0" marL="0">
              <a:lnSpc>
                <a:spcPct val="150000"/>
              </a:lnSpc>
              <a:buNone/>
            </a:pPr>
            <a:r>
              <a:rPr lang="en-US" sz="1250" dirty="0">
                <a:solidFill>
                  <a:srgbClr val="12211B"/>
                </a:solidFill>
                <a:latin typeface="Calibri" pitchFamily="34" charset="0"/>
                <a:ea typeface="Calibri" pitchFamily="34" charset="-122"/>
                <a:cs typeface="Calibri" pitchFamily="34" charset="-120"/>
              </a:rPr>
              <a:t>5.  The floor is wet.</a:t>
            </a:r>
            <a:endParaRPr lang="en-US" sz="125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RULES FOR WRITING A NOTICE</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Use as FEW words as possible.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Capital letters make it easier to read.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Put the most important word first.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Times and days must be exact.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“Please” makes an instruction politer.</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write what a text said</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three sentences about the library text from slide 44. Do not copy it.</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Write one sentence saying what the text is about.</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Write one sentence with two facts from it.</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Write one sentence saying what YOU think about it.</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Use “and”, “but” or “so” at least once.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Do not use more than 40 words in total.</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Sentence 1 — what it is about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text is about a new library in Adama.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sentence, from the title. This is the skimming skill written down.</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Sentence 2 — two facts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has five thousand books and it is open six days a week, but you must pay fifty birr a year.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facts joined with “and”, then a contrast with “but”. Three ideas in one sentence.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Sentence 3 — your opinion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think it is a good idea because many people cannot buy books.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 think” marks it as opinion, and “because” gives a reason. Opinions without reasons are weak.</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The word count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39 words — under the limit.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limit forces you to choose. Choosing what to leave out is what summarising actually is.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Vocabulary check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sign · notice · closed · entrance · careful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mostly on real signs — which is where you will meet them again.</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reading checklist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habits. Use them on every text from now 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Decide WHY you are reading before you start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General idea, one fact, or every detail? The purpose chooses the method.</a:t>
            </a:r>
            <a:endParaRPr lang="en-US" sz="160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the title and the first line first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Thirty seconds of skimming saves five minutes of confusion.</a:t>
            </a:r>
            <a:endParaRPr lang="en-US" sz="160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 not stop at a word you do not know</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Guess from the four clues and keep going.</a:t>
            </a:r>
            <a:endParaRPr lang="en-US" sz="160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Follow the joining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and · but · because · so · then · finally. They carry the shape of the text.</a:t>
            </a:r>
            <a:endParaRPr lang="en-US" sz="160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7A4FBF"/>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Check who “he”, “she” and “they” are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second each time. Losing the reference loses the text.</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You want to know a bus time. Which method?</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skim     b) scan     c) read closely</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“CLOSED FOR LUNCH 12:00 – 14:00.” Can you go at 13:00?</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yes     b) no     c) the sign does not say</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“He was exhausted after the journey.” “Exhausted” probably means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very happy     b) very tired     c) very fast</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Which word tells you the opposite is coming?</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and     b) but     c) so</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“Sara went to Merkato. She bought onions.” Who bought onions?</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Sara     b) Merkato     c) we do not know</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guess the word</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what you think each word means, and say which clue you used.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The suitcase was too heavy, so he could not lift it.  →  suitcase?</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She was delighted with her exam result.  →  delighted?</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The road was impassable after the rain.  →  impassable?</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He is unemployed and looking for work.  →  unemployed?</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The shop sells stationery — pens, paper and books.  →  stationery?</a:t>
            </a:r>
            <a:endParaRPr lang="en-US" sz="1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Signs, methods and joining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SIGN to its MEANING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NO ENTRY     2. PAY AT THE COUNTER     3. WET FLOOR     4. ENTRANCE</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be careful, you may fall        b) the way in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do not go in        d) give your money at the desk</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PURPOSE to the METHOD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Find a phone number     2. Decide if an article is interesting     3. Follow medicine instructions          a) skim     b) read closely     c) scan</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JOINING WORD to its JOB</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but     2. because     3. so     4. and          a) reason     b) result     c) opposite     d) addition</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scan for the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short answers. Do not read the whole text.</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When did the library open?</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How many books does it have?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languages are the books in?</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How much do students pay?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What do you need to join?</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direct or inference?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each question, then write D (direct) or I (inference).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“The shop opens at eight.” What time does it open?</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“The shop opens at eight. Sara arrived at seven.” Did Sara wait?</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“The library is open Monday to Saturday.” Is it open on Sunday?</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“He put on his coat and closed the window.” Was it cold?</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“Membership is fifty birr a year, but free for students.” Does a student pay?</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You must understand every word to understand a text.</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Skimming means reading for the general idea.</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Scanning means reading every word slowly.</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“Un-” at the start of a word usually means “not”.</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An inference answer is written directly in the text.</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The first sentence of a paragraph usually gives the main idea.</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Where do you see English writing every day?</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Which method would you use to read a menu? Why?</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do you do now when you meet a word you do not know?</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Write one sign you have seen in English and what it means.</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Which of the five reading habits is hardest for you?</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Skim a text for thirty seconds and say what it is about.</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Scan for three facts and say them.</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Guess two unknown words aloud and name the clue for each.</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Ask your partner one direct and one inference question about the text.</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Use the library text from slide 44 unless told otherwise.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Summarise the library text in exactly 25 words.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Count them.</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Write three inference questions about the text.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None may be answerable directly.</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Guess these words from the text: membership · book (a computer) · identity card.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Name the clue for each.</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Write five signs you might see in a library.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as few words as possible.</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Which reading method did you use for each question above? Why?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Skim, scan or read closely.</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is stopping at every unknown word a bad habit?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happens to the rest of the text while you stop?</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Is guessing a word “cheating”? Why or why not?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do fluent readers do in their own language?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Your friend reads every text slowly and word by word. What advice would you give?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Be specific and practical.</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When is it dangerous NOT to read every word?</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of a real situation.</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6 quiz — Part 1 · Reading methods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You may look at the reading texts, but not at the teaching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You want the general idea of an article. Which method?</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skim     b) scan     c) read closely</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You want one bus time from a timetable. Which method?</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skim     b) scan     c) read closely</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You are reading medicine instructions. Which method?</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skim     b) scan     c) read closely</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When you skim, which four things do you read?</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Name them.</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6 quiz — Part 2 · Guessing words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“The road was impassable after the rain.” What does it mean?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Guess and say why.</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What does “un-” at the start of a word usually mean?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word.</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“He was delighted with the news.” Is “delighted” positive or negative?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positive     b) negative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Name two of the four clues for guessing a word.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of four.</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Module 6 quiz — Part 3 · Signs and joining words</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What does “NO ENTRY” mean?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Complete: “The shop is open ___ the bank is closed.”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and     b) but     c) so</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Complete: “I was late ___ the bus did not come.”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but     b) because     c) and</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Which word signals a RESULT?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because     b) so     c) but</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6 quiz — Part 4 · Reading a text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“Sara met Hana. She was tired.” Who was tired?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Sara     b) Hana     c) it is not clear</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“The shop opens at eight. Abel came at seven thirty.” Did he wait?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Answer and say how you know.</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“Open Monday to Saturday.” Is it open on Sunday?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Answer and say how you know.</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Is question 15 a direct answer or an inference?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direct     b) inference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6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a notice: the office is closed on Friday.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As few words as possible.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Join with the right word: “It rained. The road was bad.”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one inference question about any text you have read.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It must not be answerable directly.</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skim a text and say what it is about in one sentence.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Thirty seconds only.</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general idea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skim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Skimming gives you the general idea in about thirty seconds without reading every word.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one bus time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scan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want one specific piece of information and you know what it looks like — a number.</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medicine instructions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read closely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Every detail matters and a mistake could be dangerous. This is when close reading is essential.</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the four things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title · the first sentence of each paragraph · names and numbers · the last sentence.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Writers put the main idea in the first sentence, which is why skimming works at all.</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“impassable”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Impossible to travel on. “Im-” means not, and the rain caused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clues at once: the word part and the sentence around it.</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“un-”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unhappy = not happy · unemployed = not employed. One prefix explains hundreds of words.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“delighted”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positive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do not need the exact meaning. Knowing it is positive is enough to keep reading.</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two of the four clues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Any two of: the other words · the kind of word · positive or negative · word parts you know.</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four are usually available at once, which is why guessing works so often.</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“NO ENTRY”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You cannot go in. / Do not go in.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Signs drop the verb. You must expand them into a full sentence to check you understood.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“open ___ closed”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but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two ideas are opposite, so “but”.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“I was late ___ the bus did not come.”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because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second half is the reason for the first. Reason follows “because”.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which signals a result?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“So” introduces the result. “Because” introduces the reason — the same logic in the opposite order.</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who was tired?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it is not clear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are women, so “she” could be either. Noticing that a text is unclear is itself a reading skill.</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did Abel wait?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for thirty minutes — he arrived at 7:30 and it opened at 8:00.</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text never says “he waited”. You worked it out from two times.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open on Sunday?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 the notice lists Monday to Saturday only.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absence of Sunday from the list is the evidence. Absence of information can be information.</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direct or inference?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inference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notice never says “closed on Sunday”. You worked it out from what was listed.</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the notice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CLOSED ON FRIDAY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Three words. A notice uses as few words as possible and puts the important word first.</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join the sentences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rained, so the road was bad.  (or: The road was bad because it rained.)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are correct. “So” gives the result; “because” gives the reason, with the halves reversed.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an inference question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“Was the library busy?” about a text that gives visitor numbers but never says “busy”.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good inference question has evidence in the text but no direct answer.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One accurate sentence within thirty seconds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accuracy and on staying within the time. Reading everything is a fail, even if the answer is right.</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Read something real.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Find and read five English signs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Write each one down and what it means.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Skim one English text for thirty seconds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Then write one sentence saying what it was about.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Scan something for one fact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 price, a time, a phone number. Time yourself.</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Guess five unknown words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Write the word, your guess, and the clue you used.</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Read one short text and write one inference question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Bring it to class for a classmate to answer.</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list of ten English signs you have seen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Where you saw each one and what it means, in a full sentence.</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40-word summary of any English text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What it is about, two facts, and your opinion. Use “and”, “but” or “so”.</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Read aloud · skim · three facts · one guess with its clue · one inference.</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Ten signs — 5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Ten found (2) · meaning explained in a full sentence (2) · where you saw each one (1).</a:t>
            </a:r>
            <a:endParaRPr lang="en-US" sz="17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The 40-word summary — 10 marks</a:t>
            </a:r>
            <a:endParaRPr lang="en-US" sz="1550" dirty="0"/>
          </a:p>
          <a:p>
            <a:pPr indent="0" marL="0">
              <a:lnSpc>
                <a:spcPct val="102000"/>
              </a:lnSpc>
              <a:spcBef>
                <a:spcPts val="310"/>
              </a:spcBef>
              <a:buNone/>
            </a:pPr>
            <a:r>
              <a:rPr lang="en-US" sz="1240" dirty="0">
                <a:solidFill>
                  <a:srgbClr val="3A473F"/>
                </a:solidFill>
                <a:latin typeface="Calibri" pitchFamily="34" charset="0"/>
                <a:ea typeface="Calibri" pitchFamily="34" charset="-122"/>
                <a:cs typeface="Calibri" pitchFamily="34" charset="-120"/>
              </a:rPr>
              <a:t>Under 40 words (2) · main idea correct (3) · two accurate facts (3) · an opinion with a reason (2).</a:t>
            </a:r>
            <a:endParaRPr lang="en-US" sz="155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parts (3) · accurate one-sentence summary (2) · three correct facts (2) · a guess with a named clue (2) · a supported inference (1).</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Skimming</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The general idea in thirty seconds. Title, first lines, names and numbers.</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Scanning</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One fact in fifteen seconds. Eyes down the page, not across.</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Guessing words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Four clues: other words · kind of word · positive or negative · word parts.</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Signs and notices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The reading you do most often in real life — and the shortest.</a:t>
            </a:r>
            <a:endParaRPr lang="en-US" sz="160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Joining and sequence words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and · but · because · so · then · finally. They carry the shape.</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Inference</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Answering what the text does not say, using what it does.</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reading toolkit. Photograph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Three methods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SKIM  →  the general idea, 30 seconds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SCAN  →  one fact, 15 seconds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READ CLOSELY  →  every detail</a:t>
            </a:r>
            <a:endParaRPr lang="en-US" sz="1200" dirty="0"/>
          </a:p>
          <a:p>
            <a:pPr indent="0" marL="0">
              <a:lnSpc>
                <a:spcPct val="112000"/>
              </a:lnSpc>
              <a:buNone/>
            </a:pP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Decide WHY you are reading first.</a:t>
            </a:r>
            <a:endParaRPr lang="en-US" sz="12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Four clues for guessing</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What would make sense here?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2  Is it a thing, an action or a describing word?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  Does it sound good or bad?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4  Do you know part of the word?  (un- = not)</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Signpost words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and  →  another similar idea</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but / however  →  the opposite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because  →  the reason</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so / that is why  →  the result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first · then · finally  →  the order</a:t>
            </a:r>
            <a:endParaRPr lang="en-US" sz="12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Five reading habits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Know why you are reading</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Read the title and first line first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Never stop at one unknown word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4 Follow the joining words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5 Check who “he” and “they” are</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can now read English without understanding every word — which is how reading actually works.</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Three methods, four clues for guessing, and the confidence to keep going past a word you do not know.</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That confidence is worth more than a thousand new words.</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7</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Listening in Real Life</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Numbers, directions, phone calls and fast speech</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6 — Reading for Meaning</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 Module 6 — Reading for Meaning</dc:title>
  <dc:subject>English course for Ethiopian learners — Level 2 Elementary English</dc:subject>
  <dc:creator>English Learning Platform</dc:creator>
  <cp:lastModifiedBy>English Learning Platform</cp:lastModifiedBy>
  <cp:revision>1</cp:revision>
  <dcterms:created xsi:type="dcterms:W3CDTF">2026-07-27T20:47:08Z</dcterms:created>
  <dcterms:modified xsi:type="dcterms:W3CDTF">2026-07-27T20:47:08Z</dcterms:modified>
</cp:coreProperties>
</file>