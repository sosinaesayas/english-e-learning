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Lst>
  <p:notesMasterIdLst>
    <p:notesMasterId r:id="rId78"/>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notesMaster" Target="notesMasters/notesMaster1.xml"/><Relationship Id="rId79" Type="http://schemas.openxmlformats.org/officeDocument/2006/relationships/presProps" Target="presProps.xml"/><Relationship Id="rId80" Type="http://schemas.openxmlformats.org/officeDocument/2006/relationships/viewProps" Target="viewProps.xml"/><Relationship Id="rId81" Type="http://schemas.openxmlformats.org/officeDocument/2006/relationships/theme" Target="theme/theme1.xml"/><Relationship Id="rId8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Whole module: four 60-minute lessons.
HOW TO TEACH: Open by describing your own morning in six sentences, at natural speed. Then say: “Every sentence I just said was in one tense. By Friday you will use it without thinking.”
TIP: Welcome learners to Level 2. Say what changes: in Level 1 they learned words and simple sentences; from now on they learn to place actions in time. That is what a tense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3 minutes.
HOW TO TEACH: Read each objective and ask “Can you do this now?” Objective 2 is the one to emphasise — tell them honestly that it is a small letter and a big problem.
TIP: Return to this slide at the end of the module and ask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5 minutes.
HOW TO TEACH: Task 3 is the diagnostic. Listen for how learners form the question — most will say “You wake up what time?” or use a statement with rising intonation. Do not correct; note it, because it is exactly what slide 9 teaches.
COMMON MISTAKES: Correct nothing in the warm-up.
TIP: Write two or three of the learners' own question attempts on the board and leave them there. You will return to them on slide 9 and fix them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HOW TO TEACH: Give one example of each of the three uses. Do not name them as categories yet — say the sentences and let learners hear that all three are about things that are generally true.
COMMON MISTAKES: Learners who studied English at school often know the -s rule and still do not apply it in speech. Knowing is not the same as automating. Say that plainly — this module is mostly drilling, not explaining.
TIP: Warn them now: “There is one small letter in this module that causes more mistakes than anything else in English. We will spend four weeks on it.” Naming it early makes learners listen for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10 minutes.
HOW TO TEACH: Give three examples of each from the learners' own lives. Ask five learners for a habit, five for a routine time, and two for a fact about Ethiopia. Real sentences, not invented ones.
COMMON MISTAKES: Learners confuse this with “now”. Say clearly: this tense is NOT for what is happening at this moment. That comes in Module 2, and teaching them separately makes both harder — so plant the contrast now.
EXTRA EXAMPLES: Facts about Ethiopia work well: “Addis Ababa is the capital.” “The Blue Nile starts at Lake Tana.” “Coffee comes from Ethiopia.”
TIP: Do not spend long on the three categories. Learners do not need to name them — they need to produce the form. The categories are for you, not for the exam.
CLASSROOM ACTIVITY: Habit round: every learner says one true habit. Nobody may repeat someone else's.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14 minutes. This is the most important slide in the module.
HOW TO TEACH: Chant the whole set three times in chorus, hitting the three -s forms hard. Then point at people in the room and have learners produce the right form. Thirty rounds, fast.
COMMON MISTAKES: No language spoken in Ethiopia marks the verb this way, so the -s carries no meaning for learners and their ear does not miss it. That is why it survives into Level 3 unless it is drilled to automaticity here. Do not treat it as carelessness.
EXTRA EXAMPLES: Drill with ten verbs: work, live, study, eat, drink, go, come, like, want, need.
TIP: The -s adds no meaning at all — the sentence is perfectly clear without it. Say that honestly, then say that native speakers notice its absence immediately. Learners drill it better when they know why it matters.
CLASSROOM ACTIVITY: Pronoun-verb race: teacher says a pronoun and a verb, learner produces the correct form within two seconds. “She — go” → “She goes.” Forty rounds in three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12 minutes.
HOW TO TEACH: Teach rule 1 and drill it hard — it covers most verbs. Then rules 2 and 3 with five examples each. Then “has” on its own, as a word to memorise.
COMMON MISTAKES: “Gos” instead of “goes” and “studys” instead of “studies” are the two commonest spelling errors. Both come from applying rule 1 everywhere.
EXTRA EXAMPLES: Sort these aloud: teach, finish, fly, buy, mix, say, cry, do.
TIP: Do not over-teach the spelling. In speech the -es and -s sound almost the same, so a learner who says it right will usually be understood even if they spell it wrong. Prioritise speaking accuracy over spelling.
CLASSROOM ACTIVITY: Spelling relay: teacher says the base verb, learner writes the he/she form on the board. Ten verbs, two teams.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12 minutes.
HOW TO TEACH: Write “She likes coffee.” on the board, then transform it to the negative step by step, moving the -s physically from “likes” to “does”. Learners see the letter travel, which is far clearer than the rule stated.
COMMON MISTAKES: “She does not likes” is the classic double-marking error. It is the same mistake pattern as “I didn't went” in Module 3 — the past is marked twice. Point that out when you reach it.
EXTRA EXAMPLES: The short forms don't and doesn't are used almost always in speech. Teach both and say which is which.
TIP: Ask learners for three true negative sentences about themselves. True content is remembered; invented content is not.
CLASSROOM ACTIVITY: Make it negative: teacher says a positive sentence, learners produce the negative. Twenty rounds, mixing all persons.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14 minutes.
HOW TO TEACH: Return to the learner attempts you wrote on the board in the warm-up. Fix them together, out loud, using this pattern. Correcting their own sentences is far more powerful than correcting invented ones.
COMMON MISTAKES: Two errors at once here: the missing auxiliary (“Where you work?”) and the -s left on the main verb (“Does she lives?”). Both are transfer errors and both need separate drilling.
EXTRA EXAMPLES: Ten questions to drill: Do you like coffee? Does he speak English? Where do you live? What time does the shop open? Do they work on Sunday?
TIP: Short answers matter. “Yes” alone is understood but “Yes, I do” carries the auxiliary and reinforces the whole system. Insist on it for now.
CLASSROOM ACTIVITY: Interview: every learner writes five questions and asks three classmates. Then reports one answer to the room using “he” or “she”, which forces the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12 minutes.
HOW TO TEACH: Draw a line on the board from 0% to 100% and place the five words on it. Then drill the position with ten sentences. The line makes the meanings clear without translation.
COMMON MISTAKES: Learners put the adverb at the end: “I drink coffee always.” It is understood but not natural. Also “never” is already negative — “I never don't eat meat” is a double negative and wrong.
EXTRA EXAMPLES: Also useful: every day, once a week, twice a month, on Mondays. These go at the END, unlike the five adverbs.
TIP: The “to be” exception is worth teaching now because “She is always late” is such a common sentence. Teach it as a phrase, not as a rule.
CLASSROOM ACTIVITY: Frequency line: learners stand in a line from “never” to “always” according to how often they do something you call out — drink coffee, watch football, speak English.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 minutes.
HOW TO TEACH: Mime it, say it, then drill the third person immediately: “I wake up. He wakes up.” The -s placement is the whole teaching point.
COMMON MISTAKES: “He wake ups” is a genuine and understandable error — learners put the -s at the end of the phrase. Correct it explicitly.
EXTRA EXAMPLES: Other two-word verbs with the same pattern: get up, sit down, come back, go out.
TIP: Ask five learners what time they wake up. It recycles Module 2 times from Level 1 and produces the -s naturally when they report a partner.
CLASSROOM ACTIVITY: Wake-up survey: find the person in the class who wakes up earliest.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5 minutes.
HOW TO TEACH: Teach the whole phrase “have breakfast”, not the noun alone. The verb that goes with it is the useful part.
COMMON MISTAKES: The “br” cluster and the stress. Say BREAK-fast with an exaggerated first syllable.
EXTRA EXAMPLES: The three meals: breakfast · lunch · dinner. Teach all three now — they appear in every routine text.
TIP: “Have” is the most common verb with meals, and it becomes “has” in the third person. That gives you a natural drill.
CLASSROOM ACTIVITY: Meal round: each learner says what time they have all three meals.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 minutes.
HOW TO TEACH: Break it into syllables and clap them: u-su-al-ly. Then say it at speed. Then drill the position with five sentences.
COMMON MISTAKES: Learners avoid this word because it is hard to say and use “sometimes” instead. Give it the time it needs — it is far more useful than its difficulty suggests.
EXTRA EXAMPLES: The example sentence contains both “usually” and “sometimes”, which teaches the contrast in one line.
TIP: This word makes a routine sound natural rather than robotic. A learner who says “I usually…” sounds much more fluent than one who says only “I…”.
CLASSROOM ACTIVITY: True or false: learners say three sentences with “usually” about themselves; the class guesses which one is false.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 minutes.
HOW TO TEACH: Teach the double-negative warning explicitly. Write “I don't never eat meat” on the board and cross out the “don't”.
COMMON MISTAKES: Double negatives come from first-language patterns where two negatives strengthen each other. In standard English they cancel out. Say so plainly.
EXTRA EXAMPLES: Note that the verb after “never” still takes -s in the third person: “He never works on Sunday.”
TIP: “Never” produces strong personal sentences and learners enjoy using it. Use it to make the -s drill feel like conversation.
CLASSROOM ACTIVITY: Never round: each learner says one true “never” sentence about themselves.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 minutes.
HOW TO TEACH: This verb is the perfect example of spelling rule 2. Say “finish” and “finishes” side by side and clap the syllables: two, then three.
COMMON MISTAKES: “Finishs” in writing and a missing extra syllable in speech. Both come from applying rule 1.
EXTRA EXAMPLES: Other -es verbs with an extra syllable: watches, washes, teaches, catches, fixes.
TIP: Pair it with “start”: “I start at eight and finish at five.” That one sentence uses two routine verbs and two times.
CLASSROOM ACTIVITY: Start and finish: every learner says what time they start and finish work or school, then reports a partner's using the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12 minutes.
HOW TO TEACH: The test question is the tool learners take away. Practise it aloud on twenty sentences until they can run it in their heads while speaking.
COMMON MISTAKES: The over-correction in the right column matters too: once learners learn the rule, some add -s everywhere. Show both errors so they see the rule has limits.
EXTRA EXAMPLES: Careful with names: “Sara works” — a name is “she”. “My brothers live” — two people are “they”. Drill both.
TIP: Two minutes of the pronoun-verb race at the start of every lesson for the rest of Level 2. It costs nothing and it is the highest-value drill at this level.
CLASSROOM ACTIVITY: Third-person chain: each learner says a sentence about the person on their left, which forces he or she and the -s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10 minutes.
HOW TO TEACH: Drill rule 1 hardest — it covers most verbs. Then the -es group, which also adds a syllable in speech. Then the y rules together, because the contrast between them is the point.
COMMON MISTAKES: “Studys” and “gos” are the two commonest. Both come from applying rule 1 without checking the ending.
EXTRA EXAMPLES: Sort twenty verbs aloud into the four groups. Verbs to use: teach, fly, mix, say, wash, try, cry, buy, finish, do.
TIP: “Has” is irregular and very frequent. Teach it separately and drill it separately — do not bury it in the spelling rules.
CLASSROOM ACTIVITY: Four corners: label the room with the four rules. Teacher says a verb, learners walk to the correct corner.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12 minutes.
HOW TO TEACH: The “-s exactly once” idea is the clearest way to teach this. Write both sentences on the board and circle the single -s in each.
COMMON MISTAKES: “She does not likes” is double-marking. It is the same error family as “I didn't went” later — the tense or person is marked twice. Naming that family helps learners see the pattern.
EXTRA EXAMPLES: Have learners produce five true negatives about themselves and five about a family member, which forces both forms.
TIP: Teach don't and doesn't from the start. Learners who only know the full forms cannot follow natural speech.
CLASSROOM ACTIVITY: Positive to negative: teacher says a positive sentence, learner produces the negative within three seconds. Twenty rounds mixing all persons.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12 minutes.
HOW TO TEACH: Build the question physically from the statement: “She lives in Adama.” → put DOES in front → move the -s off “lives”. Do it on the board five times with cards or coloured chalk.
COMMON MISTAKES: Both errors in the right column are transfer errors and both are frequent. The missing auxiliary is the same problem as “Where you are going?” from Level 1 — say so, because learners have met it before.
EXTRA EXAMPLES: Ten questions to drill, five with question words and five without.
TIP: This is the slide to link back to the warm-up. Fix the learners' own attempts from the board here.
CLASSROOM ACTIVITY: Question relay: one learner makes a statement, the next turns it into a question, the third answers with a short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10 minutes.
HOW TO TEACH: Take each wrong sentence and ask the class to name the error before you fix it. Each has exactly one — say so in advance.
COMMON MISTAKES: Sentence 4 is the subtle one: “never” is negative in meaning, but the verb still takes -s because the sentence is grammatically positive. Learners find that genuinely confusing.
EXTRA EXAMPLES: Two more for pairs: “Does she likes tea?” and “He usually go to bed at ten.”
TIP: These four checks are the marking standard for the rest of Level 2. Put them on the wall.
CLASSROOM ACTIVITY: Error auction: teams bid on how many errors they can find in a set of six sentences.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 minutes per slide.
HOW TO TEACH: Cover the answer and ask the class first. Take answers from two learners before revealing. Then read the WHY aloud — the reason is the teaching, not the answer.
COMMON MISTAKES: Do not let learners copy the answer without hearing the reason. A learner who knows the answer but not the reason cannot do the next one.
TIP: If most of the class gets an item wrong, go back to that concept slide before continuing. These examples are a diagnostic as much as a practice.
CLASSROOM ACTIVITY: Ask a learner who answered correctly to explain the WHY in their own words before you read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 minutes per slide.
HOW TO TEACH: Cover the answer and ask the class first. Take answers from two learners before revealing. Then read the WHY aloud — the reason is the teaching, not the answer.
COMMON MISTAKES: Do not let learners copy the answer without hearing the reason. A learner who knows the answer but not the reason cannot do the next one.
TIP: If most of the class gets an item wrong, go back to that concept slide before continuing. These examples are a diagnostic as much as a practice.
CLASSROOM ACTIVITY: Ask a learner who answered correctly to explain the WHY in their own words before you read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 minutes per slide.
HOW TO TEACH: Cover the answer and ask the class first. Take answers from two learners before revealing. Then read the WHY aloud — the reason is the teaching, not the answer.
COMMON MISTAKES: Do not let learners copy the answer without hearing the reason. A learner who knows the answer but not the reason cannot do the next one.
TIP: If most of the class gets an item wrong, go back to that concept slide before continuing. These examples are a diagnostic as much as a practice.
CLASSROOM ACTIVITY: Ask a learner who answered correctly to explain the WHY in their own words before you read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 minutes per slide.
HOW TO TEACH: Cover the answer and ask the class first. Take answers from two learners before revealing. Then read the WHY aloud — the reason is the teaching, not the answer.
COMMON MISTAKES: Do not let learners copy the answer without hearing the reason. A learner who knows the answer but not the reason cannot do the next one.
TIP: If most of the class gets an item wrong, go back to that concept slide before continuing. These examples are a diagnostic as much as a practice.
CLASSROOM ACTIVITY: Ask a learner who answered correctly to explain the WHY in their own words before you read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 minutes per slide.
HOW TO TEACH: Cover the answer and ask the class first. Take answers from two learners before revealing. Then read the WHY aloud — the reason is the teaching, not the answer.
COMMON MISTAKES: Do not let learners copy the answer without hearing the reason. A learner who knows the answer but not the reason cannot do the next one.
TIP: If most of the class gets an item wrong, go back to that concept slide before continuing. These examples are a diagnostic as much as a practice.
CLASSROOM ACTIVITY: Ask a learner who answered correctly to explain the WHY in their own words before you read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12 minutes.
HOW TO TEACH: Listen books closed, chorus, pair reading, then perform with their own real times. The finding task afterwards makes the grammar visible inside real language.
COMMON MISTAKES: “What time does the clinic close?” has the -s on “does” and not on “close”. Point at it — it is the module's whole rule in one line.
EXTRA EXAMPLES: Change the job: a shop, a school, a bank, a hotel. Every learner has a different set of times.
TIP: Note that Hana answers “Yes, I do” with the short answer. Insist on that form in the pair practice.
CLASSROOM ACTIVITY: Routine interview: everyone asks three classmates what time they start and finish, then reports one to the class using “she starts”.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12 minutes.
HOW TO TEACH: This dialogue is deliberately all third person, because that is where the errors are. After reading, have learners count the five -s endings and say which word each one is on.
COMMON MISTAKES: “What does he do?” contains “do” twice — once as the auxiliary and once as the main verb. It confuses learners. Teach it as a fixed phrase.
EXTRA EXAMPLES: Change the person: your sister, your mother, your friend. The form changes with the person, which is the point.
TIP: Talking about a third person is much harder than talking about yourself, and it is what the exam tests. Spend more time on this dialogue than on the first.
CLASSROOM ACTIVITY: Tell me about them: pairs ask and answer about a family member for two minutes, using only third-person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8 minutes.
HOW TO TEACH: Drill all six in chorus, then in pairs. Insist on the auxiliary in every one — that is what learners drop under pressure.
COMMON MISTAKES: “How often you go?” — the missing auxiliary again. It appears most in the longer questions.
EXTRA EXAMPLES: Add “Do you enjoy it?” and “What time do you finish?” for a strong class.
TIP: Question 5 is the one that turns an interview into a conversation, exactly as “And you?” did in Level 1. Point out the parallel.
CLASSROOM ACTIVITY: Question bingo: each learner takes three of the six and crosses them off when they use one naturally.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9 minutes.
HOW TO TEACH: Three minutes to fill the gaps in writing, then three pairs perform before you reveal the answers.
COMMON MISTAKES: Gaps 7 and 8 need the -s because the subjects are “my shop” and “my son”. Learners write the base form.
TIP: The last gap needs “Does”, not “Do”, because it asks about “he”. That single choice tests the whole module.
CLASSROOM ACTIVITY: Do it again with the roles reversed so both learners produce every line.
ANSWERS: 1 Do · 2 do · 3 do · 4 do · 5 start · 6 a time · 7 opens · 8 helps · 9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9 minutes for all four rounds.
HOW TO TEACH: Round 4 is the whole point of the module. Rounds 1 to 3 need no -s at all; round 4 needs it on every verb. Announce that before you start.
COMMON MISTAKES: Round 4 is where the errors appear. Do not interrupt — note them and correct at the end.
TIP: The progression from “I” to “you” to “he/she” is deliberate. Each round is harder than the last, and learners feel the difficulty increase.
CLASSROOM ACTIVITY: After round 4, ask three learners to describe their partner to the class. Everyone listens for the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12 minutes.
HOW TO TEACH: Round C is the assessment. Listen to as many learners as you can and note who drops the -s. That list is your teaching plan for the next lesson.
COMMON MISTAKES: In round C learners start well and lose the -s after three or four sentences, as concentration fades. That is normal — the fix is more repetition, not more explanation.
EXTRA EXAMPLES: For a strong class, add round D: describe your partner using three negatives.
TIP: Standing up genuinely changes the voice. Insist on it for round C.
CLASSROOM ACTIVITY: Time it. Ten sentences in under sixty seconds is a good target for round A, ninety for round 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14 minutes.
HOW TO TEACH: The reporting step is where the grammar is tested: “three people walk” has no -s, but “Sara wakes up” does. That contrast in one report is the perfect end to the activity.
COMMON MISTAKES: Learners report with the base verb everywhere. Remind them before they start that one-person answers need -s.
EXTRA EXAMPLES: Add a sixth question of the learners' own choosing.
TIP: Surveys produce real data and learners are genuinely interested in the results. Write the class totals on the board.
CLASSROOM ACTIVITY: Find the extremes: who wakes up earliest, who works most days, who never drinks coffee.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10 minutes.
HOW TO TEACH: Clap the syllables for all ten words. The physical beat makes the difference obvious in a way that explanation does not.
COMMON MISTAKES: Learners either drop the -s entirely or add a syllable where none belongs (“work-es”). Both are audible. The clapping drill fixes both.
EXTRA EXAMPLES: Do not teach when to use /s/ and when /z/ — the mouth chooses correctly on its own. Focus only on presence and on the extra syllable.
TIP: What matters is that the -s is THERE and can be heard. Tell learners to exaggerate it for a week; over-pronouncing now produces normal pronunciation later.
CLASSROOM ACTIVITY: One clap or two: teacher says a third-person verb, learners clap once or twice for the syllable count. Twenty rounds.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10 minutes.
HOW TO TEACH: Give each pair one thing to listen for: the auxiliary in questions, or the -s in statements.
COMMON MISTAKES: Situation 4 uses plural subjects (“people”, “most shops”), which take no -s. Learners who have been drilling the -s over-apply it here. That contrast is useful.
EXTRA EXAMPLES: Situation 2 is the most immediately usable outside class. Give it extra time.
TIP: Do situation 3 last and give it the most time — it is the exam task in disguise.
CLASSROOM ACTIVITY: Perform two of the four to the class and let the class listen only for -s errors, kindly.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14 minutes including listening back.
HOW TO TEACH: Record on a phone, or perform live to a partner who ticks the five steps.
COMMON MISTAKES: Step 4 is the assessment. Steps 1 to 3 use “I” and need no -s; step 4 needs it on every verb.
TIP: Have learners listen back once, listening only for the -s. Most catch their own omissions immediately.
CLASSROOM ACTIVITY: Keep every recording for the end-of-level comparison.
ANSWERS: SUCCESS CRITERIA: all five steps present · -s on every third-person verb in step 4 · no -s after do or does in steps 3 and 5 · frequency words before the verb · a listener understands the whole routine.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10 minutes.
HOW TO TEACH: Read twice at natural pace. This recycles Level 1 Module 2 times inside the new tense — point that out afterwards.
COMMON MISTAKES: “Half past five” requires converting to 5:30. Some learners write “half five”.
EXTRA EXAMPLES: Add a fifth line if the class is strong: “I go to bed at nine.”
ANSWERS: 5:00 wake up · 5:30 breakfast · 6:30 start work · 3:00 finish. Frequency words: usually, never.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slide.
HOW TO TEACH: Read the answer, then the WHY aloud. Ask learners to raise a hand for each one they got wrong — you are collecting data on what to re-teach, not judging anyone. Say so.
COMMON MISTAKES: Do not simply read the answers and move on. The explanation is where the learning happens — a learner who hears only “b” learns nothing.
TIP: Every answer here converts “I” to “he”, which is exactly the exam skill. If learners wrote the base verb throughout, that is the module's core error and needs another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11 minutes.
HOW TO TEACH: Read the whole conversation twice, changing your voice for the two speakers. Then read the questions before learners write.
COMMON MISTAKES: Question 5 needs a negative short answer: “No, he does not.” Learners answer “No” alone.
EXTRA EXAMPLES: Ask a sixth: “How many -s endings can you hear?” There are four: studies, studies, does, has.
ANSWERS: 1 She starts at seven and finishes at four. · 2 Sunday. · 3 Four days a week. · 4 Mimi's brother. · 5 No, he does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slide.
HOW TO TEACH: Read the answer, then the WHY aloud. Ask learners to raise a hand for each one they got wrong — you are collecting data on what to re-teach, not judging anyone. Say so.
COMMON MISTAKES: Do not simply read the answers and move on. The explanation is where the learning happens — a learner who hears only “b” learns nothing.
TIP: Answers 1 and 2 sit side by side deliberately: “finishes” takes the -s, “does not work” does not. That contrast is the entire module in two lines.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5 minutes.
HOW TO TEACH: Read ten sentences at natural speed and have learners raise a hand every time they hear a third-person -s. It is harder than it sounds and it improves quickly with practice.
COMMON MISTAKES: Learners who cannot hear the -s will not produce it. Listening practice is not optional for this grammar point — it is the foundation of it.
TIP: Habit 1 is the most useful: the subject predicts the ending, so learners can prepare their ear before the verb arrives.
CLASSROOM ACTIVITY: Hand-up drill: read a short text and have the class raise a hand at every -s. Then read it again slowly and count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11 minutes.
HOW TO TEACH: Teacher, chorus, individuals, then the underlining task. Marking up the text makes the pattern visible and is far more active than answering questions alone.
COMMON MISTAKES: The eight -s endings: works, wakes, walks, opens, serves, finishes, studies, visits. “Does not work” has no -s on the verb — check whether learners underlined it wrongly.
EXTRA EXAMPLES: New word: “serves”. Teach it from context — he works in a coffee shop and serves customers.
TIP: Ask learners why “does not work” has no -s. If they can answer, the rule has landed.
CLASSROOM ACTIVITY: Rewrite it as “I”: learners rewrite the whole text in the first person and see all eight endings disappear.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8 minutes.
HOW TO TEACH: Every answer needs a third-person verb. That is what is being assessed, not the facts.
COMMON MISTAKES: Question 2 needs “He walks” — learners answer “walking” or “on foot”, which are understandable but avoid the grammar.
TIP: Books closed. If the text is visible, learners copy and no comprehension happens.
ANSWERS: 1 He wakes up at five o'clock. · 2 He walks to work. · 3 It opens at six thirty. · 4 He studies English. · 5 He visits his family.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slide.
HOW TO TEACH: Read the answer, then the WHY aloud. Ask learners to raise a hand for each one they got wrong — you are collecting data on what to re-teach, not judging anyone. Say so.
COMMON MISTAKES: Do not simply read the answers and move on. The explanation is where the learning happens — a learner who hears only “b” learns nothing.
TIP: Notice the pattern across all five: the question uses “does” with no -s, and the answer uses the -s with no “does”. Point that out — it is the module's whole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12 minutes.
HOW TO TEACH: This text mixes singular and plural subjects deliberately. The finding task is the point: “drives, finishes, teaches, works, eats” take -s; “go, study, visit” do not, because the subjects are plural.
COMMON MISTAKES: “Nobody works” takes -s even though it feels plural. Do not explain the grammar — just say it is one of the words that acts like “he”.
EXTRA EXAMPLES: Ato and W/ro are the Ethiopian titles for Mr and Mrs. Point that out — it is correct and natural in an Ethiopian text.
TIP: This text is the best -s diagnostic in the module because the subject changes every line. Use it as your assessment.
CLASSROOM ACTIVITY: Sort the verbs: two columns on the board, -s and no -s. Learners place all eight verbs and say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slide.
HOW TO TEACH: Read the answer, then the WHY aloud. Ask learners to raise a hand for each one they got wrong — you are collecting data on what to re-teach, not judging anyone. Say so.
COMMON MISTAKES: Do not simply read the answers and move on. The explanation is where the learning happens — a learner who hears only “b” learns nothing.
TIP: Question 3 is the contrast question: plural subject, no -s, and the auxiliary is “do” not “does”. If learners get that right, they have understood the system rather than memorised a habit.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8 minutes.
HOW TO TEACH: Do item 1 together, asking the test question — is the subject he, she or it? — then let them work alone.
COMMON MISTAKES: Item 2 has a plural subject and item 4 has “I”, so neither takes -s. Learners who have just learned the rule add it everywhere.
TIP: Item 3 needs -es and an extra syllable. Item 5 has an “it” subject, which learners often miss because it is not a person.
ANSWERS: 1 works · 2 study · 3 watches · 4 drink · 5 opens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14 minutes.
HOW TO TEACH: The last check on the right is the real task. Writing it about themselves is easy; rewriting it in the third person is where the learning happens. Insist on both versions.
COMMON MISTAKES: In the rewritten version learners change the first two verbs and forget the rest. Tell them to underline every verb before they start.
EXTRA EXAMPLES: Fast finishers add two negative sentences.
TIP: Collect both versions. Comparing them side by side is the clearest possible feedback on the -s.
CLASSROOM ACTIVITY: Swap and check: partners underline every verb in each other's third-person version and tick or cross the ending.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10 minutes.
HOW TO TEACH: Do item 1 together, moving the -s physically from the verb to “does”. Then let them work alone.
COMMON MISTAKES: Items 1 and 3 both require removing the -s. That is the step learners forget.
TIP: Item 5 has three parts — question word, auxiliary, base verb. It is the hardest and the most useful.
ANSWERS: 1 She does not like coffee. · 2 They do not work on Saturday. · 3 Does he live in Adama? · 4 Do you study every day? · 5 What time does the shop open?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slide.
HOW TO TEACH: Read the answer, then the WHY aloud. Ask learners to raise a hand for each one they got wrong — you are collecting data on what to re-teach, not judging anyone. Say so.
COMMON MISTAKES: Do not simply read the answers and move on. The explanation is where the learning happens — a learner who hears only “b” learns nothing.
TIP: Items 1 and 3 are the diagnostic pair. A learner who wrote “does not likes” or “Does he lives” is double-marking, which is the module's central error.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HOW TO TEACH: Read the four points, then have learners check their “My Day” third-person version against all four.
TIP: These four checks are the marking standard for the whole of Level 2. Put them on the wall next to the Level 1 checks.
CLASSROOM ACTIVITY: Deliberate error hunt: write four sentences on the board with exactly four errors, one of each type.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 minutes.
HOW TO TEACH: Answer alone, then compare in pairs before taking answers from the class.
TIP: Question 3 is the diagnostic. A learner choosing a) is double-marking and needs slide 18 again.
ANSWERS: 1 b · 2 b · 3 b · 4 b · 5 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 minutes.
HOW TO TEACH: Ask the test question aloud for each: is the subject he, she or it?
COMMON MISTAKES: Items 2 and 5 have plural subjects and take no -s. Item 3 needs -es and an extra syllable.
TIP: Item 5 uses “play”, which has a vowel before the y — so it would be “plays” for one brother. Point out the contrast.
ANSWERS: 1 drives · 2 study · 3 finishes · 4 opens · 5 play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8 minutes.
HOW TO TEACH: Three short tasks, three chances to succeed. Let them work in pairs.
TIP: Part 3 covers all four spelling patterns in one task. A learner who gets all four has the spelling rules.
ANSWERS: Part 1: 1–b, 2–c, 3–d, 4–a.  ·  Part 2: 1–b, 2–d, 3–a, 4–c.  ·  Part 3: 1–b, 2–d, 3–a, 4–c.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8 minutes.
HOW TO TEACH: Each row is one spelling rule. Do row 1 together, then let them work alone. Then read all twenty aloud so learners hear the extra syllable in row 2.
COMMON MISTAKES: Row 4 is the trap: vowel + y, so just -s. Learners who have just done row 3 write “plaies”.
TIP: Row 5 is three irregulars in one line. Drill them separately and often.
ANSWERS: 1 works, lives, eats, reads · 2 watches, washes, fixes, teaches · 3 studies, carries, tries, flies · 4 plays, buys, says, stays · 5 goes, does, has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9 minutes.
HOW TO TEACH: Tell learners how many errors are in each sentence. Sentence 5 has two.
COMMON MISTAKES: Sentence 5 has two errors: the plural subject takes no -s, AND the spelling would be “studies” if it did. Learners fix one and stop.
TIP: These five are the four checks from slide 20 plus one spelling error. Every error here is one you will meet again.
ANSWERS: 1 My mother works in a school. · 2 He does not like coffee. · 3 Does she live in Adama? · 4 I always drink tea in the morning. · 5 They study English every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8 minutes.
HOW TO TEACH: Correcting every false statement is what makes this teach rather than test.
TIP: Item 2 is the double-marking error. If several learners mark it true, redo slide 18 before the quiz.
ANSWERS: 1 T · 2 F — “She doesn't work” · 3 F — it becomes “has” · 4 T · 5 T · 6 F — it becomes “studies”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9 minutes.
HOW TO TEACH: Items 1, 2, 4 and 5 use “I” and need no -s. Item 3 needs it. That mix is deliberate.
COMMON MISTAKES: Item 3 is the only third-person item. Learners answer with the base verb.
TIP: Ask three learners to read item 3 aloud. It is the quickest check of whether the module has landed.
ANSWERS: 1 I wake up at ___. · 2 I walk / take the bus / drive. · 3 He/She works as a ___. · 4 I speak English ___. · 5 I never ___.</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9 minutes.
HOW TO TEACH: Give each partner a listening job: task 2 count the -s endings, task 3 check the auxiliary comes first.
TIP: Task 2 is the module assessment. Listen to as many pairs as you can.
ANSWERS: SUCCESS CRITERIA: 1 eight sentences with times · 2 -s on every verb · 3 five correct questions with no -s on the main verb · 4 frequency words before the verb.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13 minutes.
HOW TO TEACH: This is the bridge to the quiz. Let learners work in pairs and expect it to be genuinely hard.
TIP: Question 2 stacks three different error types in three short sentences. That is much harder than one at a time, and it is deliberate.
ANSWERS: 2 “My sister works in a bank. She does not work on Sunday. Does she like it?” — missing -s, wrong auxiliary (don't → doesn't), and the -s wrongly kept on “likes”. 4 goes, studies, watches, has, plays, fixes.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12 minutes. Discussion, not writing.
HOW TO TEACH: Take answers orally. Accept Amharic for the reasoning, then give the English phrase for what they said.
TIP: Question 2 matters emotionally: learners who understand that their error is a sign of learning rather than stupidity keep trying.
ANSWERS: 1 It carries no meaning, but its absence is immediately noticeable to a listener and marks the speaker as a learner — it affects how the speaker is judged, not whether they are understood. 2 They are applying the rule they just learned — third person means -s — without noticing that “does” has already taken it. It is over-application, which is a sign of learning. 3 Any clear explanation; the strongest shows that English needs an auxiliary in questions and builds the question from the statement step by step. 4 Speaking, because that is where the -s is dropped under pressure, and because writing gives you time to check while speaking does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quiz slide, 20 minutes for the whole quiz.
HOW TO TEACH: Run the whole quiz before showing any answers. Learners write answers on paper and number them 1 to 20. The final question is spoken and is assessed by you or by a partner.
COMMON MISTAKES: Do not let learners mark their own paper before the answer key. Collect the papers or have them swap.
TIP: Pass mark is 16 out of 20. A learner below that should redo Exercises A to F, not repeat the whole module.
FOR QUESTIONS 15 AND 16, READ ALOUD: “I start work at half past seven every morning. I never work on Friday.”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quiz slide, 20 minutes for the whole quiz.
HOW TO TEACH: Run the whole quiz before showing any answers. Learners write answers on paper and number them 1 to 20. The final question is spoken and is assessed by you or by a partner.
COMMON MISTAKES: Do not let learners mark their own paper before the answer key. Collect the papers or have them swap.
TIP: Pass mark is 16 out of 20. A learner below that should redo Exercises A to F, not repeat the whole module.
FOR QUESTIONS 15 AND 16, READ ALOUD: “I start work at half past seven every morning. I never work on Friday.”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quiz slide, 20 minutes for the whole quiz.
HOW TO TEACH: Run the whole quiz before showing any answers. Learners write answers on paper and number them 1 to 20. The final question is spoken and is assessed by you or by a partner.
COMMON MISTAKES: Do not let learners mark their own paper before the answer key. Collect the papers or have them swap.
TIP: Pass mark is 16 out of 20. A learner below that should redo Exercises A to F, not repeat the whole module.
FOR QUESTIONS 15 AND 16, READ ALOUD: “I start work at half past seven every morning. I never work on Friday.”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quiz slide, 20 minutes for the whole quiz.
HOW TO TEACH: Run the whole quiz before showing any answers. Learners write answers on paper and number them 1 to 20. The final question is spoken and is assessed by you or by a partner.
COMMON MISTAKES: Do not let learners mark their own paper before the answer key. Collect the papers or have them swap.
TIP: Pass mark is 16 out of 20. A learner below that should redo Exercises A to F, not repeat the whole module.
FOR QUESTIONS 15 AND 16, READ ALOUD: “I start work at half past seven every morning. I never work on Friday.”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quiz slide, 20 minutes for the whole quiz.
HOW TO TEACH: Run the whole quiz before showing any answers. Learners write answers on paper and number them 1 to 20. The final question is spoken and is assessed by you or by a partner.
COMMON MISTAKES: Do not let learners mark their own paper before the answer key. Collect the papers or have them swap.
TIP: Pass mark is 16 out of 20. A learner below that should redo Exercises A to F, not repeat the whole module.
FOR QUESTIONS 15 AND 16, READ ALOUD: “I start work at half past seven every morning. I never work on Friday.”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slide.
HOW TO TEACH: Read the answer, then the WHY aloud. Ask learners to raise a hand for each one they got wrong — you are collecting data on what to re-teach, not judging anyone. Say so.
COMMON MISTAKES: Do not simply read the answers and move on. The explanation is where the learning happens — a learner who hears only “b” learns nothing.
TIP: Q1, Q10 and Q12 are the diagnostic questions. Q1 shows whether the -s is being added; Q10 and Q12 show whether it is being wrongly kept after the auxiliary. If the class failed those, drill slides 18 and 19 before Module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slide.
HOW TO TEACH: Read the answer, then the WHY aloud. Ask learners to raise a hand for each one they got wrong — you are collecting data on what to re-teach, not judging anyone. Say so.
COMMON MISTAKES: Do not simply read the answers and move on. The explanation is where the learning happens — a learner who hears only “b” learns nothing.
TIP: Q1, Q10 and Q12 are the diagnostic questions. Q1 shows whether the -s is being added; Q10 and Q12 show whether it is being wrongly kept after the auxiliary. If the class failed those, drill slides 18 and 19 before Module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slide.
HOW TO TEACH: Read the answer, then the WHY aloud. Ask learners to raise a hand for each one they got wrong — you are collecting data on what to re-teach, not judging anyone. Say so.
COMMON MISTAKES: Do not simply read the answers and move on. The explanation is where the learning happens — a learner who hears only “b” learns nothing.
TIP: Q1, Q10 and Q12 are the diagnostic questions. Q1 shows whether the -s is being added; Q10 and Q12 show whether it is being wrongly kept after the auxiliary. If the class failed those, drill slides 18 and 19 before Module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slide.
HOW TO TEACH: Read the answer, then the WHY aloud. Ask learners to raise a hand for each one they got wrong — you are collecting data on what to re-teach, not judging anyone. Say so.
COMMON MISTAKES: Do not simply read the answers and move on. The explanation is where the learning happens — a learner who hears only “b” learns nothing.
TIP: Q1, Q10 and Q12 are the diagnostic questions. Q1 shows whether the -s is being added; Q10 and Q12 show whether it is being wrongly kept after the auxiliary. If the class failed those, drill slides 18 and 19 before Module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slide.
HOW TO TEACH: Read the answer, then the WHY aloud. Ask learners to raise a hand for each one they got wrong — you are collecting data on what to re-teach, not judging anyone. Say so.
COMMON MISTAKES: Do not simply read the answers and move on. The explanation is where the learning happens — a learner who hears only “b” learns nothing.
TIP: Q1, Q10 and Q12 are the diagnostic questions. Q1 shows whether the -s is being added; Q10 and Q12 show whether it is being wrongly kept after the auxiliary. If the class failed those, drill slides 18 and 19 before Module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3 minutes to set.
HOW TO TEACH: Monday's chant is the most valuable and takes sixty seconds. Insist on it daily.
TIP: Tuesday's second half — the third-person version — is where the learning is. Learners who only do the first half are practising the easy part.
CLASSROOM ACTIVITY: Ask learners to send one classmate a third-person sentence in English each evening.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3 minutes to set.
HOW TO TEACH: Task 2 is the real assessment. Show your own completed example of both versions side by side so the difference is visible.
COMMON MISTAKES: Learners who cannot record must not be excluded. Offer the live option openly.
TIP: Reply to every recording personally, by voice, within two days. Listen specifically for the -s in the third-person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3 minutes.
HOW TO TEACH: Show this before learners do the homework. Note that the -s carries the most marks — that tells learners exactly what matters.
COMMON MISTAKES: Mark only what has been taught. Do not penalise Level 1 errors here unless they were on the Level 1 checklist.
TIP: Give the mark privately. Never read marks aloud to the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5 minutes.
HOW TO TEACH: Go back to slide 2 and read the objectives again. Ask the same question you asked at the start.
TIP: Ask each learner to name the one thing they found hardest. That list is your plan for the first ten minutes of Module 2.
CLASSROOM ACTIVITY: Quick-fire recap: point at each card and ask a different learner for one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HOW TO TEACH: Tell learners to copy this slide into the back of their exercise book, or photograph it. It is the reference page for the whole of Level 2.
TIP: Print it as an A4 poster. You will point at it in every lesson for the next two months.
CLASSROOM ACTIVITY: Cover each box in turn and ask the class to say what was in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HOW TO TEACH: Name the achievement: they can now talk about routines, which is most of what people actually say about their lives. And be honest about the -s — it takes weeks, not days.
TIP: Preview Module 2 clearly: the next tense is for right now, and the two are taught together deliberately so learners never confuse them. That reassures anyone who is finding this one hard.
CLASSROOM ACTIVITY: Ask every learner to say one sentence about a family member — with the -s — before they leave.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1.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1.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slideLayout" Target="../slideLayouts/slideLayout1.xml"/><Relationship Id="rId7"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slideLayout" Target="../slideLayouts/slideLayout1.xml"/><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slideLayout" Target="../slideLayouts/slideLayout1.xml"/><Relationship Id="rId7"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1.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slideLayout" Target="../slideLayouts/slideLayout1.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slideLayout" Target="../slideLayouts/slideLayout1.xml"/><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image" Target="../media/image-28-5.png"/><Relationship Id="rId6" Type="http://schemas.openxmlformats.org/officeDocument/2006/relationships/image" Target="../media/image-28-6.png"/><Relationship Id="rId7" Type="http://schemas.openxmlformats.org/officeDocument/2006/relationships/image" Target="../media/image-28-7.png"/><Relationship Id="rId8" Type="http://schemas.openxmlformats.org/officeDocument/2006/relationships/slideLayout" Target="../slideLayouts/slideLayout1.xml"/><Relationship Id="rId9"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image" Target="../media/image-33-3.png"/><Relationship Id="rId4" Type="http://schemas.openxmlformats.org/officeDocument/2006/relationships/slideLayout" Target="../slideLayouts/slideLayout1.xml"/><Relationship Id="rId5"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40-2.png"/><Relationship Id="rId3" Type="http://schemas.openxmlformats.org/officeDocument/2006/relationships/image" Target="../media/image-40-3.png"/><Relationship Id="rId4" Type="http://schemas.openxmlformats.org/officeDocument/2006/relationships/image" Target="../media/image-40-4.png"/><Relationship Id="rId5" Type="http://schemas.openxmlformats.org/officeDocument/2006/relationships/image" Target="../media/image-40-5.png"/><Relationship Id="rId6" Type="http://schemas.openxmlformats.org/officeDocument/2006/relationships/slideLayout" Target="../slideLayouts/slideLayout1.xml"/><Relationship Id="rId7"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png"/><Relationship Id="rId3" Type="http://schemas.openxmlformats.org/officeDocument/2006/relationships/slideLayout" Target="../slideLayouts/slideLayout1.xml"/><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image" Target="../media/image-46-2.png"/><Relationship Id="rId3" Type="http://schemas.openxmlformats.org/officeDocument/2006/relationships/slideLayout" Target="../slideLayouts/slideLayout1.xml"/><Relationship Id="rId4"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image" Target="../media/image-48-2.png"/><Relationship Id="rId3" Type="http://schemas.openxmlformats.org/officeDocument/2006/relationships/slideLayout" Target="../slideLayouts/slideLayout1.xml"/><Relationship Id="rId4"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image" Target="../media/image-50-2.png"/><Relationship Id="rId3" Type="http://schemas.openxmlformats.org/officeDocument/2006/relationships/image" Target="../media/image-50-3.png"/><Relationship Id="rId4" Type="http://schemas.openxmlformats.org/officeDocument/2006/relationships/image" Target="../media/image-50-4.png"/><Relationship Id="rId5" Type="http://schemas.openxmlformats.org/officeDocument/2006/relationships/image" Target="../media/image-50-5.png"/><Relationship Id="rId6" Type="http://schemas.openxmlformats.org/officeDocument/2006/relationships/slideLayout" Target="../slideLayouts/slideLayout1.xml"/><Relationship Id="rId7"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image" Target="../media/image-51-2.png"/><Relationship Id="rId3" Type="http://schemas.openxmlformats.org/officeDocument/2006/relationships/slideLayout" Target="../slideLayouts/slideLayout1.xml"/><Relationship Id="rId4"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image" Target="../media/image-52-2.png"/><Relationship Id="rId3" Type="http://schemas.openxmlformats.org/officeDocument/2006/relationships/slideLayout" Target="../slideLayouts/slideLayout1.xml"/><Relationship Id="rId4"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image" Target="../media/image-53-2.png"/><Relationship Id="rId3" Type="http://schemas.openxmlformats.org/officeDocument/2006/relationships/slideLayout" Target="../slideLayouts/slideLayout1.xml"/><Relationship Id="rId4"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image" Target="../media/image-54-2.png"/><Relationship Id="rId3" Type="http://schemas.openxmlformats.org/officeDocument/2006/relationships/slideLayout" Target="../slideLayouts/slideLayout1.xml"/><Relationship Id="rId4"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image" Target="../media/image-55-2.png"/><Relationship Id="rId3" Type="http://schemas.openxmlformats.org/officeDocument/2006/relationships/slideLayout" Target="../slideLayouts/slideLayout1.xml"/><Relationship Id="rId4"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image" Target="../media/image-56-2.png"/><Relationship Id="rId3" Type="http://schemas.openxmlformats.org/officeDocument/2006/relationships/slideLayout" Target="../slideLayouts/slideLayout1.xml"/><Relationship Id="rId4"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image" Target="../media/image-57-2.png"/><Relationship Id="rId3" Type="http://schemas.openxmlformats.org/officeDocument/2006/relationships/slideLayout" Target="../slideLayouts/slideLayout1.xml"/><Relationship Id="rId4"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image" Target="../media/image-58-2.png"/><Relationship Id="rId3" Type="http://schemas.openxmlformats.org/officeDocument/2006/relationships/slideLayout" Target="../slideLayouts/slideLayout1.xml"/><Relationship Id="rId4"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image" Target="../media/image-59-2.png"/><Relationship Id="rId3" Type="http://schemas.openxmlformats.org/officeDocument/2006/relationships/slideLayout" Target="../slideLayouts/slideLayout1.xml"/><Relationship Id="rId4"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image" Target="../media/image-60-2.png"/><Relationship Id="rId3" Type="http://schemas.openxmlformats.org/officeDocument/2006/relationships/slideLayout" Target="../slideLayouts/slideLayout1.xml"/><Relationship Id="rId4"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image" Target="../media/image-61-2.png"/><Relationship Id="rId3" Type="http://schemas.openxmlformats.org/officeDocument/2006/relationships/slideLayout" Target="../slideLayouts/slideLayout1.xml"/><Relationship Id="rId4"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slideLayout" Target="../slideLayouts/slideLayout1.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png"/><Relationship Id="rId2" Type="http://schemas.openxmlformats.org/officeDocument/2006/relationships/slideLayout" Target="../slideLayouts/slideLayout1.xml"/><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64-1.png"/><Relationship Id="rId2" Type="http://schemas.openxmlformats.org/officeDocument/2006/relationships/slideLayout" Target="../slideLayouts/slideLayout1.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65-1.png"/><Relationship Id="rId2" Type="http://schemas.openxmlformats.org/officeDocument/2006/relationships/slideLayout" Target="../slideLayouts/slideLayout1.xml"/><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image-66-1.png"/><Relationship Id="rId2" Type="http://schemas.openxmlformats.org/officeDocument/2006/relationships/slideLayout" Target="../slideLayouts/slideLayout1.xml"/><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image" Target="../media/image-67-1.png"/><Relationship Id="rId2" Type="http://schemas.openxmlformats.org/officeDocument/2006/relationships/slideLayout" Target="../slideLayouts/slideLayout1.xml"/><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image" Target="../media/image-68-1.png"/><Relationship Id="rId2" Type="http://schemas.openxmlformats.org/officeDocument/2006/relationships/slideLayout" Target="../slideLayouts/slideLayout1.xml"/><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image" Target="../media/image-69-1.png"/><Relationship Id="rId2" Type="http://schemas.openxmlformats.org/officeDocument/2006/relationships/slideLayout" Target="../slideLayouts/slideLayout1.xml"/><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image" Target="../media/image-70-1.png"/><Relationship Id="rId2" Type="http://schemas.openxmlformats.org/officeDocument/2006/relationships/slideLayout" Target="../slideLayouts/slideLayout1.xml"/><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image" Target="../media/image-71-1.png"/><Relationship Id="rId2" Type="http://schemas.openxmlformats.org/officeDocument/2006/relationships/slideLayout" Target="../slideLayouts/slideLayout1.xml"/><Relationship Id="rId3"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image" Target="../media/image-72-1.png"/><Relationship Id="rId2" Type="http://schemas.openxmlformats.org/officeDocument/2006/relationships/slideLayout" Target="../slideLayouts/slideLayout1.xml"/><Relationship Id="rId3"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image" Target="../media/image-73-1.png"/><Relationship Id="rId2" Type="http://schemas.openxmlformats.org/officeDocument/2006/relationships/image" Target="../media/image-73-2.png"/><Relationship Id="rId3" Type="http://schemas.openxmlformats.org/officeDocument/2006/relationships/image" Target="../media/image-73-3.png"/><Relationship Id="rId4" Type="http://schemas.openxmlformats.org/officeDocument/2006/relationships/image" Target="../media/image-73-4.png"/><Relationship Id="rId5" Type="http://schemas.openxmlformats.org/officeDocument/2006/relationships/image" Target="../media/image-73-5.png"/><Relationship Id="rId6" Type="http://schemas.openxmlformats.org/officeDocument/2006/relationships/slideLayout" Target="../slideLayouts/slideLayout1.xml"/><Relationship Id="rId7"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image" Target="../media/image-74-1.png"/><Relationship Id="rId2" Type="http://schemas.openxmlformats.org/officeDocument/2006/relationships/image" Target="../media/image-74-2.png"/><Relationship Id="rId3" Type="http://schemas.openxmlformats.org/officeDocument/2006/relationships/image" Target="../media/image-74-3.png"/><Relationship Id="rId4" Type="http://schemas.openxmlformats.org/officeDocument/2006/relationships/image" Target="../media/image-74-4.png"/><Relationship Id="rId5" Type="http://schemas.openxmlformats.org/officeDocument/2006/relationships/image" Target="../media/image-74-5.png"/><Relationship Id="rId6" Type="http://schemas.openxmlformats.org/officeDocument/2006/relationships/image" Target="../media/image-74-6.png"/><Relationship Id="rId7" Type="http://schemas.openxmlformats.org/officeDocument/2006/relationships/image" Target="../media/image-74-7.png"/><Relationship Id="rId8" Type="http://schemas.openxmlformats.org/officeDocument/2006/relationships/slideLayout" Target="../slideLayouts/slideLayout1.xml"/><Relationship Id="rId9"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image" Target="../media/image-75-1.png"/><Relationship Id="rId2" Type="http://schemas.openxmlformats.org/officeDocument/2006/relationships/image" Target="../media/image-75-2.png"/><Relationship Id="rId3" Type="http://schemas.openxmlformats.org/officeDocument/2006/relationships/image" Target="../media/image-75-3.png"/><Relationship Id="rId4" Type="http://schemas.openxmlformats.org/officeDocument/2006/relationships/image" Target="../media/image-75-4.png"/><Relationship Id="rId5" Type="http://schemas.openxmlformats.org/officeDocument/2006/relationships/image" Target="../media/image-75-5.png"/><Relationship Id="rId6" Type="http://schemas.openxmlformats.org/officeDocument/2006/relationships/slideLayout" Target="../slideLayouts/slideLayout1.xml"/><Relationship Id="rId7"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31C"/>
        </a:solidFill>
      </p:bgPr>
    </p:bg>
    <p:spTree>
      <p:nvGrpSpPr>
        <p:cNvPr id="1" name=""/>
        <p:cNvGrpSpPr/>
        <p:nvPr/>
      </p:nvGrpSpPr>
      <p:grpSpPr>
        <a:xfrm>
          <a:off x="0" y="0"/>
          <a:ext cx="0" cy="0"/>
          <a:chOff x="0" y="0"/>
          <a:chExt cx="0" cy="0"/>
        </a:xfrm>
      </p:grpSpPr>
      <p:sp>
        <p:nvSpPr>
          <p:cNvPr id="2" name="Shape 0"/>
          <p:cNvSpPr/>
          <p:nvPr/>
        </p:nvSpPr>
        <p:spPr>
          <a:xfrm>
            <a:off x="0" y="0"/>
            <a:ext cx="4663440" cy="6858000"/>
          </a:xfrm>
          <a:prstGeom prst="roundRect">
            <a:avLst/>
          </a:prstGeom>
          <a:solidFill>
            <a:srgbClr val="0E7C5A"/>
          </a:solidFill>
          <a:ln/>
        </p:spPr>
      </p:sp>
      <p:sp>
        <p:nvSpPr>
          <p:cNvPr id="3" name="Text 1"/>
          <p:cNvSpPr txBox="1"/>
          <p:nvPr/>
        </p:nvSpPr>
        <p:spPr>
          <a:xfrm>
            <a:off x="685800" y="1371600"/>
            <a:ext cx="3474720" cy="274320"/>
          </a:xfrm>
          <a:prstGeom prst="rect">
            <a:avLst/>
          </a:prstGeom>
          <a:noFill/>
          <a:ln/>
        </p:spPr>
        <p:txBody>
          <a:bodyPr wrap="square" lIns="0" tIns="0" rIns="0" bIns="0" rtlCol="0" anchor="ctr"/>
          <a:lstStyle/>
          <a:p>
            <a:pPr indent="0" marL="0">
              <a:buNone/>
            </a:pPr>
            <a:r>
              <a:rPr lang="en-US" sz="1300" b="1" spc="240" kern="0" dirty="0">
                <a:solidFill>
                  <a:srgbClr val="BFE6D5"/>
                </a:solidFill>
                <a:latin typeface="Calibri" pitchFamily="34" charset="0"/>
                <a:ea typeface="Calibri" pitchFamily="34" charset="-122"/>
                <a:cs typeface="Calibri" pitchFamily="34" charset="-120"/>
              </a:rPr>
              <a:t>LEVEL 2</a:t>
            </a:r>
            <a:endParaRPr lang="en-US" sz="1300" dirty="0"/>
          </a:p>
        </p:txBody>
      </p:sp>
      <p:sp>
        <p:nvSpPr>
          <p:cNvPr id="4" name="Text 2"/>
          <p:cNvSpPr txBox="1"/>
          <p:nvPr/>
        </p:nvSpPr>
        <p:spPr>
          <a:xfrm>
            <a:off x="685800" y="1664208"/>
            <a:ext cx="3474720" cy="2286000"/>
          </a:xfrm>
          <a:prstGeom prst="rect">
            <a:avLst/>
          </a:prstGeom>
          <a:noFill/>
          <a:ln/>
        </p:spPr>
        <p:txBody>
          <a:bodyPr wrap="square" lIns="0" tIns="0" rIns="0" bIns="0" rtlCol="0" anchor="ctr"/>
          <a:lstStyle/>
          <a:p>
            <a:pPr indent="0" marL="0">
              <a:buNone/>
            </a:pPr>
            <a:r>
              <a:rPr lang="en-US" sz="12800" b="1" dirty="0">
                <a:solidFill>
                  <a:srgbClr val="FFFFFF"/>
                </a:solidFill>
                <a:latin typeface="Calibri" pitchFamily="34" charset="0"/>
                <a:ea typeface="Calibri" pitchFamily="34" charset="-122"/>
                <a:cs typeface="Calibri" pitchFamily="34" charset="-120"/>
              </a:rPr>
              <a:t>2</a:t>
            </a:r>
            <a:endParaRPr lang="en-US" sz="12800" dirty="0"/>
          </a:p>
        </p:txBody>
      </p:sp>
      <p:sp>
        <p:nvSpPr>
          <p:cNvPr id="5" name="Text 3"/>
          <p:cNvSpPr txBox="1"/>
          <p:nvPr/>
        </p:nvSpPr>
        <p:spPr>
          <a:xfrm>
            <a:off x="685800" y="3794760"/>
            <a:ext cx="3474720" cy="822960"/>
          </a:xfrm>
          <a:prstGeom prst="rect">
            <a:avLst/>
          </a:prstGeom>
          <a:noFill/>
          <a:ln/>
        </p:spPr>
        <p:txBody>
          <a:bodyPr wrap="square" lIns="0" tIns="0" rIns="0" bIns="0" rtlCol="0" anchor="ctr"/>
          <a:lstStyle/>
          <a:p>
            <a:pPr indent="0" marL="0">
              <a:lnSpc>
                <a:spcPct val="100000"/>
              </a:lnSpc>
              <a:buNone/>
            </a:pPr>
            <a:r>
              <a:rPr lang="en-US" sz="2600" b="1" dirty="0">
                <a:solidFill>
                  <a:srgbClr val="FFFFFF"/>
                </a:solidFill>
                <a:latin typeface="Calibri" pitchFamily="34" charset="0"/>
                <a:ea typeface="Calibri" pitchFamily="34" charset="-122"/>
                <a:cs typeface="Calibri" pitchFamily="34" charset="-120"/>
              </a:rPr>
              <a:t>Elementary</a:t>
            </a:r>
            <a:endParaRPr lang="en-US" sz="2600" dirty="0"/>
          </a:p>
          <a:p>
            <a:pPr indent="0" marL="0">
              <a:lnSpc>
                <a:spcPct val="100000"/>
              </a:lnSpc>
              <a:buNone/>
            </a:pPr>
            <a:r>
              <a:rPr lang="en-US" sz="2600" b="1" dirty="0">
                <a:solidFill>
                  <a:srgbClr val="FFFFFF"/>
                </a:solidFill>
                <a:latin typeface="Calibri" pitchFamily="34" charset="0"/>
                <a:ea typeface="Calibri" pitchFamily="34" charset="-122"/>
                <a:cs typeface="Calibri" pitchFamily="34" charset="-120"/>
              </a:rPr>
              <a:t>English</a:t>
            </a:r>
            <a:endParaRPr lang="en-US" sz="2600" dirty="0"/>
          </a:p>
        </p:txBody>
      </p:sp>
      <p:sp>
        <p:nvSpPr>
          <p:cNvPr id="6" name="Text 4"/>
          <p:cNvSpPr txBox="1"/>
          <p:nvPr/>
        </p:nvSpPr>
        <p:spPr>
          <a:xfrm>
            <a:off x="685800" y="4709160"/>
            <a:ext cx="3474720" cy="310896"/>
          </a:xfrm>
          <a:prstGeom prst="rect">
            <a:avLst/>
          </a:prstGeom>
          <a:noFill/>
          <a:ln/>
        </p:spPr>
        <p:txBody>
          <a:bodyPr wrap="square" lIns="0" tIns="0" rIns="0" bIns="0" rtlCol="0" anchor="ctr"/>
          <a:lstStyle/>
          <a:p>
            <a:pPr indent="0" marL="0">
              <a:buNone/>
            </a:pPr>
            <a:r>
              <a:rPr lang="en-US" sz="1500" dirty="0">
                <a:solidFill>
                  <a:srgbClr val="BFE6D5"/>
                </a:solidFill>
                <a:latin typeface="Calibri" pitchFamily="34" charset="0"/>
                <a:ea typeface="Calibri" pitchFamily="34" charset="-122"/>
                <a:cs typeface="Calibri" pitchFamily="34" charset="-120"/>
              </a:rPr>
              <a:t>CEFR A1 → A2</a:t>
            </a:r>
            <a:endParaRPr lang="en-US" sz="1500" dirty="0"/>
          </a:p>
        </p:txBody>
      </p:sp>
      <p:sp>
        <p:nvSpPr>
          <p:cNvPr id="7" name="Text 5"/>
          <p:cNvSpPr txBox="1"/>
          <p:nvPr/>
        </p:nvSpPr>
        <p:spPr>
          <a:xfrm>
            <a:off x="5349240" y="1417320"/>
            <a:ext cx="6309360" cy="274320"/>
          </a:xfrm>
          <a:prstGeom prst="rect">
            <a:avLst/>
          </a:prstGeom>
          <a:noFill/>
          <a:ln/>
        </p:spPr>
        <p:txBody>
          <a:bodyPr wrap="square" lIns="0" tIns="0" rIns="0" bIns="0" rtlCol="0" anchor="ctr"/>
          <a:lstStyle/>
          <a:p>
            <a:pPr indent="0" marL="0">
              <a:buNone/>
            </a:pPr>
            <a:r>
              <a:rPr lang="en-US" sz="1300" b="1" spc="220" kern="0" dirty="0">
                <a:solidFill>
                  <a:srgbClr val="F2A93B"/>
                </a:solidFill>
                <a:latin typeface="Calibri" pitchFamily="34" charset="0"/>
                <a:ea typeface="Calibri" pitchFamily="34" charset="-122"/>
                <a:cs typeface="Calibri" pitchFamily="34" charset="-120"/>
              </a:rPr>
              <a:t>MODULE 1 OF 8</a:t>
            </a:r>
            <a:endParaRPr lang="en-US" sz="1300" dirty="0"/>
          </a:p>
        </p:txBody>
      </p:sp>
      <p:sp>
        <p:nvSpPr>
          <p:cNvPr id="8" name="Text 6"/>
          <p:cNvSpPr txBox="1"/>
          <p:nvPr/>
        </p:nvSpPr>
        <p:spPr>
          <a:xfrm>
            <a:off x="5349240" y="1783080"/>
            <a:ext cx="6309360" cy="1371600"/>
          </a:xfrm>
          <a:prstGeom prst="rect">
            <a:avLst/>
          </a:prstGeom>
          <a:noFill/>
          <a:ln/>
        </p:spPr>
        <p:txBody>
          <a:bodyPr wrap="square" lIns="0" tIns="0" rIns="0" bIns="0" rtlCol="0" anchor="ctr"/>
          <a:lstStyle/>
          <a:p>
            <a:pPr indent="0" marL="0">
              <a:lnSpc>
                <a:spcPct val="102000"/>
              </a:lnSpc>
              <a:buNone/>
            </a:pPr>
            <a:r>
              <a:rPr lang="en-US" sz="4400" b="1" dirty="0">
                <a:solidFill>
                  <a:srgbClr val="FFFFFF"/>
                </a:solidFill>
                <a:latin typeface="Calibri" pitchFamily="34" charset="0"/>
                <a:ea typeface="Calibri" pitchFamily="34" charset="-122"/>
                <a:cs typeface="Calibri" pitchFamily="34" charset="-120"/>
              </a:rPr>
              <a:t>Present Simple &amp; Daily Routine</a:t>
            </a:r>
            <a:endParaRPr lang="en-US" sz="4400" dirty="0"/>
          </a:p>
        </p:txBody>
      </p:sp>
      <p:sp>
        <p:nvSpPr>
          <p:cNvPr id="9" name="Text 7"/>
          <p:cNvSpPr txBox="1"/>
          <p:nvPr/>
        </p:nvSpPr>
        <p:spPr>
          <a:xfrm>
            <a:off x="5349240" y="3246120"/>
            <a:ext cx="6309360" cy="731520"/>
          </a:xfrm>
          <a:prstGeom prst="rect">
            <a:avLst/>
          </a:prstGeom>
          <a:noFill/>
          <a:ln/>
        </p:spPr>
        <p:txBody>
          <a:bodyPr wrap="square" lIns="0" tIns="0" rIns="0" bIns="0" rtlCol="0" anchor="ctr"/>
          <a:lstStyle/>
          <a:p>
            <a:pPr indent="0" marL="0">
              <a:lnSpc>
                <a:spcPct val="115000"/>
              </a:lnSpc>
              <a:buNone/>
            </a:pPr>
            <a:r>
              <a:rPr lang="en-US" sz="1500" dirty="0">
                <a:solidFill>
                  <a:srgbClr val="B9CFC1"/>
                </a:solidFill>
                <a:latin typeface="Calibri" pitchFamily="34" charset="0"/>
                <a:ea typeface="Calibri" pitchFamily="34" charset="-122"/>
                <a:cs typeface="Calibri" pitchFamily="34" charset="-120"/>
              </a:rPr>
              <a:t>The tense you will use more than any other. Habits, routines and facts — and the one small letter that causes most of the trouble.</a:t>
            </a:r>
            <a:endParaRPr lang="en-US" sz="1500" dirty="0"/>
          </a:p>
        </p:txBody>
      </p:sp>
      <p:sp>
        <p:nvSpPr>
          <p:cNvPr id="10" name="Shape 8"/>
          <p:cNvSpPr/>
          <p:nvPr/>
        </p:nvSpPr>
        <p:spPr>
          <a:xfrm>
            <a:off x="5349240" y="4206240"/>
            <a:ext cx="1956816" cy="841248"/>
          </a:xfrm>
          <a:prstGeom prst="roundRect">
            <a:avLst>
              <a:gd name="adj" fmla="val 15217"/>
            </a:avLst>
          </a:prstGeom>
          <a:solidFill>
            <a:srgbClr val="1C4E39"/>
          </a:solidFill>
          <a:ln w="12700">
            <a:solidFill>
              <a:srgbClr val="2A6249"/>
            </a:solidFill>
            <a:prstDash val="solid"/>
          </a:ln>
        </p:spPr>
      </p:sp>
      <p:sp>
        <p:nvSpPr>
          <p:cNvPr id="11" name="Text 9"/>
          <p:cNvSpPr txBox="1"/>
          <p:nvPr/>
        </p:nvSpPr>
        <p:spPr>
          <a:xfrm>
            <a:off x="5513832" y="4315968"/>
            <a:ext cx="1627632" cy="329184"/>
          </a:xfrm>
          <a:prstGeom prst="rect">
            <a:avLst/>
          </a:prstGeom>
          <a:noFill/>
          <a:ln/>
        </p:spPr>
        <p:txBody>
          <a:bodyPr wrap="square" lIns="0" tIns="0" rIns="0" bIns="0" rtlCol="0" anchor="ctr"/>
          <a:lstStyle/>
          <a:p>
            <a:pPr indent="0" marL="0">
              <a:buNone/>
            </a:pPr>
            <a:r>
              <a:rPr lang="en-US" sz="2100" b="1" dirty="0">
                <a:solidFill>
                  <a:srgbClr val="F2A93B"/>
                </a:solidFill>
                <a:latin typeface="Calibri" pitchFamily="34" charset="0"/>
                <a:ea typeface="Calibri" pitchFamily="34" charset="-122"/>
                <a:cs typeface="Calibri" pitchFamily="34" charset="-120"/>
              </a:rPr>
              <a:t>76</a:t>
            </a:r>
            <a:endParaRPr lang="en-US" sz="2100" dirty="0"/>
          </a:p>
        </p:txBody>
      </p:sp>
      <p:sp>
        <p:nvSpPr>
          <p:cNvPr id="12" name="Text 10"/>
          <p:cNvSpPr txBox="1"/>
          <p:nvPr/>
        </p:nvSpPr>
        <p:spPr>
          <a:xfrm>
            <a:off x="5513832" y="4663440"/>
            <a:ext cx="1627632" cy="274320"/>
          </a:xfrm>
          <a:prstGeom prst="rect">
            <a:avLst/>
          </a:prstGeom>
          <a:noFill/>
          <a:ln/>
        </p:spPr>
        <p:txBody>
          <a:bodyPr wrap="square" lIns="0" tIns="0" rIns="0" bIns="0" rtlCol="0" anchor="ctr"/>
          <a:lstStyle/>
          <a:p>
            <a:pPr indent="0" marL="0">
              <a:buNone/>
            </a:pPr>
            <a:r>
              <a:rPr lang="en-US" sz="1100" dirty="0">
                <a:solidFill>
                  <a:srgbClr val="9DB3A6"/>
                </a:solidFill>
                <a:latin typeface="Calibri" pitchFamily="34" charset="0"/>
                <a:ea typeface="Calibri" pitchFamily="34" charset="-122"/>
                <a:cs typeface="Calibri" pitchFamily="34" charset="-120"/>
              </a:rPr>
              <a:t>SLIDES</a:t>
            </a:r>
            <a:endParaRPr lang="en-US" sz="1100" dirty="0"/>
          </a:p>
        </p:txBody>
      </p:sp>
      <p:sp>
        <p:nvSpPr>
          <p:cNvPr id="13" name="Shape 11"/>
          <p:cNvSpPr/>
          <p:nvPr/>
        </p:nvSpPr>
        <p:spPr>
          <a:xfrm>
            <a:off x="7525512" y="4206240"/>
            <a:ext cx="1956816" cy="841248"/>
          </a:xfrm>
          <a:prstGeom prst="roundRect">
            <a:avLst>
              <a:gd name="adj" fmla="val 15217"/>
            </a:avLst>
          </a:prstGeom>
          <a:solidFill>
            <a:srgbClr val="1C4E39"/>
          </a:solidFill>
          <a:ln w="12700">
            <a:solidFill>
              <a:srgbClr val="2A6249"/>
            </a:solidFill>
            <a:prstDash val="solid"/>
          </a:ln>
        </p:spPr>
      </p:sp>
      <p:sp>
        <p:nvSpPr>
          <p:cNvPr id="14" name="Text 12"/>
          <p:cNvSpPr txBox="1"/>
          <p:nvPr/>
        </p:nvSpPr>
        <p:spPr>
          <a:xfrm>
            <a:off x="7690104" y="4315968"/>
            <a:ext cx="1627632" cy="329184"/>
          </a:xfrm>
          <a:prstGeom prst="rect">
            <a:avLst/>
          </a:prstGeom>
          <a:noFill/>
          <a:ln/>
        </p:spPr>
        <p:txBody>
          <a:bodyPr wrap="square" lIns="0" tIns="0" rIns="0" bIns="0" rtlCol="0" anchor="ctr"/>
          <a:lstStyle/>
          <a:p>
            <a:pPr indent="0" marL="0">
              <a:buNone/>
            </a:pPr>
            <a:r>
              <a:rPr lang="en-US" sz="2100" b="1" dirty="0">
                <a:solidFill>
                  <a:srgbClr val="F2A93B"/>
                </a:solidFill>
                <a:latin typeface="Calibri" pitchFamily="34" charset="0"/>
                <a:ea typeface="Calibri" pitchFamily="34" charset="-122"/>
                <a:cs typeface="Calibri" pitchFamily="34" charset="-120"/>
              </a:rPr>
              <a:t>4 × 60</a:t>
            </a:r>
            <a:endParaRPr lang="en-US" sz="2100" dirty="0"/>
          </a:p>
        </p:txBody>
      </p:sp>
      <p:sp>
        <p:nvSpPr>
          <p:cNvPr id="15" name="Text 13"/>
          <p:cNvSpPr txBox="1"/>
          <p:nvPr/>
        </p:nvSpPr>
        <p:spPr>
          <a:xfrm>
            <a:off x="7690104" y="4663440"/>
            <a:ext cx="1627632" cy="274320"/>
          </a:xfrm>
          <a:prstGeom prst="rect">
            <a:avLst/>
          </a:prstGeom>
          <a:noFill/>
          <a:ln/>
        </p:spPr>
        <p:txBody>
          <a:bodyPr wrap="square" lIns="0" tIns="0" rIns="0" bIns="0" rtlCol="0" anchor="ctr"/>
          <a:lstStyle/>
          <a:p>
            <a:pPr indent="0" marL="0">
              <a:buNone/>
            </a:pPr>
            <a:r>
              <a:rPr lang="en-US" sz="1100" dirty="0">
                <a:solidFill>
                  <a:srgbClr val="9DB3A6"/>
                </a:solidFill>
                <a:latin typeface="Calibri" pitchFamily="34" charset="0"/>
                <a:ea typeface="Calibri" pitchFamily="34" charset="-122"/>
                <a:cs typeface="Calibri" pitchFamily="34" charset="-120"/>
              </a:rPr>
              <a:t>MINUTES</a:t>
            </a:r>
            <a:endParaRPr lang="en-US" sz="1100" dirty="0"/>
          </a:p>
        </p:txBody>
      </p:sp>
      <p:sp>
        <p:nvSpPr>
          <p:cNvPr id="16" name="Shape 14"/>
          <p:cNvSpPr/>
          <p:nvPr/>
        </p:nvSpPr>
        <p:spPr>
          <a:xfrm>
            <a:off x="9701784" y="4206240"/>
            <a:ext cx="1956816" cy="841248"/>
          </a:xfrm>
          <a:prstGeom prst="roundRect">
            <a:avLst>
              <a:gd name="adj" fmla="val 15217"/>
            </a:avLst>
          </a:prstGeom>
          <a:solidFill>
            <a:srgbClr val="1C4E39"/>
          </a:solidFill>
          <a:ln w="12700">
            <a:solidFill>
              <a:srgbClr val="2A6249"/>
            </a:solidFill>
            <a:prstDash val="solid"/>
          </a:ln>
        </p:spPr>
      </p:sp>
      <p:sp>
        <p:nvSpPr>
          <p:cNvPr id="17" name="Text 15"/>
          <p:cNvSpPr txBox="1"/>
          <p:nvPr/>
        </p:nvSpPr>
        <p:spPr>
          <a:xfrm>
            <a:off x="9866376" y="4315968"/>
            <a:ext cx="1627632" cy="329184"/>
          </a:xfrm>
          <a:prstGeom prst="rect">
            <a:avLst/>
          </a:prstGeom>
          <a:noFill/>
          <a:ln/>
        </p:spPr>
        <p:txBody>
          <a:bodyPr wrap="square" lIns="0" tIns="0" rIns="0" bIns="0" rtlCol="0" anchor="ctr"/>
          <a:lstStyle/>
          <a:p>
            <a:pPr indent="0" marL="0">
              <a:buNone/>
            </a:pPr>
            <a:r>
              <a:rPr lang="en-US" sz="2100" b="1" dirty="0">
                <a:solidFill>
                  <a:srgbClr val="F2A93B"/>
                </a:solidFill>
                <a:latin typeface="Calibri" pitchFamily="34" charset="0"/>
                <a:ea typeface="Calibri" pitchFamily="34" charset="-122"/>
                <a:cs typeface="Calibri" pitchFamily="34" charset="-120"/>
              </a:rPr>
              <a:t>5</a:t>
            </a:r>
            <a:endParaRPr lang="en-US" sz="2100" dirty="0"/>
          </a:p>
        </p:txBody>
      </p:sp>
      <p:sp>
        <p:nvSpPr>
          <p:cNvPr id="18" name="Text 16"/>
          <p:cNvSpPr txBox="1"/>
          <p:nvPr/>
        </p:nvSpPr>
        <p:spPr>
          <a:xfrm>
            <a:off x="9866376" y="4663440"/>
            <a:ext cx="1627632" cy="274320"/>
          </a:xfrm>
          <a:prstGeom prst="rect">
            <a:avLst/>
          </a:prstGeom>
          <a:noFill/>
          <a:ln/>
        </p:spPr>
        <p:txBody>
          <a:bodyPr wrap="square" lIns="0" tIns="0" rIns="0" bIns="0" rtlCol="0" anchor="ctr"/>
          <a:lstStyle/>
          <a:p>
            <a:pPr indent="0" marL="0">
              <a:buNone/>
            </a:pPr>
            <a:r>
              <a:rPr lang="en-US" sz="1100" dirty="0">
                <a:solidFill>
                  <a:srgbClr val="9DB3A6"/>
                </a:solidFill>
                <a:latin typeface="Calibri" pitchFamily="34" charset="0"/>
                <a:ea typeface="Calibri" pitchFamily="34" charset="-122"/>
                <a:cs typeface="Calibri" pitchFamily="34" charset="-120"/>
              </a:rPr>
              <a:t>NEW WORDS</a:t>
            </a:r>
            <a:endParaRPr lang="en-US" sz="1100" dirty="0"/>
          </a:p>
        </p:txBody>
      </p:sp>
      <p:sp>
        <p:nvSpPr>
          <p:cNvPr id="19" name="Text 17"/>
          <p:cNvSpPr txBox="1"/>
          <p:nvPr/>
        </p:nvSpPr>
        <p:spPr>
          <a:xfrm>
            <a:off x="5349240" y="5349240"/>
            <a:ext cx="6309360" cy="365760"/>
          </a:xfrm>
          <a:prstGeom prst="rect">
            <a:avLst/>
          </a:prstGeom>
          <a:noFill/>
          <a:ln/>
        </p:spPr>
        <p:txBody>
          <a:bodyPr wrap="square" lIns="0" tIns="0" rIns="0" bIns="0" rtlCol="0" anchor="ctr"/>
          <a:lstStyle/>
          <a:p>
            <a:pPr indent="0" marL="0">
              <a:buNone/>
            </a:pPr>
            <a:r>
              <a:rPr lang="en-US" sz="1200" dirty="0">
                <a:solidFill>
                  <a:srgbClr val="7C9488"/>
                </a:solidFill>
                <a:latin typeface="Calibri" pitchFamily="34" charset="0"/>
                <a:ea typeface="Calibri" pitchFamily="34" charset="-122"/>
                <a:cs typeface="Calibri" pitchFamily="34" charset="-120"/>
              </a:rPr>
              <a:t>Teacher: ____________________   Class: ____________   Date: ____________</a:t>
            </a:r>
            <a:endParaRPr lang="en-US" sz="1200" dirty="0"/>
          </a:p>
        </p:txBody>
      </p:sp>
      <p:sp>
        <p:nvSpPr>
          <p:cNvPr id="20" name="Text 18"/>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7C9488"/>
                </a:solidFill>
                <a:latin typeface="Calibri" pitchFamily="34" charset="0"/>
                <a:ea typeface="Calibri" pitchFamily="34" charset="-122"/>
                <a:cs typeface="Calibri" pitchFamily="34" charset="-120"/>
              </a:rPr>
              <a:t>Level 2 · Elementary English · Module 1 — Present Simple &amp; Daily Routine</a:t>
            </a:r>
            <a:endParaRPr lang="en-US" sz="1000" dirty="0"/>
          </a:p>
        </p:txBody>
      </p:sp>
      <p:sp>
        <p:nvSpPr>
          <p:cNvPr id="21" name="Text 19"/>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F2A93B"/>
                </a:solidFill>
                <a:latin typeface="Calibri" pitchFamily="34" charset="0"/>
                <a:ea typeface="Calibri" pitchFamily="34" charset="-122"/>
                <a:cs typeface="Calibri" pitchFamily="34" charset="-120"/>
              </a:rPr>
              <a:t>1</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391156"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89738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LEARNING OBJECTIVES</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What you will be able to do</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Five things — all about your everyday life.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1 — Present Simple &amp; Daily Routine</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2</a:t>
            </a:r>
            <a:endParaRPr lang="en-US" sz="1100" dirty="0"/>
          </a:p>
        </p:txBody>
      </p:sp>
      <p:sp>
        <p:nvSpPr>
          <p:cNvPr id="11" name="Shape 7"/>
          <p:cNvSpPr/>
          <p:nvPr/>
        </p:nvSpPr>
        <p:spPr>
          <a:xfrm>
            <a:off x="548640" y="1883664"/>
            <a:ext cx="11094415" cy="694944"/>
          </a:xfrm>
          <a:prstGeom prst="roundRect">
            <a:avLst>
              <a:gd name="adj" fmla="val 18421"/>
            </a:avLst>
          </a:prstGeom>
          <a:solidFill>
            <a:srgbClr val="F6F9F7"/>
          </a:solidFill>
          <a:ln w="12700">
            <a:solidFill>
              <a:srgbClr val="E3E9E5"/>
            </a:solidFill>
            <a:prstDash val="solid"/>
          </a:ln>
        </p:spPr>
      </p:sp>
      <p:sp>
        <p:nvSpPr>
          <p:cNvPr id="12" name="Shape 8"/>
          <p:cNvSpPr/>
          <p:nvPr/>
        </p:nvSpPr>
        <p:spPr>
          <a:xfrm>
            <a:off x="786384" y="2029968"/>
            <a:ext cx="402336" cy="402336"/>
          </a:xfrm>
          <a:prstGeom prst="ellipse">
            <a:avLst/>
          </a:prstGeom>
          <a:solidFill>
            <a:srgbClr val="0E7C5A"/>
          </a:solidFill>
          <a:ln/>
        </p:spPr>
      </p:sp>
      <p:pic>
        <p:nvPicPr>
          <p:cNvPr id="13" name="Image 1" descr="preencoded.png">    </p:cNvPr>
          <p:cNvPicPr>
            <a:picLocks noChangeAspect="1"/>
          </p:cNvPicPr>
          <p:nvPr/>
        </p:nvPicPr>
        <p:blipFill>
          <a:blip r:embed="rId2"/>
          <a:stretch>
            <a:fillRect/>
          </a:stretch>
        </p:blipFill>
        <p:spPr>
          <a:xfrm>
            <a:off x="882945" y="2126529"/>
            <a:ext cx="209215" cy="209215"/>
          </a:xfrm>
          <a:prstGeom prst="rect">
            <a:avLst/>
          </a:prstGeom>
        </p:spPr>
      </p:pic>
      <p:sp>
        <p:nvSpPr>
          <p:cNvPr id="14" name="Text 9"/>
          <p:cNvSpPr/>
          <p:nvPr/>
        </p:nvSpPr>
        <p:spPr>
          <a:xfrm>
            <a:off x="1463040" y="1956816"/>
            <a:ext cx="9905695" cy="548640"/>
          </a:xfrm>
          <a:prstGeom prst="rect">
            <a:avLst/>
          </a:prstGeom>
          <a:noFill/>
          <a:ln/>
        </p:spPr>
        <p:txBody>
          <a:bodyPr wrap="square" lIns="0" tIns="0" rIns="0" bIns="0" rtlCol="0" anchor="ctr"/>
          <a:lstStyle/>
          <a:p>
            <a:pPr indent="0" marL="0">
              <a:lnSpc>
                <a:spcPct val="102000"/>
              </a:lnSpc>
              <a:buNone/>
            </a:pPr>
            <a:r>
              <a:rPr lang="en-US" sz="1580" b="1" dirty="0">
                <a:solidFill>
                  <a:srgbClr val="12211B"/>
                </a:solidFill>
                <a:latin typeface="Calibri" pitchFamily="34" charset="0"/>
                <a:ea typeface="Calibri" pitchFamily="34" charset="-122"/>
                <a:cs typeface="Calibri" pitchFamily="34" charset="-120"/>
              </a:rPr>
              <a:t>Describe your daily routine in English</a:t>
            </a:r>
            <a:endParaRPr lang="en-US" sz="1580" dirty="0"/>
          </a:p>
          <a:p>
            <a:pPr indent="0" marL="0">
              <a:lnSpc>
                <a:spcPct val="102000"/>
              </a:lnSpc>
              <a:spcBef>
                <a:spcPts val="225"/>
              </a:spcBef>
              <a:buNone/>
            </a:pPr>
            <a:r>
              <a:rPr lang="en-US" sz="1200" dirty="0">
                <a:solidFill>
                  <a:srgbClr val="3A473F"/>
                </a:solidFill>
                <a:latin typeface="Calibri" pitchFamily="34" charset="0"/>
                <a:ea typeface="Calibri" pitchFamily="34" charset="-122"/>
                <a:cs typeface="Calibri" pitchFamily="34" charset="-120"/>
              </a:rPr>
              <a:t>“I wake up at six. I go to work at seven.”</a:t>
            </a:r>
            <a:endParaRPr lang="en-US" sz="1580" dirty="0"/>
          </a:p>
        </p:txBody>
      </p:sp>
      <p:sp>
        <p:nvSpPr>
          <p:cNvPr id="15" name="Shape 10"/>
          <p:cNvSpPr/>
          <p:nvPr/>
        </p:nvSpPr>
        <p:spPr>
          <a:xfrm>
            <a:off x="548640" y="2724912"/>
            <a:ext cx="11094415" cy="694944"/>
          </a:xfrm>
          <a:prstGeom prst="roundRect">
            <a:avLst>
              <a:gd name="adj" fmla="val 18421"/>
            </a:avLst>
          </a:prstGeom>
          <a:solidFill>
            <a:srgbClr val="F6F9F7"/>
          </a:solidFill>
          <a:ln w="12700">
            <a:solidFill>
              <a:srgbClr val="E3E9E5"/>
            </a:solidFill>
            <a:prstDash val="solid"/>
          </a:ln>
        </p:spPr>
      </p:sp>
      <p:sp>
        <p:nvSpPr>
          <p:cNvPr id="16" name="Shape 11"/>
          <p:cNvSpPr/>
          <p:nvPr/>
        </p:nvSpPr>
        <p:spPr>
          <a:xfrm>
            <a:off x="786384" y="2871216"/>
            <a:ext cx="402336" cy="402336"/>
          </a:xfrm>
          <a:prstGeom prst="ellipse">
            <a:avLst/>
          </a:prstGeom>
          <a:solidFill>
            <a:srgbClr val="0E7C5A"/>
          </a:solidFill>
          <a:ln/>
        </p:spPr>
      </p:sp>
      <p:pic>
        <p:nvPicPr>
          <p:cNvPr id="17" name="Image 2" descr="preencoded.png">    </p:cNvPr>
          <p:cNvPicPr>
            <a:picLocks noChangeAspect="1"/>
          </p:cNvPicPr>
          <p:nvPr/>
        </p:nvPicPr>
        <p:blipFill>
          <a:blip r:embed="rId3"/>
          <a:stretch>
            <a:fillRect/>
          </a:stretch>
        </p:blipFill>
        <p:spPr>
          <a:xfrm>
            <a:off x="882945" y="2967777"/>
            <a:ext cx="209215" cy="209215"/>
          </a:xfrm>
          <a:prstGeom prst="rect">
            <a:avLst/>
          </a:prstGeom>
        </p:spPr>
      </p:pic>
      <p:sp>
        <p:nvSpPr>
          <p:cNvPr id="18" name="Text 12"/>
          <p:cNvSpPr/>
          <p:nvPr/>
        </p:nvSpPr>
        <p:spPr>
          <a:xfrm>
            <a:off x="1463040" y="2798064"/>
            <a:ext cx="9905695" cy="548640"/>
          </a:xfrm>
          <a:prstGeom prst="rect">
            <a:avLst/>
          </a:prstGeom>
          <a:noFill/>
          <a:ln/>
        </p:spPr>
        <p:txBody>
          <a:bodyPr wrap="square" lIns="0" tIns="0" rIns="0" bIns="0" rtlCol="0" anchor="ctr"/>
          <a:lstStyle/>
          <a:p>
            <a:pPr indent="0" marL="0">
              <a:lnSpc>
                <a:spcPct val="102000"/>
              </a:lnSpc>
              <a:buNone/>
            </a:pPr>
            <a:r>
              <a:rPr lang="en-US" sz="1580" b="1" dirty="0">
                <a:solidFill>
                  <a:srgbClr val="12211B"/>
                </a:solidFill>
                <a:latin typeface="Calibri" pitchFamily="34" charset="0"/>
                <a:ea typeface="Calibri" pitchFamily="34" charset="-122"/>
                <a:cs typeface="Calibri" pitchFamily="34" charset="-120"/>
              </a:rPr>
              <a:t>Use the -s ending correctly with he, she and it</a:t>
            </a:r>
            <a:endParaRPr lang="en-US" sz="1580" dirty="0"/>
          </a:p>
          <a:p>
            <a:pPr indent="0" marL="0">
              <a:lnSpc>
                <a:spcPct val="102000"/>
              </a:lnSpc>
              <a:spcBef>
                <a:spcPts val="225"/>
              </a:spcBef>
              <a:buNone/>
            </a:pPr>
            <a:r>
              <a:rPr lang="en-US" sz="1200" dirty="0">
                <a:solidFill>
                  <a:srgbClr val="3A473F"/>
                </a:solidFill>
                <a:latin typeface="Calibri" pitchFamily="34" charset="0"/>
                <a:ea typeface="Calibri" pitchFamily="34" charset="-122"/>
                <a:cs typeface="Calibri" pitchFamily="34" charset="-120"/>
              </a:rPr>
              <a:t>“I work.” but “She works.” The most corrected error in the whole course.</a:t>
            </a:r>
            <a:endParaRPr lang="en-US" sz="1580" dirty="0"/>
          </a:p>
        </p:txBody>
      </p:sp>
      <p:sp>
        <p:nvSpPr>
          <p:cNvPr id="19" name="Shape 13"/>
          <p:cNvSpPr/>
          <p:nvPr/>
        </p:nvSpPr>
        <p:spPr>
          <a:xfrm>
            <a:off x="548640" y="3566160"/>
            <a:ext cx="11094415" cy="694944"/>
          </a:xfrm>
          <a:prstGeom prst="roundRect">
            <a:avLst>
              <a:gd name="adj" fmla="val 18421"/>
            </a:avLst>
          </a:prstGeom>
          <a:solidFill>
            <a:srgbClr val="F6F9F7"/>
          </a:solidFill>
          <a:ln w="12700">
            <a:solidFill>
              <a:srgbClr val="E3E9E5"/>
            </a:solidFill>
            <a:prstDash val="solid"/>
          </a:ln>
        </p:spPr>
      </p:sp>
      <p:sp>
        <p:nvSpPr>
          <p:cNvPr id="20" name="Shape 14"/>
          <p:cNvSpPr/>
          <p:nvPr/>
        </p:nvSpPr>
        <p:spPr>
          <a:xfrm>
            <a:off x="786384" y="3712464"/>
            <a:ext cx="402336" cy="402336"/>
          </a:xfrm>
          <a:prstGeom prst="ellipse">
            <a:avLst/>
          </a:prstGeom>
          <a:solidFill>
            <a:srgbClr val="0E7C5A"/>
          </a:solidFill>
          <a:ln/>
        </p:spPr>
      </p:sp>
      <p:pic>
        <p:nvPicPr>
          <p:cNvPr id="21" name="Image 3" descr="preencoded.png">    </p:cNvPr>
          <p:cNvPicPr>
            <a:picLocks noChangeAspect="1"/>
          </p:cNvPicPr>
          <p:nvPr/>
        </p:nvPicPr>
        <p:blipFill>
          <a:blip r:embed="rId4"/>
          <a:stretch>
            <a:fillRect/>
          </a:stretch>
        </p:blipFill>
        <p:spPr>
          <a:xfrm>
            <a:off x="882945" y="3809025"/>
            <a:ext cx="209215" cy="209215"/>
          </a:xfrm>
          <a:prstGeom prst="rect">
            <a:avLst/>
          </a:prstGeom>
        </p:spPr>
      </p:pic>
      <p:sp>
        <p:nvSpPr>
          <p:cNvPr id="22" name="Text 15"/>
          <p:cNvSpPr/>
          <p:nvPr/>
        </p:nvSpPr>
        <p:spPr>
          <a:xfrm>
            <a:off x="1463040" y="3639312"/>
            <a:ext cx="9905695" cy="548640"/>
          </a:xfrm>
          <a:prstGeom prst="rect">
            <a:avLst/>
          </a:prstGeom>
          <a:noFill/>
          <a:ln/>
        </p:spPr>
        <p:txBody>
          <a:bodyPr wrap="square" lIns="0" tIns="0" rIns="0" bIns="0" rtlCol="0" anchor="ctr"/>
          <a:lstStyle/>
          <a:p>
            <a:pPr indent="0" marL="0">
              <a:lnSpc>
                <a:spcPct val="102000"/>
              </a:lnSpc>
              <a:buNone/>
            </a:pPr>
            <a:r>
              <a:rPr lang="en-US" sz="1580" b="1" dirty="0">
                <a:solidFill>
                  <a:srgbClr val="12211B"/>
                </a:solidFill>
                <a:latin typeface="Calibri" pitchFamily="34" charset="0"/>
                <a:ea typeface="Calibri" pitchFamily="34" charset="-122"/>
                <a:cs typeface="Calibri" pitchFamily="34" charset="-120"/>
              </a:rPr>
              <a:t>Make negative sentences</a:t>
            </a:r>
            <a:endParaRPr lang="en-US" sz="1580" dirty="0"/>
          </a:p>
          <a:p>
            <a:pPr indent="0" marL="0">
              <a:lnSpc>
                <a:spcPct val="102000"/>
              </a:lnSpc>
              <a:spcBef>
                <a:spcPts val="225"/>
              </a:spcBef>
              <a:buNone/>
            </a:pPr>
            <a:r>
              <a:rPr lang="en-US" sz="1200" dirty="0">
                <a:solidFill>
                  <a:srgbClr val="3A473F"/>
                </a:solidFill>
                <a:latin typeface="Calibri" pitchFamily="34" charset="0"/>
                <a:ea typeface="Calibri" pitchFamily="34" charset="-122"/>
                <a:cs typeface="Calibri" pitchFamily="34" charset="-120"/>
              </a:rPr>
              <a:t>“I do not work on Sunday.”  “She does not like coffee.”</a:t>
            </a:r>
            <a:endParaRPr lang="en-US" sz="1580" dirty="0"/>
          </a:p>
        </p:txBody>
      </p:sp>
      <p:sp>
        <p:nvSpPr>
          <p:cNvPr id="23" name="Shape 16"/>
          <p:cNvSpPr/>
          <p:nvPr/>
        </p:nvSpPr>
        <p:spPr>
          <a:xfrm>
            <a:off x="548640" y="4407408"/>
            <a:ext cx="11094415" cy="694944"/>
          </a:xfrm>
          <a:prstGeom prst="roundRect">
            <a:avLst>
              <a:gd name="adj" fmla="val 18421"/>
            </a:avLst>
          </a:prstGeom>
          <a:solidFill>
            <a:srgbClr val="F6F9F7"/>
          </a:solidFill>
          <a:ln w="12700">
            <a:solidFill>
              <a:srgbClr val="E3E9E5"/>
            </a:solidFill>
            <a:prstDash val="solid"/>
          </a:ln>
        </p:spPr>
      </p:sp>
      <p:sp>
        <p:nvSpPr>
          <p:cNvPr id="24" name="Shape 17"/>
          <p:cNvSpPr/>
          <p:nvPr/>
        </p:nvSpPr>
        <p:spPr>
          <a:xfrm>
            <a:off x="786384" y="4553712"/>
            <a:ext cx="402336" cy="402336"/>
          </a:xfrm>
          <a:prstGeom prst="ellipse">
            <a:avLst/>
          </a:prstGeom>
          <a:solidFill>
            <a:srgbClr val="0E7C5A"/>
          </a:solidFill>
          <a:ln/>
        </p:spPr>
      </p:sp>
      <p:pic>
        <p:nvPicPr>
          <p:cNvPr id="25" name="Image 4" descr="preencoded.png">    </p:cNvPr>
          <p:cNvPicPr>
            <a:picLocks noChangeAspect="1"/>
          </p:cNvPicPr>
          <p:nvPr/>
        </p:nvPicPr>
        <p:blipFill>
          <a:blip r:embed="rId5"/>
          <a:stretch>
            <a:fillRect/>
          </a:stretch>
        </p:blipFill>
        <p:spPr>
          <a:xfrm>
            <a:off x="882945" y="4650273"/>
            <a:ext cx="209215" cy="209215"/>
          </a:xfrm>
          <a:prstGeom prst="rect">
            <a:avLst/>
          </a:prstGeom>
        </p:spPr>
      </p:pic>
      <p:sp>
        <p:nvSpPr>
          <p:cNvPr id="26" name="Text 18"/>
          <p:cNvSpPr/>
          <p:nvPr/>
        </p:nvSpPr>
        <p:spPr>
          <a:xfrm>
            <a:off x="1463040" y="4480560"/>
            <a:ext cx="9905695" cy="548640"/>
          </a:xfrm>
          <a:prstGeom prst="rect">
            <a:avLst/>
          </a:prstGeom>
          <a:noFill/>
          <a:ln/>
        </p:spPr>
        <p:txBody>
          <a:bodyPr wrap="square" lIns="0" tIns="0" rIns="0" bIns="0" rtlCol="0" anchor="ctr"/>
          <a:lstStyle/>
          <a:p>
            <a:pPr indent="0" marL="0">
              <a:lnSpc>
                <a:spcPct val="102000"/>
              </a:lnSpc>
              <a:buNone/>
            </a:pPr>
            <a:r>
              <a:rPr lang="en-US" sz="1580" b="1" dirty="0">
                <a:solidFill>
                  <a:srgbClr val="12211B"/>
                </a:solidFill>
                <a:latin typeface="Calibri" pitchFamily="34" charset="0"/>
                <a:ea typeface="Calibri" pitchFamily="34" charset="-122"/>
                <a:cs typeface="Calibri" pitchFamily="34" charset="-120"/>
              </a:rPr>
              <a:t>Ask questions about routines</a:t>
            </a:r>
            <a:endParaRPr lang="en-US" sz="1580" dirty="0"/>
          </a:p>
          <a:p>
            <a:pPr indent="0" marL="0">
              <a:lnSpc>
                <a:spcPct val="102000"/>
              </a:lnSpc>
              <a:spcBef>
                <a:spcPts val="225"/>
              </a:spcBef>
              <a:buNone/>
            </a:pPr>
            <a:r>
              <a:rPr lang="en-US" sz="1200" dirty="0">
                <a:solidFill>
                  <a:srgbClr val="3A473F"/>
                </a:solidFill>
                <a:latin typeface="Calibri" pitchFamily="34" charset="0"/>
                <a:ea typeface="Calibri" pitchFamily="34" charset="-122"/>
                <a:cs typeface="Calibri" pitchFamily="34" charset="-120"/>
              </a:rPr>
              <a:t>“Do you work on Saturday?”  “Does he live in Adama?”</a:t>
            </a:r>
            <a:endParaRPr lang="en-US" sz="1580" dirty="0"/>
          </a:p>
        </p:txBody>
      </p:sp>
      <p:sp>
        <p:nvSpPr>
          <p:cNvPr id="27" name="Shape 19"/>
          <p:cNvSpPr/>
          <p:nvPr/>
        </p:nvSpPr>
        <p:spPr>
          <a:xfrm>
            <a:off x="548640" y="5248656"/>
            <a:ext cx="11094415" cy="694944"/>
          </a:xfrm>
          <a:prstGeom prst="roundRect">
            <a:avLst>
              <a:gd name="adj" fmla="val 18421"/>
            </a:avLst>
          </a:prstGeom>
          <a:solidFill>
            <a:srgbClr val="F6F9F7"/>
          </a:solidFill>
          <a:ln w="12700">
            <a:solidFill>
              <a:srgbClr val="E3E9E5"/>
            </a:solidFill>
            <a:prstDash val="solid"/>
          </a:ln>
        </p:spPr>
      </p:sp>
      <p:sp>
        <p:nvSpPr>
          <p:cNvPr id="28" name="Shape 20"/>
          <p:cNvSpPr/>
          <p:nvPr/>
        </p:nvSpPr>
        <p:spPr>
          <a:xfrm>
            <a:off x="786384" y="5394960"/>
            <a:ext cx="402336" cy="402336"/>
          </a:xfrm>
          <a:prstGeom prst="ellipse">
            <a:avLst/>
          </a:prstGeom>
          <a:solidFill>
            <a:srgbClr val="0E7C5A"/>
          </a:solidFill>
          <a:ln/>
        </p:spPr>
      </p:sp>
      <p:pic>
        <p:nvPicPr>
          <p:cNvPr id="29" name="Image 5" descr="preencoded.png">    </p:cNvPr>
          <p:cNvPicPr>
            <a:picLocks noChangeAspect="1"/>
          </p:cNvPicPr>
          <p:nvPr/>
        </p:nvPicPr>
        <p:blipFill>
          <a:blip r:embed="rId6"/>
          <a:stretch>
            <a:fillRect/>
          </a:stretch>
        </p:blipFill>
        <p:spPr>
          <a:xfrm>
            <a:off x="882945" y="5491521"/>
            <a:ext cx="209215" cy="209215"/>
          </a:xfrm>
          <a:prstGeom prst="rect">
            <a:avLst/>
          </a:prstGeom>
        </p:spPr>
      </p:pic>
      <p:sp>
        <p:nvSpPr>
          <p:cNvPr id="30" name="Text 21"/>
          <p:cNvSpPr/>
          <p:nvPr/>
        </p:nvSpPr>
        <p:spPr>
          <a:xfrm>
            <a:off x="1463040" y="5321808"/>
            <a:ext cx="9905695" cy="548640"/>
          </a:xfrm>
          <a:prstGeom prst="rect">
            <a:avLst/>
          </a:prstGeom>
          <a:noFill/>
          <a:ln/>
        </p:spPr>
        <p:txBody>
          <a:bodyPr wrap="square" lIns="0" tIns="0" rIns="0" bIns="0" rtlCol="0" anchor="ctr"/>
          <a:lstStyle/>
          <a:p>
            <a:pPr indent="0" marL="0">
              <a:lnSpc>
                <a:spcPct val="102000"/>
              </a:lnSpc>
              <a:buNone/>
            </a:pPr>
            <a:r>
              <a:rPr lang="en-US" sz="1580" b="1" dirty="0">
                <a:solidFill>
                  <a:srgbClr val="12211B"/>
                </a:solidFill>
                <a:latin typeface="Calibri" pitchFamily="34" charset="0"/>
                <a:ea typeface="Calibri" pitchFamily="34" charset="-122"/>
                <a:cs typeface="Calibri" pitchFamily="34" charset="-120"/>
              </a:rPr>
              <a:t>Say how often you do something</a:t>
            </a:r>
            <a:endParaRPr lang="en-US" sz="1580" dirty="0"/>
          </a:p>
          <a:p>
            <a:pPr indent="0" marL="0">
              <a:lnSpc>
                <a:spcPct val="102000"/>
              </a:lnSpc>
              <a:spcBef>
                <a:spcPts val="225"/>
              </a:spcBef>
              <a:buNone/>
            </a:pPr>
            <a:r>
              <a:rPr lang="en-US" sz="1200" dirty="0">
                <a:solidFill>
                  <a:srgbClr val="3A473F"/>
                </a:solidFill>
                <a:latin typeface="Calibri" pitchFamily="34" charset="0"/>
                <a:ea typeface="Calibri" pitchFamily="34" charset="-122"/>
                <a:cs typeface="Calibri" pitchFamily="34" charset="-120"/>
              </a:rPr>
              <a:t>always · usually · often · sometimes · never</a:t>
            </a:r>
            <a:endParaRPr lang="en-US" sz="158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F2A93B"/>
          </a:solidFill>
          <a:ln/>
        </p:spPr>
      </p:sp>
      <p:sp>
        <p:nvSpPr>
          <p:cNvPr id="3" name="Shape 1"/>
          <p:cNvSpPr/>
          <p:nvPr/>
        </p:nvSpPr>
        <p:spPr>
          <a:xfrm>
            <a:off x="649224" y="539496"/>
            <a:ext cx="219456" cy="219456"/>
          </a:xfrm>
          <a:prstGeom prst="ellipse">
            <a:avLst/>
          </a:prstGeom>
          <a:solidFill>
            <a:srgbClr val="F2A93B"/>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WARM-UP</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Warm-up: your morning</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No wrong answers. Nobody is corrected here.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1 — Present Simple &amp; Daily Routine</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3</a:t>
            </a:r>
            <a:endParaRPr lang="en-US" sz="1100" dirty="0"/>
          </a:p>
        </p:txBody>
      </p:sp>
      <p:sp>
        <p:nvSpPr>
          <p:cNvPr id="11" name="Shape 7"/>
          <p:cNvSpPr/>
          <p:nvPr/>
        </p:nvSpPr>
        <p:spPr>
          <a:xfrm>
            <a:off x="548640" y="1883664"/>
            <a:ext cx="3564026" cy="4059936"/>
          </a:xfrm>
          <a:prstGeom prst="roundRect">
            <a:avLst>
              <a:gd name="adj" fmla="val 3592"/>
            </a:avLst>
          </a:prstGeom>
          <a:solidFill>
            <a:srgbClr val="FDF3E7"/>
          </a:solidFill>
          <a:ln w="12700">
            <a:solidFill>
              <a:srgbClr val="EFDCB2"/>
            </a:solidFill>
            <a:prstDash val="solid"/>
          </a:ln>
        </p:spPr>
      </p:sp>
      <p:sp>
        <p:nvSpPr>
          <p:cNvPr id="12" name="Shape 8"/>
          <p:cNvSpPr/>
          <p:nvPr/>
        </p:nvSpPr>
        <p:spPr>
          <a:xfrm>
            <a:off x="768096" y="2103120"/>
            <a:ext cx="457200" cy="457200"/>
          </a:xfrm>
          <a:prstGeom prst="ellipse">
            <a:avLst/>
          </a:prstGeom>
          <a:solidFill>
            <a:srgbClr val="F2A93B"/>
          </a:solidFill>
          <a:ln/>
        </p:spPr>
      </p:sp>
      <p:pic>
        <p:nvPicPr>
          <p:cNvPr id="13" name="Image 1" descr="preencoded.png">    </p:cNvPr>
          <p:cNvPicPr>
            <a:picLocks noChangeAspect="1"/>
          </p:cNvPicPr>
          <p:nvPr/>
        </p:nvPicPr>
        <p:blipFill>
          <a:blip r:embed="rId2"/>
          <a:stretch>
            <a:fillRect/>
          </a:stretch>
        </p:blipFill>
        <p:spPr>
          <a:xfrm>
            <a:off x="882396" y="2217420"/>
            <a:ext cx="228600" cy="228600"/>
          </a:xfrm>
          <a:prstGeom prst="rect">
            <a:avLst/>
          </a:prstGeom>
        </p:spPr>
      </p:pic>
      <p:sp>
        <p:nvSpPr>
          <p:cNvPr id="14" name="Text 9"/>
          <p:cNvSpPr/>
          <p:nvPr/>
        </p:nvSpPr>
        <p:spPr>
          <a:xfrm>
            <a:off x="768096" y="2706624"/>
            <a:ext cx="3125114" cy="3054096"/>
          </a:xfrm>
          <a:prstGeom prst="rect">
            <a:avLst/>
          </a:prstGeom>
          <a:noFill/>
          <a:ln/>
        </p:spPr>
        <p:txBody>
          <a:bodyPr wrap="square" lIns="0" tIns="0" rIns="0" bIns="0" rtlCol="0" anchor="t"/>
          <a:lstStyle/>
          <a:p>
            <a:pPr indent="0" marL="0">
              <a:lnSpc>
                <a:spcPct val="102000"/>
              </a:lnSpc>
              <a:buNone/>
            </a:pPr>
            <a:r>
              <a:rPr lang="en-US" sz="2100" b="1" dirty="0">
                <a:solidFill>
                  <a:srgbClr val="12211B"/>
                </a:solidFill>
                <a:latin typeface="Calibri" pitchFamily="34" charset="0"/>
                <a:ea typeface="Calibri" pitchFamily="34" charset="-122"/>
                <a:cs typeface="Calibri" pitchFamily="34" charset="-120"/>
              </a:rPr>
              <a:t>1 · What time?</a:t>
            </a:r>
            <a:endParaRPr lang="en-US" sz="2100" dirty="0"/>
          </a:p>
          <a:p>
            <a:pPr indent="0" marL="0">
              <a:lnSpc>
                <a:spcPct val="102000"/>
              </a:lnSpc>
              <a:spcBef>
                <a:spcPts val="400"/>
              </a:spcBef>
              <a:buNone/>
            </a:pPr>
            <a:r>
              <a:rPr lang="en-US" sz="1500" dirty="0">
                <a:solidFill>
                  <a:srgbClr val="3A473F"/>
                </a:solidFill>
                <a:latin typeface="Calibri" pitchFamily="34" charset="0"/>
                <a:ea typeface="Calibri" pitchFamily="34" charset="-122"/>
                <a:cs typeface="Calibri" pitchFamily="34" charset="-120"/>
              </a:rPr>
              <a:t>What time do you wake up? Say it in English. Numbers and time come from Level 1, Module 2.</a:t>
            </a:r>
            <a:endParaRPr lang="en-US" sz="2100" dirty="0"/>
          </a:p>
        </p:txBody>
      </p:sp>
      <p:sp>
        <p:nvSpPr>
          <p:cNvPr id="15" name="Shape 10"/>
          <p:cNvSpPr/>
          <p:nvPr/>
        </p:nvSpPr>
        <p:spPr>
          <a:xfrm>
            <a:off x="4313834" y="1883664"/>
            <a:ext cx="3564026" cy="4059936"/>
          </a:xfrm>
          <a:prstGeom prst="roundRect">
            <a:avLst>
              <a:gd name="adj" fmla="val 3592"/>
            </a:avLst>
          </a:prstGeom>
          <a:solidFill>
            <a:srgbClr val="FDF3E7"/>
          </a:solidFill>
          <a:ln w="12700">
            <a:solidFill>
              <a:srgbClr val="EFDCB2"/>
            </a:solidFill>
            <a:prstDash val="solid"/>
          </a:ln>
        </p:spPr>
      </p:sp>
      <p:sp>
        <p:nvSpPr>
          <p:cNvPr id="16" name="Shape 11"/>
          <p:cNvSpPr/>
          <p:nvPr/>
        </p:nvSpPr>
        <p:spPr>
          <a:xfrm>
            <a:off x="4533290" y="2103120"/>
            <a:ext cx="457200" cy="457200"/>
          </a:xfrm>
          <a:prstGeom prst="ellipse">
            <a:avLst/>
          </a:prstGeom>
          <a:solidFill>
            <a:srgbClr val="F2A93B"/>
          </a:solidFill>
          <a:ln/>
        </p:spPr>
      </p:sp>
      <p:pic>
        <p:nvPicPr>
          <p:cNvPr id="17" name="Image 2" descr="preencoded.png">    </p:cNvPr>
          <p:cNvPicPr>
            <a:picLocks noChangeAspect="1"/>
          </p:cNvPicPr>
          <p:nvPr/>
        </p:nvPicPr>
        <p:blipFill>
          <a:blip r:embed="rId3"/>
          <a:stretch>
            <a:fillRect/>
          </a:stretch>
        </p:blipFill>
        <p:spPr>
          <a:xfrm>
            <a:off x="4647590" y="2217420"/>
            <a:ext cx="228600" cy="228600"/>
          </a:xfrm>
          <a:prstGeom prst="rect">
            <a:avLst/>
          </a:prstGeom>
        </p:spPr>
      </p:pic>
      <p:sp>
        <p:nvSpPr>
          <p:cNvPr id="18" name="Text 12"/>
          <p:cNvSpPr/>
          <p:nvPr/>
        </p:nvSpPr>
        <p:spPr>
          <a:xfrm>
            <a:off x="4533290" y="2706624"/>
            <a:ext cx="3125114" cy="3054096"/>
          </a:xfrm>
          <a:prstGeom prst="rect">
            <a:avLst/>
          </a:prstGeom>
          <a:noFill/>
          <a:ln/>
        </p:spPr>
        <p:txBody>
          <a:bodyPr wrap="square" lIns="0" tIns="0" rIns="0" bIns="0" rtlCol="0" anchor="t"/>
          <a:lstStyle/>
          <a:p>
            <a:pPr indent="0" marL="0">
              <a:lnSpc>
                <a:spcPct val="102000"/>
              </a:lnSpc>
              <a:buNone/>
            </a:pPr>
            <a:r>
              <a:rPr lang="en-US" sz="2100" b="1" dirty="0">
                <a:solidFill>
                  <a:srgbClr val="12211B"/>
                </a:solidFill>
                <a:latin typeface="Calibri" pitchFamily="34" charset="0"/>
                <a:ea typeface="Calibri" pitchFamily="34" charset="-122"/>
                <a:cs typeface="Calibri" pitchFamily="34" charset="-120"/>
              </a:rPr>
              <a:t>2 · Three actions</a:t>
            </a:r>
            <a:endParaRPr lang="en-US" sz="2100" dirty="0"/>
          </a:p>
          <a:p>
            <a:pPr indent="0" marL="0">
              <a:lnSpc>
                <a:spcPct val="102000"/>
              </a:lnSpc>
              <a:spcBef>
                <a:spcPts val="400"/>
              </a:spcBef>
              <a:buNone/>
            </a:pPr>
            <a:r>
              <a:rPr lang="en-US" sz="1500" dirty="0">
                <a:solidFill>
                  <a:srgbClr val="3A473F"/>
                </a:solidFill>
                <a:latin typeface="Calibri" pitchFamily="34" charset="0"/>
                <a:ea typeface="Calibri" pitchFamily="34" charset="-122"/>
                <a:cs typeface="Calibri" pitchFamily="34" charset="-120"/>
              </a:rPr>
              <a:t>Say three things you do every morning. Any words you know.</a:t>
            </a:r>
            <a:endParaRPr lang="en-US" sz="2100" dirty="0"/>
          </a:p>
        </p:txBody>
      </p:sp>
      <p:sp>
        <p:nvSpPr>
          <p:cNvPr id="19" name="Shape 13"/>
          <p:cNvSpPr/>
          <p:nvPr/>
        </p:nvSpPr>
        <p:spPr>
          <a:xfrm>
            <a:off x="8079029" y="1883664"/>
            <a:ext cx="3564026" cy="4059936"/>
          </a:xfrm>
          <a:prstGeom prst="roundRect">
            <a:avLst>
              <a:gd name="adj" fmla="val 3592"/>
            </a:avLst>
          </a:prstGeom>
          <a:solidFill>
            <a:srgbClr val="FDF3E7"/>
          </a:solidFill>
          <a:ln w="12700">
            <a:solidFill>
              <a:srgbClr val="EFDCB2"/>
            </a:solidFill>
            <a:prstDash val="solid"/>
          </a:ln>
        </p:spPr>
      </p:sp>
      <p:sp>
        <p:nvSpPr>
          <p:cNvPr id="20" name="Shape 14"/>
          <p:cNvSpPr/>
          <p:nvPr/>
        </p:nvSpPr>
        <p:spPr>
          <a:xfrm>
            <a:off x="8298485" y="2103120"/>
            <a:ext cx="457200" cy="457200"/>
          </a:xfrm>
          <a:prstGeom prst="ellipse">
            <a:avLst/>
          </a:prstGeom>
          <a:solidFill>
            <a:srgbClr val="F2A93B"/>
          </a:solidFill>
          <a:ln/>
        </p:spPr>
      </p:sp>
      <p:pic>
        <p:nvPicPr>
          <p:cNvPr id="21" name="Image 3" descr="preencoded.png">    </p:cNvPr>
          <p:cNvPicPr>
            <a:picLocks noChangeAspect="1"/>
          </p:cNvPicPr>
          <p:nvPr/>
        </p:nvPicPr>
        <p:blipFill>
          <a:blip r:embed="rId4"/>
          <a:stretch>
            <a:fillRect/>
          </a:stretch>
        </p:blipFill>
        <p:spPr>
          <a:xfrm>
            <a:off x="8412785" y="2217420"/>
            <a:ext cx="228600" cy="228600"/>
          </a:xfrm>
          <a:prstGeom prst="rect">
            <a:avLst/>
          </a:prstGeom>
        </p:spPr>
      </p:pic>
      <p:sp>
        <p:nvSpPr>
          <p:cNvPr id="22" name="Text 15"/>
          <p:cNvSpPr/>
          <p:nvPr/>
        </p:nvSpPr>
        <p:spPr>
          <a:xfrm>
            <a:off x="8298485" y="2706624"/>
            <a:ext cx="3125114" cy="3054096"/>
          </a:xfrm>
          <a:prstGeom prst="rect">
            <a:avLst/>
          </a:prstGeom>
          <a:noFill/>
          <a:ln/>
        </p:spPr>
        <p:txBody>
          <a:bodyPr wrap="square" lIns="0" tIns="0" rIns="0" bIns="0" rtlCol="0" anchor="t"/>
          <a:lstStyle/>
          <a:p>
            <a:pPr indent="0" marL="0">
              <a:lnSpc>
                <a:spcPct val="102000"/>
              </a:lnSpc>
              <a:buNone/>
            </a:pPr>
            <a:r>
              <a:rPr lang="en-US" sz="2100" b="1" dirty="0">
                <a:solidFill>
                  <a:srgbClr val="12211B"/>
                </a:solidFill>
                <a:latin typeface="Calibri" pitchFamily="34" charset="0"/>
                <a:ea typeface="Calibri" pitchFamily="34" charset="-122"/>
                <a:cs typeface="Calibri" pitchFamily="34" charset="-120"/>
              </a:rPr>
              <a:t>3 · Your partner</a:t>
            </a:r>
            <a:endParaRPr lang="en-US" sz="2100" dirty="0"/>
          </a:p>
          <a:p>
            <a:pPr indent="0" marL="0">
              <a:lnSpc>
                <a:spcPct val="102000"/>
              </a:lnSpc>
              <a:spcBef>
                <a:spcPts val="400"/>
              </a:spcBef>
              <a:buNone/>
            </a:pPr>
            <a:r>
              <a:rPr lang="en-US" sz="1500" dirty="0">
                <a:solidFill>
                  <a:srgbClr val="3A473F"/>
                </a:solidFill>
                <a:latin typeface="Calibri" pitchFamily="34" charset="0"/>
                <a:ea typeface="Calibri" pitchFamily="34" charset="-122"/>
                <a:cs typeface="Calibri" pitchFamily="34" charset="-120"/>
              </a:rPr>
              <a:t>Ask your partner one question about their morning. Any question at all.</a:t>
            </a:r>
            <a:endParaRPr lang="en-US" sz="2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231C"/>
        </a:solidFill>
      </p:bgPr>
    </p:bg>
    <p:spTree>
      <p:nvGrpSpPr>
        <p:cNvPr id="1" name=""/>
        <p:cNvGrpSpPr/>
        <p:nvPr/>
      </p:nvGrpSpPr>
      <p:grpSpPr>
        <a:xfrm>
          <a:off x="0" y="0"/>
          <a:ext cx="0" cy="0"/>
          <a:chOff x="0" y="0"/>
          <a:chExt cx="0" cy="0"/>
        </a:xfrm>
      </p:grpSpPr>
      <p:sp>
        <p:nvSpPr>
          <p:cNvPr id="2" name="Text 0"/>
          <p:cNvSpPr txBox="1"/>
          <p:nvPr/>
        </p:nvSpPr>
        <p:spPr>
          <a:xfrm>
            <a:off x="548640" y="1554480"/>
            <a:ext cx="10972800" cy="310896"/>
          </a:xfrm>
          <a:prstGeom prst="rect">
            <a:avLst/>
          </a:prstGeom>
          <a:noFill/>
          <a:ln/>
        </p:spPr>
        <p:txBody>
          <a:bodyPr wrap="square" lIns="0" tIns="0" rIns="0" bIns="0" rtlCol="0" anchor="ctr"/>
          <a:lstStyle/>
          <a:p>
            <a:pPr indent="0" marL="0">
              <a:buNone/>
            </a:pPr>
            <a:r>
              <a:rPr lang="en-US" sz="1400" b="1" spc="240" kern="0" dirty="0">
                <a:solidFill>
                  <a:srgbClr val="F2A93B"/>
                </a:solidFill>
                <a:latin typeface="Calibri" pitchFamily="34" charset="0"/>
                <a:ea typeface="Calibri" pitchFamily="34" charset="-122"/>
                <a:cs typeface="Calibri" pitchFamily="34" charset="-120"/>
              </a:rPr>
              <a:t>INTRODUCTION</a:t>
            </a:r>
            <a:endParaRPr lang="en-US" sz="1400" dirty="0"/>
          </a:p>
        </p:txBody>
      </p:sp>
      <p:sp>
        <p:nvSpPr>
          <p:cNvPr id="3" name="Text 1"/>
          <p:cNvSpPr txBox="1"/>
          <p:nvPr/>
        </p:nvSpPr>
        <p:spPr>
          <a:xfrm>
            <a:off x="548640" y="2011680"/>
            <a:ext cx="10972800" cy="2011680"/>
          </a:xfrm>
          <a:prstGeom prst="rect">
            <a:avLst/>
          </a:prstGeom>
          <a:noFill/>
          <a:ln/>
        </p:spPr>
        <p:txBody>
          <a:bodyPr wrap="square" lIns="0" tIns="0" rIns="0" bIns="0" rtlCol="0" anchor="ctr"/>
          <a:lstStyle/>
          <a:p>
            <a:pPr indent="0" marL="0">
              <a:lnSpc>
                <a:spcPct val="106000"/>
              </a:lnSpc>
              <a:buNone/>
            </a:pPr>
            <a:r>
              <a:rPr lang="en-US" sz="4400" b="1" dirty="0">
                <a:solidFill>
                  <a:srgbClr val="FFFFFF"/>
                </a:solidFill>
                <a:latin typeface="Calibri" pitchFamily="34" charset="0"/>
                <a:ea typeface="Calibri" pitchFamily="34" charset="-122"/>
                <a:cs typeface="Calibri" pitchFamily="34" charset="-120"/>
              </a:rPr>
              <a:t>One tense covers everything you do regularly.</a:t>
            </a:r>
            <a:endParaRPr lang="en-US" sz="4400" dirty="0"/>
          </a:p>
        </p:txBody>
      </p:sp>
      <p:sp>
        <p:nvSpPr>
          <p:cNvPr id="4" name="Text 2"/>
          <p:cNvSpPr txBox="1"/>
          <p:nvPr/>
        </p:nvSpPr>
        <p:spPr>
          <a:xfrm>
            <a:off x="548640" y="4206240"/>
            <a:ext cx="10058400" cy="822960"/>
          </a:xfrm>
          <a:prstGeom prst="rect">
            <a:avLst/>
          </a:prstGeom>
          <a:noFill/>
          <a:ln/>
        </p:spPr>
        <p:txBody>
          <a:bodyPr wrap="square" lIns="0" tIns="0" rIns="0" bIns="0" rtlCol="0" anchor="ctr"/>
          <a:lstStyle/>
          <a:p>
            <a:pPr indent="0" marL="0">
              <a:lnSpc>
                <a:spcPct val="120000"/>
              </a:lnSpc>
              <a:buNone/>
            </a:pPr>
            <a:r>
              <a:rPr lang="en-US" sz="1850" dirty="0">
                <a:solidFill>
                  <a:srgbClr val="B9CFC1"/>
                </a:solidFill>
                <a:latin typeface="Calibri" pitchFamily="34" charset="0"/>
                <a:ea typeface="Calibri" pitchFamily="34" charset="-122"/>
                <a:cs typeface="Calibri" pitchFamily="34" charset="-120"/>
              </a:rPr>
              <a:t>Not what is happening now — what happens every day, every week, always.</a:t>
            </a:r>
            <a:endParaRPr lang="en-US" sz="1850" dirty="0"/>
          </a:p>
          <a:p>
            <a:pPr indent="0" marL="0">
              <a:lnSpc>
                <a:spcPct val="120000"/>
              </a:lnSpc>
              <a:buNone/>
            </a:pPr>
            <a:r>
              <a:rPr lang="en-US" sz="1850" dirty="0">
                <a:solidFill>
                  <a:srgbClr val="B9CFC1"/>
                </a:solidFill>
                <a:latin typeface="Calibri" pitchFamily="34" charset="0"/>
                <a:ea typeface="Calibri" pitchFamily="34" charset="-122"/>
                <a:cs typeface="Calibri" pitchFamily="34" charset="-120"/>
              </a:rPr>
              <a:t>In Level 1 you said “I am a student.” Now you can say what a student actually does.</a:t>
            </a:r>
            <a:endParaRPr lang="en-US" sz="1850" dirty="0"/>
          </a:p>
        </p:txBody>
      </p:sp>
      <p:sp>
        <p:nvSpPr>
          <p:cNvPr id="5" name="Shape 3"/>
          <p:cNvSpPr/>
          <p:nvPr/>
        </p:nvSpPr>
        <p:spPr>
          <a:xfrm>
            <a:off x="548640" y="5120640"/>
            <a:ext cx="3511296" cy="713232"/>
          </a:xfrm>
          <a:prstGeom prst="roundRect">
            <a:avLst>
              <a:gd name="adj" fmla="val 17949"/>
            </a:avLst>
          </a:prstGeom>
          <a:solidFill>
            <a:srgbClr val="1C4E39"/>
          </a:solidFill>
          <a:ln w="12700">
            <a:solidFill>
              <a:srgbClr val="2A6249"/>
            </a:solidFill>
            <a:prstDash val="solid"/>
          </a:ln>
        </p:spPr>
      </p:sp>
      <p:sp>
        <p:nvSpPr>
          <p:cNvPr id="6" name="Text 4"/>
          <p:cNvSpPr txBox="1"/>
          <p:nvPr/>
        </p:nvSpPr>
        <p:spPr>
          <a:xfrm>
            <a:off x="731520" y="5120640"/>
            <a:ext cx="3145536" cy="713232"/>
          </a:xfrm>
          <a:prstGeom prst="rect">
            <a:avLst/>
          </a:prstGeom>
          <a:noFill/>
          <a:ln/>
        </p:spPr>
        <p:txBody>
          <a:bodyPr wrap="square" lIns="0" tIns="0" rIns="0" bIns="0" rtlCol="0" anchor="ctr"/>
          <a:lstStyle/>
          <a:p>
            <a:pPr indent="0" marL="0">
              <a:buNone/>
            </a:pPr>
            <a:r>
              <a:rPr lang="en-US" sz="1500" dirty="0">
                <a:solidFill>
                  <a:srgbClr val="D2E0D8"/>
                </a:solidFill>
                <a:latin typeface="Calibri" pitchFamily="34" charset="0"/>
                <a:ea typeface="Calibri" pitchFamily="34" charset="-122"/>
                <a:cs typeface="Calibri" pitchFamily="34" charset="-120"/>
              </a:rPr>
              <a:t>Habits: I drink coffee every day</a:t>
            </a:r>
            <a:endParaRPr lang="en-US" sz="1500" dirty="0"/>
          </a:p>
        </p:txBody>
      </p:sp>
      <p:sp>
        <p:nvSpPr>
          <p:cNvPr id="7" name="Shape 5"/>
          <p:cNvSpPr/>
          <p:nvPr/>
        </p:nvSpPr>
        <p:spPr>
          <a:xfrm>
            <a:off x="4279392" y="5120640"/>
            <a:ext cx="3511296" cy="713232"/>
          </a:xfrm>
          <a:prstGeom prst="roundRect">
            <a:avLst>
              <a:gd name="adj" fmla="val 17949"/>
            </a:avLst>
          </a:prstGeom>
          <a:solidFill>
            <a:srgbClr val="1C4E39"/>
          </a:solidFill>
          <a:ln w="12700">
            <a:solidFill>
              <a:srgbClr val="2A6249"/>
            </a:solidFill>
            <a:prstDash val="solid"/>
          </a:ln>
        </p:spPr>
      </p:sp>
      <p:sp>
        <p:nvSpPr>
          <p:cNvPr id="8" name="Text 6"/>
          <p:cNvSpPr txBox="1"/>
          <p:nvPr/>
        </p:nvSpPr>
        <p:spPr>
          <a:xfrm>
            <a:off x="4462272" y="5120640"/>
            <a:ext cx="3145536" cy="713232"/>
          </a:xfrm>
          <a:prstGeom prst="rect">
            <a:avLst/>
          </a:prstGeom>
          <a:noFill/>
          <a:ln/>
        </p:spPr>
        <p:txBody>
          <a:bodyPr wrap="square" lIns="0" tIns="0" rIns="0" bIns="0" rtlCol="0" anchor="ctr"/>
          <a:lstStyle/>
          <a:p>
            <a:pPr indent="0" marL="0">
              <a:buNone/>
            </a:pPr>
            <a:r>
              <a:rPr lang="en-US" sz="1500" dirty="0">
                <a:solidFill>
                  <a:srgbClr val="D2E0D8"/>
                </a:solidFill>
                <a:latin typeface="Calibri" pitchFamily="34" charset="0"/>
                <a:ea typeface="Calibri" pitchFamily="34" charset="-122"/>
                <a:cs typeface="Calibri" pitchFamily="34" charset="-120"/>
              </a:rPr>
              <a:t>Routines: she starts work at eight</a:t>
            </a:r>
            <a:endParaRPr lang="en-US" sz="1500" dirty="0"/>
          </a:p>
        </p:txBody>
      </p:sp>
      <p:sp>
        <p:nvSpPr>
          <p:cNvPr id="9" name="Shape 7"/>
          <p:cNvSpPr/>
          <p:nvPr/>
        </p:nvSpPr>
        <p:spPr>
          <a:xfrm>
            <a:off x="8010144" y="5120640"/>
            <a:ext cx="3511296" cy="713232"/>
          </a:xfrm>
          <a:prstGeom prst="roundRect">
            <a:avLst>
              <a:gd name="adj" fmla="val 17949"/>
            </a:avLst>
          </a:prstGeom>
          <a:solidFill>
            <a:srgbClr val="1C4E39"/>
          </a:solidFill>
          <a:ln w="12700">
            <a:solidFill>
              <a:srgbClr val="2A6249"/>
            </a:solidFill>
            <a:prstDash val="solid"/>
          </a:ln>
        </p:spPr>
      </p:sp>
      <p:sp>
        <p:nvSpPr>
          <p:cNvPr id="10" name="Text 8"/>
          <p:cNvSpPr txBox="1"/>
          <p:nvPr/>
        </p:nvSpPr>
        <p:spPr>
          <a:xfrm>
            <a:off x="8193024" y="5120640"/>
            <a:ext cx="3145536" cy="713232"/>
          </a:xfrm>
          <a:prstGeom prst="rect">
            <a:avLst/>
          </a:prstGeom>
          <a:noFill/>
          <a:ln/>
        </p:spPr>
        <p:txBody>
          <a:bodyPr wrap="square" lIns="0" tIns="0" rIns="0" bIns="0" rtlCol="0" anchor="ctr"/>
          <a:lstStyle/>
          <a:p>
            <a:pPr indent="0" marL="0">
              <a:buNone/>
            </a:pPr>
            <a:r>
              <a:rPr lang="en-US" sz="1500" dirty="0">
                <a:solidFill>
                  <a:srgbClr val="D2E0D8"/>
                </a:solidFill>
                <a:latin typeface="Calibri" pitchFamily="34" charset="0"/>
                <a:ea typeface="Calibri" pitchFamily="34" charset="-122"/>
                <a:cs typeface="Calibri" pitchFamily="34" charset="-120"/>
              </a:rPr>
              <a:t>Facts: water boils at 100 degrees</a:t>
            </a:r>
            <a:endParaRPr lang="en-US" sz="1500" dirty="0"/>
          </a:p>
        </p:txBody>
      </p:sp>
      <p:sp>
        <p:nvSpPr>
          <p:cNvPr id="11" name="Text 9"/>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7C9488"/>
                </a:solidFill>
                <a:latin typeface="Calibri" pitchFamily="34" charset="0"/>
                <a:ea typeface="Calibri" pitchFamily="34" charset="-122"/>
                <a:cs typeface="Calibri" pitchFamily="34" charset="-120"/>
              </a:rPr>
              <a:t>Level 2 · Elementary English · Module 1 — Present Simple &amp; Daily Routine</a:t>
            </a:r>
            <a:endParaRPr lang="en-US" sz="1000" dirty="0"/>
          </a:p>
        </p:txBody>
      </p:sp>
      <p:sp>
        <p:nvSpPr>
          <p:cNvPr id="12" name="Text 10"/>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F2A93B"/>
                </a:solidFill>
                <a:latin typeface="Calibri" pitchFamily="34" charset="0"/>
                <a:ea typeface="Calibri" pitchFamily="34" charset="-122"/>
                <a:cs typeface="Calibri" pitchFamily="34" charset="-120"/>
              </a:rPr>
              <a:t>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CONCEPT</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2600" b="1" dirty="0">
                <a:solidFill>
                  <a:srgbClr val="12211B"/>
                </a:solidFill>
                <a:latin typeface="Calibri" pitchFamily="34" charset="0"/>
                <a:ea typeface="Calibri" pitchFamily="34" charset="-122"/>
                <a:cs typeface="Calibri" pitchFamily="34" charset="-120"/>
              </a:rPr>
              <a:t>Three jobs the present simple does</a:t>
            </a:r>
            <a:endParaRPr lang="en-US" sz="26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All three are about things that are generally true.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1 — Present Simple &amp; Daily Routine</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5</a:t>
            </a:r>
            <a:endParaRPr lang="en-US" sz="1100" dirty="0"/>
          </a:p>
        </p:txBody>
      </p:sp>
      <p:sp>
        <p:nvSpPr>
          <p:cNvPr id="11" name="Shape 7"/>
          <p:cNvSpPr/>
          <p:nvPr/>
        </p:nvSpPr>
        <p:spPr>
          <a:xfrm>
            <a:off x="548640" y="1883664"/>
            <a:ext cx="3564026" cy="4059936"/>
          </a:xfrm>
          <a:prstGeom prst="roundRect">
            <a:avLst>
              <a:gd name="adj" fmla="val 3592"/>
            </a:avLst>
          </a:prstGeom>
          <a:solidFill>
            <a:srgbClr val="FFFFFF"/>
          </a:solidFill>
          <a:ln w="12700">
            <a:solidFill>
              <a:srgbClr val="E3E9E5"/>
            </a:solidFill>
            <a:prstDash val="solid"/>
          </a:ln>
          <a:effectLst>
            <a:outerShdw sx="100000" sy="100000" kx="0" ky="0" algn="bl" rotWithShape="0" blurRad="101600" dist="25400" dir="5400000">
              <a:srgbClr val="94A69C">
                <a:alpha val="30000"/>
              </a:srgbClr>
            </a:outerShdw>
          </a:effectLst>
        </p:spPr>
      </p:sp>
      <p:sp>
        <p:nvSpPr>
          <p:cNvPr id="12" name="Shape 8"/>
          <p:cNvSpPr/>
          <p:nvPr/>
        </p:nvSpPr>
        <p:spPr>
          <a:xfrm>
            <a:off x="768096" y="2103120"/>
            <a:ext cx="457200" cy="457200"/>
          </a:xfrm>
          <a:prstGeom prst="ellipse">
            <a:avLst/>
          </a:prstGeom>
          <a:solidFill>
            <a:srgbClr val="0E7C5A"/>
          </a:solidFill>
          <a:ln/>
        </p:spPr>
      </p:sp>
      <p:pic>
        <p:nvPicPr>
          <p:cNvPr id="13" name="Image 1" descr="preencoded.png">    </p:cNvPr>
          <p:cNvPicPr>
            <a:picLocks noChangeAspect="1"/>
          </p:cNvPicPr>
          <p:nvPr/>
        </p:nvPicPr>
        <p:blipFill>
          <a:blip r:embed="rId2"/>
          <a:stretch>
            <a:fillRect/>
          </a:stretch>
        </p:blipFill>
        <p:spPr>
          <a:xfrm>
            <a:off x="882396" y="2217420"/>
            <a:ext cx="228600" cy="228600"/>
          </a:xfrm>
          <a:prstGeom prst="rect">
            <a:avLst/>
          </a:prstGeom>
        </p:spPr>
      </p:pic>
      <p:sp>
        <p:nvSpPr>
          <p:cNvPr id="14" name="Text 9"/>
          <p:cNvSpPr/>
          <p:nvPr/>
        </p:nvSpPr>
        <p:spPr>
          <a:xfrm>
            <a:off x="768096" y="2706624"/>
            <a:ext cx="3125114" cy="3054096"/>
          </a:xfrm>
          <a:prstGeom prst="rect">
            <a:avLst/>
          </a:prstGeom>
          <a:noFill/>
          <a:ln/>
        </p:spPr>
        <p:txBody>
          <a:bodyPr wrap="square" lIns="0" tIns="0" rIns="0" bIns="0" rtlCol="0" anchor="t"/>
          <a:lstStyle/>
          <a:p>
            <a:pPr indent="0" marL="0">
              <a:lnSpc>
                <a:spcPct val="102000"/>
              </a:lnSpc>
              <a:buNone/>
            </a:pPr>
            <a:r>
              <a:rPr lang="en-US" sz="2100" b="1" dirty="0">
                <a:solidFill>
                  <a:srgbClr val="12211B"/>
                </a:solidFill>
                <a:latin typeface="Calibri" pitchFamily="34" charset="0"/>
                <a:ea typeface="Calibri" pitchFamily="34" charset="-122"/>
                <a:cs typeface="Calibri" pitchFamily="34" charset="-120"/>
              </a:rPr>
              <a:t>1 · Habits</a:t>
            </a:r>
            <a:endParaRPr lang="en-US" sz="2100" dirty="0"/>
          </a:p>
          <a:p>
            <a:pPr indent="0" marL="0">
              <a:lnSpc>
                <a:spcPct val="102000"/>
              </a:lnSpc>
              <a:spcBef>
                <a:spcPts val="400"/>
              </a:spcBef>
              <a:buNone/>
            </a:pPr>
            <a:r>
              <a:rPr lang="en-US" sz="1600" dirty="0">
                <a:solidFill>
                  <a:srgbClr val="3A473F"/>
                </a:solidFill>
                <a:latin typeface="Calibri" pitchFamily="34" charset="0"/>
                <a:ea typeface="Calibri" pitchFamily="34" charset="-122"/>
                <a:cs typeface="Calibri" pitchFamily="34" charset="-120"/>
              </a:rPr>
              <a:t>Things you do again and again.</a:t>
            </a:r>
            <a:endParaRPr lang="en-US" sz="2100" dirty="0"/>
          </a:p>
          <a:p>
            <a:pPr indent="0" marL="0">
              <a:lnSpc>
                <a:spcPct val="102000"/>
              </a:lnSpc>
              <a:spcBef>
                <a:spcPts val="400"/>
              </a:spcBef>
              <a:buNone/>
            </a:pPr>
            <a:endParaRPr lang="en-US" sz="2100" dirty="0"/>
          </a:p>
          <a:p>
            <a:pPr indent="0" marL="0">
              <a:lnSpc>
                <a:spcPct val="102000"/>
              </a:lnSpc>
              <a:spcBef>
                <a:spcPts val="400"/>
              </a:spcBef>
              <a:buNone/>
            </a:pPr>
            <a:r>
              <a:rPr lang="en-US" sz="1600" dirty="0">
                <a:solidFill>
                  <a:srgbClr val="3A473F"/>
                </a:solidFill>
                <a:latin typeface="Calibri" pitchFamily="34" charset="0"/>
                <a:ea typeface="Calibri" pitchFamily="34" charset="-122"/>
                <a:cs typeface="Calibri" pitchFamily="34" charset="-120"/>
              </a:rPr>
              <a:t>“I drink coffee every morning.”</a:t>
            </a:r>
            <a:endParaRPr lang="en-US" sz="2100" dirty="0"/>
          </a:p>
          <a:p>
            <a:pPr indent="0" marL="0">
              <a:lnSpc>
                <a:spcPct val="102000"/>
              </a:lnSpc>
              <a:spcBef>
                <a:spcPts val="400"/>
              </a:spcBef>
              <a:buNone/>
            </a:pPr>
            <a:r>
              <a:rPr lang="en-US" sz="1600" dirty="0">
                <a:solidFill>
                  <a:srgbClr val="3A473F"/>
                </a:solidFill>
                <a:latin typeface="Calibri" pitchFamily="34" charset="0"/>
                <a:ea typeface="Calibri" pitchFamily="34" charset="-122"/>
                <a:cs typeface="Calibri" pitchFamily="34" charset="-120"/>
              </a:rPr>
              <a:t>“She goes to church on Sunday.”</a:t>
            </a:r>
            <a:endParaRPr lang="en-US" sz="2100" dirty="0"/>
          </a:p>
        </p:txBody>
      </p:sp>
      <p:sp>
        <p:nvSpPr>
          <p:cNvPr id="15" name="Shape 10"/>
          <p:cNvSpPr/>
          <p:nvPr/>
        </p:nvSpPr>
        <p:spPr>
          <a:xfrm>
            <a:off x="4313834" y="1883664"/>
            <a:ext cx="3564026" cy="4059936"/>
          </a:xfrm>
          <a:prstGeom prst="roundRect">
            <a:avLst>
              <a:gd name="adj" fmla="val 3592"/>
            </a:avLst>
          </a:prstGeom>
          <a:solidFill>
            <a:srgbClr val="FFFFFF"/>
          </a:solidFill>
          <a:ln w="12700">
            <a:solidFill>
              <a:srgbClr val="E3E9E5"/>
            </a:solidFill>
            <a:prstDash val="solid"/>
          </a:ln>
          <a:effectLst>
            <a:outerShdw sx="100000" sy="100000" kx="0" ky="0" algn="bl" rotWithShape="0" blurRad="101600" dist="25400" dir="5400000">
              <a:srgbClr val="94A69C">
                <a:alpha val="30000"/>
              </a:srgbClr>
            </a:outerShdw>
          </a:effectLst>
        </p:spPr>
      </p:sp>
      <p:sp>
        <p:nvSpPr>
          <p:cNvPr id="16" name="Shape 11"/>
          <p:cNvSpPr/>
          <p:nvPr/>
        </p:nvSpPr>
        <p:spPr>
          <a:xfrm>
            <a:off x="4533290" y="2103120"/>
            <a:ext cx="457200" cy="457200"/>
          </a:xfrm>
          <a:prstGeom prst="ellipse">
            <a:avLst/>
          </a:prstGeom>
          <a:solidFill>
            <a:srgbClr val="0E7C5A"/>
          </a:solidFill>
          <a:ln/>
        </p:spPr>
      </p:sp>
      <p:pic>
        <p:nvPicPr>
          <p:cNvPr id="17" name="Image 2" descr="preencoded.png">    </p:cNvPr>
          <p:cNvPicPr>
            <a:picLocks noChangeAspect="1"/>
          </p:cNvPicPr>
          <p:nvPr/>
        </p:nvPicPr>
        <p:blipFill>
          <a:blip r:embed="rId3"/>
          <a:stretch>
            <a:fillRect/>
          </a:stretch>
        </p:blipFill>
        <p:spPr>
          <a:xfrm>
            <a:off x="4647590" y="2217420"/>
            <a:ext cx="228600" cy="228600"/>
          </a:xfrm>
          <a:prstGeom prst="rect">
            <a:avLst/>
          </a:prstGeom>
        </p:spPr>
      </p:pic>
      <p:sp>
        <p:nvSpPr>
          <p:cNvPr id="18" name="Text 12"/>
          <p:cNvSpPr/>
          <p:nvPr/>
        </p:nvSpPr>
        <p:spPr>
          <a:xfrm>
            <a:off x="4533290" y="2706624"/>
            <a:ext cx="3125114" cy="3054096"/>
          </a:xfrm>
          <a:prstGeom prst="rect">
            <a:avLst/>
          </a:prstGeom>
          <a:noFill/>
          <a:ln/>
        </p:spPr>
        <p:txBody>
          <a:bodyPr wrap="square" lIns="0" tIns="0" rIns="0" bIns="0" rtlCol="0" anchor="t"/>
          <a:lstStyle/>
          <a:p>
            <a:pPr indent="0" marL="0">
              <a:lnSpc>
                <a:spcPct val="102000"/>
              </a:lnSpc>
              <a:buNone/>
            </a:pPr>
            <a:r>
              <a:rPr lang="en-US" sz="2100" b="1" dirty="0">
                <a:solidFill>
                  <a:srgbClr val="12211B"/>
                </a:solidFill>
                <a:latin typeface="Calibri" pitchFamily="34" charset="0"/>
                <a:ea typeface="Calibri" pitchFamily="34" charset="-122"/>
                <a:cs typeface="Calibri" pitchFamily="34" charset="-120"/>
              </a:rPr>
              <a:t>2 · Routines</a:t>
            </a:r>
            <a:endParaRPr lang="en-US" sz="2100" dirty="0"/>
          </a:p>
          <a:p>
            <a:pPr indent="0" marL="0">
              <a:lnSpc>
                <a:spcPct val="102000"/>
              </a:lnSpc>
              <a:spcBef>
                <a:spcPts val="400"/>
              </a:spcBef>
              <a:buNone/>
            </a:pPr>
            <a:r>
              <a:rPr lang="en-US" sz="1600" dirty="0">
                <a:solidFill>
                  <a:srgbClr val="3A473F"/>
                </a:solidFill>
                <a:latin typeface="Calibri" pitchFamily="34" charset="0"/>
                <a:ea typeface="Calibri" pitchFamily="34" charset="-122"/>
                <a:cs typeface="Calibri" pitchFamily="34" charset="-120"/>
              </a:rPr>
              <a:t>Fixed times and schedules.</a:t>
            </a:r>
            <a:endParaRPr lang="en-US" sz="2100" dirty="0"/>
          </a:p>
          <a:p>
            <a:pPr indent="0" marL="0">
              <a:lnSpc>
                <a:spcPct val="102000"/>
              </a:lnSpc>
              <a:spcBef>
                <a:spcPts val="400"/>
              </a:spcBef>
              <a:buNone/>
            </a:pPr>
            <a:endParaRPr lang="en-US" sz="2100" dirty="0"/>
          </a:p>
          <a:p>
            <a:pPr indent="0" marL="0">
              <a:lnSpc>
                <a:spcPct val="102000"/>
              </a:lnSpc>
              <a:spcBef>
                <a:spcPts val="400"/>
              </a:spcBef>
              <a:buNone/>
            </a:pPr>
            <a:r>
              <a:rPr lang="en-US" sz="1600" dirty="0">
                <a:solidFill>
                  <a:srgbClr val="3A473F"/>
                </a:solidFill>
                <a:latin typeface="Calibri" pitchFamily="34" charset="0"/>
                <a:ea typeface="Calibri" pitchFamily="34" charset="-122"/>
                <a:cs typeface="Calibri" pitchFamily="34" charset="-120"/>
              </a:rPr>
              <a:t>“The shop opens at seven.”</a:t>
            </a:r>
            <a:endParaRPr lang="en-US" sz="2100" dirty="0"/>
          </a:p>
          <a:p>
            <a:pPr indent="0" marL="0">
              <a:lnSpc>
                <a:spcPct val="102000"/>
              </a:lnSpc>
              <a:spcBef>
                <a:spcPts val="400"/>
              </a:spcBef>
              <a:buNone/>
            </a:pPr>
            <a:r>
              <a:rPr lang="en-US" sz="1600" dirty="0">
                <a:solidFill>
                  <a:srgbClr val="3A473F"/>
                </a:solidFill>
                <a:latin typeface="Calibri" pitchFamily="34" charset="0"/>
                <a:ea typeface="Calibri" pitchFamily="34" charset="-122"/>
                <a:cs typeface="Calibri" pitchFamily="34" charset="-120"/>
              </a:rPr>
              <a:t>“I start work at eight thirty.”</a:t>
            </a:r>
            <a:endParaRPr lang="en-US" sz="2100" dirty="0"/>
          </a:p>
        </p:txBody>
      </p:sp>
      <p:sp>
        <p:nvSpPr>
          <p:cNvPr id="19" name="Shape 13"/>
          <p:cNvSpPr/>
          <p:nvPr/>
        </p:nvSpPr>
        <p:spPr>
          <a:xfrm>
            <a:off x="8079029" y="1883664"/>
            <a:ext cx="3564026" cy="4059936"/>
          </a:xfrm>
          <a:prstGeom prst="roundRect">
            <a:avLst>
              <a:gd name="adj" fmla="val 3592"/>
            </a:avLst>
          </a:prstGeom>
          <a:solidFill>
            <a:srgbClr val="FFFFFF"/>
          </a:solidFill>
          <a:ln w="12700">
            <a:solidFill>
              <a:srgbClr val="E3E9E5"/>
            </a:solidFill>
            <a:prstDash val="solid"/>
          </a:ln>
          <a:effectLst>
            <a:outerShdw sx="100000" sy="100000" kx="0" ky="0" algn="bl" rotWithShape="0" blurRad="101600" dist="25400" dir="5400000">
              <a:srgbClr val="94A69C">
                <a:alpha val="30000"/>
              </a:srgbClr>
            </a:outerShdw>
          </a:effectLst>
        </p:spPr>
      </p:sp>
      <p:sp>
        <p:nvSpPr>
          <p:cNvPr id="20" name="Shape 14"/>
          <p:cNvSpPr/>
          <p:nvPr/>
        </p:nvSpPr>
        <p:spPr>
          <a:xfrm>
            <a:off x="8298485" y="2103120"/>
            <a:ext cx="457200" cy="457200"/>
          </a:xfrm>
          <a:prstGeom prst="ellipse">
            <a:avLst/>
          </a:prstGeom>
          <a:solidFill>
            <a:srgbClr val="0E7C5A"/>
          </a:solidFill>
          <a:ln/>
        </p:spPr>
      </p:sp>
      <p:pic>
        <p:nvPicPr>
          <p:cNvPr id="21" name="Image 3" descr="preencoded.png">    </p:cNvPr>
          <p:cNvPicPr>
            <a:picLocks noChangeAspect="1"/>
          </p:cNvPicPr>
          <p:nvPr/>
        </p:nvPicPr>
        <p:blipFill>
          <a:blip r:embed="rId4"/>
          <a:stretch>
            <a:fillRect/>
          </a:stretch>
        </p:blipFill>
        <p:spPr>
          <a:xfrm>
            <a:off x="8412785" y="2217420"/>
            <a:ext cx="228600" cy="228600"/>
          </a:xfrm>
          <a:prstGeom prst="rect">
            <a:avLst/>
          </a:prstGeom>
        </p:spPr>
      </p:pic>
      <p:sp>
        <p:nvSpPr>
          <p:cNvPr id="22" name="Text 15"/>
          <p:cNvSpPr/>
          <p:nvPr/>
        </p:nvSpPr>
        <p:spPr>
          <a:xfrm>
            <a:off x="8298485" y="2706624"/>
            <a:ext cx="3125114" cy="3054096"/>
          </a:xfrm>
          <a:prstGeom prst="rect">
            <a:avLst/>
          </a:prstGeom>
          <a:noFill/>
          <a:ln/>
        </p:spPr>
        <p:txBody>
          <a:bodyPr wrap="square" lIns="0" tIns="0" rIns="0" bIns="0" rtlCol="0" anchor="t"/>
          <a:lstStyle/>
          <a:p>
            <a:pPr indent="0" marL="0">
              <a:lnSpc>
                <a:spcPct val="102000"/>
              </a:lnSpc>
              <a:buNone/>
            </a:pPr>
            <a:r>
              <a:rPr lang="en-US" sz="2100" b="1" dirty="0">
                <a:solidFill>
                  <a:srgbClr val="12211B"/>
                </a:solidFill>
                <a:latin typeface="Calibri" pitchFamily="34" charset="0"/>
                <a:ea typeface="Calibri" pitchFamily="34" charset="-122"/>
                <a:cs typeface="Calibri" pitchFamily="34" charset="-120"/>
              </a:rPr>
              <a:t>3 · Facts</a:t>
            </a:r>
            <a:endParaRPr lang="en-US" sz="2100" dirty="0"/>
          </a:p>
          <a:p>
            <a:pPr indent="0" marL="0">
              <a:lnSpc>
                <a:spcPct val="102000"/>
              </a:lnSpc>
              <a:spcBef>
                <a:spcPts val="400"/>
              </a:spcBef>
              <a:buNone/>
            </a:pPr>
            <a:r>
              <a:rPr lang="en-US" sz="1600" dirty="0">
                <a:solidFill>
                  <a:srgbClr val="3A473F"/>
                </a:solidFill>
                <a:latin typeface="Calibri" pitchFamily="34" charset="0"/>
                <a:ea typeface="Calibri" pitchFamily="34" charset="-122"/>
                <a:cs typeface="Calibri" pitchFamily="34" charset="-120"/>
              </a:rPr>
              <a:t>Things that are always true.</a:t>
            </a:r>
            <a:endParaRPr lang="en-US" sz="2100" dirty="0"/>
          </a:p>
          <a:p>
            <a:pPr indent="0" marL="0">
              <a:lnSpc>
                <a:spcPct val="102000"/>
              </a:lnSpc>
              <a:spcBef>
                <a:spcPts val="400"/>
              </a:spcBef>
              <a:buNone/>
            </a:pPr>
            <a:endParaRPr lang="en-US" sz="2100" dirty="0"/>
          </a:p>
          <a:p>
            <a:pPr indent="0" marL="0">
              <a:lnSpc>
                <a:spcPct val="102000"/>
              </a:lnSpc>
              <a:spcBef>
                <a:spcPts val="400"/>
              </a:spcBef>
              <a:buNone/>
            </a:pPr>
            <a:r>
              <a:rPr lang="en-US" sz="1600" dirty="0">
                <a:solidFill>
                  <a:srgbClr val="3A473F"/>
                </a:solidFill>
                <a:latin typeface="Calibri" pitchFamily="34" charset="0"/>
                <a:ea typeface="Calibri" pitchFamily="34" charset="-122"/>
                <a:cs typeface="Calibri" pitchFamily="34" charset="-120"/>
              </a:rPr>
              <a:t>“Water boils at 100 degrees.”</a:t>
            </a:r>
            <a:endParaRPr lang="en-US" sz="2100" dirty="0"/>
          </a:p>
          <a:p>
            <a:pPr indent="0" marL="0">
              <a:lnSpc>
                <a:spcPct val="102000"/>
              </a:lnSpc>
              <a:spcBef>
                <a:spcPts val="400"/>
              </a:spcBef>
              <a:buNone/>
            </a:pPr>
            <a:r>
              <a:rPr lang="en-US" sz="1600" dirty="0">
                <a:solidFill>
                  <a:srgbClr val="3A473F"/>
                </a:solidFill>
                <a:latin typeface="Calibri" pitchFamily="34" charset="0"/>
                <a:ea typeface="Calibri" pitchFamily="34" charset="-122"/>
                <a:cs typeface="Calibri" pitchFamily="34" charset="-120"/>
              </a:rPr>
              <a:t>“Ethiopia has thirteen months.”</a:t>
            </a:r>
            <a:endParaRPr lang="en-US" sz="2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CONCEPT</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The form — and the one letter that changes</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Five of the seven persons use the base verb. Three of them add -s.</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1 — Present Simple &amp; Daily Routine</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6</a:t>
            </a:r>
            <a:endParaRPr lang="en-US" sz="11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883664"/>
          <a:ext cx="11094415" cy="914400"/>
        </p:xfrm>
        <a:graphic>
          <a:graphicData uri="http://schemas.openxmlformats.org/drawingml/2006/table">
            <a:tbl>
              <a:tblPr/>
              <a:tblGrid>
                <a:gridCol w="2377440"/>
                <a:gridCol w="3108960"/>
                <a:gridCol w="5608015"/>
              </a:tblGrid>
              <a:tr h="402336">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Person</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0E7C5A"/>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Verb</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0E7C5A"/>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Example</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0E7C5A"/>
                    </a:solidFill>
                  </a:tcPr>
                </a:tc>
              </a:tr>
              <a:tr h="402336">
                <a:tc>
                  <a:txBody>
                    <a:bodyPr/>
                    <a:lstStyle/>
                    <a:p>
                      <a:pPr algn="l" indent="0" marL="0">
                        <a:buNone/>
                      </a:pPr>
                      <a:r>
                        <a:rPr lang="en-US" sz="1800" b="1" dirty="0">
                          <a:solidFill>
                            <a:srgbClr val="12211B"/>
                          </a:solidFill>
                          <a:latin typeface="Calibri" pitchFamily="34" charset="0"/>
                          <a:ea typeface="Calibri" pitchFamily="34" charset="-122"/>
                          <a:cs typeface="Calibri" pitchFamily="34" charset="-120"/>
                        </a:rPr>
                        <a:t>I</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3A473F"/>
                          </a:solidFill>
                          <a:latin typeface="Calibri" pitchFamily="34" charset="0"/>
                          <a:ea typeface="Calibri" pitchFamily="34" charset="-122"/>
                          <a:cs typeface="Calibri" pitchFamily="34" charset="-120"/>
                        </a:rPr>
                        <a:t>work</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3A473F"/>
                          </a:solidFill>
                          <a:latin typeface="Calibri" pitchFamily="34" charset="0"/>
                          <a:ea typeface="Calibri" pitchFamily="34" charset="-122"/>
                          <a:cs typeface="Calibri" pitchFamily="34" charset="-120"/>
                        </a:rPr>
                        <a:t>I work in Adama.</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r h="402336">
                <a:tc>
                  <a:txBody>
                    <a:bodyPr/>
                    <a:lstStyle/>
                    <a:p>
                      <a:pPr algn="l" indent="0" marL="0">
                        <a:buNone/>
                      </a:pPr>
                      <a:r>
                        <a:rPr lang="en-US" sz="1800" b="1" dirty="0">
                          <a:solidFill>
                            <a:srgbClr val="12211B"/>
                          </a:solidFill>
                          <a:latin typeface="Calibri" pitchFamily="34" charset="0"/>
                          <a:ea typeface="Calibri" pitchFamily="34" charset="-122"/>
                          <a:cs typeface="Calibri" pitchFamily="34" charset="-120"/>
                        </a:rPr>
                        <a:t>You</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800" dirty="0">
                          <a:solidFill>
                            <a:srgbClr val="3A473F"/>
                          </a:solidFill>
                          <a:latin typeface="Calibri" pitchFamily="34" charset="0"/>
                          <a:ea typeface="Calibri" pitchFamily="34" charset="-122"/>
                          <a:cs typeface="Calibri" pitchFamily="34" charset="-120"/>
                        </a:rPr>
                        <a:t>work</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800" dirty="0">
                          <a:solidFill>
                            <a:srgbClr val="3A473F"/>
                          </a:solidFill>
                          <a:latin typeface="Calibri" pitchFamily="34" charset="0"/>
                          <a:ea typeface="Calibri" pitchFamily="34" charset="-122"/>
                          <a:cs typeface="Calibri" pitchFamily="34" charset="-120"/>
                        </a:rPr>
                        <a:t>You work very hard.</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r>
              <a:tr h="402336">
                <a:tc>
                  <a:txBody>
                    <a:bodyPr/>
                    <a:lstStyle/>
                    <a:p>
                      <a:pPr algn="l" indent="0" marL="0">
                        <a:buNone/>
                      </a:pPr>
                      <a:r>
                        <a:rPr lang="en-US" sz="1800" b="1" dirty="0">
                          <a:solidFill>
                            <a:srgbClr val="12211B"/>
                          </a:solidFill>
                          <a:latin typeface="Calibri" pitchFamily="34" charset="0"/>
                          <a:ea typeface="Calibri" pitchFamily="34" charset="-122"/>
                          <a:cs typeface="Calibri" pitchFamily="34" charset="-120"/>
                        </a:rPr>
                        <a:t>He</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3A473F"/>
                          </a:solidFill>
                          <a:latin typeface="Calibri" pitchFamily="34" charset="0"/>
                          <a:ea typeface="Calibri" pitchFamily="34" charset="-122"/>
                          <a:cs typeface="Calibri" pitchFamily="34" charset="-120"/>
                        </a:rPr>
                        <a:t>workS</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3A473F"/>
                          </a:solidFill>
                          <a:latin typeface="Calibri" pitchFamily="34" charset="0"/>
                          <a:ea typeface="Calibri" pitchFamily="34" charset="-122"/>
                          <a:cs typeface="Calibri" pitchFamily="34" charset="-120"/>
                        </a:rPr>
                        <a:t>He works in a bank.</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r h="402336">
                <a:tc>
                  <a:txBody>
                    <a:bodyPr/>
                    <a:lstStyle/>
                    <a:p>
                      <a:pPr algn="l" indent="0" marL="0">
                        <a:buNone/>
                      </a:pPr>
                      <a:r>
                        <a:rPr lang="en-US" sz="1800" b="1" dirty="0">
                          <a:solidFill>
                            <a:srgbClr val="12211B"/>
                          </a:solidFill>
                          <a:latin typeface="Calibri" pitchFamily="34" charset="0"/>
                          <a:ea typeface="Calibri" pitchFamily="34" charset="-122"/>
                          <a:cs typeface="Calibri" pitchFamily="34" charset="-120"/>
                        </a:rPr>
                        <a:t>She</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800" dirty="0">
                          <a:solidFill>
                            <a:srgbClr val="3A473F"/>
                          </a:solidFill>
                          <a:latin typeface="Calibri" pitchFamily="34" charset="0"/>
                          <a:ea typeface="Calibri" pitchFamily="34" charset="-122"/>
                          <a:cs typeface="Calibri" pitchFamily="34" charset="-120"/>
                        </a:rPr>
                        <a:t>workS</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800" dirty="0">
                          <a:solidFill>
                            <a:srgbClr val="3A473F"/>
                          </a:solidFill>
                          <a:latin typeface="Calibri" pitchFamily="34" charset="0"/>
                          <a:ea typeface="Calibri" pitchFamily="34" charset="-122"/>
                          <a:cs typeface="Calibri" pitchFamily="34" charset="-120"/>
                        </a:rPr>
                        <a:t>She works at the clinic.</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r>
              <a:tr h="402336">
                <a:tc>
                  <a:txBody>
                    <a:bodyPr/>
                    <a:lstStyle/>
                    <a:p>
                      <a:pPr algn="l" indent="0" marL="0">
                        <a:buNone/>
                      </a:pPr>
                      <a:r>
                        <a:rPr lang="en-US" sz="1800" b="1" dirty="0">
                          <a:solidFill>
                            <a:srgbClr val="12211B"/>
                          </a:solidFill>
                          <a:latin typeface="Calibri" pitchFamily="34" charset="0"/>
                          <a:ea typeface="Calibri" pitchFamily="34" charset="-122"/>
                          <a:cs typeface="Calibri" pitchFamily="34" charset="-120"/>
                        </a:rPr>
                        <a:t>It</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3A473F"/>
                          </a:solidFill>
                          <a:latin typeface="Calibri" pitchFamily="34" charset="0"/>
                          <a:ea typeface="Calibri" pitchFamily="34" charset="-122"/>
                          <a:cs typeface="Calibri" pitchFamily="34" charset="-120"/>
                        </a:rPr>
                        <a:t>workS</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3A473F"/>
                          </a:solidFill>
                          <a:latin typeface="Calibri" pitchFamily="34" charset="0"/>
                          <a:ea typeface="Calibri" pitchFamily="34" charset="-122"/>
                          <a:cs typeface="Calibri" pitchFamily="34" charset="-120"/>
                        </a:rPr>
                        <a:t>It works well.</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r h="402336">
                <a:tc>
                  <a:txBody>
                    <a:bodyPr/>
                    <a:lstStyle/>
                    <a:p>
                      <a:pPr algn="l" indent="0" marL="0">
                        <a:buNone/>
                      </a:pPr>
                      <a:r>
                        <a:rPr lang="en-US" sz="1800" b="1" dirty="0">
                          <a:solidFill>
                            <a:srgbClr val="12211B"/>
                          </a:solidFill>
                          <a:latin typeface="Calibri" pitchFamily="34" charset="0"/>
                          <a:ea typeface="Calibri" pitchFamily="34" charset="-122"/>
                          <a:cs typeface="Calibri" pitchFamily="34" charset="-120"/>
                        </a:rPr>
                        <a:t>We / They</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800" dirty="0">
                          <a:solidFill>
                            <a:srgbClr val="3A473F"/>
                          </a:solidFill>
                          <a:latin typeface="Calibri" pitchFamily="34" charset="0"/>
                          <a:ea typeface="Calibri" pitchFamily="34" charset="-122"/>
                          <a:cs typeface="Calibri" pitchFamily="34" charset="-120"/>
                        </a:rPr>
                        <a:t>work</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800" dirty="0">
                          <a:solidFill>
                            <a:srgbClr val="3A473F"/>
                          </a:solidFill>
                          <a:latin typeface="Calibri" pitchFamily="34" charset="0"/>
                          <a:ea typeface="Calibri" pitchFamily="34" charset="-122"/>
                          <a:cs typeface="Calibri" pitchFamily="34" charset="-120"/>
                        </a:rPr>
                        <a:t>We work six days a week.</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r>
            </a:tbl>
          </a:graphicData>
        </a:graphic>
      </p:graphicFrame>
      <p:sp>
        <p:nvSpPr>
          <p:cNvPr id="12" name="Shape 7"/>
          <p:cNvSpPr/>
          <p:nvPr/>
        </p:nvSpPr>
        <p:spPr>
          <a:xfrm>
            <a:off x="548640" y="5285232"/>
            <a:ext cx="11094415" cy="658368"/>
          </a:xfrm>
          <a:prstGeom prst="roundRect">
            <a:avLst>
              <a:gd name="adj" fmla="val 19444"/>
            </a:avLst>
          </a:prstGeom>
          <a:solidFill>
            <a:srgbClr val="FDF3E7"/>
          </a:solidFill>
          <a:ln w="12700">
            <a:solidFill>
              <a:srgbClr val="EFDCB2"/>
            </a:solidFill>
            <a:prstDash val="solid"/>
          </a:ln>
        </p:spPr>
      </p:sp>
      <p:sp>
        <p:nvSpPr>
          <p:cNvPr id="13" name="Text 8"/>
          <p:cNvSpPr txBox="1"/>
          <p:nvPr/>
        </p:nvSpPr>
        <p:spPr>
          <a:xfrm>
            <a:off x="786384" y="5285232"/>
            <a:ext cx="10618927" cy="658368"/>
          </a:xfrm>
          <a:prstGeom prst="rect">
            <a:avLst/>
          </a:prstGeom>
          <a:noFill/>
          <a:ln/>
        </p:spPr>
        <p:txBody>
          <a:bodyPr wrap="square" lIns="0" tIns="0" rIns="0" bIns="0" rtlCol="0" anchor="ctr"/>
          <a:lstStyle/>
          <a:p>
            <a:pPr indent="0" marL="0">
              <a:buNone/>
            </a:pPr>
            <a:r>
              <a:rPr lang="en-US" sz="1600" dirty="0">
                <a:solidFill>
                  <a:srgbClr val="12211B"/>
                </a:solidFill>
                <a:latin typeface="Calibri" pitchFamily="34" charset="0"/>
                <a:ea typeface="Calibri" pitchFamily="34" charset="-122"/>
                <a:cs typeface="Calibri" pitchFamily="34" charset="-120"/>
              </a:rPr>
              <a:t>HE · SHE · IT add -s. Nothing else changes. Say it as a chant: “I work, you work, HE WORKS, SHE WORKS, IT WORKS, we work, they work.”</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CONCEPT</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The three spelling rules for -s</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Most verbs just add -s. Two groups are different.</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1 — Present Simple &amp; Daily Routine</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7</a:t>
            </a:r>
            <a:endParaRPr lang="en-US" sz="11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883664"/>
          <a:ext cx="11094415" cy="914400"/>
        </p:xfrm>
        <a:graphic>
          <a:graphicData uri="http://schemas.openxmlformats.org/drawingml/2006/table">
            <a:tbl>
              <a:tblPr/>
              <a:tblGrid>
                <a:gridCol w="3291840"/>
                <a:gridCol w="3291840"/>
                <a:gridCol w="4510735"/>
              </a:tblGrid>
              <a:tr h="45720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Rule</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0E7C5A"/>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Verbs</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0E7C5A"/>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He / she / it form</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0E7C5A"/>
                    </a:solidFill>
                  </a:tcPr>
                </a:tc>
              </a:tr>
              <a:tr h="457200">
                <a:tc>
                  <a:txBody>
                    <a:bodyPr/>
                    <a:lstStyle/>
                    <a:p>
                      <a:pPr algn="l" indent="0" marL="0">
                        <a:buNone/>
                      </a:pPr>
                      <a:r>
                        <a:rPr lang="en-US" sz="1800" b="1" dirty="0">
                          <a:solidFill>
                            <a:srgbClr val="12211B"/>
                          </a:solidFill>
                          <a:latin typeface="Calibri" pitchFamily="34" charset="0"/>
                          <a:ea typeface="Calibri" pitchFamily="34" charset="-122"/>
                          <a:cs typeface="Calibri" pitchFamily="34" charset="-120"/>
                        </a:rPr>
                        <a:t>Most verbs: add -s</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3A473F"/>
                          </a:solidFill>
                          <a:latin typeface="Calibri" pitchFamily="34" charset="0"/>
                          <a:ea typeface="Calibri" pitchFamily="34" charset="-122"/>
                          <a:cs typeface="Calibri" pitchFamily="34" charset="-120"/>
                        </a:rPr>
                        <a:t>work · live · eat · read</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3A473F"/>
                          </a:solidFill>
                          <a:latin typeface="Calibri" pitchFamily="34" charset="0"/>
                          <a:ea typeface="Calibri" pitchFamily="34" charset="-122"/>
                          <a:cs typeface="Calibri" pitchFamily="34" charset="-120"/>
                        </a:rPr>
                        <a:t>works · lives · eats · reads</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r h="457200">
                <a:tc>
                  <a:txBody>
                    <a:bodyPr/>
                    <a:lstStyle/>
                    <a:p>
                      <a:pPr algn="l" indent="0" marL="0">
                        <a:buNone/>
                      </a:pPr>
                      <a:r>
                        <a:rPr lang="en-US" sz="1800" b="1" dirty="0">
                          <a:solidFill>
                            <a:srgbClr val="12211B"/>
                          </a:solidFill>
                          <a:latin typeface="Calibri" pitchFamily="34" charset="0"/>
                          <a:ea typeface="Calibri" pitchFamily="34" charset="-122"/>
                          <a:cs typeface="Calibri" pitchFamily="34" charset="-120"/>
                        </a:rPr>
                        <a:t>After ch, sh, s, x, o: add -es</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800" dirty="0">
                          <a:solidFill>
                            <a:srgbClr val="3A473F"/>
                          </a:solidFill>
                          <a:latin typeface="Calibri" pitchFamily="34" charset="0"/>
                          <a:ea typeface="Calibri" pitchFamily="34" charset="-122"/>
                          <a:cs typeface="Calibri" pitchFamily="34" charset="-120"/>
                        </a:rPr>
                        <a:t>watch · wash · go · do</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800" dirty="0">
                          <a:solidFill>
                            <a:srgbClr val="3A473F"/>
                          </a:solidFill>
                          <a:latin typeface="Calibri" pitchFamily="34" charset="0"/>
                          <a:ea typeface="Calibri" pitchFamily="34" charset="-122"/>
                          <a:cs typeface="Calibri" pitchFamily="34" charset="-120"/>
                        </a:rPr>
                        <a:t>watches · washes · goes · does</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r>
              <a:tr h="457200">
                <a:tc>
                  <a:txBody>
                    <a:bodyPr/>
                    <a:lstStyle/>
                    <a:p>
                      <a:pPr algn="l" indent="0" marL="0">
                        <a:buNone/>
                      </a:pPr>
                      <a:r>
                        <a:rPr lang="en-US" sz="1800" b="1" dirty="0">
                          <a:solidFill>
                            <a:srgbClr val="12211B"/>
                          </a:solidFill>
                          <a:latin typeface="Calibri" pitchFamily="34" charset="0"/>
                          <a:ea typeface="Calibri" pitchFamily="34" charset="-122"/>
                          <a:cs typeface="Calibri" pitchFamily="34" charset="-120"/>
                        </a:rPr>
                        <a:t>Consonant + y: change to -ies</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3A473F"/>
                          </a:solidFill>
                          <a:latin typeface="Calibri" pitchFamily="34" charset="0"/>
                          <a:ea typeface="Calibri" pitchFamily="34" charset="-122"/>
                          <a:cs typeface="Calibri" pitchFamily="34" charset="-120"/>
                        </a:rPr>
                        <a:t>study · carry · try</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3A473F"/>
                          </a:solidFill>
                          <a:latin typeface="Calibri" pitchFamily="34" charset="0"/>
                          <a:ea typeface="Calibri" pitchFamily="34" charset="-122"/>
                          <a:cs typeface="Calibri" pitchFamily="34" charset="-120"/>
                        </a:rPr>
                        <a:t>studies · carries · tries</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r h="457200">
                <a:tc>
                  <a:txBody>
                    <a:bodyPr/>
                    <a:lstStyle/>
                    <a:p>
                      <a:pPr algn="l" indent="0" marL="0">
                        <a:buNone/>
                      </a:pPr>
                      <a:r>
                        <a:rPr lang="en-US" sz="1800" b="1" dirty="0">
                          <a:solidFill>
                            <a:srgbClr val="12211B"/>
                          </a:solidFill>
                          <a:latin typeface="Calibri" pitchFamily="34" charset="0"/>
                          <a:ea typeface="Calibri" pitchFamily="34" charset="-122"/>
                          <a:cs typeface="Calibri" pitchFamily="34" charset="-120"/>
                        </a:rPr>
                        <a:t>Special: have → has</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800" dirty="0">
                          <a:solidFill>
                            <a:srgbClr val="3A473F"/>
                          </a:solidFill>
                          <a:latin typeface="Calibri" pitchFamily="34" charset="0"/>
                          <a:ea typeface="Calibri" pitchFamily="34" charset="-122"/>
                          <a:cs typeface="Calibri" pitchFamily="34" charset="-120"/>
                        </a:rPr>
                        <a:t>have</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800" dirty="0">
                          <a:solidFill>
                            <a:srgbClr val="3A473F"/>
                          </a:solidFill>
                          <a:latin typeface="Calibri" pitchFamily="34" charset="0"/>
                          <a:ea typeface="Calibri" pitchFamily="34" charset="-122"/>
                          <a:cs typeface="Calibri" pitchFamily="34" charset="-120"/>
                        </a:rPr>
                        <a:t>has  ← learn this one separately</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r>
            </a:tbl>
          </a:graphicData>
        </a:graphic>
      </p:graphicFrame>
      <p:sp>
        <p:nvSpPr>
          <p:cNvPr id="12" name="Shape 7"/>
          <p:cNvSpPr/>
          <p:nvPr/>
        </p:nvSpPr>
        <p:spPr>
          <a:xfrm>
            <a:off x="548640" y="5285232"/>
            <a:ext cx="11094415" cy="658368"/>
          </a:xfrm>
          <a:prstGeom prst="roundRect">
            <a:avLst>
              <a:gd name="adj" fmla="val 19444"/>
            </a:avLst>
          </a:prstGeom>
          <a:solidFill>
            <a:srgbClr val="FDF3E7"/>
          </a:solidFill>
          <a:ln w="12700">
            <a:solidFill>
              <a:srgbClr val="EFDCB2"/>
            </a:solidFill>
            <a:prstDash val="solid"/>
          </a:ln>
        </p:spPr>
      </p:sp>
      <p:sp>
        <p:nvSpPr>
          <p:cNvPr id="13" name="Text 8"/>
          <p:cNvSpPr txBox="1"/>
          <p:nvPr/>
        </p:nvSpPr>
        <p:spPr>
          <a:xfrm>
            <a:off x="786384" y="5285232"/>
            <a:ext cx="10618927" cy="658368"/>
          </a:xfrm>
          <a:prstGeom prst="rect">
            <a:avLst/>
          </a:prstGeom>
          <a:noFill/>
          <a:ln/>
        </p:spPr>
        <p:txBody>
          <a:bodyPr wrap="square" lIns="0" tIns="0" rIns="0" bIns="0" rtlCol="0" anchor="ctr"/>
          <a:lstStyle/>
          <a:p>
            <a:pPr indent="0" marL="0">
              <a:buNone/>
            </a:pPr>
            <a:r>
              <a:rPr lang="en-US" sz="1600" dirty="0">
                <a:solidFill>
                  <a:srgbClr val="12211B"/>
                </a:solidFill>
                <a:latin typeface="Calibri" pitchFamily="34" charset="0"/>
                <a:ea typeface="Calibri" pitchFamily="34" charset="-122"/>
                <a:cs typeface="Calibri" pitchFamily="34" charset="-120"/>
              </a:rPr>
              <a:t>Careful: “play” keeps the y and just adds -s → “plays”, because the letter before the y is a vowel. The rule is consonant + y.</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CONCEPT</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Negatives — do not and does not</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When you add “does not”, the -s moves off the main verb.</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1 — Present Simple &amp; Daily Routine</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8</a:t>
            </a:r>
            <a:endParaRPr lang="en-US" sz="1100" dirty="0"/>
          </a:p>
        </p:txBody>
      </p:sp>
      <p:sp>
        <p:nvSpPr>
          <p:cNvPr id="11" name="Shape 7"/>
          <p:cNvSpPr/>
          <p:nvPr/>
        </p:nvSpPr>
        <p:spPr>
          <a:xfrm>
            <a:off x="548640" y="1883664"/>
            <a:ext cx="5410048" cy="3273552"/>
          </a:xfrm>
          <a:prstGeom prst="roundRect">
            <a:avLst>
              <a:gd name="adj" fmla="val 3911"/>
            </a:avLst>
          </a:prstGeom>
          <a:solidFill>
            <a:srgbClr val="E6F5EC"/>
          </a:solidFill>
          <a:ln w="15875">
            <a:solidFill>
              <a:srgbClr val="2E9E5B"/>
            </a:solidFill>
            <a:prstDash val="solid"/>
          </a:ln>
        </p:spPr>
      </p:sp>
      <p:sp>
        <p:nvSpPr>
          <p:cNvPr id="12" name="Shape 8"/>
          <p:cNvSpPr/>
          <p:nvPr/>
        </p:nvSpPr>
        <p:spPr>
          <a:xfrm>
            <a:off x="786384" y="2103120"/>
            <a:ext cx="420624" cy="420624"/>
          </a:xfrm>
          <a:prstGeom prst="ellipse">
            <a:avLst/>
          </a:prstGeom>
          <a:solidFill>
            <a:srgbClr val="2E9E5B"/>
          </a:solidFill>
          <a:ln/>
        </p:spPr>
      </p:sp>
      <p:pic>
        <p:nvPicPr>
          <p:cNvPr id="13" name="Image 1" descr="preencoded.png">    </p:cNvPr>
          <p:cNvPicPr>
            <a:picLocks noChangeAspect="1"/>
          </p:cNvPicPr>
          <p:nvPr/>
        </p:nvPicPr>
        <p:blipFill>
          <a:blip r:embed="rId2"/>
          <a:stretch>
            <a:fillRect/>
          </a:stretch>
        </p:blipFill>
        <p:spPr>
          <a:xfrm>
            <a:off x="891540" y="2208276"/>
            <a:ext cx="210312" cy="210312"/>
          </a:xfrm>
          <a:prstGeom prst="rect">
            <a:avLst/>
          </a:prstGeom>
        </p:spPr>
      </p:pic>
      <p:sp>
        <p:nvSpPr>
          <p:cNvPr id="14" name="Text 9"/>
          <p:cNvSpPr txBox="1"/>
          <p:nvPr/>
        </p:nvSpPr>
        <p:spPr>
          <a:xfrm>
            <a:off x="1335024" y="2103120"/>
            <a:ext cx="4404208" cy="420624"/>
          </a:xfrm>
          <a:prstGeom prst="rect">
            <a:avLst/>
          </a:prstGeom>
          <a:noFill/>
          <a:ln/>
        </p:spPr>
        <p:txBody>
          <a:bodyPr wrap="square" lIns="0" tIns="0" rIns="0" bIns="0" rtlCol="0" anchor="ctr"/>
          <a:lstStyle/>
          <a:p>
            <a:pPr indent="0" marL="0">
              <a:buNone/>
            </a:pPr>
            <a:r>
              <a:rPr lang="en-US" sz="2000" b="1" dirty="0">
                <a:solidFill>
                  <a:srgbClr val="2E9E5B"/>
                </a:solidFill>
                <a:latin typeface="Calibri" pitchFamily="34" charset="0"/>
                <a:ea typeface="Calibri" pitchFamily="34" charset="-122"/>
                <a:cs typeface="Calibri" pitchFamily="34" charset="-120"/>
              </a:rPr>
              <a:t>Correct</a:t>
            </a:r>
            <a:endParaRPr lang="en-US" sz="2000" dirty="0"/>
          </a:p>
        </p:txBody>
      </p:sp>
      <p:sp>
        <p:nvSpPr>
          <p:cNvPr id="15" name="Text 10"/>
          <p:cNvSpPr/>
          <p:nvPr/>
        </p:nvSpPr>
        <p:spPr>
          <a:xfrm>
            <a:off x="822960" y="2724912"/>
            <a:ext cx="4861408" cy="2212848"/>
          </a:xfrm>
          <a:prstGeom prst="rect">
            <a:avLst/>
          </a:prstGeom>
          <a:noFill/>
          <a:ln/>
        </p:spPr>
        <p:txBody>
          <a:bodyPr wrap="square" lIns="0" tIns="0" rIns="0" bIns="0" rtlCol="0" anchor="t"/>
          <a:lstStyle/>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I do not work on Sunday.</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They do not live here.</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She does not like coffee.</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He does not go to school.</a:t>
            </a:r>
            <a:endParaRPr lang="en-US" sz="1900" dirty="0"/>
          </a:p>
        </p:txBody>
      </p:sp>
      <p:sp>
        <p:nvSpPr>
          <p:cNvPr id="16" name="Shape 11"/>
          <p:cNvSpPr/>
          <p:nvPr/>
        </p:nvSpPr>
        <p:spPr>
          <a:xfrm>
            <a:off x="6233008" y="1883664"/>
            <a:ext cx="5410048" cy="3273552"/>
          </a:xfrm>
          <a:prstGeom prst="roundRect">
            <a:avLst>
              <a:gd name="adj" fmla="val 3911"/>
            </a:avLst>
          </a:prstGeom>
          <a:solidFill>
            <a:srgbClr val="FBEAEA"/>
          </a:solidFill>
          <a:ln w="15875">
            <a:solidFill>
              <a:srgbClr val="D64545"/>
            </a:solidFill>
            <a:prstDash val="solid"/>
          </a:ln>
        </p:spPr>
      </p:sp>
      <p:sp>
        <p:nvSpPr>
          <p:cNvPr id="17" name="Shape 12"/>
          <p:cNvSpPr/>
          <p:nvPr/>
        </p:nvSpPr>
        <p:spPr>
          <a:xfrm>
            <a:off x="6470752" y="2103120"/>
            <a:ext cx="420624" cy="420624"/>
          </a:xfrm>
          <a:prstGeom prst="ellipse">
            <a:avLst/>
          </a:prstGeom>
          <a:solidFill>
            <a:srgbClr val="D64545"/>
          </a:solidFill>
          <a:ln/>
        </p:spPr>
      </p:sp>
      <p:pic>
        <p:nvPicPr>
          <p:cNvPr id="18" name="Image 2" descr="preencoded.png">    </p:cNvPr>
          <p:cNvPicPr>
            <a:picLocks noChangeAspect="1"/>
          </p:cNvPicPr>
          <p:nvPr/>
        </p:nvPicPr>
        <p:blipFill>
          <a:blip r:embed="rId3"/>
          <a:stretch>
            <a:fillRect/>
          </a:stretch>
        </p:blipFill>
        <p:spPr>
          <a:xfrm>
            <a:off x="6575908" y="2208276"/>
            <a:ext cx="210312" cy="210312"/>
          </a:xfrm>
          <a:prstGeom prst="rect">
            <a:avLst/>
          </a:prstGeom>
        </p:spPr>
      </p:pic>
      <p:sp>
        <p:nvSpPr>
          <p:cNvPr id="19" name="Text 13"/>
          <p:cNvSpPr txBox="1"/>
          <p:nvPr/>
        </p:nvSpPr>
        <p:spPr>
          <a:xfrm>
            <a:off x="7019392" y="2103120"/>
            <a:ext cx="4404208" cy="420624"/>
          </a:xfrm>
          <a:prstGeom prst="rect">
            <a:avLst/>
          </a:prstGeom>
          <a:noFill/>
          <a:ln/>
        </p:spPr>
        <p:txBody>
          <a:bodyPr wrap="square" lIns="0" tIns="0" rIns="0" bIns="0" rtlCol="0" anchor="ctr"/>
          <a:lstStyle/>
          <a:p>
            <a:pPr indent="0" marL="0">
              <a:buNone/>
            </a:pPr>
            <a:r>
              <a:rPr lang="en-US" sz="2000" b="1" dirty="0">
                <a:solidFill>
                  <a:srgbClr val="D64545"/>
                </a:solidFill>
                <a:latin typeface="Calibri" pitchFamily="34" charset="0"/>
                <a:ea typeface="Calibri" pitchFamily="34" charset="-122"/>
                <a:cs typeface="Calibri" pitchFamily="34" charset="-120"/>
              </a:rPr>
              <a:t>Wrong</a:t>
            </a:r>
            <a:endParaRPr lang="en-US" sz="2000" dirty="0"/>
          </a:p>
        </p:txBody>
      </p:sp>
      <p:sp>
        <p:nvSpPr>
          <p:cNvPr id="20" name="Text 14"/>
          <p:cNvSpPr/>
          <p:nvPr/>
        </p:nvSpPr>
        <p:spPr>
          <a:xfrm>
            <a:off x="6507328" y="2724912"/>
            <a:ext cx="4861408" cy="2212848"/>
          </a:xfrm>
          <a:prstGeom prst="rect">
            <a:avLst/>
          </a:prstGeom>
          <a:noFill/>
          <a:ln/>
        </p:spPr>
        <p:txBody>
          <a:bodyPr wrap="square" lIns="0" tIns="0" rIns="0" bIns="0" rtlCol="0" anchor="t"/>
          <a:lstStyle/>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I not work on Sunday.</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They no live here.</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She does not likes coffee.</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He not goes to school.</a:t>
            </a:r>
            <a:endParaRPr lang="en-US" sz="1900" dirty="0"/>
          </a:p>
        </p:txBody>
      </p:sp>
      <p:sp>
        <p:nvSpPr>
          <p:cNvPr id="21" name="Shape 15"/>
          <p:cNvSpPr/>
          <p:nvPr/>
        </p:nvSpPr>
        <p:spPr>
          <a:xfrm>
            <a:off x="548640" y="5285232"/>
            <a:ext cx="11094415" cy="658368"/>
          </a:xfrm>
          <a:prstGeom prst="roundRect">
            <a:avLst>
              <a:gd name="adj" fmla="val 19444"/>
            </a:avLst>
          </a:prstGeom>
          <a:solidFill>
            <a:srgbClr val="FDF3E7"/>
          </a:solidFill>
          <a:ln w="12700">
            <a:solidFill>
              <a:srgbClr val="EFDCB2"/>
            </a:solidFill>
            <a:prstDash val="solid"/>
          </a:ln>
        </p:spPr>
      </p:sp>
      <p:sp>
        <p:nvSpPr>
          <p:cNvPr id="22" name="Text 16"/>
          <p:cNvSpPr txBox="1"/>
          <p:nvPr/>
        </p:nvSpPr>
        <p:spPr>
          <a:xfrm>
            <a:off x="786384" y="5285232"/>
            <a:ext cx="10618927" cy="658368"/>
          </a:xfrm>
          <a:prstGeom prst="rect">
            <a:avLst/>
          </a:prstGeom>
          <a:noFill/>
          <a:ln/>
        </p:spPr>
        <p:txBody>
          <a:bodyPr wrap="square" lIns="0" tIns="0" rIns="0" bIns="0" rtlCol="0" anchor="ctr"/>
          <a:lstStyle/>
          <a:p>
            <a:pPr indent="0" marL="0">
              <a:buNone/>
            </a:pPr>
            <a:r>
              <a:rPr lang="en-US" sz="1600" dirty="0">
                <a:solidFill>
                  <a:srgbClr val="12211B"/>
                </a:solidFill>
                <a:latin typeface="Calibri" pitchFamily="34" charset="0"/>
                <a:ea typeface="Calibri" pitchFamily="34" charset="-122"/>
                <a:cs typeface="Calibri" pitchFamily="34" charset="-120"/>
              </a:rPr>
              <a:t>The rule that surprises everyone:  “She likeS” but “She does not LIKE”.  “Does” already carries the -s, so the main verb loses it.</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CONCEPT</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Questions — do and does</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Put DO or DOES at the front. The main verb loses its -s.</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1 — Present Simple &amp; Daily Routine</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9</a:t>
            </a:r>
            <a:endParaRPr lang="en-US" sz="11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883664"/>
          <a:ext cx="11094415" cy="914400"/>
        </p:xfrm>
        <a:graphic>
          <a:graphicData uri="http://schemas.openxmlformats.org/drawingml/2006/table">
            <a:tbl>
              <a:tblPr/>
              <a:tblGrid>
                <a:gridCol w="2194560"/>
                <a:gridCol w="3840480"/>
                <a:gridCol w="5059375"/>
              </a:tblGrid>
              <a:tr h="420624">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Person</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0E7C5A"/>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Question</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0E7C5A"/>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Short answer</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0E7C5A"/>
                    </a:solidFill>
                  </a:tcPr>
                </a:tc>
              </a:tr>
              <a:tr h="420624">
                <a:tc>
                  <a:txBody>
                    <a:bodyPr/>
                    <a:lstStyle/>
                    <a:p>
                      <a:pPr algn="l" indent="0" marL="0">
                        <a:buNone/>
                      </a:pPr>
                      <a:r>
                        <a:rPr lang="en-US" sz="1750" b="1" dirty="0">
                          <a:solidFill>
                            <a:srgbClr val="12211B"/>
                          </a:solidFill>
                          <a:latin typeface="Calibri" pitchFamily="34" charset="0"/>
                          <a:ea typeface="Calibri" pitchFamily="34" charset="-122"/>
                          <a:cs typeface="Calibri" pitchFamily="34" charset="-120"/>
                        </a:rPr>
                        <a:t>I / you / we / they</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Do you work on Saturday?</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Yes, I do.  /  No, I do not.</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r h="420624">
                <a:tc>
                  <a:txBody>
                    <a:bodyPr/>
                    <a:lstStyle/>
                    <a:p>
                      <a:pPr algn="l" indent="0" marL="0">
                        <a:buNone/>
                      </a:pPr>
                      <a:r>
                        <a:rPr lang="en-US" sz="1750" b="1" dirty="0">
                          <a:solidFill>
                            <a:srgbClr val="12211B"/>
                          </a:solidFill>
                          <a:latin typeface="Calibri" pitchFamily="34" charset="0"/>
                          <a:ea typeface="Calibri" pitchFamily="34" charset="-122"/>
                          <a:cs typeface="Calibri" pitchFamily="34" charset="-120"/>
                        </a:rPr>
                        <a:t>He / she / it</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Does she live in Adama?</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Yes, she does.  /  No, she does not.</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r>
              <a:tr h="420624">
                <a:tc>
                  <a:txBody>
                    <a:bodyPr/>
                    <a:lstStyle/>
                    <a:p>
                      <a:pPr algn="l" indent="0" marL="0">
                        <a:buNone/>
                      </a:pPr>
                      <a:r>
                        <a:rPr lang="en-US" sz="1750" b="1" dirty="0">
                          <a:solidFill>
                            <a:srgbClr val="12211B"/>
                          </a:solidFill>
                          <a:latin typeface="Calibri" pitchFamily="34" charset="0"/>
                          <a:ea typeface="Calibri" pitchFamily="34" charset="-122"/>
                          <a:cs typeface="Calibri" pitchFamily="34" charset="-120"/>
                        </a:rPr>
                        <a:t>With a question word</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Where do you work?</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I work in a bank.</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r h="420624">
                <a:tc>
                  <a:txBody>
                    <a:bodyPr/>
                    <a:lstStyle/>
                    <a:p>
                      <a:pPr algn="l" indent="0" marL="0">
                        <a:buNone/>
                      </a:pPr>
                      <a:r>
                        <a:rPr lang="en-US" sz="1750" b="1" dirty="0">
                          <a:solidFill>
                            <a:srgbClr val="12211B"/>
                          </a:solidFill>
                          <a:latin typeface="Calibri" pitchFamily="34" charset="0"/>
                          <a:ea typeface="Calibri" pitchFamily="34" charset="-122"/>
                          <a:cs typeface="Calibri" pitchFamily="34" charset="-120"/>
                        </a:rPr>
                        <a:t>With a question word</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What time does he start?</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He starts at eight.</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r>
            </a:tbl>
          </a:graphicData>
        </a:graphic>
      </p:graphicFrame>
      <p:sp>
        <p:nvSpPr>
          <p:cNvPr id="12" name="Shape 7"/>
          <p:cNvSpPr/>
          <p:nvPr/>
        </p:nvSpPr>
        <p:spPr>
          <a:xfrm>
            <a:off x="548640" y="5285232"/>
            <a:ext cx="11094415" cy="658368"/>
          </a:xfrm>
          <a:prstGeom prst="roundRect">
            <a:avLst>
              <a:gd name="adj" fmla="val 19444"/>
            </a:avLst>
          </a:prstGeom>
          <a:solidFill>
            <a:srgbClr val="FDF3E7"/>
          </a:solidFill>
          <a:ln w="12700">
            <a:solidFill>
              <a:srgbClr val="EFDCB2"/>
            </a:solidFill>
            <a:prstDash val="solid"/>
          </a:ln>
        </p:spPr>
      </p:sp>
      <p:sp>
        <p:nvSpPr>
          <p:cNvPr id="13" name="Text 8"/>
          <p:cNvSpPr txBox="1"/>
          <p:nvPr/>
        </p:nvSpPr>
        <p:spPr>
          <a:xfrm>
            <a:off x="786384" y="5285232"/>
            <a:ext cx="10618927" cy="658368"/>
          </a:xfrm>
          <a:prstGeom prst="rect">
            <a:avLst/>
          </a:prstGeom>
          <a:noFill/>
          <a:ln/>
        </p:spPr>
        <p:txBody>
          <a:bodyPr wrap="square" lIns="0" tIns="0" rIns="0" bIns="0" rtlCol="0" anchor="ctr"/>
          <a:lstStyle/>
          <a:p>
            <a:pPr indent="0" marL="0">
              <a:buNone/>
            </a:pPr>
            <a:r>
              <a:rPr lang="en-US" sz="1600" dirty="0">
                <a:solidFill>
                  <a:srgbClr val="12211B"/>
                </a:solidFill>
                <a:latin typeface="Calibri" pitchFamily="34" charset="0"/>
                <a:ea typeface="Calibri" pitchFamily="34" charset="-122"/>
                <a:cs typeface="Calibri" pitchFamily="34" charset="-120"/>
              </a:rPr>
              <a:t>Word order:  (question word) + DO/DOES + person + base verb.   “Where do you work?” — never “Where you work?”</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CONCEPT</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How often? — frequency adverbs</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Five words, and one rule about where they go.</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1 — Present Simple &amp; Daily Routine</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10</a:t>
            </a:r>
            <a:endParaRPr lang="en-US" sz="11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883664"/>
          <a:ext cx="11094415" cy="914400"/>
        </p:xfrm>
        <a:graphic>
          <a:graphicData uri="http://schemas.openxmlformats.org/drawingml/2006/table">
            <a:tbl>
              <a:tblPr/>
              <a:tblGrid>
                <a:gridCol w="2377440"/>
                <a:gridCol w="2011680"/>
                <a:gridCol w="2743200"/>
                <a:gridCol w="3962095"/>
              </a:tblGrid>
              <a:tr h="402336">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Word</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0E7C5A"/>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How often</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0E7C5A"/>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Position</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0E7C5A"/>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Example</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0E7C5A"/>
                    </a:solidFill>
                  </a:tcPr>
                </a:tc>
              </a:tr>
              <a:tr h="402336">
                <a:tc>
                  <a:txBody>
                    <a:bodyPr/>
                    <a:lstStyle/>
                    <a:p>
                      <a:pPr algn="l" indent="0" marL="0">
                        <a:buNone/>
                      </a:pPr>
                      <a:r>
                        <a:rPr lang="en-US" sz="1750" b="1" dirty="0">
                          <a:solidFill>
                            <a:srgbClr val="12211B"/>
                          </a:solidFill>
                          <a:latin typeface="Calibri" pitchFamily="34" charset="0"/>
                          <a:ea typeface="Calibri" pitchFamily="34" charset="-122"/>
                          <a:cs typeface="Calibri" pitchFamily="34" charset="-120"/>
                        </a:rPr>
                        <a:t>always</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100%</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before the verb</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I always drink coffee.</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r h="402336">
                <a:tc>
                  <a:txBody>
                    <a:bodyPr/>
                    <a:lstStyle/>
                    <a:p>
                      <a:pPr algn="l" indent="0" marL="0">
                        <a:buNone/>
                      </a:pPr>
                      <a:r>
                        <a:rPr lang="en-US" sz="1750" b="1" dirty="0">
                          <a:solidFill>
                            <a:srgbClr val="12211B"/>
                          </a:solidFill>
                          <a:latin typeface="Calibri" pitchFamily="34" charset="0"/>
                          <a:ea typeface="Calibri" pitchFamily="34" charset="-122"/>
                          <a:cs typeface="Calibri" pitchFamily="34" charset="-120"/>
                        </a:rPr>
                        <a:t>usually</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about 80%</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before the verb</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She usually walks to work.</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r>
              <a:tr h="402336">
                <a:tc>
                  <a:txBody>
                    <a:bodyPr/>
                    <a:lstStyle/>
                    <a:p>
                      <a:pPr algn="l" indent="0" marL="0">
                        <a:buNone/>
                      </a:pPr>
                      <a:r>
                        <a:rPr lang="en-US" sz="1750" b="1" dirty="0">
                          <a:solidFill>
                            <a:srgbClr val="12211B"/>
                          </a:solidFill>
                          <a:latin typeface="Calibri" pitchFamily="34" charset="0"/>
                          <a:ea typeface="Calibri" pitchFamily="34" charset="-122"/>
                          <a:cs typeface="Calibri" pitchFamily="34" charset="-120"/>
                        </a:rPr>
                        <a:t>often</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about 60%</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before the verb</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We often eat together.</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r h="402336">
                <a:tc>
                  <a:txBody>
                    <a:bodyPr/>
                    <a:lstStyle/>
                    <a:p>
                      <a:pPr algn="l" indent="0" marL="0">
                        <a:buNone/>
                      </a:pPr>
                      <a:r>
                        <a:rPr lang="en-US" sz="1750" b="1" dirty="0">
                          <a:solidFill>
                            <a:srgbClr val="12211B"/>
                          </a:solidFill>
                          <a:latin typeface="Calibri" pitchFamily="34" charset="0"/>
                          <a:ea typeface="Calibri" pitchFamily="34" charset="-122"/>
                          <a:cs typeface="Calibri" pitchFamily="34" charset="-120"/>
                        </a:rPr>
                        <a:t>sometimes</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about 40%</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before the verb</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He sometimes works late.</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r>
              <a:tr h="402336">
                <a:tc>
                  <a:txBody>
                    <a:bodyPr/>
                    <a:lstStyle/>
                    <a:p>
                      <a:pPr algn="l" indent="0" marL="0">
                        <a:buNone/>
                      </a:pPr>
                      <a:r>
                        <a:rPr lang="en-US" sz="1750" b="1" dirty="0">
                          <a:solidFill>
                            <a:srgbClr val="12211B"/>
                          </a:solidFill>
                          <a:latin typeface="Calibri" pitchFamily="34" charset="0"/>
                          <a:ea typeface="Calibri" pitchFamily="34" charset="-122"/>
                          <a:cs typeface="Calibri" pitchFamily="34" charset="-120"/>
                        </a:rPr>
                        <a:t>never</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0%</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before the verb</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They never eat meat.</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bl>
          </a:graphicData>
        </a:graphic>
      </p:graphicFrame>
      <p:sp>
        <p:nvSpPr>
          <p:cNvPr id="12" name="Shape 7"/>
          <p:cNvSpPr/>
          <p:nvPr/>
        </p:nvSpPr>
        <p:spPr>
          <a:xfrm>
            <a:off x="548640" y="5285232"/>
            <a:ext cx="11094415" cy="658368"/>
          </a:xfrm>
          <a:prstGeom prst="roundRect">
            <a:avLst>
              <a:gd name="adj" fmla="val 19444"/>
            </a:avLst>
          </a:prstGeom>
          <a:solidFill>
            <a:srgbClr val="FDF3E7"/>
          </a:solidFill>
          <a:ln w="12700">
            <a:solidFill>
              <a:srgbClr val="EFDCB2"/>
            </a:solidFill>
            <a:prstDash val="solid"/>
          </a:ln>
        </p:spPr>
      </p:sp>
      <p:sp>
        <p:nvSpPr>
          <p:cNvPr id="13" name="Text 8"/>
          <p:cNvSpPr txBox="1"/>
          <p:nvPr/>
        </p:nvSpPr>
        <p:spPr>
          <a:xfrm>
            <a:off x="786384" y="5285232"/>
            <a:ext cx="10618927" cy="658368"/>
          </a:xfrm>
          <a:prstGeom prst="rect">
            <a:avLst/>
          </a:prstGeom>
          <a:noFill/>
          <a:ln/>
        </p:spPr>
        <p:txBody>
          <a:bodyPr wrap="square" lIns="0" tIns="0" rIns="0" bIns="0" rtlCol="0" anchor="ctr"/>
          <a:lstStyle/>
          <a:p>
            <a:pPr indent="0" marL="0">
              <a:buNone/>
            </a:pPr>
            <a:r>
              <a:rPr lang="en-US" sz="1600" dirty="0">
                <a:solidFill>
                  <a:srgbClr val="12211B"/>
                </a:solidFill>
                <a:latin typeface="Calibri" pitchFamily="34" charset="0"/>
                <a:ea typeface="Calibri" pitchFamily="34" charset="-122"/>
                <a:cs typeface="Calibri" pitchFamily="34" charset="-120"/>
              </a:rPr>
              <a:t>The exception: with the verb “to be”, the word goes AFTER it.  “She is always late.” — not “She always is late.”</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E8963A"/>
          </a:solidFill>
          <a:ln/>
        </p:spPr>
      </p:sp>
      <p:sp>
        <p:nvSpPr>
          <p:cNvPr id="3" name="Shape 1"/>
          <p:cNvSpPr/>
          <p:nvPr/>
        </p:nvSpPr>
        <p:spPr>
          <a:xfrm>
            <a:off x="649224" y="539496"/>
            <a:ext cx="219456" cy="219456"/>
          </a:xfrm>
          <a:prstGeom prst="ellipse">
            <a:avLst/>
          </a:prstGeom>
          <a:solidFill>
            <a:srgbClr val="E8963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VOCABULARY 1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New word: wake up</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Word · pronunciation · meaning · example · common mistake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1 — Present Simple &amp; Daily Routine</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11</a:t>
            </a:r>
            <a:endParaRPr lang="en-US" sz="1100" dirty="0"/>
          </a:p>
        </p:txBody>
      </p:sp>
      <p:sp>
        <p:nvSpPr>
          <p:cNvPr id="11" name="Shape 7"/>
          <p:cNvSpPr/>
          <p:nvPr/>
        </p:nvSpPr>
        <p:spPr>
          <a:xfrm>
            <a:off x="548640" y="1883664"/>
            <a:ext cx="4114800" cy="4059936"/>
          </a:xfrm>
          <a:prstGeom prst="roundRect">
            <a:avLst>
              <a:gd name="adj" fmla="val 3153"/>
            </a:avLst>
          </a:prstGeom>
          <a:solidFill>
            <a:srgbClr val="FDF3E7"/>
          </a:solidFill>
          <a:ln w="12700">
            <a:solidFill>
              <a:srgbClr val="E8963A"/>
            </a:solidFill>
            <a:prstDash val="solid"/>
          </a:ln>
        </p:spPr>
      </p:sp>
      <p:sp>
        <p:nvSpPr>
          <p:cNvPr id="12" name="Shape 8"/>
          <p:cNvSpPr/>
          <p:nvPr/>
        </p:nvSpPr>
        <p:spPr>
          <a:xfrm>
            <a:off x="1920240" y="2267712"/>
            <a:ext cx="1371600" cy="1371600"/>
          </a:xfrm>
          <a:prstGeom prst="ellipse">
            <a:avLst/>
          </a:prstGeom>
          <a:solidFill>
            <a:srgbClr val="E8963A"/>
          </a:solidFill>
          <a:ln/>
        </p:spPr>
      </p:sp>
      <p:pic>
        <p:nvPicPr>
          <p:cNvPr id="13" name="Image 1" descr="preencoded.png">    </p:cNvPr>
          <p:cNvPicPr>
            <a:picLocks noChangeAspect="1"/>
          </p:cNvPicPr>
          <p:nvPr/>
        </p:nvPicPr>
        <p:blipFill>
          <a:blip r:embed="rId2"/>
          <a:stretch>
            <a:fillRect/>
          </a:stretch>
        </p:blipFill>
        <p:spPr>
          <a:xfrm>
            <a:off x="2263140" y="2610612"/>
            <a:ext cx="685800" cy="685800"/>
          </a:xfrm>
          <a:prstGeom prst="rect">
            <a:avLst/>
          </a:prstGeom>
        </p:spPr>
      </p:pic>
      <p:sp>
        <p:nvSpPr>
          <p:cNvPr id="14" name="Text 9"/>
          <p:cNvSpPr txBox="1"/>
          <p:nvPr/>
        </p:nvSpPr>
        <p:spPr>
          <a:xfrm>
            <a:off x="731520" y="3858768"/>
            <a:ext cx="3749040" cy="749808"/>
          </a:xfrm>
          <a:prstGeom prst="rect">
            <a:avLst/>
          </a:prstGeom>
          <a:noFill/>
          <a:ln/>
        </p:spPr>
        <p:txBody>
          <a:bodyPr wrap="square" lIns="0" tIns="0" rIns="0" bIns="0" rtlCol="0" anchor="ctr"/>
          <a:lstStyle/>
          <a:p>
            <a:pPr algn="ctr" indent="0" marL="0">
              <a:buNone/>
            </a:pPr>
            <a:r>
              <a:rPr lang="en-US" sz="4900" b="1" dirty="0">
                <a:solidFill>
                  <a:srgbClr val="12211B"/>
                </a:solidFill>
                <a:latin typeface="Calibri" pitchFamily="34" charset="0"/>
                <a:ea typeface="Calibri" pitchFamily="34" charset="-122"/>
                <a:cs typeface="Calibri" pitchFamily="34" charset="-120"/>
              </a:rPr>
              <a:t>wake up</a:t>
            </a:r>
            <a:endParaRPr lang="en-US" sz="4900" dirty="0"/>
          </a:p>
        </p:txBody>
      </p:sp>
      <p:sp>
        <p:nvSpPr>
          <p:cNvPr id="15" name="Text 10"/>
          <p:cNvSpPr txBox="1"/>
          <p:nvPr/>
        </p:nvSpPr>
        <p:spPr>
          <a:xfrm>
            <a:off x="731520" y="4626864"/>
            <a:ext cx="3749040" cy="365760"/>
          </a:xfrm>
          <a:prstGeom prst="rect">
            <a:avLst/>
          </a:prstGeom>
          <a:noFill/>
          <a:ln/>
        </p:spPr>
        <p:txBody>
          <a:bodyPr wrap="square" lIns="0" tIns="0" rIns="0" bIns="0" rtlCol="0" anchor="ctr"/>
          <a:lstStyle/>
          <a:p>
            <a:pPr algn="ctr" indent="0" marL="0">
              <a:buNone/>
            </a:pPr>
            <a:r>
              <a:rPr lang="en-US" sz="2200" dirty="0">
                <a:solidFill>
                  <a:srgbClr val="7A4A0E"/>
                </a:solidFill>
                <a:latin typeface="Calibri" pitchFamily="34" charset="0"/>
                <a:ea typeface="Calibri" pitchFamily="34" charset="-122"/>
                <a:cs typeface="Calibri" pitchFamily="34" charset="-120"/>
              </a:rPr>
              <a:t>/weɪk ʌp/</a:t>
            </a:r>
            <a:endParaRPr lang="en-US" sz="2200" dirty="0"/>
          </a:p>
        </p:txBody>
      </p:sp>
      <p:sp>
        <p:nvSpPr>
          <p:cNvPr id="16" name="Text 11"/>
          <p:cNvSpPr txBox="1"/>
          <p:nvPr/>
        </p:nvSpPr>
        <p:spPr>
          <a:xfrm>
            <a:off x="731520" y="5010912"/>
            <a:ext cx="3749040" cy="274320"/>
          </a:xfrm>
          <a:prstGeom prst="rect">
            <a:avLst/>
          </a:prstGeom>
          <a:noFill/>
          <a:ln/>
        </p:spPr>
        <p:txBody>
          <a:bodyPr wrap="square" lIns="0" tIns="0" rIns="0" bIns="0" rtlCol="0" anchor="ctr"/>
          <a:lstStyle/>
          <a:p>
            <a:pPr algn="ctr" indent="0" marL="0">
              <a:buNone/>
            </a:pPr>
            <a:r>
              <a:rPr lang="en-US" sz="1300" i="1" dirty="0">
                <a:solidFill>
                  <a:srgbClr val="6B7C71"/>
                </a:solidFill>
                <a:latin typeface="Calibri" pitchFamily="34" charset="0"/>
                <a:ea typeface="Calibri" pitchFamily="34" charset="-122"/>
                <a:cs typeface="Calibri" pitchFamily="34" charset="-120"/>
              </a:rPr>
              <a:t>verb</a:t>
            </a:r>
            <a:endParaRPr lang="en-US" sz="1300" dirty="0"/>
          </a:p>
        </p:txBody>
      </p:sp>
      <p:sp>
        <p:nvSpPr>
          <p:cNvPr id="17" name="Shape 12"/>
          <p:cNvSpPr/>
          <p:nvPr/>
        </p:nvSpPr>
        <p:spPr>
          <a:xfrm>
            <a:off x="4937760" y="1883664"/>
            <a:ext cx="6705295" cy="960486"/>
          </a:xfrm>
          <a:prstGeom prst="roundRect">
            <a:avLst>
              <a:gd name="adj" fmla="val 13328"/>
            </a:avLst>
          </a:prstGeom>
          <a:solidFill>
            <a:srgbClr val="F6F9F7"/>
          </a:solidFill>
          <a:ln w="12700">
            <a:solidFill>
              <a:srgbClr val="E3E9E5"/>
            </a:solidFill>
            <a:prstDash val="solid"/>
          </a:ln>
        </p:spPr>
      </p:sp>
      <p:sp>
        <p:nvSpPr>
          <p:cNvPr id="18" name="Shape 13"/>
          <p:cNvSpPr/>
          <p:nvPr/>
        </p:nvSpPr>
        <p:spPr>
          <a:xfrm>
            <a:off x="5138928" y="2029968"/>
            <a:ext cx="310896" cy="310896"/>
          </a:xfrm>
          <a:prstGeom prst="ellipse">
            <a:avLst/>
          </a:prstGeom>
          <a:solidFill>
            <a:srgbClr val="E8963A"/>
          </a:solidFill>
          <a:ln/>
        </p:spPr>
      </p:sp>
      <p:pic>
        <p:nvPicPr>
          <p:cNvPr id="19" name="Image 2" descr="preencoded.png">    </p:cNvPr>
          <p:cNvPicPr>
            <a:picLocks noChangeAspect="1"/>
          </p:cNvPicPr>
          <p:nvPr/>
        </p:nvPicPr>
        <p:blipFill>
          <a:blip r:embed="rId3"/>
          <a:stretch>
            <a:fillRect/>
          </a:stretch>
        </p:blipFill>
        <p:spPr>
          <a:xfrm>
            <a:off x="5216652" y="2107692"/>
            <a:ext cx="155448" cy="155448"/>
          </a:xfrm>
          <a:prstGeom prst="rect">
            <a:avLst/>
          </a:prstGeom>
        </p:spPr>
      </p:pic>
      <p:sp>
        <p:nvSpPr>
          <p:cNvPr id="20" name="Text 14"/>
          <p:cNvSpPr txBox="1"/>
          <p:nvPr/>
        </p:nvSpPr>
        <p:spPr>
          <a:xfrm>
            <a:off x="5541264" y="2029968"/>
            <a:ext cx="5864047" cy="310896"/>
          </a:xfrm>
          <a:prstGeom prst="rect">
            <a:avLst/>
          </a:prstGeom>
          <a:noFill/>
          <a:ln/>
        </p:spPr>
        <p:txBody>
          <a:bodyPr wrap="square" lIns="0" tIns="0" rIns="0" bIns="0" rtlCol="0" anchor="ctr"/>
          <a:lstStyle/>
          <a:p>
            <a:pPr indent="0" marL="0">
              <a:buNone/>
            </a:pPr>
            <a:r>
              <a:rPr lang="en-US" sz="1150" b="1" spc="110" kern="0" dirty="0">
                <a:solidFill>
                  <a:srgbClr val="E8963A"/>
                </a:solidFill>
                <a:latin typeface="Calibri" pitchFamily="34" charset="0"/>
                <a:ea typeface="Calibri" pitchFamily="34" charset="-122"/>
                <a:cs typeface="Calibri" pitchFamily="34" charset="-120"/>
              </a:rPr>
              <a:t>MEANING</a:t>
            </a:r>
            <a:endParaRPr lang="en-US" sz="1150" dirty="0"/>
          </a:p>
        </p:txBody>
      </p:sp>
      <p:sp>
        <p:nvSpPr>
          <p:cNvPr id="21" name="Text 15"/>
          <p:cNvSpPr txBox="1"/>
          <p:nvPr/>
        </p:nvSpPr>
        <p:spPr>
          <a:xfrm>
            <a:off x="5157216" y="2395728"/>
            <a:ext cx="6266383" cy="302118"/>
          </a:xfrm>
          <a:prstGeom prst="rect">
            <a:avLst/>
          </a:prstGeom>
          <a:noFill/>
          <a:ln/>
        </p:spPr>
        <p:txBody>
          <a:bodyPr wrap="square" lIns="0" tIns="0" rIns="0" bIns="0" rtlCol="0" anchor="ctr"/>
          <a:lstStyle/>
          <a:p>
            <a:pPr indent="0" marL="0">
              <a:lnSpc>
                <a:spcPct val="106000"/>
              </a:lnSpc>
              <a:buNone/>
            </a:pPr>
            <a:r>
              <a:rPr lang="en-US" sz="1850" dirty="0">
                <a:solidFill>
                  <a:srgbClr val="12211B"/>
                </a:solidFill>
                <a:latin typeface="Calibri" pitchFamily="34" charset="0"/>
                <a:ea typeface="Calibri" pitchFamily="34" charset="-122"/>
                <a:cs typeface="Calibri" pitchFamily="34" charset="-120"/>
              </a:rPr>
              <a:t>To stop sleeping.</a:t>
            </a:r>
            <a:endParaRPr lang="en-US" sz="1850" dirty="0"/>
          </a:p>
        </p:txBody>
      </p:sp>
      <p:sp>
        <p:nvSpPr>
          <p:cNvPr id="22" name="Shape 16"/>
          <p:cNvSpPr/>
          <p:nvPr/>
        </p:nvSpPr>
        <p:spPr>
          <a:xfrm>
            <a:off x="4937760" y="3027030"/>
            <a:ext cx="6705295" cy="1108253"/>
          </a:xfrm>
          <a:prstGeom prst="roundRect">
            <a:avLst>
              <a:gd name="adj" fmla="val 11551"/>
            </a:avLst>
          </a:prstGeom>
          <a:solidFill>
            <a:srgbClr val="F6F9F7"/>
          </a:solidFill>
          <a:ln w="12700">
            <a:solidFill>
              <a:srgbClr val="E3E9E5"/>
            </a:solidFill>
            <a:prstDash val="solid"/>
          </a:ln>
        </p:spPr>
      </p:sp>
      <p:sp>
        <p:nvSpPr>
          <p:cNvPr id="23" name="Shape 17"/>
          <p:cNvSpPr/>
          <p:nvPr/>
        </p:nvSpPr>
        <p:spPr>
          <a:xfrm>
            <a:off x="5138928" y="3173334"/>
            <a:ext cx="310896" cy="310896"/>
          </a:xfrm>
          <a:prstGeom prst="ellipse">
            <a:avLst/>
          </a:prstGeom>
          <a:solidFill>
            <a:srgbClr val="0E7C5A"/>
          </a:solidFill>
          <a:ln/>
        </p:spPr>
      </p:sp>
      <p:pic>
        <p:nvPicPr>
          <p:cNvPr id="24" name="Image 3" descr="preencoded.png">    </p:cNvPr>
          <p:cNvPicPr>
            <a:picLocks noChangeAspect="1"/>
          </p:cNvPicPr>
          <p:nvPr/>
        </p:nvPicPr>
        <p:blipFill>
          <a:blip r:embed="rId4"/>
          <a:stretch>
            <a:fillRect/>
          </a:stretch>
        </p:blipFill>
        <p:spPr>
          <a:xfrm>
            <a:off x="5216652" y="3251058"/>
            <a:ext cx="155448" cy="155448"/>
          </a:xfrm>
          <a:prstGeom prst="rect">
            <a:avLst/>
          </a:prstGeom>
        </p:spPr>
      </p:pic>
      <p:sp>
        <p:nvSpPr>
          <p:cNvPr id="25" name="Text 18"/>
          <p:cNvSpPr txBox="1"/>
          <p:nvPr/>
        </p:nvSpPr>
        <p:spPr>
          <a:xfrm>
            <a:off x="5541264" y="3173334"/>
            <a:ext cx="5864047" cy="310896"/>
          </a:xfrm>
          <a:prstGeom prst="rect">
            <a:avLst/>
          </a:prstGeom>
          <a:noFill/>
          <a:ln/>
        </p:spPr>
        <p:txBody>
          <a:bodyPr wrap="square" lIns="0" tIns="0" rIns="0" bIns="0" rtlCol="0" anchor="ctr"/>
          <a:lstStyle/>
          <a:p>
            <a:pPr indent="0" marL="0">
              <a:buNone/>
            </a:pPr>
            <a:r>
              <a:rPr lang="en-US" sz="1150" b="1" spc="110" kern="0" dirty="0">
                <a:solidFill>
                  <a:srgbClr val="0E7C5A"/>
                </a:solidFill>
                <a:latin typeface="Calibri" pitchFamily="34" charset="0"/>
                <a:ea typeface="Calibri" pitchFamily="34" charset="-122"/>
                <a:cs typeface="Calibri" pitchFamily="34" charset="-120"/>
              </a:rPr>
              <a:t>EXAMPLE SENTENCE</a:t>
            </a:r>
            <a:endParaRPr lang="en-US" sz="1150" dirty="0"/>
          </a:p>
        </p:txBody>
      </p:sp>
      <p:sp>
        <p:nvSpPr>
          <p:cNvPr id="26" name="Text 19"/>
          <p:cNvSpPr txBox="1"/>
          <p:nvPr/>
        </p:nvSpPr>
        <p:spPr>
          <a:xfrm>
            <a:off x="5157216" y="3539094"/>
            <a:ext cx="6266383" cy="449885"/>
          </a:xfrm>
          <a:prstGeom prst="rect">
            <a:avLst/>
          </a:prstGeom>
          <a:noFill/>
          <a:ln/>
        </p:spPr>
        <p:txBody>
          <a:bodyPr wrap="square" lIns="0" tIns="0" rIns="0" bIns="0" rtlCol="0" anchor="ctr"/>
          <a:lstStyle/>
          <a:p>
            <a:pPr indent="0" marL="0">
              <a:lnSpc>
                <a:spcPct val="106000"/>
              </a:lnSpc>
              <a:buNone/>
            </a:pPr>
            <a:r>
              <a:rPr lang="en-US" sz="2400" b="1" dirty="0">
                <a:solidFill>
                  <a:srgbClr val="12211B"/>
                </a:solidFill>
                <a:latin typeface="Calibri" pitchFamily="34" charset="0"/>
                <a:ea typeface="Calibri" pitchFamily="34" charset="-122"/>
                <a:cs typeface="Calibri" pitchFamily="34" charset="-120"/>
              </a:rPr>
              <a:t>I wake up at six o'clock every day.</a:t>
            </a:r>
            <a:endParaRPr lang="en-US" sz="2400" dirty="0"/>
          </a:p>
        </p:txBody>
      </p:sp>
      <p:sp>
        <p:nvSpPr>
          <p:cNvPr id="27" name="Shape 20"/>
          <p:cNvSpPr/>
          <p:nvPr/>
        </p:nvSpPr>
        <p:spPr>
          <a:xfrm>
            <a:off x="4937760" y="4318163"/>
            <a:ext cx="6705295" cy="1625437"/>
          </a:xfrm>
          <a:prstGeom prst="roundRect">
            <a:avLst>
              <a:gd name="adj" fmla="val 7876"/>
            </a:avLst>
          </a:prstGeom>
          <a:solidFill>
            <a:srgbClr val="FBEAEA"/>
          </a:solidFill>
          <a:ln w="12700">
            <a:solidFill>
              <a:srgbClr val="E3E9E5"/>
            </a:solidFill>
            <a:prstDash val="solid"/>
          </a:ln>
        </p:spPr>
      </p:sp>
      <p:sp>
        <p:nvSpPr>
          <p:cNvPr id="28" name="Shape 21"/>
          <p:cNvSpPr/>
          <p:nvPr/>
        </p:nvSpPr>
        <p:spPr>
          <a:xfrm>
            <a:off x="5138928" y="4464467"/>
            <a:ext cx="310896" cy="310896"/>
          </a:xfrm>
          <a:prstGeom prst="ellipse">
            <a:avLst/>
          </a:prstGeom>
          <a:solidFill>
            <a:srgbClr val="D64545"/>
          </a:solidFill>
          <a:ln/>
        </p:spPr>
      </p:sp>
      <p:pic>
        <p:nvPicPr>
          <p:cNvPr id="29" name="Image 4" descr="preencoded.png">    </p:cNvPr>
          <p:cNvPicPr>
            <a:picLocks noChangeAspect="1"/>
          </p:cNvPicPr>
          <p:nvPr/>
        </p:nvPicPr>
        <p:blipFill>
          <a:blip r:embed="rId5"/>
          <a:stretch>
            <a:fillRect/>
          </a:stretch>
        </p:blipFill>
        <p:spPr>
          <a:xfrm>
            <a:off x="5216652" y="4542191"/>
            <a:ext cx="155448" cy="155448"/>
          </a:xfrm>
          <a:prstGeom prst="rect">
            <a:avLst/>
          </a:prstGeom>
        </p:spPr>
      </p:pic>
      <p:sp>
        <p:nvSpPr>
          <p:cNvPr id="30" name="Text 22"/>
          <p:cNvSpPr txBox="1"/>
          <p:nvPr/>
        </p:nvSpPr>
        <p:spPr>
          <a:xfrm>
            <a:off x="5541264" y="4464467"/>
            <a:ext cx="5864047" cy="310896"/>
          </a:xfrm>
          <a:prstGeom prst="rect">
            <a:avLst/>
          </a:prstGeom>
          <a:noFill/>
          <a:ln/>
        </p:spPr>
        <p:txBody>
          <a:bodyPr wrap="square" lIns="0" tIns="0" rIns="0" bIns="0" rtlCol="0" anchor="ctr"/>
          <a:lstStyle/>
          <a:p>
            <a:pPr indent="0" marL="0">
              <a:buNone/>
            </a:pPr>
            <a:r>
              <a:rPr lang="en-US" sz="1150" b="1" spc="110" kern="0" dirty="0">
                <a:solidFill>
                  <a:srgbClr val="D64545"/>
                </a:solidFill>
                <a:latin typeface="Calibri" pitchFamily="34" charset="0"/>
                <a:ea typeface="Calibri" pitchFamily="34" charset="-122"/>
                <a:cs typeface="Calibri" pitchFamily="34" charset="-120"/>
              </a:rPr>
              <a:t>COMMON MISTAKE</a:t>
            </a:r>
            <a:endParaRPr lang="en-US" sz="1150" dirty="0"/>
          </a:p>
        </p:txBody>
      </p:sp>
      <p:sp>
        <p:nvSpPr>
          <p:cNvPr id="31" name="Text 23"/>
          <p:cNvSpPr txBox="1"/>
          <p:nvPr/>
        </p:nvSpPr>
        <p:spPr>
          <a:xfrm>
            <a:off x="5157216" y="4830227"/>
            <a:ext cx="6266383" cy="967069"/>
          </a:xfrm>
          <a:prstGeom prst="rect">
            <a:avLst/>
          </a:prstGeom>
          <a:noFill/>
          <a:ln/>
        </p:spPr>
        <p:txBody>
          <a:bodyPr wrap="square" lIns="0" tIns="0" rIns="0" bIns="0" rtlCol="0" anchor="ctr"/>
          <a:lstStyle/>
          <a:p>
            <a:pPr indent="0" marL="0">
              <a:lnSpc>
                <a:spcPct val="106000"/>
              </a:lnSpc>
              <a:buNone/>
            </a:pPr>
            <a:r>
              <a:rPr lang="en-US" sz="1950" dirty="0">
                <a:solidFill>
                  <a:srgbClr val="12211B"/>
                </a:solidFill>
                <a:latin typeface="Calibri" pitchFamily="34" charset="0"/>
                <a:ea typeface="Calibri" pitchFamily="34" charset="-122"/>
                <a:cs typeface="Calibri" pitchFamily="34" charset="-120"/>
              </a:rPr>
              <a:t>It is two words and they stay together: “wake up”, not “wake”. And with he or she the -s goes on the FIRST word: “He wakes up”, never “He wake ups”.</a:t>
            </a:r>
            <a:endParaRPr lang="en-US" sz="1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E8963A"/>
          </a:solidFill>
          <a:ln/>
        </p:spPr>
      </p:sp>
      <p:sp>
        <p:nvSpPr>
          <p:cNvPr id="3" name="Shape 1"/>
          <p:cNvSpPr/>
          <p:nvPr/>
        </p:nvSpPr>
        <p:spPr>
          <a:xfrm>
            <a:off x="649224" y="539496"/>
            <a:ext cx="219456" cy="219456"/>
          </a:xfrm>
          <a:prstGeom prst="ellipse">
            <a:avLst/>
          </a:prstGeom>
          <a:solidFill>
            <a:srgbClr val="E8963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VOCABULARY 2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New word: breakfast</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Word · pronunciation · meaning · example · common mistake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1 — Present Simple &amp; Daily Routine</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12</a:t>
            </a:r>
            <a:endParaRPr lang="en-US" sz="1100" dirty="0"/>
          </a:p>
        </p:txBody>
      </p:sp>
      <p:sp>
        <p:nvSpPr>
          <p:cNvPr id="11" name="Shape 7"/>
          <p:cNvSpPr/>
          <p:nvPr/>
        </p:nvSpPr>
        <p:spPr>
          <a:xfrm>
            <a:off x="548640" y="1883664"/>
            <a:ext cx="4114800" cy="4059936"/>
          </a:xfrm>
          <a:prstGeom prst="roundRect">
            <a:avLst>
              <a:gd name="adj" fmla="val 3153"/>
            </a:avLst>
          </a:prstGeom>
          <a:solidFill>
            <a:srgbClr val="FDF3E7"/>
          </a:solidFill>
          <a:ln w="12700">
            <a:solidFill>
              <a:srgbClr val="E8963A"/>
            </a:solidFill>
            <a:prstDash val="solid"/>
          </a:ln>
        </p:spPr>
      </p:sp>
      <p:sp>
        <p:nvSpPr>
          <p:cNvPr id="12" name="Shape 8"/>
          <p:cNvSpPr/>
          <p:nvPr/>
        </p:nvSpPr>
        <p:spPr>
          <a:xfrm>
            <a:off x="1920240" y="2267712"/>
            <a:ext cx="1371600" cy="1371600"/>
          </a:xfrm>
          <a:prstGeom prst="ellipse">
            <a:avLst/>
          </a:prstGeom>
          <a:solidFill>
            <a:srgbClr val="E8963A"/>
          </a:solidFill>
          <a:ln/>
        </p:spPr>
      </p:sp>
      <p:pic>
        <p:nvPicPr>
          <p:cNvPr id="13" name="Image 1" descr="preencoded.png">    </p:cNvPr>
          <p:cNvPicPr>
            <a:picLocks noChangeAspect="1"/>
          </p:cNvPicPr>
          <p:nvPr/>
        </p:nvPicPr>
        <p:blipFill>
          <a:blip r:embed="rId2"/>
          <a:stretch>
            <a:fillRect/>
          </a:stretch>
        </p:blipFill>
        <p:spPr>
          <a:xfrm>
            <a:off x="2263140" y="2610612"/>
            <a:ext cx="685800" cy="685800"/>
          </a:xfrm>
          <a:prstGeom prst="rect">
            <a:avLst/>
          </a:prstGeom>
        </p:spPr>
      </p:pic>
      <p:sp>
        <p:nvSpPr>
          <p:cNvPr id="14" name="Text 9"/>
          <p:cNvSpPr txBox="1"/>
          <p:nvPr/>
        </p:nvSpPr>
        <p:spPr>
          <a:xfrm>
            <a:off x="731520" y="3858768"/>
            <a:ext cx="3749040" cy="749808"/>
          </a:xfrm>
          <a:prstGeom prst="rect">
            <a:avLst/>
          </a:prstGeom>
          <a:noFill/>
          <a:ln/>
        </p:spPr>
        <p:txBody>
          <a:bodyPr wrap="square" lIns="0" tIns="0" rIns="0" bIns="0" rtlCol="0" anchor="ctr"/>
          <a:lstStyle/>
          <a:p>
            <a:pPr algn="ctr" indent="0" marL="0">
              <a:buNone/>
            </a:pPr>
            <a:r>
              <a:rPr lang="en-US" sz="4900" b="1" dirty="0">
                <a:solidFill>
                  <a:srgbClr val="12211B"/>
                </a:solidFill>
                <a:latin typeface="Calibri" pitchFamily="34" charset="0"/>
                <a:ea typeface="Calibri" pitchFamily="34" charset="-122"/>
                <a:cs typeface="Calibri" pitchFamily="34" charset="-120"/>
              </a:rPr>
              <a:t>breakfast</a:t>
            </a:r>
            <a:endParaRPr lang="en-US" sz="4900" dirty="0"/>
          </a:p>
        </p:txBody>
      </p:sp>
      <p:sp>
        <p:nvSpPr>
          <p:cNvPr id="15" name="Text 10"/>
          <p:cNvSpPr txBox="1"/>
          <p:nvPr/>
        </p:nvSpPr>
        <p:spPr>
          <a:xfrm>
            <a:off x="731520" y="4626864"/>
            <a:ext cx="3749040" cy="365760"/>
          </a:xfrm>
          <a:prstGeom prst="rect">
            <a:avLst/>
          </a:prstGeom>
          <a:noFill/>
          <a:ln/>
        </p:spPr>
        <p:txBody>
          <a:bodyPr wrap="square" lIns="0" tIns="0" rIns="0" bIns="0" rtlCol="0" anchor="ctr"/>
          <a:lstStyle/>
          <a:p>
            <a:pPr algn="ctr" indent="0" marL="0">
              <a:buNone/>
            </a:pPr>
            <a:r>
              <a:rPr lang="en-US" sz="2200" dirty="0">
                <a:solidFill>
                  <a:srgbClr val="7A4A0E"/>
                </a:solidFill>
                <a:latin typeface="Calibri" pitchFamily="34" charset="0"/>
                <a:ea typeface="Calibri" pitchFamily="34" charset="-122"/>
                <a:cs typeface="Calibri" pitchFamily="34" charset="-120"/>
              </a:rPr>
              <a:t>/ˈbrekfəst/</a:t>
            </a:r>
            <a:endParaRPr lang="en-US" sz="2200" dirty="0"/>
          </a:p>
        </p:txBody>
      </p:sp>
      <p:sp>
        <p:nvSpPr>
          <p:cNvPr id="16" name="Text 11"/>
          <p:cNvSpPr txBox="1"/>
          <p:nvPr/>
        </p:nvSpPr>
        <p:spPr>
          <a:xfrm>
            <a:off x="731520" y="5010912"/>
            <a:ext cx="3749040" cy="274320"/>
          </a:xfrm>
          <a:prstGeom prst="rect">
            <a:avLst/>
          </a:prstGeom>
          <a:noFill/>
          <a:ln/>
        </p:spPr>
        <p:txBody>
          <a:bodyPr wrap="square" lIns="0" tIns="0" rIns="0" bIns="0" rtlCol="0" anchor="ctr"/>
          <a:lstStyle/>
          <a:p>
            <a:pPr algn="ctr" indent="0" marL="0">
              <a:buNone/>
            </a:pPr>
            <a:r>
              <a:rPr lang="en-US" sz="1300" i="1" dirty="0">
                <a:solidFill>
                  <a:srgbClr val="6B7C71"/>
                </a:solidFill>
                <a:latin typeface="Calibri" pitchFamily="34" charset="0"/>
                <a:ea typeface="Calibri" pitchFamily="34" charset="-122"/>
                <a:cs typeface="Calibri" pitchFamily="34" charset="-120"/>
              </a:rPr>
              <a:t>noun</a:t>
            </a:r>
            <a:endParaRPr lang="en-US" sz="1300" dirty="0"/>
          </a:p>
        </p:txBody>
      </p:sp>
      <p:sp>
        <p:nvSpPr>
          <p:cNvPr id="17" name="Shape 12"/>
          <p:cNvSpPr/>
          <p:nvPr/>
        </p:nvSpPr>
        <p:spPr>
          <a:xfrm>
            <a:off x="4937760" y="1883664"/>
            <a:ext cx="6705295" cy="960486"/>
          </a:xfrm>
          <a:prstGeom prst="roundRect">
            <a:avLst>
              <a:gd name="adj" fmla="val 13328"/>
            </a:avLst>
          </a:prstGeom>
          <a:solidFill>
            <a:srgbClr val="F6F9F7"/>
          </a:solidFill>
          <a:ln w="12700">
            <a:solidFill>
              <a:srgbClr val="E3E9E5"/>
            </a:solidFill>
            <a:prstDash val="solid"/>
          </a:ln>
        </p:spPr>
      </p:sp>
      <p:sp>
        <p:nvSpPr>
          <p:cNvPr id="18" name="Shape 13"/>
          <p:cNvSpPr/>
          <p:nvPr/>
        </p:nvSpPr>
        <p:spPr>
          <a:xfrm>
            <a:off x="5138928" y="2029968"/>
            <a:ext cx="310896" cy="310896"/>
          </a:xfrm>
          <a:prstGeom prst="ellipse">
            <a:avLst/>
          </a:prstGeom>
          <a:solidFill>
            <a:srgbClr val="E8963A"/>
          </a:solidFill>
          <a:ln/>
        </p:spPr>
      </p:sp>
      <p:pic>
        <p:nvPicPr>
          <p:cNvPr id="19" name="Image 2" descr="preencoded.png">    </p:cNvPr>
          <p:cNvPicPr>
            <a:picLocks noChangeAspect="1"/>
          </p:cNvPicPr>
          <p:nvPr/>
        </p:nvPicPr>
        <p:blipFill>
          <a:blip r:embed="rId3"/>
          <a:stretch>
            <a:fillRect/>
          </a:stretch>
        </p:blipFill>
        <p:spPr>
          <a:xfrm>
            <a:off x="5216652" y="2107692"/>
            <a:ext cx="155448" cy="155448"/>
          </a:xfrm>
          <a:prstGeom prst="rect">
            <a:avLst/>
          </a:prstGeom>
        </p:spPr>
      </p:pic>
      <p:sp>
        <p:nvSpPr>
          <p:cNvPr id="20" name="Text 14"/>
          <p:cNvSpPr txBox="1"/>
          <p:nvPr/>
        </p:nvSpPr>
        <p:spPr>
          <a:xfrm>
            <a:off x="5541264" y="2029968"/>
            <a:ext cx="5864047" cy="310896"/>
          </a:xfrm>
          <a:prstGeom prst="rect">
            <a:avLst/>
          </a:prstGeom>
          <a:noFill/>
          <a:ln/>
        </p:spPr>
        <p:txBody>
          <a:bodyPr wrap="square" lIns="0" tIns="0" rIns="0" bIns="0" rtlCol="0" anchor="ctr"/>
          <a:lstStyle/>
          <a:p>
            <a:pPr indent="0" marL="0">
              <a:buNone/>
            </a:pPr>
            <a:r>
              <a:rPr lang="en-US" sz="1150" b="1" spc="110" kern="0" dirty="0">
                <a:solidFill>
                  <a:srgbClr val="E8963A"/>
                </a:solidFill>
                <a:latin typeface="Calibri" pitchFamily="34" charset="0"/>
                <a:ea typeface="Calibri" pitchFamily="34" charset="-122"/>
                <a:cs typeface="Calibri" pitchFamily="34" charset="-120"/>
              </a:rPr>
              <a:t>MEANING</a:t>
            </a:r>
            <a:endParaRPr lang="en-US" sz="1150" dirty="0"/>
          </a:p>
        </p:txBody>
      </p:sp>
      <p:sp>
        <p:nvSpPr>
          <p:cNvPr id="21" name="Text 15"/>
          <p:cNvSpPr txBox="1"/>
          <p:nvPr/>
        </p:nvSpPr>
        <p:spPr>
          <a:xfrm>
            <a:off x="5157216" y="2395728"/>
            <a:ext cx="6266383" cy="302118"/>
          </a:xfrm>
          <a:prstGeom prst="rect">
            <a:avLst/>
          </a:prstGeom>
          <a:noFill/>
          <a:ln/>
        </p:spPr>
        <p:txBody>
          <a:bodyPr wrap="square" lIns="0" tIns="0" rIns="0" bIns="0" rtlCol="0" anchor="ctr"/>
          <a:lstStyle/>
          <a:p>
            <a:pPr indent="0" marL="0">
              <a:lnSpc>
                <a:spcPct val="106000"/>
              </a:lnSpc>
              <a:buNone/>
            </a:pPr>
            <a:r>
              <a:rPr lang="en-US" sz="1850" dirty="0">
                <a:solidFill>
                  <a:srgbClr val="12211B"/>
                </a:solidFill>
                <a:latin typeface="Calibri" pitchFamily="34" charset="0"/>
                <a:ea typeface="Calibri" pitchFamily="34" charset="-122"/>
                <a:cs typeface="Calibri" pitchFamily="34" charset="-120"/>
              </a:rPr>
              <a:t>The first meal of the day.</a:t>
            </a:r>
            <a:endParaRPr lang="en-US" sz="1850" dirty="0"/>
          </a:p>
        </p:txBody>
      </p:sp>
      <p:sp>
        <p:nvSpPr>
          <p:cNvPr id="22" name="Shape 16"/>
          <p:cNvSpPr/>
          <p:nvPr/>
        </p:nvSpPr>
        <p:spPr>
          <a:xfrm>
            <a:off x="4937760" y="3027030"/>
            <a:ext cx="6705295" cy="1108253"/>
          </a:xfrm>
          <a:prstGeom prst="roundRect">
            <a:avLst>
              <a:gd name="adj" fmla="val 11551"/>
            </a:avLst>
          </a:prstGeom>
          <a:solidFill>
            <a:srgbClr val="F6F9F7"/>
          </a:solidFill>
          <a:ln w="12700">
            <a:solidFill>
              <a:srgbClr val="E3E9E5"/>
            </a:solidFill>
            <a:prstDash val="solid"/>
          </a:ln>
        </p:spPr>
      </p:sp>
      <p:sp>
        <p:nvSpPr>
          <p:cNvPr id="23" name="Shape 17"/>
          <p:cNvSpPr/>
          <p:nvPr/>
        </p:nvSpPr>
        <p:spPr>
          <a:xfrm>
            <a:off x="5138928" y="3173334"/>
            <a:ext cx="310896" cy="310896"/>
          </a:xfrm>
          <a:prstGeom prst="ellipse">
            <a:avLst/>
          </a:prstGeom>
          <a:solidFill>
            <a:srgbClr val="0E7C5A"/>
          </a:solidFill>
          <a:ln/>
        </p:spPr>
      </p:sp>
      <p:pic>
        <p:nvPicPr>
          <p:cNvPr id="24" name="Image 3" descr="preencoded.png">    </p:cNvPr>
          <p:cNvPicPr>
            <a:picLocks noChangeAspect="1"/>
          </p:cNvPicPr>
          <p:nvPr/>
        </p:nvPicPr>
        <p:blipFill>
          <a:blip r:embed="rId4"/>
          <a:stretch>
            <a:fillRect/>
          </a:stretch>
        </p:blipFill>
        <p:spPr>
          <a:xfrm>
            <a:off x="5216652" y="3251058"/>
            <a:ext cx="155448" cy="155448"/>
          </a:xfrm>
          <a:prstGeom prst="rect">
            <a:avLst/>
          </a:prstGeom>
        </p:spPr>
      </p:pic>
      <p:sp>
        <p:nvSpPr>
          <p:cNvPr id="25" name="Text 18"/>
          <p:cNvSpPr txBox="1"/>
          <p:nvPr/>
        </p:nvSpPr>
        <p:spPr>
          <a:xfrm>
            <a:off x="5541264" y="3173334"/>
            <a:ext cx="5864047" cy="310896"/>
          </a:xfrm>
          <a:prstGeom prst="rect">
            <a:avLst/>
          </a:prstGeom>
          <a:noFill/>
          <a:ln/>
        </p:spPr>
        <p:txBody>
          <a:bodyPr wrap="square" lIns="0" tIns="0" rIns="0" bIns="0" rtlCol="0" anchor="ctr"/>
          <a:lstStyle/>
          <a:p>
            <a:pPr indent="0" marL="0">
              <a:buNone/>
            </a:pPr>
            <a:r>
              <a:rPr lang="en-US" sz="1150" b="1" spc="110" kern="0" dirty="0">
                <a:solidFill>
                  <a:srgbClr val="0E7C5A"/>
                </a:solidFill>
                <a:latin typeface="Calibri" pitchFamily="34" charset="0"/>
                <a:ea typeface="Calibri" pitchFamily="34" charset="-122"/>
                <a:cs typeface="Calibri" pitchFamily="34" charset="-120"/>
              </a:rPr>
              <a:t>EXAMPLE SENTENCE</a:t>
            </a:r>
            <a:endParaRPr lang="en-US" sz="1150" dirty="0"/>
          </a:p>
        </p:txBody>
      </p:sp>
      <p:sp>
        <p:nvSpPr>
          <p:cNvPr id="26" name="Text 19"/>
          <p:cNvSpPr txBox="1"/>
          <p:nvPr/>
        </p:nvSpPr>
        <p:spPr>
          <a:xfrm>
            <a:off x="5157216" y="3539094"/>
            <a:ext cx="6266383" cy="449885"/>
          </a:xfrm>
          <a:prstGeom prst="rect">
            <a:avLst/>
          </a:prstGeom>
          <a:noFill/>
          <a:ln/>
        </p:spPr>
        <p:txBody>
          <a:bodyPr wrap="square" lIns="0" tIns="0" rIns="0" bIns="0" rtlCol="0" anchor="ctr"/>
          <a:lstStyle/>
          <a:p>
            <a:pPr indent="0" marL="0">
              <a:lnSpc>
                <a:spcPct val="106000"/>
              </a:lnSpc>
              <a:buNone/>
            </a:pPr>
            <a:r>
              <a:rPr lang="en-US" sz="1800" b="1" dirty="0">
                <a:solidFill>
                  <a:srgbClr val="12211B"/>
                </a:solidFill>
                <a:latin typeface="Calibri" pitchFamily="34" charset="0"/>
                <a:ea typeface="Calibri" pitchFamily="34" charset="-122"/>
                <a:cs typeface="Calibri" pitchFamily="34" charset="-120"/>
              </a:rPr>
              <a:t>I have breakfast at seven. She eats breakfast at home.</a:t>
            </a:r>
            <a:endParaRPr lang="en-US" sz="1800" dirty="0"/>
          </a:p>
        </p:txBody>
      </p:sp>
      <p:sp>
        <p:nvSpPr>
          <p:cNvPr id="27" name="Shape 20"/>
          <p:cNvSpPr/>
          <p:nvPr/>
        </p:nvSpPr>
        <p:spPr>
          <a:xfrm>
            <a:off x="4937760" y="4318163"/>
            <a:ext cx="6705295" cy="1625437"/>
          </a:xfrm>
          <a:prstGeom prst="roundRect">
            <a:avLst>
              <a:gd name="adj" fmla="val 7876"/>
            </a:avLst>
          </a:prstGeom>
          <a:solidFill>
            <a:srgbClr val="FBEAEA"/>
          </a:solidFill>
          <a:ln w="12700">
            <a:solidFill>
              <a:srgbClr val="E3E9E5"/>
            </a:solidFill>
            <a:prstDash val="solid"/>
          </a:ln>
        </p:spPr>
      </p:sp>
      <p:sp>
        <p:nvSpPr>
          <p:cNvPr id="28" name="Shape 21"/>
          <p:cNvSpPr/>
          <p:nvPr/>
        </p:nvSpPr>
        <p:spPr>
          <a:xfrm>
            <a:off x="5138928" y="4464467"/>
            <a:ext cx="310896" cy="310896"/>
          </a:xfrm>
          <a:prstGeom prst="ellipse">
            <a:avLst/>
          </a:prstGeom>
          <a:solidFill>
            <a:srgbClr val="D64545"/>
          </a:solidFill>
          <a:ln/>
        </p:spPr>
      </p:sp>
      <p:pic>
        <p:nvPicPr>
          <p:cNvPr id="29" name="Image 4" descr="preencoded.png">    </p:cNvPr>
          <p:cNvPicPr>
            <a:picLocks noChangeAspect="1"/>
          </p:cNvPicPr>
          <p:nvPr/>
        </p:nvPicPr>
        <p:blipFill>
          <a:blip r:embed="rId5"/>
          <a:stretch>
            <a:fillRect/>
          </a:stretch>
        </p:blipFill>
        <p:spPr>
          <a:xfrm>
            <a:off x="5216652" y="4542191"/>
            <a:ext cx="155448" cy="155448"/>
          </a:xfrm>
          <a:prstGeom prst="rect">
            <a:avLst/>
          </a:prstGeom>
        </p:spPr>
      </p:pic>
      <p:sp>
        <p:nvSpPr>
          <p:cNvPr id="30" name="Text 22"/>
          <p:cNvSpPr txBox="1"/>
          <p:nvPr/>
        </p:nvSpPr>
        <p:spPr>
          <a:xfrm>
            <a:off x="5541264" y="4464467"/>
            <a:ext cx="5864047" cy="310896"/>
          </a:xfrm>
          <a:prstGeom prst="rect">
            <a:avLst/>
          </a:prstGeom>
          <a:noFill/>
          <a:ln/>
        </p:spPr>
        <p:txBody>
          <a:bodyPr wrap="square" lIns="0" tIns="0" rIns="0" bIns="0" rtlCol="0" anchor="ctr"/>
          <a:lstStyle/>
          <a:p>
            <a:pPr indent="0" marL="0">
              <a:buNone/>
            </a:pPr>
            <a:r>
              <a:rPr lang="en-US" sz="1150" b="1" spc="110" kern="0" dirty="0">
                <a:solidFill>
                  <a:srgbClr val="D64545"/>
                </a:solidFill>
                <a:latin typeface="Calibri" pitchFamily="34" charset="0"/>
                <a:ea typeface="Calibri" pitchFamily="34" charset="-122"/>
                <a:cs typeface="Calibri" pitchFamily="34" charset="-120"/>
              </a:rPr>
              <a:t>COMMON MISTAKE</a:t>
            </a:r>
            <a:endParaRPr lang="en-US" sz="1150" dirty="0"/>
          </a:p>
        </p:txBody>
      </p:sp>
      <p:sp>
        <p:nvSpPr>
          <p:cNvPr id="31" name="Text 23"/>
          <p:cNvSpPr txBox="1"/>
          <p:nvPr/>
        </p:nvSpPr>
        <p:spPr>
          <a:xfrm>
            <a:off x="5157216" y="4830227"/>
            <a:ext cx="6266383" cy="967069"/>
          </a:xfrm>
          <a:prstGeom prst="rect">
            <a:avLst/>
          </a:prstGeom>
          <a:noFill/>
          <a:ln/>
        </p:spPr>
        <p:txBody>
          <a:bodyPr wrap="square" lIns="0" tIns="0" rIns="0" bIns="0" rtlCol="0" anchor="ctr"/>
          <a:lstStyle/>
          <a:p>
            <a:pPr indent="0" marL="0">
              <a:lnSpc>
                <a:spcPct val="106000"/>
              </a:lnSpc>
              <a:buNone/>
            </a:pPr>
            <a:r>
              <a:rPr lang="en-US" sz="1750" dirty="0">
                <a:solidFill>
                  <a:srgbClr val="12211B"/>
                </a:solidFill>
                <a:latin typeface="Calibri" pitchFamily="34" charset="0"/>
                <a:ea typeface="Calibri" pitchFamily="34" charset="-122"/>
                <a:cs typeface="Calibri" pitchFamily="34" charset="-120"/>
              </a:rPr>
              <a:t>The stress is on the FIRST part: BREAK-fast. And you “have breakfast” or “eat breakfast” — never “drink breakfast” or “make breakfast at home” when you mean eat it.</a:t>
            </a:r>
            <a:endParaRPr lang="en-US" sz="17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E8963A"/>
          </a:solidFill>
          <a:ln/>
        </p:spPr>
      </p:sp>
      <p:sp>
        <p:nvSpPr>
          <p:cNvPr id="3" name="Shape 1"/>
          <p:cNvSpPr/>
          <p:nvPr/>
        </p:nvSpPr>
        <p:spPr>
          <a:xfrm>
            <a:off x="649224" y="539496"/>
            <a:ext cx="219456" cy="219456"/>
          </a:xfrm>
          <a:prstGeom prst="ellipse">
            <a:avLst/>
          </a:prstGeom>
          <a:solidFill>
            <a:srgbClr val="E8963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VOCABULARY 3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New word: usually</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Word · pronunciation · meaning · example · common mistake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1 — Present Simple &amp; Daily Routine</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13</a:t>
            </a:r>
            <a:endParaRPr lang="en-US" sz="1100" dirty="0"/>
          </a:p>
        </p:txBody>
      </p:sp>
      <p:sp>
        <p:nvSpPr>
          <p:cNvPr id="11" name="Shape 7"/>
          <p:cNvSpPr/>
          <p:nvPr/>
        </p:nvSpPr>
        <p:spPr>
          <a:xfrm>
            <a:off x="548640" y="1883664"/>
            <a:ext cx="4114800" cy="4059936"/>
          </a:xfrm>
          <a:prstGeom prst="roundRect">
            <a:avLst>
              <a:gd name="adj" fmla="val 3153"/>
            </a:avLst>
          </a:prstGeom>
          <a:solidFill>
            <a:srgbClr val="FDF3E7"/>
          </a:solidFill>
          <a:ln w="12700">
            <a:solidFill>
              <a:srgbClr val="E8963A"/>
            </a:solidFill>
            <a:prstDash val="solid"/>
          </a:ln>
        </p:spPr>
      </p:sp>
      <p:sp>
        <p:nvSpPr>
          <p:cNvPr id="12" name="Shape 8"/>
          <p:cNvSpPr/>
          <p:nvPr/>
        </p:nvSpPr>
        <p:spPr>
          <a:xfrm>
            <a:off x="1920240" y="2267712"/>
            <a:ext cx="1371600" cy="1371600"/>
          </a:xfrm>
          <a:prstGeom prst="ellipse">
            <a:avLst/>
          </a:prstGeom>
          <a:solidFill>
            <a:srgbClr val="E8963A"/>
          </a:solidFill>
          <a:ln/>
        </p:spPr>
      </p:sp>
      <p:pic>
        <p:nvPicPr>
          <p:cNvPr id="13" name="Image 1" descr="preencoded.png">    </p:cNvPr>
          <p:cNvPicPr>
            <a:picLocks noChangeAspect="1"/>
          </p:cNvPicPr>
          <p:nvPr/>
        </p:nvPicPr>
        <p:blipFill>
          <a:blip r:embed="rId2"/>
          <a:stretch>
            <a:fillRect/>
          </a:stretch>
        </p:blipFill>
        <p:spPr>
          <a:xfrm>
            <a:off x="2263140" y="2610612"/>
            <a:ext cx="685800" cy="685800"/>
          </a:xfrm>
          <a:prstGeom prst="rect">
            <a:avLst/>
          </a:prstGeom>
        </p:spPr>
      </p:pic>
      <p:sp>
        <p:nvSpPr>
          <p:cNvPr id="14" name="Text 9"/>
          <p:cNvSpPr txBox="1"/>
          <p:nvPr/>
        </p:nvSpPr>
        <p:spPr>
          <a:xfrm>
            <a:off x="731520" y="3858768"/>
            <a:ext cx="3749040" cy="749808"/>
          </a:xfrm>
          <a:prstGeom prst="rect">
            <a:avLst/>
          </a:prstGeom>
          <a:noFill/>
          <a:ln/>
        </p:spPr>
        <p:txBody>
          <a:bodyPr wrap="square" lIns="0" tIns="0" rIns="0" bIns="0" rtlCol="0" anchor="ctr"/>
          <a:lstStyle/>
          <a:p>
            <a:pPr algn="ctr" indent="0" marL="0">
              <a:buNone/>
            </a:pPr>
            <a:r>
              <a:rPr lang="en-US" sz="4900" b="1" dirty="0">
                <a:solidFill>
                  <a:srgbClr val="12211B"/>
                </a:solidFill>
                <a:latin typeface="Calibri" pitchFamily="34" charset="0"/>
                <a:ea typeface="Calibri" pitchFamily="34" charset="-122"/>
                <a:cs typeface="Calibri" pitchFamily="34" charset="-120"/>
              </a:rPr>
              <a:t>usually</a:t>
            </a:r>
            <a:endParaRPr lang="en-US" sz="4900" dirty="0"/>
          </a:p>
        </p:txBody>
      </p:sp>
      <p:sp>
        <p:nvSpPr>
          <p:cNvPr id="15" name="Text 10"/>
          <p:cNvSpPr txBox="1"/>
          <p:nvPr/>
        </p:nvSpPr>
        <p:spPr>
          <a:xfrm>
            <a:off x="731520" y="4626864"/>
            <a:ext cx="3749040" cy="365760"/>
          </a:xfrm>
          <a:prstGeom prst="rect">
            <a:avLst/>
          </a:prstGeom>
          <a:noFill/>
          <a:ln/>
        </p:spPr>
        <p:txBody>
          <a:bodyPr wrap="square" lIns="0" tIns="0" rIns="0" bIns="0" rtlCol="0" anchor="ctr"/>
          <a:lstStyle/>
          <a:p>
            <a:pPr algn="ctr" indent="0" marL="0">
              <a:buNone/>
            </a:pPr>
            <a:r>
              <a:rPr lang="en-US" sz="2200" dirty="0">
                <a:solidFill>
                  <a:srgbClr val="7A4A0E"/>
                </a:solidFill>
                <a:latin typeface="Calibri" pitchFamily="34" charset="0"/>
                <a:ea typeface="Calibri" pitchFamily="34" charset="-122"/>
                <a:cs typeface="Calibri" pitchFamily="34" charset="-120"/>
              </a:rPr>
              <a:t>/ˈjuːʒuəli/</a:t>
            </a:r>
            <a:endParaRPr lang="en-US" sz="2200" dirty="0"/>
          </a:p>
        </p:txBody>
      </p:sp>
      <p:sp>
        <p:nvSpPr>
          <p:cNvPr id="16" name="Text 11"/>
          <p:cNvSpPr txBox="1"/>
          <p:nvPr/>
        </p:nvSpPr>
        <p:spPr>
          <a:xfrm>
            <a:off x="731520" y="5010912"/>
            <a:ext cx="3749040" cy="274320"/>
          </a:xfrm>
          <a:prstGeom prst="rect">
            <a:avLst/>
          </a:prstGeom>
          <a:noFill/>
          <a:ln/>
        </p:spPr>
        <p:txBody>
          <a:bodyPr wrap="square" lIns="0" tIns="0" rIns="0" bIns="0" rtlCol="0" anchor="ctr"/>
          <a:lstStyle/>
          <a:p>
            <a:pPr algn="ctr" indent="0" marL="0">
              <a:buNone/>
            </a:pPr>
            <a:r>
              <a:rPr lang="en-US" sz="1300" i="1" dirty="0">
                <a:solidFill>
                  <a:srgbClr val="6B7C71"/>
                </a:solidFill>
                <a:latin typeface="Calibri" pitchFamily="34" charset="0"/>
                <a:ea typeface="Calibri" pitchFamily="34" charset="-122"/>
                <a:cs typeface="Calibri" pitchFamily="34" charset="-120"/>
              </a:rPr>
              <a:t>adverb</a:t>
            </a:r>
            <a:endParaRPr lang="en-US" sz="1300" dirty="0"/>
          </a:p>
        </p:txBody>
      </p:sp>
      <p:sp>
        <p:nvSpPr>
          <p:cNvPr id="17" name="Shape 12"/>
          <p:cNvSpPr/>
          <p:nvPr/>
        </p:nvSpPr>
        <p:spPr>
          <a:xfrm>
            <a:off x="4937760" y="1883664"/>
            <a:ext cx="6705295" cy="960486"/>
          </a:xfrm>
          <a:prstGeom prst="roundRect">
            <a:avLst>
              <a:gd name="adj" fmla="val 13328"/>
            </a:avLst>
          </a:prstGeom>
          <a:solidFill>
            <a:srgbClr val="F6F9F7"/>
          </a:solidFill>
          <a:ln w="12700">
            <a:solidFill>
              <a:srgbClr val="E3E9E5"/>
            </a:solidFill>
            <a:prstDash val="solid"/>
          </a:ln>
        </p:spPr>
      </p:sp>
      <p:sp>
        <p:nvSpPr>
          <p:cNvPr id="18" name="Shape 13"/>
          <p:cNvSpPr/>
          <p:nvPr/>
        </p:nvSpPr>
        <p:spPr>
          <a:xfrm>
            <a:off x="5138928" y="2029968"/>
            <a:ext cx="310896" cy="310896"/>
          </a:xfrm>
          <a:prstGeom prst="ellipse">
            <a:avLst/>
          </a:prstGeom>
          <a:solidFill>
            <a:srgbClr val="E8963A"/>
          </a:solidFill>
          <a:ln/>
        </p:spPr>
      </p:sp>
      <p:pic>
        <p:nvPicPr>
          <p:cNvPr id="19" name="Image 2" descr="preencoded.png">    </p:cNvPr>
          <p:cNvPicPr>
            <a:picLocks noChangeAspect="1"/>
          </p:cNvPicPr>
          <p:nvPr/>
        </p:nvPicPr>
        <p:blipFill>
          <a:blip r:embed="rId3"/>
          <a:stretch>
            <a:fillRect/>
          </a:stretch>
        </p:blipFill>
        <p:spPr>
          <a:xfrm>
            <a:off x="5216652" y="2107692"/>
            <a:ext cx="155448" cy="155448"/>
          </a:xfrm>
          <a:prstGeom prst="rect">
            <a:avLst/>
          </a:prstGeom>
        </p:spPr>
      </p:pic>
      <p:sp>
        <p:nvSpPr>
          <p:cNvPr id="20" name="Text 14"/>
          <p:cNvSpPr txBox="1"/>
          <p:nvPr/>
        </p:nvSpPr>
        <p:spPr>
          <a:xfrm>
            <a:off x="5541264" y="2029968"/>
            <a:ext cx="5864047" cy="310896"/>
          </a:xfrm>
          <a:prstGeom prst="rect">
            <a:avLst/>
          </a:prstGeom>
          <a:noFill/>
          <a:ln/>
        </p:spPr>
        <p:txBody>
          <a:bodyPr wrap="square" lIns="0" tIns="0" rIns="0" bIns="0" rtlCol="0" anchor="ctr"/>
          <a:lstStyle/>
          <a:p>
            <a:pPr indent="0" marL="0">
              <a:buNone/>
            </a:pPr>
            <a:r>
              <a:rPr lang="en-US" sz="1150" b="1" spc="110" kern="0" dirty="0">
                <a:solidFill>
                  <a:srgbClr val="E8963A"/>
                </a:solidFill>
                <a:latin typeface="Calibri" pitchFamily="34" charset="0"/>
                <a:ea typeface="Calibri" pitchFamily="34" charset="-122"/>
                <a:cs typeface="Calibri" pitchFamily="34" charset="-120"/>
              </a:rPr>
              <a:t>MEANING</a:t>
            </a:r>
            <a:endParaRPr lang="en-US" sz="1150" dirty="0"/>
          </a:p>
        </p:txBody>
      </p:sp>
      <p:sp>
        <p:nvSpPr>
          <p:cNvPr id="21" name="Text 15"/>
          <p:cNvSpPr txBox="1"/>
          <p:nvPr/>
        </p:nvSpPr>
        <p:spPr>
          <a:xfrm>
            <a:off x="5157216" y="2395728"/>
            <a:ext cx="6266383" cy="302118"/>
          </a:xfrm>
          <a:prstGeom prst="rect">
            <a:avLst/>
          </a:prstGeom>
          <a:noFill/>
          <a:ln/>
        </p:spPr>
        <p:txBody>
          <a:bodyPr wrap="square" lIns="0" tIns="0" rIns="0" bIns="0" rtlCol="0" anchor="ctr"/>
          <a:lstStyle/>
          <a:p>
            <a:pPr indent="0" marL="0">
              <a:lnSpc>
                <a:spcPct val="106000"/>
              </a:lnSpc>
              <a:buNone/>
            </a:pPr>
            <a:r>
              <a:rPr lang="en-US" sz="1850" dirty="0">
                <a:solidFill>
                  <a:srgbClr val="12211B"/>
                </a:solidFill>
                <a:latin typeface="Calibri" pitchFamily="34" charset="0"/>
                <a:ea typeface="Calibri" pitchFamily="34" charset="-122"/>
                <a:cs typeface="Calibri" pitchFamily="34" charset="-120"/>
              </a:rPr>
              <a:t>Most of the time, but not always.</a:t>
            </a:r>
            <a:endParaRPr lang="en-US" sz="1850" dirty="0"/>
          </a:p>
        </p:txBody>
      </p:sp>
      <p:sp>
        <p:nvSpPr>
          <p:cNvPr id="22" name="Shape 16"/>
          <p:cNvSpPr/>
          <p:nvPr/>
        </p:nvSpPr>
        <p:spPr>
          <a:xfrm>
            <a:off x="4937760" y="3027030"/>
            <a:ext cx="6705295" cy="1108253"/>
          </a:xfrm>
          <a:prstGeom prst="roundRect">
            <a:avLst>
              <a:gd name="adj" fmla="val 11551"/>
            </a:avLst>
          </a:prstGeom>
          <a:solidFill>
            <a:srgbClr val="F6F9F7"/>
          </a:solidFill>
          <a:ln w="12700">
            <a:solidFill>
              <a:srgbClr val="E3E9E5"/>
            </a:solidFill>
            <a:prstDash val="solid"/>
          </a:ln>
        </p:spPr>
      </p:sp>
      <p:sp>
        <p:nvSpPr>
          <p:cNvPr id="23" name="Shape 17"/>
          <p:cNvSpPr/>
          <p:nvPr/>
        </p:nvSpPr>
        <p:spPr>
          <a:xfrm>
            <a:off x="5138928" y="3173334"/>
            <a:ext cx="310896" cy="310896"/>
          </a:xfrm>
          <a:prstGeom prst="ellipse">
            <a:avLst/>
          </a:prstGeom>
          <a:solidFill>
            <a:srgbClr val="0E7C5A"/>
          </a:solidFill>
          <a:ln/>
        </p:spPr>
      </p:sp>
      <p:pic>
        <p:nvPicPr>
          <p:cNvPr id="24" name="Image 3" descr="preencoded.png">    </p:cNvPr>
          <p:cNvPicPr>
            <a:picLocks noChangeAspect="1"/>
          </p:cNvPicPr>
          <p:nvPr/>
        </p:nvPicPr>
        <p:blipFill>
          <a:blip r:embed="rId4"/>
          <a:stretch>
            <a:fillRect/>
          </a:stretch>
        </p:blipFill>
        <p:spPr>
          <a:xfrm>
            <a:off x="5216652" y="3251058"/>
            <a:ext cx="155448" cy="155448"/>
          </a:xfrm>
          <a:prstGeom prst="rect">
            <a:avLst/>
          </a:prstGeom>
        </p:spPr>
      </p:pic>
      <p:sp>
        <p:nvSpPr>
          <p:cNvPr id="25" name="Text 18"/>
          <p:cNvSpPr txBox="1"/>
          <p:nvPr/>
        </p:nvSpPr>
        <p:spPr>
          <a:xfrm>
            <a:off x="5541264" y="3173334"/>
            <a:ext cx="5864047" cy="310896"/>
          </a:xfrm>
          <a:prstGeom prst="rect">
            <a:avLst/>
          </a:prstGeom>
          <a:noFill/>
          <a:ln/>
        </p:spPr>
        <p:txBody>
          <a:bodyPr wrap="square" lIns="0" tIns="0" rIns="0" bIns="0" rtlCol="0" anchor="ctr"/>
          <a:lstStyle/>
          <a:p>
            <a:pPr indent="0" marL="0">
              <a:buNone/>
            </a:pPr>
            <a:r>
              <a:rPr lang="en-US" sz="1150" b="1" spc="110" kern="0" dirty="0">
                <a:solidFill>
                  <a:srgbClr val="0E7C5A"/>
                </a:solidFill>
                <a:latin typeface="Calibri" pitchFamily="34" charset="0"/>
                <a:ea typeface="Calibri" pitchFamily="34" charset="-122"/>
                <a:cs typeface="Calibri" pitchFamily="34" charset="-120"/>
              </a:rPr>
              <a:t>EXAMPLE SENTENCE</a:t>
            </a:r>
            <a:endParaRPr lang="en-US" sz="1150" dirty="0"/>
          </a:p>
        </p:txBody>
      </p:sp>
      <p:sp>
        <p:nvSpPr>
          <p:cNvPr id="26" name="Text 19"/>
          <p:cNvSpPr txBox="1"/>
          <p:nvPr/>
        </p:nvSpPr>
        <p:spPr>
          <a:xfrm>
            <a:off x="5157216" y="3539094"/>
            <a:ext cx="6266383" cy="449885"/>
          </a:xfrm>
          <a:prstGeom prst="rect">
            <a:avLst/>
          </a:prstGeom>
          <a:noFill/>
          <a:ln/>
        </p:spPr>
        <p:txBody>
          <a:bodyPr wrap="square" lIns="0" tIns="0" rIns="0" bIns="0" rtlCol="0" anchor="ctr"/>
          <a:lstStyle/>
          <a:p>
            <a:pPr indent="0" marL="0">
              <a:lnSpc>
                <a:spcPct val="106000"/>
              </a:lnSpc>
              <a:buNone/>
            </a:pPr>
            <a:r>
              <a:rPr lang="en-US" sz="1800" b="1" dirty="0">
                <a:solidFill>
                  <a:srgbClr val="12211B"/>
                </a:solidFill>
                <a:latin typeface="Calibri" pitchFamily="34" charset="0"/>
                <a:ea typeface="Calibri" pitchFamily="34" charset="-122"/>
                <a:cs typeface="Calibri" pitchFamily="34" charset="-120"/>
              </a:rPr>
              <a:t>I usually walk to work, but sometimes I take the bus.</a:t>
            </a:r>
            <a:endParaRPr lang="en-US" sz="1800" dirty="0"/>
          </a:p>
        </p:txBody>
      </p:sp>
      <p:sp>
        <p:nvSpPr>
          <p:cNvPr id="27" name="Shape 20"/>
          <p:cNvSpPr/>
          <p:nvPr/>
        </p:nvSpPr>
        <p:spPr>
          <a:xfrm>
            <a:off x="4937760" y="4318163"/>
            <a:ext cx="6705295" cy="1625437"/>
          </a:xfrm>
          <a:prstGeom prst="roundRect">
            <a:avLst>
              <a:gd name="adj" fmla="val 7876"/>
            </a:avLst>
          </a:prstGeom>
          <a:solidFill>
            <a:srgbClr val="FBEAEA"/>
          </a:solidFill>
          <a:ln w="12700">
            <a:solidFill>
              <a:srgbClr val="E3E9E5"/>
            </a:solidFill>
            <a:prstDash val="solid"/>
          </a:ln>
        </p:spPr>
      </p:sp>
      <p:sp>
        <p:nvSpPr>
          <p:cNvPr id="28" name="Shape 21"/>
          <p:cNvSpPr/>
          <p:nvPr/>
        </p:nvSpPr>
        <p:spPr>
          <a:xfrm>
            <a:off x="5138928" y="4464467"/>
            <a:ext cx="310896" cy="310896"/>
          </a:xfrm>
          <a:prstGeom prst="ellipse">
            <a:avLst/>
          </a:prstGeom>
          <a:solidFill>
            <a:srgbClr val="D64545"/>
          </a:solidFill>
          <a:ln/>
        </p:spPr>
      </p:sp>
      <p:pic>
        <p:nvPicPr>
          <p:cNvPr id="29" name="Image 4" descr="preencoded.png">    </p:cNvPr>
          <p:cNvPicPr>
            <a:picLocks noChangeAspect="1"/>
          </p:cNvPicPr>
          <p:nvPr/>
        </p:nvPicPr>
        <p:blipFill>
          <a:blip r:embed="rId5"/>
          <a:stretch>
            <a:fillRect/>
          </a:stretch>
        </p:blipFill>
        <p:spPr>
          <a:xfrm>
            <a:off x="5216652" y="4542191"/>
            <a:ext cx="155448" cy="155448"/>
          </a:xfrm>
          <a:prstGeom prst="rect">
            <a:avLst/>
          </a:prstGeom>
        </p:spPr>
      </p:pic>
      <p:sp>
        <p:nvSpPr>
          <p:cNvPr id="30" name="Text 22"/>
          <p:cNvSpPr txBox="1"/>
          <p:nvPr/>
        </p:nvSpPr>
        <p:spPr>
          <a:xfrm>
            <a:off x="5541264" y="4464467"/>
            <a:ext cx="5864047" cy="310896"/>
          </a:xfrm>
          <a:prstGeom prst="rect">
            <a:avLst/>
          </a:prstGeom>
          <a:noFill/>
          <a:ln/>
        </p:spPr>
        <p:txBody>
          <a:bodyPr wrap="square" lIns="0" tIns="0" rIns="0" bIns="0" rtlCol="0" anchor="ctr"/>
          <a:lstStyle/>
          <a:p>
            <a:pPr indent="0" marL="0">
              <a:buNone/>
            </a:pPr>
            <a:r>
              <a:rPr lang="en-US" sz="1150" b="1" spc="110" kern="0" dirty="0">
                <a:solidFill>
                  <a:srgbClr val="D64545"/>
                </a:solidFill>
                <a:latin typeface="Calibri" pitchFamily="34" charset="0"/>
                <a:ea typeface="Calibri" pitchFamily="34" charset="-122"/>
                <a:cs typeface="Calibri" pitchFamily="34" charset="-120"/>
              </a:rPr>
              <a:t>COMMON MISTAKE</a:t>
            </a:r>
            <a:endParaRPr lang="en-US" sz="1150" dirty="0"/>
          </a:p>
        </p:txBody>
      </p:sp>
      <p:sp>
        <p:nvSpPr>
          <p:cNvPr id="31" name="Text 23"/>
          <p:cNvSpPr txBox="1"/>
          <p:nvPr/>
        </p:nvSpPr>
        <p:spPr>
          <a:xfrm>
            <a:off x="5157216" y="4830227"/>
            <a:ext cx="6266383" cy="967069"/>
          </a:xfrm>
          <a:prstGeom prst="rect">
            <a:avLst/>
          </a:prstGeom>
          <a:noFill/>
          <a:ln/>
        </p:spPr>
        <p:txBody>
          <a:bodyPr wrap="square" lIns="0" tIns="0" rIns="0" bIns="0" rtlCol="0" anchor="ctr"/>
          <a:lstStyle/>
          <a:p>
            <a:pPr indent="0" marL="0">
              <a:lnSpc>
                <a:spcPct val="106000"/>
              </a:lnSpc>
              <a:buNone/>
            </a:pPr>
            <a:r>
              <a:rPr lang="en-US" sz="1950" dirty="0">
                <a:solidFill>
                  <a:srgbClr val="12211B"/>
                </a:solidFill>
                <a:latin typeface="Calibri" pitchFamily="34" charset="0"/>
                <a:ea typeface="Calibri" pitchFamily="34" charset="-122"/>
                <a:cs typeface="Calibri" pitchFamily="34" charset="-120"/>
              </a:rPr>
              <a:t>A long word — four syllables: U-SU-A-LLY. Stress on the first. And it goes BEFORE the verb: “I usually walk”, not “I walk usually”.</a:t>
            </a:r>
            <a:endParaRPr lang="en-US" sz="1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E8963A"/>
          </a:solidFill>
          <a:ln/>
        </p:spPr>
      </p:sp>
      <p:sp>
        <p:nvSpPr>
          <p:cNvPr id="3" name="Shape 1"/>
          <p:cNvSpPr/>
          <p:nvPr/>
        </p:nvSpPr>
        <p:spPr>
          <a:xfrm>
            <a:off x="649224" y="539496"/>
            <a:ext cx="219456" cy="219456"/>
          </a:xfrm>
          <a:prstGeom prst="ellipse">
            <a:avLst/>
          </a:prstGeom>
          <a:solidFill>
            <a:srgbClr val="E8963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VOCABULARY 4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New word: never</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Word · pronunciation · meaning · example · common mistake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1 — Present Simple &amp; Daily Routine</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14</a:t>
            </a:r>
            <a:endParaRPr lang="en-US" sz="1100" dirty="0"/>
          </a:p>
        </p:txBody>
      </p:sp>
      <p:sp>
        <p:nvSpPr>
          <p:cNvPr id="11" name="Shape 7"/>
          <p:cNvSpPr/>
          <p:nvPr/>
        </p:nvSpPr>
        <p:spPr>
          <a:xfrm>
            <a:off x="548640" y="1883664"/>
            <a:ext cx="4114800" cy="4059936"/>
          </a:xfrm>
          <a:prstGeom prst="roundRect">
            <a:avLst>
              <a:gd name="adj" fmla="val 3153"/>
            </a:avLst>
          </a:prstGeom>
          <a:solidFill>
            <a:srgbClr val="FDF3E7"/>
          </a:solidFill>
          <a:ln w="12700">
            <a:solidFill>
              <a:srgbClr val="E8963A"/>
            </a:solidFill>
            <a:prstDash val="solid"/>
          </a:ln>
        </p:spPr>
      </p:sp>
      <p:sp>
        <p:nvSpPr>
          <p:cNvPr id="12" name="Shape 8"/>
          <p:cNvSpPr/>
          <p:nvPr/>
        </p:nvSpPr>
        <p:spPr>
          <a:xfrm>
            <a:off x="1920240" y="2267712"/>
            <a:ext cx="1371600" cy="1371600"/>
          </a:xfrm>
          <a:prstGeom prst="ellipse">
            <a:avLst/>
          </a:prstGeom>
          <a:solidFill>
            <a:srgbClr val="E8963A"/>
          </a:solidFill>
          <a:ln/>
        </p:spPr>
      </p:sp>
      <p:pic>
        <p:nvPicPr>
          <p:cNvPr id="13" name="Image 1" descr="preencoded.png">    </p:cNvPr>
          <p:cNvPicPr>
            <a:picLocks noChangeAspect="1"/>
          </p:cNvPicPr>
          <p:nvPr/>
        </p:nvPicPr>
        <p:blipFill>
          <a:blip r:embed="rId2"/>
          <a:stretch>
            <a:fillRect/>
          </a:stretch>
        </p:blipFill>
        <p:spPr>
          <a:xfrm>
            <a:off x="2263140" y="2610612"/>
            <a:ext cx="685800" cy="685800"/>
          </a:xfrm>
          <a:prstGeom prst="rect">
            <a:avLst/>
          </a:prstGeom>
        </p:spPr>
      </p:pic>
      <p:sp>
        <p:nvSpPr>
          <p:cNvPr id="14" name="Text 9"/>
          <p:cNvSpPr txBox="1"/>
          <p:nvPr/>
        </p:nvSpPr>
        <p:spPr>
          <a:xfrm>
            <a:off x="731520" y="3858768"/>
            <a:ext cx="3749040" cy="749808"/>
          </a:xfrm>
          <a:prstGeom prst="rect">
            <a:avLst/>
          </a:prstGeom>
          <a:noFill/>
          <a:ln/>
        </p:spPr>
        <p:txBody>
          <a:bodyPr wrap="square" lIns="0" tIns="0" rIns="0" bIns="0" rtlCol="0" anchor="ctr"/>
          <a:lstStyle/>
          <a:p>
            <a:pPr algn="ctr" indent="0" marL="0">
              <a:buNone/>
            </a:pPr>
            <a:r>
              <a:rPr lang="en-US" sz="4900" b="1" dirty="0">
                <a:solidFill>
                  <a:srgbClr val="12211B"/>
                </a:solidFill>
                <a:latin typeface="Calibri" pitchFamily="34" charset="0"/>
                <a:ea typeface="Calibri" pitchFamily="34" charset="-122"/>
                <a:cs typeface="Calibri" pitchFamily="34" charset="-120"/>
              </a:rPr>
              <a:t>never</a:t>
            </a:r>
            <a:endParaRPr lang="en-US" sz="4900" dirty="0"/>
          </a:p>
        </p:txBody>
      </p:sp>
      <p:sp>
        <p:nvSpPr>
          <p:cNvPr id="15" name="Text 10"/>
          <p:cNvSpPr txBox="1"/>
          <p:nvPr/>
        </p:nvSpPr>
        <p:spPr>
          <a:xfrm>
            <a:off x="731520" y="4626864"/>
            <a:ext cx="3749040" cy="365760"/>
          </a:xfrm>
          <a:prstGeom prst="rect">
            <a:avLst/>
          </a:prstGeom>
          <a:noFill/>
          <a:ln/>
        </p:spPr>
        <p:txBody>
          <a:bodyPr wrap="square" lIns="0" tIns="0" rIns="0" bIns="0" rtlCol="0" anchor="ctr"/>
          <a:lstStyle/>
          <a:p>
            <a:pPr algn="ctr" indent="0" marL="0">
              <a:buNone/>
            </a:pPr>
            <a:r>
              <a:rPr lang="en-US" sz="2200" dirty="0">
                <a:solidFill>
                  <a:srgbClr val="7A4A0E"/>
                </a:solidFill>
                <a:latin typeface="Calibri" pitchFamily="34" charset="0"/>
                <a:ea typeface="Calibri" pitchFamily="34" charset="-122"/>
                <a:cs typeface="Calibri" pitchFamily="34" charset="-120"/>
              </a:rPr>
              <a:t>/ˈnevə/</a:t>
            </a:r>
            <a:endParaRPr lang="en-US" sz="2200" dirty="0"/>
          </a:p>
        </p:txBody>
      </p:sp>
      <p:sp>
        <p:nvSpPr>
          <p:cNvPr id="16" name="Text 11"/>
          <p:cNvSpPr txBox="1"/>
          <p:nvPr/>
        </p:nvSpPr>
        <p:spPr>
          <a:xfrm>
            <a:off x="731520" y="5010912"/>
            <a:ext cx="3749040" cy="274320"/>
          </a:xfrm>
          <a:prstGeom prst="rect">
            <a:avLst/>
          </a:prstGeom>
          <a:noFill/>
          <a:ln/>
        </p:spPr>
        <p:txBody>
          <a:bodyPr wrap="square" lIns="0" tIns="0" rIns="0" bIns="0" rtlCol="0" anchor="ctr"/>
          <a:lstStyle/>
          <a:p>
            <a:pPr algn="ctr" indent="0" marL="0">
              <a:buNone/>
            </a:pPr>
            <a:r>
              <a:rPr lang="en-US" sz="1300" i="1" dirty="0">
                <a:solidFill>
                  <a:srgbClr val="6B7C71"/>
                </a:solidFill>
                <a:latin typeface="Calibri" pitchFamily="34" charset="0"/>
                <a:ea typeface="Calibri" pitchFamily="34" charset="-122"/>
                <a:cs typeface="Calibri" pitchFamily="34" charset="-120"/>
              </a:rPr>
              <a:t>adverb</a:t>
            </a:r>
            <a:endParaRPr lang="en-US" sz="1300" dirty="0"/>
          </a:p>
        </p:txBody>
      </p:sp>
      <p:sp>
        <p:nvSpPr>
          <p:cNvPr id="17" name="Shape 12"/>
          <p:cNvSpPr/>
          <p:nvPr/>
        </p:nvSpPr>
        <p:spPr>
          <a:xfrm>
            <a:off x="4937760" y="1883664"/>
            <a:ext cx="6705295" cy="960486"/>
          </a:xfrm>
          <a:prstGeom prst="roundRect">
            <a:avLst>
              <a:gd name="adj" fmla="val 13328"/>
            </a:avLst>
          </a:prstGeom>
          <a:solidFill>
            <a:srgbClr val="F6F9F7"/>
          </a:solidFill>
          <a:ln w="12700">
            <a:solidFill>
              <a:srgbClr val="E3E9E5"/>
            </a:solidFill>
            <a:prstDash val="solid"/>
          </a:ln>
        </p:spPr>
      </p:sp>
      <p:sp>
        <p:nvSpPr>
          <p:cNvPr id="18" name="Shape 13"/>
          <p:cNvSpPr/>
          <p:nvPr/>
        </p:nvSpPr>
        <p:spPr>
          <a:xfrm>
            <a:off x="5138928" y="2029968"/>
            <a:ext cx="310896" cy="310896"/>
          </a:xfrm>
          <a:prstGeom prst="ellipse">
            <a:avLst/>
          </a:prstGeom>
          <a:solidFill>
            <a:srgbClr val="E8963A"/>
          </a:solidFill>
          <a:ln/>
        </p:spPr>
      </p:sp>
      <p:pic>
        <p:nvPicPr>
          <p:cNvPr id="19" name="Image 2" descr="preencoded.png">    </p:cNvPr>
          <p:cNvPicPr>
            <a:picLocks noChangeAspect="1"/>
          </p:cNvPicPr>
          <p:nvPr/>
        </p:nvPicPr>
        <p:blipFill>
          <a:blip r:embed="rId3"/>
          <a:stretch>
            <a:fillRect/>
          </a:stretch>
        </p:blipFill>
        <p:spPr>
          <a:xfrm>
            <a:off x="5216652" y="2107692"/>
            <a:ext cx="155448" cy="155448"/>
          </a:xfrm>
          <a:prstGeom prst="rect">
            <a:avLst/>
          </a:prstGeom>
        </p:spPr>
      </p:pic>
      <p:sp>
        <p:nvSpPr>
          <p:cNvPr id="20" name="Text 14"/>
          <p:cNvSpPr txBox="1"/>
          <p:nvPr/>
        </p:nvSpPr>
        <p:spPr>
          <a:xfrm>
            <a:off x="5541264" y="2029968"/>
            <a:ext cx="5864047" cy="310896"/>
          </a:xfrm>
          <a:prstGeom prst="rect">
            <a:avLst/>
          </a:prstGeom>
          <a:noFill/>
          <a:ln/>
        </p:spPr>
        <p:txBody>
          <a:bodyPr wrap="square" lIns="0" tIns="0" rIns="0" bIns="0" rtlCol="0" anchor="ctr"/>
          <a:lstStyle/>
          <a:p>
            <a:pPr indent="0" marL="0">
              <a:buNone/>
            </a:pPr>
            <a:r>
              <a:rPr lang="en-US" sz="1150" b="1" spc="110" kern="0" dirty="0">
                <a:solidFill>
                  <a:srgbClr val="E8963A"/>
                </a:solidFill>
                <a:latin typeface="Calibri" pitchFamily="34" charset="0"/>
                <a:ea typeface="Calibri" pitchFamily="34" charset="-122"/>
                <a:cs typeface="Calibri" pitchFamily="34" charset="-120"/>
              </a:rPr>
              <a:t>MEANING</a:t>
            </a:r>
            <a:endParaRPr lang="en-US" sz="1150" dirty="0"/>
          </a:p>
        </p:txBody>
      </p:sp>
      <p:sp>
        <p:nvSpPr>
          <p:cNvPr id="21" name="Text 15"/>
          <p:cNvSpPr txBox="1"/>
          <p:nvPr/>
        </p:nvSpPr>
        <p:spPr>
          <a:xfrm>
            <a:off x="5157216" y="2395728"/>
            <a:ext cx="6266383" cy="302118"/>
          </a:xfrm>
          <a:prstGeom prst="rect">
            <a:avLst/>
          </a:prstGeom>
          <a:noFill/>
          <a:ln/>
        </p:spPr>
        <p:txBody>
          <a:bodyPr wrap="square" lIns="0" tIns="0" rIns="0" bIns="0" rtlCol="0" anchor="ctr"/>
          <a:lstStyle/>
          <a:p>
            <a:pPr indent="0" marL="0">
              <a:lnSpc>
                <a:spcPct val="106000"/>
              </a:lnSpc>
              <a:buNone/>
            </a:pPr>
            <a:r>
              <a:rPr lang="en-US" sz="1850" dirty="0">
                <a:solidFill>
                  <a:srgbClr val="12211B"/>
                </a:solidFill>
                <a:latin typeface="Calibri" pitchFamily="34" charset="0"/>
                <a:ea typeface="Calibri" pitchFamily="34" charset="-122"/>
                <a:cs typeface="Calibri" pitchFamily="34" charset="-120"/>
              </a:rPr>
              <a:t>Not at any time. Zero times.</a:t>
            </a:r>
            <a:endParaRPr lang="en-US" sz="1850" dirty="0"/>
          </a:p>
        </p:txBody>
      </p:sp>
      <p:sp>
        <p:nvSpPr>
          <p:cNvPr id="22" name="Shape 16"/>
          <p:cNvSpPr/>
          <p:nvPr/>
        </p:nvSpPr>
        <p:spPr>
          <a:xfrm>
            <a:off x="4937760" y="3027030"/>
            <a:ext cx="6705295" cy="1108253"/>
          </a:xfrm>
          <a:prstGeom prst="roundRect">
            <a:avLst>
              <a:gd name="adj" fmla="val 11551"/>
            </a:avLst>
          </a:prstGeom>
          <a:solidFill>
            <a:srgbClr val="F6F9F7"/>
          </a:solidFill>
          <a:ln w="12700">
            <a:solidFill>
              <a:srgbClr val="E3E9E5"/>
            </a:solidFill>
            <a:prstDash val="solid"/>
          </a:ln>
        </p:spPr>
      </p:sp>
      <p:sp>
        <p:nvSpPr>
          <p:cNvPr id="23" name="Shape 17"/>
          <p:cNvSpPr/>
          <p:nvPr/>
        </p:nvSpPr>
        <p:spPr>
          <a:xfrm>
            <a:off x="5138928" y="3173334"/>
            <a:ext cx="310896" cy="310896"/>
          </a:xfrm>
          <a:prstGeom prst="ellipse">
            <a:avLst/>
          </a:prstGeom>
          <a:solidFill>
            <a:srgbClr val="0E7C5A"/>
          </a:solidFill>
          <a:ln/>
        </p:spPr>
      </p:sp>
      <p:pic>
        <p:nvPicPr>
          <p:cNvPr id="24" name="Image 3" descr="preencoded.png">    </p:cNvPr>
          <p:cNvPicPr>
            <a:picLocks noChangeAspect="1"/>
          </p:cNvPicPr>
          <p:nvPr/>
        </p:nvPicPr>
        <p:blipFill>
          <a:blip r:embed="rId4"/>
          <a:stretch>
            <a:fillRect/>
          </a:stretch>
        </p:blipFill>
        <p:spPr>
          <a:xfrm>
            <a:off x="5216652" y="3251058"/>
            <a:ext cx="155448" cy="155448"/>
          </a:xfrm>
          <a:prstGeom prst="rect">
            <a:avLst/>
          </a:prstGeom>
        </p:spPr>
      </p:pic>
      <p:sp>
        <p:nvSpPr>
          <p:cNvPr id="25" name="Text 18"/>
          <p:cNvSpPr txBox="1"/>
          <p:nvPr/>
        </p:nvSpPr>
        <p:spPr>
          <a:xfrm>
            <a:off x="5541264" y="3173334"/>
            <a:ext cx="5864047" cy="310896"/>
          </a:xfrm>
          <a:prstGeom prst="rect">
            <a:avLst/>
          </a:prstGeom>
          <a:noFill/>
          <a:ln/>
        </p:spPr>
        <p:txBody>
          <a:bodyPr wrap="square" lIns="0" tIns="0" rIns="0" bIns="0" rtlCol="0" anchor="ctr"/>
          <a:lstStyle/>
          <a:p>
            <a:pPr indent="0" marL="0">
              <a:buNone/>
            </a:pPr>
            <a:r>
              <a:rPr lang="en-US" sz="1150" b="1" spc="110" kern="0" dirty="0">
                <a:solidFill>
                  <a:srgbClr val="0E7C5A"/>
                </a:solidFill>
                <a:latin typeface="Calibri" pitchFamily="34" charset="0"/>
                <a:ea typeface="Calibri" pitchFamily="34" charset="-122"/>
                <a:cs typeface="Calibri" pitchFamily="34" charset="-120"/>
              </a:rPr>
              <a:t>EXAMPLE SENTENCE</a:t>
            </a:r>
            <a:endParaRPr lang="en-US" sz="1150" dirty="0"/>
          </a:p>
        </p:txBody>
      </p:sp>
      <p:sp>
        <p:nvSpPr>
          <p:cNvPr id="26" name="Text 19"/>
          <p:cNvSpPr txBox="1"/>
          <p:nvPr/>
        </p:nvSpPr>
        <p:spPr>
          <a:xfrm>
            <a:off x="5157216" y="3539094"/>
            <a:ext cx="6266383" cy="449885"/>
          </a:xfrm>
          <a:prstGeom prst="rect">
            <a:avLst/>
          </a:prstGeom>
          <a:noFill/>
          <a:ln/>
        </p:spPr>
        <p:txBody>
          <a:bodyPr wrap="square" lIns="0" tIns="0" rIns="0" bIns="0" rtlCol="0" anchor="ctr"/>
          <a:lstStyle/>
          <a:p>
            <a:pPr indent="0" marL="0">
              <a:lnSpc>
                <a:spcPct val="106000"/>
              </a:lnSpc>
              <a:buNone/>
            </a:pPr>
            <a:r>
              <a:rPr lang="en-US" sz="1850" b="1" dirty="0">
                <a:solidFill>
                  <a:srgbClr val="12211B"/>
                </a:solidFill>
                <a:latin typeface="Calibri" pitchFamily="34" charset="0"/>
                <a:ea typeface="Calibri" pitchFamily="34" charset="-122"/>
                <a:cs typeface="Calibri" pitchFamily="34" charset="-120"/>
              </a:rPr>
              <a:t>I never eat meat on Wednesday. She never comes late.</a:t>
            </a:r>
            <a:endParaRPr lang="en-US" sz="1850" dirty="0"/>
          </a:p>
        </p:txBody>
      </p:sp>
      <p:sp>
        <p:nvSpPr>
          <p:cNvPr id="27" name="Shape 20"/>
          <p:cNvSpPr/>
          <p:nvPr/>
        </p:nvSpPr>
        <p:spPr>
          <a:xfrm>
            <a:off x="4937760" y="4318163"/>
            <a:ext cx="6705295" cy="1625437"/>
          </a:xfrm>
          <a:prstGeom prst="roundRect">
            <a:avLst>
              <a:gd name="adj" fmla="val 7876"/>
            </a:avLst>
          </a:prstGeom>
          <a:solidFill>
            <a:srgbClr val="FBEAEA"/>
          </a:solidFill>
          <a:ln w="12700">
            <a:solidFill>
              <a:srgbClr val="E3E9E5"/>
            </a:solidFill>
            <a:prstDash val="solid"/>
          </a:ln>
        </p:spPr>
      </p:sp>
      <p:sp>
        <p:nvSpPr>
          <p:cNvPr id="28" name="Shape 21"/>
          <p:cNvSpPr/>
          <p:nvPr/>
        </p:nvSpPr>
        <p:spPr>
          <a:xfrm>
            <a:off x="5138928" y="4464467"/>
            <a:ext cx="310896" cy="310896"/>
          </a:xfrm>
          <a:prstGeom prst="ellipse">
            <a:avLst/>
          </a:prstGeom>
          <a:solidFill>
            <a:srgbClr val="D64545"/>
          </a:solidFill>
          <a:ln/>
        </p:spPr>
      </p:sp>
      <p:pic>
        <p:nvPicPr>
          <p:cNvPr id="29" name="Image 4" descr="preencoded.png">    </p:cNvPr>
          <p:cNvPicPr>
            <a:picLocks noChangeAspect="1"/>
          </p:cNvPicPr>
          <p:nvPr/>
        </p:nvPicPr>
        <p:blipFill>
          <a:blip r:embed="rId5"/>
          <a:stretch>
            <a:fillRect/>
          </a:stretch>
        </p:blipFill>
        <p:spPr>
          <a:xfrm>
            <a:off x="5216652" y="4542191"/>
            <a:ext cx="155448" cy="155448"/>
          </a:xfrm>
          <a:prstGeom prst="rect">
            <a:avLst/>
          </a:prstGeom>
        </p:spPr>
      </p:pic>
      <p:sp>
        <p:nvSpPr>
          <p:cNvPr id="30" name="Text 22"/>
          <p:cNvSpPr txBox="1"/>
          <p:nvPr/>
        </p:nvSpPr>
        <p:spPr>
          <a:xfrm>
            <a:off x="5541264" y="4464467"/>
            <a:ext cx="5864047" cy="310896"/>
          </a:xfrm>
          <a:prstGeom prst="rect">
            <a:avLst/>
          </a:prstGeom>
          <a:noFill/>
          <a:ln/>
        </p:spPr>
        <p:txBody>
          <a:bodyPr wrap="square" lIns="0" tIns="0" rIns="0" bIns="0" rtlCol="0" anchor="ctr"/>
          <a:lstStyle/>
          <a:p>
            <a:pPr indent="0" marL="0">
              <a:buNone/>
            </a:pPr>
            <a:r>
              <a:rPr lang="en-US" sz="1150" b="1" spc="110" kern="0" dirty="0">
                <a:solidFill>
                  <a:srgbClr val="D64545"/>
                </a:solidFill>
                <a:latin typeface="Calibri" pitchFamily="34" charset="0"/>
                <a:ea typeface="Calibri" pitchFamily="34" charset="-122"/>
                <a:cs typeface="Calibri" pitchFamily="34" charset="-120"/>
              </a:rPr>
              <a:t>COMMON MISTAKE</a:t>
            </a:r>
            <a:endParaRPr lang="en-US" sz="1150" dirty="0"/>
          </a:p>
        </p:txBody>
      </p:sp>
      <p:sp>
        <p:nvSpPr>
          <p:cNvPr id="31" name="Text 23"/>
          <p:cNvSpPr txBox="1"/>
          <p:nvPr/>
        </p:nvSpPr>
        <p:spPr>
          <a:xfrm>
            <a:off x="5157216" y="4830227"/>
            <a:ext cx="6266383" cy="967069"/>
          </a:xfrm>
          <a:prstGeom prst="rect">
            <a:avLst/>
          </a:prstGeom>
          <a:noFill/>
          <a:ln/>
        </p:spPr>
        <p:txBody>
          <a:bodyPr wrap="square" lIns="0" tIns="0" rIns="0" bIns="0" rtlCol="0" anchor="ctr"/>
          <a:lstStyle/>
          <a:p>
            <a:pPr indent="0" marL="0">
              <a:lnSpc>
                <a:spcPct val="106000"/>
              </a:lnSpc>
              <a:buNone/>
            </a:pPr>
            <a:r>
              <a:rPr lang="en-US" sz="1950" dirty="0">
                <a:solidFill>
                  <a:srgbClr val="12211B"/>
                </a:solidFill>
                <a:latin typeface="Calibri" pitchFamily="34" charset="0"/>
                <a:ea typeface="Calibri" pitchFamily="34" charset="-122"/>
                <a:cs typeface="Calibri" pitchFamily="34" charset="-120"/>
              </a:rPr>
              <a:t>“Never” is already negative, so do NOT add another negative: “I never eat”, never “I don't never eat”. And the verb keeps its -s: “She never comeS.”</a:t>
            </a:r>
            <a:endParaRPr lang="en-US" sz="1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E8963A"/>
          </a:solidFill>
          <a:ln/>
        </p:spPr>
      </p:sp>
      <p:sp>
        <p:nvSpPr>
          <p:cNvPr id="3" name="Shape 1"/>
          <p:cNvSpPr/>
          <p:nvPr/>
        </p:nvSpPr>
        <p:spPr>
          <a:xfrm>
            <a:off x="649224" y="539496"/>
            <a:ext cx="219456" cy="219456"/>
          </a:xfrm>
          <a:prstGeom prst="ellipse">
            <a:avLst/>
          </a:prstGeom>
          <a:solidFill>
            <a:srgbClr val="E8963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VOCABULARY 5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New word: finish</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Word · pronunciation · meaning · example · common mistake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1 — Present Simple &amp; Daily Routine</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15</a:t>
            </a:r>
            <a:endParaRPr lang="en-US" sz="1100" dirty="0"/>
          </a:p>
        </p:txBody>
      </p:sp>
      <p:sp>
        <p:nvSpPr>
          <p:cNvPr id="11" name="Shape 7"/>
          <p:cNvSpPr/>
          <p:nvPr/>
        </p:nvSpPr>
        <p:spPr>
          <a:xfrm>
            <a:off x="548640" y="1883664"/>
            <a:ext cx="4114800" cy="4059936"/>
          </a:xfrm>
          <a:prstGeom prst="roundRect">
            <a:avLst>
              <a:gd name="adj" fmla="val 3153"/>
            </a:avLst>
          </a:prstGeom>
          <a:solidFill>
            <a:srgbClr val="FDF3E7"/>
          </a:solidFill>
          <a:ln w="12700">
            <a:solidFill>
              <a:srgbClr val="E8963A"/>
            </a:solidFill>
            <a:prstDash val="solid"/>
          </a:ln>
        </p:spPr>
      </p:sp>
      <p:sp>
        <p:nvSpPr>
          <p:cNvPr id="12" name="Shape 8"/>
          <p:cNvSpPr/>
          <p:nvPr/>
        </p:nvSpPr>
        <p:spPr>
          <a:xfrm>
            <a:off x="1920240" y="2267712"/>
            <a:ext cx="1371600" cy="1371600"/>
          </a:xfrm>
          <a:prstGeom prst="ellipse">
            <a:avLst/>
          </a:prstGeom>
          <a:solidFill>
            <a:srgbClr val="E8963A"/>
          </a:solidFill>
          <a:ln/>
        </p:spPr>
      </p:sp>
      <p:pic>
        <p:nvPicPr>
          <p:cNvPr id="13" name="Image 1" descr="preencoded.png">    </p:cNvPr>
          <p:cNvPicPr>
            <a:picLocks noChangeAspect="1"/>
          </p:cNvPicPr>
          <p:nvPr/>
        </p:nvPicPr>
        <p:blipFill>
          <a:blip r:embed="rId2"/>
          <a:stretch>
            <a:fillRect/>
          </a:stretch>
        </p:blipFill>
        <p:spPr>
          <a:xfrm>
            <a:off x="2263140" y="2610612"/>
            <a:ext cx="685800" cy="685800"/>
          </a:xfrm>
          <a:prstGeom prst="rect">
            <a:avLst/>
          </a:prstGeom>
        </p:spPr>
      </p:pic>
      <p:sp>
        <p:nvSpPr>
          <p:cNvPr id="14" name="Text 9"/>
          <p:cNvSpPr txBox="1"/>
          <p:nvPr/>
        </p:nvSpPr>
        <p:spPr>
          <a:xfrm>
            <a:off x="731520" y="3858768"/>
            <a:ext cx="3749040" cy="749808"/>
          </a:xfrm>
          <a:prstGeom prst="rect">
            <a:avLst/>
          </a:prstGeom>
          <a:noFill/>
          <a:ln/>
        </p:spPr>
        <p:txBody>
          <a:bodyPr wrap="square" lIns="0" tIns="0" rIns="0" bIns="0" rtlCol="0" anchor="ctr"/>
          <a:lstStyle/>
          <a:p>
            <a:pPr algn="ctr" indent="0" marL="0">
              <a:buNone/>
            </a:pPr>
            <a:r>
              <a:rPr lang="en-US" sz="4900" b="1" dirty="0">
                <a:solidFill>
                  <a:srgbClr val="12211B"/>
                </a:solidFill>
                <a:latin typeface="Calibri" pitchFamily="34" charset="0"/>
                <a:ea typeface="Calibri" pitchFamily="34" charset="-122"/>
                <a:cs typeface="Calibri" pitchFamily="34" charset="-120"/>
              </a:rPr>
              <a:t>finish</a:t>
            </a:r>
            <a:endParaRPr lang="en-US" sz="4900" dirty="0"/>
          </a:p>
        </p:txBody>
      </p:sp>
      <p:sp>
        <p:nvSpPr>
          <p:cNvPr id="15" name="Text 10"/>
          <p:cNvSpPr txBox="1"/>
          <p:nvPr/>
        </p:nvSpPr>
        <p:spPr>
          <a:xfrm>
            <a:off x="731520" y="4626864"/>
            <a:ext cx="3749040" cy="365760"/>
          </a:xfrm>
          <a:prstGeom prst="rect">
            <a:avLst/>
          </a:prstGeom>
          <a:noFill/>
          <a:ln/>
        </p:spPr>
        <p:txBody>
          <a:bodyPr wrap="square" lIns="0" tIns="0" rIns="0" bIns="0" rtlCol="0" anchor="ctr"/>
          <a:lstStyle/>
          <a:p>
            <a:pPr algn="ctr" indent="0" marL="0">
              <a:buNone/>
            </a:pPr>
            <a:r>
              <a:rPr lang="en-US" sz="2200" dirty="0">
                <a:solidFill>
                  <a:srgbClr val="7A4A0E"/>
                </a:solidFill>
                <a:latin typeface="Calibri" pitchFamily="34" charset="0"/>
                <a:ea typeface="Calibri" pitchFamily="34" charset="-122"/>
                <a:cs typeface="Calibri" pitchFamily="34" charset="-120"/>
              </a:rPr>
              <a:t>/ˈfɪnɪʃ/</a:t>
            </a:r>
            <a:endParaRPr lang="en-US" sz="2200" dirty="0"/>
          </a:p>
        </p:txBody>
      </p:sp>
      <p:sp>
        <p:nvSpPr>
          <p:cNvPr id="16" name="Text 11"/>
          <p:cNvSpPr txBox="1"/>
          <p:nvPr/>
        </p:nvSpPr>
        <p:spPr>
          <a:xfrm>
            <a:off x="731520" y="5010912"/>
            <a:ext cx="3749040" cy="274320"/>
          </a:xfrm>
          <a:prstGeom prst="rect">
            <a:avLst/>
          </a:prstGeom>
          <a:noFill/>
          <a:ln/>
        </p:spPr>
        <p:txBody>
          <a:bodyPr wrap="square" lIns="0" tIns="0" rIns="0" bIns="0" rtlCol="0" anchor="ctr"/>
          <a:lstStyle/>
          <a:p>
            <a:pPr algn="ctr" indent="0" marL="0">
              <a:buNone/>
            </a:pPr>
            <a:r>
              <a:rPr lang="en-US" sz="1300" i="1" dirty="0">
                <a:solidFill>
                  <a:srgbClr val="6B7C71"/>
                </a:solidFill>
                <a:latin typeface="Calibri" pitchFamily="34" charset="0"/>
                <a:ea typeface="Calibri" pitchFamily="34" charset="-122"/>
                <a:cs typeface="Calibri" pitchFamily="34" charset="-120"/>
              </a:rPr>
              <a:t>verb</a:t>
            </a:r>
            <a:endParaRPr lang="en-US" sz="1300" dirty="0"/>
          </a:p>
        </p:txBody>
      </p:sp>
      <p:sp>
        <p:nvSpPr>
          <p:cNvPr id="17" name="Shape 12"/>
          <p:cNvSpPr/>
          <p:nvPr/>
        </p:nvSpPr>
        <p:spPr>
          <a:xfrm>
            <a:off x="4937760" y="1883664"/>
            <a:ext cx="6705295" cy="960486"/>
          </a:xfrm>
          <a:prstGeom prst="roundRect">
            <a:avLst>
              <a:gd name="adj" fmla="val 13328"/>
            </a:avLst>
          </a:prstGeom>
          <a:solidFill>
            <a:srgbClr val="F6F9F7"/>
          </a:solidFill>
          <a:ln w="12700">
            <a:solidFill>
              <a:srgbClr val="E3E9E5"/>
            </a:solidFill>
            <a:prstDash val="solid"/>
          </a:ln>
        </p:spPr>
      </p:sp>
      <p:sp>
        <p:nvSpPr>
          <p:cNvPr id="18" name="Shape 13"/>
          <p:cNvSpPr/>
          <p:nvPr/>
        </p:nvSpPr>
        <p:spPr>
          <a:xfrm>
            <a:off x="5138928" y="2029968"/>
            <a:ext cx="310896" cy="310896"/>
          </a:xfrm>
          <a:prstGeom prst="ellipse">
            <a:avLst/>
          </a:prstGeom>
          <a:solidFill>
            <a:srgbClr val="E8963A"/>
          </a:solidFill>
          <a:ln/>
        </p:spPr>
      </p:sp>
      <p:pic>
        <p:nvPicPr>
          <p:cNvPr id="19" name="Image 2" descr="preencoded.png">    </p:cNvPr>
          <p:cNvPicPr>
            <a:picLocks noChangeAspect="1"/>
          </p:cNvPicPr>
          <p:nvPr/>
        </p:nvPicPr>
        <p:blipFill>
          <a:blip r:embed="rId3"/>
          <a:stretch>
            <a:fillRect/>
          </a:stretch>
        </p:blipFill>
        <p:spPr>
          <a:xfrm>
            <a:off x="5216652" y="2107692"/>
            <a:ext cx="155448" cy="155448"/>
          </a:xfrm>
          <a:prstGeom prst="rect">
            <a:avLst/>
          </a:prstGeom>
        </p:spPr>
      </p:pic>
      <p:sp>
        <p:nvSpPr>
          <p:cNvPr id="20" name="Text 14"/>
          <p:cNvSpPr txBox="1"/>
          <p:nvPr/>
        </p:nvSpPr>
        <p:spPr>
          <a:xfrm>
            <a:off x="5541264" y="2029968"/>
            <a:ext cx="5864047" cy="310896"/>
          </a:xfrm>
          <a:prstGeom prst="rect">
            <a:avLst/>
          </a:prstGeom>
          <a:noFill/>
          <a:ln/>
        </p:spPr>
        <p:txBody>
          <a:bodyPr wrap="square" lIns="0" tIns="0" rIns="0" bIns="0" rtlCol="0" anchor="ctr"/>
          <a:lstStyle/>
          <a:p>
            <a:pPr indent="0" marL="0">
              <a:buNone/>
            </a:pPr>
            <a:r>
              <a:rPr lang="en-US" sz="1150" b="1" spc="110" kern="0" dirty="0">
                <a:solidFill>
                  <a:srgbClr val="E8963A"/>
                </a:solidFill>
                <a:latin typeface="Calibri" pitchFamily="34" charset="0"/>
                <a:ea typeface="Calibri" pitchFamily="34" charset="-122"/>
                <a:cs typeface="Calibri" pitchFamily="34" charset="-120"/>
              </a:rPr>
              <a:t>MEANING</a:t>
            </a:r>
            <a:endParaRPr lang="en-US" sz="1150" dirty="0"/>
          </a:p>
        </p:txBody>
      </p:sp>
      <p:sp>
        <p:nvSpPr>
          <p:cNvPr id="21" name="Text 15"/>
          <p:cNvSpPr txBox="1"/>
          <p:nvPr/>
        </p:nvSpPr>
        <p:spPr>
          <a:xfrm>
            <a:off x="5157216" y="2395728"/>
            <a:ext cx="6266383" cy="302118"/>
          </a:xfrm>
          <a:prstGeom prst="rect">
            <a:avLst/>
          </a:prstGeom>
          <a:noFill/>
          <a:ln/>
        </p:spPr>
        <p:txBody>
          <a:bodyPr wrap="square" lIns="0" tIns="0" rIns="0" bIns="0" rtlCol="0" anchor="ctr"/>
          <a:lstStyle/>
          <a:p>
            <a:pPr indent="0" marL="0">
              <a:lnSpc>
                <a:spcPct val="106000"/>
              </a:lnSpc>
              <a:buNone/>
            </a:pPr>
            <a:r>
              <a:rPr lang="en-US" sz="1850" dirty="0">
                <a:solidFill>
                  <a:srgbClr val="12211B"/>
                </a:solidFill>
                <a:latin typeface="Calibri" pitchFamily="34" charset="0"/>
                <a:ea typeface="Calibri" pitchFamily="34" charset="-122"/>
                <a:cs typeface="Calibri" pitchFamily="34" charset="-120"/>
              </a:rPr>
              <a:t>To come to the end of something.</a:t>
            </a:r>
            <a:endParaRPr lang="en-US" sz="1850" dirty="0"/>
          </a:p>
        </p:txBody>
      </p:sp>
      <p:sp>
        <p:nvSpPr>
          <p:cNvPr id="22" name="Shape 16"/>
          <p:cNvSpPr/>
          <p:nvPr/>
        </p:nvSpPr>
        <p:spPr>
          <a:xfrm>
            <a:off x="4937760" y="3027030"/>
            <a:ext cx="6705295" cy="1108253"/>
          </a:xfrm>
          <a:prstGeom prst="roundRect">
            <a:avLst>
              <a:gd name="adj" fmla="val 11551"/>
            </a:avLst>
          </a:prstGeom>
          <a:solidFill>
            <a:srgbClr val="F6F9F7"/>
          </a:solidFill>
          <a:ln w="12700">
            <a:solidFill>
              <a:srgbClr val="E3E9E5"/>
            </a:solidFill>
            <a:prstDash val="solid"/>
          </a:ln>
        </p:spPr>
      </p:sp>
      <p:sp>
        <p:nvSpPr>
          <p:cNvPr id="23" name="Shape 17"/>
          <p:cNvSpPr/>
          <p:nvPr/>
        </p:nvSpPr>
        <p:spPr>
          <a:xfrm>
            <a:off x="5138928" y="3173334"/>
            <a:ext cx="310896" cy="310896"/>
          </a:xfrm>
          <a:prstGeom prst="ellipse">
            <a:avLst/>
          </a:prstGeom>
          <a:solidFill>
            <a:srgbClr val="0E7C5A"/>
          </a:solidFill>
          <a:ln/>
        </p:spPr>
      </p:sp>
      <p:pic>
        <p:nvPicPr>
          <p:cNvPr id="24" name="Image 3" descr="preencoded.png">    </p:cNvPr>
          <p:cNvPicPr>
            <a:picLocks noChangeAspect="1"/>
          </p:cNvPicPr>
          <p:nvPr/>
        </p:nvPicPr>
        <p:blipFill>
          <a:blip r:embed="rId4"/>
          <a:stretch>
            <a:fillRect/>
          </a:stretch>
        </p:blipFill>
        <p:spPr>
          <a:xfrm>
            <a:off x="5216652" y="3251058"/>
            <a:ext cx="155448" cy="155448"/>
          </a:xfrm>
          <a:prstGeom prst="rect">
            <a:avLst/>
          </a:prstGeom>
        </p:spPr>
      </p:pic>
      <p:sp>
        <p:nvSpPr>
          <p:cNvPr id="25" name="Text 18"/>
          <p:cNvSpPr txBox="1"/>
          <p:nvPr/>
        </p:nvSpPr>
        <p:spPr>
          <a:xfrm>
            <a:off x="5541264" y="3173334"/>
            <a:ext cx="5864047" cy="310896"/>
          </a:xfrm>
          <a:prstGeom prst="rect">
            <a:avLst/>
          </a:prstGeom>
          <a:noFill/>
          <a:ln/>
        </p:spPr>
        <p:txBody>
          <a:bodyPr wrap="square" lIns="0" tIns="0" rIns="0" bIns="0" rtlCol="0" anchor="ctr"/>
          <a:lstStyle/>
          <a:p>
            <a:pPr indent="0" marL="0">
              <a:buNone/>
            </a:pPr>
            <a:r>
              <a:rPr lang="en-US" sz="1150" b="1" spc="110" kern="0" dirty="0">
                <a:solidFill>
                  <a:srgbClr val="0E7C5A"/>
                </a:solidFill>
                <a:latin typeface="Calibri" pitchFamily="34" charset="0"/>
                <a:ea typeface="Calibri" pitchFamily="34" charset="-122"/>
                <a:cs typeface="Calibri" pitchFamily="34" charset="-120"/>
              </a:rPr>
              <a:t>EXAMPLE SENTENCE</a:t>
            </a:r>
            <a:endParaRPr lang="en-US" sz="1150" dirty="0"/>
          </a:p>
        </p:txBody>
      </p:sp>
      <p:sp>
        <p:nvSpPr>
          <p:cNvPr id="26" name="Text 19"/>
          <p:cNvSpPr txBox="1"/>
          <p:nvPr/>
        </p:nvSpPr>
        <p:spPr>
          <a:xfrm>
            <a:off x="5157216" y="3539094"/>
            <a:ext cx="6266383" cy="449885"/>
          </a:xfrm>
          <a:prstGeom prst="rect">
            <a:avLst/>
          </a:prstGeom>
          <a:noFill/>
          <a:ln/>
        </p:spPr>
        <p:txBody>
          <a:bodyPr wrap="square" lIns="0" tIns="0" rIns="0" bIns="0" rtlCol="0" anchor="ctr"/>
          <a:lstStyle/>
          <a:p>
            <a:pPr indent="0" marL="0">
              <a:lnSpc>
                <a:spcPct val="106000"/>
              </a:lnSpc>
              <a:buNone/>
            </a:pPr>
            <a:r>
              <a:rPr lang="en-US" sz="1850" b="1" dirty="0">
                <a:solidFill>
                  <a:srgbClr val="12211B"/>
                </a:solidFill>
                <a:latin typeface="Calibri" pitchFamily="34" charset="0"/>
                <a:ea typeface="Calibri" pitchFamily="34" charset="-122"/>
                <a:cs typeface="Calibri" pitchFamily="34" charset="-120"/>
              </a:rPr>
              <a:t>I finish work at five. She finishes school at three.</a:t>
            </a:r>
            <a:endParaRPr lang="en-US" sz="1850" dirty="0"/>
          </a:p>
        </p:txBody>
      </p:sp>
      <p:sp>
        <p:nvSpPr>
          <p:cNvPr id="27" name="Shape 20"/>
          <p:cNvSpPr/>
          <p:nvPr/>
        </p:nvSpPr>
        <p:spPr>
          <a:xfrm>
            <a:off x="4937760" y="4318163"/>
            <a:ext cx="6705295" cy="1625437"/>
          </a:xfrm>
          <a:prstGeom prst="roundRect">
            <a:avLst>
              <a:gd name="adj" fmla="val 7876"/>
            </a:avLst>
          </a:prstGeom>
          <a:solidFill>
            <a:srgbClr val="FBEAEA"/>
          </a:solidFill>
          <a:ln w="12700">
            <a:solidFill>
              <a:srgbClr val="E3E9E5"/>
            </a:solidFill>
            <a:prstDash val="solid"/>
          </a:ln>
        </p:spPr>
      </p:sp>
      <p:sp>
        <p:nvSpPr>
          <p:cNvPr id="28" name="Shape 21"/>
          <p:cNvSpPr/>
          <p:nvPr/>
        </p:nvSpPr>
        <p:spPr>
          <a:xfrm>
            <a:off x="5138928" y="4464467"/>
            <a:ext cx="310896" cy="310896"/>
          </a:xfrm>
          <a:prstGeom prst="ellipse">
            <a:avLst/>
          </a:prstGeom>
          <a:solidFill>
            <a:srgbClr val="D64545"/>
          </a:solidFill>
          <a:ln/>
        </p:spPr>
      </p:sp>
      <p:pic>
        <p:nvPicPr>
          <p:cNvPr id="29" name="Image 4" descr="preencoded.png">    </p:cNvPr>
          <p:cNvPicPr>
            <a:picLocks noChangeAspect="1"/>
          </p:cNvPicPr>
          <p:nvPr/>
        </p:nvPicPr>
        <p:blipFill>
          <a:blip r:embed="rId5"/>
          <a:stretch>
            <a:fillRect/>
          </a:stretch>
        </p:blipFill>
        <p:spPr>
          <a:xfrm>
            <a:off x="5216652" y="4542191"/>
            <a:ext cx="155448" cy="155448"/>
          </a:xfrm>
          <a:prstGeom prst="rect">
            <a:avLst/>
          </a:prstGeom>
        </p:spPr>
      </p:pic>
      <p:sp>
        <p:nvSpPr>
          <p:cNvPr id="30" name="Text 22"/>
          <p:cNvSpPr txBox="1"/>
          <p:nvPr/>
        </p:nvSpPr>
        <p:spPr>
          <a:xfrm>
            <a:off x="5541264" y="4464467"/>
            <a:ext cx="5864047" cy="310896"/>
          </a:xfrm>
          <a:prstGeom prst="rect">
            <a:avLst/>
          </a:prstGeom>
          <a:noFill/>
          <a:ln/>
        </p:spPr>
        <p:txBody>
          <a:bodyPr wrap="square" lIns="0" tIns="0" rIns="0" bIns="0" rtlCol="0" anchor="ctr"/>
          <a:lstStyle/>
          <a:p>
            <a:pPr indent="0" marL="0">
              <a:buNone/>
            </a:pPr>
            <a:r>
              <a:rPr lang="en-US" sz="1150" b="1" spc="110" kern="0" dirty="0">
                <a:solidFill>
                  <a:srgbClr val="D64545"/>
                </a:solidFill>
                <a:latin typeface="Calibri" pitchFamily="34" charset="0"/>
                <a:ea typeface="Calibri" pitchFamily="34" charset="-122"/>
                <a:cs typeface="Calibri" pitchFamily="34" charset="-120"/>
              </a:rPr>
              <a:t>COMMON MISTAKE</a:t>
            </a:r>
            <a:endParaRPr lang="en-US" sz="1150" dirty="0"/>
          </a:p>
        </p:txBody>
      </p:sp>
      <p:sp>
        <p:nvSpPr>
          <p:cNvPr id="31" name="Text 23"/>
          <p:cNvSpPr txBox="1"/>
          <p:nvPr/>
        </p:nvSpPr>
        <p:spPr>
          <a:xfrm>
            <a:off x="5157216" y="4830227"/>
            <a:ext cx="6266383" cy="967069"/>
          </a:xfrm>
          <a:prstGeom prst="rect">
            <a:avLst/>
          </a:prstGeom>
          <a:noFill/>
          <a:ln/>
        </p:spPr>
        <p:txBody>
          <a:bodyPr wrap="square" lIns="0" tIns="0" rIns="0" bIns="0" rtlCol="0" anchor="ctr"/>
          <a:lstStyle/>
          <a:p>
            <a:pPr indent="0" marL="0">
              <a:lnSpc>
                <a:spcPct val="106000"/>
              </a:lnSpc>
              <a:buNone/>
            </a:pPr>
            <a:r>
              <a:rPr lang="en-US" sz="1950" dirty="0">
                <a:solidFill>
                  <a:srgbClr val="12211B"/>
                </a:solidFill>
                <a:latin typeface="Calibri" pitchFamily="34" charset="0"/>
                <a:ea typeface="Calibri" pitchFamily="34" charset="-122"/>
                <a:cs typeface="Calibri" pitchFamily="34" charset="-120"/>
              </a:rPr>
              <a:t>It ends in “sh”, so the third person adds -ES and an extra syllable: “finishes” — three syllables, not two. Say it slowly.</a:t>
            </a:r>
            <a:endParaRPr lang="en-US" sz="1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3F5BD9"/>
          </a:solidFill>
          <a:ln/>
        </p:spPr>
      </p:sp>
      <p:sp>
        <p:nvSpPr>
          <p:cNvPr id="3" name="Shape 1"/>
          <p:cNvSpPr/>
          <p:nvPr/>
        </p:nvSpPr>
        <p:spPr>
          <a:xfrm>
            <a:off x="649224" y="539496"/>
            <a:ext cx="219456" cy="219456"/>
          </a:xfrm>
          <a:prstGeom prst="ellipse">
            <a:avLst/>
          </a:prstGeom>
          <a:solidFill>
            <a:srgbClr val="3F5BD9"/>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GRAMMAR 1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Rule 1 — add -s for he, she and it</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Only these three. Everything else uses the base verb.</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1 — Present Simple &amp; Daily Routine</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16</a:t>
            </a:r>
            <a:endParaRPr lang="en-US" sz="1100" dirty="0"/>
          </a:p>
        </p:txBody>
      </p:sp>
      <p:sp>
        <p:nvSpPr>
          <p:cNvPr id="11" name="Shape 7"/>
          <p:cNvSpPr/>
          <p:nvPr/>
        </p:nvSpPr>
        <p:spPr>
          <a:xfrm>
            <a:off x="548640" y="1883664"/>
            <a:ext cx="5410048" cy="3273552"/>
          </a:xfrm>
          <a:prstGeom prst="roundRect">
            <a:avLst>
              <a:gd name="adj" fmla="val 3911"/>
            </a:avLst>
          </a:prstGeom>
          <a:solidFill>
            <a:srgbClr val="E6F5EC"/>
          </a:solidFill>
          <a:ln w="15875">
            <a:solidFill>
              <a:srgbClr val="2E9E5B"/>
            </a:solidFill>
            <a:prstDash val="solid"/>
          </a:ln>
        </p:spPr>
      </p:sp>
      <p:sp>
        <p:nvSpPr>
          <p:cNvPr id="12" name="Shape 8"/>
          <p:cNvSpPr/>
          <p:nvPr/>
        </p:nvSpPr>
        <p:spPr>
          <a:xfrm>
            <a:off x="786384" y="2103120"/>
            <a:ext cx="420624" cy="420624"/>
          </a:xfrm>
          <a:prstGeom prst="ellipse">
            <a:avLst/>
          </a:prstGeom>
          <a:solidFill>
            <a:srgbClr val="2E9E5B"/>
          </a:solidFill>
          <a:ln/>
        </p:spPr>
      </p:sp>
      <p:pic>
        <p:nvPicPr>
          <p:cNvPr id="13" name="Image 1" descr="preencoded.png">    </p:cNvPr>
          <p:cNvPicPr>
            <a:picLocks noChangeAspect="1"/>
          </p:cNvPicPr>
          <p:nvPr/>
        </p:nvPicPr>
        <p:blipFill>
          <a:blip r:embed="rId2"/>
          <a:stretch>
            <a:fillRect/>
          </a:stretch>
        </p:blipFill>
        <p:spPr>
          <a:xfrm>
            <a:off x="891540" y="2208276"/>
            <a:ext cx="210312" cy="210312"/>
          </a:xfrm>
          <a:prstGeom prst="rect">
            <a:avLst/>
          </a:prstGeom>
        </p:spPr>
      </p:pic>
      <p:sp>
        <p:nvSpPr>
          <p:cNvPr id="14" name="Text 9"/>
          <p:cNvSpPr txBox="1"/>
          <p:nvPr/>
        </p:nvSpPr>
        <p:spPr>
          <a:xfrm>
            <a:off x="1335024" y="2103120"/>
            <a:ext cx="4404208" cy="420624"/>
          </a:xfrm>
          <a:prstGeom prst="rect">
            <a:avLst/>
          </a:prstGeom>
          <a:noFill/>
          <a:ln/>
        </p:spPr>
        <p:txBody>
          <a:bodyPr wrap="square" lIns="0" tIns="0" rIns="0" bIns="0" rtlCol="0" anchor="ctr"/>
          <a:lstStyle/>
          <a:p>
            <a:pPr indent="0" marL="0">
              <a:buNone/>
            </a:pPr>
            <a:r>
              <a:rPr lang="en-US" sz="2000" b="1" dirty="0">
                <a:solidFill>
                  <a:srgbClr val="2E9E5B"/>
                </a:solidFill>
                <a:latin typeface="Calibri" pitchFamily="34" charset="0"/>
                <a:ea typeface="Calibri" pitchFamily="34" charset="-122"/>
                <a:cs typeface="Calibri" pitchFamily="34" charset="-120"/>
              </a:rPr>
              <a:t>Correct</a:t>
            </a:r>
            <a:endParaRPr lang="en-US" sz="2000" dirty="0"/>
          </a:p>
        </p:txBody>
      </p:sp>
      <p:sp>
        <p:nvSpPr>
          <p:cNvPr id="15" name="Text 10"/>
          <p:cNvSpPr/>
          <p:nvPr/>
        </p:nvSpPr>
        <p:spPr>
          <a:xfrm>
            <a:off x="822960" y="2724912"/>
            <a:ext cx="4861408" cy="2212848"/>
          </a:xfrm>
          <a:prstGeom prst="rect">
            <a:avLst/>
          </a:prstGeom>
          <a:noFill/>
          <a:ln/>
        </p:spPr>
        <p:txBody>
          <a:bodyPr wrap="square" lIns="0" tIns="0" rIns="0" bIns="0" rtlCol="0" anchor="t"/>
          <a:lstStyle/>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I work in Adama.</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She works in a bank.</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He lives in Bole.</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They live in Gondar.</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It costs fifty birr.</a:t>
            </a:r>
            <a:endParaRPr lang="en-US" sz="1900" dirty="0"/>
          </a:p>
        </p:txBody>
      </p:sp>
      <p:sp>
        <p:nvSpPr>
          <p:cNvPr id="16" name="Shape 11"/>
          <p:cNvSpPr/>
          <p:nvPr/>
        </p:nvSpPr>
        <p:spPr>
          <a:xfrm>
            <a:off x="6233008" y="1883664"/>
            <a:ext cx="5410048" cy="3273552"/>
          </a:xfrm>
          <a:prstGeom prst="roundRect">
            <a:avLst>
              <a:gd name="adj" fmla="val 3911"/>
            </a:avLst>
          </a:prstGeom>
          <a:solidFill>
            <a:srgbClr val="FBEAEA"/>
          </a:solidFill>
          <a:ln w="15875">
            <a:solidFill>
              <a:srgbClr val="D64545"/>
            </a:solidFill>
            <a:prstDash val="solid"/>
          </a:ln>
        </p:spPr>
      </p:sp>
      <p:sp>
        <p:nvSpPr>
          <p:cNvPr id="17" name="Shape 12"/>
          <p:cNvSpPr/>
          <p:nvPr/>
        </p:nvSpPr>
        <p:spPr>
          <a:xfrm>
            <a:off x="6470752" y="2103120"/>
            <a:ext cx="420624" cy="420624"/>
          </a:xfrm>
          <a:prstGeom prst="ellipse">
            <a:avLst/>
          </a:prstGeom>
          <a:solidFill>
            <a:srgbClr val="D64545"/>
          </a:solidFill>
          <a:ln/>
        </p:spPr>
      </p:sp>
      <p:pic>
        <p:nvPicPr>
          <p:cNvPr id="18" name="Image 2" descr="preencoded.png">    </p:cNvPr>
          <p:cNvPicPr>
            <a:picLocks noChangeAspect="1"/>
          </p:cNvPicPr>
          <p:nvPr/>
        </p:nvPicPr>
        <p:blipFill>
          <a:blip r:embed="rId3"/>
          <a:stretch>
            <a:fillRect/>
          </a:stretch>
        </p:blipFill>
        <p:spPr>
          <a:xfrm>
            <a:off x="6575908" y="2208276"/>
            <a:ext cx="210312" cy="210312"/>
          </a:xfrm>
          <a:prstGeom prst="rect">
            <a:avLst/>
          </a:prstGeom>
        </p:spPr>
      </p:pic>
      <p:sp>
        <p:nvSpPr>
          <p:cNvPr id="19" name="Text 13"/>
          <p:cNvSpPr txBox="1"/>
          <p:nvPr/>
        </p:nvSpPr>
        <p:spPr>
          <a:xfrm>
            <a:off x="7019392" y="2103120"/>
            <a:ext cx="4404208" cy="420624"/>
          </a:xfrm>
          <a:prstGeom prst="rect">
            <a:avLst/>
          </a:prstGeom>
          <a:noFill/>
          <a:ln/>
        </p:spPr>
        <p:txBody>
          <a:bodyPr wrap="square" lIns="0" tIns="0" rIns="0" bIns="0" rtlCol="0" anchor="ctr"/>
          <a:lstStyle/>
          <a:p>
            <a:pPr indent="0" marL="0">
              <a:buNone/>
            </a:pPr>
            <a:r>
              <a:rPr lang="en-US" sz="2000" b="1" dirty="0">
                <a:solidFill>
                  <a:srgbClr val="D64545"/>
                </a:solidFill>
                <a:latin typeface="Calibri" pitchFamily="34" charset="0"/>
                <a:ea typeface="Calibri" pitchFamily="34" charset="-122"/>
                <a:cs typeface="Calibri" pitchFamily="34" charset="-120"/>
              </a:rPr>
              <a:t>Wrong</a:t>
            </a:r>
            <a:endParaRPr lang="en-US" sz="2000" dirty="0"/>
          </a:p>
        </p:txBody>
      </p:sp>
      <p:sp>
        <p:nvSpPr>
          <p:cNvPr id="20" name="Text 14"/>
          <p:cNvSpPr/>
          <p:nvPr/>
        </p:nvSpPr>
        <p:spPr>
          <a:xfrm>
            <a:off x="6507328" y="2724912"/>
            <a:ext cx="4861408" cy="2212848"/>
          </a:xfrm>
          <a:prstGeom prst="rect">
            <a:avLst/>
          </a:prstGeom>
          <a:noFill/>
          <a:ln/>
        </p:spPr>
        <p:txBody>
          <a:bodyPr wrap="square" lIns="0" tIns="0" rIns="0" bIns="0" rtlCol="0" anchor="t"/>
          <a:lstStyle/>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I works in Adama.</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She work in a bank.</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He live in Bole.</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They lives in Gondar.</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It cost fifty birr.</a:t>
            </a:r>
            <a:endParaRPr lang="en-US" sz="1900" dirty="0"/>
          </a:p>
        </p:txBody>
      </p:sp>
      <p:sp>
        <p:nvSpPr>
          <p:cNvPr id="21" name="Shape 15"/>
          <p:cNvSpPr/>
          <p:nvPr/>
        </p:nvSpPr>
        <p:spPr>
          <a:xfrm>
            <a:off x="548640" y="5285232"/>
            <a:ext cx="11094415" cy="658368"/>
          </a:xfrm>
          <a:prstGeom prst="roundRect">
            <a:avLst>
              <a:gd name="adj" fmla="val 19444"/>
            </a:avLst>
          </a:prstGeom>
          <a:solidFill>
            <a:srgbClr val="FDF3E7"/>
          </a:solidFill>
          <a:ln w="12700">
            <a:solidFill>
              <a:srgbClr val="EFDCB2"/>
            </a:solidFill>
            <a:prstDash val="solid"/>
          </a:ln>
        </p:spPr>
      </p:sp>
      <p:sp>
        <p:nvSpPr>
          <p:cNvPr id="22" name="Text 16"/>
          <p:cNvSpPr txBox="1"/>
          <p:nvPr/>
        </p:nvSpPr>
        <p:spPr>
          <a:xfrm>
            <a:off x="786384" y="5285232"/>
            <a:ext cx="10618927" cy="658368"/>
          </a:xfrm>
          <a:prstGeom prst="rect">
            <a:avLst/>
          </a:prstGeom>
          <a:noFill/>
          <a:ln/>
        </p:spPr>
        <p:txBody>
          <a:bodyPr wrap="square" lIns="0" tIns="0" rIns="0" bIns="0" rtlCol="0" anchor="ctr"/>
          <a:lstStyle/>
          <a:p>
            <a:pPr indent="0" marL="0">
              <a:buNone/>
            </a:pPr>
            <a:r>
              <a:rPr lang="en-US" sz="1600" dirty="0">
                <a:solidFill>
                  <a:srgbClr val="12211B"/>
                </a:solidFill>
                <a:latin typeface="Calibri" pitchFamily="34" charset="0"/>
                <a:ea typeface="Calibri" pitchFamily="34" charset="-122"/>
                <a:cs typeface="Calibri" pitchFamily="34" charset="-120"/>
              </a:rPr>
              <a:t>The test: is the person HE, SHE or IT — one person or one thing, not you and not me? Then add -s.</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3F5BD9"/>
          </a:solidFill>
          <a:ln/>
        </p:spPr>
      </p:sp>
      <p:sp>
        <p:nvSpPr>
          <p:cNvPr id="3" name="Shape 1"/>
          <p:cNvSpPr/>
          <p:nvPr/>
        </p:nvSpPr>
        <p:spPr>
          <a:xfrm>
            <a:off x="649224" y="539496"/>
            <a:ext cx="219456" cy="219456"/>
          </a:xfrm>
          <a:prstGeom prst="ellipse">
            <a:avLst/>
          </a:prstGeom>
          <a:solidFill>
            <a:srgbClr val="3F5BD9"/>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GRAMMAR 2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Rule 2 — the spelling of the -s form</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Three rules and one special verb.</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1 — Present Simple &amp; Daily Routine</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17</a:t>
            </a:r>
            <a:endParaRPr lang="en-US" sz="11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883664"/>
          <a:ext cx="11094415" cy="914400"/>
        </p:xfrm>
        <a:graphic>
          <a:graphicData uri="http://schemas.openxmlformats.org/drawingml/2006/table">
            <a:tbl>
              <a:tblPr/>
              <a:tblGrid>
                <a:gridCol w="3657600"/>
                <a:gridCol w="3291840"/>
                <a:gridCol w="4144975"/>
              </a:tblGrid>
              <a:tr h="45720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Ending</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3F5BD9"/>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Add</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3F5BD9"/>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Examples</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3F5BD9"/>
                    </a:solidFill>
                  </a:tcPr>
                </a:tc>
              </a:tr>
              <a:tr h="457200">
                <a:tc>
                  <a:txBody>
                    <a:bodyPr/>
                    <a:lstStyle/>
                    <a:p>
                      <a:pPr algn="l" indent="0" marL="0">
                        <a:buNone/>
                      </a:pPr>
                      <a:r>
                        <a:rPr lang="en-US" sz="1800" b="1" dirty="0">
                          <a:solidFill>
                            <a:srgbClr val="12211B"/>
                          </a:solidFill>
                          <a:latin typeface="Calibri" pitchFamily="34" charset="0"/>
                          <a:ea typeface="Calibri" pitchFamily="34" charset="-122"/>
                          <a:cs typeface="Calibri" pitchFamily="34" charset="-120"/>
                        </a:rPr>
                        <a:t>most verbs</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3A473F"/>
                          </a:solidFill>
                          <a:latin typeface="Calibri" pitchFamily="34" charset="0"/>
                          <a:ea typeface="Calibri" pitchFamily="34" charset="-122"/>
                          <a:cs typeface="Calibri" pitchFamily="34" charset="-120"/>
                        </a:rPr>
                        <a:t>-s</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3A473F"/>
                          </a:solidFill>
                          <a:latin typeface="Calibri" pitchFamily="34" charset="0"/>
                          <a:ea typeface="Calibri" pitchFamily="34" charset="-122"/>
                          <a:cs typeface="Calibri" pitchFamily="34" charset="-120"/>
                        </a:rPr>
                        <a:t>work → works · live → lives · eat → eats</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r h="457200">
                <a:tc>
                  <a:txBody>
                    <a:bodyPr/>
                    <a:lstStyle/>
                    <a:p>
                      <a:pPr algn="l" indent="0" marL="0">
                        <a:buNone/>
                      </a:pPr>
                      <a:r>
                        <a:rPr lang="en-US" sz="1800" b="1" dirty="0">
                          <a:solidFill>
                            <a:srgbClr val="12211B"/>
                          </a:solidFill>
                          <a:latin typeface="Calibri" pitchFamily="34" charset="0"/>
                          <a:ea typeface="Calibri" pitchFamily="34" charset="-122"/>
                          <a:cs typeface="Calibri" pitchFamily="34" charset="-120"/>
                        </a:rPr>
                        <a:t>ch, sh, s, x, o</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800" dirty="0">
                          <a:solidFill>
                            <a:srgbClr val="3A473F"/>
                          </a:solidFill>
                          <a:latin typeface="Calibri" pitchFamily="34" charset="0"/>
                          <a:ea typeface="Calibri" pitchFamily="34" charset="-122"/>
                          <a:cs typeface="Calibri" pitchFamily="34" charset="-120"/>
                        </a:rPr>
                        <a:t>-es</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800" dirty="0">
                          <a:solidFill>
                            <a:srgbClr val="3A473F"/>
                          </a:solidFill>
                          <a:latin typeface="Calibri" pitchFamily="34" charset="0"/>
                          <a:ea typeface="Calibri" pitchFamily="34" charset="-122"/>
                          <a:cs typeface="Calibri" pitchFamily="34" charset="-120"/>
                        </a:rPr>
                        <a:t>watch → watches · go → goes · do → does</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r>
              <a:tr h="457200">
                <a:tc>
                  <a:txBody>
                    <a:bodyPr/>
                    <a:lstStyle/>
                    <a:p>
                      <a:pPr algn="l" indent="0" marL="0">
                        <a:buNone/>
                      </a:pPr>
                      <a:r>
                        <a:rPr lang="en-US" sz="1800" b="1" dirty="0">
                          <a:solidFill>
                            <a:srgbClr val="12211B"/>
                          </a:solidFill>
                          <a:latin typeface="Calibri" pitchFamily="34" charset="0"/>
                          <a:ea typeface="Calibri" pitchFamily="34" charset="-122"/>
                          <a:cs typeface="Calibri" pitchFamily="34" charset="-120"/>
                        </a:rPr>
                        <a:t>consonant + y</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3A473F"/>
                          </a:solidFill>
                          <a:latin typeface="Calibri" pitchFamily="34" charset="0"/>
                          <a:ea typeface="Calibri" pitchFamily="34" charset="-122"/>
                          <a:cs typeface="Calibri" pitchFamily="34" charset="-120"/>
                        </a:rPr>
                        <a:t>-ies</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3A473F"/>
                          </a:solidFill>
                          <a:latin typeface="Calibri" pitchFamily="34" charset="0"/>
                          <a:ea typeface="Calibri" pitchFamily="34" charset="-122"/>
                          <a:cs typeface="Calibri" pitchFamily="34" charset="-120"/>
                        </a:rPr>
                        <a:t>study → studies · carry → carries</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r h="457200">
                <a:tc>
                  <a:txBody>
                    <a:bodyPr/>
                    <a:lstStyle/>
                    <a:p>
                      <a:pPr algn="l" indent="0" marL="0">
                        <a:buNone/>
                      </a:pPr>
                      <a:r>
                        <a:rPr lang="en-US" sz="1800" b="1" dirty="0">
                          <a:solidFill>
                            <a:srgbClr val="12211B"/>
                          </a:solidFill>
                          <a:latin typeface="Calibri" pitchFamily="34" charset="0"/>
                          <a:ea typeface="Calibri" pitchFamily="34" charset="-122"/>
                          <a:cs typeface="Calibri" pitchFamily="34" charset="-120"/>
                        </a:rPr>
                        <a:t>vowel + y</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800" dirty="0">
                          <a:solidFill>
                            <a:srgbClr val="3A473F"/>
                          </a:solidFill>
                          <a:latin typeface="Calibri" pitchFamily="34" charset="0"/>
                          <a:ea typeface="Calibri" pitchFamily="34" charset="-122"/>
                          <a:cs typeface="Calibri" pitchFamily="34" charset="-120"/>
                        </a:rPr>
                        <a:t>-s only</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800" dirty="0">
                          <a:solidFill>
                            <a:srgbClr val="3A473F"/>
                          </a:solidFill>
                          <a:latin typeface="Calibri" pitchFamily="34" charset="0"/>
                          <a:ea typeface="Calibri" pitchFamily="34" charset="-122"/>
                          <a:cs typeface="Calibri" pitchFamily="34" charset="-120"/>
                        </a:rPr>
                        <a:t>play → plays · buy → buys · say → says</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r>
            </a:tbl>
          </a:graphicData>
        </a:graphic>
      </p:graphicFrame>
      <p:sp>
        <p:nvSpPr>
          <p:cNvPr id="12" name="Shape 7"/>
          <p:cNvSpPr/>
          <p:nvPr/>
        </p:nvSpPr>
        <p:spPr>
          <a:xfrm>
            <a:off x="548640" y="5285232"/>
            <a:ext cx="11094415" cy="658368"/>
          </a:xfrm>
          <a:prstGeom prst="roundRect">
            <a:avLst>
              <a:gd name="adj" fmla="val 19444"/>
            </a:avLst>
          </a:prstGeom>
          <a:solidFill>
            <a:srgbClr val="FDF3E7"/>
          </a:solidFill>
          <a:ln w="12700">
            <a:solidFill>
              <a:srgbClr val="EFDCB2"/>
            </a:solidFill>
            <a:prstDash val="solid"/>
          </a:ln>
        </p:spPr>
      </p:sp>
      <p:sp>
        <p:nvSpPr>
          <p:cNvPr id="13" name="Text 8"/>
          <p:cNvSpPr txBox="1"/>
          <p:nvPr/>
        </p:nvSpPr>
        <p:spPr>
          <a:xfrm>
            <a:off x="786384" y="5285232"/>
            <a:ext cx="10618927" cy="658368"/>
          </a:xfrm>
          <a:prstGeom prst="rect">
            <a:avLst/>
          </a:prstGeom>
          <a:noFill/>
          <a:ln/>
        </p:spPr>
        <p:txBody>
          <a:bodyPr wrap="square" lIns="0" tIns="0" rIns="0" bIns="0" rtlCol="0" anchor="ctr"/>
          <a:lstStyle/>
          <a:p>
            <a:pPr indent="0" marL="0">
              <a:buNone/>
            </a:pPr>
            <a:r>
              <a:rPr lang="en-US" sz="1600" dirty="0">
                <a:solidFill>
                  <a:srgbClr val="12211B"/>
                </a:solidFill>
                <a:latin typeface="Calibri" pitchFamily="34" charset="0"/>
                <a:ea typeface="Calibri" pitchFamily="34" charset="-122"/>
                <a:cs typeface="Calibri" pitchFamily="34" charset="-120"/>
              </a:rPr>
              <a:t>And one to memorise on its own:  have → HAS.   “She has two children.”</a:t>
            </a:r>
            <a:endParaRPr lang="en-US"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3F5BD9"/>
          </a:solidFill>
          <a:ln/>
        </p:spPr>
      </p:sp>
      <p:sp>
        <p:nvSpPr>
          <p:cNvPr id="3" name="Shape 1"/>
          <p:cNvSpPr/>
          <p:nvPr/>
        </p:nvSpPr>
        <p:spPr>
          <a:xfrm>
            <a:off x="649224" y="539496"/>
            <a:ext cx="219456" cy="219456"/>
          </a:xfrm>
          <a:prstGeom prst="ellipse">
            <a:avLst/>
          </a:prstGeom>
          <a:solidFill>
            <a:srgbClr val="3F5BD9"/>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GRAMMAR 3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Rule 3 — negatives with do not and does not</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The -s moves from the main verb onto “does”.</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1 — Present Simple &amp; Daily Routine</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18</a:t>
            </a:r>
            <a:endParaRPr lang="en-US" sz="11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883664"/>
          <a:ext cx="11094415" cy="914400"/>
        </p:xfrm>
        <a:graphic>
          <a:graphicData uri="http://schemas.openxmlformats.org/drawingml/2006/table">
            <a:tbl>
              <a:tblPr/>
              <a:tblGrid>
                <a:gridCol w="2560320"/>
                <a:gridCol w="3108960"/>
                <a:gridCol w="5425135"/>
              </a:tblGrid>
              <a:tr h="45720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Person</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3F5BD9"/>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Negative</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3F5BD9"/>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Example</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3F5BD9"/>
                    </a:solidFill>
                  </a:tcPr>
                </a:tc>
              </a:tr>
              <a:tr h="457200">
                <a:tc>
                  <a:txBody>
                    <a:bodyPr/>
                    <a:lstStyle/>
                    <a:p>
                      <a:pPr algn="l" indent="0" marL="0">
                        <a:buNone/>
                      </a:pPr>
                      <a:r>
                        <a:rPr lang="en-US" sz="1800" b="1" dirty="0">
                          <a:solidFill>
                            <a:srgbClr val="12211B"/>
                          </a:solidFill>
                          <a:latin typeface="Calibri" pitchFamily="34" charset="0"/>
                          <a:ea typeface="Calibri" pitchFamily="34" charset="-122"/>
                          <a:cs typeface="Calibri" pitchFamily="34" charset="-120"/>
                        </a:rPr>
                        <a:t>I / you / we / they</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3A473F"/>
                          </a:solidFill>
                          <a:latin typeface="Calibri" pitchFamily="34" charset="0"/>
                          <a:ea typeface="Calibri" pitchFamily="34" charset="-122"/>
                          <a:cs typeface="Calibri" pitchFamily="34" charset="-120"/>
                        </a:rPr>
                        <a:t>do not  (don't)</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3A473F"/>
                          </a:solidFill>
                          <a:latin typeface="Calibri" pitchFamily="34" charset="0"/>
                          <a:ea typeface="Calibri" pitchFamily="34" charset="-122"/>
                          <a:cs typeface="Calibri" pitchFamily="34" charset="-120"/>
                        </a:rPr>
                        <a:t>I do not work on Sunday.</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r h="457200">
                <a:tc>
                  <a:txBody>
                    <a:bodyPr/>
                    <a:lstStyle/>
                    <a:p>
                      <a:pPr algn="l" indent="0" marL="0">
                        <a:buNone/>
                      </a:pPr>
                      <a:r>
                        <a:rPr lang="en-US" sz="1800" b="1" dirty="0">
                          <a:solidFill>
                            <a:srgbClr val="12211B"/>
                          </a:solidFill>
                          <a:latin typeface="Calibri" pitchFamily="34" charset="0"/>
                          <a:ea typeface="Calibri" pitchFamily="34" charset="-122"/>
                          <a:cs typeface="Calibri" pitchFamily="34" charset="-120"/>
                        </a:rPr>
                        <a:t>he / she / it</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800" dirty="0">
                          <a:solidFill>
                            <a:srgbClr val="3A473F"/>
                          </a:solidFill>
                          <a:latin typeface="Calibri" pitchFamily="34" charset="0"/>
                          <a:ea typeface="Calibri" pitchFamily="34" charset="-122"/>
                          <a:cs typeface="Calibri" pitchFamily="34" charset="-120"/>
                        </a:rPr>
                        <a:t>does not  (doesn't)</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800" dirty="0">
                          <a:solidFill>
                            <a:srgbClr val="3A473F"/>
                          </a:solidFill>
                          <a:latin typeface="Calibri" pitchFamily="34" charset="0"/>
                          <a:ea typeface="Calibri" pitchFamily="34" charset="-122"/>
                          <a:cs typeface="Calibri" pitchFamily="34" charset="-120"/>
                        </a:rPr>
                        <a:t>She does not work on Sunday.</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r>
              <a:tr h="457200">
                <a:tc>
                  <a:txBody>
                    <a:bodyPr/>
                    <a:lstStyle/>
                    <a:p>
                      <a:pPr algn="l" indent="0" marL="0">
                        <a:buNone/>
                      </a:pPr>
                      <a:r>
                        <a:rPr lang="en-US" sz="1800" b="1" dirty="0">
                          <a:solidFill>
                            <a:srgbClr val="12211B"/>
                          </a:solidFill>
                          <a:latin typeface="Calibri" pitchFamily="34" charset="0"/>
                          <a:ea typeface="Calibri" pitchFamily="34" charset="-122"/>
                          <a:cs typeface="Calibri" pitchFamily="34" charset="-120"/>
                        </a:rPr>
                        <a:t>The rule</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3A473F"/>
                          </a:solidFill>
                          <a:latin typeface="Calibri" pitchFamily="34" charset="0"/>
                          <a:ea typeface="Calibri" pitchFamily="34" charset="-122"/>
                          <a:cs typeface="Calibri" pitchFamily="34" charset="-120"/>
                        </a:rPr>
                        <a:t>base verb after do/does</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3A473F"/>
                          </a:solidFill>
                          <a:latin typeface="Calibri" pitchFamily="34" charset="0"/>
                          <a:ea typeface="Calibri" pitchFamily="34" charset="-122"/>
                          <a:cs typeface="Calibri" pitchFamily="34" charset="-120"/>
                        </a:rPr>
                        <a:t>She does not WORK — never “does not works”.</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bl>
          </a:graphicData>
        </a:graphic>
      </p:graphicFrame>
      <p:sp>
        <p:nvSpPr>
          <p:cNvPr id="12" name="Shape 7"/>
          <p:cNvSpPr/>
          <p:nvPr/>
        </p:nvSpPr>
        <p:spPr>
          <a:xfrm>
            <a:off x="548640" y="5285232"/>
            <a:ext cx="11094415" cy="658368"/>
          </a:xfrm>
          <a:prstGeom prst="roundRect">
            <a:avLst>
              <a:gd name="adj" fmla="val 19444"/>
            </a:avLst>
          </a:prstGeom>
          <a:solidFill>
            <a:srgbClr val="FDF3E7"/>
          </a:solidFill>
          <a:ln w="12700">
            <a:solidFill>
              <a:srgbClr val="EFDCB2"/>
            </a:solidFill>
            <a:prstDash val="solid"/>
          </a:ln>
        </p:spPr>
      </p:sp>
      <p:sp>
        <p:nvSpPr>
          <p:cNvPr id="13" name="Text 8"/>
          <p:cNvSpPr txBox="1"/>
          <p:nvPr/>
        </p:nvSpPr>
        <p:spPr>
          <a:xfrm>
            <a:off x="786384" y="5285232"/>
            <a:ext cx="10618927" cy="658368"/>
          </a:xfrm>
          <a:prstGeom prst="rect">
            <a:avLst/>
          </a:prstGeom>
          <a:noFill/>
          <a:ln/>
        </p:spPr>
        <p:txBody>
          <a:bodyPr wrap="square" lIns="0" tIns="0" rIns="0" bIns="0" rtlCol="0" anchor="ctr"/>
          <a:lstStyle/>
          <a:p>
            <a:pPr indent="0" marL="0">
              <a:buNone/>
            </a:pPr>
            <a:r>
              <a:rPr lang="en-US" sz="1600" dirty="0">
                <a:solidFill>
                  <a:srgbClr val="12211B"/>
                </a:solidFill>
                <a:latin typeface="Calibri" pitchFamily="34" charset="0"/>
                <a:ea typeface="Calibri" pitchFamily="34" charset="-122"/>
                <a:cs typeface="Calibri" pitchFamily="34" charset="-120"/>
              </a:rPr>
              <a:t>Positive:  She workS.      Negative:  She doeS not work.      The -s is in the sentence exactly once.</a:t>
            </a:r>
            <a:endParaRPr lang="en-US" sz="1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3F5BD9"/>
          </a:solidFill>
          <a:ln/>
        </p:spPr>
      </p:sp>
      <p:sp>
        <p:nvSpPr>
          <p:cNvPr id="3" name="Shape 1"/>
          <p:cNvSpPr/>
          <p:nvPr/>
        </p:nvSpPr>
        <p:spPr>
          <a:xfrm>
            <a:off x="649224" y="539496"/>
            <a:ext cx="219456" cy="219456"/>
          </a:xfrm>
          <a:prstGeom prst="ellipse">
            <a:avLst/>
          </a:prstGeom>
          <a:solidFill>
            <a:srgbClr val="3F5BD9"/>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GRAMMAR 4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Rule 4 — questions with do and does</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The auxiliary goes first. The main verb keeps its base form.</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1 — Present Simple &amp; Daily Routine</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19</a:t>
            </a:r>
            <a:endParaRPr lang="en-US" sz="1100" dirty="0"/>
          </a:p>
        </p:txBody>
      </p:sp>
      <p:sp>
        <p:nvSpPr>
          <p:cNvPr id="11" name="Shape 7"/>
          <p:cNvSpPr/>
          <p:nvPr/>
        </p:nvSpPr>
        <p:spPr>
          <a:xfrm>
            <a:off x="548640" y="1883664"/>
            <a:ext cx="5410048" cy="3273552"/>
          </a:xfrm>
          <a:prstGeom prst="roundRect">
            <a:avLst>
              <a:gd name="adj" fmla="val 3911"/>
            </a:avLst>
          </a:prstGeom>
          <a:solidFill>
            <a:srgbClr val="E6F5EC"/>
          </a:solidFill>
          <a:ln w="15875">
            <a:solidFill>
              <a:srgbClr val="2E9E5B"/>
            </a:solidFill>
            <a:prstDash val="solid"/>
          </a:ln>
        </p:spPr>
      </p:sp>
      <p:sp>
        <p:nvSpPr>
          <p:cNvPr id="12" name="Shape 8"/>
          <p:cNvSpPr/>
          <p:nvPr/>
        </p:nvSpPr>
        <p:spPr>
          <a:xfrm>
            <a:off x="786384" y="2103120"/>
            <a:ext cx="420624" cy="420624"/>
          </a:xfrm>
          <a:prstGeom prst="ellipse">
            <a:avLst/>
          </a:prstGeom>
          <a:solidFill>
            <a:srgbClr val="2E9E5B"/>
          </a:solidFill>
          <a:ln/>
        </p:spPr>
      </p:sp>
      <p:pic>
        <p:nvPicPr>
          <p:cNvPr id="13" name="Image 1" descr="preencoded.png">    </p:cNvPr>
          <p:cNvPicPr>
            <a:picLocks noChangeAspect="1"/>
          </p:cNvPicPr>
          <p:nvPr/>
        </p:nvPicPr>
        <p:blipFill>
          <a:blip r:embed="rId2"/>
          <a:stretch>
            <a:fillRect/>
          </a:stretch>
        </p:blipFill>
        <p:spPr>
          <a:xfrm>
            <a:off x="891540" y="2208276"/>
            <a:ext cx="210312" cy="210312"/>
          </a:xfrm>
          <a:prstGeom prst="rect">
            <a:avLst/>
          </a:prstGeom>
        </p:spPr>
      </p:pic>
      <p:sp>
        <p:nvSpPr>
          <p:cNvPr id="14" name="Text 9"/>
          <p:cNvSpPr txBox="1"/>
          <p:nvPr/>
        </p:nvSpPr>
        <p:spPr>
          <a:xfrm>
            <a:off x="1335024" y="2103120"/>
            <a:ext cx="4404208" cy="420624"/>
          </a:xfrm>
          <a:prstGeom prst="rect">
            <a:avLst/>
          </a:prstGeom>
          <a:noFill/>
          <a:ln/>
        </p:spPr>
        <p:txBody>
          <a:bodyPr wrap="square" lIns="0" tIns="0" rIns="0" bIns="0" rtlCol="0" anchor="ctr"/>
          <a:lstStyle/>
          <a:p>
            <a:pPr indent="0" marL="0">
              <a:buNone/>
            </a:pPr>
            <a:r>
              <a:rPr lang="en-US" sz="2000" b="1" dirty="0">
                <a:solidFill>
                  <a:srgbClr val="2E9E5B"/>
                </a:solidFill>
                <a:latin typeface="Calibri" pitchFamily="34" charset="0"/>
                <a:ea typeface="Calibri" pitchFamily="34" charset="-122"/>
                <a:cs typeface="Calibri" pitchFamily="34" charset="-120"/>
              </a:rPr>
              <a:t>Correct</a:t>
            </a:r>
            <a:endParaRPr lang="en-US" sz="2000" dirty="0"/>
          </a:p>
        </p:txBody>
      </p:sp>
      <p:sp>
        <p:nvSpPr>
          <p:cNvPr id="15" name="Text 10"/>
          <p:cNvSpPr/>
          <p:nvPr/>
        </p:nvSpPr>
        <p:spPr>
          <a:xfrm>
            <a:off x="822960" y="2724912"/>
            <a:ext cx="4861408" cy="2212848"/>
          </a:xfrm>
          <a:prstGeom prst="rect">
            <a:avLst/>
          </a:prstGeom>
          <a:noFill/>
          <a:ln/>
        </p:spPr>
        <p:txBody>
          <a:bodyPr wrap="square" lIns="0" tIns="0" rIns="0" bIns="0" rtlCol="0" anchor="t"/>
          <a:lstStyle/>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Do you work here?</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Does she live in Adama?</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Where do you work?</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What time does he start?</a:t>
            </a:r>
            <a:endParaRPr lang="en-US" sz="1900" dirty="0"/>
          </a:p>
        </p:txBody>
      </p:sp>
      <p:sp>
        <p:nvSpPr>
          <p:cNvPr id="16" name="Shape 11"/>
          <p:cNvSpPr/>
          <p:nvPr/>
        </p:nvSpPr>
        <p:spPr>
          <a:xfrm>
            <a:off x="6233008" y="1883664"/>
            <a:ext cx="5410048" cy="3273552"/>
          </a:xfrm>
          <a:prstGeom prst="roundRect">
            <a:avLst>
              <a:gd name="adj" fmla="val 3911"/>
            </a:avLst>
          </a:prstGeom>
          <a:solidFill>
            <a:srgbClr val="FBEAEA"/>
          </a:solidFill>
          <a:ln w="15875">
            <a:solidFill>
              <a:srgbClr val="D64545"/>
            </a:solidFill>
            <a:prstDash val="solid"/>
          </a:ln>
        </p:spPr>
      </p:sp>
      <p:sp>
        <p:nvSpPr>
          <p:cNvPr id="17" name="Shape 12"/>
          <p:cNvSpPr/>
          <p:nvPr/>
        </p:nvSpPr>
        <p:spPr>
          <a:xfrm>
            <a:off x="6470752" y="2103120"/>
            <a:ext cx="420624" cy="420624"/>
          </a:xfrm>
          <a:prstGeom prst="ellipse">
            <a:avLst/>
          </a:prstGeom>
          <a:solidFill>
            <a:srgbClr val="D64545"/>
          </a:solidFill>
          <a:ln/>
        </p:spPr>
      </p:sp>
      <p:pic>
        <p:nvPicPr>
          <p:cNvPr id="18" name="Image 2" descr="preencoded.png">    </p:cNvPr>
          <p:cNvPicPr>
            <a:picLocks noChangeAspect="1"/>
          </p:cNvPicPr>
          <p:nvPr/>
        </p:nvPicPr>
        <p:blipFill>
          <a:blip r:embed="rId3"/>
          <a:stretch>
            <a:fillRect/>
          </a:stretch>
        </p:blipFill>
        <p:spPr>
          <a:xfrm>
            <a:off x="6575908" y="2208276"/>
            <a:ext cx="210312" cy="210312"/>
          </a:xfrm>
          <a:prstGeom prst="rect">
            <a:avLst/>
          </a:prstGeom>
        </p:spPr>
      </p:pic>
      <p:sp>
        <p:nvSpPr>
          <p:cNvPr id="19" name="Text 13"/>
          <p:cNvSpPr txBox="1"/>
          <p:nvPr/>
        </p:nvSpPr>
        <p:spPr>
          <a:xfrm>
            <a:off x="7019392" y="2103120"/>
            <a:ext cx="4404208" cy="420624"/>
          </a:xfrm>
          <a:prstGeom prst="rect">
            <a:avLst/>
          </a:prstGeom>
          <a:noFill/>
          <a:ln/>
        </p:spPr>
        <p:txBody>
          <a:bodyPr wrap="square" lIns="0" tIns="0" rIns="0" bIns="0" rtlCol="0" anchor="ctr"/>
          <a:lstStyle/>
          <a:p>
            <a:pPr indent="0" marL="0">
              <a:buNone/>
            </a:pPr>
            <a:r>
              <a:rPr lang="en-US" sz="2000" b="1" dirty="0">
                <a:solidFill>
                  <a:srgbClr val="D64545"/>
                </a:solidFill>
                <a:latin typeface="Calibri" pitchFamily="34" charset="0"/>
                <a:ea typeface="Calibri" pitchFamily="34" charset="-122"/>
                <a:cs typeface="Calibri" pitchFamily="34" charset="-120"/>
              </a:rPr>
              <a:t>Wrong</a:t>
            </a:r>
            <a:endParaRPr lang="en-US" sz="2000" dirty="0"/>
          </a:p>
        </p:txBody>
      </p:sp>
      <p:sp>
        <p:nvSpPr>
          <p:cNvPr id="20" name="Text 14"/>
          <p:cNvSpPr/>
          <p:nvPr/>
        </p:nvSpPr>
        <p:spPr>
          <a:xfrm>
            <a:off x="6507328" y="2724912"/>
            <a:ext cx="4861408" cy="2212848"/>
          </a:xfrm>
          <a:prstGeom prst="rect">
            <a:avLst/>
          </a:prstGeom>
          <a:noFill/>
          <a:ln/>
        </p:spPr>
        <p:txBody>
          <a:bodyPr wrap="square" lIns="0" tIns="0" rIns="0" bIns="0" rtlCol="0" anchor="t"/>
          <a:lstStyle/>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You work here?</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Does she lives in Adama?</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Where you work?</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What time he starts?</a:t>
            </a:r>
            <a:endParaRPr lang="en-US" sz="1900" dirty="0"/>
          </a:p>
        </p:txBody>
      </p:sp>
      <p:sp>
        <p:nvSpPr>
          <p:cNvPr id="21" name="Shape 15"/>
          <p:cNvSpPr/>
          <p:nvPr/>
        </p:nvSpPr>
        <p:spPr>
          <a:xfrm>
            <a:off x="548640" y="5285232"/>
            <a:ext cx="11094415" cy="658368"/>
          </a:xfrm>
          <a:prstGeom prst="roundRect">
            <a:avLst>
              <a:gd name="adj" fmla="val 19444"/>
            </a:avLst>
          </a:prstGeom>
          <a:solidFill>
            <a:srgbClr val="FDF3E7"/>
          </a:solidFill>
          <a:ln w="12700">
            <a:solidFill>
              <a:srgbClr val="EFDCB2"/>
            </a:solidFill>
            <a:prstDash val="solid"/>
          </a:ln>
        </p:spPr>
      </p:sp>
      <p:sp>
        <p:nvSpPr>
          <p:cNvPr id="22" name="Text 16"/>
          <p:cNvSpPr txBox="1"/>
          <p:nvPr/>
        </p:nvSpPr>
        <p:spPr>
          <a:xfrm>
            <a:off x="786384" y="5285232"/>
            <a:ext cx="10618927" cy="658368"/>
          </a:xfrm>
          <a:prstGeom prst="rect">
            <a:avLst/>
          </a:prstGeom>
          <a:noFill/>
          <a:ln/>
        </p:spPr>
        <p:txBody>
          <a:bodyPr wrap="square" lIns="0" tIns="0" rIns="0" bIns="0" rtlCol="0" anchor="ctr"/>
          <a:lstStyle/>
          <a:p>
            <a:pPr indent="0" marL="0">
              <a:buNone/>
            </a:pPr>
            <a:r>
              <a:rPr lang="en-US" sz="1600" dirty="0">
                <a:solidFill>
                  <a:srgbClr val="12211B"/>
                </a:solidFill>
                <a:latin typeface="Calibri" pitchFamily="34" charset="0"/>
                <a:ea typeface="Calibri" pitchFamily="34" charset="-122"/>
                <a:cs typeface="Calibri" pitchFamily="34" charset="-120"/>
              </a:rPr>
              <a:t>Two things must happen:  1 · DO or DOES comes before the person.   2 · the main verb loses its -s.</a:t>
            </a:r>
            <a:endParaRPr lang="en-US" sz="16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3F5BD9"/>
          </a:solidFill>
          <a:ln/>
        </p:spPr>
      </p:sp>
      <p:sp>
        <p:nvSpPr>
          <p:cNvPr id="3" name="Shape 1"/>
          <p:cNvSpPr/>
          <p:nvPr/>
        </p:nvSpPr>
        <p:spPr>
          <a:xfrm>
            <a:off x="649224" y="539496"/>
            <a:ext cx="219456" cy="219456"/>
          </a:xfrm>
          <a:prstGeom prst="ellipse">
            <a:avLst/>
          </a:prstGeom>
          <a:solidFill>
            <a:srgbClr val="3F5BD9"/>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GRAMMAR 5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Rule 5 — put it all together</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The -s, the negative, the question and the frequency word.</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1 — Present Simple &amp; Daily Routine</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20</a:t>
            </a:r>
            <a:endParaRPr lang="en-US" sz="1100" dirty="0"/>
          </a:p>
        </p:txBody>
      </p:sp>
      <p:sp>
        <p:nvSpPr>
          <p:cNvPr id="11" name="Shape 7"/>
          <p:cNvSpPr/>
          <p:nvPr/>
        </p:nvSpPr>
        <p:spPr>
          <a:xfrm>
            <a:off x="548640" y="1883664"/>
            <a:ext cx="5410048" cy="3273552"/>
          </a:xfrm>
          <a:prstGeom prst="roundRect">
            <a:avLst>
              <a:gd name="adj" fmla="val 3911"/>
            </a:avLst>
          </a:prstGeom>
          <a:solidFill>
            <a:srgbClr val="E6F5EC"/>
          </a:solidFill>
          <a:ln w="15875">
            <a:solidFill>
              <a:srgbClr val="2E9E5B"/>
            </a:solidFill>
            <a:prstDash val="solid"/>
          </a:ln>
        </p:spPr>
      </p:sp>
      <p:sp>
        <p:nvSpPr>
          <p:cNvPr id="12" name="Shape 8"/>
          <p:cNvSpPr/>
          <p:nvPr/>
        </p:nvSpPr>
        <p:spPr>
          <a:xfrm>
            <a:off x="786384" y="2103120"/>
            <a:ext cx="420624" cy="420624"/>
          </a:xfrm>
          <a:prstGeom prst="ellipse">
            <a:avLst/>
          </a:prstGeom>
          <a:solidFill>
            <a:srgbClr val="2E9E5B"/>
          </a:solidFill>
          <a:ln/>
        </p:spPr>
      </p:sp>
      <p:pic>
        <p:nvPicPr>
          <p:cNvPr id="13" name="Image 1" descr="preencoded.png">    </p:cNvPr>
          <p:cNvPicPr>
            <a:picLocks noChangeAspect="1"/>
          </p:cNvPicPr>
          <p:nvPr/>
        </p:nvPicPr>
        <p:blipFill>
          <a:blip r:embed="rId2"/>
          <a:stretch>
            <a:fillRect/>
          </a:stretch>
        </p:blipFill>
        <p:spPr>
          <a:xfrm>
            <a:off x="891540" y="2208276"/>
            <a:ext cx="210312" cy="210312"/>
          </a:xfrm>
          <a:prstGeom prst="rect">
            <a:avLst/>
          </a:prstGeom>
        </p:spPr>
      </p:pic>
      <p:sp>
        <p:nvSpPr>
          <p:cNvPr id="14" name="Text 9"/>
          <p:cNvSpPr txBox="1"/>
          <p:nvPr/>
        </p:nvSpPr>
        <p:spPr>
          <a:xfrm>
            <a:off x="1335024" y="2103120"/>
            <a:ext cx="4404208" cy="420624"/>
          </a:xfrm>
          <a:prstGeom prst="rect">
            <a:avLst/>
          </a:prstGeom>
          <a:noFill/>
          <a:ln/>
        </p:spPr>
        <p:txBody>
          <a:bodyPr wrap="square" lIns="0" tIns="0" rIns="0" bIns="0" rtlCol="0" anchor="ctr"/>
          <a:lstStyle/>
          <a:p>
            <a:pPr indent="0" marL="0">
              <a:buNone/>
            </a:pPr>
            <a:r>
              <a:rPr lang="en-US" sz="2000" b="1" dirty="0">
                <a:solidFill>
                  <a:srgbClr val="2E9E5B"/>
                </a:solidFill>
                <a:latin typeface="Calibri" pitchFamily="34" charset="0"/>
                <a:ea typeface="Calibri" pitchFamily="34" charset="-122"/>
                <a:cs typeface="Calibri" pitchFamily="34" charset="-120"/>
              </a:rPr>
              <a:t>Correct</a:t>
            </a:r>
            <a:endParaRPr lang="en-US" sz="2000" dirty="0"/>
          </a:p>
        </p:txBody>
      </p:sp>
      <p:sp>
        <p:nvSpPr>
          <p:cNvPr id="15" name="Text 10"/>
          <p:cNvSpPr/>
          <p:nvPr/>
        </p:nvSpPr>
        <p:spPr>
          <a:xfrm>
            <a:off x="822960" y="2724912"/>
            <a:ext cx="4861408" cy="2212848"/>
          </a:xfrm>
          <a:prstGeom prst="rect">
            <a:avLst/>
          </a:prstGeom>
          <a:noFill/>
          <a:ln/>
        </p:spPr>
        <p:txBody>
          <a:bodyPr wrap="square" lIns="0" tIns="0" rIns="0" bIns="0" rtlCol="0" anchor="t"/>
          <a:lstStyle/>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She always drinks coffee.</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He does not work on Sunday.</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Do they live in Gondar?</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My sister never eats meat.</a:t>
            </a:r>
            <a:endParaRPr lang="en-US" sz="1900" dirty="0"/>
          </a:p>
        </p:txBody>
      </p:sp>
      <p:sp>
        <p:nvSpPr>
          <p:cNvPr id="16" name="Shape 11"/>
          <p:cNvSpPr/>
          <p:nvPr/>
        </p:nvSpPr>
        <p:spPr>
          <a:xfrm>
            <a:off x="6233008" y="1883664"/>
            <a:ext cx="5410048" cy="3273552"/>
          </a:xfrm>
          <a:prstGeom prst="roundRect">
            <a:avLst>
              <a:gd name="adj" fmla="val 3911"/>
            </a:avLst>
          </a:prstGeom>
          <a:solidFill>
            <a:srgbClr val="FBEAEA"/>
          </a:solidFill>
          <a:ln w="15875">
            <a:solidFill>
              <a:srgbClr val="D64545"/>
            </a:solidFill>
            <a:prstDash val="solid"/>
          </a:ln>
        </p:spPr>
      </p:sp>
      <p:sp>
        <p:nvSpPr>
          <p:cNvPr id="17" name="Shape 12"/>
          <p:cNvSpPr/>
          <p:nvPr/>
        </p:nvSpPr>
        <p:spPr>
          <a:xfrm>
            <a:off x="6470752" y="2103120"/>
            <a:ext cx="420624" cy="420624"/>
          </a:xfrm>
          <a:prstGeom prst="ellipse">
            <a:avLst/>
          </a:prstGeom>
          <a:solidFill>
            <a:srgbClr val="D64545"/>
          </a:solidFill>
          <a:ln/>
        </p:spPr>
      </p:sp>
      <p:pic>
        <p:nvPicPr>
          <p:cNvPr id="18" name="Image 2" descr="preencoded.png">    </p:cNvPr>
          <p:cNvPicPr>
            <a:picLocks noChangeAspect="1"/>
          </p:cNvPicPr>
          <p:nvPr/>
        </p:nvPicPr>
        <p:blipFill>
          <a:blip r:embed="rId3"/>
          <a:stretch>
            <a:fillRect/>
          </a:stretch>
        </p:blipFill>
        <p:spPr>
          <a:xfrm>
            <a:off x="6575908" y="2208276"/>
            <a:ext cx="210312" cy="210312"/>
          </a:xfrm>
          <a:prstGeom prst="rect">
            <a:avLst/>
          </a:prstGeom>
        </p:spPr>
      </p:pic>
      <p:sp>
        <p:nvSpPr>
          <p:cNvPr id="19" name="Text 13"/>
          <p:cNvSpPr txBox="1"/>
          <p:nvPr/>
        </p:nvSpPr>
        <p:spPr>
          <a:xfrm>
            <a:off x="7019392" y="2103120"/>
            <a:ext cx="4404208" cy="420624"/>
          </a:xfrm>
          <a:prstGeom prst="rect">
            <a:avLst/>
          </a:prstGeom>
          <a:noFill/>
          <a:ln/>
        </p:spPr>
        <p:txBody>
          <a:bodyPr wrap="square" lIns="0" tIns="0" rIns="0" bIns="0" rtlCol="0" anchor="ctr"/>
          <a:lstStyle/>
          <a:p>
            <a:pPr indent="0" marL="0">
              <a:buNone/>
            </a:pPr>
            <a:r>
              <a:rPr lang="en-US" sz="2000" b="1" dirty="0">
                <a:solidFill>
                  <a:srgbClr val="D64545"/>
                </a:solidFill>
                <a:latin typeface="Calibri" pitchFamily="34" charset="0"/>
                <a:ea typeface="Calibri" pitchFamily="34" charset="-122"/>
                <a:cs typeface="Calibri" pitchFamily="34" charset="-120"/>
              </a:rPr>
              <a:t>Wrong</a:t>
            </a:r>
            <a:endParaRPr lang="en-US" sz="2000" dirty="0"/>
          </a:p>
        </p:txBody>
      </p:sp>
      <p:sp>
        <p:nvSpPr>
          <p:cNvPr id="20" name="Text 14"/>
          <p:cNvSpPr/>
          <p:nvPr/>
        </p:nvSpPr>
        <p:spPr>
          <a:xfrm>
            <a:off x="6507328" y="2724912"/>
            <a:ext cx="4861408" cy="2212848"/>
          </a:xfrm>
          <a:prstGeom prst="rect">
            <a:avLst/>
          </a:prstGeom>
          <a:noFill/>
          <a:ln/>
        </p:spPr>
        <p:txBody>
          <a:bodyPr wrap="square" lIns="0" tIns="0" rIns="0" bIns="0" rtlCol="0" anchor="t"/>
          <a:lstStyle/>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She always drink coffee.</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He does not works on Sunday.</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Do they lives in Gondar?</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My sister never eat meat.</a:t>
            </a:r>
            <a:endParaRPr lang="en-US" sz="1900" dirty="0"/>
          </a:p>
        </p:txBody>
      </p:sp>
      <p:sp>
        <p:nvSpPr>
          <p:cNvPr id="21" name="Shape 15"/>
          <p:cNvSpPr/>
          <p:nvPr/>
        </p:nvSpPr>
        <p:spPr>
          <a:xfrm>
            <a:off x="548640" y="5285232"/>
            <a:ext cx="11094415" cy="658368"/>
          </a:xfrm>
          <a:prstGeom prst="roundRect">
            <a:avLst>
              <a:gd name="adj" fmla="val 19444"/>
            </a:avLst>
          </a:prstGeom>
          <a:solidFill>
            <a:srgbClr val="FDF3E7"/>
          </a:solidFill>
          <a:ln w="12700">
            <a:solidFill>
              <a:srgbClr val="EFDCB2"/>
            </a:solidFill>
            <a:prstDash val="solid"/>
          </a:ln>
        </p:spPr>
      </p:sp>
      <p:sp>
        <p:nvSpPr>
          <p:cNvPr id="22" name="Text 16"/>
          <p:cNvSpPr txBox="1"/>
          <p:nvPr/>
        </p:nvSpPr>
        <p:spPr>
          <a:xfrm>
            <a:off x="786384" y="5285232"/>
            <a:ext cx="10618927" cy="658368"/>
          </a:xfrm>
          <a:prstGeom prst="rect">
            <a:avLst/>
          </a:prstGeom>
          <a:noFill/>
          <a:ln/>
        </p:spPr>
        <p:txBody>
          <a:bodyPr wrap="square" lIns="0" tIns="0" rIns="0" bIns="0" rtlCol="0" anchor="ctr"/>
          <a:lstStyle/>
          <a:p>
            <a:pPr indent="0" marL="0">
              <a:buNone/>
            </a:pPr>
            <a:r>
              <a:rPr lang="en-US" sz="1600" dirty="0">
                <a:solidFill>
                  <a:srgbClr val="12211B"/>
                </a:solidFill>
                <a:latin typeface="Calibri" pitchFamily="34" charset="0"/>
                <a:ea typeface="Calibri" pitchFamily="34" charset="-122"/>
                <a:cs typeface="Calibri" pitchFamily="34" charset="-120"/>
              </a:rPr>
              <a:t>Four checks:  1 · -s on he/she/it in positive sentences.   2 · NO -s after do, does, don't or doesn't.   3 · frequency word before the verb.   4 · auxiliary first in questions.</a:t>
            </a:r>
            <a:endParaRPr lang="en-US" sz="16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679192" cy="420624"/>
          </a:xfrm>
          <a:prstGeom prst="roundRect">
            <a:avLst>
              <a:gd name="adj" fmla="val 50000"/>
            </a:avLst>
          </a:prstGeom>
          <a:solidFill>
            <a:srgbClr val="3F5BD9"/>
          </a:solidFill>
          <a:ln/>
        </p:spPr>
      </p:sp>
      <p:sp>
        <p:nvSpPr>
          <p:cNvPr id="3" name="Shape 1"/>
          <p:cNvSpPr/>
          <p:nvPr/>
        </p:nvSpPr>
        <p:spPr>
          <a:xfrm>
            <a:off x="649224" y="539496"/>
            <a:ext cx="219456" cy="219456"/>
          </a:xfrm>
          <a:prstGeom prst="ellipse">
            <a:avLst/>
          </a:prstGeom>
          <a:solidFill>
            <a:srgbClr val="3F5BD9"/>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218541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GUIDED EXAMPLES 1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Guided examples 1 — the -s ending</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Read the question, look at the answer, then read WHY.</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1 — Present Simple &amp; Daily Routine</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21</a:t>
            </a:r>
            <a:endParaRPr lang="en-US" sz="1100" dirty="0"/>
          </a:p>
        </p:txBody>
      </p:sp>
      <p:sp>
        <p:nvSpPr>
          <p:cNvPr id="11" name="Shape 7"/>
          <p:cNvSpPr/>
          <p:nvPr/>
        </p:nvSpPr>
        <p:spPr>
          <a:xfrm>
            <a:off x="548640" y="1883664"/>
            <a:ext cx="11094415" cy="1274064"/>
          </a:xfrm>
          <a:prstGeom prst="roundRect">
            <a:avLst>
              <a:gd name="adj" fmla="val 10048"/>
            </a:avLst>
          </a:prstGeom>
          <a:solidFill>
            <a:srgbClr val="E6F5EC"/>
          </a:solidFill>
          <a:ln w="12700">
            <a:solidFill>
              <a:srgbClr val="2E9E5B"/>
            </a:solidFill>
            <a:prstDash val="solid"/>
          </a:ln>
        </p:spPr>
      </p:sp>
      <p:sp>
        <p:nvSpPr>
          <p:cNvPr id="12" name="Shape 8"/>
          <p:cNvSpPr/>
          <p:nvPr/>
        </p:nvSpPr>
        <p:spPr>
          <a:xfrm>
            <a:off x="731520" y="2328672"/>
            <a:ext cx="384048" cy="384048"/>
          </a:xfrm>
          <a:prstGeom prst="ellipse">
            <a:avLst/>
          </a:prstGeom>
          <a:solidFill>
            <a:srgbClr val="2E9E5B"/>
          </a:solidFill>
          <a:ln/>
        </p:spPr>
      </p:sp>
      <p:sp>
        <p:nvSpPr>
          <p:cNvPr id="13" name="Text 9"/>
          <p:cNvSpPr txBox="1"/>
          <p:nvPr/>
        </p:nvSpPr>
        <p:spPr>
          <a:xfrm>
            <a:off x="731520" y="232867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4" name="Text 10"/>
          <p:cNvSpPr/>
          <p:nvPr/>
        </p:nvSpPr>
        <p:spPr>
          <a:xfrm>
            <a:off x="1316736" y="1938528"/>
            <a:ext cx="10106863" cy="1164336"/>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Complete: “My brother ___ in Adama.”  (live)</a:t>
            </a:r>
            <a:endParaRPr lang="en-US" sz="1100" dirty="0"/>
          </a:p>
          <a:p>
            <a:pPr indent="0" marL="0">
              <a:lnSpc>
                <a:spcPct val="102000"/>
              </a:lnSpc>
              <a:spcBef>
                <a:spcPts val="169"/>
              </a:spcBef>
              <a:buNone/>
            </a:pPr>
            <a:r>
              <a:rPr lang="en-US" sz="1610" b="1" dirty="0">
                <a:solidFill>
                  <a:srgbClr val="12211B"/>
                </a:solidFill>
                <a:latin typeface="Calibri" pitchFamily="34" charset="0"/>
                <a:ea typeface="Calibri" pitchFamily="34" charset="-122"/>
                <a:cs typeface="Calibri" pitchFamily="34" charset="-120"/>
              </a:rPr>
              <a:t>My brother lives in Adama.</a:t>
            </a:r>
            <a:endParaRPr lang="en-US" sz="1100" dirty="0"/>
          </a:p>
          <a:p>
            <a:pPr indent="0" marL="0">
              <a:lnSpc>
                <a:spcPct val="102000"/>
              </a:lnSpc>
              <a:spcBef>
                <a:spcPts val="254"/>
              </a:spcBef>
              <a:buNone/>
            </a:pPr>
            <a:r>
              <a:rPr lang="en-US" sz="1270" dirty="0">
                <a:solidFill>
                  <a:srgbClr val="0A4634"/>
                </a:solidFill>
                <a:latin typeface="Calibri" pitchFamily="34" charset="0"/>
                <a:ea typeface="Calibri" pitchFamily="34" charset="-122"/>
                <a:cs typeface="Calibri" pitchFamily="34" charset="-120"/>
              </a:rPr>
              <a:t>WHY: “My brother” is one man, so it is “he” — and he, she and it add -s. The name of the person does not change the rule.</a:t>
            </a:r>
            <a:endParaRPr lang="en-US" sz="1100" dirty="0"/>
          </a:p>
        </p:txBody>
      </p:sp>
      <p:sp>
        <p:nvSpPr>
          <p:cNvPr id="15" name="Shape 11"/>
          <p:cNvSpPr/>
          <p:nvPr/>
        </p:nvSpPr>
        <p:spPr>
          <a:xfrm>
            <a:off x="548640" y="3276600"/>
            <a:ext cx="11094415" cy="1274064"/>
          </a:xfrm>
          <a:prstGeom prst="roundRect">
            <a:avLst>
              <a:gd name="adj" fmla="val 10048"/>
            </a:avLst>
          </a:prstGeom>
          <a:solidFill>
            <a:srgbClr val="E6F5EC"/>
          </a:solidFill>
          <a:ln w="12700">
            <a:solidFill>
              <a:srgbClr val="2E9E5B"/>
            </a:solidFill>
            <a:prstDash val="solid"/>
          </a:ln>
        </p:spPr>
      </p:sp>
      <p:sp>
        <p:nvSpPr>
          <p:cNvPr id="16" name="Shape 12"/>
          <p:cNvSpPr/>
          <p:nvPr/>
        </p:nvSpPr>
        <p:spPr>
          <a:xfrm>
            <a:off x="731520" y="3721608"/>
            <a:ext cx="384048" cy="384048"/>
          </a:xfrm>
          <a:prstGeom prst="ellipse">
            <a:avLst/>
          </a:prstGeom>
          <a:solidFill>
            <a:srgbClr val="2E9E5B"/>
          </a:solidFill>
          <a:ln/>
        </p:spPr>
      </p:sp>
      <p:sp>
        <p:nvSpPr>
          <p:cNvPr id="17" name="Text 13"/>
          <p:cNvSpPr txBox="1"/>
          <p:nvPr/>
        </p:nvSpPr>
        <p:spPr>
          <a:xfrm>
            <a:off x="731520" y="372160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8" name="Text 14"/>
          <p:cNvSpPr/>
          <p:nvPr/>
        </p:nvSpPr>
        <p:spPr>
          <a:xfrm>
            <a:off x="1316736" y="3331464"/>
            <a:ext cx="10106863" cy="1164336"/>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Complete: “They ___ English at school.”  (study)</a:t>
            </a:r>
            <a:endParaRPr lang="en-US" sz="1100" dirty="0"/>
          </a:p>
          <a:p>
            <a:pPr indent="0" marL="0">
              <a:lnSpc>
                <a:spcPct val="102000"/>
              </a:lnSpc>
              <a:spcBef>
                <a:spcPts val="169"/>
              </a:spcBef>
              <a:buNone/>
            </a:pPr>
            <a:r>
              <a:rPr lang="en-US" sz="1610" b="1" dirty="0">
                <a:solidFill>
                  <a:srgbClr val="12211B"/>
                </a:solidFill>
                <a:latin typeface="Calibri" pitchFamily="34" charset="0"/>
                <a:ea typeface="Calibri" pitchFamily="34" charset="-122"/>
                <a:cs typeface="Calibri" pitchFamily="34" charset="-120"/>
              </a:rPr>
              <a:t>They study English at school.</a:t>
            </a:r>
            <a:endParaRPr lang="en-US" sz="1100" dirty="0"/>
          </a:p>
          <a:p>
            <a:pPr indent="0" marL="0">
              <a:lnSpc>
                <a:spcPct val="102000"/>
              </a:lnSpc>
              <a:spcBef>
                <a:spcPts val="254"/>
              </a:spcBef>
              <a:buNone/>
            </a:pPr>
            <a:r>
              <a:rPr lang="en-US" sz="1270" dirty="0">
                <a:solidFill>
                  <a:srgbClr val="0A4634"/>
                </a:solidFill>
                <a:latin typeface="Calibri" pitchFamily="34" charset="0"/>
                <a:ea typeface="Calibri" pitchFamily="34" charset="-122"/>
                <a:cs typeface="Calibri" pitchFamily="34" charset="-120"/>
              </a:rPr>
              <a:t>WHY: “They” is more than one person, so there is no -s. The -ies spelling rule only applies to the he/she/it form.</a:t>
            </a:r>
            <a:endParaRPr lang="en-US" sz="1100" dirty="0"/>
          </a:p>
        </p:txBody>
      </p:sp>
      <p:sp>
        <p:nvSpPr>
          <p:cNvPr id="19" name="Shape 15"/>
          <p:cNvSpPr/>
          <p:nvPr/>
        </p:nvSpPr>
        <p:spPr>
          <a:xfrm>
            <a:off x="548640" y="4669536"/>
            <a:ext cx="11094415" cy="1274064"/>
          </a:xfrm>
          <a:prstGeom prst="roundRect">
            <a:avLst>
              <a:gd name="adj" fmla="val 10048"/>
            </a:avLst>
          </a:prstGeom>
          <a:solidFill>
            <a:srgbClr val="E6F5EC"/>
          </a:solidFill>
          <a:ln w="12700">
            <a:solidFill>
              <a:srgbClr val="2E9E5B"/>
            </a:solidFill>
            <a:prstDash val="solid"/>
          </a:ln>
        </p:spPr>
      </p:sp>
      <p:sp>
        <p:nvSpPr>
          <p:cNvPr id="20" name="Shape 16"/>
          <p:cNvSpPr/>
          <p:nvPr/>
        </p:nvSpPr>
        <p:spPr>
          <a:xfrm>
            <a:off x="731520" y="5114544"/>
            <a:ext cx="384048" cy="384048"/>
          </a:xfrm>
          <a:prstGeom prst="ellipse">
            <a:avLst/>
          </a:prstGeom>
          <a:solidFill>
            <a:srgbClr val="2E9E5B"/>
          </a:solidFill>
          <a:ln/>
        </p:spPr>
      </p:sp>
      <p:sp>
        <p:nvSpPr>
          <p:cNvPr id="21" name="Text 17"/>
          <p:cNvSpPr txBox="1"/>
          <p:nvPr/>
        </p:nvSpPr>
        <p:spPr>
          <a:xfrm>
            <a:off x="731520" y="511454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2" name="Text 18"/>
          <p:cNvSpPr/>
          <p:nvPr/>
        </p:nvSpPr>
        <p:spPr>
          <a:xfrm>
            <a:off x="1316736" y="4724400"/>
            <a:ext cx="10106863" cy="1164336"/>
          </a:xfrm>
          <a:prstGeom prst="rect">
            <a:avLst/>
          </a:prstGeom>
          <a:noFill/>
          <a:ln/>
        </p:spPr>
        <p:txBody>
          <a:bodyPr wrap="square" lIns="0" tIns="0" rIns="0" bIns="0" rtlCol="0" anchor="ctr"/>
          <a:lstStyle/>
          <a:p>
            <a:pPr indent="0" marL="0">
              <a:lnSpc>
                <a:spcPct val="102000"/>
              </a:lnSpc>
              <a:buNone/>
            </a:pPr>
            <a:r>
              <a:rPr lang="en-US" sz="1300" i="1" dirty="0">
                <a:solidFill>
                  <a:srgbClr val="6B7C71"/>
                </a:solidFill>
                <a:latin typeface="Calibri" pitchFamily="34" charset="0"/>
                <a:ea typeface="Calibri" pitchFamily="34" charset="-122"/>
                <a:cs typeface="Calibri" pitchFamily="34" charset="-120"/>
              </a:rPr>
              <a:t>Correct this: “She go to church on Sunday.”</a:t>
            </a:r>
            <a:endParaRPr lang="en-US" sz="1300" dirty="0"/>
          </a:p>
          <a:p>
            <a:pPr indent="0" marL="0">
              <a:lnSpc>
                <a:spcPct val="102000"/>
              </a:lnSpc>
              <a:spcBef>
                <a:spcPts val="200"/>
              </a:spcBef>
              <a:buNone/>
            </a:pPr>
            <a:r>
              <a:rPr lang="en-US" sz="1900" b="1" dirty="0">
                <a:solidFill>
                  <a:srgbClr val="12211B"/>
                </a:solidFill>
                <a:latin typeface="Calibri" pitchFamily="34" charset="0"/>
                <a:ea typeface="Calibri" pitchFamily="34" charset="-122"/>
                <a:cs typeface="Calibri" pitchFamily="34" charset="-120"/>
              </a:rPr>
              <a:t>She goes to church on Sunday.</a:t>
            </a:r>
            <a:endParaRPr lang="en-US" sz="1300" dirty="0"/>
          </a:p>
          <a:p>
            <a:pPr indent="0" marL="0">
              <a:lnSpc>
                <a:spcPct val="102000"/>
              </a:lnSpc>
              <a:spcBef>
                <a:spcPts val="300"/>
              </a:spcBef>
              <a:buNone/>
            </a:pPr>
            <a:r>
              <a:rPr lang="en-US" sz="1500" dirty="0">
                <a:solidFill>
                  <a:srgbClr val="0A4634"/>
                </a:solidFill>
                <a:latin typeface="Calibri" pitchFamily="34" charset="0"/>
                <a:ea typeface="Calibri" pitchFamily="34" charset="-122"/>
                <a:cs typeface="Calibri" pitchFamily="34" charset="-120"/>
              </a:rPr>
              <a:t>WHY: “She” needs the -s, and “go” ends in o, so it takes -es: goes, not gos.</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679192" cy="420624"/>
          </a:xfrm>
          <a:prstGeom prst="roundRect">
            <a:avLst>
              <a:gd name="adj" fmla="val 50000"/>
            </a:avLst>
          </a:prstGeom>
          <a:solidFill>
            <a:srgbClr val="3F5BD9"/>
          </a:solidFill>
          <a:ln/>
        </p:spPr>
      </p:sp>
      <p:sp>
        <p:nvSpPr>
          <p:cNvPr id="3" name="Shape 1"/>
          <p:cNvSpPr/>
          <p:nvPr/>
        </p:nvSpPr>
        <p:spPr>
          <a:xfrm>
            <a:off x="649224" y="539496"/>
            <a:ext cx="219456" cy="219456"/>
          </a:xfrm>
          <a:prstGeom prst="ellipse">
            <a:avLst/>
          </a:prstGeom>
          <a:solidFill>
            <a:srgbClr val="3F5BD9"/>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218541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GUIDED EXAMPLES 2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Guided examples 2 — spelling the -s form</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Check the ending of the verb first.</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1 — Present Simple &amp; Daily Routine</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22</a:t>
            </a:r>
            <a:endParaRPr lang="en-US" sz="1100" dirty="0"/>
          </a:p>
        </p:txBody>
      </p:sp>
      <p:sp>
        <p:nvSpPr>
          <p:cNvPr id="11" name="Shape 7"/>
          <p:cNvSpPr/>
          <p:nvPr/>
        </p:nvSpPr>
        <p:spPr>
          <a:xfrm>
            <a:off x="548640" y="1883664"/>
            <a:ext cx="11094415" cy="1274064"/>
          </a:xfrm>
          <a:prstGeom prst="roundRect">
            <a:avLst>
              <a:gd name="adj" fmla="val 10048"/>
            </a:avLst>
          </a:prstGeom>
          <a:solidFill>
            <a:srgbClr val="E6F5EC"/>
          </a:solidFill>
          <a:ln w="12700">
            <a:solidFill>
              <a:srgbClr val="2E9E5B"/>
            </a:solidFill>
            <a:prstDash val="solid"/>
          </a:ln>
        </p:spPr>
      </p:sp>
      <p:sp>
        <p:nvSpPr>
          <p:cNvPr id="12" name="Shape 8"/>
          <p:cNvSpPr/>
          <p:nvPr/>
        </p:nvSpPr>
        <p:spPr>
          <a:xfrm>
            <a:off x="731520" y="2328672"/>
            <a:ext cx="384048" cy="384048"/>
          </a:xfrm>
          <a:prstGeom prst="ellipse">
            <a:avLst/>
          </a:prstGeom>
          <a:solidFill>
            <a:srgbClr val="2E9E5B"/>
          </a:solidFill>
          <a:ln/>
        </p:spPr>
      </p:sp>
      <p:sp>
        <p:nvSpPr>
          <p:cNvPr id="13" name="Text 9"/>
          <p:cNvSpPr txBox="1"/>
          <p:nvPr/>
        </p:nvSpPr>
        <p:spPr>
          <a:xfrm>
            <a:off x="731520" y="232867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4" name="Text 10"/>
          <p:cNvSpPr/>
          <p:nvPr/>
        </p:nvSpPr>
        <p:spPr>
          <a:xfrm>
            <a:off x="1316736" y="1938528"/>
            <a:ext cx="10106863" cy="1164336"/>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He + watch television</a:t>
            </a:r>
            <a:endParaRPr lang="en-US" sz="1100" dirty="0"/>
          </a:p>
          <a:p>
            <a:pPr indent="0" marL="0">
              <a:lnSpc>
                <a:spcPct val="102000"/>
              </a:lnSpc>
              <a:spcBef>
                <a:spcPts val="169"/>
              </a:spcBef>
              <a:buNone/>
            </a:pPr>
            <a:r>
              <a:rPr lang="en-US" sz="1610" b="1" dirty="0">
                <a:solidFill>
                  <a:srgbClr val="12211B"/>
                </a:solidFill>
                <a:latin typeface="Calibri" pitchFamily="34" charset="0"/>
                <a:ea typeface="Calibri" pitchFamily="34" charset="-122"/>
                <a:cs typeface="Calibri" pitchFamily="34" charset="-120"/>
              </a:rPr>
              <a:t>He watches television.</a:t>
            </a:r>
            <a:endParaRPr lang="en-US" sz="1100" dirty="0"/>
          </a:p>
          <a:p>
            <a:pPr indent="0" marL="0">
              <a:lnSpc>
                <a:spcPct val="102000"/>
              </a:lnSpc>
              <a:spcBef>
                <a:spcPts val="254"/>
              </a:spcBef>
              <a:buNone/>
            </a:pPr>
            <a:r>
              <a:rPr lang="en-US" sz="1270" dirty="0">
                <a:solidFill>
                  <a:srgbClr val="0A4634"/>
                </a:solidFill>
                <a:latin typeface="Calibri" pitchFamily="34" charset="0"/>
                <a:ea typeface="Calibri" pitchFamily="34" charset="-122"/>
                <a:cs typeface="Calibri" pitchFamily="34" charset="-120"/>
              </a:rPr>
              <a:t>WHY: “Watch” ends in ch, so it takes -es. It also adds a whole extra syllable when you say it: watch-es.</a:t>
            </a:r>
            <a:endParaRPr lang="en-US" sz="1100" dirty="0"/>
          </a:p>
        </p:txBody>
      </p:sp>
      <p:sp>
        <p:nvSpPr>
          <p:cNvPr id="15" name="Shape 11"/>
          <p:cNvSpPr/>
          <p:nvPr/>
        </p:nvSpPr>
        <p:spPr>
          <a:xfrm>
            <a:off x="548640" y="3276600"/>
            <a:ext cx="11094415" cy="1274064"/>
          </a:xfrm>
          <a:prstGeom prst="roundRect">
            <a:avLst>
              <a:gd name="adj" fmla="val 10048"/>
            </a:avLst>
          </a:prstGeom>
          <a:solidFill>
            <a:srgbClr val="E6F5EC"/>
          </a:solidFill>
          <a:ln w="12700">
            <a:solidFill>
              <a:srgbClr val="2E9E5B"/>
            </a:solidFill>
            <a:prstDash val="solid"/>
          </a:ln>
        </p:spPr>
      </p:sp>
      <p:sp>
        <p:nvSpPr>
          <p:cNvPr id="16" name="Shape 12"/>
          <p:cNvSpPr/>
          <p:nvPr/>
        </p:nvSpPr>
        <p:spPr>
          <a:xfrm>
            <a:off x="731520" y="3721608"/>
            <a:ext cx="384048" cy="384048"/>
          </a:xfrm>
          <a:prstGeom prst="ellipse">
            <a:avLst/>
          </a:prstGeom>
          <a:solidFill>
            <a:srgbClr val="2E9E5B"/>
          </a:solidFill>
          <a:ln/>
        </p:spPr>
      </p:sp>
      <p:sp>
        <p:nvSpPr>
          <p:cNvPr id="17" name="Text 13"/>
          <p:cNvSpPr txBox="1"/>
          <p:nvPr/>
        </p:nvSpPr>
        <p:spPr>
          <a:xfrm>
            <a:off x="731520" y="372160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8" name="Text 14"/>
          <p:cNvSpPr/>
          <p:nvPr/>
        </p:nvSpPr>
        <p:spPr>
          <a:xfrm>
            <a:off x="1316736" y="3331464"/>
            <a:ext cx="10106863" cy="1164336"/>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She + study medicine</a:t>
            </a:r>
            <a:endParaRPr lang="en-US" sz="1100" dirty="0"/>
          </a:p>
          <a:p>
            <a:pPr indent="0" marL="0">
              <a:lnSpc>
                <a:spcPct val="102000"/>
              </a:lnSpc>
              <a:spcBef>
                <a:spcPts val="169"/>
              </a:spcBef>
              <a:buNone/>
            </a:pPr>
            <a:r>
              <a:rPr lang="en-US" sz="1610" b="1" dirty="0">
                <a:solidFill>
                  <a:srgbClr val="12211B"/>
                </a:solidFill>
                <a:latin typeface="Calibri" pitchFamily="34" charset="0"/>
                <a:ea typeface="Calibri" pitchFamily="34" charset="-122"/>
                <a:cs typeface="Calibri" pitchFamily="34" charset="-120"/>
              </a:rPr>
              <a:t>She studies medicine.</a:t>
            </a:r>
            <a:endParaRPr lang="en-US" sz="1100" dirty="0"/>
          </a:p>
          <a:p>
            <a:pPr indent="0" marL="0">
              <a:lnSpc>
                <a:spcPct val="102000"/>
              </a:lnSpc>
              <a:spcBef>
                <a:spcPts val="254"/>
              </a:spcBef>
              <a:buNone/>
            </a:pPr>
            <a:r>
              <a:rPr lang="en-US" sz="1270" dirty="0">
                <a:solidFill>
                  <a:srgbClr val="0A4634"/>
                </a:solidFill>
                <a:latin typeface="Calibri" pitchFamily="34" charset="0"/>
                <a:ea typeface="Calibri" pitchFamily="34" charset="-122"/>
                <a:cs typeface="Calibri" pitchFamily="34" charset="-120"/>
              </a:rPr>
              <a:t>WHY: Consonant + y, so the y changes to -ies. Compare “play”, which has a vowel before the y and simply adds -s: plays.</a:t>
            </a:r>
            <a:endParaRPr lang="en-US" sz="1100" dirty="0"/>
          </a:p>
        </p:txBody>
      </p:sp>
      <p:sp>
        <p:nvSpPr>
          <p:cNvPr id="19" name="Shape 15"/>
          <p:cNvSpPr/>
          <p:nvPr/>
        </p:nvSpPr>
        <p:spPr>
          <a:xfrm>
            <a:off x="548640" y="4669536"/>
            <a:ext cx="11094415" cy="1274064"/>
          </a:xfrm>
          <a:prstGeom prst="roundRect">
            <a:avLst>
              <a:gd name="adj" fmla="val 10048"/>
            </a:avLst>
          </a:prstGeom>
          <a:solidFill>
            <a:srgbClr val="E6F5EC"/>
          </a:solidFill>
          <a:ln w="12700">
            <a:solidFill>
              <a:srgbClr val="2E9E5B"/>
            </a:solidFill>
            <a:prstDash val="solid"/>
          </a:ln>
        </p:spPr>
      </p:sp>
      <p:sp>
        <p:nvSpPr>
          <p:cNvPr id="20" name="Shape 16"/>
          <p:cNvSpPr/>
          <p:nvPr/>
        </p:nvSpPr>
        <p:spPr>
          <a:xfrm>
            <a:off x="731520" y="5114544"/>
            <a:ext cx="384048" cy="384048"/>
          </a:xfrm>
          <a:prstGeom prst="ellipse">
            <a:avLst/>
          </a:prstGeom>
          <a:solidFill>
            <a:srgbClr val="2E9E5B"/>
          </a:solidFill>
          <a:ln/>
        </p:spPr>
      </p:sp>
      <p:sp>
        <p:nvSpPr>
          <p:cNvPr id="21" name="Text 17"/>
          <p:cNvSpPr txBox="1"/>
          <p:nvPr/>
        </p:nvSpPr>
        <p:spPr>
          <a:xfrm>
            <a:off x="731520" y="511454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2" name="Text 18"/>
          <p:cNvSpPr/>
          <p:nvPr/>
        </p:nvSpPr>
        <p:spPr>
          <a:xfrm>
            <a:off x="1316736" y="4724400"/>
            <a:ext cx="10106863" cy="1164336"/>
          </a:xfrm>
          <a:prstGeom prst="rect">
            <a:avLst/>
          </a:prstGeom>
          <a:noFill/>
          <a:ln/>
        </p:spPr>
        <p:txBody>
          <a:bodyPr wrap="square" lIns="0" tIns="0" rIns="0" bIns="0" rtlCol="0" anchor="ctr"/>
          <a:lstStyle/>
          <a:p>
            <a:pPr indent="0" marL="0">
              <a:lnSpc>
                <a:spcPct val="102000"/>
              </a:lnSpc>
              <a:buNone/>
            </a:pPr>
            <a:r>
              <a:rPr lang="en-US" sz="1270" i="1" dirty="0">
                <a:solidFill>
                  <a:srgbClr val="6B7C71"/>
                </a:solidFill>
                <a:latin typeface="Calibri" pitchFamily="34" charset="0"/>
                <a:ea typeface="Calibri" pitchFamily="34" charset="-122"/>
                <a:cs typeface="Calibri" pitchFamily="34" charset="-120"/>
              </a:rPr>
              <a:t>It + cost fifty birr</a:t>
            </a:r>
            <a:endParaRPr lang="en-US" sz="1270" dirty="0"/>
          </a:p>
          <a:p>
            <a:pPr indent="0" marL="0">
              <a:lnSpc>
                <a:spcPct val="102000"/>
              </a:lnSpc>
              <a:spcBef>
                <a:spcPts val="195"/>
              </a:spcBef>
              <a:buNone/>
            </a:pPr>
            <a:r>
              <a:rPr lang="en-US" sz="1850" b="1" dirty="0">
                <a:solidFill>
                  <a:srgbClr val="12211B"/>
                </a:solidFill>
                <a:latin typeface="Calibri" pitchFamily="34" charset="0"/>
                <a:ea typeface="Calibri" pitchFamily="34" charset="-122"/>
                <a:cs typeface="Calibri" pitchFamily="34" charset="-120"/>
              </a:rPr>
              <a:t>It costs fifty birr.</a:t>
            </a:r>
            <a:endParaRPr lang="en-US" sz="1270" dirty="0"/>
          </a:p>
          <a:p>
            <a:pPr indent="0" marL="0">
              <a:lnSpc>
                <a:spcPct val="102000"/>
              </a:lnSpc>
              <a:spcBef>
                <a:spcPts val="292"/>
              </a:spcBef>
              <a:buNone/>
            </a:pPr>
            <a:r>
              <a:rPr lang="en-US" sz="1460" dirty="0">
                <a:solidFill>
                  <a:srgbClr val="0A4634"/>
                </a:solidFill>
                <a:latin typeface="Calibri" pitchFamily="34" charset="0"/>
                <a:ea typeface="Calibri" pitchFamily="34" charset="-122"/>
                <a:cs typeface="Calibri" pitchFamily="34" charset="-120"/>
              </a:rPr>
              <a:t>WHY: “It” takes -s like he and she. Most verbs just add -s with no spelling change.</a:t>
            </a:r>
            <a:endParaRPr lang="en-US" sz="127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679192" cy="420624"/>
          </a:xfrm>
          <a:prstGeom prst="roundRect">
            <a:avLst>
              <a:gd name="adj" fmla="val 50000"/>
            </a:avLst>
          </a:prstGeom>
          <a:solidFill>
            <a:srgbClr val="3F5BD9"/>
          </a:solidFill>
          <a:ln/>
        </p:spPr>
      </p:sp>
      <p:sp>
        <p:nvSpPr>
          <p:cNvPr id="3" name="Shape 1"/>
          <p:cNvSpPr/>
          <p:nvPr/>
        </p:nvSpPr>
        <p:spPr>
          <a:xfrm>
            <a:off x="649224" y="539496"/>
            <a:ext cx="219456" cy="219456"/>
          </a:xfrm>
          <a:prstGeom prst="ellipse">
            <a:avLst/>
          </a:prstGeom>
          <a:solidFill>
            <a:srgbClr val="3F5BD9"/>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218541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GUIDED EXAMPLES 3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Guided examples 3 — negatives</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Where does the -s go?</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1 — Present Simple &amp; Daily Routine</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23</a:t>
            </a:r>
            <a:endParaRPr lang="en-US" sz="1100" dirty="0"/>
          </a:p>
        </p:txBody>
      </p:sp>
      <p:sp>
        <p:nvSpPr>
          <p:cNvPr id="11" name="Shape 7"/>
          <p:cNvSpPr/>
          <p:nvPr/>
        </p:nvSpPr>
        <p:spPr>
          <a:xfrm>
            <a:off x="548640" y="1883664"/>
            <a:ext cx="11094415" cy="1274064"/>
          </a:xfrm>
          <a:prstGeom prst="roundRect">
            <a:avLst>
              <a:gd name="adj" fmla="val 10048"/>
            </a:avLst>
          </a:prstGeom>
          <a:solidFill>
            <a:srgbClr val="E6F5EC"/>
          </a:solidFill>
          <a:ln w="12700">
            <a:solidFill>
              <a:srgbClr val="2E9E5B"/>
            </a:solidFill>
            <a:prstDash val="solid"/>
          </a:ln>
        </p:spPr>
      </p:sp>
      <p:sp>
        <p:nvSpPr>
          <p:cNvPr id="12" name="Shape 8"/>
          <p:cNvSpPr/>
          <p:nvPr/>
        </p:nvSpPr>
        <p:spPr>
          <a:xfrm>
            <a:off x="731520" y="2328672"/>
            <a:ext cx="384048" cy="384048"/>
          </a:xfrm>
          <a:prstGeom prst="ellipse">
            <a:avLst/>
          </a:prstGeom>
          <a:solidFill>
            <a:srgbClr val="2E9E5B"/>
          </a:solidFill>
          <a:ln/>
        </p:spPr>
      </p:sp>
      <p:sp>
        <p:nvSpPr>
          <p:cNvPr id="13" name="Text 9"/>
          <p:cNvSpPr txBox="1"/>
          <p:nvPr/>
        </p:nvSpPr>
        <p:spPr>
          <a:xfrm>
            <a:off x="731520" y="232867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4" name="Text 10"/>
          <p:cNvSpPr/>
          <p:nvPr/>
        </p:nvSpPr>
        <p:spPr>
          <a:xfrm>
            <a:off x="1316736" y="1938528"/>
            <a:ext cx="10106863" cy="1164336"/>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Make it negative: “She likes coffee.”</a:t>
            </a:r>
            <a:endParaRPr lang="en-US" sz="1100" dirty="0"/>
          </a:p>
          <a:p>
            <a:pPr indent="0" marL="0">
              <a:lnSpc>
                <a:spcPct val="102000"/>
              </a:lnSpc>
              <a:spcBef>
                <a:spcPts val="169"/>
              </a:spcBef>
              <a:buNone/>
            </a:pPr>
            <a:r>
              <a:rPr lang="en-US" sz="1610" b="1" dirty="0">
                <a:solidFill>
                  <a:srgbClr val="12211B"/>
                </a:solidFill>
                <a:latin typeface="Calibri" pitchFamily="34" charset="0"/>
                <a:ea typeface="Calibri" pitchFamily="34" charset="-122"/>
                <a:cs typeface="Calibri" pitchFamily="34" charset="-120"/>
              </a:rPr>
              <a:t>She does not like coffee.</a:t>
            </a:r>
            <a:endParaRPr lang="en-US" sz="1100" dirty="0"/>
          </a:p>
          <a:p>
            <a:pPr indent="0" marL="0">
              <a:lnSpc>
                <a:spcPct val="102000"/>
              </a:lnSpc>
              <a:spcBef>
                <a:spcPts val="254"/>
              </a:spcBef>
              <a:buNone/>
            </a:pPr>
            <a:r>
              <a:rPr lang="en-US" sz="1270" dirty="0">
                <a:solidFill>
                  <a:srgbClr val="0A4634"/>
                </a:solidFill>
                <a:latin typeface="Calibri" pitchFamily="34" charset="0"/>
                <a:ea typeface="Calibri" pitchFamily="34" charset="-122"/>
                <a:cs typeface="Calibri" pitchFamily="34" charset="-120"/>
              </a:rPr>
              <a:t>WHY: The -s moves from “likes” onto “does”. It appears exactly once in the sentence — never twice.</a:t>
            </a:r>
            <a:endParaRPr lang="en-US" sz="1100" dirty="0"/>
          </a:p>
        </p:txBody>
      </p:sp>
      <p:sp>
        <p:nvSpPr>
          <p:cNvPr id="15" name="Shape 11"/>
          <p:cNvSpPr/>
          <p:nvPr/>
        </p:nvSpPr>
        <p:spPr>
          <a:xfrm>
            <a:off x="548640" y="3276600"/>
            <a:ext cx="11094415" cy="1274064"/>
          </a:xfrm>
          <a:prstGeom prst="roundRect">
            <a:avLst>
              <a:gd name="adj" fmla="val 10048"/>
            </a:avLst>
          </a:prstGeom>
          <a:solidFill>
            <a:srgbClr val="E6F5EC"/>
          </a:solidFill>
          <a:ln w="12700">
            <a:solidFill>
              <a:srgbClr val="2E9E5B"/>
            </a:solidFill>
            <a:prstDash val="solid"/>
          </a:ln>
        </p:spPr>
      </p:sp>
      <p:sp>
        <p:nvSpPr>
          <p:cNvPr id="16" name="Shape 12"/>
          <p:cNvSpPr/>
          <p:nvPr/>
        </p:nvSpPr>
        <p:spPr>
          <a:xfrm>
            <a:off x="731520" y="3721608"/>
            <a:ext cx="384048" cy="384048"/>
          </a:xfrm>
          <a:prstGeom prst="ellipse">
            <a:avLst/>
          </a:prstGeom>
          <a:solidFill>
            <a:srgbClr val="2E9E5B"/>
          </a:solidFill>
          <a:ln/>
        </p:spPr>
      </p:sp>
      <p:sp>
        <p:nvSpPr>
          <p:cNvPr id="17" name="Text 13"/>
          <p:cNvSpPr txBox="1"/>
          <p:nvPr/>
        </p:nvSpPr>
        <p:spPr>
          <a:xfrm>
            <a:off x="731520" y="372160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8" name="Text 14"/>
          <p:cNvSpPr/>
          <p:nvPr/>
        </p:nvSpPr>
        <p:spPr>
          <a:xfrm>
            <a:off x="1316736" y="3331464"/>
            <a:ext cx="10106863" cy="1164336"/>
          </a:xfrm>
          <a:prstGeom prst="rect">
            <a:avLst/>
          </a:prstGeom>
          <a:noFill/>
          <a:ln/>
        </p:spPr>
        <p:txBody>
          <a:bodyPr wrap="square" lIns="0" tIns="0" rIns="0" bIns="0" rtlCol="0" anchor="ctr"/>
          <a:lstStyle/>
          <a:p>
            <a:pPr indent="0" marL="0">
              <a:lnSpc>
                <a:spcPct val="102000"/>
              </a:lnSpc>
              <a:buNone/>
            </a:pPr>
            <a:r>
              <a:rPr lang="en-US" sz="1130" i="1" dirty="0">
                <a:solidFill>
                  <a:srgbClr val="6B7C71"/>
                </a:solidFill>
                <a:latin typeface="Calibri" pitchFamily="34" charset="0"/>
                <a:ea typeface="Calibri" pitchFamily="34" charset="-122"/>
                <a:cs typeface="Calibri" pitchFamily="34" charset="-120"/>
              </a:rPr>
              <a:t>Make it negative: “They work on Saturday.”</a:t>
            </a:r>
            <a:endParaRPr lang="en-US" sz="1130" dirty="0"/>
          </a:p>
          <a:p>
            <a:pPr indent="0" marL="0">
              <a:lnSpc>
                <a:spcPct val="102000"/>
              </a:lnSpc>
              <a:spcBef>
                <a:spcPts val="174"/>
              </a:spcBef>
              <a:buNone/>
            </a:pPr>
            <a:r>
              <a:rPr lang="en-US" sz="1650" b="1" dirty="0">
                <a:solidFill>
                  <a:srgbClr val="12211B"/>
                </a:solidFill>
                <a:latin typeface="Calibri" pitchFamily="34" charset="0"/>
                <a:ea typeface="Calibri" pitchFamily="34" charset="-122"/>
                <a:cs typeface="Calibri" pitchFamily="34" charset="-120"/>
              </a:rPr>
              <a:t>They do not work on Saturday.</a:t>
            </a:r>
            <a:endParaRPr lang="en-US" sz="1130" dirty="0"/>
          </a:p>
          <a:p>
            <a:pPr indent="0" marL="0">
              <a:lnSpc>
                <a:spcPct val="102000"/>
              </a:lnSpc>
              <a:spcBef>
                <a:spcPts val="261"/>
              </a:spcBef>
              <a:buNone/>
            </a:pPr>
            <a:r>
              <a:rPr lang="en-US" sz="1300" dirty="0">
                <a:solidFill>
                  <a:srgbClr val="0A4634"/>
                </a:solidFill>
                <a:latin typeface="Calibri" pitchFamily="34" charset="0"/>
                <a:ea typeface="Calibri" pitchFamily="34" charset="-122"/>
                <a:cs typeface="Calibri" pitchFamily="34" charset="-120"/>
              </a:rPr>
              <a:t>WHY: “They” takes “do not”, not “does not”. There was no -s to move, so the verb is unchanged.</a:t>
            </a:r>
            <a:endParaRPr lang="en-US" sz="1130" dirty="0"/>
          </a:p>
        </p:txBody>
      </p:sp>
      <p:sp>
        <p:nvSpPr>
          <p:cNvPr id="19" name="Shape 15"/>
          <p:cNvSpPr/>
          <p:nvPr/>
        </p:nvSpPr>
        <p:spPr>
          <a:xfrm>
            <a:off x="548640" y="4669536"/>
            <a:ext cx="11094415" cy="1274064"/>
          </a:xfrm>
          <a:prstGeom prst="roundRect">
            <a:avLst>
              <a:gd name="adj" fmla="val 10048"/>
            </a:avLst>
          </a:prstGeom>
          <a:solidFill>
            <a:srgbClr val="E6F5EC"/>
          </a:solidFill>
          <a:ln w="12700">
            <a:solidFill>
              <a:srgbClr val="2E9E5B"/>
            </a:solidFill>
            <a:prstDash val="solid"/>
          </a:ln>
        </p:spPr>
      </p:sp>
      <p:sp>
        <p:nvSpPr>
          <p:cNvPr id="20" name="Shape 16"/>
          <p:cNvSpPr/>
          <p:nvPr/>
        </p:nvSpPr>
        <p:spPr>
          <a:xfrm>
            <a:off x="731520" y="5114544"/>
            <a:ext cx="384048" cy="384048"/>
          </a:xfrm>
          <a:prstGeom prst="ellipse">
            <a:avLst/>
          </a:prstGeom>
          <a:solidFill>
            <a:srgbClr val="2E9E5B"/>
          </a:solidFill>
          <a:ln/>
        </p:spPr>
      </p:sp>
      <p:sp>
        <p:nvSpPr>
          <p:cNvPr id="21" name="Text 17"/>
          <p:cNvSpPr txBox="1"/>
          <p:nvPr/>
        </p:nvSpPr>
        <p:spPr>
          <a:xfrm>
            <a:off x="731520" y="511454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2" name="Text 18"/>
          <p:cNvSpPr/>
          <p:nvPr/>
        </p:nvSpPr>
        <p:spPr>
          <a:xfrm>
            <a:off x="1316736" y="4724400"/>
            <a:ext cx="10106863" cy="1164336"/>
          </a:xfrm>
          <a:prstGeom prst="rect">
            <a:avLst/>
          </a:prstGeom>
          <a:noFill/>
          <a:ln/>
        </p:spPr>
        <p:txBody>
          <a:bodyPr wrap="square" lIns="0" tIns="0" rIns="0" bIns="0" rtlCol="0" anchor="ctr"/>
          <a:lstStyle/>
          <a:p>
            <a:pPr indent="0" marL="0">
              <a:lnSpc>
                <a:spcPct val="102000"/>
              </a:lnSpc>
              <a:buNone/>
            </a:pPr>
            <a:r>
              <a:rPr lang="en-US" sz="1270" i="1" dirty="0">
                <a:solidFill>
                  <a:srgbClr val="6B7C71"/>
                </a:solidFill>
                <a:latin typeface="Calibri" pitchFamily="34" charset="0"/>
                <a:ea typeface="Calibri" pitchFamily="34" charset="-122"/>
                <a:cs typeface="Calibri" pitchFamily="34" charset="-120"/>
              </a:rPr>
              <a:t>Correct this: “He doesn't works here.”</a:t>
            </a:r>
            <a:endParaRPr lang="en-US" sz="1270" dirty="0"/>
          </a:p>
          <a:p>
            <a:pPr indent="0" marL="0">
              <a:lnSpc>
                <a:spcPct val="102000"/>
              </a:lnSpc>
              <a:spcBef>
                <a:spcPts val="195"/>
              </a:spcBef>
              <a:buNone/>
            </a:pPr>
            <a:r>
              <a:rPr lang="en-US" sz="1850" b="1" dirty="0">
                <a:solidFill>
                  <a:srgbClr val="12211B"/>
                </a:solidFill>
                <a:latin typeface="Calibri" pitchFamily="34" charset="0"/>
                <a:ea typeface="Calibri" pitchFamily="34" charset="-122"/>
                <a:cs typeface="Calibri" pitchFamily="34" charset="-120"/>
              </a:rPr>
              <a:t>He does not work here.  (or: He doesn't work here.)</a:t>
            </a:r>
            <a:endParaRPr lang="en-US" sz="1270" dirty="0"/>
          </a:p>
          <a:p>
            <a:pPr indent="0" marL="0">
              <a:lnSpc>
                <a:spcPct val="102000"/>
              </a:lnSpc>
              <a:spcBef>
                <a:spcPts val="292"/>
              </a:spcBef>
              <a:buNone/>
            </a:pPr>
            <a:r>
              <a:rPr lang="en-US" sz="1460" dirty="0">
                <a:solidFill>
                  <a:srgbClr val="0A4634"/>
                </a:solidFill>
                <a:latin typeface="Calibri" pitchFamily="34" charset="0"/>
                <a:ea typeface="Calibri" pitchFamily="34" charset="-122"/>
                <a:cs typeface="Calibri" pitchFamily="34" charset="-120"/>
              </a:rPr>
              <a:t>WHY: “Doesn't” already carries the -s, so the main verb goes back to its base form.</a:t>
            </a:r>
            <a:endParaRPr lang="en-US" sz="127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679192" cy="420624"/>
          </a:xfrm>
          <a:prstGeom prst="roundRect">
            <a:avLst>
              <a:gd name="adj" fmla="val 50000"/>
            </a:avLst>
          </a:prstGeom>
          <a:solidFill>
            <a:srgbClr val="3F5BD9"/>
          </a:solidFill>
          <a:ln/>
        </p:spPr>
      </p:sp>
      <p:sp>
        <p:nvSpPr>
          <p:cNvPr id="3" name="Shape 1"/>
          <p:cNvSpPr/>
          <p:nvPr/>
        </p:nvSpPr>
        <p:spPr>
          <a:xfrm>
            <a:off x="649224" y="539496"/>
            <a:ext cx="219456" cy="219456"/>
          </a:xfrm>
          <a:prstGeom prst="ellipse">
            <a:avLst/>
          </a:prstGeom>
          <a:solidFill>
            <a:srgbClr val="3F5BD9"/>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218541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GUIDED EXAMPLES 4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Guided examples 4 — questions</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Auxiliary first, base verb second.</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1 — Present Simple &amp; Daily Routine</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24</a:t>
            </a:r>
            <a:endParaRPr lang="en-US" sz="1100" dirty="0"/>
          </a:p>
        </p:txBody>
      </p:sp>
      <p:sp>
        <p:nvSpPr>
          <p:cNvPr id="11" name="Shape 7"/>
          <p:cNvSpPr/>
          <p:nvPr/>
        </p:nvSpPr>
        <p:spPr>
          <a:xfrm>
            <a:off x="548640" y="1883664"/>
            <a:ext cx="11094415" cy="1274064"/>
          </a:xfrm>
          <a:prstGeom prst="roundRect">
            <a:avLst>
              <a:gd name="adj" fmla="val 10048"/>
            </a:avLst>
          </a:prstGeom>
          <a:solidFill>
            <a:srgbClr val="E6F5EC"/>
          </a:solidFill>
          <a:ln w="12700">
            <a:solidFill>
              <a:srgbClr val="2E9E5B"/>
            </a:solidFill>
            <a:prstDash val="solid"/>
          </a:ln>
        </p:spPr>
      </p:sp>
      <p:sp>
        <p:nvSpPr>
          <p:cNvPr id="12" name="Shape 8"/>
          <p:cNvSpPr/>
          <p:nvPr/>
        </p:nvSpPr>
        <p:spPr>
          <a:xfrm>
            <a:off x="731520" y="2328672"/>
            <a:ext cx="384048" cy="384048"/>
          </a:xfrm>
          <a:prstGeom prst="ellipse">
            <a:avLst/>
          </a:prstGeom>
          <a:solidFill>
            <a:srgbClr val="2E9E5B"/>
          </a:solidFill>
          <a:ln/>
        </p:spPr>
      </p:sp>
      <p:sp>
        <p:nvSpPr>
          <p:cNvPr id="13" name="Text 9"/>
          <p:cNvSpPr txBox="1"/>
          <p:nvPr/>
        </p:nvSpPr>
        <p:spPr>
          <a:xfrm>
            <a:off x="731520" y="232867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4" name="Text 10"/>
          <p:cNvSpPr/>
          <p:nvPr/>
        </p:nvSpPr>
        <p:spPr>
          <a:xfrm>
            <a:off x="1316736" y="1938528"/>
            <a:ext cx="10106863" cy="1164336"/>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Make a question: “You live in Bahir Dar.”</a:t>
            </a:r>
            <a:endParaRPr lang="en-US" sz="1100" dirty="0"/>
          </a:p>
          <a:p>
            <a:pPr indent="0" marL="0">
              <a:lnSpc>
                <a:spcPct val="102000"/>
              </a:lnSpc>
              <a:spcBef>
                <a:spcPts val="169"/>
              </a:spcBef>
              <a:buNone/>
            </a:pPr>
            <a:r>
              <a:rPr lang="en-US" sz="1610" b="1" dirty="0">
                <a:solidFill>
                  <a:srgbClr val="12211B"/>
                </a:solidFill>
                <a:latin typeface="Calibri" pitchFamily="34" charset="0"/>
                <a:ea typeface="Calibri" pitchFamily="34" charset="-122"/>
                <a:cs typeface="Calibri" pitchFamily="34" charset="-120"/>
              </a:rPr>
              <a:t>Do you live in Bahir Dar?</a:t>
            </a:r>
            <a:endParaRPr lang="en-US" sz="1100" dirty="0"/>
          </a:p>
          <a:p>
            <a:pPr indent="0" marL="0">
              <a:lnSpc>
                <a:spcPct val="102000"/>
              </a:lnSpc>
              <a:spcBef>
                <a:spcPts val="254"/>
              </a:spcBef>
              <a:buNone/>
            </a:pPr>
            <a:r>
              <a:rPr lang="en-US" sz="1270" dirty="0">
                <a:solidFill>
                  <a:srgbClr val="0A4634"/>
                </a:solidFill>
                <a:latin typeface="Calibri" pitchFamily="34" charset="0"/>
                <a:ea typeface="Calibri" pitchFamily="34" charset="-122"/>
                <a:cs typeface="Calibri" pitchFamily="34" charset="-120"/>
              </a:rPr>
              <a:t>WHY: “Do” goes in front of the person. The main verb does not change and the full stop becomes a question mark.</a:t>
            </a:r>
            <a:endParaRPr lang="en-US" sz="1100" dirty="0"/>
          </a:p>
        </p:txBody>
      </p:sp>
      <p:sp>
        <p:nvSpPr>
          <p:cNvPr id="15" name="Shape 11"/>
          <p:cNvSpPr/>
          <p:nvPr/>
        </p:nvSpPr>
        <p:spPr>
          <a:xfrm>
            <a:off x="548640" y="3276600"/>
            <a:ext cx="11094415" cy="1274064"/>
          </a:xfrm>
          <a:prstGeom prst="roundRect">
            <a:avLst>
              <a:gd name="adj" fmla="val 10048"/>
            </a:avLst>
          </a:prstGeom>
          <a:solidFill>
            <a:srgbClr val="E6F5EC"/>
          </a:solidFill>
          <a:ln w="12700">
            <a:solidFill>
              <a:srgbClr val="2E9E5B"/>
            </a:solidFill>
            <a:prstDash val="solid"/>
          </a:ln>
        </p:spPr>
      </p:sp>
      <p:sp>
        <p:nvSpPr>
          <p:cNvPr id="16" name="Shape 12"/>
          <p:cNvSpPr/>
          <p:nvPr/>
        </p:nvSpPr>
        <p:spPr>
          <a:xfrm>
            <a:off x="731520" y="3721608"/>
            <a:ext cx="384048" cy="384048"/>
          </a:xfrm>
          <a:prstGeom prst="ellipse">
            <a:avLst/>
          </a:prstGeom>
          <a:solidFill>
            <a:srgbClr val="2E9E5B"/>
          </a:solidFill>
          <a:ln/>
        </p:spPr>
      </p:sp>
      <p:sp>
        <p:nvSpPr>
          <p:cNvPr id="17" name="Text 13"/>
          <p:cNvSpPr txBox="1"/>
          <p:nvPr/>
        </p:nvSpPr>
        <p:spPr>
          <a:xfrm>
            <a:off x="731520" y="372160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8" name="Text 14"/>
          <p:cNvSpPr/>
          <p:nvPr/>
        </p:nvSpPr>
        <p:spPr>
          <a:xfrm>
            <a:off x="1316736" y="3331464"/>
            <a:ext cx="10106863" cy="1164336"/>
          </a:xfrm>
          <a:prstGeom prst="rect">
            <a:avLst/>
          </a:prstGeom>
          <a:noFill/>
          <a:ln/>
        </p:spPr>
        <p:txBody>
          <a:bodyPr wrap="square" lIns="0" tIns="0" rIns="0" bIns="0" rtlCol="0" anchor="ctr"/>
          <a:lstStyle/>
          <a:p>
            <a:pPr indent="0" marL="0">
              <a:lnSpc>
                <a:spcPct val="102000"/>
              </a:lnSpc>
              <a:buNone/>
            </a:pPr>
            <a:r>
              <a:rPr lang="en-US" sz="1300" i="1" dirty="0">
                <a:solidFill>
                  <a:srgbClr val="6B7C71"/>
                </a:solidFill>
                <a:latin typeface="Calibri" pitchFamily="34" charset="0"/>
                <a:ea typeface="Calibri" pitchFamily="34" charset="-122"/>
                <a:cs typeface="Calibri" pitchFamily="34" charset="-120"/>
              </a:rPr>
              <a:t>Make a question: “She works at the clinic.”</a:t>
            </a:r>
            <a:endParaRPr lang="en-US" sz="1300" dirty="0"/>
          </a:p>
          <a:p>
            <a:pPr indent="0" marL="0">
              <a:lnSpc>
                <a:spcPct val="102000"/>
              </a:lnSpc>
              <a:spcBef>
                <a:spcPts val="200"/>
              </a:spcBef>
              <a:buNone/>
            </a:pPr>
            <a:r>
              <a:rPr lang="en-US" sz="1900" b="1" dirty="0">
                <a:solidFill>
                  <a:srgbClr val="12211B"/>
                </a:solidFill>
                <a:latin typeface="Calibri" pitchFamily="34" charset="0"/>
                <a:ea typeface="Calibri" pitchFamily="34" charset="-122"/>
                <a:cs typeface="Calibri" pitchFamily="34" charset="-120"/>
              </a:rPr>
              <a:t>Does she work at the clinic?</a:t>
            </a:r>
            <a:endParaRPr lang="en-US" sz="1300" dirty="0"/>
          </a:p>
          <a:p>
            <a:pPr indent="0" marL="0">
              <a:lnSpc>
                <a:spcPct val="102000"/>
              </a:lnSpc>
              <a:spcBef>
                <a:spcPts val="300"/>
              </a:spcBef>
              <a:buNone/>
            </a:pPr>
            <a:r>
              <a:rPr lang="en-US" sz="1500" dirty="0">
                <a:solidFill>
                  <a:srgbClr val="0A4634"/>
                </a:solidFill>
                <a:latin typeface="Calibri" pitchFamily="34" charset="0"/>
                <a:ea typeface="Calibri" pitchFamily="34" charset="-122"/>
                <a:cs typeface="Calibri" pitchFamily="34" charset="-120"/>
              </a:rPr>
              <a:t>WHY: “Does” goes first and takes the -s, so “works” goes back to “work”.</a:t>
            </a:r>
            <a:endParaRPr lang="en-US" sz="1300" dirty="0"/>
          </a:p>
        </p:txBody>
      </p:sp>
      <p:sp>
        <p:nvSpPr>
          <p:cNvPr id="19" name="Shape 15"/>
          <p:cNvSpPr/>
          <p:nvPr/>
        </p:nvSpPr>
        <p:spPr>
          <a:xfrm>
            <a:off x="548640" y="4669536"/>
            <a:ext cx="11094415" cy="1274064"/>
          </a:xfrm>
          <a:prstGeom prst="roundRect">
            <a:avLst>
              <a:gd name="adj" fmla="val 10048"/>
            </a:avLst>
          </a:prstGeom>
          <a:solidFill>
            <a:srgbClr val="E6F5EC"/>
          </a:solidFill>
          <a:ln w="12700">
            <a:solidFill>
              <a:srgbClr val="2E9E5B"/>
            </a:solidFill>
            <a:prstDash val="solid"/>
          </a:ln>
        </p:spPr>
      </p:sp>
      <p:sp>
        <p:nvSpPr>
          <p:cNvPr id="20" name="Shape 16"/>
          <p:cNvSpPr/>
          <p:nvPr/>
        </p:nvSpPr>
        <p:spPr>
          <a:xfrm>
            <a:off x="731520" y="5114544"/>
            <a:ext cx="384048" cy="384048"/>
          </a:xfrm>
          <a:prstGeom prst="ellipse">
            <a:avLst/>
          </a:prstGeom>
          <a:solidFill>
            <a:srgbClr val="2E9E5B"/>
          </a:solidFill>
          <a:ln/>
        </p:spPr>
      </p:sp>
      <p:sp>
        <p:nvSpPr>
          <p:cNvPr id="21" name="Text 17"/>
          <p:cNvSpPr txBox="1"/>
          <p:nvPr/>
        </p:nvSpPr>
        <p:spPr>
          <a:xfrm>
            <a:off x="731520" y="511454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2" name="Text 18"/>
          <p:cNvSpPr/>
          <p:nvPr/>
        </p:nvSpPr>
        <p:spPr>
          <a:xfrm>
            <a:off x="1316736" y="4724400"/>
            <a:ext cx="10106863" cy="1164336"/>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Ask about the time: “He starts at eight.”</a:t>
            </a:r>
            <a:endParaRPr lang="en-US" sz="1100" dirty="0"/>
          </a:p>
          <a:p>
            <a:pPr indent="0" marL="0">
              <a:lnSpc>
                <a:spcPct val="102000"/>
              </a:lnSpc>
              <a:spcBef>
                <a:spcPts val="169"/>
              </a:spcBef>
              <a:buNone/>
            </a:pPr>
            <a:r>
              <a:rPr lang="en-US" sz="1610" b="1" dirty="0">
                <a:solidFill>
                  <a:srgbClr val="12211B"/>
                </a:solidFill>
                <a:latin typeface="Calibri" pitchFamily="34" charset="0"/>
                <a:ea typeface="Calibri" pitchFamily="34" charset="-122"/>
                <a:cs typeface="Calibri" pitchFamily="34" charset="-120"/>
              </a:rPr>
              <a:t>What time does he start?</a:t>
            </a:r>
            <a:endParaRPr lang="en-US" sz="1100" dirty="0"/>
          </a:p>
          <a:p>
            <a:pPr indent="0" marL="0">
              <a:lnSpc>
                <a:spcPct val="102000"/>
              </a:lnSpc>
              <a:spcBef>
                <a:spcPts val="254"/>
              </a:spcBef>
              <a:buNone/>
            </a:pPr>
            <a:r>
              <a:rPr lang="en-US" sz="1270" dirty="0">
                <a:solidFill>
                  <a:srgbClr val="0A4634"/>
                </a:solidFill>
                <a:latin typeface="Calibri" pitchFamily="34" charset="0"/>
                <a:ea typeface="Calibri" pitchFamily="34" charset="-122"/>
                <a:cs typeface="Calibri" pitchFamily="34" charset="-120"/>
              </a:rPr>
              <a:t>WHY: Question word, then does, then the person, then the base verb. Four parts, always in that order.</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679192" cy="420624"/>
          </a:xfrm>
          <a:prstGeom prst="roundRect">
            <a:avLst>
              <a:gd name="adj" fmla="val 50000"/>
            </a:avLst>
          </a:prstGeom>
          <a:solidFill>
            <a:srgbClr val="3F5BD9"/>
          </a:solidFill>
          <a:ln/>
        </p:spPr>
      </p:sp>
      <p:sp>
        <p:nvSpPr>
          <p:cNvPr id="3" name="Shape 1"/>
          <p:cNvSpPr/>
          <p:nvPr/>
        </p:nvSpPr>
        <p:spPr>
          <a:xfrm>
            <a:off x="649224" y="539496"/>
            <a:ext cx="219456" cy="219456"/>
          </a:xfrm>
          <a:prstGeom prst="ellipse">
            <a:avLst/>
          </a:prstGeom>
          <a:solidFill>
            <a:srgbClr val="3F5BD9"/>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218541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GUIDED EXAMPLES 5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Guided examples 5 — frequency words</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Before the verb — except with “to be”.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1 — Present Simple &amp; Daily Routine</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25</a:t>
            </a:r>
            <a:endParaRPr lang="en-US" sz="1100" dirty="0"/>
          </a:p>
        </p:txBody>
      </p:sp>
      <p:sp>
        <p:nvSpPr>
          <p:cNvPr id="11" name="Shape 7"/>
          <p:cNvSpPr/>
          <p:nvPr/>
        </p:nvSpPr>
        <p:spPr>
          <a:xfrm>
            <a:off x="548640" y="1883664"/>
            <a:ext cx="11094415" cy="1274064"/>
          </a:xfrm>
          <a:prstGeom prst="roundRect">
            <a:avLst>
              <a:gd name="adj" fmla="val 10048"/>
            </a:avLst>
          </a:prstGeom>
          <a:solidFill>
            <a:srgbClr val="E6F5EC"/>
          </a:solidFill>
          <a:ln w="12700">
            <a:solidFill>
              <a:srgbClr val="2E9E5B"/>
            </a:solidFill>
            <a:prstDash val="solid"/>
          </a:ln>
        </p:spPr>
      </p:sp>
      <p:sp>
        <p:nvSpPr>
          <p:cNvPr id="12" name="Shape 8"/>
          <p:cNvSpPr/>
          <p:nvPr/>
        </p:nvSpPr>
        <p:spPr>
          <a:xfrm>
            <a:off x="731520" y="2328672"/>
            <a:ext cx="384048" cy="384048"/>
          </a:xfrm>
          <a:prstGeom prst="ellipse">
            <a:avLst/>
          </a:prstGeom>
          <a:solidFill>
            <a:srgbClr val="2E9E5B"/>
          </a:solidFill>
          <a:ln/>
        </p:spPr>
      </p:sp>
      <p:sp>
        <p:nvSpPr>
          <p:cNvPr id="13" name="Text 9"/>
          <p:cNvSpPr txBox="1"/>
          <p:nvPr/>
        </p:nvSpPr>
        <p:spPr>
          <a:xfrm>
            <a:off x="731520" y="232867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4" name="Text 10"/>
          <p:cNvSpPr/>
          <p:nvPr/>
        </p:nvSpPr>
        <p:spPr>
          <a:xfrm>
            <a:off x="1316736" y="1938528"/>
            <a:ext cx="10106863" cy="1164336"/>
          </a:xfrm>
          <a:prstGeom prst="rect">
            <a:avLst/>
          </a:prstGeom>
          <a:noFill/>
          <a:ln/>
        </p:spPr>
        <p:txBody>
          <a:bodyPr wrap="square" lIns="0" tIns="0" rIns="0" bIns="0" rtlCol="0" anchor="ctr"/>
          <a:lstStyle/>
          <a:p>
            <a:pPr indent="0" marL="0">
              <a:lnSpc>
                <a:spcPct val="102000"/>
              </a:lnSpc>
              <a:buNone/>
            </a:pPr>
            <a:r>
              <a:rPr lang="en-US" sz="1300" i="1" dirty="0">
                <a:solidFill>
                  <a:srgbClr val="6B7C71"/>
                </a:solidFill>
                <a:latin typeface="Calibri" pitchFamily="34" charset="0"/>
                <a:ea typeface="Calibri" pitchFamily="34" charset="-122"/>
                <a:cs typeface="Calibri" pitchFamily="34" charset="-120"/>
              </a:rPr>
              <a:t>Add “always”: “I drink coffee in the morning.”</a:t>
            </a:r>
            <a:endParaRPr lang="en-US" sz="1300" dirty="0"/>
          </a:p>
          <a:p>
            <a:pPr indent="0" marL="0">
              <a:lnSpc>
                <a:spcPct val="102000"/>
              </a:lnSpc>
              <a:spcBef>
                <a:spcPts val="200"/>
              </a:spcBef>
              <a:buNone/>
            </a:pPr>
            <a:r>
              <a:rPr lang="en-US" sz="1900" b="1" dirty="0">
                <a:solidFill>
                  <a:srgbClr val="12211B"/>
                </a:solidFill>
                <a:latin typeface="Calibri" pitchFamily="34" charset="0"/>
                <a:ea typeface="Calibri" pitchFamily="34" charset="-122"/>
                <a:cs typeface="Calibri" pitchFamily="34" charset="-120"/>
              </a:rPr>
              <a:t>I always drink coffee in the morning.</a:t>
            </a:r>
            <a:endParaRPr lang="en-US" sz="1300" dirty="0"/>
          </a:p>
          <a:p>
            <a:pPr indent="0" marL="0">
              <a:lnSpc>
                <a:spcPct val="102000"/>
              </a:lnSpc>
              <a:spcBef>
                <a:spcPts val="300"/>
              </a:spcBef>
              <a:buNone/>
            </a:pPr>
            <a:r>
              <a:rPr lang="en-US" sz="1500" dirty="0">
                <a:solidFill>
                  <a:srgbClr val="0A4634"/>
                </a:solidFill>
                <a:latin typeface="Calibri" pitchFamily="34" charset="0"/>
                <a:ea typeface="Calibri" pitchFamily="34" charset="-122"/>
                <a:cs typeface="Calibri" pitchFamily="34" charset="-120"/>
              </a:rPr>
              <a:t>WHY: The frequency word goes before the main verb, not at the end of the sentence.</a:t>
            </a:r>
            <a:endParaRPr lang="en-US" sz="1300" dirty="0"/>
          </a:p>
        </p:txBody>
      </p:sp>
      <p:sp>
        <p:nvSpPr>
          <p:cNvPr id="15" name="Shape 11"/>
          <p:cNvSpPr/>
          <p:nvPr/>
        </p:nvSpPr>
        <p:spPr>
          <a:xfrm>
            <a:off x="548640" y="3276600"/>
            <a:ext cx="11094415" cy="1274064"/>
          </a:xfrm>
          <a:prstGeom prst="roundRect">
            <a:avLst>
              <a:gd name="adj" fmla="val 10048"/>
            </a:avLst>
          </a:prstGeom>
          <a:solidFill>
            <a:srgbClr val="E6F5EC"/>
          </a:solidFill>
          <a:ln w="12700">
            <a:solidFill>
              <a:srgbClr val="2E9E5B"/>
            </a:solidFill>
            <a:prstDash val="solid"/>
          </a:ln>
        </p:spPr>
      </p:sp>
      <p:sp>
        <p:nvSpPr>
          <p:cNvPr id="16" name="Shape 12"/>
          <p:cNvSpPr/>
          <p:nvPr/>
        </p:nvSpPr>
        <p:spPr>
          <a:xfrm>
            <a:off x="731520" y="3721608"/>
            <a:ext cx="384048" cy="384048"/>
          </a:xfrm>
          <a:prstGeom prst="ellipse">
            <a:avLst/>
          </a:prstGeom>
          <a:solidFill>
            <a:srgbClr val="2E9E5B"/>
          </a:solidFill>
          <a:ln/>
        </p:spPr>
      </p:sp>
      <p:sp>
        <p:nvSpPr>
          <p:cNvPr id="17" name="Text 13"/>
          <p:cNvSpPr txBox="1"/>
          <p:nvPr/>
        </p:nvSpPr>
        <p:spPr>
          <a:xfrm>
            <a:off x="731520" y="372160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8" name="Text 14"/>
          <p:cNvSpPr/>
          <p:nvPr/>
        </p:nvSpPr>
        <p:spPr>
          <a:xfrm>
            <a:off x="1316736" y="3331464"/>
            <a:ext cx="10106863" cy="1164336"/>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Add “never”: “She eats meat.”</a:t>
            </a:r>
            <a:endParaRPr lang="en-US" sz="1100" dirty="0"/>
          </a:p>
          <a:p>
            <a:pPr indent="0" marL="0">
              <a:lnSpc>
                <a:spcPct val="102000"/>
              </a:lnSpc>
              <a:spcBef>
                <a:spcPts val="169"/>
              </a:spcBef>
              <a:buNone/>
            </a:pPr>
            <a:r>
              <a:rPr lang="en-US" sz="1610" b="1" dirty="0">
                <a:solidFill>
                  <a:srgbClr val="12211B"/>
                </a:solidFill>
                <a:latin typeface="Calibri" pitchFamily="34" charset="0"/>
                <a:ea typeface="Calibri" pitchFamily="34" charset="-122"/>
                <a:cs typeface="Calibri" pitchFamily="34" charset="-120"/>
              </a:rPr>
              <a:t>She never eats meat.</a:t>
            </a:r>
            <a:endParaRPr lang="en-US" sz="1100" dirty="0"/>
          </a:p>
          <a:p>
            <a:pPr indent="0" marL="0">
              <a:lnSpc>
                <a:spcPct val="102000"/>
              </a:lnSpc>
              <a:spcBef>
                <a:spcPts val="254"/>
              </a:spcBef>
              <a:buNone/>
            </a:pPr>
            <a:r>
              <a:rPr lang="en-US" sz="1270" dirty="0">
                <a:solidFill>
                  <a:srgbClr val="0A4634"/>
                </a:solidFill>
                <a:latin typeface="Calibri" pitchFamily="34" charset="0"/>
                <a:ea typeface="Calibri" pitchFamily="34" charset="-122"/>
                <a:cs typeface="Calibri" pitchFamily="34" charset="-120"/>
              </a:rPr>
              <a:t>WHY: Before the verb — and the verb keeps its -s, because the sentence is grammatically positive even though the meaning is negative.</a:t>
            </a:r>
            <a:endParaRPr lang="en-US" sz="1100" dirty="0"/>
          </a:p>
        </p:txBody>
      </p:sp>
      <p:sp>
        <p:nvSpPr>
          <p:cNvPr id="19" name="Shape 15"/>
          <p:cNvSpPr/>
          <p:nvPr/>
        </p:nvSpPr>
        <p:spPr>
          <a:xfrm>
            <a:off x="548640" y="4669536"/>
            <a:ext cx="11094415" cy="1274064"/>
          </a:xfrm>
          <a:prstGeom prst="roundRect">
            <a:avLst>
              <a:gd name="adj" fmla="val 10048"/>
            </a:avLst>
          </a:prstGeom>
          <a:solidFill>
            <a:srgbClr val="E6F5EC"/>
          </a:solidFill>
          <a:ln w="12700">
            <a:solidFill>
              <a:srgbClr val="2E9E5B"/>
            </a:solidFill>
            <a:prstDash val="solid"/>
          </a:ln>
        </p:spPr>
      </p:sp>
      <p:sp>
        <p:nvSpPr>
          <p:cNvPr id="20" name="Shape 16"/>
          <p:cNvSpPr/>
          <p:nvPr/>
        </p:nvSpPr>
        <p:spPr>
          <a:xfrm>
            <a:off x="731520" y="5114544"/>
            <a:ext cx="384048" cy="384048"/>
          </a:xfrm>
          <a:prstGeom prst="ellipse">
            <a:avLst/>
          </a:prstGeom>
          <a:solidFill>
            <a:srgbClr val="2E9E5B"/>
          </a:solidFill>
          <a:ln/>
        </p:spPr>
      </p:sp>
      <p:sp>
        <p:nvSpPr>
          <p:cNvPr id="21" name="Text 17"/>
          <p:cNvSpPr txBox="1"/>
          <p:nvPr/>
        </p:nvSpPr>
        <p:spPr>
          <a:xfrm>
            <a:off x="731520" y="511454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2" name="Text 18"/>
          <p:cNvSpPr/>
          <p:nvPr/>
        </p:nvSpPr>
        <p:spPr>
          <a:xfrm>
            <a:off x="1316736" y="4724400"/>
            <a:ext cx="10106863" cy="1164336"/>
          </a:xfrm>
          <a:prstGeom prst="rect">
            <a:avLst/>
          </a:prstGeom>
          <a:noFill/>
          <a:ln/>
        </p:spPr>
        <p:txBody>
          <a:bodyPr wrap="square" lIns="0" tIns="0" rIns="0" bIns="0" rtlCol="0" anchor="ctr"/>
          <a:lstStyle/>
          <a:p>
            <a:pPr indent="0" marL="0">
              <a:lnSpc>
                <a:spcPct val="102000"/>
              </a:lnSpc>
              <a:buNone/>
            </a:pPr>
            <a:r>
              <a:rPr lang="en-US" sz="1130" i="1" dirty="0">
                <a:solidFill>
                  <a:srgbClr val="6B7C71"/>
                </a:solidFill>
                <a:latin typeface="Calibri" pitchFamily="34" charset="0"/>
                <a:ea typeface="Calibri" pitchFamily="34" charset="-122"/>
                <a:cs typeface="Calibri" pitchFamily="34" charset="-120"/>
              </a:rPr>
              <a:t>Add “always”: “He is late.”</a:t>
            </a:r>
            <a:endParaRPr lang="en-US" sz="1130" dirty="0"/>
          </a:p>
          <a:p>
            <a:pPr indent="0" marL="0">
              <a:lnSpc>
                <a:spcPct val="102000"/>
              </a:lnSpc>
              <a:spcBef>
                <a:spcPts val="174"/>
              </a:spcBef>
              <a:buNone/>
            </a:pPr>
            <a:r>
              <a:rPr lang="en-US" sz="1650" b="1" dirty="0">
                <a:solidFill>
                  <a:srgbClr val="12211B"/>
                </a:solidFill>
                <a:latin typeface="Calibri" pitchFamily="34" charset="0"/>
                <a:ea typeface="Calibri" pitchFamily="34" charset="-122"/>
                <a:cs typeface="Calibri" pitchFamily="34" charset="-120"/>
              </a:rPr>
              <a:t>He is always late.</a:t>
            </a:r>
            <a:endParaRPr lang="en-US" sz="1130" dirty="0"/>
          </a:p>
          <a:p>
            <a:pPr indent="0" marL="0">
              <a:lnSpc>
                <a:spcPct val="102000"/>
              </a:lnSpc>
              <a:spcBef>
                <a:spcPts val="261"/>
              </a:spcBef>
              <a:buNone/>
            </a:pPr>
            <a:r>
              <a:rPr lang="en-US" sz="1300" dirty="0">
                <a:solidFill>
                  <a:srgbClr val="0A4634"/>
                </a:solidFill>
                <a:latin typeface="Calibri" pitchFamily="34" charset="0"/>
                <a:ea typeface="Calibri" pitchFamily="34" charset="-122"/>
                <a:cs typeface="Calibri" pitchFamily="34" charset="-120"/>
              </a:rPr>
              <a:t>WHY: This is the exception. With the verb “to be” the frequency word goes AFTER it, not before.</a:t>
            </a:r>
            <a:endParaRPr lang="en-US" sz="113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391156" cy="420624"/>
          </a:xfrm>
          <a:prstGeom prst="roundRect">
            <a:avLst>
              <a:gd name="adj" fmla="val 50000"/>
            </a:avLst>
          </a:prstGeom>
          <a:solidFill>
            <a:srgbClr val="E4572E"/>
          </a:solidFill>
          <a:ln/>
        </p:spPr>
      </p:sp>
      <p:sp>
        <p:nvSpPr>
          <p:cNvPr id="3" name="Shape 1"/>
          <p:cNvSpPr/>
          <p:nvPr/>
        </p:nvSpPr>
        <p:spPr>
          <a:xfrm>
            <a:off x="649224" y="539496"/>
            <a:ext cx="219456" cy="219456"/>
          </a:xfrm>
          <a:prstGeom prst="ellipse">
            <a:avLst/>
          </a:prstGeom>
          <a:solidFill>
            <a:srgbClr val="E4572E"/>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89738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CONVERSATION 1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Talking about your routine</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Hana and Mimi talk about their working days.</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1 — Present Simple &amp; Daily Routine</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26</a:t>
            </a:r>
            <a:endParaRPr lang="en-US" sz="1100" dirty="0"/>
          </a:p>
        </p:txBody>
      </p:sp>
      <p:sp>
        <p:nvSpPr>
          <p:cNvPr id="11" name="Shape 7"/>
          <p:cNvSpPr/>
          <p:nvPr/>
        </p:nvSpPr>
        <p:spPr>
          <a:xfrm>
            <a:off x="548640" y="1883664"/>
            <a:ext cx="11094415" cy="455676"/>
          </a:xfrm>
          <a:prstGeom prst="roundRect">
            <a:avLst>
              <a:gd name="adj" fmla="val 28094"/>
            </a:avLst>
          </a:prstGeom>
          <a:solidFill>
            <a:srgbClr val="EDF3EF"/>
          </a:solidFill>
          <a:ln w="12700">
            <a:solidFill>
              <a:srgbClr val="E3E9E5"/>
            </a:solidFill>
            <a:prstDash val="solid"/>
          </a:ln>
        </p:spPr>
      </p:sp>
      <p:sp>
        <p:nvSpPr>
          <p:cNvPr id="12" name="Shape 8"/>
          <p:cNvSpPr/>
          <p:nvPr/>
        </p:nvSpPr>
        <p:spPr>
          <a:xfrm>
            <a:off x="694944" y="1975104"/>
            <a:ext cx="1417320" cy="272796"/>
          </a:xfrm>
          <a:prstGeom prst="roundRect">
            <a:avLst>
              <a:gd name="adj" fmla="val 33520"/>
            </a:avLst>
          </a:prstGeom>
          <a:solidFill>
            <a:srgbClr val="6B7C71"/>
          </a:solidFill>
          <a:ln/>
        </p:spPr>
      </p:sp>
      <p:sp>
        <p:nvSpPr>
          <p:cNvPr id="13" name="Text 9"/>
          <p:cNvSpPr txBox="1"/>
          <p:nvPr/>
        </p:nvSpPr>
        <p:spPr>
          <a:xfrm>
            <a:off x="731520" y="197510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MIMI</a:t>
            </a:r>
            <a:endParaRPr lang="en-US" sz="1200" dirty="0"/>
          </a:p>
        </p:txBody>
      </p:sp>
      <p:sp>
        <p:nvSpPr>
          <p:cNvPr id="14" name="Text 10"/>
          <p:cNvSpPr txBox="1"/>
          <p:nvPr/>
        </p:nvSpPr>
        <p:spPr>
          <a:xfrm>
            <a:off x="2276856" y="193852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What time do you start work, Hana?</a:t>
            </a:r>
            <a:endParaRPr lang="en-US" sz="2000" dirty="0"/>
          </a:p>
        </p:txBody>
      </p:sp>
      <p:sp>
        <p:nvSpPr>
          <p:cNvPr id="15" name="Shape 11"/>
          <p:cNvSpPr/>
          <p:nvPr/>
        </p:nvSpPr>
        <p:spPr>
          <a:xfrm>
            <a:off x="548640" y="2439924"/>
            <a:ext cx="11094415" cy="455676"/>
          </a:xfrm>
          <a:prstGeom prst="roundRect">
            <a:avLst>
              <a:gd name="adj" fmla="val 28094"/>
            </a:avLst>
          </a:prstGeom>
          <a:solidFill>
            <a:srgbClr val="E7F3EF"/>
          </a:solidFill>
          <a:ln w="12700">
            <a:solidFill>
              <a:srgbClr val="C4E0D5"/>
            </a:solidFill>
            <a:prstDash val="solid"/>
          </a:ln>
        </p:spPr>
      </p:sp>
      <p:sp>
        <p:nvSpPr>
          <p:cNvPr id="16" name="Shape 12"/>
          <p:cNvSpPr/>
          <p:nvPr/>
        </p:nvSpPr>
        <p:spPr>
          <a:xfrm>
            <a:off x="694944" y="2531364"/>
            <a:ext cx="1417320" cy="272796"/>
          </a:xfrm>
          <a:prstGeom prst="roundRect">
            <a:avLst>
              <a:gd name="adj" fmla="val 33520"/>
            </a:avLst>
          </a:prstGeom>
          <a:solidFill>
            <a:srgbClr val="0E7C5A"/>
          </a:solidFill>
          <a:ln/>
        </p:spPr>
      </p:sp>
      <p:sp>
        <p:nvSpPr>
          <p:cNvPr id="17" name="Text 13"/>
          <p:cNvSpPr txBox="1"/>
          <p:nvPr/>
        </p:nvSpPr>
        <p:spPr>
          <a:xfrm>
            <a:off x="731520" y="253136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HANA</a:t>
            </a:r>
            <a:endParaRPr lang="en-US" sz="1200" dirty="0"/>
          </a:p>
        </p:txBody>
      </p:sp>
      <p:sp>
        <p:nvSpPr>
          <p:cNvPr id="18" name="Text 14"/>
          <p:cNvSpPr txBox="1"/>
          <p:nvPr/>
        </p:nvSpPr>
        <p:spPr>
          <a:xfrm>
            <a:off x="2276856" y="249478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I start at seven. The clinic opens early.</a:t>
            </a:r>
            <a:endParaRPr lang="en-US" sz="2000" dirty="0"/>
          </a:p>
        </p:txBody>
      </p:sp>
      <p:sp>
        <p:nvSpPr>
          <p:cNvPr id="19" name="Shape 15"/>
          <p:cNvSpPr/>
          <p:nvPr/>
        </p:nvSpPr>
        <p:spPr>
          <a:xfrm>
            <a:off x="548640" y="2996184"/>
            <a:ext cx="11094415" cy="455676"/>
          </a:xfrm>
          <a:prstGeom prst="roundRect">
            <a:avLst>
              <a:gd name="adj" fmla="val 28094"/>
            </a:avLst>
          </a:prstGeom>
          <a:solidFill>
            <a:srgbClr val="EDF3EF"/>
          </a:solidFill>
          <a:ln w="12700">
            <a:solidFill>
              <a:srgbClr val="E3E9E5"/>
            </a:solidFill>
            <a:prstDash val="solid"/>
          </a:ln>
        </p:spPr>
      </p:sp>
      <p:sp>
        <p:nvSpPr>
          <p:cNvPr id="20" name="Shape 16"/>
          <p:cNvSpPr/>
          <p:nvPr/>
        </p:nvSpPr>
        <p:spPr>
          <a:xfrm>
            <a:off x="694944" y="3087624"/>
            <a:ext cx="1417320" cy="272796"/>
          </a:xfrm>
          <a:prstGeom prst="roundRect">
            <a:avLst>
              <a:gd name="adj" fmla="val 33520"/>
            </a:avLst>
          </a:prstGeom>
          <a:solidFill>
            <a:srgbClr val="6B7C71"/>
          </a:solidFill>
          <a:ln/>
        </p:spPr>
      </p:sp>
      <p:sp>
        <p:nvSpPr>
          <p:cNvPr id="21" name="Text 17"/>
          <p:cNvSpPr txBox="1"/>
          <p:nvPr/>
        </p:nvSpPr>
        <p:spPr>
          <a:xfrm>
            <a:off x="731520" y="308762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MIMI</a:t>
            </a:r>
            <a:endParaRPr lang="en-US" sz="1200" dirty="0"/>
          </a:p>
        </p:txBody>
      </p:sp>
      <p:sp>
        <p:nvSpPr>
          <p:cNvPr id="22" name="Text 18"/>
          <p:cNvSpPr txBox="1"/>
          <p:nvPr/>
        </p:nvSpPr>
        <p:spPr>
          <a:xfrm>
            <a:off x="2276856" y="305104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Do you work on Saturday?</a:t>
            </a:r>
            <a:endParaRPr lang="en-US" sz="2000" dirty="0"/>
          </a:p>
        </p:txBody>
      </p:sp>
      <p:sp>
        <p:nvSpPr>
          <p:cNvPr id="23" name="Shape 19"/>
          <p:cNvSpPr/>
          <p:nvPr/>
        </p:nvSpPr>
        <p:spPr>
          <a:xfrm>
            <a:off x="548640" y="3552444"/>
            <a:ext cx="11094415" cy="455676"/>
          </a:xfrm>
          <a:prstGeom prst="roundRect">
            <a:avLst>
              <a:gd name="adj" fmla="val 28094"/>
            </a:avLst>
          </a:prstGeom>
          <a:solidFill>
            <a:srgbClr val="E7F3EF"/>
          </a:solidFill>
          <a:ln w="12700">
            <a:solidFill>
              <a:srgbClr val="C4E0D5"/>
            </a:solidFill>
            <a:prstDash val="solid"/>
          </a:ln>
        </p:spPr>
      </p:sp>
      <p:sp>
        <p:nvSpPr>
          <p:cNvPr id="24" name="Shape 20"/>
          <p:cNvSpPr/>
          <p:nvPr/>
        </p:nvSpPr>
        <p:spPr>
          <a:xfrm>
            <a:off x="694944" y="3643884"/>
            <a:ext cx="1417320" cy="272796"/>
          </a:xfrm>
          <a:prstGeom prst="roundRect">
            <a:avLst>
              <a:gd name="adj" fmla="val 33520"/>
            </a:avLst>
          </a:prstGeom>
          <a:solidFill>
            <a:srgbClr val="0E7C5A"/>
          </a:solidFill>
          <a:ln/>
        </p:spPr>
      </p:sp>
      <p:sp>
        <p:nvSpPr>
          <p:cNvPr id="25" name="Text 21"/>
          <p:cNvSpPr txBox="1"/>
          <p:nvPr/>
        </p:nvSpPr>
        <p:spPr>
          <a:xfrm>
            <a:off x="731520" y="364388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HANA</a:t>
            </a:r>
            <a:endParaRPr lang="en-US" sz="1200" dirty="0"/>
          </a:p>
        </p:txBody>
      </p:sp>
      <p:sp>
        <p:nvSpPr>
          <p:cNvPr id="26" name="Text 22"/>
          <p:cNvSpPr txBox="1"/>
          <p:nvPr/>
        </p:nvSpPr>
        <p:spPr>
          <a:xfrm>
            <a:off x="2276856" y="360730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Yes, I do. But I do not work on Sunday.</a:t>
            </a:r>
            <a:endParaRPr lang="en-US" sz="2000" dirty="0"/>
          </a:p>
        </p:txBody>
      </p:sp>
      <p:sp>
        <p:nvSpPr>
          <p:cNvPr id="27" name="Shape 23"/>
          <p:cNvSpPr/>
          <p:nvPr/>
        </p:nvSpPr>
        <p:spPr>
          <a:xfrm>
            <a:off x="548640" y="4108704"/>
            <a:ext cx="11094415" cy="455676"/>
          </a:xfrm>
          <a:prstGeom prst="roundRect">
            <a:avLst>
              <a:gd name="adj" fmla="val 28094"/>
            </a:avLst>
          </a:prstGeom>
          <a:solidFill>
            <a:srgbClr val="EDF3EF"/>
          </a:solidFill>
          <a:ln w="12700">
            <a:solidFill>
              <a:srgbClr val="E3E9E5"/>
            </a:solidFill>
            <a:prstDash val="solid"/>
          </a:ln>
        </p:spPr>
      </p:sp>
      <p:sp>
        <p:nvSpPr>
          <p:cNvPr id="28" name="Shape 24"/>
          <p:cNvSpPr/>
          <p:nvPr/>
        </p:nvSpPr>
        <p:spPr>
          <a:xfrm>
            <a:off x="694944" y="4200144"/>
            <a:ext cx="1417320" cy="272796"/>
          </a:xfrm>
          <a:prstGeom prst="roundRect">
            <a:avLst>
              <a:gd name="adj" fmla="val 33520"/>
            </a:avLst>
          </a:prstGeom>
          <a:solidFill>
            <a:srgbClr val="6B7C71"/>
          </a:solidFill>
          <a:ln/>
        </p:spPr>
      </p:sp>
      <p:sp>
        <p:nvSpPr>
          <p:cNvPr id="29" name="Text 25"/>
          <p:cNvSpPr txBox="1"/>
          <p:nvPr/>
        </p:nvSpPr>
        <p:spPr>
          <a:xfrm>
            <a:off x="731520" y="420014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MIMI</a:t>
            </a:r>
            <a:endParaRPr lang="en-US" sz="1200" dirty="0"/>
          </a:p>
        </p:txBody>
      </p:sp>
      <p:sp>
        <p:nvSpPr>
          <p:cNvPr id="30" name="Text 26"/>
          <p:cNvSpPr txBox="1"/>
          <p:nvPr/>
        </p:nvSpPr>
        <p:spPr>
          <a:xfrm>
            <a:off x="2276856" y="416356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What time does the clinic close?</a:t>
            </a:r>
            <a:endParaRPr lang="en-US" sz="2000" dirty="0"/>
          </a:p>
        </p:txBody>
      </p:sp>
      <p:sp>
        <p:nvSpPr>
          <p:cNvPr id="31" name="Shape 27"/>
          <p:cNvSpPr/>
          <p:nvPr/>
        </p:nvSpPr>
        <p:spPr>
          <a:xfrm>
            <a:off x="548640" y="4664964"/>
            <a:ext cx="11094415" cy="455676"/>
          </a:xfrm>
          <a:prstGeom prst="roundRect">
            <a:avLst>
              <a:gd name="adj" fmla="val 28094"/>
            </a:avLst>
          </a:prstGeom>
          <a:solidFill>
            <a:srgbClr val="E7F3EF"/>
          </a:solidFill>
          <a:ln w="12700">
            <a:solidFill>
              <a:srgbClr val="C4E0D5"/>
            </a:solidFill>
            <a:prstDash val="solid"/>
          </a:ln>
        </p:spPr>
      </p:sp>
      <p:sp>
        <p:nvSpPr>
          <p:cNvPr id="32" name="Shape 28"/>
          <p:cNvSpPr/>
          <p:nvPr/>
        </p:nvSpPr>
        <p:spPr>
          <a:xfrm>
            <a:off x="694944" y="4756404"/>
            <a:ext cx="1417320" cy="272796"/>
          </a:xfrm>
          <a:prstGeom prst="roundRect">
            <a:avLst>
              <a:gd name="adj" fmla="val 33520"/>
            </a:avLst>
          </a:prstGeom>
          <a:solidFill>
            <a:srgbClr val="0E7C5A"/>
          </a:solidFill>
          <a:ln/>
        </p:spPr>
      </p:sp>
      <p:sp>
        <p:nvSpPr>
          <p:cNvPr id="33" name="Text 29"/>
          <p:cNvSpPr txBox="1"/>
          <p:nvPr/>
        </p:nvSpPr>
        <p:spPr>
          <a:xfrm>
            <a:off x="731520" y="475640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HANA</a:t>
            </a:r>
            <a:endParaRPr lang="en-US" sz="1200" dirty="0"/>
          </a:p>
        </p:txBody>
      </p:sp>
      <p:sp>
        <p:nvSpPr>
          <p:cNvPr id="34" name="Text 30"/>
          <p:cNvSpPr txBox="1"/>
          <p:nvPr/>
        </p:nvSpPr>
        <p:spPr>
          <a:xfrm>
            <a:off x="2276856" y="471982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It closes at five. I usually get home at six.</a:t>
            </a:r>
            <a:endParaRPr lang="en-US" sz="2000" dirty="0"/>
          </a:p>
        </p:txBody>
      </p:sp>
      <p:sp>
        <p:nvSpPr>
          <p:cNvPr id="35" name="Shape 31"/>
          <p:cNvSpPr/>
          <p:nvPr/>
        </p:nvSpPr>
        <p:spPr>
          <a:xfrm>
            <a:off x="548640" y="5266944"/>
            <a:ext cx="11094415" cy="676656"/>
          </a:xfrm>
          <a:prstGeom prst="roundRect">
            <a:avLst>
              <a:gd name="adj" fmla="val 18919"/>
            </a:avLst>
          </a:prstGeom>
          <a:solidFill>
            <a:srgbClr val="FDF3E7"/>
          </a:solidFill>
          <a:ln w="12700">
            <a:solidFill>
              <a:srgbClr val="EFDCB2"/>
            </a:solidFill>
            <a:prstDash val="solid"/>
          </a:ln>
        </p:spPr>
      </p:sp>
      <p:sp>
        <p:nvSpPr>
          <p:cNvPr id="36" name="Text 32"/>
          <p:cNvSpPr txBox="1"/>
          <p:nvPr/>
        </p:nvSpPr>
        <p:spPr>
          <a:xfrm>
            <a:off x="786384" y="5266944"/>
            <a:ext cx="10618927" cy="676656"/>
          </a:xfrm>
          <a:prstGeom prst="rect">
            <a:avLst/>
          </a:prstGeom>
          <a:noFill/>
          <a:ln/>
        </p:spPr>
        <p:txBody>
          <a:bodyPr wrap="square" lIns="0" tIns="0" rIns="0" bIns="0" rtlCol="0" anchor="ctr"/>
          <a:lstStyle/>
          <a:p>
            <a:pPr indent="0" marL="0">
              <a:buNone/>
            </a:pPr>
            <a:r>
              <a:rPr lang="en-US" sz="1500" dirty="0">
                <a:solidFill>
                  <a:srgbClr val="12211B"/>
                </a:solidFill>
                <a:latin typeface="Calibri" pitchFamily="34" charset="0"/>
                <a:ea typeface="Calibri" pitchFamily="34" charset="-122"/>
                <a:cs typeface="Calibri" pitchFamily="34" charset="-120"/>
              </a:rPr>
              <a:t>Find them:  two questions with DO  ·  one question with DOES  ·  one negative  ·  one frequency word  ·  three -s endings.</a:t>
            </a:r>
            <a:endParaRPr lang="en-US" sz="15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391156" cy="420624"/>
          </a:xfrm>
          <a:prstGeom prst="roundRect">
            <a:avLst>
              <a:gd name="adj" fmla="val 50000"/>
            </a:avLst>
          </a:prstGeom>
          <a:solidFill>
            <a:srgbClr val="E4572E"/>
          </a:solidFill>
          <a:ln/>
        </p:spPr>
      </p:sp>
      <p:sp>
        <p:nvSpPr>
          <p:cNvPr id="3" name="Shape 1"/>
          <p:cNvSpPr/>
          <p:nvPr/>
        </p:nvSpPr>
        <p:spPr>
          <a:xfrm>
            <a:off x="649224" y="539496"/>
            <a:ext cx="219456" cy="219456"/>
          </a:xfrm>
          <a:prstGeom prst="ellipse">
            <a:avLst/>
          </a:prstGeom>
          <a:solidFill>
            <a:srgbClr val="E4572E"/>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89738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CONVERSATION 2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Asking about someone else</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Dawit asks Sara about her brother.</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1 — Present Simple &amp; Daily Routine</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27</a:t>
            </a:r>
            <a:endParaRPr lang="en-US" sz="1100" dirty="0"/>
          </a:p>
        </p:txBody>
      </p:sp>
      <p:sp>
        <p:nvSpPr>
          <p:cNvPr id="11" name="Shape 7"/>
          <p:cNvSpPr/>
          <p:nvPr/>
        </p:nvSpPr>
        <p:spPr>
          <a:xfrm>
            <a:off x="548640" y="1883664"/>
            <a:ext cx="11094415" cy="455676"/>
          </a:xfrm>
          <a:prstGeom prst="roundRect">
            <a:avLst>
              <a:gd name="adj" fmla="val 28094"/>
            </a:avLst>
          </a:prstGeom>
          <a:solidFill>
            <a:srgbClr val="EDF3EF"/>
          </a:solidFill>
          <a:ln w="12700">
            <a:solidFill>
              <a:srgbClr val="E3E9E5"/>
            </a:solidFill>
            <a:prstDash val="solid"/>
          </a:ln>
        </p:spPr>
      </p:sp>
      <p:sp>
        <p:nvSpPr>
          <p:cNvPr id="12" name="Shape 8"/>
          <p:cNvSpPr/>
          <p:nvPr/>
        </p:nvSpPr>
        <p:spPr>
          <a:xfrm>
            <a:off x="694944" y="1975104"/>
            <a:ext cx="1417320" cy="272796"/>
          </a:xfrm>
          <a:prstGeom prst="roundRect">
            <a:avLst>
              <a:gd name="adj" fmla="val 33520"/>
            </a:avLst>
          </a:prstGeom>
          <a:solidFill>
            <a:srgbClr val="6B7C71"/>
          </a:solidFill>
          <a:ln/>
        </p:spPr>
      </p:sp>
      <p:sp>
        <p:nvSpPr>
          <p:cNvPr id="13" name="Text 9"/>
          <p:cNvSpPr txBox="1"/>
          <p:nvPr/>
        </p:nvSpPr>
        <p:spPr>
          <a:xfrm>
            <a:off x="731520" y="197510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DAWIT</a:t>
            </a:r>
            <a:endParaRPr lang="en-US" sz="1200" dirty="0"/>
          </a:p>
        </p:txBody>
      </p:sp>
      <p:sp>
        <p:nvSpPr>
          <p:cNvPr id="14" name="Text 10"/>
          <p:cNvSpPr txBox="1"/>
          <p:nvPr/>
        </p:nvSpPr>
        <p:spPr>
          <a:xfrm>
            <a:off x="2276856" y="193852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Does your brother live in Addis Ababa?</a:t>
            </a:r>
            <a:endParaRPr lang="en-US" sz="2000" dirty="0"/>
          </a:p>
        </p:txBody>
      </p:sp>
      <p:sp>
        <p:nvSpPr>
          <p:cNvPr id="15" name="Shape 11"/>
          <p:cNvSpPr/>
          <p:nvPr/>
        </p:nvSpPr>
        <p:spPr>
          <a:xfrm>
            <a:off x="548640" y="2439924"/>
            <a:ext cx="11094415" cy="455676"/>
          </a:xfrm>
          <a:prstGeom prst="roundRect">
            <a:avLst>
              <a:gd name="adj" fmla="val 28094"/>
            </a:avLst>
          </a:prstGeom>
          <a:solidFill>
            <a:srgbClr val="E7F3EF"/>
          </a:solidFill>
          <a:ln w="12700">
            <a:solidFill>
              <a:srgbClr val="C4E0D5"/>
            </a:solidFill>
            <a:prstDash val="solid"/>
          </a:ln>
        </p:spPr>
      </p:sp>
      <p:sp>
        <p:nvSpPr>
          <p:cNvPr id="16" name="Shape 12"/>
          <p:cNvSpPr/>
          <p:nvPr/>
        </p:nvSpPr>
        <p:spPr>
          <a:xfrm>
            <a:off x="694944" y="2531364"/>
            <a:ext cx="1417320" cy="272796"/>
          </a:xfrm>
          <a:prstGeom prst="roundRect">
            <a:avLst>
              <a:gd name="adj" fmla="val 33520"/>
            </a:avLst>
          </a:prstGeom>
          <a:solidFill>
            <a:srgbClr val="0E7C5A"/>
          </a:solidFill>
          <a:ln/>
        </p:spPr>
      </p:sp>
      <p:sp>
        <p:nvSpPr>
          <p:cNvPr id="17" name="Text 13"/>
          <p:cNvSpPr txBox="1"/>
          <p:nvPr/>
        </p:nvSpPr>
        <p:spPr>
          <a:xfrm>
            <a:off x="731520" y="253136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SARA</a:t>
            </a:r>
            <a:endParaRPr lang="en-US" sz="1200" dirty="0"/>
          </a:p>
        </p:txBody>
      </p:sp>
      <p:sp>
        <p:nvSpPr>
          <p:cNvPr id="18" name="Text 14"/>
          <p:cNvSpPr txBox="1"/>
          <p:nvPr/>
        </p:nvSpPr>
        <p:spPr>
          <a:xfrm>
            <a:off x="2276856" y="249478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No, he does not. He lives in Bahir Dar.</a:t>
            </a:r>
            <a:endParaRPr lang="en-US" sz="2000" dirty="0"/>
          </a:p>
        </p:txBody>
      </p:sp>
      <p:sp>
        <p:nvSpPr>
          <p:cNvPr id="19" name="Shape 15"/>
          <p:cNvSpPr/>
          <p:nvPr/>
        </p:nvSpPr>
        <p:spPr>
          <a:xfrm>
            <a:off x="548640" y="2996184"/>
            <a:ext cx="11094415" cy="455676"/>
          </a:xfrm>
          <a:prstGeom prst="roundRect">
            <a:avLst>
              <a:gd name="adj" fmla="val 28094"/>
            </a:avLst>
          </a:prstGeom>
          <a:solidFill>
            <a:srgbClr val="EDF3EF"/>
          </a:solidFill>
          <a:ln w="12700">
            <a:solidFill>
              <a:srgbClr val="E3E9E5"/>
            </a:solidFill>
            <a:prstDash val="solid"/>
          </a:ln>
        </p:spPr>
      </p:sp>
      <p:sp>
        <p:nvSpPr>
          <p:cNvPr id="20" name="Shape 16"/>
          <p:cNvSpPr/>
          <p:nvPr/>
        </p:nvSpPr>
        <p:spPr>
          <a:xfrm>
            <a:off x="694944" y="3087624"/>
            <a:ext cx="1417320" cy="272796"/>
          </a:xfrm>
          <a:prstGeom prst="roundRect">
            <a:avLst>
              <a:gd name="adj" fmla="val 33520"/>
            </a:avLst>
          </a:prstGeom>
          <a:solidFill>
            <a:srgbClr val="6B7C71"/>
          </a:solidFill>
          <a:ln/>
        </p:spPr>
      </p:sp>
      <p:sp>
        <p:nvSpPr>
          <p:cNvPr id="21" name="Text 17"/>
          <p:cNvSpPr txBox="1"/>
          <p:nvPr/>
        </p:nvSpPr>
        <p:spPr>
          <a:xfrm>
            <a:off x="731520" y="308762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DAWIT</a:t>
            </a:r>
            <a:endParaRPr lang="en-US" sz="1200" dirty="0"/>
          </a:p>
        </p:txBody>
      </p:sp>
      <p:sp>
        <p:nvSpPr>
          <p:cNvPr id="22" name="Text 18"/>
          <p:cNvSpPr txBox="1"/>
          <p:nvPr/>
        </p:nvSpPr>
        <p:spPr>
          <a:xfrm>
            <a:off x="2276856" y="305104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What does he do?</a:t>
            </a:r>
            <a:endParaRPr lang="en-US" sz="2000" dirty="0"/>
          </a:p>
        </p:txBody>
      </p:sp>
      <p:sp>
        <p:nvSpPr>
          <p:cNvPr id="23" name="Shape 19"/>
          <p:cNvSpPr/>
          <p:nvPr/>
        </p:nvSpPr>
        <p:spPr>
          <a:xfrm>
            <a:off x="548640" y="3552444"/>
            <a:ext cx="11094415" cy="455676"/>
          </a:xfrm>
          <a:prstGeom prst="roundRect">
            <a:avLst>
              <a:gd name="adj" fmla="val 28094"/>
            </a:avLst>
          </a:prstGeom>
          <a:solidFill>
            <a:srgbClr val="E7F3EF"/>
          </a:solidFill>
          <a:ln w="12700">
            <a:solidFill>
              <a:srgbClr val="C4E0D5"/>
            </a:solidFill>
            <a:prstDash val="solid"/>
          </a:ln>
        </p:spPr>
      </p:sp>
      <p:sp>
        <p:nvSpPr>
          <p:cNvPr id="24" name="Shape 20"/>
          <p:cNvSpPr/>
          <p:nvPr/>
        </p:nvSpPr>
        <p:spPr>
          <a:xfrm>
            <a:off x="694944" y="3643884"/>
            <a:ext cx="1417320" cy="272796"/>
          </a:xfrm>
          <a:prstGeom prst="roundRect">
            <a:avLst>
              <a:gd name="adj" fmla="val 33520"/>
            </a:avLst>
          </a:prstGeom>
          <a:solidFill>
            <a:srgbClr val="0E7C5A"/>
          </a:solidFill>
          <a:ln/>
        </p:spPr>
      </p:sp>
      <p:sp>
        <p:nvSpPr>
          <p:cNvPr id="25" name="Text 21"/>
          <p:cNvSpPr txBox="1"/>
          <p:nvPr/>
        </p:nvSpPr>
        <p:spPr>
          <a:xfrm>
            <a:off x="731520" y="364388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SARA</a:t>
            </a:r>
            <a:endParaRPr lang="en-US" sz="1200" dirty="0"/>
          </a:p>
        </p:txBody>
      </p:sp>
      <p:sp>
        <p:nvSpPr>
          <p:cNvPr id="26" name="Text 22"/>
          <p:cNvSpPr txBox="1"/>
          <p:nvPr/>
        </p:nvSpPr>
        <p:spPr>
          <a:xfrm>
            <a:off x="2276856" y="360730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He works in a hotel. He usually works at night.</a:t>
            </a:r>
            <a:endParaRPr lang="en-US" sz="2000" dirty="0"/>
          </a:p>
        </p:txBody>
      </p:sp>
      <p:sp>
        <p:nvSpPr>
          <p:cNvPr id="27" name="Shape 23"/>
          <p:cNvSpPr/>
          <p:nvPr/>
        </p:nvSpPr>
        <p:spPr>
          <a:xfrm>
            <a:off x="548640" y="4108704"/>
            <a:ext cx="11094415" cy="455676"/>
          </a:xfrm>
          <a:prstGeom prst="roundRect">
            <a:avLst>
              <a:gd name="adj" fmla="val 28094"/>
            </a:avLst>
          </a:prstGeom>
          <a:solidFill>
            <a:srgbClr val="EDF3EF"/>
          </a:solidFill>
          <a:ln w="12700">
            <a:solidFill>
              <a:srgbClr val="E3E9E5"/>
            </a:solidFill>
            <a:prstDash val="solid"/>
          </a:ln>
        </p:spPr>
      </p:sp>
      <p:sp>
        <p:nvSpPr>
          <p:cNvPr id="28" name="Shape 24"/>
          <p:cNvSpPr/>
          <p:nvPr/>
        </p:nvSpPr>
        <p:spPr>
          <a:xfrm>
            <a:off x="694944" y="4200144"/>
            <a:ext cx="1417320" cy="272796"/>
          </a:xfrm>
          <a:prstGeom prst="roundRect">
            <a:avLst>
              <a:gd name="adj" fmla="val 33520"/>
            </a:avLst>
          </a:prstGeom>
          <a:solidFill>
            <a:srgbClr val="6B7C71"/>
          </a:solidFill>
          <a:ln/>
        </p:spPr>
      </p:sp>
      <p:sp>
        <p:nvSpPr>
          <p:cNvPr id="29" name="Text 25"/>
          <p:cNvSpPr txBox="1"/>
          <p:nvPr/>
        </p:nvSpPr>
        <p:spPr>
          <a:xfrm>
            <a:off x="731520" y="420014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DAWIT</a:t>
            </a:r>
            <a:endParaRPr lang="en-US" sz="1200" dirty="0"/>
          </a:p>
        </p:txBody>
      </p:sp>
      <p:sp>
        <p:nvSpPr>
          <p:cNvPr id="30" name="Text 26"/>
          <p:cNvSpPr txBox="1"/>
          <p:nvPr/>
        </p:nvSpPr>
        <p:spPr>
          <a:xfrm>
            <a:off x="2276856" y="416356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Does he like it?</a:t>
            </a:r>
            <a:endParaRPr lang="en-US" sz="2000" dirty="0"/>
          </a:p>
        </p:txBody>
      </p:sp>
      <p:sp>
        <p:nvSpPr>
          <p:cNvPr id="31" name="Shape 27"/>
          <p:cNvSpPr/>
          <p:nvPr/>
        </p:nvSpPr>
        <p:spPr>
          <a:xfrm>
            <a:off x="548640" y="4664964"/>
            <a:ext cx="11094415" cy="455676"/>
          </a:xfrm>
          <a:prstGeom prst="roundRect">
            <a:avLst>
              <a:gd name="adj" fmla="val 28094"/>
            </a:avLst>
          </a:prstGeom>
          <a:solidFill>
            <a:srgbClr val="E7F3EF"/>
          </a:solidFill>
          <a:ln w="12700">
            <a:solidFill>
              <a:srgbClr val="C4E0D5"/>
            </a:solidFill>
            <a:prstDash val="solid"/>
          </a:ln>
        </p:spPr>
      </p:sp>
      <p:sp>
        <p:nvSpPr>
          <p:cNvPr id="32" name="Shape 28"/>
          <p:cNvSpPr/>
          <p:nvPr/>
        </p:nvSpPr>
        <p:spPr>
          <a:xfrm>
            <a:off x="694944" y="4756404"/>
            <a:ext cx="1417320" cy="272796"/>
          </a:xfrm>
          <a:prstGeom prst="roundRect">
            <a:avLst>
              <a:gd name="adj" fmla="val 33520"/>
            </a:avLst>
          </a:prstGeom>
          <a:solidFill>
            <a:srgbClr val="0E7C5A"/>
          </a:solidFill>
          <a:ln/>
        </p:spPr>
      </p:sp>
      <p:sp>
        <p:nvSpPr>
          <p:cNvPr id="33" name="Text 29"/>
          <p:cNvSpPr txBox="1"/>
          <p:nvPr/>
        </p:nvSpPr>
        <p:spPr>
          <a:xfrm>
            <a:off x="731520" y="475640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SARA</a:t>
            </a:r>
            <a:endParaRPr lang="en-US" sz="1200" dirty="0"/>
          </a:p>
        </p:txBody>
      </p:sp>
      <p:sp>
        <p:nvSpPr>
          <p:cNvPr id="34" name="Text 30"/>
          <p:cNvSpPr txBox="1"/>
          <p:nvPr/>
        </p:nvSpPr>
        <p:spPr>
          <a:xfrm>
            <a:off x="2276856" y="471982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Yes, he does. But he never sees his friends!</a:t>
            </a:r>
            <a:endParaRPr lang="en-US" sz="2000" dirty="0"/>
          </a:p>
        </p:txBody>
      </p:sp>
      <p:sp>
        <p:nvSpPr>
          <p:cNvPr id="35" name="Shape 31"/>
          <p:cNvSpPr/>
          <p:nvPr/>
        </p:nvSpPr>
        <p:spPr>
          <a:xfrm>
            <a:off x="548640" y="5266944"/>
            <a:ext cx="11094415" cy="676656"/>
          </a:xfrm>
          <a:prstGeom prst="roundRect">
            <a:avLst>
              <a:gd name="adj" fmla="val 18919"/>
            </a:avLst>
          </a:prstGeom>
          <a:solidFill>
            <a:srgbClr val="FDF3E7"/>
          </a:solidFill>
          <a:ln w="12700">
            <a:solidFill>
              <a:srgbClr val="EFDCB2"/>
            </a:solidFill>
            <a:prstDash val="solid"/>
          </a:ln>
        </p:spPr>
      </p:sp>
      <p:sp>
        <p:nvSpPr>
          <p:cNvPr id="36" name="Text 32"/>
          <p:cNvSpPr txBox="1"/>
          <p:nvPr/>
        </p:nvSpPr>
        <p:spPr>
          <a:xfrm>
            <a:off x="786384" y="5266944"/>
            <a:ext cx="10618927" cy="676656"/>
          </a:xfrm>
          <a:prstGeom prst="rect">
            <a:avLst/>
          </a:prstGeom>
          <a:noFill/>
          <a:ln/>
        </p:spPr>
        <p:txBody>
          <a:bodyPr wrap="square" lIns="0" tIns="0" rIns="0" bIns="0" rtlCol="0" anchor="ctr"/>
          <a:lstStyle/>
          <a:p>
            <a:pPr indent="0" marL="0">
              <a:buNone/>
            </a:pPr>
            <a:r>
              <a:rPr lang="en-US" sz="1500" dirty="0">
                <a:solidFill>
                  <a:srgbClr val="12211B"/>
                </a:solidFill>
                <a:latin typeface="Calibri" pitchFamily="34" charset="0"/>
                <a:ea typeface="Calibri" pitchFamily="34" charset="-122"/>
                <a:cs typeface="Calibri" pitchFamily="34" charset="-120"/>
              </a:rPr>
              <a:t>Every single line uses the third person. Count the -s endings: there are five.</a:t>
            </a:r>
            <a:endParaRPr lang="en-US" sz="15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391156" cy="420624"/>
          </a:xfrm>
          <a:prstGeom prst="roundRect">
            <a:avLst>
              <a:gd name="adj" fmla="val 50000"/>
            </a:avLst>
          </a:prstGeom>
          <a:solidFill>
            <a:srgbClr val="E4572E"/>
          </a:solidFill>
          <a:ln/>
        </p:spPr>
      </p:sp>
      <p:sp>
        <p:nvSpPr>
          <p:cNvPr id="3" name="Shape 1"/>
          <p:cNvSpPr/>
          <p:nvPr/>
        </p:nvSpPr>
        <p:spPr>
          <a:xfrm>
            <a:off x="649224" y="539496"/>
            <a:ext cx="219456" cy="219456"/>
          </a:xfrm>
          <a:prstGeom prst="ellipse">
            <a:avLst/>
          </a:prstGeom>
          <a:solidFill>
            <a:srgbClr val="E4572E"/>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89738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CONVERSATION 3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2600" b="1" dirty="0">
                <a:solidFill>
                  <a:srgbClr val="12211B"/>
                </a:solidFill>
                <a:latin typeface="Calibri" pitchFamily="34" charset="0"/>
                <a:ea typeface="Calibri" pitchFamily="34" charset="-122"/>
                <a:cs typeface="Calibri" pitchFamily="34" charset="-120"/>
              </a:rPr>
              <a:t>Useful questions about routines</a:t>
            </a:r>
            <a:endParaRPr lang="en-US" sz="26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Six questions. They open almost any conversation about someone's life.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1 — Present Simple &amp; Daily Routine</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28</a:t>
            </a:r>
            <a:endParaRPr lang="en-US" sz="1100" dirty="0"/>
          </a:p>
        </p:txBody>
      </p:sp>
      <p:sp>
        <p:nvSpPr>
          <p:cNvPr id="11" name="Shape 7"/>
          <p:cNvSpPr/>
          <p:nvPr/>
        </p:nvSpPr>
        <p:spPr>
          <a:xfrm>
            <a:off x="548640" y="1883664"/>
            <a:ext cx="3564026" cy="1929384"/>
          </a:xfrm>
          <a:prstGeom prst="roundRect">
            <a:avLst>
              <a:gd name="adj" fmla="val 6635"/>
            </a:avLst>
          </a:prstGeom>
          <a:solidFill>
            <a:srgbClr val="FDEDE8"/>
          </a:solidFill>
          <a:ln w="12700">
            <a:solidFill>
              <a:srgbClr val="F3C9BB"/>
            </a:solidFill>
            <a:prstDash val="solid"/>
          </a:ln>
        </p:spPr>
      </p:sp>
      <p:sp>
        <p:nvSpPr>
          <p:cNvPr id="12" name="Shape 8"/>
          <p:cNvSpPr/>
          <p:nvPr/>
        </p:nvSpPr>
        <p:spPr>
          <a:xfrm>
            <a:off x="768096" y="2103120"/>
            <a:ext cx="457200" cy="457200"/>
          </a:xfrm>
          <a:prstGeom prst="ellipse">
            <a:avLst/>
          </a:prstGeom>
          <a:solidFill>
            <a:srgbClr val="E4572E"/>
          </a:solidFill>
          <a:ln/>
        </p:spPr>
      </p:sp>
      <p:pic>
        <p:nvPicPr>
          <p:cNvPr id="13" name="Image 1" descr="preencoded.png">    </p:cNvPr>
          <p:cNvPicPr>
            <a:picLocks noChangeAspect="1"/>
          </p:cNvPicPr>
          <p:nvPr/>
        </p:nvPicPr>
        <p:blipFill>
          <a:blip r:embed="rId2"/>
          <a:stretch>
            <a:fillRect/>
          </a:stretch>
        </p:blipFill>
        <p:spPr>
          <a:xfrm>
            <a:off x="882396" y="2217420"/>
            <a:ext cx="228600" cy="228600"/>
          </a:xfrm>
          <a:prstGeom prst="rect">
            <a:avLst/>
          </a:prstGeom>
        </p:spPr>
      </p:pic>
      <p:sp>
        <p:nvSpPr>
          <p:cNvPr id="14" name="Text 9"/>
          <p:cNvSpPr/>
          <p:nvPr/>
        </p:nvSpPr>
        <p:spPr>
          <a:xfrm>
            <a:off x="768096" y="2706624"/>
            <a:ext cx="3125114" cy="923544"/>
          </a:xfrm>
          <a:prstGeom prst="rect">
            <a:avLst/>
          </a:prstGeom>
          <a:noFill/>
          <a:ln/>
        </p:spPr>
        <p:txBody>
          <a:bodyPr wrap="square" lIns="0" tIns="0" rIns="0" bIns="0" rtlCol="0" anchor="t"/>
          <a:lstStyle/>
          <a:p>
            <a:pPr indent="0" marL="0">
              <a:lnSpc>
                <a:spcPct val="102000"/>
              </a:lnSpc>
              <a:buNone/>
            </a:pPr>
            <a:r>
              <a:rPr lang="en-US" sz="1750" b="1" dirty="0">
                <a:solidFill>
                  <a:srgbClr val="12211B"/>
                </a:solidFill>
                <a:latin typeface="Calibri" pitchFamily="34" charset="0"/>
                <a:ea typeface="Calibri" pitchFamily="34" charset="-122"/>
                <a:cs typeface="Calibri" pitchFamily="34" charset="-120"/>
              </a:rPr>
              <a:t>“What time do you start?”</a:t>
            </a:r>
            <a:endParaRPr lang="en-US" sz="1750" dirty="0"/>
          </a:p>
          <a:p>
            <a:pPr indent="0" marL="0">
              <a:lnSpc>
                <a:spcPct val="102000"/>
              </a:lnSpc>
              <a:spcBef>
                <a:spcPts val="368"/>
              </a:spcBef>
              <a:buNone/>
            </a:pPr>
            <a:r>
              <a:rPr lang="en-US" sz="1380" dirty="0">
                <a:solidFill>
                  <a:srgbClr val="3A473F"/>
                </a:solidFill>
                <a:latin typeface="Calibri" pitchFamily="34" charset="0"/>
                <a:ea typeface="Calibri" pitchFamily="34" charset="-122"/>
                <a:cs typeface="Calibri" pitchFamily="34" charset="-120"/>
              </a:rPr>
              <a:t>The most useful routine question there is.</a:t>
            </a:r>
            <a:endParaRPr lang="en-US" sz="1750" dirty="0"/>
          </a:p>
        </p:txBody>
      </p:sp>
      <p:sp>
        <p:nvSpPr>
          <p:cNvPr id="15" name="Shape 10"/>
          <p:cNvSpPr/>
          <p:nvPr/>
        </p:nvSpPr>
        <p:spPr>
          <a:xfrm>
            <a:off x="4313834" y="1883664"/>
            <a:ext cx="3564026" cy="1929384"/>
          </a:xfrm>
          <a:prstGeom prst="roundRect">
            <a:avLst>
              <a:gd name="adj" fmla="val 6635"/>
            </a:avLst>
          </a:prstGeom>
          <a:solidFill>
            <a:srgbClr val="FDEDE8"/>
          </a:solidFill>
          <a:ln w="12700">
            <a:solidFill>
              <a:srgbClr val="F3C9BB"/>
            </a:solidFill>
            <a:prstDash val="solid"/>
          </a:ln>
        </p:spPr>
      </p:sp>
      <p:sp>
        <p:nvSpPr>
          <p:cNvPr id="16" name="Shape 11"/>
          <p:cNvSpPr/>
          <p:nvPr/>
        </p:nvSpPr>
        <p:spPr>
          <a:xfrm>
            <a:off x="4533290" y="2103120"/>
            <a:ext cx="457200" cy="457200"/>
          </a:xfrm>
          <a:prstGeom prst="ellipse">
            <a:avLst/>
          </a:prstGeom>
          <a:solidFill>
            <a:srgbClr val="E4572E"/>
          </a:solidFill>
          <a:ln/>
        </p:spPr>
      </p:sp>
      <p:pic>
        <p:nvPicPr>
          <p:cNvPr id="17" name="Image 2" descr="preencoded.png">    </p:cNvPr>
          <p:cNvPicPr>
            <a:picLocks noChangeAspect="1"/>
          </p:cNvPicPr>
          <p:nvPr/>
        </p:nvPicPr>
        <p:blipFill>
          <a:blip r:embed="rId3"/>
          <a:stretch>
            <a:fillRect/>
          </a:stretch>
        </p:blipFill>
        <p:spPr>
          <a:xfrm>
            <a:off x="4647590" y="2217420"/>
            <a:ext cx="228600" cy="228600"/>
          </a:xfrm>
          <a:prstGeom prst="rect">
            <a:avLst/>
          </a:prstGeom>
        </p:spPr>
      </p:pic>
      <p:sp>
        <p:nvSpPr>
          <p:cNvPr id="18" name="Text 12"/>
          <p:cNvSpPr/>
          <p:nvPr/>
        </p:nvSpPr>
        <p:spPr>
          <a:xfrm>
            <a:off x="4533290" y="2706624"/>
            <a:ext cx="3125114" cy="923544"/>
          </a:xfrm>
          <a:prstGeom prst="rect">
            <a:avLst/>
          </a:prstGeom>
          <a:noFill/>
          <a:ln/>
        </p:spPr>
        <p:txBody>
          <a:bodyPr wrap="square" lIns="0" tIns="0" rIns="0" bIns="0" rtlCol="0" anchor="t"/>
          <a:lstStyle/>
          <a:p>
            <a:pPr indent="0" marL="0">
              <a:lnSpc>
                <a:spcPct val="102000"/>
              </a:lnSpc>
              <a:buNone/>
            </a:pPr>
            <a:r>
              <a:rPr lang="en-US" sz="1750" b="1" dirty="0">
                <a:solidFill>
                  <a:srgbClr val="12211B"/>
                </a:solidFill>
                <a:latin typeface="Calibri" pitchFamily="34" charset="0"/>
                <a:ea typeface="Calibri" pitchFamily="34" charset="-122"/>
                <a:cs typeface="Calibri" pitchFamily="34" charset="-120"/>
              </a:rPr>
              <a:t>“What do you do?”</a:t>
            </a:r>
            <a:endParaRPr lang="en-US" sz="1750" dirty="0"/>
          </a:p>
          <a:p>
            <a:pPr indent="0" marL="0">
              <a:lnSpc>
                <a:spcPct val="102000"/>
              </a:lnSpc>
              <a:spcBef>
                <a:spcPts val="368"/>
              </a:spcBef>
              <a:buNone/>
            </a:pPr>
            <a:r>
              <a:rPr lang="en-US" sz="1380" dirty="0">
                <a:solidFill>
                  <a:srgbClr val="3A473F"/>
                </a:solidFill>
                <a:latin typeface="Calibri" pitchFamily="34" charset="0"/>
                <a:ea typeface="Calibri" pitchFamily="34" charset="-122"/>
                <a:cs typeface="Calibri" pitchFamily="34" charset="-120"/>
              </a:rPr>
              <a:t>Asks about a job. The answer is “I am a…”.</a:t>
            </a:r>
            <a:endParaRPr lang="en-US" sz="1750" dirty="0"/>
          </a:p>
        </p:txBody>
      </p:sp>
      <p:sp>
        <p:nvSpPr>
          <p:cNvPr id="19" name="Shape 13"/>
          <p:cNvSpPr/>
          <p:nvPr/>
        </p:nvSpPr>
        <p:spPr>
          <a:xfrm>
            <a:off x="8079029" y="1883664"/>
            <a:ext cx="3564026" cy="1929384"/>
          </a:xfrm>
          <a:prstGeom prst="roundRect">
            <a:avLst>
              <a:gd name="adj" fmla="val 6635"/>
            </a:avLst>
          </a:prstGeom>
          <a:solidFill>
            <a:srgbClr val="FDEDE8"/>
          </a:solidFill>
          <a:ln w="12700">
            <a:solidFill>
              <a:srgbClr val="F3C9BB"/>
            </a:solidFill>
            <a:prstDash val="solid"/>
          </a:ln>
        </p:spPr>
      </p:sp>
      <p:sp>
        <p:nvSpPr>
          <p:cNvPr id="20" name="Shape 14"/>
          <p:cNvSpPr/>
          <p:nvPr/>
        </p:nvSpPr>
        <p:spPr>
          <a:xfrm>
            <a:off x="8298485" y="2103120"/>
            <a:ext cx="457200" cy="457200"/>
          </a:xfrm>
          <a:prstGeom prst="ellipse">
            <a:avLst/>
          </a:prstGeom>
          <a:solidFill>
            <a:srgbClr val="E4572E"/>
          </a:solidFill>
          <a:ln/>
        </p:spPr>
      </p:sp>
      <p:pic>
        <p:nvPicPr>
          <p:cNvPr id="21" name="Image 3" descr="preencoded.png">    </p:cNvPr>
          <p:cNvPicPr>
            <a:picLocks noChangeAspect="1"/>
          </p:cNvPicPr>
          <p:nvPr/>
        </p:nvPicPr>
        <p:blipFill>
          <a:blip r:embed="rId4"/>
          <a:stretch>
            <a:fillRect/>
          </a:stretch>
        </p:blipFill>
        <p:spPr>
          <a:xfrm>
            <a:off x="8412785" y="2217420"/>
            <a:ext cx="228600" cy="228600"/>
          </a:xfrm>
          <a:prstGeom prst="rect">
            <a:avLst/>
          </a:prstGeom>
        </p:spPr>
      </p:pic>
      <p:sp>
        <p:nvSpPr>
          <p:cNvPr id="22" name="Text 15"/>
          <p:cNvSpPr/>
          <p:nvPr/>
        </p:nvSpPr>
        <p:spPr>
          <a:xfrm>
            <a:off x="8298485" y="2706624"/>
            <a:ext cx="3125114" cy="923544"/>
          </a:xfrm>
          <a:prstGeom prst="rect">
            <a:avLst/>
          </a:prstGeom>
          <a:noFill/>
          <a:ln/>
        </p:spPr>
        <p:txBody>
          <a:bodyPr wrap="square" lIns="0" tIns="0" rIns="0" bIns="0" rtlCol="0" anchor="t"/>
          <a:lstStyle/>
          <a:p>
            <a:pPr indent="0" marL="0">
              <a:lnSpc>
                <a:spcPct val="102000"/>
              </a:lnSpc>
              <a:buNone/>
            </a:pPr>
            <a:r>
              <a:rPr lang="en-US" sz="1750" b="1" dirty="0">
                <a:solidFill>
                  <a:srgbClr val="12211B"/>
                </a:solidFill>
                <a:latin typeface="Calibri" pitchFamily="34" charset="0"/>
                <a:ea typeface="Calibri" pitchFamily="34" charset="-122"/>
                <a:cs typeface="Calibri" pitchFamily="34" charset="-120"/>
              </a:rPr>
              <a:t>“How do you get to work?”</a:t>
            </a:r>
            <a:endParaRPr lang="en-US" sz="1750" dirty="0"/>
          </a:p>
          <a:p>
            <a:pPr indent="0" marL="0">
              <a:lnSpc>
                <a:spcPct val="102000"/>
              </a:lnSpc>
              <a:spcBef>
                <a:spcPts val="368"/>
              </a:spcBef>
              <a:buNone/>
            </a:pPr>
            <a:r>
              <a:rPr lang="en-US" sz="1380" dirty="0">
                <a:solidFill>
                  <a:srgbClr val="3A473F"/>
                </a:solidFill>
                <a:latin typeface="Calibri" pitchFamily="34" charset="0"/>
                <a:ea typeface="Calibri" pitchFamily="34" charset="-122"/>
                <a:cs typeface="Calibri" pitchFamily="34" charset="-120"/>
              </a:rPr>
              <a:t>“I walk.”  “I take the bus.”  “I drive.”</a:t>
            </a:r>
            <a:endParaRPr lang="en-US" sz="1750" dirty="0"/>
          </a:p>
        </p:txBody>
      </p:sp>
      <p:sp>
        <p:nvSpPr>
          <p:cNvPr id="23" name="Shape 16"/>
          <p:cNvSpPr/>
          <p:nvPr/>
        </p:nvSpPr>
        <p:spPr>
          <a:xfrm>
            <a:off x="548640" y="4014216"/>
            <a:ext cx="3564026" cy="1929384"/>
          </a:xfrm>
          <a:prstGeom prst="roundRect">
            <a:avLst>
              <a:gd name="adj" fmla="val 6635"/>
            </a:avLst>
          </a:prstGeom>
          <a:solidFill>
            <a:srgbClr val="FDEDE8"/>
          </a:solidFill>
          <a:ln w="12700">
            <a:solidFill>
              <a:srgbClr val="F3C9BB"/>
            </a:solidFill>
            <a:prstDash val="solid"/>
          </a:ln>
        </p:spPr>
      </p:sp>
      <p:sp>
        <p:nvSpPr>
          <p:cNvPr id="24" name="Shape 17"/>
          <p:cNvSpPr/>
          <p:nvPr/>
        </p:nvSpPr>
        <p:spPr>
          <a:xfrm>
            <a:off x="768096" y="4233672"/>
            <a:ext cx="457200" cy="457200"/>
          </a:xfrm>
          <a:prstGeom prst="ellipse">
            <a:avLst/>
          </a:prstGeom>
          <a:solidFill>
            <a:srgbClr val="E4572E"/>
          </a:solidFill>
          <a:ln/>
        </p:spPr>
      </p:sp>
      <p:pic>
        <p:nvPicPr>
          <p:cNvPr id="25" name="Image 4" descr="preencoded.png">    </p:cNvPr>
          <p:cNvPicPr>
            <a:picLocks noChangeAspect="1"/>
          </p:cNvPicPr>
          <p:nvPr/>
        </p:nvPicPr>
        <p:blipFill>
          <a:blip r:embed="rId5"/>
          <a:stretch>
            <a:fillRect/>
          </a:stretch>
        </p:blipFill>
        <p:spPr>
          <a:xfrm>
            <a:off x="882396" y="4347972"/>
            <a:ext cx="228600" cy="228600"/>
          </a:xfrm>
          <a:prstGeom prst="rect">
            <a:avLst/>
          </a:prstGeom>
        </p:spPr>
      </p:pic>
      <p:sp>
        <p:nvSpPr>
          <p:cNvPr id="26" name="Text 18"/>
          <p:cNvSpPr/>
          <p:nvPr/>
        </p:nvSpPr>
        <p:spPr>
          <a:xfrm>
            <a:off x="768096" y="4837176"/>
            <a:ext cx="3125114" cy="923544"/>
          </a:xfrm>
          <a:prstGeom prst="rect">
            <a:avLst/>
          </a:prstGeom>
          <a:noFill/>
          <a:ln/>
        </p:spPr>
        <p:txBody>
          <a:bodyPr wrap="square" lIns="0" tIns="0" rIns="0" bIns="0" rtlCol="0" anchor="t"/>
          <a:lstStyle/>
          <a:p>
            <a:pPr indent="0" marL="0">
              <a:lnSpc>
                <a:spcPct val="102000"/>
              </a:lnSpc>
              <a:buNone/>
            </a:pPr>
            <a:r>
              <a:rPr lang="en-US" sz="1750" b="1" dirty="0">
                <a:solidFill>
                  <a:srgbClr val="12211B"/>
                </a:solidFill>
                <a:latin typeface="Calibri" pitchFamily="34" charset="0"/>
                <a:ea typeface="Calibri" pitchFamily="34" charset="-122"/>
                <a:cs typeface="Calibri" pitchFamily="34" charset="-120"/>
              </a:rPr>
              <a:t>“How often do you …?”</a:t>
            </a:r>
            <a:endParaRPr lang="en-US" sz="1750" dirty="0"/>
          </a:p>
          <a:p>
            <a:pPr indent="0" marL="0">
              <a:lnSpc>
                <a:spcPct val="102000"/>
              </a:lnSpc>
              <a:spcBef>
                <a:spcPts val="368"/>
              </a:spcBef>
              <a:buNone/>
            </a:pPr>
            <a:r>
              <a:rPr lang="en-US" sz="1380" dirty="0">
                <a:solidFill>
                  <a:srgbClr val="3A473F"/>
                </a:solidFill>
                <a:latin typeface="Calibri" pitchFamily="34" charset="0"/>
                <a:ea typeface="Calibri" pitchFamily="34" charset="-122"/>
                <a:cs typeface="Calibri" pitchFamily="34" charset="-120"/>
              </a:rPr>
              <a:t>The answer uses a frequency word or “twice a week”.</a:t>
            </a:r>
            <a:endParaRPr lang="en-US" sz="1750" dirty="0"/>
          </a:p>
        </p:txBody>
      </p:sp>
      <p:sp>
        <p:nvSpPr>
          <p:cNvPr id="27" name="Shape 19"/>
          <p:cNvSpPr/>
          <p:nvPr/>
        </p:nvSpPr>
        <p:spPr>
          <a:xfrm>
            <a:off x="4313834" y="4014216"/>
            <a:ext cx="3564026" cy="1929384"/>
          </a:xfrm>
          <a:prstGeom prst="roundRect">
            <a:avLst>
              <a:gd name="adj" fmla="val 6635"/>
            </a:avLst>
          </a:prstGeom>
          <a:solidFill>
            <a:srgbClr val="FDEDE8"/>
          </a:solidFill>
          <a:ln w="12700">
            <a:solidFill>
              <a:srgbClr val="F3C9BB"/>
            </a:solidFill>
            <a:prstDash val="solid"/>
          </a:ln>
        </p:spPr>
      </p:sp>
      <p:sp>
        <p:nvSpPr>
          <p:cNvPr id="28" name="Shape 20"/>
          <p:cNvSpPr/>
          <p:nvPr/>
        </p:nvSpPr>
        <p:spPr>
          <a:xfrm>
            <a:off x="4533290" y="4233672"/>
            <a:ext cx="457200" cy="457200"/>
          </a:xfrm>
          <a:prstGeom prst="ellipse">
            <a:avLst/>
          </a:prstGeom>
          <a:solidFill>
            <a:srgbClr val="E4572E"/>
          </a:solidFill>
          <a:ln/>
        </p:spPr>
      </p:sp>
      <p:pic>
        <p:nvPicPr>
          <p:cNvPr id="29" name="Image 5" descr="preencoded.png">    </p:cNvPr>
          <p:cNvPicPr>
            <a:picLocks noChangeAspect="1"/>
          </p:cNvPicPr>
          <p:nvPr/>
        </p:nvPicPr>
        <p:blipFill>
          <a:blip r:embed="rId6"/>
          <a:stretch>
            <a:fillRect/>
          </a:stretch>
        </p:blipFill>
        <p:spPr>
          <a:xfrm>
            <a:off x="4647590" y="4347972"/>
            <a:ext cx="228600" cy="228600"/>
          </a:xfrm>
          <a:prstGeom prst="rect">
            <a:avLst/>
          </a:prstGeom>
        </p:spPr>
      </p:pic>
      <p:sp>
        <p:nvSpPr>
          <p:cNvPr id="30" name="Text 21"/>
          <p:cNvSpPr/>
          <p:nvPr/>
        </p:nvSpPr>
        <p:spPr>
          <a:xfrm>
            <a:off x="4533290" y="4837176"/>
            <a:ext cx="3125114" cy="923544"/>
          </a:xfrm>
          <a:prstGeom prst="rect">
            <a:avLst/>
          </a:prstGeom>
          <a:noFill/>
          <a:ln/>
        </p:spPr>
        <p:txBody>
          <a:bodyPr wrap="square" lIns="0" tIns="0" rIns="0" bIns="0" rtlCol="0" anchor="t"/>
          <a:lstStyle/>
          <a:p>
            <a:pPr indent="0" marL="0">
              <a:lnSpc>
                <a:spcPct val="102000"/>
              </a:lnSpc>
              <a:buNone/>
            </a:pPr>
            <a:r>
              <a:rPr lang="en-US" sz="1750" b="1" dirty="0">
                <a:solidFill>
                  <a:srgbClr val="12211B"/>
                </a:solidFill>
                <a:latin typeface="Calibri" pitchFamily="34" charset="0"/>
                <a:ea typeface="Calibri" pitchFamily="34" charset="-122"/>
                <a:cs typeface="Calibri" pitchFamily="34" charset="-120"/>
              </a:rPr>
              <a:t>“Do you like it?”</a:t>
            </a:r>
            <a:endParaRPr lang="en-US" sz="1750" dirty="0"/>
          </a:p>
          <a:p>
            <a:pPr indent="0" marL="0">
              <a:lnSpc>
                <a:spcPct val="102000"/>
              </a:lnSpc>
              <a:spcBef>
                <a:spcPts val="368"/>
              </a:spcBef>
              <a:buNone/>
            </a:pPr>
            <a:r>
              <a:rPr lang="en-US" sz="1380" dirty="0">
                <a:solidFill>
                  <a:srgbClr val="3A473F"/>
                </a:solidFill>
                <a:latin typeface="Calibri" pitchFamily="34" charset="0"/>
                <a:ea typeface="Calibri" pitchFamily="34" charset="-122"/>
                <a:cs typeface="Calibri" pitchFamily="34" charset="-120"/>
              </a:rPr>
              <a:t>Turns a fact into a conversation. Always ask this.</a:t>
            </a:r>
            <a:endParaRPr lang="en-US" sz="1750" dirty="0"/>
          </a:p>
        </p:txBody>
      </p:sp>
      <p:sp>
        <p:nvSpPr>
          <p:cNvPr id="31" name="Shape 22"/>
          <p:cNvSpPr/>
          <p:nvPr/>
        </p:nvSpPr>
        <p:spPr>
          <a:xfrm>
            <a:off x="8079029" y="4014216"/>
            <a:ext cx="3564026" cy="1929384"/>
          </a:xfrm>
          <a:prstGeom prst="roundRect">
            <a:avLst>
              <a:gd name="adj" fmla="val 6635"/>
            </a:avLst>
          </a:prstGeom>
          <a:solidFill>
            <a:srgbClr val="FDEDE8"/>
          </a:solidFill>
          <a:ln w="12700">
            <a:solidFill>
              <a:srgbClr val="F3C9BB"/>
            </a:solidFill>
            <a:prstDash val="solid"/>
          </a:ln>
        </p:spPr>
      </p:sp>
      <p:sp>
        <p:nvSpPr>
          <p:cNvPr id="32" name="Shape 23"/>
          <p:cNvSpPr/>
          <p:nvPr/>
        </p:nvSpPr>
        <p:spPr>
          <a:xfrm>
            <a:off x="8298485" y="4233672"/>
            <a:ext cx="457200" cy="457200"/>
          </a:xfrm>
          <a:prstGeom prst="ellipse">
            <a:avLst/>
          </a:prstGeom>
          <a:solidFill>
            <a:srgbClr val="E4572E"/>
          </a:solidFill>
          <a:ln/>
        </p:spPr>
      </p:sp>
      <p:pic>
        <p:nvPicPr>
          <p:cNvPr id="33" name="Image 6" descr="preencoded.png">    </p:cNvPr>
          <p:cNvPicPr>
            <a:picLocks noChangeAspect="1"/>
          </p:cNvPicPr>
          <p:nvPr/>
        </p:nvPicPr>
        <p:blipFill>
          <a:blip r:embed="rId7"/>
          <a:stretch>
            <a:fillRect/>
          </a:stretch>
        </p:blipFill>
        <p:spPr>
          <a:xfrm>
            <a:off x="8412785" y="4347972"/>
            <a:ext cx="228600" cy="228600"/>
          </a:xfrm>
          <a:prstGeom prst="rect">
            <a:avLst/>
          </a:prstGeom>
        </p:spPr>
      </p:pic>
      <p:sp>
        <p:nvSpPr>
          <p:cNvPr id="34" name="Text 24"/>
          <p:cNvSpPr/>
          <p:nvPr/>
        </p:nvSpPr>
        <p:spPr>
          <a:xfrm>
            <a:off x="8298485" y="4837176"/>
            <a:ext cx="3125114" cy="923544"/>
          </a:xfrm>
          <a:prstGeom prst="rect">
            <a:avLst/>
          </a:prstGeom>
          <a:noFill/>
          <a:ln/>
        </p:spPr>
        <p:txBody>
          <a:bodyPr wrap="square" lIns="0" tIns="0" rIns="0" bIns="0" rtlCol="0" anchor="t"/>
          <a:lstStyle/>
          <a:p>
            <a:pPr indent="0" marL="0">
              <a:lnSpc>
                <a:spcPct val="102000"/>
              </a:lnSpc>
              <a:buNone/>
            </a:pPr>
            <a:r>
              <a:rPr lang="en-US" sz="1750" b="1" dirty="0">
                <a:solidFill>
                  <a:srgbClr val="12211B"/>
                </a:solidFill>
                <a:latin typeface="Calibri" pitchFamily="34" charset="0"/>
                <a:ea typeface="Calibri" pitchFamily="34" charset="-122"/>
                <a:cs typeface="Calibri" pitchFamily="34" charset="-120"/>
              </a:rPr>
              <a:t>“Do you work at weekends?”</a:t>
            </a:r>
            <a:endParaRPr lang="en-US" sz="1750" dirty="0"/>
          </a:p>
          <a:p>
            <a:pPr indent="0" marL="0">
              <a:lnSpc>
                <a:spcPct val="102000"/>
              </a:lnSpc>
              <a:spcBef>
                <a:spcPts val="368"/>
              </a:spcBef>
              <a:buNone/>
            </a:pPr>
            <a:r>
              <a:rPr lang="en-US" sz="1380" dirty="0">
                <a:solidFill>
                  <a:srgbClr val="3A473F"/>
                </a:solidFill>
                <a:latin typeface="Calibri" pitchFamily="34" charset="0"/>
                <a:ea typeface="Calibri" pitchFamily="34" charset="-122"/>
                <a:cs typeface="Calibri" pitchFamily="34" charset="-120"/>
              </a:rPr>
              <a:t>Note “at weekends” — a fixed phrase in British English.</a:t>
            </a:r>
            <a:endParaRPr lang="en-US" sz="17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391156" cy="420624"/>
          </a:xfrm>
          <a:prstGeom prst="roundRect">
            <a:avLst>
              <a:gd name="adj" fmla="val 50000"/>
            </a:avLst>
          </a:prstGeom>
          <a:solidFill>
            <a:srgbClr val="E4572E"/>
          </a:solidFill>
          <a:ln/>
        </p:spPr>
      </p:sp>
      <p:sp>
        <p:nvSpPr>
          <p:cNvPr id="3" name="Shape 1"/>
          <p:cNvSpPr/>
          <p:nvPr/>
        </p:nvSpPr>
        <p:spPr>
          <a:xfrm>
            <a:off x="649224" y="539496"/>
            <a:ext cx="219456" cy="219456"/>
          </a:xfrm>
          <a:prstGeom prst="ellipse">
            <a:avLst/>
          </a:prstGeom>
          <a:solidFill>
            <a:srgbClr val="E4572E"/>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89738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CONVERSATION 4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Complete the conversation</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Work in pairs. Fill each gap. Answers are in the Answer Key.</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1 — Present Simple &amp; Daily Routine</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29</a:t>
            </a:r>
            <a:endParaRPr lang="en-US" sz="1100" dirty="0"/>
          </a:p>
        </p:txBody>
      </p:sp>
      <p:sp>
        <p:nvSpPr>
          <p:cNvPr id="11" name="Shape 7"/>
          <p:cNvSpPr/>
          <p:nvPr/>
        </p:nvSpPr>
        <p:spPr>
          <a:xfrm>
            <a:off x="548640" y="1883664"/>
            <a:ext cx="11094415" cy="455676"/>
          </a:xfrm>
          <a:prstGeom prst="roundRect">
            <a:avLst>
              <a:gd name="adj" fmla="val 28094"/>
            </a:avLst>
          </a:prstGeom>
          <a:solidFill>
            <a:srgbClr val="EDF3EF"/>
          </a:solidFill>
          <a:ln w="12700">
            <a:solidFill>
              <a:srgbClr val="E3E9E5"/>
            </a:solidFill>
            <a:prstDash val="solid"/>
          </a:ln>
        </p:spPr>
      </p:sp>
      <p:sp>
        <p:nvSpPr>
          <p:cNvPr id="12" name="Shape 8"/>
          <p:cNvSpPr/>
          <p:nvPr/>
        </p:nvSpPr>
        <p:spPr>
          <a:xfrm>
            <a:off x="694944" y="1975104"/>
            <a:ext cx="1417320" cy="272796"/>
          </a:xfrm>
          <a:prstGeom prst="roundRect">
            <a:avLst>
              <a:gd name="adj" fmla="val 33520"/>
            </a:avLst>
          </a:prstGeom>
          <a:solidFill>
            <a:srgbClr val="6B7C71"/>
          </a:solidFill>
          <a:ln/>
        </p:spPr>
      </p:sp>
      <p:sp>
        <p:nvSpPr>
          <p:cNvPr id="13" name="Text 9"/>
          <p:cNvSpPr txBox="1"/>
          <p:nvPr/>
        </p:nvSpPr>
        <p:spPr>
          <a:xfrm>
            <a:off x="731520" y="197510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ABEL</a:t>
            </a:r>
            <a:endParaRPr lang="en-US" sz="1200" dirty="0"/>
          </a:p>
        </p:txBody>
      </p:sp>
      <p:sp>
        <p:nvSpPr>
          <p:cNvPr id="14" name="Text 10"/>
          <p:cNvSpPr txBox="1"/>
          <p:nvPr/>
        </p:nvSpPr>
        <p:spPr>
          <a:xfrm>
            <a:off x="2276856" y="193852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______ you work every day?</a:t>
            </a:r>
            <a:endParaRPr lang="en-US" sz="2000" dirty="0"/>
          </a:p>
        </p:txBody>
      </p:sp>
      <p:sp>
        <p:nvSpPr>
          <p:cNvPr id="15" name="Shape 11"/>
          <p:cNvSpPr/>
          <p:nvPr/>
        </p:nvSpPr>
        <p:spPr>
          <a:xfrm>
            <a:off x="548640" y="2439924"/>
            <a:ext cx="11094415" cy="455676"/>
          </a:xfrm>
          <a:prstGeom prst="roundRect">
            <a:avLst>
              <a:gd name="adj" fmla="val 28094"/>
            </a:avLst>
          </a:prstGeom>
          <a:solidFill>
            <a:srgbClr val="E7F3EF"/>
          </a:solidFill>
          <a:ln w="12700">
            <a:solidFill>
              <a:srgbClr val="C4E0D5"/>
            </a:solidFill>
            <a:prstDash val="solid"/>
          </a:ln>
        </p:spPr>
      </p:sp>
      <p:sp>
        <p:nvSpPr>
          <p:cNvPr id="16" name="Shape 12"/>
          <p:cNvSpPr/>
          <p:nvPr/>
        </p:nvSpPr>
        <p:spPr>
          <a:xfrm>
            <a:off x="694944" y="2531364"/>
            <a:ext cx="1417320" cy="272796"/>
          </a:xfrm>
          <a:prstGeom prst="roundRect">
            <a:avLst>
              <a:gd name="adj" fmla="val 33520"/>
            </a:avLst>
          </a:prstGeom>
          <a:solidFill>
            <a:srgbClr val="0E7C5A"/>
          </a:solidFill>
          <a:ln/>
        </p:spPr>
      </p:sp>
      <p:sp>
        <p:nvSpPr>
          <p:cNvPr id="17" name="Text 13"/>
          <p:cNvSpPr txBox="1"/>
          <p:nvPr/>
        </p:nvSpPr>
        <p:spPr>
          <a:xfrm>
            <a:off x="731520" y="253136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YOU</a:t>
            </a:r>
            <a:endParaRPr lang="en-US" sz="1200" dirty="0"/>
          </a:p>
        </p:txBody>
      </p:sp>
      <p:sp>
        <p:nvSpPr>
          <p:cNvPr id="18" name="Text 14"/>
          <p:cNvSpPr txBox="1"/>
          <p:nvPr/>
        </p:nvSpPr>
        <p:spPr>
          <a:xfrm>
            <a:off x="2276856" y="249478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No, I ______ not. I ______ not work on Sunday.</a:t>
            </a:r>
            <a:endParaRPr lang="en-US" sz="2000" dirty="0"/>
          </a:p>
        </p:txBody>
      </p:sp>
      <p:sp>
        <p:nvSpPr>
          <p:cNvPr id="19" name="Shape 15"/>
          <p:cNvSpPr/>
          <p:nvPr/>
        </p:nvSpPr>
        <p:spPr>
          <a:xfrm>
            <a:off x="548640" y="2996184"/>
            <a:ext cx="11094415" cy="455676"/>
          </a:xfrm>
          <a:prstGeom prst="roundRect">
            <a:avLst>
              <a:gd name="adj" fmla="val 28094"/>
            </a:avLst>
          </a:prstGeom>
          <a:solidFill>
            <a:srgbClr val="EDF3EF"/>
          </a:solidFill>
          <a:ln w="12700">
            <a:solidFill>
              <a:srgbClr val="E3E9E5"/>
            </a:solidFill>
            <a:prstDash val="solid"/>
          </a:ln>
        </p:spPr>
      </p:sp>
      <p:sp>
        <p:nvSpPr>
          <p:cNvPr id="20" name="Shape 16"/>
          <p:cNvSpPr/>
          <p:nvPr/>
        </p:nvSpPr>
        <p:spPr>
          <a:xfrm>
            <a:off x="694944" y="3087624"/>
            <a:ext cx="1417320" cy="272796"/>
          </a:xfrm>
          <a:prstGeom prst="roundRect">
            <a:avLst>
              <a:gd name="adj" fmla="val 33520"/>
            </a:avLst>
          </a:prstGeom>
          <a:solidFill>
            <a:srgbClr val="6B7C71"/>
          </a:solidFill>
          <a:ln/>
        </p:spPr>
      </p:sp>
      <p:sp>
        <p:nvSpPr>
          <p:cNvPr id="21" name="Text 17"/>
          <p:cNvSpPr txBox="1"/>
          <p:nvPr/>
        </p:nvSpPr>
        <p:spPr>
          <a:xfrm>
            <a:off x="731520" y="308762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ABEL</a:t>
            </a:r>
            <a:endParaRPr lang="en-US" sz="1200" dirty="0"/>
          </a:p>
        </p:txBody>
      </p:sp>
      <p:sp>
        <p:nvSpPr>
          <p:cNvPr id="22" name="Text 18"/>
          <p:cNvSpPr txBox="1"/>
          <p:nvPr/>
        </p:nvSpPr>
        <p:spPr>
          <a:xfrm>
            <a:off x="2276856" y="305104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What time ______ you start?</a:t>
            </a:r>
            <a:endParaRPr lang="en-US" sz="2000" dirty="0"/>
          </a:p>
        </p:txBody>
      </p:sp>
      <p:sp>
        <p:nvSpPr>
          <p:cNvPr id="23" name="Shape 19"/>
          <p:cNvSpPr/>
          <p:nvPr/>
        </p:nvSpPr>
        <p:spPr>
          <a:xfrm>
            <a:off x="548640" y="3552444"/>
            <a:ext cx="11094415" cy="455676"/>
          </a:xfrm>
          <a:prstGeom prst="roundRect">
            <a:avLst>
              <a:gd name="adj" fmla="val 28094"/>
            </a:avLst>
          </a:prstGeom>
          <a:solidFill>
            <a:srgbClr val="E7F3EF"/>
          </a:solidFill>
          <a:ln w="12700">
            <a:solidFill>
              <a:srgbClr val="C4E0D5"/>
            </a:solidFill>
            <a:prstDash val="solid"/>
          </a:ln>
        </p:spPr>
      </p:sp>
      <p:sp>
        <p:nvSpPr>
          <p:cNvPr id="24" name="Shape 20"/>
          <p:cNvSpPr/>
          <p:nvPr/>
        </p:nvSpPr>
        <p:spPr>
          <a:xfrm>
            <a:off x="694944" y="3643884"/>
            <a:ext cx="1417320" cy="272796"/>
          </a:xfrm>
          <a:prstGeom prst="roundRect">
            <a:avLst>
              <a:gd name="adj" fmla="val 33520"/>
            </a:avLst>
          </a:prstGeom>
          <a:solidFill>
            <a:srgbClr val="0E7C5A"/>
          </a:solidFill>
          <a:ln/>
        </p:spPr>
      </p:sp>
      <p:sp>
        <p:nvSpPr>
          <p:cNvPr id="25" name="Text 21"/>
          <p:cNvSpPr txBox="1"/>
          <p:nvPr/>
        </p:nvSpPr>
        <p:spPr>
          <a:xfrm>
            <a:off x="731520" y="364388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YOU</a:t>
            </a:r>
            <a:endParaRPr lang="en-US" sz="1200" dirty="0"/>
          </a:p>
        </p:txBody>
      </p:sp>
      <p:sp>
        <p:nvSpPr>
          <p:cNvPr id="26" name="Text 22"/>
          <p:cNvSpPr txBox="1"/>
          <p:nvPr/>
        </p:nvSpPr>
        <p:spPr>
          <a:xfrm>
            <a:off x="2276856" y="360730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I ______ at ______ o'clock. And you?</a:t>
            </a:r>
            <a:endParaRPr lang="en-US" sz="2000" dirty="0"/>
          </a:p>
        </p:txBody>
      </p:sp>
      <p:sp>
        <p:nvSpPr>
          <p:cNvPr id="27" name="Shape 23"/>
          <p:cNvSpPr/>
          <p:nvPr/>
        </p:nvSpPr>
        <p:spPr>
          <a:xfrm>
            <a:off x="548640" y="4108704"/>
            <a:ext cx="11094415" cy="455676"/>
          </a:xfrm>
          <a:prstGeom prst="roundRect">
            <a:avLst>
              <a:gd name="adj" fmla="val 28094"/>
            </a:avLst>
          </a:prstGeom>
          <a:solidFill>
            <a:srgbClr val="EDF3EF"/>
          </a:solidFill>
          <a:ln w="12700">
            <a:solidFill>
              <a:srgbClr val="E3E9E5"/>
            </a:solidFill>
            <a:prstDash val="solid"/>
          </a:ln>
        </p:spPr>
      </p:sp>
      <p:sp>
        <p:nvSpPr>
          <p:cNvPr id="28" name="Shape 24"/>
          <p:cNvSpPr/>
          <p:nvPr/>
        </p:nvSpPr>
        <p:spPr>
          <a:xfrm>
            <a:off x="694944" y="4200144"/>
            <a:ext cx="1417320" cy="272796"/>
          </a:xfrm>
          <a:prstGeom prst="roundRect">
            <a:avLst>
              <a:gd name="adj" fmla="val 33520"/>
            </a:avLst>
          </a:prstGeom>
          <a:solidFill>
            <a:srgbClr val="6B7C71"/>
          </a:solidFill>
          <a:ln/>
        </p:spPr>
      </p:sp>
      <p:sp>
        <p:nvSpPr>
          <p:cNvPr id="29" name="Text 25"/>
          <p:cNvSpPr txBox="1"/>
          <p:nvPr/>
        </p:nvSpPr>
        <p:spPr>
          <a:xfrm>
            <a:off x="731520" y="420014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ABEL</a:t>
            </a:r>
            <a:endParaRPr lang="en-US" sz="1200" dirty="0"/>
          </a:p>
        </p:txBody>
      </p:sp>
      <p:sp>
        <p:nvSpPr>
          <p:cNvPr id="30" name="Text 26"/>
          <p:cNvSpPr txBox="1"/>
          <p:nvPr/>
        </p:nvSpPr>
        <p:spPr>
          <a:xfrm>
            <a:off x="2276856" y="416356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My shop ______ at seven. My son ______ me.</a:t>
            </a:r>
            <a:endParaRPr lang="en-US" sz="2000" dirty="0"/>
          </a:p>
        </p:txBody>
      </p:sp>
      <p:sp>
        <p:nvSpPr>
          <p:cNvPr id="31" name="Shape 27"/>
          <p:cNvSpPr/>
          <p:nvPr/>
        </p:nvSpPr>
        <p:spPr>
          <a:xfrm>
            <a:off x="548640" y="4664964"/>
            <a:ext cx="11094415" cy="455676"/>
          </a:xfrm>
          <a:prstGeom prst="roundRect">
            <a:avLst>
              <a:gd name="adj" fmla="val 28094"/>
            </a:avLst>
          </a:prstGeom>
          <a:solidFill>
            <a:srgbClr val="E7F3EF"/>
          </a:solidFill>
          <a:ln w="12700">
            <a:solidFill>
              <a:srgbClr val="C4E0D5"/>
            </a:solidFill>
            <a:prstDash val="solid"/>
          </a:ln>
        </p:spPr>
      </p:sp>
      <p:sp>
        <p:nvSpPr>
          <p:cNvPr id="32" name="Shape 28"/>
          <p:cNvSpPr/>
          <p:nvPr/>
        </p:nvSpPr>
        <p:spPr>
          <a:xfrm>
            <a:off x="694944" y="4756404"/>
            <a:ext cx="1417320" cy="272796"/>
          </a:xfrm>
          <a:prstGeom prst="roundRect">
            <a:avLst>
              <a:gd name="adj" fmla="val 33520"/>
            </a:avLst>
          </a:prstGeom>
          <a:solidFill>
            <a:srgbClr val="0E7C5A"/>
          </a:solidFill>
          <a:ln/>
        </p:spPr>
      </p:sp>
      <p:sp>
        <p:nvSpPr>
          <p:cNvPr id="33" name="Text 29"/>
          <p:cNvSpPr txBox="1"/>
          <p:nvPr/>
        </p:nvSpPr>
        <p:spPr>
          <a:xfrm>
            <a:off x="731520" y="475640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YOU</a:t>
            </a:r>
            <a:endParaRPr lang="en-US" sz="1200" dirty="0"/>
          </a:p>
        </p:txBody>
      </p:sp>
      <p:sp>
        <p:nvSpPr>
          <p:cNvPr id="34" name="Text 30"/>
          <p:cNvSpPr txBox="1"/>
          <p:nvPr/>
        </p:nvSpPr>
        <p:spPr>
          <a:xfrm>
            <a:off x="2276856" y="471982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______ he like the work?</a:t>
            </a:r>
            <a:endParaRPr lang="en-US" sz="2000" dirty="0"/>
          </a:p>
        </p:txBody>
      </p:sp>
      <p:sp>
        <p:nvSpPr>
          <p:cNvPr id="35" name="Shape 31"/>
          <p:cNvSpPr/>
          <p:nvPr/>
        </p:nvSpPr>
        <p:spPr>
          <a:xfrm>
            <a:off x="548640" y="5266944"/>
            <a:ext cx="11094415" cy="676656"/>
          </a:xfrm>
          <a:prstGeom prst="roundRect">
            <a:avLst>
              <a:gd name="adj" fmla="val 18919"/>
            </a:avLst>
          </a:prstGeom>
          <a:solidFill>
            <a:srgbClr val="FDF3E7"/>
          </a:solidFill>
          <a:ln w="12700">
            <a:solidFill>
              <a:srgbClr val="EFDCB2"/>
            </a:solidFill>
            <a:prstDash val="solid"/>
          </a:ln>
        </p:spPr>
      </p:sp>
      <p:sp>
        <p:nvSpPr>
          <p:cNvPr id="36" name="Text 32"/>
          <p:cNvSpPr txBox="1"/>
          <p:nvPr/>
        </p:nvSpPr>
        <p:spPr>
          <a:xfrm>
            <a:off x="786384" y="5266944"/>
            <a:ext cx="10618927" cy="676656"/>
          </a:xfrm>
          <a:prstGeom prst="rect">
            <a:avLst/>
          </a:prstGeom>
          <a:noFill/>
          <a:ln/>
        </p:spPr>
        <p:txBody>
          <a:bodyPr wrap="square" lIns="0" tIns="0" rIns="0" bIns="0" rtlCol="0" anchor="ctr"/>
          <a:lstStyle/>
          <a:p>
            <a:pPr indent="0" marL="0">
              <a:buNone/>
            </a:pPr>
            <a:r>
              <a:rPr lang="en-US" sz="1500" dirty="0">
                <a:solidFill>
                  <a:srgbClr val="12211B"/>
                </a:solidFill>
                <a:latin typeface="Calibri" pitchFamily="34" charset="0"/>
                <a:ea typeface="Calibri" pitchFamily="34" charset="-122"/>
                <a:cs typeface="Calibri" pitchFamily="34" charset="-120"/>
              </a:rPr>
              <a:t>Use these:  “Do”  ·  “do”  ·  “do”  ·  “do”  ·  “start”  ·  a time  ·  “opens”  ·  “helps”  ·  “Does”</a:t>
            </a:r>
            <a:endParaRPr lang="en-US" sz="15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391156" cy="420624"/>
          </a:xfrm>
          <a:prstGeom prst="roundRect">
            <a:avLst>
              <a:gd name="adj" fmla="val 50000"/>
            </a:avLst>
          </a:prstGeom>
          <a:solidFill>
            <a:srgbClr val="E4572E"/>
          </a:solidFill>
          <a:ln/>
        </p:spPr>
      </p:sp>
      <p:sp>
        <p:nvSpPr>
          <p:cNvPr id="3" name="Shape 1"/>
          <p:cNvSpPr/>
          <p:nvPr/>
        </p:nvSpPr>
        <p:spPr>
          <a:xfrm>
            <a:off x="649224" y="539496"/>
            <a:ext cx="219456" cy="219456"/>
          </a:xfrm>
          <a:prstGeom prst="ellipse">
            <a:avLst/>
          </a:prstGeom>
          <a:solidFill>
            <a:srgbClr val="E4572E"/>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89738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CONVERSATION 5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Pair practice — routines</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Four rounds. Two minutes each.</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1 — Present Simple &amp; Daily Routine</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30</a:t>
            </a:r>
            <a:endParaRPr lang="en-US" sz="1100" dirty="0"/>
          </a:p>
        </p:txBody>
      </p:sp>
      <p:sp>
        <p:nvSpPr>
          <p:cNvPr id="11" name="Shape 7"/>
          <p:cNvSpPr/>
          <p:nvPr/>
        </p:nvSpPr>
        <p:spPr>
          <a:xfrm>
            <a:off x="548640" y="1883664"/>
            <a:ext cx="11094415" cy="905256"/>
          </a:xfrm>
          <a:prstGeom prst="roundRect">
            <a:avLst>
              <a:gd name="adj" fmla="val 14141"/>
            </a:avLst>
          </a:prstGeom>
          <a:solidFill>
            <a:srgbClr val="F6F9F7"/>
          </a:solidFill>
          <a:ln w="12700">
            <a:solidFill>
              <a:srgbClr val="E3E9E5"/>
            </a:solidFill>
            <a:prstDash val="solid"/>
          </a:ln>
        </p:spPr>
      </p:sp>
      <p:sp>
        <p:nvSpPr>
          <p:cNvPr id="12" name="Shape 8"/>
          <p:cNvSpPr/>
          <p:nvPr/>
        </p:nvSpPr>
        <p:spPr>
          <a:xfrm>
            <a:off x="786384" y="2107692"/>
            <a:ext cx="457200" cy="457200"/>
          </a:xfrm>
          <a:prstGeom prst="ellipse">
            <a:avLst/>
          </a:prstGeom>
          <a:solidFill>
            <a:srgbClr val="E4572E"/>
          </a:solidFill>
          <a:ln/>
        </p:spPr>
      </p:sp>
      <p:sp>
        <p:nvSpPr>
          <p:cNvPr id="13" name="Text 9"/>
          <p:cNvSpPr txBox="1"/>
          <p:nvPr/>
        </p:nvSpPr>
        <p:spPr>
          <a:xfrm>
            <a:off x="786384" y="210769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4" name="Text 10"/>
          <p:cNvSpPr/>
          <p:nvPr/>
        </p:nvSpPr>
        <p:spPr>
          <a:xfrm>
            <a:off x="1463040" y="1956816"/>
            <a:ext cx="9905695" cy="758952"/>
          </a:xfrm>
          <a:prstGeom prst="rect">
            <a:avLst/>
          </a:prstGeom>
          <a:noFill/>
          <a:ln/>
        </p:spPr>
        <p:txBody>
          <a:bodyPr wrap="square" lIns="0" tIns="0" rIns="0" bIns="0" rtlCol="0" anchor="ctr"/>
          <a:lstStyle/>
          <a:p>
            <a:pPr indent="0" marL="0">
              <a:lnSpc>
                <a:spcPct val="102000"/>
              </a:lnSpc>
              <a:buNone/>
            </a:pPr>
            <a:r>
              <a:rPr lang="en-US" sz="1950" b="1" dirty="0">
                <a:solidFill>
                  <a:srgbClr val="12211B"/>
                </a:solidFill>
                <a:latin typeface="Calibri" pitchFamily="34" charset="0"/>
                <a:ea typeface="Calibri" pitchFamily="34" charset="-122"/>
                <a:cs typeface="Calibri" pitchFamily="34" charset="-120"/>
              </a:rPr>
              <a:t>Describe your own day</a:t>
            </a:r>
            <a:endParaRPr lang="en-US" sz="1950" dirty="0"/>
          </a:p>
          <a:p>
            <a:pPr indent="0" marL="0">
              <a:lnSpc>
                <a:spcPct val="102000"/>
              </a:lnSpc>
              <a:spcBef>
                <a:spcPts val="279"/>
              </a:spcBef>
              <a:buNone/>
            </a:pPr>
            <a:r>
              <a:rPr lang="en-US" sz="1490" dirty="0">
                <a:solidFill>
                  <a:srgbClr val="3A473F"/>
                </a:solidFill>
                <a:latin typeface="Calibri" pitchFamily="34" charset="0"/>
                <a:ea typeface="Calibri" pitchFamily="34" charset="-122"/>
                <a:cs typeface="Calibri" pitchFamily="34" charset="-120"/>
              </a:rPr>
              <a:t>Six sentences, from waking up to going to bed. Your partner counts the verbs.</a:t>
            </a:r>
            <a:endParaRPr lang="en-US" sz="1950" dirty="0"/>
          </a:p>
        </p:txBody>
      </p:sp>
      <p:sp>
        <p:nvSpPr>
          <p:cNvPr id="15" name="Shape 11"/>
          <p:cNvSpPr/>
          <p:nvPr/>
        </p:nvSpPr>
        <p:spPr>
          <a:xfrm>
            <a:off x="548640" y="2935224"/>
            <a:ext cx="11094415" cy="905256"/>
          </a:xfrm>
          <a:prstGeom prst="roundRect">
            <a:avLst>
              <a:gd name="adj" fmla="val 14141"/>
            </a:avLst>
          </a:prstGeom>
          <a:solidFill>
            <a:srgbClr val="F6F9F7"/>
          </a:solidFill>
          <a:ln w="12700">
            <a:solidFill>
              <a:srgbClr val="E3E9E5"/>
            </a:solidFill>
            <a:prstDash val="solid"/>
          </a:ln>
        </p:spPr>
      </p:sp>
      <p:sp>
        <p:nvSpPr>
          <p:cNvPr id="16" name="Shape 12"/>
          <p:cNvSpPr/>
          <p:nvPr/>
        </p:nvSpPr>
        <p:spPr>
          <a:xfrm>
            <a:off x="786384" y="3159252"/>
            <a:ext cx="457200" cy="457200"/>
          </a:xfrm>
          <a:prstGeom prst="ellipse">
            <a:avLst/>
          </a:prstGeom>
          <a:solidFill>
            <a:srgbClr val="E4572E"/>
          </a:solidFill>
          <a:ln/>
        </p:spPr>
      </p:sp>
      <p:sp>
        <p:nvSpPr>
          <p:cNvPr id="17" name="Text 13"/>
          <p:cNvSpPr txBox="1"/>
          <p:nvPr/>
        </p:nvSpPr>
        <p:spPr>
          <a:xfrm>
            <a:off x="786384" y="315925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8" name="Text 14"/>
          <p:cNvSpPr/>
          <p:nvPr/>
        </p:nvSpPr>
        <p:spPr>
          <a:xfrm>
            <a:off x="1463040" y="3008376"/>
            <a:ext cx="9905695" cy="758952"/>
          </a:xfrm>
          <a:prstGeom prst="rect">
            <a:avLst/>
          </a:prstGeom>
          <a:noFill/>
          <a:ln/>
        </p:spPr>
        <p:txBody>
          <a:bodyPr wrap="square" lIns="0" tIns="0" rIns="0" bIns="0" rtlCol="0" anchor="ctr"/>
          <a:lstStyle/>
          <a:p>
            <a:pPr indent="0" marL="0">
              <a:lnSpc>
                <a:spcPct val="102000"/>
              </a:lnSpc>
              <a:buNone/>
            </a:pPr>
            <a:r>
              <a:rPr lang="en-US" sz="2100" b="1" dirty="0">
                <a:solidFill>
                  <a:srgbClr val="12211B"/>
                </a:solidFill>
                <a:latin typeface="Calibri" pitchFamily="34" charset="0"/>
                <a:ea typeface="Calibri" pitchFamily="34" charset="-122"/>
                <a:cs typeface="Calibri" pitchFamily="34" charset="-120"/>
              </a:rPr>
              <a:t>Ask your partner five questions</a:t>
            </a:r>
            <a:endParaRPr lang="en-US" sz="2100" dirty="0"/>
          </a:p>
          <a:p>
            <a:pPr indent="0" marL="0">
              <a:lnSpc>
                <a:spcPct val="102000"/>
              </a:lnSpc>
              <a:spcBef>
                <a:spcPts val="300"/>
              </a:spcBef>
              <a:buNone/>
            </a:pPr>
            <a:r>
              <a:rPr lang="en-US" sz="1600" dirty="0">
                <a:solidFill>
                  <a:srgbClr val="3A473F"/>
                </a:solidFill>
                <a:latin typeface="Calibri" pitchFamily="34" charset="0"/>
                <a:ea typeface="Calibri" pitchFamily="34" charset="-122"/>
                <a:cs typeface="Calibri" pitchFamily="34" charset="-120"/>
              </a:rPr>
              <a:t>Use DO in all five. Your partner answers with a short answer.</a:t>
            </a:r>
            <a:endParaRPr lang="en-US" sz="2100" dirty="0"/>
          </a:p>
        </p:txBody>
      </p:sp>
      <p:sp>
        <p:nvSpPr>
          <p:cNvPr id="19" name="Shape 15"/>
          <p:cNvSpPr/>
          <p:nvPr/>
        </p:nvSpPr>
        <p:spPr>
          <a:xfrm>
            <a:off x="548640" y="3986784"/>
            <a:ext cx="11094415" cy="905256"/>
          </a:xfrm>
          <a:prstGeom prst="roundRect">
            <a:avLst>
              <a:gd name="adj" fmla="val 14141"/>
            </a:avLst>
          </a:prstGeom>
          <a:solidFill>
            <a:srgbClr val="F6F9F7"/>
          </a:solidFill>
          <a:ln w="12700">
            <a:solidFill>
              <a:srgbClr val="E3E9E5"/>
            </a:solidFill>
            <a:prstDash val="solid"/>
          </a:ln>
        </p:spPr>
      </p:sp>
      <p:sp>
        <p:nvSpPr>
          <p:cNvPr id="20" name="Shape 16"/>
          <p:cNvSpPr/>
          <p:nvPr/>
        </p:nvSpPr>
        <p:spPr>
          <a:xfrm>
            <a:off x="786384" y="4210812"/>
            <a:ext cx="457200" cy="457200"/>
          </a:xfrm>
          <a:prstGeom prst="ellipse">
            <a:avLst/>
          </a:prstGeom>
          <a:solidFill>
            <a:srgbClr val="E4572E"/>
          </a:solidFill>
          <a:ln/>
        </p:spPr>
      </p:sp>
      <p:sp>
        <p:nvSpPr>
          <p:cNvPr id="21" name="Text 17"/>
          <p:cNvSpPr txBox="1"/>
          <p:nvPr/>
        </p:nvSpPr>
        <p:spPr>
          <a:xfrm>
            <a:off x="786384" y="421081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2" name="Text 18"/>
          <p:cNvSpPr/>
          <p:nvPr/>
        </p:nvSpPr>
        <p:spPr>
          <a:xfrm>
            <a:off x="1463040" y="4059936"/>
            <a:ext cx="9905695" cy="758952"/>
          </a:xfrm>
          <a:prstGeom prst="rect">
            <a:avLst/>
          </a:prstGeom>
          <a:noFill/>
          <a:ln/>
        </p:spPr>
        <p:txBody>
          <a:bodyPr wrap="square" lIns="0" tIns="0" rIns="0" bIns="0" rtlCol="0" anchor="ctr"/>
          <a:lstStyle/>
          <a:p>
            <a:pPr indent="0" marL="0">
              <a:lnSpc>
                <a:spcPct val="102000"/>
              </a:lnSpc>
              <a:buNone/>
            </a:pPr>
            <a:r>
              <a:rPr lang="en-US" sz="2100" b="1" dirty="0">
                <a:solidFill>
                  <a:srgbClr val="12211B"/>
                </a:solidFill>
                <a:latin typeface="Calibri" pitchFamily="34" charset="0"/>
                <a:ea typeface="Calibri" pitchFamily="34" charset="-122"/>
                <a:cs typeface="Calibri" pitchFamily="34" charset="-120"/>
              </a:rPr>
              <a:t>Describe your partner's day to them</a:t>
            </a:r>
            <a:endParaRPr lang="en-US" sz="2100" dirty="0"/>
          </a:p>
          <a:p>
            <a:pPr indent="0" marL="0">
              <a:lnSpc>
                <a:spcPct val="102000"/>
              </a:lnSpc>
              <a:spcBef>
                <a:spcPts val="300"/>
              </a:spcBef>
              <a:buNone/>
            </a:pPr>
            <a:r>
              <a:rPr lang="en-US" sz="1600" dirty="0">
                <a:solidFill>
                  <a:srgbClr val="3A473F"/>
                </a:solidFill>
                <a:latin typeface="Calibri" pitchFamily="34" charset="0"/>
                <a:ea typeface="Calibri" pitchFamily="34" charset="-122"/>
                <a:cs typeface="Calibri" pitchFamily="34" charset="-120"/>
              </a:rPr>
              <a:t>“You wake up at six. You start work at eight.” Check the facts.</a:t>
            </a:r>
            <a:endParaRPr lang="en-US" sz="2100" dirty="0"/>
          </a:p>
        </p:txBody>
      </p:sp>
      <p:sp>
        <p:nvSpPr>
          <p:cNvPr id="23" name="Shape 19"/>
          <p:cNvSpPr/>
          <p:nvPr/>
        </p:nvSpPr>
        <p:spPr>
          <a:xfrm>
            <a:off x="548640" y="5038344"/>
            <a:ext cx="11094415" cy="905256"/>
          </a:xfrm>
          <a:prstGeom prst="roundRect">
            <a:avLst>
              <a:gd name="adj" fmla="val 14141"/>
            </a:avLst>
          </a:prstGeom>
          <a:solidFill>
            <a:srgbClr val="F6F9F7"/>
          </a:solidFill>
          <a:ln w="12700">
            <a:solidFill>
              <a:srgbClr val="E3E9E5"/>
            </a:solidFill>
            <a:prstDash val="solid"/>
          </a:ln>
        </p:spPr>
      </p:sp>
      <p:sp>
        <p:nvSpPr>
          <p:cNvPr id="24" name="Shape 20"/>
          <p:cNvSpPr/>
          <p:nvPr/>
        </p:nvSpPr>
        <p:spPr>
          <a:xfrm>
            <a:off x="786384" y="5262372"/>
            <a:ext cx="457200" cy="457200"/>
          </a:xfrm>
          <a:prstGeom prst="ellipse">
            <a:avLst/>
          </a:prstGeom>
          <a:solidFill>
            <a:srgbClr val="E4572E"/>
          </a:solidFill>
          <a:ln/>
        </p:spPr>
      </p:sp>
      <p:sp>
        <p:nvSpPr>
          <p:cNvPr id="25" name="Text 21"/>
          <p:cNvSpPr txBox="1"/>
          <p:nvPr/>
        </p:nvSpPr>
        <p:spPr>
          <a:xfrm>
            <a:off x="786384" y="526237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6" name="Text 22"/>
          <p:cNvSpPr/>
          <p:nvPr/>
        </p:nvSpPr>
        <p:spPr>
          <a:xfrm>
            <a:off x="1463040" y="5111496"/>
            <a:ext cx="9905695" cy="758952"/>
          </a:xfrm>
          <a:prstGeom prst="rect">
            <a:avLst/>
          </a:prstGeom>
          <a:noFill/>
          <a:ln/>
        </p:spPr>
        <p:txBody>
          <a:bodyPr wrap="square" lIns="0" tIns="0" rIns="0" bIns="0" rtlCol="0" anchor="ctr"/>
          <a:lstStyle/>
          <a:p>
            <a:pPr indent="0" marL="0">
              <a:lnSpc>
                <a:spcPct val="102000"/>
              </a:lnSpc>
              <a:buNone/>
            </a:pPr>
            <a:r>
              <a:rPr lang="en-US" sz="2100" b="1" dirty="0">
                <a:solidFill>
                  <a:srgbClr val="12211B"/>
                </a:solidFill>
                <a:latin typeface="Calibri" pitchFamily="34" charset="0"/>
                <a:ea typeface="Calibri" pitchFamily="34" charset="-122"/>
                <a:cs typeface="Calibri" pitchFamily="34" charset="-120"/>
              </a:rPr>
              <a:t>Describe your partner to a new person</a:t>
            </a:r>
            <a:endParaRPr lang="en-US" sz="2100" dirty="0"/>
          </a:p>
          <a:p>
            <a:pPr indent="0" marL="0">
              <a:lnSpc>
                <a:spcPct val="102000"/>
              </a:lnSpc>
              <a:spcBef>
                <a:spcPts val="300"/>
              </a:spcBef>
              <a:buNone/>
            </a:pPr>
            <a:r>
              <a:rPr lang="en-US" sz="1600" dirty="0">
                <a:solidFill>
                  <a:srgbClr val="3A473F"/>
                </a:solidFill>
                <a:latin typeface="Calibri" pitchFamily="34" charset="0"/>
                <a:ea typeface="Calibri" pitchFamily="34" charset="-122"/>
                <a:cs typeface="Calibri" pitchFamily="34" charset="-120"/>
              </a:rPr>
              <a:t>“He wakes up at six. He starts work at eight.” Now every verb needs -s.</a:t>
            </a:r>
            <a:endParaRPr lang="en-US" sz="2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007108" cy="420624"/>
          </a:xfrm>
          <a:prstGeom prst="roundRect">
            <a:avLst>
              <a:gd name="adj" fmla="val 50000"/>
            </a:avLst>
          </a:prstGeom>
          <a:solidFill>
            <a:srgbClr val="E4572E"/>
          </a:solidFill>
          <a:ln/>
        </p:spPr>
      </p:sp>
      <p:sp>
        <p:nvSpPr>
          <p:cNvPr id="3" name="Shape 1"/>
          <p:cNvSpPr/>
          <p:nvPr/>
        </p:nvSpPr>
        <p:spPr>
          <a:xfrm>
            <a:off x="649224" y="539496"/>
            <a:ext cx="219456" cy="219456"/>
          </a:xfrm>
          <a:prstGeom prst="ellipse">
            <a:avLst/>
          </a:prstGeom>
          <a:solidFill>
            <a:srgbClr val="E4572E"/>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513332"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SPEAKING 1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Activity 1 — my day in ten sentences</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Everyone. Standing up. Three rounds.</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1 — Present Simple &amp; Daily Routine</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31</a:t>
            </a:r>
            <a:endParaRPr lang="en-US" sz="1100" dirty="0"/>
          </a:p>
        </p:txBody>
      </p:sp>
      <p:sp>
        <p:nvSpPr>
          <p:cNvPr id="11" name="Shape 7"/>
          <p:cNvSpPr/>
          <p:nvPr/>
        </p:nvSpPr>
        <p:spPr>
          <a:xfrm>
            <a:off x="548640" y="1883664"/>
            <a:ext cx="11094415" cy="1255776"/>
          </a:xfrm>
          <a:prstGeom prst="roundRect">
            <a:avLst>
              <a:gd name="adj" fmla="val 10194"/>
            </a:avLst>
          </a:prstGeom>
          <a:solidFill>
            <a:srgbClr val="F6F9F7"/>
          </a:solidFill>
          <a:ln w="12700">
            <a:solidFill>
              <a:srgbClr val="E3E9E5"/>
            </a:solidFill>
            <a:prstDash val="solid"/>
          </a:ln>
        </p:spPr>
      </p:sp>
      <p:sp>
        <p:nvSpPr>
          <p:cNvPr id="12" name="Shape 8"/>
          <p:cNvSpPr/>
          <p:nvPr/>
        </p:nvSpPr>
        <p:spPr>
          <a:xfrm>
            <a:off x="786384" y="2282952"/>
            <a:ext cx="457200" cy="457200"/>
          </a:xfrm>
          <a:prstGeom prst="ellipse">
            <a:avLst/>
          </a:prstGeom>
          <a:solidFill>
            <a:srgbClr val="E4572E"/>
          </a:solidFill>
          <a:ln/>
        </p:spPr>
      </p:sp>
      <p:sp>
        <p:nvSpPr>
          <p:cNvPr id="13" name="Text 9"/>
          <p:cNvSpPr txBox="1"/>
          <p:nvPr/>
        </p:nvSpPr>
        <p:spPr>
          <a:xfrm>
            <a:off x="786384" y="228295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a:t>
            </a:r>
            <a:endParaRPr lang="en-US" sz="1300" dirty="0"/>
          </a:p>
        </p:txBody>
      </p:sp>
      <p:sp>
        <p:nvSpPr>
          <p:cNvPr id="14" name="Text 10"/>
          <p:cNvSpPr/>
          <p:nvPr/>
        </p:nvSpPr>
        <p:spPr>
          <a:xfrm>
            <a:off x="1463040" y="1956816"/>
            <a:ext cx="9905695" cy="1109472"/>
          </a:xfrm>
          <a:prstGeom prst="rect">
            <a:avLst/>
          </a:prstGeom>
          <a:noFill/>
          <a:ln/>
        </p:spPr>
        <p:txBody>
          <a:bodyPr wrap="square" lIns="0" tIns="0" rIns="0" bIns="0" rtlCol="0" anchor="ctr"/>
          <a:lstStyle/>
          <a:p>
            <a:pPr indent="0" marL="0">
              <a:lnSpc>
                <a:spcPct val="102000"/>
              </a:lnSpc>
              <a:buNone/>
            </a:pPr>
            <a:r>
              <a:rPr lang="en-US" sz="2100" b="1" dirty="0">
                <a:solidFill>
                  <a:srgbClr val="12211B"/>
                </a:solidFill>
                <a:latin typeface="Calibri" pitchFamily="34" charset="0"/>
                <a:ea typeface="Calibri" pitchFamily="34" charset="-122"/>
                <a:cs typeface="Calibri" pitchFamily="34" charset="-120"/>
              </a:rPr>
              <a:t>Ten sentences about your own day</a:t>
            </a:r>
            <a:endParaRPr lang="en-US" sz="2100" dirty="0"/>
          </a:p>
          <a:p>
            <a:pPr indent="0" marL="0">
              <a:lnSpc>
                <a:spcPct val="102000"/>
              </a:lnSpc>
              <a:spcBef>
                <a:spcPts val="300"/>
              </a:spcBef>
              <a:buNone/>
            </a:pPr>
            <a:r>
              <a:rPr lang="en-US" sz="1600" dirty="0">
                <a:solidFill>
                  <a:srgbClr val="3A473F"/>
                </a:solidFill>
                <a:latin typeface="Calibri" pitchFamily="34" charset="0"/>
                <a:ea typeface="Calibri" pitchFamily="34" charset="-122"/>
                <a:cs typeface="Calibri" pitchFamily="34" charset="-120"/>
              </a:rPr>
              <a:t>From waking up to going to bed. Use a time in at least five of them.</a:t>
            </a:r>
            <a:endParaRPr lang="en-US" sz="2100" dirty="0"/>
          </a:p>
        </p:txBody>
      </p:sp>
      <p:sp>
        <p:nvSpPr>
          <p:cNvPr id="15" name="Shape 11"/>
          <p:cNvSpPr/>
          <p:nvPr/>
        </p:nvSpPr>
        <p:spPr>
          <a:xfrm>
            <a:off x="548640" y="3285744"/>
            <a:ext cx="11094415" cy="1255776"/>
          </a:xfrm>
          <a:prstGeom prst="roundRect">
            <a:avLst>
              <a:gd name="adj" fmla="val 10194"/>
            </a:avLst>
          </a:prstGeom>
          <a:solidFill>
            <a:srgbClr val="F6F9F7"/>
          </a:solidFill>
          <a:ln w="12700">
            <a:solidFill>
              <a:srgbClr val="E3E9E5"/>
            </a:solidFill>
            <a:prstDash val="solid"/>
          </a:ln>
        </p:spPr>
      </p:sp>
      <p:sp>
        <p:nvSpPr>
          <p:cNvPr id="16" name="Shape 12"/>
          <p:cNvSpPr/>
          <p:nvPr/>
        </p:nvSpPr>
        <p:spPr>
          <a:xfrm>
            <a:off x="786384" y="3685032"/>
            <a:ext cx="457200" cy="457200"/>
          </a:xfrm>
          <a:prstGeom prst="ellipse">
            <a:avLst/>
          </a:prstGeom>
          <a:solidFill>
            <a:srgbClr val="E4572E"/>
          </a:solidFill>
          <a:ln/>
        </p:spPr>
      </p:sp>
      <p:sp>
        <p:nvSpPr>
          <p:cNvPr id="17" name="Text 13"/>
          <p:cNvSpPr txBox="1"/>
          <p:nvPr/>
        </p:nvSpPr>
        <p:spPr>
          <a:xfrm>
            <a:off x="786384" y="368503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B</a:t>
            </a:r>
            <a:endParaRPr lang="en-US" sz="1300" dirty="0"/>
          </a:p>
        </p:txBody>
      </p:sp>
      <p:sp>
        <p:nvSpPr>
          <p:cNvPr id="18" name="Text 14"/>
          <p:cNvSpPr/>
          <p:nvPr/>
        </p:nvSpPr>
        <p:spPr>
          <a:xfrm>
            <a:off x="1463040" y="3358896"/>
            <a:ext cx="9905695" cy="1109472"/>
          </a:xfrm>
          <a:prstGeom prst="rect">
            <a:avLst/>
          </a:prstGeom>
          <a:noFill/>
          <a:ln/>
        </p:spPr>
        <p:txBody>
          <a:bodyPr wrap="square" lIns="0" tIns="0" rIns="0" bIns="0" rtlCol="0" anchor="ctr"/>
          <a:lstStyle/>
          <a:p>
            <a:pPr indent="0" marL="0">
              <a:lnSpc>
                <a:spcPct val="102000"/>
              </a:lnSpc>
              <a:buNone/>
            </a:pPr>
            <a:r>
              <a:rPr lang="en-US" sz="2100" b="1" dirty="0">
                <a:solidFill>
                  <a:srgbClr val="12211B"/>
                </a:solidFill>
                <a:latin typeface="Calibri" pitchFamily="34" charset="0"/>
                <a:ea typeface="Calibri" pitchFamily="34" charset="-122"/>
                <a:cs typeface="Calibri" pitchFamily="34" charset="-120"/>
              </a:rPr>
              <a:t>Add a frequency word to five of them</a:t>
            </a:r>
            <a:endParaRPr lang="en-US" sz="2100" dirty="0"/>
          </a:p>
          <a:p>
            <a:pPr indent="0" marL="0">
              <a:lnSpc>
                <a:spcPct val="102000"/>
              </a:lnSpc>
              <a:spcBef>
                <a:spcPts val="300"/>
              </a:spcBef>
              <a:buNone/>
            </a:pPr>
            <a:r>
              <a:rPr lang="en-US" sz="1600" dirty="0">
                <a:solidFill>
                  <a:srgbClr val="3A473F"/>
                </a:solidFill>
                <a:latin typeface="Calibri" pitchFamily="34" charset="0"/>
                <a:ea typeface="Calibri" pitchFamily="34" charset="-122"/>
                <a:cs typeface="Calibri" pitchFamily="34" charset="-120"/>
              </a:rPr>
              <a:t>always · usually · often · sometimes · never.</a:t>
            </a:r>
            <a:endParaRPr lang="en-US" sz="2100" dirty="0"/>
          </a:p>
        </p:txBody>
      </p:sp>
      <p:sp>
        <p:nvSpPr>
          <p:cNvPr id="19" name="Shape 15"/>
          <p:cNvSpPr/>
          <p:nvPr/>
        </p:nvSpPr>
        <p:spPr>
          <a:xfrm>
            <a:off x="548640" y="4687824"/>
            <a:ext cx="11094415" cy="1255776"/>
          </a:xfrm>
          <a:prstGeom prst="roundRect">
            <a:avLst>
              <a:gd name="adj" fmla="val 10194"/>
            </a:avLst>
          </a:prstGeom>
          <a:solidFill>
            <a:srgbClr val="F6F9F7"/>
          </a:solidFill>
          <a:ln w="12700">
            <a:solidFill>
              <a:srgbClr val="E3E9E5"/>
            </a:solidFill>
            <a:prstDash val="solid"/>
          </a:ln>
        </p:spPr>
      </p:sp>
      <p:sp>
        <p:nvSpPr>
          <p:cNvPr id="20" name="Shape 16"/>
          <p:cNvSpPr/>
          <p:nvPr/>
        </p:nvSpPr>
        <p:spPr>
          <a:xfrm>
            <a:off x="786384" y="5087112"/>
            <a:ext cx="457200" cy="457200"/>
          </a:xfrm>
          <a:prstGeom prst="ellipse">
            <a:avLst/>
          </a:prstGeom>
          <a:solidFill>
            <a:srgbClr val="E4572E"/>
          </a:solidFill>
          <a:ln/>
        </p:spPr>
      </p:sp>
      <p:sp>
        <p:nvSpPr>
          <p:cNvPr id="21" name="Text 17"/>
          <p:cNvSpPr txBox="1"/>
          <p:nvPr/>
        </p:nvSpPr>
        <p:spPr>
          <a:xfrm>
            <a:off x="786384" y="508711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endParaRPr lang="en-US" sz="1300" dirty="0"/>
          </a:p>
        </p:txBody>
      </p:sp>
      <p:sp>
        <p:nvSpPr>
          <p:cNvPr id="22" name="Text 18"/>
          <p:cNvSpPr/>
          <p:nvPr/>
        </p:nvSpPr>
        <p:spPr>
          <a:xfrm>
            <a:off x="1463040" y="4760976"/>
            <a:ext cx="9905695" cy="1109472"/>
          </a:xfrm>
          <a:prstGeom prst="rect">
            <a:avLst/>
          </a:prstGeom>
          <a:noFill/>
          <a:ln/>
        </p:spPr>
        <p:txBody>
          <a:bodyPr wrap="square" lIns="0" tIns="0" rIns="0" bIns="0" rtlCol="0" anchor="ctr"/>
          <a:lstStyle/>
          <a:p>
            <a:pPr indent="0" marL="0">
              <a:lnSpc>
                <a:spcPct val="102000"/>
              </a:lnSpc>
              <a:buNone/>
            </a:pPr>
            <a:r>
              <a:rPr lang="en-US" sz="2100" b="1" dirty="0">
                <a:solidFill>
                  <a:srgbClr val="12211B"/>
                </a:solidFill>
                <a:latin typeface="Calibri" pitchFamily="34" charset="0"/>
                <a:ea typeface="Calibri" pitchFamily="34" charset="-122"/>
                <a:cs typeface="Calibri" pitchFamily="34" charset="-120"/>
              </a:rPr>
              <a:t>Say it again about your partner</a:t>
            </a:r>
            <a:endParaRPr lang="en-US" sz="2100" dirty="0"/>
          </a:p>
          <a:p>
            <a:pPr indent="0" marL="0">
              <a:lnSpc>
                <a:spcPct val="102000"/>
              </a:lnSpc>
              <a:spcBef>
                <a:spcPts val="300"/>
              </a:spcBef>
              <a:buNone/>
            </a:pPr>
            <a:r>
              <a:rPr lang="en-US" sz="1600" dirty="0">
                <a:solidFill>
                  <a:srgbClr val="3A473F"/>
                </a:solidFill>
                <a:latin typeface="Calibri" pitchFamily="34" charset="0"/>
                <a:ea typeface="Calibri" pitchFamily="34" charset="-122"/>
                <a:cs typeface="Calibri" pitchFamily="34" charset="-120"/>
              </a:rPr>
              <a:t>Every verb now needs -s. This is the hard one.</a:t>
            </a:r>
            <a:endParaRPr lang="en-US" sz="2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007108" cy="420624"/>
          </a:xfrm>
          <a:prstGeom prst="roundRect">
            <a:avLst>
              <a:gd name="adj" fmla="val 50000"/>
            </a:avLst>
          </a:prstGeom>
          <a:solidFill>
            <a:srgbClr val="E4572E"/>
          </a:solidFill>
          <a:ln/>
        </p:spPr>
      </p:sp>
      <p:sp>
        <p:nvSpPr>
          <p:cNvPr id="3" name="Shape 1"/>
          <p:cNvSpPr/>
          <p:nvPr/>
        </p:nvSpPr>
        <p:spPr>
          <a:xfrm>
            <a:off x="649224" y="539496"/>
            <a:ext cx="219456" cy="219456"/>
          </a:xfrm>
          <a:prstGeom prst="ellipse">
            <a:avLst/>
          </a:prstGeom>
          <a:solidFill>
            <a:srgbClr val="E4572E"/>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513332"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SPEAKING 2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Activity 2 — the class survey</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Ask five people. Report the results.</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1 — Present Simple &amp; Daily Routine</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32</a:t>
            </a:r>
            <a:endParaRPr lang="en-US" sz="1100" dirty="0"/>
          </a:p>
        </p:txBody>
      </p:sp>
      <p:sp>
        <p:nvSpPr>
          <p:cNvPr id="11" name="Shape 7"/>
          <p:cNvSpPr/>
          <p:nvPr/>
        </p:nvSpPr>
        <p:spPr>
          <a:xfrm>
            <a:off x="548640" y="1883664"/>
            <a:ext cx="11094415" cy="694944"/>
          </a:xfrm>
          <a:prstGeom prst="roundRect">
            <a:avLst>
              <a:gd name="adj" fmla="val 18421"/>
            </a:avLst>
          </a:prstGeom>
          <a:solidFill>
            <a:srgbClr val="F6F9F7"/>
          </a:solidFill>
          <a:ln w="12700">
            <a:solidFill>
              <a:srgbClr val="E3E9E5"/>
            </a:solidFill>
            <a:prstDash val="solid"/>
          </a:ln>
        </p:spPr>
      </p:sp>
      <p:sp>
        <p:nvSpPr>
          <p:cNvPr id="12" name="Shape 8"/>
          <p:cNvSpPr/>
          <p:nvPr/>
        </p:nvSpPr>
        <p:spPr>
          <a:xfrm>
            <a:off x="786384" y="2002536"/>
            <a:ext cx="457200" cy="457200"/>
          </a:xfrm>
          <a:prstGeom prst="ellipse">
            <a:avLst/>
          </a:prstGeom>
          <a:solidFill>
            <a:srgbClr val="E4572E"/>
          </a:solidFill>
          <a:ln/>
        </p:spPr>
      </p:sp>
      <p:sp>
        <p:nvSpPr>
          <p:cNvPr id="13" name="Text 9"/>
          <p:cNvSpPr txBox="1"/>
          <p:nvPr/>
        </p:nvSpPr>
        <p:spPr>
          <a:xfrm>
            <a:off x="786384" y="2002536"/>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4" name="Text 10"/>
          <p:cNvSpPr/>
          <p:nvPr/>
        </p:nvSpPr>
        <p:spPr>
          <a:xfrm>
            <a:off x="1463040" y="1956816"/>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“What time do you wake up?”</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Write down the five answers.</a:t>
            </a:r>
            <a:endParaRPr lang="en-US" sz="1600" dirty="0"/>
          </a:p>
        </p:txBody>
      </p:sp>
      <p:sp>
        <p:nvSpPr>
          <p:cNvPr id="15" name="Shape 11"/>
          <p:cNvSpPr/>
          <p:nvPr/>
        </p:nvSpPr>
        <p:spPr>
          <a:xfrm>
            <a:off x="548640" y="2724912"/>
            <a:ext cx="11094415" cy="694944"/>
          </a:xfrm>
          <a:prstGeom prst="roundRect">
            <a:avLst>
              <a:gd name="adj" fmla="val 18421"/>
            </a:avLst>
          </a:prstGeom>
          <a:solidFill>
            <a:srgbClr val="F6F9F7"/>
          </a:solidFill>
          <a:ln w="12700">
            <a:solidFill>
              <a:srgbClr val="E3E9E5"/>
            </a:solidFill>
            <a:prstDash val="solid"/>
          </a:ln>
        </p:spPr>
      </p:sp>
      <p:sp>
        <p:nvSpPr>
          <p:cNvPr id="16" name="Shape 12"/>
          <p:cNvSpPr/>
          <p:nvPr/>
        </p:nvSpPr>
        <p:spPr>
          <a:xfrm>
            <a:off x="786384" y="2843784"/>
            <a:ext cx="457200" cy="457200"/>
          </a:xfrm>
          <a:prstGeom prst="ellipse">
            <a:avLst/>
          </a:prstGeom>
          <a:solidFill>
            <a:srgbClr val="E4572E"/>
          </a:solidFill>
          <a:ln/>
        </p:spPr>
      </p:sp>
      <p:sp>
        <p:nvSpPr>
          <p:cNvPr id="17" name="Text 13"/>
          <p:cNvSpPr txBox="1"/>
          <p:nvPr/>
        </p:nvSpPr>
        <p:spPr>
          <a:xfrm>
            <a:off x="786384" y="2843784"/>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8" name="Text 14"/>
          <p:cNvSpPr/>
          <p:nvPr/>
        </p:nvSpPr>
        <p:spPr>
          <a:xfrm>
            <a:off x="1463040" y="2798064"/>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“Do you drink coffee in the morning?”</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Count the yes answers.</a:t>
            </a:r>
            <a:endParaRPr lang="en-US" sz="1600" dirty="0"/>
          </a:p>
        </p:txBody>
      </p:sp>
      <p:sp>
        <p:nvSpPr>
          <p:cNvPr id="19" name="Shape 15"/>
          <p:cNvSpPr/>
          <p:nvPr/>
        </p:nvSpPr>
        <p:spPr>
          <a:xfrm>
            <a:off x="548640" y="3566160"/>
            <a:ext cx="11094415" cy="694944"/>
          </a:xfrm>
          <a:prstGeom prst="roundRect">
            <a:avLst>
              <a:gd name="adj" fmla="val 18421"/>
            </a:avLst>
          </a:prstGeom>
          <a:solidFill>
            <a:srgbClr val="F6F9F7"/>
          </a:solidFill>
          <a:ln w="12700">
            <a:solidFill>
              <a:srgbClr val="E3E9E5"/>
            </a:solidFill>
            <a:prstDash val="solid"/>
          </a:ln>
        </p:spPr>
      </p:sp>
      <p:sp>
        <p:nvSpPr>
          <p:cNvPr id="20" name="Shape 16"/>
          <p:cNvSpPr/>
          <p:nvPr/>
        </p:nvSpPr>
        <p:spPr>
          <a:xfrm>
            <a:off x="786384" y="3685032"/>
            <a:ext cx="457200" cy="457200"/>
          </a:xfrm>
          <a:prstGeom prst="ellipse">
            <a:avLst/>
          </a:prstGeom>
          <a:solidFill>
            <a:srgbClr val="E4572E"/>
          </a:solidFill>
          <a:ln/>
        </p:spPr>
      </p:sp>
      <p:sp>
        <p:nvSpPr>
          <p:cNvPr id="21" name="Text 17"/>
          <p:cNvSpPr txBox="1"/>
          <p:nvPr/>
        </p:nvSpPr>
        <p:spPr>
          <a:xfrm>
            <a:off x="786384" y="368503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2" name="Text 18"/>
          <p:cNvSpPr/>
          <p:nvPr/>
        </p:nvSpPr>
        <p:spPr>
          <a:xfrm>
            <a:off x="1463040" y="3639312"/>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“How do you get to work or school?”</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Walk · bus · bajaj · taxi · drive.</a:t>
            </a:r>
            <a:endParaRPr lang="en-US" sz="1600" dirty="0"/>
          </a:p>
        </p:txBody>
      </p:sp>
      <p:sp>
        <p:nvSpPr>
          <p:cNvPr id="23" name="Shape 19"/>
          <p:cNvSpPr/>
          <p:nvPr/>
        </p:nvSpPr>
        <p:spPr>
          <a:xfrm>
            <a:off x="548640" y="4407408"/>
            <a:ext cx="11094415" cy="694944"/>
          </a:xfrm>
          <a:prstGeom prst="roundRect">
            <a:avLst>
              <a:gd name="adj" fmla="val 18421"/>
            </a:avLst>
          </a:prstGeom>
          <a:solidFill>
            <a:srgbClr val="F6F9F7"/>
          </a:solidFill>
          <a:ln w="12700">
            <a:solidFill>
              <a:srgbClr val="E3E9E5"/>
            </a:solidFill>
            <a:prstDash val="solid"/>
          </a:ln>
        </p:spPr>
      </p:sp>
      <p:sp>
        <p:nvSpPr>
          <p:cNvPr id="24" name="Shape 20"/>
          <p:cNvSpPr/>
          <p:nvPr/>
        </p:nvSpPr>
        <p:spPr>
          <a:xfrm>
            <a:off x="786384" y="4526280"/>
            <a:ext cx="457200" cy="457200"/>
          </a:xfrm>
          <a:prstGeom prst="ellipse">
            <a:avLst/>
          </a:prstGeom>
          <a:solidFill>
            <a:srgbClr val="E4572E"/>
          </a:solidFill>
          <a:ln/>
        </p:spPr>
      </p:sp>
      <p:sp>
        <p:nvSpPr>
          <p:cNvPr id="25" name="Text 21"/>
          <p:cNvSpPr txBox="1"/>
          <p:nvPr/>
        </p:nvSpPr>
        <p:spPr>
          <a:xfrm>
            <a:off x="786384" y="452628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6" name="Text 22"/>
          <p:cNvSpPr/>
          <p:nvPr/>
        </p:nvSpPr>
        <p:spPr>
          <a:xfrm>
            <a:off x="1463040" y="4480560"/>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“Do you work at weekends?”</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Count the yes answers.</a:t>
            </a:r>
            <a:endParaRPr lang="en-US" sz="1600" dirty="0"/>
          </a:p>
        </p:txBody>
      </p:sp>
      <p:sp>
        <p:nvSpPr>
          <p:cNvPr id="27" name="Shape 23"/>
          <p:cNvSpPr/>
          <p:nvPr/>
        </p:nvSpPr>
        <p:spPr>
          <a:xfrm>
            <a:off x="548640" y="5248656"/>
            <a:ext cx="11094415" cy="694944"/>
          </a:xfrm>
          <a:prstGeom prst="roundRect">
            <a:avLst>
              <a:gd name="adj" fmla="val 18421"/>
            </a:avLst>
          </a:prstGeom>
          <a:solidFill>
            <a:srgbClr val="F6F9F7"/>
          </a:solidFill>
          <a:ln w="12700">
            <a:solidFill>
              <a:srgbClr val="E3E9E5"/>
            </a:solidFill>
            <a:prstDash val="solid"/>
          </a:ln>
        </p:spPr>
      </p:sp>
      <p:sp>
        <p:nvSpPr>
          <p:cNvPr id="28" name="Shape 24"/>
          <p:cNvSpPr/>
          <p:nvPr/>
        </p:nvSpPr>
        <p:spPr>
          <a:xfrm>
            <a:off x="786384" y="5367528"/>
            <a:ext cx="457200" cy="457200"/>
          </a:xfrm>
          <a:prstGeom prst="ellipse">
            <a:avLst/>
          </a:prstGeom>
          <a:solidFill>
            <a:srgbClr val="E4572E"/>
          </a:solidFill>
          <a:ln/>
        </p:spPr>
      </p:sp>
      <p:sp>
        <p:nvSpPr>
          <p:cNvPr id="29" name="Text 25"/>
          <p:cNvSpPr txBox="1"/>
          <p:nvPr/>
        </p:nvSpPr>
        <p:spPr>
          <a:xfrm>
            <a:off x="786384" y="536752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30" name="Text 26"/>
          <p:cNvSpPr/>
          <p:nvPr/>
        </p:nvSpPr>
        <p:spPr>
          <a:xfrm>
            <a:off x="1463040" y="5321808"/>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Report to the class</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“Three people walk to school. Two people take the bus. Sara wakes up at five.”</a:t>
            </a:r>
            <a:endParaRPr lang="en-US" sz="16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007108" cy="420624"/>
          </a:xfrm>
          <a:prstGeom prst="roundRect">
            <a:avLst>
              <a:gd name="adj" fmla="val 50000"/>
            </a:avLst>
          </a:prstGeom>
          <a:solidFill>
            <a:srgbClr val="E4572E"/>
          </a:solidFill>
          <a:ln/>
        </p:spPr>
      </p:sp>
      <p:sp>
        <p:nvSpPr>
          <p:cNvPr id="3" name="Shape 1"/>
          <p:cNvSpPr/>
          <p:nvPr/>
        </p:nvSpPr>
        <p:spPr>
          <a:xfrm>
            <a:off x="649224" y="539496"/>
            <a:ext cx="219456" cy="219456"/>
          </a:xfrm>
          <a:prstGeom prst="ellipse">
            <a:avLst/>
          </a:prstGeom>
          <a:solidFill>
            <a:srgbClr val="E4572E"/>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513332"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SPEAKING 3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600" b="1" dirty="0">
                <a:solidFill>
                  <a:srgbClr val="12211B"/>
                </a:solidFill>
                <a:latin typeface="Calibri" pitchFamily="34" charset="0"/>
                <a:ea typeface="Calibri" pitchFamily="34" charset="-122"/>
                <a:cs typeface="Calibri" pitchFamily="34" charset="-120"/>
              </a:rPr>
              <a:t>Sound drill — the three sounds of the -s ending</a:t>
            </a:r>
            <a:endParaRPr lang="en-US" sz="36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Same letter, three different sounds. Your mouth chooses automatically if you say the word naturally.</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1 — Present Simple &amp; Daily Routine</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33</a:t>
            </a:r>
            <a:endParaRPr lang="en-US" sz="1100" dirty="0"/>
          </a:p>
        </p:txBody>
      </p:sp>
      <p:sp>
        <p:nvSpPr>
          <p:cNvPr id="11" name="Shape 7"/>
          <p:cNvSpPr/>
          <p:nvPr/>
        </p:nvSpPr>
        <p:spPr>
          <a:xfrm>
            <a:off x="548640" y="1883664"/>
            <a:ext cx="5410048" cy="3273552"/>
          </a:xfrm>
          <a:prstGeom prst="roundRect">
            <a:avLst>
              <a:gd name="adj" fmla="val 3911"/>
            </a:avLst>
          </a:prstGeom>
          <a:solidFill>
            <a:srgbClr val="E6F5EC"/>
          </a:solidFill>
          <a:ln w="15875">
            <a:solidFill>
              <a:srgbClr val="2E9E5B"/>
            </a:solidFill>
            <a:prstDash val="solid"/>
          </a:ln>
        </p:spPr>
      </p:sp>
      <p:sp>
        <p:nvSpPr>
          <p:cNvPr id="12" name="Shape 8"/>
          <p:cNvSpPr/>
          <p:nvPr/>
        </p:nvSpPr>
        <p:spPr>
          <a:xfrm>
            <a:off x="786384" y="2103120"/>
            <a:ext cx="420624" cy="420624"/>
          </a:xfrm>
          <a:prstGeom prst="ellipse">
            <a:avLst/>
          </a:prstGeom>
          <a:solidFill>
            <a:srgbClr val="2E9E5B"/>
          </a:solidFill>
          <a:ln/>
        </p:spPr>
      </p:sp>
      <p:pic>
        <p:nvPicPr>
          <p:cNvPr id="13" name="Image 1" descr="preencoded.png">    </p:cNvPr>
          <p:cNvPicPr>
            <a:picLocks noChangeAspect="1"/>
          </p:cNvPicPr>
          <p:nvPr/>
        </p:nvPicPr>
        <p:blipFill>
          <a:blip r:embed="rId2"/>
          <a:stretch>
            <a:fillRect/>
          </a:stretch>
        </p:blipFill>
        <p:spPr>
          <a:xfrm>
            <a:off x="891540" y="2208276"/>
            <a:ext cx="210312" cy="210312"/>
          </a:xfrm>
          <a:prstGeom prst="rect">
            <a:avLst/>
          </a:prstGeom>
        </p:spPr>
      </p:pic>
      <p:sp>
        <p:nvSpPr>
          <p:cNvPr id="14" name="Text 9"/>
          <p:cNvSpPr txBox="1"/>
          <p:nvPr/>
        </p:nvSpPr>
        <p:spPr>
          <a:xfrm>
            <a:off x="1335024" y="2103120"/>
            <a:ext cx="4404208" cy="420624"/>
          </a:xfrm>
          <a:prstGeom prst="rect">
            <a:avLst/>
          </a:prstGeom>
          <a:noFill/>
          <a:ln/>
        </p:spPr>
        <p:txBody>
          <a:bodyPr wrap="square" lIns="0" tIns="0" rIns="0" bIns="0" rtlCol="0" anchor="ctr"/>
          <a:lstStyle/>
          <a:p>
            <a:pPr indent="0" marL="0">
              <a:buNone/>
            </a:pPr>
            <a:r>
              <a:rPr lang="en-US" sz="2000" b="1" dirty="0">
                <a:solidFill>
                  <a:srgbClr val="2E9E5B"/>
                </a:solidFill>
                <a:latin typeface="Calibri" pitchFamily="34" charset="0"/>
                <a:ea typeface="Calibri" pitchFamily="34" charset="-122"/>
                <a:cs typeface="Calibri" pitchFamily="34" charset="-120"/>
              </a:rPr>
              <a:t>/s/ and /z/ — no extra syllable</a:t>
            </a:r>
            <a:endParaRPr lang="en-US" sz="2000" dirty="0"/>
          </a:p>
        </p:txBody>
      </p:sp>
      <p:sp>
        <p:nvSpPr>
          <p:cNvPr id="15" name="Text 10"/>
          <p:cNvSpPr/>
          <p:nvPr/>
        </p:nvSpPr>
        <p:spPr>
          <a:xfrm>
            <a:off x="822960" y="2724912"/>
            <a:ext cx="4861408" cy="2212848"/>
          </a:xfrm>
          <a:prstGeom prst="rect">
            <a:avLst/>
          </a:prstGeom>
          <a:noFill/>
          <a:ln/>
        </p:spPr>
        <p:txBody>
          <a:bodyPr wrap="square" lIns="0" tIns="0" rIns="0" bIns="0" rtlCol="0" anchor="t"/>
          <a:lstStyle/>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works  /wɜːks/</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eats  /iːts/</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lives  /lɪvz/</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goes  /ɡəʊz/</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reads  /riːdz/</a:t>
            </a:r>
            <a:endParaRPr lang="en-US" sz="1900" dirty="0"/>
          </a:p>
        </p:txBody>
      </p:sp>
      <p:sp>
        <p:nvSpPr>
          <p:cNvPr id="16" name="Shape 11"/>
          <p:cNvSpPr/>
          <p:nvPr/>
        </p:nvSpPr>
        <p:spPr>
          <a:xfrm>
            <a:off x="6233008" y="1883664"/>
            <a:ext cx="5410048" cy="3273552"/>
          </a:xfrm>
          <a:prstGeom prst="roundRect">
            <a:avLst>
              <a:gd name="adj" fmla="val 3911"/>
            </a:avLst>
          </a:prstGeom>
          <a:solidFill>
            <a:srgbClr val="FBEAEA"/>
          </a:solidFill>
          <a:ln w="15875">
            <a:solidFill>
              <a:srgbClr val="D64545"/>
            </a:solidFill>
            <a:prstDash val="solid"/>
          </a:ln>
        </p:spPr>
      </p:sp>
      <p:sp>
        <p:nvSpPr>
          <p:cNvPr id="17" name="Shape 12"/>
          <p:cNvSpPr/>
          <p:nvPr/>
        </p:nvSpPr>
        <p:spPr>
          <a:xfrm>
            <a:off x="6470752" y="2103120"/>
            <a:ext cx="420624" cy="420624"/>
          </a:xfrm>
          <a:prstGeom prst="ellipse">
            <a:avLst/>
          </a:prstGeom>
          <a:solidFill>
            <a:srgbClr val="D64545"/>
          </a:solidFill>
          <a:ln/>
        </p:spPr>
      </p:sp>
      <p:pic>
        <p:nvPicPr>
          <p:cNvPr id="18" name="Image 2" descr="preencoded.png">    </p:cNvPr>
          <p:cNvPicPr>
            <a:picLocks noChangeAspect="1"/>
          </p:cNvPicPr>
          <p:nvPr/>
        </p:nvPicPr>
        <p:blipFill>
          <a:blip r:embed="rId3"/>
          <a:stretch>
            <a:fillRect/>
          </a:stretch>
        </p:blipFill>
        <p:spPr>
          <a:xfrm>
            <a:off x="6575908" y="2208276"/>
            <a:ext cx="210312" cy="210312"/>
          </a:xfrm>
          <a:prstGeom prst="rect">
            <a:avLst/>
          </a:prstGeom>
        </p:spPr>
      </p:pic>
      <p:sp>
        <p:nvSpPr>
          <p:cNvPr id="19" name="Text 13"/>
          <p:cNvSpPr txBox="1"/>
          <p:nvPr/>
        </p:nvSpPr>
        <p:spPr>
          <a:xfrm>
            <a:off x="7019392" y="2103120"/>
            <a:ext cx="4404208" cy="420624"/>
          </a:xfrm>
          <a:prstGeom prst="rect">
            <a:avLst/>
          </a:prstGeom>
          <a:noFill/>
          <a:ln/>
        </p:spPr>
        <p:txBody>
          <a:bodyPr wrap="square" lIns="0" tIns="0" rIns="0" bIns="0" rtlCol="0" anchor="ctr"/>
          <a:lstStyle/>
          <a:p>
            <a:pPr indent="0" marL="0">
              <a:buNone/>
            </a:pPr>
            <a:r>
              <a:rPr lang="en-US" sz="2000" b="1" dirty="0">
                <a:solidFill>
                  <a:srgbClr val="D64545"/>
                </a:solidFill>
                <a:latin typeface="Calibri" pitchFamily="34" charset="0"/>
                <a:ea typeface="Calibri" pitchFamily="34" charset="-122"/>
                <a:cs typeface="Calibri" pitchFamily="34" charset="-120"/>
              </a:rPr>
              <a:t>/ɪz/ — ADDS a syllable</a:t>
            </a:r>
            <a:endParaRPr lang="en-US" sz="2000" dirty="0"/>
          </a:p>
        </p:txBody>
      </p:sp>
      <p:sp>
        <p:nvSpPr>
          <p:cNvPr id="20" name="Text 14"/>
          <p:cNvSpPr/>
          <p:nvPr/>
        </p:nvSpPr>
        <p:spPr>
          <a:xfrm>
            <a:off x="6507328" y="2724912"/>
            <a:ext cx="4861408" cy="2212848"/>
          </a:xfrm>
          <a:prstGeom prst="rect">
            <a:avLst/>
          </a:prstGeom>
          <a:noFill/>
          <a:ln/>
        </p:spPr>
        <p:txBody>
          <a:bodyPr wrap="square" lIns="0" tIns="0" rIns="0" bIns="0" rtlCol="0" anchor="t"/>
          <a:lstStyle/>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watches  (watch-es)</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finishes  (fin-ish-es)</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washes  (wash-es)</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teaches  (teach-es)</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fixes  (fix-es)</a:t>
            </a:r>
            <a:endParaRPr lang="en-US" sz="1900" dirty="0"/>
          </a:p>
        </p:txBody>
      </p:sp>
      <p:sp>
        <p:nvSpPr>
          <p:cNvPr id="21" name="Shape 15"/>
          <p:cNvSpPr/>
          <p:nvPr/>
        </p:nvSpPr>
        <p:spPr>
          <a:xfrm>
            <a:off x="548640" y="5285232"/>
            <a:ext cx="11094415" cy="658368"/>
          </a:xfrm>
          <a:prstGeom prst="roundRect">
            <a:avLst>
              <a:gd name="adj" fmla="val 19444"/>
            </a:avLst>
          </a:prstGeom>
          <a:solidFill>
            <a:srgbClr val="FDF3E7"/>
          </a:solidFill>
          <a:ln w="12700">
            <a:solidFill>
              <a:srgbClr val="EFDCB2"/>
            </a:solidFill>
            <a:prstDash val="solid"/>
          </a:ln>
        </p:spPr>
      </p:sp>
      <p:sp>
        <p:nvSpPr>
          <p:cNvPr id="22" name="Text 16"/>
          <p:cNvSpPr txBox="1"/>
          <p:nvPr/>
        </p:nvSpPr>
        <p:spPr>
          <a:xfrm>
            <a:off x="786384" y="5285232"/>
            <a:ext cx="10618927" cy="658368"/>
          </a:xfrm>
          <a:prstGeom prst="rect">
            <a:avLst/>
          </a:prstGeom>
          <a:noFill/>
          <a:ln/>
        </p:spPr>
        <p:txBody>
          <a:bodyPr wrap="square" lIns="0" tIns="0" rIns="0" bIns="0" rtlCol="0" anchor="ctr"/>
          <a:lstStyle/>
          <a:p>
            <a:pPr indent="0" marL="0">
              <a:buNone/>
            </a:pPr>
            <a:r>
              <a:rPr lang="en-US" sz="1600" dirty="0">
                <a:solidFill>
                  <a:srgbClr val="12211B"/>
                </a:solidFill>
                <a:latin typeface="Calibri" pitchFamily="34" charset="0"/>
                <a:ea typeface="Calibri" pitchFamily="34" charset="-122"/>
                <a:cs typeface="Calibri" pitchFamily="34" charset="-120"/>
              </a:rPr>
              <a:t>The right column adds a whole extra beat. Clap the syllables: “works” is one clap, “watches” is two.</a:t>
            </a:r>
            <a:endParaRPr lang="en-US" sz="16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007108" cy="420624"/>
          </a:xfrm>
          <a:prstGeom prst="roundRect">
            <a:avLst>
              <a:gd name="adj" fmla="val 50000"/>
            </a:avLst>
          </a:prstGeom>
          <a:solidFill>
            <a:srgbClr val="E4572E"/>
          </a:solidFill>
          <a:ln/>
        </p:spPr>
      </p:sp>
      <p:sp>
        <p:nvSpPr>
          <p:cNvPr id="3" name="Shape 1"/>
          <p:cNvSpPr/>
          <p:nvPr/>
        </p:nvSpPr>
        <p:spPr>
          <a:xfrm>
            <a:off x="649224" y="539496"/>
            <a:ext cx="219456" cy="219456"/>
          </a:xfrm>
          <a:prstGeom prst="ellipse">
            <a:avLst/>
          </a:prstGeom>
          <a:solidFill>
            <a:srgbClr val="E4572E"/>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513332"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SPEAKING 4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Activity 4 — role plays</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Work in pairs. Two minutes per situation.</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1 — Present Simple &amp; Daily Routine</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34</a:t>
            </a:r>
            <a:endParaRPr lang="en-US" sz="1100" dirty="0"/>
          </a:p>
        </p:txBody>
      </p:sp>
      <p:sp>
        <p:nvSpPr>
          <p:cNvPr id="11" name="Shape 7"/>
          <p:cNvSpPr/>
          <p:nvPr/>
        </p:nvSpPr>
        <p:spPr>
          <a:xfrm>
            <a:off x="548640" y="1883664"/>
            <a:ext cx="11094415" cy="905256"/>
          </a:xfrm>
          <a:prstGeom prst="roundRect">
            <a:avLst>
              <a:gd name="adj" fmla="val 14141"/>
            </a:avLst>
          </a:prstGeom>
          <a:solidFill>
            <a:srgbClr val="F6F9F7"/>
          </a:solidFill>
          <a:ln w="12700">
            <a:solidFill>
              <a:srgbClr val="E3E9E5"/>
            </a:solidFill>
            <a:prstDash val="solid"/>
          </a:ln>
        </p:spPr>
      </p:sp>
      <p:sp>
        <p:nvSpPr>
          <p:cNvPr id="12" name="Shape 8"/>
          <p:cNvSpPr/>
          <p:nvPr/>
        </p:nvSpPr>
        <p:spPr>
          <a:xfrm>
            <a:off x="786384" y="2107692"/>
            <a:ext cx="457200" cy="457200"/>
          </a:xfrm>
          <a:prstGeom prst="ellipse">
            <a:avLst/>
          </a:prstGeom>
          <a:solidFill>
            <a:srgbClr val="E4572E"/>
          </a:solidFill>
          <a:ln/>
        </p:spPr>
      </p:sp>
      <p:sp>
        <p:nvSpPr>
          <p:cNvPr id="13" name="Text 9"/>
          <p:cNvSpPr txBox="1"/>
          <p:nvPr/>
        </p:nvSpPr>
        <p:spPr>
          <a:xfrm>
            <a:off x="786384" y="210769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4" name="Text 10"/>
          <p:cNvSpPr/>
          <p:nvPr/>
        </p:nvSpPr>
        <p:spPr>
          <a:xfrm>
            <a:off x="1463040" y="1956816"/>
            <a:ext cx="9905695" cy="758952"/>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A new colleague asks about your working day</a:t>
            </a:r>
            <a:endParaRPr lang="en-US" sz="2000" dirty="0"/>
          </a:p>
          <a:p>
            <a:pPr indent="0" marL="0">
              <a:lnSpc>
                <a:spcPct val="102000"/>
              </a:lnSpc>
              <a:spcBef>
                <a:spcPts val="300"/>
              </a:spcBef>
              <a:buNone/>
            </a:pPr>
            <a:r>
              <a:rPr lang="en-US" sz="1500" dirty="0">
                <a:solidFill>
                  <a:srgbClr val="3A473F"/>
                </a:solidFill>
                <a:latin typeface="Calibri" pitchFamily="34" charset="0"/>
                <a:ea typeface="Calibri" pitchFamily="34" charset="-122"/>
                <a:cs typeface="Calibri" pitchFamily="34" charset="-120"/>
              </a:rPr>
              <a:t>Times, days, what you do, whether you like it.</a:t>
            </a:r>
            <a:endParaRPr lang="en-US" sz="2000" dirty="0"/>
          </a:p>
        </p:txBody>
      </p:sp>
      <p:sp>
        <p:nvSpPr>
          <p:cNvPr id="15" name="Shape 11"/>
          <p:cNvSpPr/>
          <p:nvPr/>
        </p:nvSpPr>
        <p:spPr>
          <a:xfrm>
            <a:off x="548640" y="2935224"/>
            <a:ext cx="11094415" cy="905256"/>
          </a:xfrm>
          <a:prstGeom prst="roundRect">
            <a:avLst>
              <a:gd name="adj" fmla="val 14141"/>
            </a:avLst>
          </a:prstGeom>
          <a:solidFill>
            <a:srgbClr val="F6F9F7"/>
          </a:solidFill>
          <a:ln w="12700">
            <a:solidFill>
              <a:srgbClr val="E3E9E5"/>
            </a:solidFill>
            <a:prstDash val="solid"/>
          </a:ln>
        </p:spPr>
      </p:sp>
      <p:sp>
        <p:nvSpPr>
          <p:cNvPr id="16" name="Shape 12"/>
          <p:cNvSpPr/>
          <p:nvPr/>
        </p:nvSpPr>
        <p:spPr>
          <a:xfrm>
            <a:off x="786384" y="3159252"/>
            <a:ext cx="457200" cy="457200"/>
          </a:xfrm>
          <a:prstGeom prst="ellipse">
            <a:avLst/>
          </a:prstGeom>
          <a:solidFill>
            <a:srgbClr val="E4572E"/>
          </a:solidFill>
          <a:ln/>
        </p:spPr>
      </p:sp>
      <p:sp>
        <p:nvSpPr>
          <p:cNvPr id="17" name="Text 13"/>
          <p:cNvSpPr txBox="1"/>
          <p:nvPr/>
        </p:nvSpPr>
        <p:spPr>
          <a:xfrm>
            <a:off x="786384" y="315925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8" name="Text 14"/>
          <p:cNvSpPr/>
          <p:nvPr/>
        </p:nvSpPr>
        <p:spPr>
          <a:xfrm>
            <a:off x="1463040" y="3008376"/>
            <a:ext cx="9905695" cy="758952"/>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You ask a shopkeeper about opening hours</a:t>
            </a:r>
            <a:endParaRPr lang="en-US" sz="2000" dirty="0"/>
          </a:p>
          <a:p>
            <a:pPr indent="0" marL="0">
              <a:lnSpc>
                <a:spcPct val="102000"/>
              </a:lnSpc>
              <a:spcBef>
                <a:spcPts val="300"/>
              </a:spcBef>
              <a:buNone/>
            </a:pPr>
            <a:r>
              <a:rPr lang="en-US" sz="1500" dirty="0">
                <a:solidFill>
                  <a:srgbClr val="3A473F"/>
                </a:solidFill>
                <a:latin typeface="Calibri" pitchFamily="34" charset="0"/>
                <a:ea typeface="Calibri" pitchFamily="34" charset="-122"/>
                <a:cs typeface="Calibri" pitchFamily="34" charset="-120"/>
              </a:rPr>
              <a:t>“What time do you open?”  “Do you open on Sunday?”</a:t>
            </a:r>
            <a:endParaRPr lang="en-US" sz="2000" dirty="0"/>
          </a:p>
        </p:txBody>
      </p:sp>
      <p:sp>
        <p:nvSpPr>
          <p:cNvPr id="19" name="Shape 15"/>
          <p:cNvSpPr/>
          <p:nvPr/>
        </p:nvSpPr>
        <p:spPr>
          <a:xfrm>
            <a:off x="548640" y="3986784"/>
            <a:ext cx="11094415" cy="905256"/>
          </a:xfrm>
          <a:prstGeom prst="roundRect">
            <a:avLst>
              <a:gd name="adj" fmla="val 14141"/>
            </a:avLst>
          </a:prstGeom>
          <a:solidFill>
            <a:srgbClr val="F6F9F7"/>
          </a:solidFill>
          <a:ln w="12700">
            <a:solidFill>
              <a:srgbClr val="E3E9E5"/>
            </a:solidFill>
            <a:prstDash val="solid"/>
          </a:ln>
        </p:spPr>
      </p:sp>
      <p:sp>
        <p:nvSpPr>
          <p:cNvPr id="20" name="Shape 16"/>
          <p:cNvSpPr/>
          <p:nvPr/>
        </p:nvSpPr>
        <p:spPr>
          <a:xfrm>
            <a:off x="786384" y="4210812"/>
            <a:ext cx="457200" cy="457200"/>
          </a:xfrm>
          <a:prstGeom prst="ellipse">
            <a:avLst/>
          </a:prstGeom>
          <a:solidFill>
            <a:srgbClr val="E4572E"/>
          </a:solidFill>
          <a:ln/>
        </p:spPr>
      </p:sp>
      <p:sp>
        <p:nvSpPr>
          <p:cNvPr id="21" name="Text 17"/>
          <p:cNvSpPr txBox="1"/>
          <p:nvPr/>
        </p:nvSpPr>
        <p:spPr>
          <a:xfrm>
            <a:off x="786384" y="421081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2" name="Text 18"/>
          <p:cNvSpPr/>
          <p:nvPr/>
        </p:nvSpPr>
        <p:spPr>
          <a:xfrm>
            <a:off x="1463040" y="4059936"/>
            <a:ext cx="9905695" cy="758952"/>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You describe a family member's job to a friend</a:t>
            </a:r>
            <a:endParaRPr lang="en-US" sz="2000" dirty="0"/>
          </a:p>
          <a:p>
            <a:pPr indent="0" marL="0">
              <a:lnSpc>
                <a:spcPct val="102000"/>
              </a:lnSpc>
              <a:spcBef>
                <a:spcPts val="300"/>
              </a:spcBef>
              <a:buNone/>
            </a:pPr>
            <a:r>
              <a:rPr lang="en-US" sz="1500" dirty="0">
                <a:solidFill>
                  <a:srgbClr val="3A473F"/>
                </a:solidFill>
                <a:latin typeface="Calibri" pitchFamily="34" charset="0"/>
                <a:ea typeface="Calibri" pitchFamily="34" charset="-122"/>
                <a:cs typeface="Calibri" pitchFamily="34" charset="-120"/>
              </a:rPr>
              <a:t>All third person. Every verb needs -s.</a:t>
            </a:r>
            <a:endParaRPr lang="en-US" sz="2000" dirty="0"/>
          </a:p>
        </p:txBody>
      </p:sp>
      <p:sp>
        <p:nvSpPr>
          <p:cNvPr id="23" name="Shape 19"/>
          <p:cNvSpPr/>
          <p:nvPr/>
        </p:nvSpPr>
        <p:spPr>
          <a:xfrm>
            <a:off x="548640" y="5038344"/>
            <a:ext cx="11094415" cy="905256"/>
          </a:xfrm>
          <a:prstGeom prst="roundRect">
            <a:avLst>
              <a:gd name="adj" fmla="val 14141"/>
            </a:avLst>
          </a:prstGeom>
          <a:solidFill>
            <a:srgbClr val="F6F9F7"/>
          </a:solidFill>
          <a:ln w="12700">
            <a:solidFill>
              <a:srgbClr val="E3E9E5"/>
            </a:solidFill>
            <a:prstDash val="solid"/>
          </a:ln>
        </p:spPr>
      </p:sp>
      <p:sp>
        <p:nvSpPr>
          <p:cNvPr id="24" name="Shape 20"/>
          <p:cNvSpPr/>
          <p:nvPr/>
        </p:nvSpPr>
        <p:spPr>
          <a:xfrm>
            <a:off x="786384" y="5262372"/>
            <a:ext cx="457200" cy="457200"/>
          </a:xfrm>
          <a:prstGeom prst="ellipse">
            <a:avLst/>
          </a:prstGeom>
          <a:solidFill>
            <a:srgbClr val="E4572E"/>
          </a:solidFill>
          <a:ln/>
        </p:spPr>
      </p:sp>
      <p:sp>
        <p:nvSpPr>
          <p:cNvPr id="25" name="Text 21"/>
          <p:cNvSpPr txBox="1"/>
          <p:nvPr/>
        </p:nvSpPr>
        <p:spPr>
          <a:xfrm>
            <a:off x="786384" y="526237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6" name="Text 22"/>
          <p:cNvSpPr/>
          <p:nvPr/>
        </p:nvSpPr>
        <p:spPr>
          <a:xfrm>
            <a:off x="1463040" y="5111496"/>
            <a:ext cx="9905695" cy="758952"/>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A visitor asks how people live in your town</a:t>
            </a:r>
            <a:endParaRPr lang="en-US" sz="2000" dirty="0"/>
          </a:p>
          <a:p>
            <a:pPr indent="0" marL="0">
              <a:lnSpc>
                <a:spcPct val="102000"/>
              </a:lnSpc>
              <a:spcBef>
                <a:spcPts val="300"/>
              </a:spcBef>
              <a:buNone/>
            </a:pPr>
            <a:r>
              <a:rPr lang="en-US" sz="1500" dirty="0">
                <a:solidFill>
                  <a:srgbClr val="3A473F"/>
                </a:solidFill>
                <a:latin typeface="Calibri" pitchFamily="34" charset="0"/>
                <a:ea typeface="Calibri" pitchFamily="34" charset="-122"/>
                <a:cs typeface="Calibri" pitchFamily="34" charset="-120"/>
              </a:rPr>
              <a:t>“People usually eat at seven.” “Most shops open at eight.”</a:t>
            </a:r>
            <a:endParaRPr lang="en-US" sz="2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007108" cy="420624"/>
          </a:xfrm>
          <a:prstGeom prst="roundRect">
            <a:avLst>
              <a:gd name="adj" fmla="val 50000"/>
            </a:avLst>
          </a:prstGeom>
          <a:solidFill>
            <a:srgbClr val="E4572E"/>
          </a:solidFill>
          <a:ln/>
        </p:spPr>
      </p:sp>
      <p:sp>
        <p:nvSpPr>
          <p:cNvPr id="3" name="Shape 1"/>
          <p:cNvSpPr/>
          <p:nvPr/>
        </p:nvSpPr>
        <p:spPr>
          <a:xfrm>
            <a:off x="649224" y="539496"/>
            <a:ext cx="219456" cy="219456"/>
          </a:xfrm>
          <a:prstGeom prst="ellipse">
            <a:avLst/>
          </a:prstGeom>
          <a:solidFill>
            <a:srgbClr val="E4572E"/>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513332"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SPEAKING 5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Speaking challenge — record yourself</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90 seconds. Everyone does this. It is the main speaking task of the module.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1 — Present Simple &amp; Daily Routine</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35</a:t>
            </a:r>
            <a:endParaRPr lang="en-US" sz="1100" dirty="0"/>
          </a:p>
        </p:txBody>
      </p:sp>
      <p:sp>
        <p:nvSpPr>
          <p:cNvPr id="11" name="Shape 7"/>
          <p:cNvSpPr/>
          <p:nvPr/>
        </p:nvSpPr>
        <p:spPr>
          <a:xfrm>
            <a:off x="548640" y="1883664"/>
            <a:ext cx="11094415" cy="694944"/>
          </a:xfrm>
          <a:prstGeom prst="roundRect">
            <a:avLst>
              <a:gd name="adj" fmla="val 18421"/>
            </a:avLst>
          </a:prstGeom>
          <a:solidFill>
            <a:srgbClr val="F6F9F7"/>
          </a:solidFill>
          <a:ln w="12700">
            <a:solidFill>
              <a:srgbClr val="E3E9E5"/>
            </a:solidFill>
            <a:prstDash val="solid"/>
          </a:ln>
        </p:spPr>
      </p:sp>
      <p:sp>
        <p:nvSpPr>
          <p:cNvPr id="12" name="Shape 8"/>
          <p:cNvSpPr/>
          <p:nvPr/>
        </p:nvSpPr>
        <p:spPr>
          <a:xfrm>
            <a:off x="786384" y="2002536"/>
            <a:ext cx="457200" cy="457200"/>
          </a:xfrm>
          <a:prstGeom prst="ellipse">
            <a:avLst/>
          </a:prstGeom>
          <a:solidFill>
            <a:srgbClr val="E4572E"/>
          </a:solidFill>
          <a:ln/>
        </p:spPr>
      </p:sp>
      <p:sp>
        <p:nvSpPr>
          <p:cNvPr id="13" name="Text 9"/>
          <p:cNvSpPr txBox="1"/>
          <p:nvPr/>
        </p:nvSpPr>
        <p:spPr>
          <a:xfrm>
            <a:off x="786384" y="2002536"/>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4" name="Text 10"/>
          <p:cNvSpPr/>
          <p:nvPr/>
        </p:nvSpPr>
        <p:spPr>
          <a:xfrm>
            <a:off x="1463040" y="1956816"/>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Describe your daily routine</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Six sentences with times, from waking up to going to bed.</a:t>
            </a:r>
            <a:endParaRPr lang="en-US" sz="1600" dirty="0"/>
          </a:p>
        </p:txBody>
      </p:sp>
      <p:sp>
        <p:nvSpPr>
          <p:cNvPr id="15" name="Shape 11"/>
          <p:cNvSpPr/>
          <p:nvPr/>
        </p:nvSpPr>
        <p:spPr>
          <a:xfrm>
            <a:off x="548640" y="2724912"/>
            <a:ext cx="11094415" cy="694944"/>
          </a:xfrm>
          <a:prstGeom prst="roundRect">
            <a:avLst>
              <a:gd name="adj" fmla="val 18421"/>
            </a:avLst>
          </a:prstGeom>
          <a:solidFill>
            <a:srgbClr val="F6F9F7"/>
          </a:solidFill>
          <a:ln w="12700">
            <a:solidFill>
              <a:srgbClr val="E3E9E5"/>
            </a:solidFill>
            <a:prstDash val="solid"/>
          </a:ln>
        </p:spPr>
      </p:sp>
      <p:sp>
        <p:nvSpPr>
          <p:cNvPr id="16" name="Shape 12"/>
          <p:cNvSpPr/>
          <p:nvPr/>
        </p:nvSpPr>
        <p:spPr>
          <a:xfrm>
            <a:off x="786384" y="2843784"/>
            <a:ext cx="457200" cy="457200"/>
          </a:xfrm>
          <a:prstGeom prst="ellipse">
            <a:avLst/>
          </a:prstGeom>
          <a:solidFill>
            <a:srgbClr val="E4572E"/>
          </a:solidFill>
          <a:ln/>
        </p:spPr>
      </p:sp>
      <p:sp>
        <p:nvSpPr>
          <p:cNvPr id="17" name="Text 13"/>
          <p:cNvSpPr txBox="1"/>
          <p:nvPr/>
        </p:nvSpPr>
        <p:spPr>
          <a:xfrm>
            <a:off x="786384" y="2843784"/>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8" name="Text 14"/>
          <p:cNvSpPr/>
          <p:nvPr/>
        </p:nvSpPr>
        <p:spPr>
          <a:xfrm>
            <a:off x="1463040" y="2798064"/>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Use three frequency words</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always · usually · sometimes · never.</a:t>
            </a:r>
            <a:endParaRPr lang="en-US" sz="1600" dirty="0"/>
          </a:p>
        </p:txBody>
      </p:sp>
      <p:sp>
        <p:nvSpPr>
          <p:cNvPr id="19" name="Shape 15"/>
          <p:cNvSpPr/>
          <p:nvPr/>
        </p:nvSpPr>
        <p:spPr>
          <a:xfrm>
            <a:off x="548640" y="3566160"/>
            <a:ext cx="11094415" cy="694944"/>
          </a:xfrm>
          <a:prstGeom prst="roundRect">
            <a:avLst>
              <a:gd name="adj" fmla="val 18421"/>
            </a:avLst>
          </a:prstGeom>
          <a:solidFill>
            <a:srgbClr val="F6F9F7"/>
          </a:solidFill>
          <a:ln w="12700">
            <a:solidFill>
              <a:srgbClr val="E3E9E5"/>
            </a:solidFill>
            <a:prstDash val="solid"/>
          </a:ln>
        </p:spPr>
      </p:sp>
      <p:sp>
        <p:nvSpPr>
          <p:cNvPr id="20" name="Shape 16"/>
          <p:cNvSpPr/>
          <p:nvPr/>
        </p:nvSpPr>
        <p:spPr>
          <a:xfrm>
            <a:off x="786384" y="3685032"/>
            <a:ext cx="457200" cy="457200"/>
          </a:xfrm>
          <a:prstGeom prst="ellipse">
            <a:avLst/>
          </a:prstGeom>
          <a:solidFill>
            <a:srgbClr val="E4572E"/>
          </a:solidFill>
          <a:ln/>
        </p:spPr>
      </p:sp>
      <p:sp>
        <p:nvSpPr>
          <p:cNvPr id="21" name="Text 17"/>
          <p:cNvSpPr txBox="1"/>
          <p:nvPr/>
        </p:nvSpPr>
        <p:spPr>
          <a:xfrm>
            <a:off x="786384" y="368503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2" name="Text 18"/>
          <p:cNvSpPr/>
          <p:nvPr/>
        </p:nvSpPr>
        <p:spPr>
          <a:xfrm>
            <a:off x="1463040" y="3639312"/>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Say two things you do NOT do</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“I do not work on Sunday.”</a:t>
            </a:r>
            <a:endParaRPr lang="en-US" sz="1600" dirty="0"/>
          </a:p>
        </p:txBody>
      </p:sp>
      <p:sp>
        <p:nvSpPr>
          <p:cNvPr id="23" name="Shape 19"/>
          <p:cNvSpPr/>
          <p:nvPr/>
        </p:nvSpPr>
        <p:spPr>
          <a:xfrm>
            <a:off x="548640" y="4407408"/>
            <a:ext cx="11094415" cy="694944"/>
          </a:xfrm>
          <a:prstGeom prst="roundRect">
            <a:avLst>
              <a:gd name="adj" fmla="val 18421"/>
            </a:avLst>
          </a:prstGeom>
          <a:solidFill>
            <a:srgbClr val="F6F9F7"/>
          </a:solidFill>
          <a:ln w="12700">
            <a:solidFill>
              <a:srgbClr val="E3E9E5"/>
            </a:solidFill>
            <a:prstDash val="solid"/>
          </a:ln>
        </p:spPr>
      </p:sp>
      <p:sp>
        <p:nvSpPr>
          <p:cNvPr id="24" name="Shape 20"/>
          <p:cNvSpPr/>
          <p:nvPr/>
        </p:nvSpPr>
        <p:spPr>
          <a:xfrm>
            <a:off x="786384" y="4526280"/>
            <a:ext cx="457200" cy="457200"/>
          </a:xfrm>
          <a:prstGeom prst="ellipse">
            <a:avLst/>
          </a:prstGeom>
          <a:solidFill>
            <a:srgbClr val="E4572E"/>
          </a:solidFill>
          <a:ln/>
        </p:spPr>
      </p:sp>
      <p:sp>
        <p:nvSpPr>
          <p:cNvPr id="25" name="Text 21"/>
          <p:cNvSpPr txBox="1"/>
          <p:nvPr/>
        </p:nvSpPr>
        <p:spPr>
          <a:xfrm>
            <a:off x="786384" y="452628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6" name="Text 22"/>
          <p:cNvSpPr/>
          <p:nvPr/>
        </p:nvSpPr>
        <p:spPr>
          <a:xfrm>
            <a:off x="1463040" y="4480560"/>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Describe one family member's routine</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Four sentences. Every verb needs -s.</a:t>
            </a:r>
            <a:endParaRPr lang="en-US" sz="1600" dirty="0"/>
          </a:p>
        </p:txBody>
      </p:sp>
      <p:sp>
        <p:nvSpPr>
          <p:cNvPr id="27" name="Shape 23"/>
          <p:cNvSpPr/>
          <p:nvPr/>
        </p:nvSpPr>
        <p:spPr>
          <a:xfrm>
            <a:off x="548640" y="5248656"/>
            <a:ext cx="11094415" cy="694944"/>
          </a:xfrm>
          <a:prstGeom prst="roundRect">
            <a:avLst>
              <a:gd name="adj" fmla="val 18421"/>
            </a:avLst>
          </a:prstGeom>
          <a:solidFill>
            <a:srgbClr val="F6F9F7"/>
          </a:solidFill>
          <a:ln w="12700">
            <a:solidFill>
              <a:srgbClr val="E3E9E5"/>
            </a:solidFill>
            <a:prstDash val="solid"/>
          </a:ln>
        </p:spPr>
      </p:sp>
      <p:sp>
        <p:nvSpPr>
          <p:cNvPr id="28" name="Shape 24"/>
          <p:cNvSpPr/>
          <p:nvPr/>
        </p:nvSpPr>
        <p:spPr>
          <a:xfrm>
            <a:off x="786384" y="5367528"/>
            <a:ext cx="457200" cy="457200"/>
          </a:xfrm>
          <a:prstGeom prst="ellipse">
            <a:avLst/>
          </a:prstGeom>
          <a:solidFill>
            <a:srgbClr val="E4572E"/>
          </a:solidFill>
          <a:ln/>
        </p:spPr>
      </p:sp>
      <p:sp>
        <p:nvSpPr>
          <p:cNvPr id="29" name="Text 25"/>
          <p:cNvSpPr txBox="1"/>
          <p:nvPr/>
        </p:nvSpPr>
        <p:spPr>
          <a:xfrm>
            <a:off x="786384" y="536752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30" name="Text 26"/>
          <p:cNvSpPr/>
          <p:nvPr/>
        </p:nvSpPr>
        <p:spPr>
          <a:xfrm>
            <a:off x="1463040" y="5321808"/>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Ask two questions</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“What time do you start work?”  “Does your brother work here?”</a:t>
            </a:r>
            <a:endParaRPr lang="en-US" sz="16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03120" cy="420624"/>
          </a:xfrm>
          <a:prstGeom prst="roundRect">
            <a:avLst>
              <a:gd name="adj" fmla="val 50000"/>
            </a:avLst>
          </a:prstGeom>
          <a:solidFill>
            <a:srgbClr val="1FA3A3"/>
          </a:solidFill>
          <a:ln/>
        </p:spPr>
      </p:sp>
      <p:sp>
        <p:nvSpPr>
          <p:cNvPr id="3" name="Shape 1"/>
          <p:cNvSpPr/>
          <p:nvPr/>
        </p:nvSpPr>
        <p:spPr>
          <a:xfrm>
            <a:off x="649224" y="539496"/>
            <a:ext cx="219456" cy="219456"/>
          </a:xfrm>
          <a:prstGeom prst="ellipse">
            <a:avLst/>
          </a:prstGeom>
          <a:solidFill>
            <a:srgbClr val="1FA3A3"/>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60934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LISTENING 1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Listening 1 — Dawit's day</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Listen twice. Write the times and the activities.</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1 — Present Simple &amp; Daily Routine</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36</a:t>
            </a:r>
            <a:endParaRPr lang="en-US" sz="1100" dirty="0"/>
          </a:p>
        </p:txBody>
      </p:sp>
      <p:sp>
        <p:nvSpPr>
          <p:cNvPr id="11" name="Shape 7"/>
          <p:cNvSpPr/>
          <p:nvPr/>
        </p:nvSpPr>
        <p:spPr>
          <a:xfrm>
            <a:off x="548640" y="1883664"/>
            <a:ext cx="6766560" cy="4059936"/>
          </a:xfrm>
          <a:prstGeom prst="roundRect">
            <a:avLst>
              <a:gd name="adj" fmla="val 3153"/>
            </a:avLst>
          </a:prstGeom>
          <a:solidFill>
            <a:srgbClr val="E8F6F6"/>
          </a:solidFill>
          <a:ln w="15875">
            <a:solidFill>
              <a:srgbClr val="1FA3A3"/>
            </a:solidFill>
            <a:prstDash val="solid"/>
          </a:ln>
          <a:effectLst>
            <a:outerShdw sx="100000" sy="100000" kx="0" ky="0" algn="bl" rotWithShape="0" blurRad="101600" dist="25400" dir="5400000">
              <a:srgbClr val="94A69C">
                <a:alpha val="30000"/>
              </a:srgbClr>
            </a:outerShdw>
          </a:effectLst>
        </p:spPr>
      </p:sp>
      <p:sp>
        <p:nvSpPr>
          <p:cNvPr id="12" name="Text 8"/>
          <p:cNvSpPr txBox="1"/>
          <p:nvPr/>
        </p:nvSpPr>
        <p:spPr>
          <a:xfrm>
            <a:off x="822960" y="2103120"/>
            <a:ext cx="6217920" cy="274320"/>
          </a:xfrm>
          <a:prstGeom prst="rect">
            <a:avLst/>
          </a:prstGeom>
          <a:noFill/>
          <a:ln/>
        </p:spPr>
        <p:txBody>
          <a:bodyPr wrap="square" lIns="0" tIns="0" rIns="0" bIns="0" rtlCol="0" anchor="ctr"/>
          <a:lstStyle/>
          <a:p>
            <a:pPr indent="0" marL="0">
              <a:buNone/>
            </a:pPr>
            <a:r>
              <a:rPr lang="en-US" sz="1200" b="1" spc="120" kern="0" dirty="0">
                <a:solidFill>
                  <a:srgbClr val="1FA3A3"/>
                </a:solidFill>
                <a:latin typeface="Calibri" pitchFamily="34" charset="0"/>
                <a:ea typeface="Calibri" pitchFamily="34" charset="-122"/>
                <a:cs typeface="Calibri" pitchFamily="34" charset="-120"/>
              </a:rPr>
              <a:t>AUDIO SCRIPT — TEACHER READS ALOUD</a:t>
            </a:r>
            <a:endParaRPr lang="en-US" sz="1200" dirty="0"/>
          </a:p>
        </p:txBody>
      </p:sp>
      <p:sp>
        <p:nvSpPr>
          <p:cNvPr id="13" name="Text 9"/>
          <p:cNvSpPr txBox="1"/>
          <p:nvPr/>
        </p:nvSpPr>
        <p:spPr>
          <a:xfrm>
            <a:off x="822960" y="2487168"/>
            <a:ext cx="6217920" cy="3218688"/>
          </a:xfrm>
          <a:prstGeom prst="rect">
            <a:avLst/>
          </a:prstGeom>
          <a:noFill/>
          <a:ln/>
        </p:spPr>
        <p:txBody>
          <a:bodyPr wrap="square" lIns="0" tIns="0" rIns="0" bIns="0" rtlCol="0" anchor="ctr"/>
          <a:lstStyle/>
          <a:p>
            <a:pPr indent="0" marL="0">
              <a:lnSpc>
                <a:spcPct val="136000"/>
              </a:lnSpc>
              <a:buNone/>
            </a:pPr>
            <a:r>
              <a:rPr lang="en-US" sz="1750" dirty="0">
                <a:solidFill>
                  <a:srgbClr val="12211B"/>
                </a:solidFill>
                <a:latin typeface="Calibri" pitchFamily="34" charset="0"/>
                <a:ea typeface="Calibri" pitchFamily="34" charset="-122"/>
                <a:cs typeface="Calibri" pitchFamily="34" charset="-120"/>
              </a:rPr>
              <a:t>“My name is Dawit. I wake up at five o'clock.</a:t>
            </a:r>
            <a:endParaRPr lang="en-US" sz="1750" dirty="0"/>
          </a:p>
          <a:p>
            <a:pPr indent="0" marL="0">
              <a:lnSpc>
                <a:spcPct val="136000"/>
              </a:lnSpc>
              <a:buNone/>
            </a:pPr>
            <a:r>
              <a:rPr lang="en-US" sz="1750" dirty="0">
                <a:solidFill>
                  <a:srgbClr val="12211B"/>
                </a:solidFill>
                <a:latin typeface="Calibri" pitchFamily="34" charset="0"/>
                <a:ea typeface="Calibri" pitchFamily="34" charset="-122"/>
                <a:cs typeface="Calibri" pitchFamily="34" charset="-120"/>
              </a:rPr>
              <a:t>I have breakfast at half past five.</a:t>
            </a:r>
            <a:endParaRPr lang="en-US" sz="1750" dirty="0"/>
          </a:p>
          <a:p>
            <a:pPr indent="0" marL="0">
              <a:lnSpc>
                <a:spcPct val="136000"/>
              </a:lnSpc>
              <a:buNone/>
            </a:pPr>
            <a:r>
              <a:rPr lang="en-US" sz="1750" dirty="0">
                <a:solidFill>
                  <a:srgbClr val="12211B"/>
                </a:solidFill>
                <a:latin typeface="Calibri" pitchFamily="34" charset="0"/>
                <a:ea typeface="Calibri" pitchFamily="34" charset="-122"/>
                <a:cs typeface="Calibri" pitchFamily="34" charset="-120"/>
              </a:rPr>
              <a:t>I start work at six thirty in the coffee shop.</a:t>
            </a:r>
            <a:endParaRPr lang="en-US" sz="1750" dirty="0"/>
          </a:p>
          <a:p>
            <a:pPr indent="0" marL="0">
              <a:lnSpc>
                <a:spcPct val="136000"/>
              </a:lnSpc>
              <a:buNone/>
            </a:pPr>
            <a:r>
              <a:rPr lang="en-US" sz="1750" dirty="0">
                <a:solidFill>
                  <a:srgbClr val="12211B"/>
                </a:solidFill>
                <a:latin typeface="Calibri" pitchFamily="34" charset="0"/>
                <a:ea typeface="Calibri" pitchFamily="34" charset="-122"/>
                <a:cs typeface="Calibri" pitchFamily="34" charset="-120"/>
              </a:rPr>
              <a:t>I usually finish at three in the afternoon.</a:t>
            </a:r>
            <a:endParaRPr lang="en-US" sz="1750" dirty="0"/>
          </a:p>
          <a:p>
            <a:pPr indent="0" marL="0">
              <a:lnSpc>
                <a:spcPct val="136000"/>
              </a:lnSpc>
              <a:buNone/>
            </a:pPr>
            <a:r>
              <a:rPr lang="en-US" sz="1750" dirty="0">
                <a:solidFill>
                  <a:srgbClr val="12211B"/>
                </a:solidFill>
                <a:latin typeface="Calibri" pitchFamily="34" charset="0"/>
                <a:ea typeface="Calibri" pitchFamily="34" charset="-122"/>
                <a:cs typeface="Calibri" pitchFamily="34" charset="-120"/>
              </a:rPr>
              <a:t>I study English in the evening.</a:t>
            </a:r>
            <a:endParaRPr lang="en-US" sz="1750" dirty="0"/>
          </a:p>
          <a:p>
            <a:pPr indent="0" marL="0">
              <a:lnSpc>
                <a:spcPct val="136000"/>
              </a:lnSpc>
              <a:buNone/>
            </a:pPr>
            <a:r>
              <a:rPr lang="en-US" sz="1750" dirty="0">
                <a:solidFill>
                  <a:srgbClr val="12211B"/>
                </a:solidFill>
                <a:latin typeface="Calibri" pitchFamily="34" charset="0"/>
                <a:ea typeface="Calibri" pitchFamily="34" charset="-122"/>
                <a:cs typeface="Calibri" pitchFamily="34" charset="-120"/>
              </a:rPr>
              <a:t>I never work on Sunday.”</a:t>
            </a:r>
            <a:endParaRPr lang="en-US" sz="1750" dirty="0"/>
          </a:p>
        </p:txBody>
      </p:sp>
      <p:sp>
        <p:nvSpPr>
          <p:cNvPr id="14" name="Shape 10"/>
          <p:cNvSpPr/>
          <p:nvPr/>
        </p:nvSpPr>
        <p:spPr>
          <a:xfrm>
            <a:off x="7589520" y="1883664"/>
            <a:ext cx="4053535" cy="4059936"/>
          </a:xfrm>
          <a:prstGeom prst="roundRect">
            <a:avLst>
              <a:gd name="adj" fmla="val 3158"/>
            </a:avLst>
          </a:prstGeom>
          <a:solidFill>
            <a:srgbClr val="F6F9F7"/>
          </a:solidFill>
          <a:ln w="12700">
            <a:solidFill>
              <a:srgbClr val="E3E9E5"/>
            </a:solidFill>
            <a:prstDash val="solid"/>
          </a:ln>
        </p:spPr>
      </p:sp>
      <p:sp>
        <p:nvSpPr>
          <p:cNvPr id="15" name="Text 11"/>
          <p:cNvSpPr txBox="1"/>
          <p:nvPr/>
        </p:nvSpPr>
        <p:spPr>
          <a:xfrm>
            <a:off x="7827264" y="2103120"/>
            <a:ext cx="3578047" cy="274320"/>
          </a:xfrm>
          <a:prstGeom prst="rect">
            <a:avLst/>
          </a:prstGeom>
          <a:noFill/>
          <a:ln/>
        </p:spPr>
        <p:txBody>
          <a:bodyPr wrap="square" lIns="0" tIns="0" rIns="0" bIns="0" rtlCol="0" anchor="ctr"/>
          <a:lstStyle/>
          <a:p>
            <a:pPr indent="0" marL="0">
              <a:buNone/>
            </a:pPr>
            <a:r>
              <a:rPr lang="en-US" sz="1200" b="1" spc="120" kern="0" dirty="0">
                <a:solidFill>
                  <a:srgbClr val="1FA3A3"/>
                </a:solidFill>
                <a:latin typeface="Calibri" pitchFamily="34" charset="0"/>
                <a:ea typeface="Calibri" pitchFamily="34" charset="-122"/>
                <a:cs typeface="Calibri" pitchFamily="34" charset="-120"/>
              </a:rPr>
              <a:t>YOUR TASK</a:t>
            </a:r>
            <a:endParaRPr lang="en-US" sz="1200" dirty="0"/>
          </a:p>
        </p:txBody>
      </p:sp>
      <p:sp>
        <p:nvSpPr>
          <p:cNvPr id="16" name="Text 12"/>
          <p:cNvSpPr/>
          <p:nvPr/>
        </p:nvSpPr>
        <p:spPr>
          <a:xfrm>
            <a:off x="7863840" y="2505456"/>
            <a:ext cx="3504895" cy="3200400"/>
          </a:xfrm>
          <a:prstGeom prst="rect">
            <a:avLst/>
          </a:prstGeom>
          <a:noFill/>
          <a:ln/>
        </p:spPr>
        <p:txBody>
          <a:bodyPr wrap="square" lIns="0" tIns="0" rIns="0" bIns="0" rtlCol="0" anchor="t"/>
          <a:lstStyle/>
          <a:p>
            <a:pPr marL="228600" indent="-228600">
              <a:lnSpc>
                <a:spcPct val="100000"/>
              </a:lnSpc>
              <a:spcAft>
                <a:spcPts val="900"/>
              </a:spcAft>
              <a:buSzPct val="100000"/>
              <a:buChar char="•"/>
            </a:pPr>
            <a:r>
              <a:rPr lang="en-US" sz="1700" dirty="0">
                <a:solidFill>
                  <a:srgbClr val="3A473F"/>
                </a:solidFill>
                <a:latin typeface="Calibri" pitchFamily="34" charset="0"/>
                <a:ea typeface="Calibri" pitchFamily="34" charset="-122"/>
                <a:cs typeface="Calibri" pitchFamily="34" charset="-120"/>
              </a:rPr>
              <a:t>Write the four times you hear.</a:t>
            </a:r>
            <a:endParaRPr lang="en-US" sz="1700" dirty="0"/>
          </a:p>
          <a:p>
            <a:pPr marL="228600" indent="-228600">
              <a:lnSpc>
                <a:spcPct val="100000"/>
              </a:lnSpc>
              <a:spcAft>
                <a:spcPts val="900"/>
              </a:spcAft>
              <a:buSzPct val="100000"/>
              <a:buChar char="•"/>
            </a:pPr>
            <a:r>
              <a:rPr lang="en-US" sz="1700" dirty="0">
                <a:solidFill>
                  <a:srgbClr val="3A473F"/>
                </a:solidFill>
                <a:latin typeface="Calibri" pitchFamily="34" charset="0"/>
                <a:ea typeface="Calibri" pitchFamily="34" charset="-122"/>
                <a:cs typeface="Calibri" pitchFamily="34" charset="-120"/>
              </a:rPr>
              <a:t>Write what he does at each time.</a:t>
            </a:r>
            <a:endParaRPr lang="en-US" sz="1700" dirty="0"/>
          </a:p>
          <a:p>
            <a:pPr marL="228600" indent="-228600">
              <a:lnSpc>
                <a:spcPct val="100000"/>
              </a:lnSpc>
              <a:spcAft>
                <a:spcPts val="900"/>
              </a:spcAft>
              <a:buSzPct val="100000"/>
              <a:buChar char="•"/>
            </a:pPr>
            <a:r>
              <a:rPr lang="en-US" sz="1700" dirty="0">
                <a:solidFill>
                  <a:srgbClr val="3A473F"/>
                </a:solidFill>
                <a:latin typeface="Calibri" pitchFamily="34" charset="0"/>
                <a:ea typeface="Calibri" pitchFamily="34" charset="-122"/>
                <a:cs typeface="Calibri" pitchFamily="34" charset="-120"/>
              </a:rPr>
              <a:t>Write the two frequency words.</a:t>
            </a:r>
            <a:endParaRPr lang="en-US" sz="1700" dirty="0"/>
          </a:p>
          <a:p>
            <a:pPr marL="228600" indent="-228600">
              <a:lnSpc>
                <a:spcPct val="100000"/>
              </a:lnSpc>
              <a:spcAft>
                <a:spcPts val="900"/>
              </a:spcAft>
              <a:buSzPct val="100000"/>
              <a:buChar char="•"/>
            </a:pPr>
            <a:r>
              <a:rPr lang="en-US" sz="1700" dirty="0">
                <a:solidFill>
                  <a:srgbClr val="3A473F"/>
                </a:solidFill>
                <a:latin typeface="Calibri" pitchFamily="34" charset="0"/>
                <a:ea typeface="Calibri" pitchFamily="34" charset="-122"/>
                <a:cs typeface="Calibri" pitchFamily="34" charset="-120"/>
              </a:rPr>
              <a:t>The teacher reads it twice, at natural speed.</a:t>
            </a:r>
            <a:endParaRPr lang="en-US" sz="17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583180" cy="420624"/>
          </a:xfrm>
          <a:prstGeom prst="roundRect">
            <a:avLst>
              <a:gd name="adj" fmla="val 50000"/>
            </a:avLst>
          </a:prstGeom>
          <a:solidFill>
            <a:srgbClr val="1FA3A3"/>
          </a:solidFill>
          <a:ln/>
        </p:spPr>
      </p:sp>
      <p:sp>
        <p:nvSpPr>
          <p:cNvPr id="3" name="Shape 1"/>
          <p:cNvSpPr/>
          <p:nvPr/>
        </p:nvSpPr>
        <p:spPr>
          <a:xfrm>
            <a:off x="649224" y="539496"/>
            <a:ext cx="219456" cy="219456"/>
          </a:xfrm>
          <a:prstGeom prst="ellipse">
            <a:avLst/>
          </a:prstGeom>
          <a:solidFill>
            <a:srgbClr val="1FA3A3"/>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208940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LISTENING 1 · ANSWERS</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Listening 1 — answers and why</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1 — Present Simple &amp; Daily Routine</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37</a:t>
            </a:r>
            <a:endParaRPr lang="en-US" sz="1100" dirty="0"/>
          </a:p>
        </p:txBody>
      </p:sp>
      <p:sp>
        <p:nvSpPr>
          <p:cNvPr id="10" name="Shape 6"/>
          <p:cNvSpPr/>
          <p:nvPr/>
        </p:nvSpPr>
        <p:spPr>
          <a:xfrm>
            <a:off x="548640" y="1700784"/>
            <a:ext cx="11094415" cy="753466"/>
          </a:xfrm>
          <a:prstGeom prst="roundRect">
            <a:avLst>
              <a:gd name="adj" fmla="val 16990"/>
            </a:avLst>
          </a:prstGeom>
          <a:solidFill>
            <a:srgbClr val="E6F5EC"/>
          </a:solidFill>
          <a:ln w="12700">
            <a:solidFill>
              <a:srgbClr val="2E9E5B"/>
            </a:solidFill>
            <a:prstDash val="solid"/>
          </a:ln>
        </p:spPr>
      </p:sp>
      <p:sp>
        <p:nvSpPr>
          <p:cNvPr id="11" name="Shape 7"/>
          <p:cNvSpPr/>
          <p:nvPr/>
        </p:nvSpPr>
        <p:spPr>
          <a:xfrm>
            <a:off x="731520" y="1885493"/>
            <a:ext cx="384048" cy="384048"/>
          </a:xfrm>
          <a:prstGeom prst="ellipse">
            <a:avLst/>
          </a:prstGeom>
          <a:solidFill>
            <a:srgbClr val="2E9E5B"/>
          </a:solidFill>
          <a:ln/>
        </p:spPr>
      </p:sp>
      <p:sp>
        <p:nvSpPr>
          <p:cNvPr id="12" name="Text 8"/>
          <p:cNvSpPr txBox="1"/>
          <p:nvPr/>
        </p:nvSpPr>
        <p:spPr>
          <a:xfrm>
            <a:off x="731520" y="1885493"/>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9"/>
          <p:cNvSpPr/>
          <p:nvPr/>
        </p:nvSpPr>
        <p:spPr>
          <a:xfrm>
            <a:off x="1316736" y="1755648"/>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1 — five o'clock</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He wakes up at five o'clock.</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When you report it, “I wake up” becomes “he wakes up” — the -s appears as soon as you talk about him.</a:t>
            </a:r>
            <a:endParaRPr lang="en-US" sz="1100" dirty="0"/>
          </a:p>
        </p:txBody>
      </p:sp>
      <p:sp>
        <p:nvSpPr>
          <p:cNvPr id="14" name="Shape 10"/>
          <p:cNvSpPr/>
          <p:nvPr/>
        </p:nvSpPr>
        <p:spPr>
          <a:xfrm>
            <a:off x="548640" y="2573122"/>
            <a:ext cx="11094415" cy="753466"/>
          </a:xfrm>
          <a:prstGeom prst="roundRect">
            <a:avLst>
              <a:gd name="adj" fmla="val 16990"/>
            </a:avLst>
          </a:prstGeom>
          <a:solidFill>
            <a:srgbClr val="E6F5EC"/>
          </a:solidFill>
          <a:ln w="12700">
            <a:solidFill>
              <a:srgbClr val="2E9E5B"/>
            </a:solidFill>
            <a:prstDash val="solid"/>
          </a:ln>
        </p:spPr>
      </p:sp>
      <p:sp>
        <p:nvSpPr>
          <p:cNvPr id="15" name="Shape 11"/>
          <p:cNvSpPr/>
          <p:nvPr/>
        </p:nvSpPr>
        <p:spPr>
          <a:xfrm>
            <a:off x="731520" y="2757830"/>
            <a:ext cx="384048" cy="384048"/>
          </a:xfrm>
          <a:prstGeom prst="ellipse">
            <a:avLst/>
          </a:prstGeom>
          <a:solidFill>
            <a:srgbClr val="2E9E5B"/>
          </a:solidFill>
          <a:ln/>
        </p:spPr>
      </p:sp>
      <p:sp>
        <p:nvSpPr>
          <p:cNvPr id="16" name="Text 12"/>
          <p:cNvSpPr txBox="1"/>
          <p:nvPr/>
        </p:nvSpPr>
        <p:spPr>
          <a:xfrm>
            <a:off x="731520" y="275783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3"/>
          <p:cNvSpPr/>
          <p:nvPr/>
        </p:nvSpPr>
        <p:spPr>
          <a:xfrm>
            <a:off x="1316736" y="2627986"/>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2 — half past five</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He has breakfast at half past five.</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“Have” becomes “has” in the third person. It is irregular and must be memorised.</a:t>
            </a:r>
            <a:endParaRPr lang="en-US" sz="1100" dirty="0"/>
          </a:p>
        </p:txBody>
      </p:sp>
      <p:sp>
        <p:nvSpPr>
          <p:cNvPr id="18" name="Shape 14"/>
          <p:cNvSpPr/>
          <p:nvPr/>
        </p:nvSpPr>
        <p:spPr>
          <a:xfrm>
            <a:off x="548640" y="3445459"/>
            <a:ext cx="11094415" cy="753466"/>
          </a:xfrm>
          <a:prstGeom prst="roundRect">
            <a:avLst>
              <a:gd name="adj" fmla="val 16990"/>
            </a:avLst>
          </a:prstGeom>
          <a:solidFill>
            <a:srgbClr val="E6F5EC"/>
          </a:solidFill>
          <a:ln w="12700">
            <a:solidFill>
              <a:srgbClr val="2E9E5B"/>
            </a:solidFill>
            <a:prstDash val="solid"/>
          </a:ln>
        </p:spPr>
      </p:sp>
      <p:sp>
        <p:nvSpPr>
          <p:cNvPr id="19" name="Shape 15"/>
          <p:cNvSpPr/>
          <p:nvPr/>
        </p:nvSpPr>
        <p:spPr>
          <a:xfrm>
            <a:off x="731520" y="3630168"/>
            <a:ext cx="384048" cy="384048"/>
          </a:xfrm>
          <a:prstGeom prst="ellipse">
            <a:avLst/>
          </a:prstGeom>
          <a:solidFill>
            <a:srgbClr val="2E9E5B"/>
          </a:solidFill>
          <a:ln/>
        </p:spPr>
      </p:sp>
      <p:sp>
        <p:nvSpPr>
          <p:cNvPr id="20" name="Text 16"/>
          <p:cNvSpPr txBox="1"/>
          <p:nvPr/>
        </p:nvSpPr>
        <p:spPr>
          <a:xfrm>
            <a:off x="731520" y="363016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7"/>
          <p:cNvSpPr/>
          <p:nvPr/>
        </p:nvSpPr>
        <p:spPr>
          <a:xfrm>
            <a:off x="1316736" y="3500323"/>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3 — six thirty</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He starts work at six thirty.</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AT for a clock time, from Level 1. And the -s on “starts”.</a:t>
            </a:r>
            <a:endParaRPr lang="en-US" sz="1100" dirty="0"/>
          </a:p>
        </p:txBody>
      </p:sp>
      <p:sp>
        <p:nvSpPr>
          <p:cNvPr id="22" name="Shape 18"/>
          <p:cNvSpPr/>
          <p:nvPr/>
        </p:nvSpPr>
        <p:spPr>
          <a:xfrm>
            <a:off x="548640" y="4317797"/>
            <a:ext cx="11094415" cy="753466"/>
          </a:xfrm>
          <a:prstGeom prst="roundRect">
            <a:avLst>
              <a:gd name="adj" fmla="val 16990"/>
            </a:avLst>
          </a:prstGeom>
          <a:solidFill>
            <a:srgbClr val="E6F5EC"/>
          </a:solidFill>
          <a:ln w="12700">
            <a:solidFill>
              <a:srgbClr val="2E9E5B"/>
            </a:solidFill>
            <a:prstDash val="solid"/>
          </a:ln>
        </p:spPr>
      </p:sp>
      <p:sp>
        <p:nvSpPr>
          <p:cNvPr id="23" name="Shape 19"/>
          <p:cNvSpPr/>
          <p:nvPr/>
        </p:nvSpPr>
        <p:spPr>
          <a:xfrm>
            <a:off x="731520" y="4502506"/>
            <a:ext cx="384048" cy="384048"/>
          </a:xfrm>
          <a:prstGeom prst="ellipse">
            <a:avLst/>
          </a:prstGeom>
          <a:solidFill>
            <a:srgbClr val="2E9E5B"/>
          </a:solidFill>
          <a:ln/>
        </p:spPr>
      </p:sp>
      <p:sp>
        <p:nvSpPr>
          <p:cNvPr id="24" name="Text 20"/>
          <p:cNvSpPr txBox="1"/>
          <p:nvPr/>
        </p:nvSpPr>
        <p:spPr>
          <a:xfrm>
            <a:off x="731520" y="450250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1"/>
          <p:cNvSpPr/>
          <p:nvPr/>
        </p:nvSpPr>
        <p:spPr>
          <a:xfrm>
            <a:off x="1316736" y="4372661"/>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4 — three in the afternoon</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He usually finishes at three.</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“Finish” ends in sh, so it takes -es and an extra syllable: fin-ish-es.</a:t>
            </a:r>
            <a:endParaRPr lang="en-US" sz="1100" dirty="0"/>
          </a:p>
        </p:txBody>
      </p:sp>
      <p:sp>
        <p:nvSpPr>
          <p:cNvPr id="26" name="Shape 22"/>
          <p:cNvSpPr/>
          <p:nvPr/>
        </p:nvSpPr>
        <p:spPr>
          <a:xfrm>
            <a:off x="548640" y="5190134"/>
            <a:ext cx="11094415" cy="753466"/>
          </a:xfrm>
          <a:prstGeom prst="roundRect">
            <a:avLst>
              <a:gd name="adj" fmla="val 16990"/>
            </a:avLst>
          </a:prstGeom>
          <a:solidFill>
            <a:srgbClr val="E6F5EC"/>
          </a:solidFill>
          <a:ln w="12700">
            <a:solidFill>
              <a:srgbClr val="2E9E5B"/>
            </a:solidFill>
            <a:prstDash val="solid"/>
          </a:ln>
        </p:spPr>
      </p:sp>
      <p:sp>
        <p:nvSpPr>
          <p:cNvPr id="27" name="Shape 23"/>
          <p:cNvSpPr/>
          <p:nvPr/>
        </p:nvSpPr>
        <p:spPr>
          <a:xfrm>
            <a:off x="731520" y="5374843"/>
            <a:ext cx="384048" cy="384048"/>
          </a:xfrm>
          <a:prstGeom prst="ellipse">
            <a:avLst/>
          </a:prstGeom>
          <a:solidFill>
            <a:srgbClr val="2E9E5B"/>
          </a:solidFill>
          <a:ln/>
        </p:spPr>
      </p:sp>
      <p:sp>
        <p:nvSpPr>
          <p:cNvPr id="28" name="Text 24"/>
          <p:cNvSpPr txBox="1"/>
          <p:nvPr/>
        </p:nvSpPr>
        <p:spPr>
          <a:xfrm>
            <a:off x="731520" y="5374843"/>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9" name="Text 25"/>
          <p:cNvSpPr/>
          <p:nvPr/>
        </p:nvSpPr>
        <p:spPr>
          <a:xfrm>
            <a:off x="1316736" y="5244998"/>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5 — the frequency words</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usually and never</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Both come before the verb: “usually finishes”, “never works”.</a:t>
            </a:r>
            <a:endParaRPr lang="en-US" sz="11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03120" cy="420624"/>
          </a:xfrm>
          <a:prstGeom prst="roundRect">
            <a:avLst>
              <a:gd name="adj" fmla="val 50000"/>
            </a:avLst>
          </a:prstGeom>
          <a:solidFill>
            <a:srgbClr val="1FA3A3"/>
          </a:solidFill>
          <a:ln/>
        </p:spPr>
      </p:sp>
      <p:sp>
        <p:nvSpPr>
          <p:cNvPr id="3" name="Shape 1"/>
          <p:cNvSpPr/>
          <p:nvPr/>
        </p:nvSpPr>
        <p:spPr>
          <a:xfrm>
            <a:off x="649224" y="539496"/>
            <a:ext cx="219456" cy="219456"/>
          </a:xfrm>
          <a:prstGeom prst="ellipse">
            <a:avLst/>
          </a:prstGeom>
          <a:solidFill>
            <a:srgbClr val="1FA3A3"/>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60934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LISTENING 2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Listening 2 — two people, two routines</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Listen twice, then answer the questions.</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1 — Present Simple &amp; Daily Routine</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38</a:t>
            </a:r>
            <a:endParaRPr lang="en-US" sz="1100" dirty="0"/>
          </a:p>
        </p:txBody>
      </p:sp>
      <p:sp>
        <p:nvSpPr>
          <p:cNvPr id="11" name="Shape 7"/>
          <p:cNvSpPr/>
          <p:nvPr/>
        </p:nvSpPr>
        <p:spPr>
          <a:xfrm>
            <a:off x="548640" y="1883664"/>
            <a:ext cx="6766560" cy="4059936"/>
          </a:xfrm>
          <a:prstGeom prst="roundRect">
            <a:avLst>
              <a:gd name="adj" fmla="val 3153"/>
            </a:avLst>
          </a:prstGeom>
          <a:solidFill>
            <a:srgbClr val="E8F6F6"/>
          </a:solidFill>
          <a:ln w="15875">
            <a:solidFill>
              <a:srgbClr val="1FA3A3"/>
            </a:solidFill>
            <a:prstDash val="solid"/>
          </a:ln>
          <a:effectLst>
            <a:outerShdw sx="100000" sy="100000" kx="0" ky="0" algn="bl" rotWithShape="0" blurRad="101600" dist="25400" dir="5400000">
              <a:srgbClr val="94A69C">
                <a:alpha val="30000"/>
              </a:srgbClr>
            </a:outerShdw>
          </a:effectLst>
        </p:spPr>
      </p:sp>
      <p:sp>
        <p:nvSpPr>
          <p:cNvPr id="12" name="Text 8"/>
          <p:cNvSpPr txBox="1"/>
          <p:nvPr/>
        </p:nvSpPr>
        <p:spPr>
          <a:xfrm>
            <a:off x="822960" y="2103120"/>
            <a:ext cx="6217920" cy="274320"/>
          </a:xfrm>
          <a:prstGeom prst="rect">
            <a:avLst/>
          </a:prstGeom>
          <a:noFill/>
          <a:ln/>
        </p:spPr>
        <p:txBody>
          <a:bodyPr wrap="square" lIns="0" tIns="0" rIns="0" bIns="0" rtlCol="0" anchor="ctr"/>
          <a:lstStyle/>
          <a:p>
            <a:pPr indent="0" marL="0">
              <a:buNone/>
            </a:pPr>
            <a:r>
              <a:rPr lang="en-US" sz="1200" b="1" spc="120" kern="0" dirty="0">
                <a:solidFill>
                  <a:srgbClr val="1FA3A3"/>
                </a:solidFill>
                <a:latin typeface="Calibri" pitchFamily="34" charset="0"/>
                <a:ea typeface="Calibri" pitchFamily="34" charset="-122"/>
                <a:cs typeface="Calibri" pitchFamily="34" charset="-120"/>
              </a:rPr>
              <a:t>AUDIO SCRIPT — TEACHER READS ALOUD</a:t>
            </a:r>
            <a:endParaRPr lang="en-US" sz="1200" dirty="0"/>
          </a:p>
        </p:txBody>
      </p:sp>
      <p:sp>
        <p:nvSpPr>
          <p:cNvPr id="13" name="Text 9"/>
          <p:cNvSpPr txBox="1"/>
          <p:nvPr/>
        </p:nvSpPr>
        <p:spPr>
          <a:xfrm>
            <a:off x="822960" y="2487168"/>
            <a:ext cx="6217920" cy="3218688"/>
          </a:xfrm>
          <a:prstGeom prst="rect">
            <a:avLst/>
          </a:prstGeom>
          <a:noFill/>
          <a:ln/>
        </p:spPr>
        <p:txBody>
          <a:bodyPr wrap="square" lIns="0" tIns="0" rIns="0" bIns="0" rtlCol="0" anchor="ctr"/>
          <a:lstStyle/>
          <a:p>
            <a:pPr indent="0" marL="0">
              <a:lnSpc>
                <a:spcPct val="134000"/>
              </a:lnSpc>
              <a:buNone/>
            </a:pPr>
            <a:r>
              <a:rPr lang="en-US" sz="1700" dirty="0">
                <a:solidFill>
                  <a:srgbClr val="12211B"/>
                </a:solidFill>
                <a:latin typeface="Calibri" pitchFamily="34" charset="0"/>
                <a:ea typeface="Calibri" pitchFamily="34" charset="-122"/>
                <a:cs typeface="Calibri" pitchFamily="34" charset="-120"/>
              </a:rPr>
              <a:t>HANA:  I work at the health centre. I start at seven and I finish at four.</a:t>
            </a:r>
            <a:endParaRPr lang="en-US" sz="1700" dirty="0"/>
          </a:p>
          <a:p>
            <a:pPr indent="0" marL="0">
              <a:lnSpc>
                <a:spcPct val="134000"/>
              </a:lnSpc>
              <a:buNone/>
            </a:pPr>
            <a:r>
              <a:rPr lang="en-US" sz="1700" dirty="0">
                <a:solidFill>
                  <a:srgbClr val="12211B"/>
                </a:solidFill>
                <a:latin typeface="Calibri" pitchFamily="34" charset="0"/>
                <a:ea typeface="Calibri" pitchFamily="34" charset="-122"/>
                <a:cs typeface="Calibri" pitchFamily="34" charset="-120"/>
              </a:rPr>
              <a:t>MIMI:  Do you work on Saturday?</a:t>
            </a:r>
            <a:endParaRPr lang="en-US" sz="1700" dirty="0"/>
          </a:p>
          <a:p>
            <a:pPr indent="0" marL="0">
              <a:lnSpc>
                <a:spcPct val="134000"/>
              </a:lnSpc>
              <a:buNone/>
            </a:pPr>
            <a:r>
              <a:rPr lang="en-US" sz="1700" dirty="0">
                <a:solidFill>
                  <a:srgbClr val="12211B"/>
                </a:solidFill>
                <a:latin typeface="Calibri" pitchFamily="34" charset="0"/>
                <a:ea typeface="Calibri" pitchFamily="34" charset="-122"/>
                <a:cs typeface="Calibri" pitchFamily="34" charset="-120"/>
              </a:rPr>
              <a:t>HANA:  Yes, I do. But I do not work on Sunday. Do you study every day?</a:t>
            </a:r>
            <a:endParaRPr lang="en-US" sz="1700" dirty="0"/>
          </a:p>
          <a:p>
            <a:pPr indent="0" marL="0">
              <a:lnSpc>
                <a:spcPct val="134000"/>
              </a:lnSpc>
              <a:buNone/>
            </a:pPr>
            <a:r>
              <a:rPr lang="en-US" sz="1700" dirty="0">
                <a:solidFill>
                  <a:srgbClr val="12211B"/>
                </a:solidFill>
                <a:latin typeface="Calibri" pitchFamily="34" charset="0"/>
                <a:ea typeface="Calibri" pitchFamily="34" charset="-122"/>
                <a:cs typeface="Calibri" pitchFamily="34" charset="-120"/>
              </a:rPr>
              <a:t>MIMI:  No, I do not. I study four days a week. My brother studies every day.</a:t>
            </a:r>
            <a:endParaRPr lang="en-US" sz="1700" dirty="0"/>
          </a:p>
          <a:p>
            <a:pPr indent="0" marL="0">
              <a:lnSpc>
                <a:spcPct val="134000"/>
              </a:lnSpc>
              <a:buNone/>
            </a:pPr>
            <a:r>
              <a:rPr lang="en-US" sz="1700" dirty="0">
                <a:solidFill>
                  <a:srgbClr val="12211B"/>
                </a:solidFill>
                <a:latin typeface="Calibri" pitchFamily="34" charset="0"/>
                <a:ea typeface="Calibri" pitchFamily="34" charset="-122"/>
                <a:cs typeface="Calibri" pitchFamily="34" charset="-120"/>
              </a:rPr>
              <a:t>HANA:  Does he like it?</a:t>
            </a:r>
            <a:endParaRPr lang="en-US" sz="1700" dirty="0"/>
          </a:p>
          <a:p>
            <a:pPr indent="0" marL="0">
              <a:lnSpc>
                <a:spcPct val="134000"/>
              </a:lnSpc>
              <a:buNone/>
            </a:pPr>
            <a:r>
              <a:rPr lang="en-US" sz="1700" dirty="0">
                <a:solidFill>
                  <a:srgbClr val="12211B"/>
                </a:solidFill>
                <a:latin typeface="Calibri" pitchFamily="34" charset="0"/>
                <a:ea typeface="Calibri" pitchFamily="34" charset="-122"/>
                <a:cs typeface="Calibri" pitchFamily="34" charset="-120"/>
              </a:rPr>
              <a:t>MIMI:  No, he does not! He never has free time.</a:t>
            </a:r>
            <a:endParaRPr lang="en-US" sz="1700" dirty="0"/>
          </a:p>
        </p:txBody>
      </p:sp>
      <p:sp>
        <p:nvSpPr>
          <p:cNvPr id="14" name="Shape 10"/>
          <p:cNvSpPr/>
          <p:nvPr/>
        </p:nvSpPr>
        <p:spPr>
          <a:xfrm>
            <a:off x="7589520" y="1883664"/>
            <a:ext cx="4053535" cy="4059936"/>
          </a:xfrm>
          <a:prstGeom prst="roundRect">
            <a:avLst>
              <a:gd name="adj" fmla="val 3158"/>
            </a:avLst>
          </a:prstGeom>
          <a:solidFill>
            <a:srgbClr val="F6F9F7"/>
          </a:solidFill>
          <a:ln w="12700">
            <a:solidFill>
              <a:srgbClr val="E3E9E5"/>
            </a:solidFill>
            <a:prstDash val="solid"/>
          </a:ln>
        </p:spPr>
      </p:sp>
      <p:sp>
        <p:nvSpPr>
          <p:cNvPr id="15" name="Text 11"/>
          <p:cNvSpPr txBox="1"/>
          <p:nvPr/>
        </p:nvSpPr>
        <p:spPr>
          <a:xfrm>
            <a:off x="7827264" y="2103120"/>
            <a:ext cx="3578047" cy="274320"/>
          </a:xfrm>
          <a:prstGeom prst="rect">
            <a:avLst/>
          </a:prstGeom>
          <a:noFill/>
          <a:ln/>
        </p:spPr>
        <p:txBody>
          <a:bodyPr wrap="square" lIns="0" tIns="0" rIns="0" bIns="0" rtlCol="0" anchor="ctr"/>
          <a:lstStyle/>
          <a:p>
            <a:pPr indent="0" marL="0">
              <a:buNone/>
            </a:pPr>
            <a:r>
              <a:rPr lang="en-US" sz="1200" b="1" spc="120" kern="0" dirty="0">
                <a:solidFill>
                  <a:srgbClr val="1FA3A3"/>
                </a:solidFill>
                <a:latin typeface="Calibri" pitchFamily="34" charset="0"/>
                <a:ea typeface="Calibri" pitchFamily="34" charset="-122"/>
                <a:cs typeface="Calibri" pitchFamily="34" charset="-120"/>
              </a:rPr>
              <a:t>QUESTIONS</a:t>
            </a:r>
            <a:endParaRPr lang="en-US" sz="1200" dirty="0"/>
          </a:p>
        </p:txBody>
      </p:sp>
      <p:sp>
        <p:nvSpPr>
          <p:cNvPr id="16" name="Text 12"/>
          <p:cNvSpPr/>
          <p:nvPr/>
        </p:nvSpPr>
        <p:spPr>
          <a:xfrm>
            <a:off x="7863840" y="2505456"/>
            <a:ext cx="3504895" cy="3200400"/>
          </a:xfrm>
          <a:prstGeom prst="rect">
            <a:avLst/>
          </a:prstGeom>
          <a:noFill/>
          <a:ln/>
        </p:spPr>
        <p:txBody>
          <a:bodyPr wrap="square" lIns="0" tIns="0" rIns="0" bIns="0" rtlCol="0" anchor="t"/>
          <a:lstStyle/>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1. What time does Hana start and finish?</a:t>
            </a:r>
            <a:endParaRPr lang="en-US" sz="1600" dirty="0"/>
          </a:p>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2. Which day does she not work?</a:t>
            </a:r>
            <a:endParaRPr lang="en-US" sz="1600" dirty="0"/>
          </a:p>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3. How often does Mimi study?</a:t>
            </a:r>
            <a:endParaRPr lang="en-US" sz="1600" dirty="0"/>
          </a:p>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4. Who studies every day?</a:t>
            </a:r>
            <a:endParaRPr lang="en-US" sz="1600" dirty="0"/>
          </a:p>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5. Does Mimi's brother like it?</a:t>
            </a:r>
            <a:endParaRPr lang="en-US" sz="16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583180" cy="420624"/>
          </a:xfrm>
          <a:prstGeom prst="roundRect">
            <a:avLst>
              <a:gd name="adj" fmla="val 50000"/>
            </a:avLst>
          </a:prstGeom>
          <a:solidFill>
            <a:srgbClr val="1FA3A3"/>
          </a:solidFill>
          <a:ln/>
        </p:spPr>
      </p:sp>
      <p:sp>
        <p:nvSpPr>
          <p:cNvPr id="3" name="Shape 1"/>
          <p:cNvSpPr/>
          <p:nvPr/>
        </p:nvSpPr>
        <p:spPr>
          <a:xfrm>
            <a:off x="649224" y="539496"/>
            <a:ext cx="219456" cy="219456"/>
          </a:xfrm>
          <a:prstGeom prst="ellipse">
            <a:avLst/>
          </a:prstGeom>
          <a:solidFill>
            <a:srgbClr val="1FA3A3"/>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208940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LISTENING 2 · ANSWERS</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Listening 2 — answers and why</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1 — Present Simple &amp; Daily Routine</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39</a:t>
            </a:r>
            <a:endParaRPr lang="en-US" sz="1100" dirty="0"/>
          </a:p>
        </p:txBody>
      </p:sp>
      <p:sp>
        <p:nvSpPr>
          <p:cNvPr id="10" name="Shape 6"/>
          <p:cNvSpPr/>
          <p:nvPr/>
        </p:nvSpPr>
        <p:spPr>
          <a:xfrm>
            <a:off x="548640" y="1700784"/>
            <a:ext cx="11094415" cy="753466"/>
          </a:xfrm>
          <a:prstGeom prst="roundRect">
            <a:avLst>
              <a:gd name="adj" fmla="val 16990"/>
            </a:avLst>
          </a:prstGeom>
          <a:solidFill>
            <a:srgbClr val="E6F5EC"/>
          </a:solidFill>
          <a:ln w="12700">
            <a:solidFill>
              <a:srgbClr val="2E9E5B"/>
            </a:solidFill>
            <a:prstDash val="solid"/>
          </a:ln>
        </p:spPr>
      </p:sp>
      <p:sp>
        <p:nvSpPr>
          <p:cNvPr id="11" name="Shape 7"/>
          <p:cNvSpPr/>
          <p:nvPr/>
        </p:nvSpPr>
        <p:spPr>
          <a:xfrm>
            <a:off x="731520" y="1885493"/>
            <a:ext cx="384048" cy="384048"/>
          </a:xfrm>
          <a:prstGeom prst="ellipse">
            <a:avLst/>
          </a:prstGeom>
          <a:solidFill>
            <a:srgbClr val="2E9E5B"/>
          </a:solidFill>
          <a:ln/>
        </p:spPr>
      </p:sp>
      <p:sp>
        <p:nvSpPr>
          <p:cNvPr id="12" name="Text 8"/>
          <p:cNvSpPr txBox="1"/>
          <p:nvPr/>
        </p:nvSpPr>
        <p:spPr>
          <a:xfrm>
            <a:off x="731520" y="1885493"/>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9"/>
          <p:cNvSpPr/>
          <p:nvPr/>
        </p:nvSpPr>
        <p:spPr>
          <a:xfrm>
            <a:off x="1316736" y="1755648"/>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1 — Hana's hours</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She starts at seven and finishes at four.</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Two verbs, both third person, so both take the ending — and “finishes” adds a syllable.</a:t>
            </a:r>
            <a:endParaRPr lang="en-US" sz="1100" dirty="0"/>
          </a:p>
        </p:txBody>
      </p:sp>
      <p:sp>
        <p:nvSpPr>
          <p:cNvPr id="14" name="Shape 10"/>
          <p:cNvSpPr/>
          <p:nvPr/>
        </p:nvSpPr>
        <p:spPr>
          <a:xfrm>
            <a:off x="548640" y="2573122"/>
            <a:ext cx="11094415" cy="753466"/>
          </a:xfrm>
          <a:prstGeom prst="roundRect">
            <a:avLst>
              <a:gd name="adj" fmla="val 16990"/>
            </a:avLst>
          </a:prstGeom>
          <a:solidFill>
            <a:srgbClr val="E6F5EC"/>
          </a:solidFill>
          <a:ln w="12700">
            <a:solidFill>
              <a:srgbClr val="2E9E5B"/>
            </a:solidFill>
            <a:prstDash val="solid"/>
          </a:ln>
        </p:spPr>
      </p:sp>
      <p:sp>
        <p:nvSpPr>
          <p:cNvPr id="15" name="Shape 11"/>
          <p:cNvSpPr/>
          <p:nvPr/>
        </p:nvSpPr>
        <p:spPr>
          <a:xfrm>
            <a:off x="731520" y="2757830"/>
            <a:ext cx="384048" cy="384048"/>
          </a:xfrm>
          <a:prstGeom prst="ellipse">
            <a:avLst/>
          </a:prstGeom>
          <a:solidFill>
            <a:srgbClr val="2E9E5B"/>
          </a:solidFill>
          <a:ln/>
        </p:spPr>
      </p:sp>
      <p:sp>
        <p:nvSpPr>
          <p:cNvPr id="16" name="Text 12"/>
          <p:cNvSpPr txBox="1"/>
          <p:nvPr/>
        </p:nvSpPr>
        <p:spPr>
          <a:xfrm>
            <a:off x="731520" y="275783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3"/>
          <p:cNvSpPr/>
          <p:nvPr/>
        </p:nvSpPr>
        <p:spPr>
          <a:xfrm>
            <a:off x="1316736" y="2627986"/>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2 — the day she does not work</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She does not work on Sunday.</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“Does not” carries the -s, so “work” stays in its base form. ON for a day.</a:t>
            </a:r>
            <a:endParaRPr lang="en-US" sz="1100" dirty="0"/>
          </a:p>
        </p:txBody>
      </p:sp>
      <p:sp>
        <p:nvSpPr>
          <p:cNvPr id="18" name="Shape 14"/>
          <p:cNvSpPr/>
          <p:nvPr/>
        </p:nvSpPr>
        <p:spPr>
          <a:xfrm>
            <a:off x="548640" y="3445459"/>
            <a:ext cx="11094415" cy="753466"/>
          </a:xfrm>
          <a:prstGeom prst="roundRect">
            <a:avLst>
              <a:gd name="adj" fmla="val 16990"/>
            </a:avLst>
          </a:prstGeom>
          <a:solidFill>
            <a:srgbClr val="E6F5EC"/>
          </a:solidFill>
          <a:ln w="12700">
            <a:solidFill>
              <a:srgbClr val="2E9E5B"/>
            </a:solidFill>
            <a:prstDash val="solid"/>
          </a:ln>
        </p:spPr>
      </p:sp>
      <p:sp>
        <p:nvSpPr>
          <p:cNvPr id="19" name="Shape 15"/>
          <p:cNvSpPr/>
          <p:nvPr/>
        </p:nvSpPr>
        <p:spPr>
          <a:xfrm>
            <a:off x="731520" y="3630168"/>
            <a:ext cx="384048" cy="384048"/>
          </a:xfrm>
          <a:prstGeom prst="ellipse">
            <a:avLst/>
          </a:prstGeom>
          <a:solidFill>
            <a:srgbClr val="2E9E5B"/>
          </a:solidFill>
          <a:ln/>
        </p:spPr>
      </p:sp>
      <p:sp>
        <p:nvSpPr>
          <p:cNvPr id="20" name="Text 16"/>
          <p:cNvSpPr txBox="1"/>
          <p:nvPr/>
        </p:nvSpPr>
        <p:spPr>
          <a:xfrm>
            <a:off x="731520" y="363016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7"/>
          <p:cNvSpPr/>
          <p:nvPr/>
        </p:nvSpPr>
        <p:spPr>
          <a:xfrm>
            <a:off x="1316736" y="3500323"/>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3 — how often Mimi studies</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She studies four days a week.</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“Study” is consonant + y, so it becomes “studies”. “Four days a week” goes at the end.</a:t>
            </a:r>
            <a:endParaRPr lang="en-US" sz="1100" dirty="0"/>
          </a:p>
        </p:txBody>
      </p:sp>
      <p:sp>
        <p:nvSpPr>
          <p:cNvPr id="22" name="Shape 18"/>
          <p:cNvSpPr/>
          <p:nvPr/>
        </p:nvSpPr>
        <p:spPr>
          <a:xfrm>
            <a:off x="548640" y="4317797"/>
            <a:ext cx="11094415" cy="753466"/>
          </a:xfrm>
          <a:prstGeom prst="roundRect">
            <a:avLst>
              <a:gd name="adj" fmla="val 16990"/>
            </a:avLst>
          </a:prstGeom>
          <a:solidFill>
            <a:srgbClr val="E6F5EC"/>
          </a:solidFill>
          <a:ln w="12700">
            <a:solidFill>
              <a:srgbClr val="2E9E5B"/>
            </a:solidFill>
            <a:prstDash val="solid"/>
          </a:ln>
        </p:spPr>
      </p:sp>
      <p:sp>
        <p:nvSpPr>
          <p:cNvPr id="23" name="Shape 19"/>
          <p:cNvSpPr/>
          <p:nvPr/>
        </p:nvSpPr>
        <p:spPr>
          <a:xfrm>
            <a:off x="731520" y="4502506"/>
            <a:ext cx="384048" cy="384048"/>
          </a:xfrm>
          <a:prstGeom prst="ellipse">
            <a:avLst/>
          </a:prstGeom>
          <a:solidFill>
            <a:srgbClr val="2E9E5B"/>
          </a:solidFill>
          <a:ln/>
        </p:spPr>
      </p:sp>
      <p:sp>
        <p:nvSpPr>
          <p:cNvPr id="24" name="Text 20"/>
          <p:cNvSpPr txBox="1"/>
          <p:nvPr/>
        </p:nvSpPr>
        <p:spPr>
          <a:xfrm>
            <a:off x="731520" y="450250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1"/>
          <p:cNvSpPr/>
          <p:nvPr/>
        </p:nvSpPr>
        <p:spPr>
          <a:xfrm>
            <a:off x="1316736" y="4372661"/>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4 — who studies every day</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Mimi's brother studies every day.</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One person, so -s. Note the possessive “Mimi's” with an apostrophe.</a:t>
            </a:r>
            <a:endParaRPr lang="en-US" sz="1100" dirty="0"/>
          </a:p>
        </p:txBody>
      </p:sp>
      <p:sp>
        <p:nvSpPr>
          <p:cNvPr id="26" name="Shape 22"/>
          <p:cNvSpPr/>
          <p:nvPr/>
        </p:nvSpPr>
        <p:spPr>
          <a:xfrm>
            <a:off x="548640" y="5190134"/>
            <a:ext cx="11094415" cy="753466"/>
          </a:xfrm>
          <a:prstGeom prst="roundRect">
            <a:avLst>
              <a:gd name="adj" fmla="val 16990"/>
            </a:avLst>
          </a:prstGeom>
          <a:solidFill>
            <a:srgbClr val="E6F5EC"/>
          </a:solidFill>
          <a:ln w="12700">
            <a:solidFill>
              <a:srgbClr val="2E9E5B"/>
            </a:solidFill>
            <a:prstDash val="solid"/>
          </a:ln>
        </p:spPr>
      </p:sp>
      <p:sp>
        <p:nvSpPr>
          <p:cNvPr id="27" name="Shape 23"/>
          <p:cNvSpPr/>
          <p:nvPr/>
        </p:nvSpPr>
        <p:spPr>
          <a:xfrm>
            <a:off x="731520" y="5374843"/>
            <a:ext cx="384048" cy="384048"/>
          </a:xfrm>
          <a:prstGeom prst="ellipse">
            <a:avLst/>
          </a:prstGeom>
          <a:solidFill>
            <a:srgbClr val="2E9E5B"/>
          </a:solidFill>
          <a:ln/>
        </p:spPr>
      </p:sp>
      <p:sp>
        <p:nvSpPr>
          <p:cNvPr id="28" name="Text 24"/>
          <p:cNvSpPr txBox="1"/>
          <p:nvPr/>
        </p:nvSpPr>
        <p:spPr>
          <a:xfrm>
            <a:off x="731520" y="5374843"/>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9" name="Text 25"/>
          <p:cNvSpPr/>
          <p:nvPr/>
        </p:nvSpPr>
        <p:spPr>
          <a:xfrm>
            <a:off x="1316736" y="5244998"/>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5 — does he like it?</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No, he does not. He never has free time.</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A short answer keeps the auxiliary. And “have” becomes “has” after “he”.</a:t>
            </a:r>
            <a:endParaRPr lang="en-US" sz="11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03120" cy="420624"/>
          </a:xfrm>
          <a:prstGeom prst="roundRect">
            <a:avLst>
              <a:gd name="adj" fmla="val 50000"/>
            </a:avLst>
          </a:prstGeom>
          <a:solidFill>
            <a:srgbClr val="1FA3A3"/>
          </a:solidFill>
          <a:ln/>
        </p:spPr>
      </p:sp>
      <p:sp>
        <p:nvSpPr>
          <p:cNvPr id="3" name="Shape 1"/>
          <p:cNvSpPr/>
          <p:nvPr/>
        </p:nvSpPr>
        <p:spPr>
          <a:xfrm>
            <a:off x="649224" y="539496"/>
            <a:ext cx="219456" cy="219456"/>
          </a:xfrm>
          <a:prstGeom prst="ellipse">
            <a:avLst/>
          </a:prstGeom>
          <a:solidFill>
            <a:srgbClr val="1FA3A3"/>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60934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LISTENING 5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2600" b="1" dirty="0">
                <a:solidFill>
                  <a:srgbClr val="12211B"/>
                </a:solidFill>
                <a:latin typeface="Calibri" pitchFamily="34" charset="0"/>
                <a:ea typeface="Calibri" pitchFamily="34" charset="-122"/>
                <a:cs typeface="Calibri" pitchFamily="34" charset="-120"/>
              </a:rPr>
              <a:t>How to hear the -s</a:t>
            </a:r>
            <a:endParaRPr lang="en-US" sz="26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Four habits for catching the endings in fast speech.</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1 — Present Simple &amp; Daily Routine</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40</a:t>
            </a:r>
            <a:endParaRPr lang="en-US" sz="1100" dirty="0"/>
          </a:p>
        </p:txBody>
      </p:sp>
      <p:sp>
        <p:nvSpPr>
          <p:cNvPr id="11" name="Shape 7"/>
          <p:cNvSpPr/>
          <p:nvPr/>
        </p:nvSpPr>
        <p:spPr>
          <a:xfrm>
            <a:off x="548640" y="1883664"/>
            <a:ext cx="5446624" cy="1929384"/>
          </a:xfrm>
          <a:prstGeom prst="roundRect">
            <a:avLst>
              <a:gd name="adj" fmla="val 6635"/>
            </a:avLst>
          </a:prstGeom>
          <a:solidFill>
            <a:srgbClr val="E8F6F6"/>
          </a:solidFill>
          <a:ln w="12700">
            <a:solidFill>
              <a:srgbClr val="BEE2E2"/>
            </a:solidFill>
            <a:prstDash val="solid"/>
          </a:ln>
        </p:spPr>
      </p:sp>
      <p:sp>
        <p:nvSpPr>
          <p:cNvPr id="12" name="Shape 8"/>
          <p:cNvSpPr/>
          <p:nvPr/>
        </p:nvSpPr>
        <p:spPr>
          <a:xfrm>
            <a:off x="768096" y="2103120"/>
            <a:ext cx="457200" cy="457200"/>
          </a:xfrm>
          <a:prstGeom prst="ellipse">
            <a:avLst/>
          </a:prstGeom>
          <a:solidFill>
            <a:srgbClr val="1FA3A3"/>
          </a:solidFill>
          <a:ln/>
        </p:spPr>
      </p:sp>
      <p:pic>
        <p:nvPicPr>
          <p:cNvPr id="13" name="Image 1" descr="preencoded.png">    </p:cNvPr>
          <p:cNvPicPr>
            <a:picLocks noChangeAspect="1"/>
          </p:cNvPicPr>
          <p:nvPr/>
        </p:nvPicPr>
        <p:blipFill>
          <a:blip r:embed="rId2"/>
          <a:stretch>
            <a:fillRect/>
          </a:stretch>
        </p:blipFill>
        <p:spPr>
          <a:xfrm>
            <a:off x="882396" y="2217420"/>
            <a:ext cx="228600" cy="228600"/>
          </a:xfrm>
          <a:prstGeom prst="rect">
            <a:avLst/>
          </a:prstGeom>
        </p:spPr>
      </p:pic>
      <p:sp>
        <p:nvSpPr>
          <p:cNvPr id="14" name="Text 9"/>
          <p:cNvSpPr/>
          <p:nvPr/>
        </p:nvSpPr>
        <p:spPr>
          <a:xfrm>
            <a:off x="768096" y="2706624"/>
            <a:ext cx="5007712" cy="923544"/>
          </a:xfrm>
          <a:prstGeom prst="rect">
            <a:avLst/>
          </a:prstGeom>
          <a:noFill/>
          <a:ln/>
        </p:spPr>
        <p:txBody>
          <a:bodyPr wrap="square" lIns="0" tIns="0" rIns="0" bIns="0" rtlCol="0" anchor="t"/>
          <a:lstStyle/>
          <a:p>
            <a:pPr indent="0" marL="0">
              <a:lnSpc>
                <a:spcPct val="102000"/>
              </a:lnSpc>
              <a:buNone/>
            </a:pPr>
            <a:r>
              <a:rPr lang="en-US" sz="1650" b="1" dirty="0">
                <a:solidFill>
                  <a:srgbClr val="12211B"/>
                </a:solidFill>
                <a:latin typeface="Calibri" pitchFamily="34" charset="0"/>
                <a:ea typeface="Calibri" pitchFamily="34" charset="-122"/>
                <a:cs typeface="Calibri" pitchFamily="34" charset="-120"/>
              </a:rPr>
              <a:t>Listen for the person first</a:t>
            </a:r>
            <a:endParaRPr lang="en-US" sz="1650" dirty="0"/>
          </a:p>
          <a:p>
            <a:pPr indent="0" marL="0">
              <a:lnSpc>
                <a:spcPct val="102000"/>
              </a:lnSpc>
              <a:spcBef>
                <a:spcPts val="314"/>
              </a:spcBef>
              <a:buNone/>
            </a:pPr>
            <a:r>
              <a:rPr lang="en-US" sz="1260" dirty="0">
                <a:solidFill>
                  <a:srgbClr val="3A473F"/>
                </a:solidFill>
                <a:latin typeface="Calibri" pitchFamily="34" charset="0"/>
                <a:ea typeface="Calibri" pitchFamily="34" charset="-122"/>
                <a:cs typeface="Calibri" pitchFamily="34" charset="-120"/>
              </a:rPr>
              <a:t>If you catch “he”, “she” or a name, you know an -s is coming. The subject predicts the ending.</a:t>
            </a:r>
            <a:endParaRPr lang="en-US" sz="1650" dirty="0"/>
          </a:p>
        </p:txBody>
      </p:sp>
      <p:sp>
        <p:nvSpPr>
          <p:cNvPr id="15" name="Shape 10"/>
          <p:cNvSpPr/>
          <p:nvPr/>
        </p:nvSpPr>
        <p:spPr>
          <a:xfrm>
            <a:off x="6196432" y="1883664"/>
            <a:ext cx="5446624" cy="1929384"/>
          </a:xfrm>
          <a:prstGeom prst="roundRect">
            <a:avLst>
              <a:gd name="adj" fmla="val 6635"/>
            </a:avLst>
          </a:prstGeom>
          <a:solidFill>
            <a:srgbClr val="E8F6F6"/>
          </a:solidFill>
          <a:ln w="12700">
            <a:solidFill>
              <a:srgbClr val="BEE2E2"/>
            </a:solidFill>
            <a:prstDash val="solid"/>
          </a:ln>
        </p:spPr>
      </p:sp>
      <p:sp>
        <p:nvSpPr>
          <p:cNvPr id="16" name="Shape 11"/>
          <p:cNvSpPr/>
          <p:nvPr/>
        </p:nvSpPr>
        <p:spPr>
          <a:xfrm>
            <a:off x="6415888" y="2103120"/>
            <a:ext cx="457200" cy="457200"/>
          </a:xfrm>
          <a:prstGeom prst="ellipse">
            <a:avLst/>
          </a:prstGeom>
          <a:solidFill>
            <a:srgbClr val="1FA3A3"/>
          </a:solidFill>
          <a:ln/>
        </p:spPr>
      </p:sp>
      <p:pic>
        <p:nvPicPr>
          <p:cNvPr id="17" name="Image 2" descr="preencoded.png">    </p:cNvPr>
          <p:cNvPicPr>
            <a:picLocks noChangeAspect="1"/>
          </p:cNvPicPr>
          <p:nvPr/>
        </p:nvPicPr>
        <p:blipFill>
          <a:blip r:embed="rId3"/>
          <a:stretch>
            <a:fillRect/>
          </a:stretch>
        </p:blipFill>
        <p:spPr>
          <a:xfrm>
            <a:off x="6530188" y="2217420"/>
            <a:ext cx="228600" cy="228600"/>
          </a:xfrm>
          <a:prstGeom prst="rect">
            <a:avLst/>
          </a:prstGeom>
        </p:spPr>
      </p:pic>
      <p:sp>
        <p:nvSpPr>
          <p:cNvPr id="18" name="Text 12"/>
          <p:cNvSpPr/>
          <p:nvPr/>
        </p:nvSpPr>
        <p:spPr>
          <a:xfrm>
            <a:off x="6415888" y="2706624"/>
            <a:ext cx="5007712" cy="923544"/>
          </a:xfrm>
          <a:prstGeom prst="rect">
            <a:avLst/>
          </a:prstGeom>
          <a:noFill/>
          <a:ln/>
        </p:spPr>
        <p:txBody>
          <a:bodyPr wrap="square" lIns="0" tIns="0" rIns="0" bIns="0" rtlCol="0" anchor="t"/>
          <a:lstStyle/>
          <a:p>
            <a:pPr indent="0" marL="0">
              <a:lnSpc>
                <a:spcPct val="102000"/>
              </a:lnSpc>
              <a:buNone/>
            </a:pPr>
            <a:r>
              <a:rPr lang="en-US" sz="1580" b="1" dirty="0">
                <a:solidFill>
                  <a:srgbClr val="12211B"/>
                </a:solidFill>
                <a:latin typeface="Calibri" pitchFamily="34" charset="0"/>
                <a:ea typeface="Calibri" pitchFamily="34" charset="-122"/>
                <a:cs typeface="Calibri" pitchFamily="34" charset="-120"/>
              </a:rPr>
              <a:t>The -s is quiet — but it is there</a:t>
            </a:r>
            <a:endParaRPr lang="en-US" sz="1580" dirty="0"/>
          </a:p>
          <a:p>
            <a:pPr indent="0" marL="0">
              <a:lnSpc>
                <a:spcPct val="102000"/>
              </a:lnSpc>
              <a:spcBef>
                <a:spcPts val="300"/>
              </a:spcBef>
              <a:buNone/>
            </a:pPr>
            <a:r>
              <a:rPr lang="en-US" sz="1200" dirty="0">
                <a:solidFill>
                  <a:srgbClr val="3A473F"/>
                </a:solidFill>
                <a:latin typeface="Calibri" pitchFamily="34" charset="0"/>
                <a:ea typeface="Calibri" pitchFamily="34" charset="-122"/>
                <a:cs typeface="Calibri" pitchFamily="34" charset="-120"/>
              </a:rPr>
              <a:t>It is a short hiss at the end of the word. Once you know to listen for it, you start hearing it everywhere.</a:t>
            </a:r>
            <a:endParaRPr lang="en-US" sz="1580" dirty="0"/>
          </a:p>
        </p:txBody>
      </p:sp>
      <p:sp>
        <p:nvSpPr>
          <p:cNvPr id="19" name="Shape 13"/>
          <p:cNvSpPr/>
          <p:nvPr/>
        </p:nvSpPr>
        <p:spPr>
          <a:xfrm>
            <a:off x="548640" y="4014216"/>
            <a:ext cx="5446624" cy="1929384"/>
          </a:xfrm>
          <a:prstGeom prst="roundRect">
            <a:avLst>
              <a:gd name="adj" fmla="val 6635"/>
            </a:avLst>
          </a:prstGeom>
          <a:solidFill>
            <a:srgbClr val="E8F6F6"/>
          </a:solidFill>
          <a:ln w="12700">
            <a:solidFill>
              <a:srgbClr val="BEE2E2"/>
            </a:solidFill>
            <a:prstDash val="solid"/>
          </a:ln>
        </p:spPr>
      </p:sp>
      <p:sp>
        <p:nvSpPr>
          <p:cNvPr id="20" name="Shape 14"/>
          <p:cNvSpPr/>
          <p:nvPr/>
        </p:nvSpPr>
        <p:spPr>
          <a:xfrm>
            <a:off x="768096" y="4233672"/>
            <a:ext cx="457200" cy="457200"/>
          </a:xfrm>
          <a:prstGeom prst="ellipse">
            <a:avLst/>
          </a:prstGeom>
          <a:solidFill>
            <a:srgbClr val="1FA3A3"/>
          </a:solidFill>
          <a:ln/>
        </p:spPr>
      </p:sp>
      <p:pic>
        <p:nvPicPr>
          <p:cNvPr id="21" name="Image 3" descr="preencoded.png">    </p:cNvPr>
          <p:cNvPicPr>
            <a:picLocks noChangeAspect="1"/>
          </p:cNvPicPr>
          <p:nvPr/>
        </p:nvPicPr>
        <p:blipFill>
          <a:blip r:embed="rId4"/>
          <a:stretch>
            <a:fillRect/>
          </a:stretch>
        </p:blipFill>
        <p:spPr>
          <a:xfrm>
            <a:off x="882396" y="4347972"/>
            <a:ext cx="228600" cy="228600"/>
          </a:xfrm>
          <a:prstGeom prst="rect">
            <a:avLst/>
          </a:prstGeom>
        </p:spPr>
      </p:pic>
      <p:sp>
        <p:nvSpPr>
          <p:cNvPr id="22" name="Text 15"/>
          <p:cNvSpPr/>
          <p:nvPr/>
        </p:nvSpPr>
        <p:spPr>
          <a:xfrm>
            <a:off x="768096" y="4837176"/>
            <a:ext cx="5007712" cy="923544"/>
          </a:xfrm>
          <a:prstGeom prst="rect">
            <a:avLst/>
          </a:prstGeom>
          <a:noFill/>
          <a:ln/>
        </p:spPr>
        <p:txBody>
          <a:bodyPr wrap="square" lIns="0" tIns="0" rIns="0" bIns="0" rtlCol="0" anchor="t"/>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Count the syllables</a:t>
            </a:r>
            <a:endParaRPr lang="en-US" sz="1600" dirty="0"/>
          </a:p>
          <a:p>
            <a:pPr indent="0" marL="0">
              <a:lnSpc>
                <a:spcPct val="102000"/>
              </a:lnSpc>
              <a:spcBef>
                <a:spcPts val="305"/>
              </a:spcBef>
              <a:buNone/>
            </a:pPr>
            <a:r>
              <a:rPr lang="en-US" sz="1220" dirty="0">
                <a:solidFill>
                  <a:srgbClr val="3A473F"/>
                </a:solidFill>
                <a:latin typeface="Calibri" pitchFamily="34" charset="0"/>
                <a:ea typeface="Calibri" pitchFamily="34" charset="-122"/>
                <a:cs typeface="Calibri" pitchFamily="34" charset="-120"/>
              </a:rPr>
              <a:t>“Watches” has two beats, “watch” has one. The extra beat is easier to hear than the /s/ itself.</a:t>
            </a:r>
            <a:endParaRPr lang="en-US" sz="1600" dirty="0"/>
          </a:p>
        </p:txBody>
      </p:sp>
      <p:sp>
        <p:nvSpPr>
          <p:cNvPr id="23" name="Shape 16"/>
          <p:cNvSpPr/>
          <p:nvPr/>
        </p:nvSpPr>
        <p:spPr>
          <a:xfrm>
            <a:off x="6196432" y="4014216"/>
            <a:ext cx="5446624" cy="1929384"/>
          </a:xfrm>
          <a:prstGeom prst="roundRect">
            <a:avLst>
              <a:gd name="adj" fmla="val 6635"/>
            </a:avLst>
          </a:prstGeom>
          <a:solidFill>
            <a:srgbClr val="E8F6F6"/>
          </a:solidFill>
          <a:ln w="12700">
            <a:solidFill>
              <a:srgbClr val="BEE2E2"/>
            </a:solidFill>
            <a:prstDash val="solid"/>
          </a:ln>
        </p:spPr>
      </p:sp>
      <p:sp>
        <p:nvSpPr>
          <p:cNvPr id="24" name="Shape 17"/>
          <p:cNvSpPr/>
          <p:nvPr/>
        </p:nvSpPr>
        <p:spPr>
          <a:xfrm>
            <a:off x="6415888" y="4233672"/>
            <a:ext cx="457200" cy="457200"/>
          </a:xfrm>
          <a:prstGeom prst="ellipse">
            <a:avLst/>
          </a:prstGeom>
          <a:solidFill>
            <a:srgbClr val="1FA3A3"/>
          </a:solidFill>
          <a:ln/>
        </p:spPr>
      </p:sp>
      <p:pic>
        <p:nvPicPr>
          <p:cNvPr id="25" name="Image 4" descr="preencoded.png">    </p:cNvPr>
          <p:cNvPicPr>
            <a:picLocks noChangeAspect="1"/>
          </p:cNvPicPr>
          <p:nvPr/>
        </p:nvPicPr>
        <p:blipFill>
          <a:blip r:embed="rId5"/>
          <a:stretch>
            <a:fillRect/>
          </a:stretch>
        </p:blipFill>
        <p:spPr>
          <a:xfrm>
            <a:off x="6530188" y="4347972"/>
            <a:ext cx="228600" cy="228600"/>
          </a:xfrm>
          <a:prstGeom prst="rect">
            <a:avLst/>
          </a:prstGeom>
        </p:spPr>
      </p:pic>
      <p:sp>
        <p:nvSpPr>
          <p:cNvPr id="26" name="Text 18"/>
          <p:cNvSpPr/>
          <p:nvPr/>
        </p:nvSpPr>
        <p:spPr>
          <a:xfrm>
            <a:off x="6415888" y="4837176"/>
            <a:ext cx="5007712" cy="923544"/>
          </a:xfrm>
          <a:prstGeom prst="rect">
            <a:avLst/>
          </a:prstGeom>
          <a:noFill/>
          <a:ln/>
        </p:spPr>
        <p:txBody>
          <a:bodyPr wrap="square" lIns="0" tIns="0" rIns="0" bIns="0" rtlCol="0" anchor="t"/>
          <a:lstStyle/>
          <a:p>
            <a:pPr indent="0" marL="0">
              <a:lnSpc>
                <a:spcPct val="102000"/>
              </a:lnSpc>
              <a:buNone/>
            </a:pPr>
            <a:r>
              <a:rPr lang="en-US" sz="1650" b="1" dirty="0">
                <a:solidFill>
                  <a:srgbClr val="12211B"/>
                </a:solidFill>
                <a:latin typeface="Calibri" pitchFamily="34" charset="0"/>
                <a:ea typeface="Calibri" pitchFamily="34" charset="-122"/>
                <a:cs typeface="Calibri" pitchFamily="34" charset="-120"/>
              </a:rPr>
              <a:t>Listen for do or does</a:t>
            </a:r>
            <a:endParaRPr lang="en-US" sz="1650" dirty="0"/>
          </a:p>
          <a:p>
            <a:pPr indent="0" marL="0">
              <a:lnSpc>
                <a:spcPct val="102000"/>
              </a:lnSpc>
              <a:spcBef>
                <a:spcPts val="314"/>
              </a:spcBef>
              <a:buNone/>
            </a:pPr>
            <a:r>
              <a:rPr lang="en-US" sz="1260" dirty="0">
                <a:solidFill>
                  <a:srgbClr val="3A473F"/>
                </a:solidFill>
                <a:latin typeface="Calibri" pitchFamily="34" charset="0"/>
                <a:ea typeface="Calibri" pitchFamily="34" charset="-122"/>
                <a:cs typeface="Calibri" pitchFamily="34" charset="-120"/>
              </a:rPr>
              <a:t>If you hear “does”, the main verb will NOT have an -s. The auxiliary tells you what to expect.</a:t>
            </a:r>
            <a:endParaRPr lang="en-US" sz="16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READING 1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Reading 1 — a day at the coffee shop</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Read it aloud twice before you answer.</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1 — Present Simple &amp; Daily Routine</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41</a:t>
            </a:r>
            <a:endParaRPr lang="en-US" sz="1100" dirty="0"/>
          </a:p>
        </p:txBody>
      </p:sp>
      <p:sp>
        <p:nvSpPr>
          <p:cNvPr id="11" name="Shape 7"/>
          <p:cNvSpPr/>
          <p:nvPr/>
        </p:nvSpPr>
        <p:spPr>
          <a:xfrm>
            <a:off x="548640" y="1883664"/>
            <a:ext cx="6766560" cy="4059936"/>
          </a:xfrm>
          <a:prstGeom prst="roundRect">
            <a:avLst>
              <a:gd name="adj" fmla="val 3153"/>
            </a:avLst>
          </a:prstGeom>
          <a:solidFill>
            <a:srgbClr val="E7F3EF"/>
          </a:solidFill>
          <a:ln w="15875">
            <a:solidFill>
              <a:srgbClr val="0E7C5A"/>
            </a:solidFill>
            <a:prstDash val="solid"/>
          </a:ln>
          <a:effectLst>
            <a:outerShdw sx="100000" sy="100000" kx="0" ky="0" algn="bl" rotWithShape="0" blurRad="101600" dist="25400" dir="5400000">
              <a:srgbClr val="94A69C">
                <a:alpha val="30000"/>
              </a:srgbClr>
            </a:outerShdw>
          </a:effectLst>
        </p:spPr>
      </p:sp>
      <p:sp>
        <p:nvSpPr>
          <p:cNvPr id="12" name="Text 8"/>
          <p:cNvSpPr txBox="1"/>
          <p:nvPr/>
        </p:nvSpPr>
        <p:spPr>
          <a:xfrm>
            <a:off x="822960" y="2103120"/>
            <a:ext cx="6217920" cy="274320"/>
          </a:xfrm>
          <a:prstGeom prst="rect">
            <a:avLst/>
          </a:prstGeom>
          <a:noFill/>
          <a:ln/>
        </p:spPr>
        <p:txBody>
          <a:bodyPr wrap="square" lIns="0" tIns="0" rIns="0" bIns="0" rtlCol="0" anchor="ctr"/>
          <a:lstStyle/>
          <a:p>
            <a:pPr indent="0" marL="0">
              <a:buNone/>
            </a:pPr>
            <a:r>
              <a:rPr lang="en-US" sz="1200" b="1" spc="120" kern="0" dirty="0">
                <a:solidFill>
                  <a:srgbClr val="0E7C5A"/>
                </a:solidFill>
                <a:latin typeface="Calibri" pitchFamily="34" charset="0"/>
                <a:ea typeface="Calibri" pitchFamily="34" charset="-122"/>
                <a:cs typeface="Calibri" pitchFamily="34" charset="-120"/>
              </a:rPr>
              <a:t>READ ALOUD</a:t>
            </a:r>
            <a:endParaRPr lang="en-US" sz="1200" dirty="0"/>
          </a:p>
        </p:txBody>
      </p:sp>
      <p:sp>
        <p:nvSpPr>
          <p:cNvPr id="13" name="Text 9"/>
          <p:cNvSpPr txBox="1"/>
          <p:nvPr/>
        </p:nvSpPr>
        <p:spPr>
          <a:xfrm>
            <a:off x="822960" y="2487168"/>
            <a:ext cx="6217920" cy="3218688"/>
          </a:xfrm>
          <a:prstGeom prst="rect">
            <a:avLst/>
          </a:prstGeom>
          <a:noFill/>
          <a:ln/>
        </p:spPr>
        <p:txBody>
          <a:bodyPr wrap="square" lIns="0" tIns="0" rIns="0" bIns="0" rtlCol="0" anchor="ctr"/>
          <a:lstStyle/>
          <a:p>
            <a:pPr indent="0" marL="0">
              <a:lnSpc>
                <a:spcPct val="138000"/>
              </a:lnSpc>
              <a:buNone/>
            </a:pPr>
            <a:r>
              <a:rPr lang="en-US" sz="1700" dirty="0">
                <a:solidFill>
                  <a:srgbClr val="12211B"/>
                </a:solidFill>
                <a:latin typeface="Calibri" pitchFamily="34" charset="0"/>
                <a:ea typeface="Calibri" pitchFamily="34" charset="-122"/>
                <a:cs typeface="Calibri" pitchFamily="34" charset="-120"/>
              </a:rPr>
              <a:t>Dawit works in a coffee shop in Bole.</a:t>
            </a:r>
            <a:endParaRPr lang="en-US" sz="1700" dirty="0"/>
          </a:p>
          <a:p>
            <a:pPr indent="0" marL="0">
              <a:lnSpc>
                <a:spcPct val="138000"/>
              </a:lnSpc>
              <a:buNone/>
            </a:pPr>
            <a:r>
              <a:rPr lang="en-US" sz="1700" dirty="0">
                <a:solidFill>
                  <a:srgbClr val="12211B"/>
                </a:solidFill>
                <a:latin typeface="Calibri" pitchFamily="34" charset="0"/>
                <a:ea typeface="Calibri" pitchFamily="34" charset="-122"/>
                <a:cs typeface="Calibri" pitchFamily="34" charset="-120"/>
              </a:rPr>
              <a:t>He wakes up at five o'clock every morning.</a:t>
            </a:r>
            <a:endParaRPr lang="en-US" sz="1700" dirty="0"/>
          </a:p>
          <a:p>
            <a:pPr indent="0" marL="0">
              <a:lnSpc>
                <a:spcPct val="138000"/>
              </a:lnSpc>
              <a:buNone/>
            </a:pPr>
            <a:r>
              <a:rPr lang="en-US" sz="1700" dirty="0">
                <a:solidFill>
                  <a:srgbClr val="12211B"/>
                </a:solidFill>
                <a:latin typeface="Calibri" pitchFamily="34" charset="0"/>
                <a:ea typeface="Calibri" pitchFamily="34" charset="-122"/>
                <a:cs typeface="Calibri" pitchFamily="34" charset="-120"/>
              </a:rPr>
              <a:t>He walks to work because the shop is near his home.</a:t>
            </a:r>
            <a:endParaRPr lang="en-US" sz="1700" dirty="0"/>
          </a:p>
          <a:p>
            <a:pPr indent="0" marL="0">
              <a:lnSpc>
                <a:spcPct val="138000"/>
              </a:lnSpc>
              <a:buNone/>
            </a:pPr>
            <a:r>
              <a:rPr lang="en-US" sz="1700" dirty="0">
                <a:solidFill>
                  <a:srgbClr val="12211B"/>
                </a:solidFill>
                <a:latin typeface="Calibri" pitchFamily="34" charset="0"/>
                <a:ea typeface="Calibri" pitchFamily="34" charset="-122"/>
                <a:cs typeface="Calibri" pitchFamily="34" charset="-120"/>
              </a:rPr>
              <a:t>The shop opens at six thirty.</a:t>
            </a:r>
            <a:endParaRPr lang="en-US" sz="1700" dirty="0"/>
          </a:p>
          <a:p>
            <a:pPr indent="0" marL="0">
              <a:lnSpc>
                <a:spcPct val="138000"/>
              </a:lnSpc>
              <a:buNone/>
            </a:pPr>
            <a:r>
              <a:rPr lang="en-US" sz="1700" dirty="0">
                <a:solidFill>
                  <a:srgbClr val="12211B"/>
                </a:solidFill>
                <a:latin typeface="Calibri" pitchFamily="34" charset="0"/>
                <a:ea typeface="Calibri" pitchFamily="34" charset="-122"/>
                <a:cs typeface="Calibri" pitchFamily="34" charset="-120"/>
              </a:rPr>
              <a:t>Dawit usually serves fifty customers before nine o'clock.</a:t>
            </a:r>
            <a:endParaRPr lang="en-US" sz="1700" dirty="0"/>
          </a:p>
          <a:p>
            <a:pPr indent="0" marL="0">
              <a:lnSpc>
                <a:spcPct val="138000"/>
              </a:lnSpc>
              <a:buNone/>
            </a:pPr>
            <a:r>
              <a:rPr lang="en-US" sz="1700" dirty="0">
                <a:solidFill>
                  <a:srgbClr val="12211B"/>
                </a:solidFill>
                <a:latin typeface="Calibri" pitchFamily="34" charset="0"/>
                <a:ea typeface="Calibri" pitchFamily="34" charset="-122"/>
                <a:cs typeface="Calibri" pitchFamily="34" charset="-120"/>
              </a:rPr>
              <a:t>He finishes at three and studies English in the evening.</a:t>
            </a:r>
            <a:endParaRPr lang="en-US" sz="1700" dirty="0"/>
          </a:p>
          <a:p>
            <a:pPr indent="0" marL="0">
              <a:lnSpc>
                <a:spcPct val="138000"/>
              </a:lnSpc>
              <a:buNone/>
            </a:pPr>
            <a:r>
              <a:rPr lang="en-US" sz="1700" dirty="0">
                <a:solidFill>
                  <a:srgbClr val="12211B"/>
                </a:solidFill>
                <a:latin typeface="Calibri" pitchFamily="34" charset="0"/>
                <a:ea typeface="Calibri" pitchFamily="34" charset="-122"/>
                <a:cs typeface="Calibri" pitchFamily="34" charset="-120"/>
              </a:rPr>
              <a:t>He does not work on Sunday. On Sunday he visits his family.</a:t>
            </a:r>
            <a:endParaRPr lang="en-US" sz="1700" dirty="0"/>
          </a:p>
        </p:txBody>
      </p:sp>
      <p:sp>
        <p:nvSpPr>
          <p:cNvPr id="14" name="Shape 10"/>
          <p:cNvSpPr/>
          <p:nvPr/>
        </p:nvSpPr>
        <p:spPr>
          <a:xfrm>
            <a:off x="7589520" y="1883664"/>
            <a:ext cx="4053535" cy="4059936"/>
          </a:xfrm>
          <a:prstGeom prst="roundRect">
            <a:avLst>
              <a:gd name="adj" fmla="val 3158"/>
            </a:avLst>
          </a:prstGeom>
          <a:solidFill>
            <a:srgbClr val="F6F9F7"/>
          </a:solidFill>
          <a:ln w="12700">
            <a:solidFill>
              <a:srgbClr val="E3E9E5"/>
            </a:solidFill>
            <a:prstDash val="solid"/>
          </a:ln>
        </p:spPr>
      </p:sp>
      <p:sp>
        <p:nvSpPr>
          <p:cNvPr id="15" name="Text 11"/>
          <p:cNvSpPr txBox="1"/>
          <p:nvPr/>
        </p:nvSpPr>
        <p:spPr>
          <a:xfrm>
            <a:off x="7827264" y="2103120"/>
            <a:ext cx="3578047" cy="274320"/>
          </a:xfrm>
          <a:prstGeom prst="rect">
            <a:avLst/>
          </a:prstGeom>
          <a:noFill/>
          <a:ln/>
        </p:spPr>
        <p:txBody>
          <a:bodyPr wrap="square" lIns="0" tIns="0" rIns="0" bIns="0" rtlCol="0" anchor="ctr"/>
          <a:lstStyle/>
          <a:p>
            <a:pPr indent="0" marL="0">
              <a:buNone/>
            </a:pPr>
            <a:r>
              <a:rPr lang="en-US" sz="1200" b="1" spc="120" kern="0" dirty="0">
                <a:solidFill>
                  <a:srgbClr val="0E7C5A"/>
                </a:solidFill>
                <a:latin typeface="Calibri" pitchFamily="34" charset="0"/>
                <a:ea typeface="Calibri" pitchFamily="34" charset="-122"/>
                <a:cs typeface="Calibri" pitchFamily="34" charset="-120"/>
              </a:rPr>
              <a:t>HOW TO READ IT</a:t>
            </a:r>
            <a:endParaRPr lang="en-US" sz="1200" dirty="0"/>
          </a:p>
        </p:txBody>
      </p:sp>
      <p:sp>
        <p:nvSpPr>
          <p:cNvPr id="16" name="Text 12"/>
          <p:cNvSpPr/>
          <p:nvPr/>
        </p:nvSpPr>
        <p:spPr>
          <a:xfrm>
            <a:off x="7863840" y="2505456"/>
            <a:ext cx="3504895" cy="3200400"/>
          </a:xfrm>
          <a:prstGeom prst="rect">
            <a:avLst/>
          </a:prstGeom>
          <a:noFill/>
          <a:ln/>
        </p:spPr>
        <p:txBody>
          <a:bodyPr wrap="square" lIns="0" tIns="0" rIns="0" bIns="0" rtlCol="0" anchor="t"/>
          <a:lstStyle/>
          <a:p>
            <a:pPr marL="228600" indent="-228600">
              <a:lnSpc>
                <a:spcPct val="100000"/>
              </a:lnSpc>
              <a:spcAft>
                <a:spcPts val="900"/>
              </a:spcAft>
              <a:buSzPct val="100000"/>
              <a:buChar char="•"/>
            </a:pPr>
            <a:r>
              <a:rPr lang="en-US" sz="1700" dirty="0">
                <a:solidFill>
                  <a:srgbClr val="3A473F"/>
                </a:solidFill>
                <a:latin typeface="Calibri" pitchFamily="34" charset="0"/>
                <a:ea typeface="Calibri" pitchFamily="34" charset="-122"/>
                <a:cs typeface="Calibri" pitchFamily="34" charset="-120"/>
              </a:rPr>
              <a:t>The teacher reads the whole text once.</a:t>
            </a:r>
            <a:endParaRPr lang="en-US" sz="1700" dirty="0"/>
          </a:p>
          <a:p>
            <a:pPr marL="228600" indent="-228600">
              <a:lnSpc>
                <a:spcPct val="100000"/>
              </a:lnSpc>
              <a:spcAft>
                <a:spcPts val="900"/>
              </a:spcAft>
              <a:buSzPct val="100000"/>
              <a:buChar char="•"/>
            </a:pPr>
            <a:r>
              <a:rPr lang="en-US" sz="1700" dirty="0">
                <a:solidFill>
                  <a:srgbClr val="3A473F"/>
                </a:solidFill>
                <a:latin typeface="Calibri" pitchFamily="34" charset="0"/>
                <a:ea typeface="Calibri" pitchFamily="34" charset="-122"/>
                <a:cs typeface="Calibri" pitchFamily="34" charset="-120"/>
              </a:rPr>
              <a:t>The class reads it together, in chorus.</a:t>
            </a:r>
            <a:endParaRPr lang="en-US" sz="1700" dirty="0"/>
          </a:p>
          <a:p>
            <a:pPr marL="228600" indent="-228600">
              <a:lnSpc>
                <a:spcPct val="100000"/>
              </a:lnSpc>
              <a:spcAft>
                <a:spcPts val="900"/>
              </a:spcAft>
              <a:buSzPct val="100000"/>
              <a:buChar char="•"/>
            </a:pPr>
            <a:r>
              <a:rPr lang="en-US" sz="1700" dirty="0">
                <a:solidFill>
                  <a:srgbClr val="3A473F"/>
                </a:solidFill>
                <a:latin typeface="Calibri" pitchFamily="34" charset="0"/>
                <a:ea typeface="Calibri" pitchFamily="34" charset="-122"/>
                <a:cs typeface="Calibri" pitchFamily="34" charset="-120"/>
              </a:rPr>
              <a:t>Then seven learners read one line each.</a:t>
            </a:r>
            <a:endParaRPr lang="en-US" sz="1700" dirty="0"/>
          </a:p>
          <a:p>
            <a:pPr marL="228600" indent="-228600">
              <a:lnSpc>
                <a:spcPct val="100000"/>
              </a:lnSpc>
              <a:spcAft>
                <a:spcPts val="900"/>
              </a:spcAft>
              <a:buSzPct val="100000"/>
              <a:buChar char="•"/>
            </a:pPr>
            <a:r>
              <a:rPr lang="en-US" sz="1700" dirty="0">
                <a:solidFill>
                  <a:srgbClr val="3A473F"/>
                </a:solidFill>
                <a:latin typeface="Calibri" pitchFamily="34" charset="0"/>
                <a:ea typeface="Calibri" pitchFamily="34" charset="-122"/>
                <a:cs typeface="Calibri" pitchFamily="34" charset="-120"/>
              </a:rPr>
              <a:t>Underline every -s ending. There are eight.</a:t>
            </a:r>
            <a:endParaRPr lang="en-US" sz="17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READING 2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Reading 1 — questions</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1 — Present Simple &amp; Daily Routine</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42</a:t>
            </a:r>
            <a:endParaRPr lang="en-US" sz="1100" dirty="0"/>
          </a:p>
        </p:txBody>
      </p:sp>
      <p:sp>
        <p:nvSpPr>
          <p:cNvPr id="10" name="Shape 6"/>
          <p:cNvSpPr/>
          <p:nvPr/>
        </p:nvSpPr>
        <p:spPr>
          <a:xfrm>
            <a:off x="548640" y="1700784"/>
            <a:ext cx="11094415" cy="566928"/>
          </a:xfrm>
          <a:prstGeom prst="roundRect">
            <a:avLst>
              <a:gd name="adj" fmla="val 22581"/>
            </a:avLst>
          </a:prstGeom>
          <a:solidFill>
            <a:srgbClr val="E7F3EF"/>
          </a:solidFill>
          <a:ln w="12700">
            <a:solidFill>
              <a:srgbClr val="0E7C5A"/>
            </a:solidFill>
            <a:prstDash val="solid"/>
          </a:ln>
        </p:spPr>
      </p:sp>
      <p:sp>
        <p:nvSpPr>
          <p:cNvPr id="11" name="Shape 7"/>
          <p:cNvSpPr/>
          <p:nvPr/>
        </p:nvSpPr>
        <p:spPr>
          <a:xfrm>
            <a:off x="749808" y="1810512"/>
            <a:ext cx="347472" cy="347472"/>
          </a:xfrm>
          <a:prstGeom prst="ellipse">
            <a:avLst/>
          </a:prstGeom>
          <a:solidFill>
            <a:srgbClr val="0E7C5A"/>
          </a:solidFill>
          <a:ln/>
        </p:spPr>
      </p:sp>
      <p:pic>
        <p:nvPicPr>
          <p:cNvPr id="12" name="Image 1" descr="preencoded.png">    </p:cNvPr>
          <p:cNvPicPr>
            <a:picLocks noChangeAspect="1"/>
          </p:cNvPicPr>
          <p:nvPr/>
        </p:nvPicPr>
        <p:blipFill>
          <a:blip r:embed="rId2"/>
          <a:stretch>
            <a:fillRect/>
          </a:stretch>
        </p:blipFill>
        <p:spPr>
          <a:xfrm>
            <a:off x="836676" y="1897380"/>
            <a:ext cx="173736" cy="173736"/>
          </a:xfrm>
          <a:prstGeom prst="rect">
            <a:avLst/>
          </a:prstGeom>
        </p:spPr>
      </p:pic>
      <p:sp>
        <p:nvSpPr>
          <p:cNvPr id="13" name="Text 8"/>
          <p:cNvSpPr txBox="1"/>
          <p:nvPr/>
        </p:nvSpPr>
        <p:spPr>
          <a:xfrm>
            <a:off x="1207008" y="170078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Answer in a FULL SENTENCE. Check the -s on every verb.</a:t>
            </a:r>
            <a:endParaRPr lang="en-US" sz="1700" dirty="0"/>
          </a:p>
        </p:txBody>
      </p:sp>
      <p:sp>
        <p:nvSpPr>
          <p:cNvPr id="14" name="Shape 9"/>
          <p:cNvSpPr/>
          <p:nvPr/>
        </p:nvSpPr>
        <p:spPr>
          <a:xfrm>
            <a:off x="548640" y="2414016"/>
            <a:ext cx="11094415" cy="610819"/>
          </a:xfrm>
          <a:prstGeom prst="roundRect">
            <a:avLst>
              <a:gd name="adj" fmla="val 20958"/>
            </a:avLst>
          </a:prstGeom>
          <a:solidFill>
            <a:srgbClr val="F6F9F7"/>
          </a:solidFill>
          <a:ln w="12700">
            <a:solidFill>
              <a:srgbClr val="E3E9E5"/>
            </a:solidFill>
            <a:prstDash val="solid"/>
          </a:ln>
        </p:spPr>
      </p:sp>
      <p:sp>
        <p:nvSpPr>
          <p:cNvPr id="15" name="Shape 10"/>
          <p:cNvSpPr/>
          <p:nvPr/>
        </p:nvSpPr>
        <p:spPr>
          <a:xfrm>
            <a:off x="749808" y="2518258"/>
            <a:ext cx="402336" cy="402336"/>
          </a:xfrm>
          <a:prstGeom prst="ellipse">
            <a:avLst/>
          </a:prstGeom>
          <a:solidFill>
            <a:srgbClr val="0E7C5A"/>
          </a:solidFill>
          <a:ln/>
        </p:spPr>
      </p:sp>
      <p:sp>
        <p:nvSpPr>
          <p:cNvPr id="16" name="Text 11"/>
          <p:cNvSpPr txBox="1"/>
          <p:nvPr/>
        </p:nvSpPr>
        <p:spPr>
          <a:xfrm>
            <a:off x="749808" y="251825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7" name="Text 12"/>
          <p:cNvSpPr/>
          <p:nvPr/>
        </p:nvSpPr>
        <p:spPr>
          <a:xfrm>
            <a:off x="1353312" y="2468880"/>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What time does Dawit wake up?</a:t>
            </a:r>
            <a:endParaRPr lang="en-US" sz="2000" dirty="0"/>
          </a:p>
        </p:txBody>
      </p:sp>
      <p:sp>
        <p:nvSpPr>
          <p:cNvPr id="18" name="Shape 13"/>
          <p:cNvSpPr/>
          <p:nvPr/>
        </p:nvSpPr>
        <p:spPr>
          <a:xfrm>
            <a:off x="548640" y="3143707"/>
            <a:ext cx="11094415" cy="610819"/>
          </a:xfrm>
          <a:prstGeom prst="roundRect">
            <a:avLst>
              <a:gd name="adj" fmla="val 20958"/>
            </a:avLst>
          </a:prstGeom>
          <a:solidFill>
            <a:srgbClr val="F6F9F7"/>
          </a:solidFill>
          <a:ln w="12700">
            <a:solidFill>
              <a:srgbClr val="E3E9E5"/>
            </a:solidFill>
            <a:prstDash val="solid"/>
          </a:ln>
        </p:spPr>
      </p:sp>
      <p:sp>
        <p:nvSpPr>
          <p:cNvPr id="19" name="Shape 14"/>
          <p:cNvSpPr/>
          <p:nvPr/>
        </p:nvSpPr>
        <p:spPr>
          <a:xfrm>
            <a:off x="749808" y="3247949"/>
            <a:ext cx="402336" cy="402336"/>
          </a:xfrm>
          <a:prstGeom prst="ellipse">
            <a:avLst/>
          </a:prstGeom>
          <a:solidFill>
            <a:srgbClr val="0E7C5A"/>
          </a:solidFill>
          <a:ln/>
        </p:spPr>
      </p:sp>
      <p:sp>
        <p:nvSpPr>
          <p:cNvPr id="20" name="Text 15"/>
          <p:cNvSpPr txBox="1"/>
          <p:nvPr/>
        </p:nvSpPr>
        <p:spPr>
          <a:xfrm>
            <a:off x="749808" y="324794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1" name="Text 16"/>
          <p:cNvSpPr/>
          <p:nvPr/>
        </p:nvSpPr>
        <p:spPr>
          <a:xfrm>
            <a:off x="1353312" y="3198571"/>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How does he get to work?</a:t>
            </a:r>
            <a:endParaRPr lang="en-US" sz="2000" dirty="0"/>
          </a:p>
        </p:txBody>
      </p:sp>
      <p:sp>
        <p:nvSpPr>
          <p:cNvPr id="22" name="Shape 17"/>
          <p:cNvSpPr/>
          <p:nvPr/>
        </p:nvSpPr>
        <p:spPr>
          <a:xfrm>
            <a:off x="548640" y="3873398"/>
            <a:ext cx="11094415" cy="610819"/>
          </a:xfrm>
          <a:prstGeom prst="roundRect">
            <a:avLst>
              <a:gd name="adj" fmla="val 20958"/>
            </a:avLst>
          </a:prstGeom>
          <a:solidFill>
            <a:srgbClr val="F6F9F7"/>
          </a:solidFill>
          <a:ln w="12700">
            <a:solidFill>
              <a:srgbClr val="E3E9E5"/>
            </a:solidFill>
            <a:prstDash val="solid"/>
          </a:ln>
        </p:spPr>
      </p:sp>
      <p:sp>
        <p:nvSpPr>
          <p:cNvPr id="23" name="Shape 18"/>
          <p:cNvSpPr/>
          <p:nvPr/>
        </p:nvSpPr>
        <p:spPr>
          <a:xfrm>
            <a:off x="749808" y="3977640"/>
            <a:ext cx="402336" cy="402336"/>
          </a:xfrm>
          <a:prstGeom prst="ellipse">
            <a:avLst/>
          </a:prstGeom>
          <a:solidFill>
            <a:srgbClr val="0E7C5A"/>
          </a:solidFill>
          <a:ln/>
        </p:spPr>
      </p:sp>
      <p:sp>
        <p:nvSpPr>
          <p:cNvPr id="24" name="Text 19"/>
          <p:cNvSpPr txBox="1"/>
          <p:nvPr/>
        </p:nvSpPr>
        <p:spPr>
          <a:xfrm>
            <a:off x="749808" y="39776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5" name="Text 20"/>
          <p:cNvSpPr/>
          <p:nvPr/>
        </p:nvSpPr>
        <p:spPr>
          <a:xfrm>
            <a:off x="1353312" y="3928262"/>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What time does the shop open?</a:t>
            </a:r>
            <a:endParaRPr lang="en-US" sz="2000" dirty="0"/>
          </a:p>
        </p:txBody>
      </p:sp>
      <p:sp>
        <p:nvSpPr>
          <p:cNvPr id="26" name="Shape 21"/>
          <p:cNvSpPr/>
          <p:nvPr/>
        </p:nvSpPr>
        <p:spPr>
          <a:xfrm>
            <a:off x="548640" y="4603090"/>
            <a:ext cx="11094415" cy="610819"/>
          </a:xfrm>
          <a:prstGeom prst="roundRect">
            <a:avLst>
              <a:gd name="adj" fmla="val 20958"/>
            </a:avLst>
          </a:prstGeom>
          <a:solidFill>
            <a:srgbClr val="F6F9F7"/>
          </a:solidFill>
          <a:ln w="12700">
            <a:solidFill>
              <a:srgbClr val="E3E9E5"/>
            </a:solidFill>
            <a:prstDash val="solid"/>
          </a:ln>
        </p:spPr>
      </p:sp>
      <p:sp>
        <p:nvSpPr>
          <p:cNvPr id="27" name="Shape 22"/>
          <p:cNvSpPr/>
          <p:nvPr/>
        </p:nvSpPr>
        <p:spPr>
          <a:xfrm>
            <a:off x="749808" y="4707331"/>
            <a:ext cx="402336" cy="402336"/>
          </a:xfrm>
          <a:prstGeom prst="ellipse">
            <a:avLst/>
          </a:prstGeom>
          <a:solidFill>
            <a:srgbClr val="0E7C5A"/>
          </a:solidFill>
          <a:ln/>
        </p:spPr>
      </p:sp>
      <p:sp>
        <p:nvSpPr>
          <p:cNvPr id="28" name="Text 23"/>
          <p:cNvSpPr txBox="1"/>
          <p:nvPr/>
        </p:nvSpPr>
        <p:spPr>
          <a:xfrm>
            <a:off x="749808" y="470733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9" name="Text 24"/>
          <p:cNvSpPr/>
          <p:nvPr/>
        </p:nvSpPr>
        <p:spPr>
          <a:xfrm>
            <a:off x="1353312" y="4657954"/>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What does he do in the evening?</a:t>
            </a:r>
            <a:endParaRPr lang="en-US" sz="2000" dirty="0"/>
          </a:p>
        </p:txBody>
      </p:sp>
      <p:sp>
        <p:nvSpPr>
          <p:cNvPr id="30" name="Shape 25"/>
          <p:cNvSpPr/>
          <p:nvPr/>
        </p:nvSpPr>
        <p:spPr>
          <a:xfrm>
            <a:off x="548640" y="5332781"/>
            <a:ext cx="11094415" cy="610819"/>
          </a:xfrm>
          <a:prstGeom prst="roundRect">
            <a:avLst>
              <a:gd name="adj" fmla="val 20958"/>
            </a:avLst>
          </a:prstGeom>
          <a:solidFill>
            <a:srgbClr val="F6F9F7"/>
          </a:solidFill>
          <a:ln w="12700">
            <a:solidFill>
              <a:srgbClr val="E3E9E5"/>
            </a:solidFill>
            <a:prstDash val="solid"/>
          </a:ln>
        </p:spPr>
      </p:sp>
      <p:sp>
        <p:nvSpPr>
          <p:cNvPr id="31" name="Shape 26"/>
          <p:cNvSpPr/>
          <p:nvPr/>
        </p:nvSpPr>
        <p:spPr>
          <a:xfrm>
            <a:off x="749808" y="5437022"/>
            <a:ext cx="402336" cy="402336"/>
          </a:xfrm>
          <a:prstGeom prst="ellipse">
            <a:avLst/>
          </a:prstGeom>
          <a:solidFill>
            <a:srgbClr val="0E7C5A"/>
          </a:solidFill>
          <a:ln/>
        </p:spPr>
      </p:sp>
      <p:sp>
        <p:nvSpPr>
          <p:cNvPr id="32" name="Text 27"/>
          <p:cNvSpPr txBox="1"/>
          <p:nvPr/>
        </p:nvSpPr>
        <p:spPr>
          <a:xfrm>
            <a:off x="749808" y="543702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3" name="Text 28"/>
          <p:cNvSpPr/>
          <p:nvPr/>
        </p:nvSpPr>
        <p:spPr>
          <a:xfrm>
            <a:off x="1353312" y="5387645"/>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What does he do on Sunday?</a:t>
            </a:r>
            <a:endParaRPr lang="en-US" sz="20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READING 3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Reading 1 — answers and why</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1 — Present Simple &amp; Daily Routine</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43</a:t>
            </a:r>
            <a:endParaRPr lang="en-US" sz="1100" dirty="0"/>
          </a:p>
        </p:txBody>
      </p:sp>
      <p:sp>
        <p:nvSpPr>
          <p:cNvPr id="10" name="Shape 6"/>
          <p:cNvSpPr/>
          <p:nvPr/>
        </p:nvSpPr>
        <p:spPr>
          <a:xfrm>
            <a:off x="548640" y="1700784"/>
            <a:ext cx="11094415" cy="753466"/>
          </a:xfrm>
          <a:prstGeom prst="roundRect">
            <a:avLst>
              <a:gd name="adj" fmla="val 16990"/>
            </a:avLst>
          </a:prstGeom>
          <a:solidFill>
            <a:srgbClr val="E6F5EC"/>
          </a:solidFill>
          <a:ln w="12700">
            <a:solidFill>
              <a:srgbClr val="2E9E5B"/>
            </a:solidFill>
            <a:prstDash val="solid"/>
          </a:ln>
        </p:spPr>
      </p:sp>
      <p:sp>
        <p:nvSpPr>
          <p:cNvPr id="11" name="Shape 7"/>
          <p:cNvSpPr/>
          <p:nvPr/>
        </p:nvSpPr>
        <p:spPr>
          <a:xfrm>
            <a:off x="731520" y="1885493"/>
            <a:ext cx="384048" cy="384048"/>
          </a:xfrm>
          <a:prstGeom prst="ellipse">
            <a:avLst/>
          </a:prstGeom>
          <a:solidFill>
            <a:srgbClr val="2E9E5B"/>
          </a:solidFill>
          <a:ln/>
        </p:spPr>
      </p:sp>
      <p:sp>
        <p:nvSpPr>
          <p:cNvPr id="12" name="Text 8"/>
          <p:cNvSpPr txBox="1"/>
          <p:nvPr/>
        </p:nvSpPr>
        <p:spPr>
          <a:xfrm>
            <a:off x="731520" y="1885493"/>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9"/>
          <p:cNvSpPr/>
          <p:nvPr/>
        </p:nvSpPr>
        <p:spPr>
          <a:xfrm>
            <a:off x="1316736" y="1755648"/>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1 — What time does he wake up?</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He wakes up at five o'clock.</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The -s goes on “wake”, the first word of the two-word verb — never “wake ups”.</a:t>
            </a:r>
            <a:endParaRPr lang="en-US" sz="1100" dirty="0"/>
          </a:p>
        </p:txBody>
      </p:sp>
      <p:sp>
        <p:nvSpPr>
          <p:cNvPr id="14" name="Shape 10"/>
          <p:cNvSpPr/>
          <p:nvPr/>
        </p:nvSpPr>
        <p:spPr>
          <a:xfrm>
            <a:off x="548640" y="2573122"/>
            <a:ext cx="11094415" cy="753466"/>
          </a:xfrm>
          <a:prstGeom prst="roundRect">
            <a:avLst>
              <a:gd name="adj" fmla="val 16990"/>
            </a:avLst>
          </a:prstGeom>
          <a:solidFill>
            <a:srgbClr val="E6F5EC"/>
          </a:solidFill>
          <a:ln w="12700">
            <a:solidFill>
              <a:srgbClr val="2E9E5B"/>
            </a:solidFill>
            <a:prstDash val="solid"/>
          </a:ln>
        </p:spPr>
      </p:sp>
      <p:sp>
        <p:nvSpPr>
          <p:cNvPr id="15" name="Shape 11"/>
          <p:cNvSpPr/>
          <p:nvPr/>
        </p:nvSpPr>
        <p:spPr>
          <a:xfrm>
            <a:off x="731520" y="2757830"/>
            <a:ext cx="384048" cy="384048"/>
          </a:xfrm>
          <a:prstGeom prst="ellipse">
            <a:avLst/>
          </a:prstGeom>
          <a:solidFill>
            <a:srgbClr val="2E9E5B"/>
          </a:solidFill>
          <a:ln/>
        </p:spPr>
      </p:sp>
      <p:sp>
        <p:nvSpPr>
          <p:cNvPr id="16" name="Text 12"/>
          <p:cNvSpPr txBox="1"/>
          <p:nvPr/>
        </p:nvSpPr>
        <p:spPr>
          <a:xfrm>
            <a:off x="731520" y="275783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3"/>
          <p:cNvSpPr/>
          <p:nvPr/>
        </p:nvSpPr>
        <p:spPr>
          <a:xfrm>
            <a:off x="1316736" y="2627986"/>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2 — How does he get to work?</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He walks to work.</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A full verb, not just “on foot”. The question uses “does”, so the answer uses the -s form.</a:t>
            </a:r>
            <a:endParaRPr lang="en-US" sz="1100" dirty="0"/>
          </a:p>
        </p:txBody>
      </p:sp>
      <p:sp>
        <p:nvSpPr>
          <p:cNvPr id="18" name="Shape 14"/>
          <p:cNvSpPr/>
          <p:nvPr/>
        </p:nvSpPr>
        <p:spPr>
          <a:xfrm>
            <a:off x="548640" y="3445459"/>
            <a:ext cx="11094415" cy="753466"/>
          </a:xfrm>
          <a:prstGeom prst="roundRect">
            <a:avLst>
              <a:gd name="adj" fmla="val 16990"/>
            </a:avLst>
          </a:prstGeom>
          <a:solidFill>
            <a:srgbClr val="E6F5EC"/>
          </a:solidFill>
          <a:ln w="12700">
            <a:solidFill>
              <a:srgbClr val="2E9E5B"/>
            </a:solidFill>
            <a:prstDash val="solid"/>
          </a:ln>
        </p:spPr>
      </p:sp>
      <p:sp>
        <p:nvSpPr>
          <p:cNvPr id="19" name="Shape 15"/>
          <p:cNvSpPr/>
          <p:nvPr/>
        </p:nvSpPr>
        <p:spPr>
          <a:xfrm>
            <a:off x="731520" y="3630168"/>
            <a:ext cx="384048" cy="384048"/>
          </a:xfrm>
          <a:prstGeom prst="ellipse">
            <a:avLst/>
          </a:prstGeom>
          <a:solidFill>
            <a:srgbClr val="2E9E5B"/>
          </a:solidFill>
          <a:ln/>
        </p:spPr>
      </p:sp>
      <p:sp>
        <p:nvSpPr>
          <p:cNvPr id="20" name="Text 16"/>
          <p:cNvSpPr txBox="1"/>
          <p:nvPr/>
        </p:nvSpPr>
        <p:spPr>
          <a:xfrm>
            <a:off x="731520" y="363016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7"/>
          <p:cNvSpPr/>
          <p:nvPr/>
        </p:nvSpPr>
        <p:spPr>
          <a:xfrm>
            <a:off x="1316736" y="3500323"/>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3 — What time does the shop open?</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It opens at six thirty.</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“The shop” is “it”, so it takes -s just like he and she.</a:t>
            </a:r>
            <a:endParaRPr lang="en-US" sz="1100" dirty="0"/>
          </a:p>
        </p:txBody>
      </p:sp>
      <p:sp>
        <p:nvSpPr>
          <p:cNvPr id="22" name="Shape 18"/>
          <p:cNvSpPr/>
          <p:nvPr/>
        </p:nvSpPr>
        <p:spPr>
          <a:xfrm>
            <a:off x="548640" y="4317797"/>
            <a:ext cx="11094415" cy="753466"/>
          </a:xfrm>
          <a:prstGeom prst="roundRect">
            <a:avLst>
              <a:gd name="adj" fmla="val 16990"/>
            </a:avLst>
          </a:prstGeom>
          <a:solidFill>
            <a:srgbClr val="E6F5EC"/>
          </a:solidFill>
          <a:ln w="12700">
            <a:solidFill>
              <a:srgbClr val="2E9E5B"/>
            </a:solidFill>
            <a:prstDash val="solid"/>
          </a:ln>
        </p:spPr>
      </p:sp>
      <p:sp>
        <p:nvSpPr>
          <p:cNvPr id="23" name="Shape 19"/>
          <p:cNvSpPr/>
          <p:nvPr/>
        </p:nvSpPr>
        <p:spPr>
          <a:xfrm>
            <a:off x="731520" y="4502506"/>
            <a:ext cx="384048" cy="384048"/>
          </a:xfrm>
          <a:prstGeom prst="ellipse">
            <a:avLst/>
          </a:prstGeom>
          <a:solidFill>
            <a:srgbClr val="2E9E5B"/>
          </a:solidFill>
          <a:ln/>
        </p:spPr>
      </p:sp>
      <p:sp>
        <p:nvSpPr>
          <p:cNvPr id="24" name="Text 20"/>
          <p:cNvSpPr txBox="1"/>
          <p:nvPr/>
        </p:nvSpPr>
        <p:spPr>
          <a:xfrm>
            <a:off x="731520" y="450250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1"/>
          <p:cNvSpPr/>
          <p:nvPr/>
        </p:nvSpPr>
        <p:spPr>
          <a:xfrm>
            <a:off x="1316736" y="4372661"/>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4 — What does he do in the evening?</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He studies English.</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“Study” is consonant + y, so it becomes “studies”.</a:t>
            </a:r>
            <a:endParaRPr lang="en-US" sz="1100" dirty="0"/>
          </a:p>
        </p:txBody>
      </p:sp>
      <p:sp>
        <p:nvSpPr>
          <p:cNvPr id="26" name="Shape 22"/>
          <p:cNvSpPr/>
          <p:nvPr/>
        </p:nvSpPr>
        <p:spPr>
          <a:xfrm>
            <a:off x="548640" y="5190134"/>
            <a:ext cx="11094415" cy="753466"/>
          </a:xfrm>
          <a:prstGeom prst="roundRect">
            <a:avLst>
              <a:gd name="adj" fmla="val 16990"/>
            </a:avLst>
          </a:prstGeom>
          <a:solidFill>
            <a:srgbClr val="E6F5EC"/>
          </a:solidFill>
          <a:ln w="12700">
            <a:solidFill>
              <a:srgbClr val="2E9E5B"/>
            </a:solidFill>
            <a:prstDash val="solid"/>
          </a:ln>
        </p:spPr>
      </p:sp>
      <p:sp>
        <p:nvSpPr>
          <p:cNvPr id="27" name="Shape 23"/>
          <p:cNvSpPr/>
          <p:nvPr/>
        </p:nvSpPr>
        <p:spPr>
          <a:xfrm>
            <a:off x="731520" y="5374843"/>
            <a:ext cx="384048" cy="384048"/>
          </a:xfrm>
          <a:prstGeom prst="ellipse">
            <a:avLst/>
          </a:prstGeom>
          <a:solidFill>
            <a:srgbClr val="2E9E5B"/>
          </a:solidFill>
          <a:ln/>
        </p:spPr>
      </p:sp>
      <p:sp>
        <p:nvSpPr>
          <p:cNvPr id="28" name="Text 24"/>
          <p:cNvSpPr txBox="1"/>
          <p:nvPr/>
        </p:nvSpPr>
        <p:spPr>
          <a:xfrm>
            <a:off x="731520" y="5374843"/>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9" name="Text 25"/>
          <p:cNvSpPr/>
          <p:nvPr/>
        </p:nvSpPr>
        <p:spPr>
          <a:xfrm>
            <a:off x="1316736" y="5244998"/>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5 — What does he do on Sunday?</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He visits his family.</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ON for a day, and the -s on “visits”. Two Level 1 rules and one Level 2 rule in five words.</a:t>
            </a:r>
            <a:endParaRPr lang="en-US" sz="11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READING 4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Reading 2 — a family of routines</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A longer text with several people.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1 — Present Simple &amp; Daily Routine</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44</a:t>
            </a:r>
            <a:endParaRPr lang="en-US" sz="1100" dirty="0"/>
          </a:p>
        </p:txBody>
      </p:sp>
      <p:sp>
        <p:nvSpPr>
          <p:cNvPr id="11" name="Shape 7"/>
          <p:cNvSpPr/>
          <p:nvPr/>
        </p:nvSpPr>
        <p:spPr>
          <a:xfrm>
            <a:off x="548640" y="1883664"/>
            <a:ext cx="6766560" cy="4059936"/>
          </a:xfrm>
          <a:prstGeom prst="roundRect">
            <a:avLst>
              <a:gd name="adj" fmla="val 3153"/>
            </a:avLst>
          </a:prstGeom>
          <a:solidFill>
            <a:srgbClr val="E7F3EF"/>
          </a:solidFill>
          <a:ln w="15875">
            <a:solidFill>
              <a:srgbClr val="0E7C5A"/>
            </a:solidFill>
            <a:prstDash val="solid"/>
          </a:ln>
          <a:effectLst>
            <a:outerShdw sx="100000" sy="100000" kx="0" ky="0" algn="bl" rotWithShape="0" blurRad="101600" dist="25400" dir="5400000">
              <a:srgbClr val="94A69C">
                <a:alpha val="30000"/>
              </a:srgbClr>
            </a:outerShdw>
          </a:effectLst>
        </p:spPr>
      </p:sp>
      <p:sp>
        <p:nvSpPr>
          <p:cNvPr id="12" name="Text 8"/>
          <p:cNvSpPr txBox="1"/>
          <p:nvPr/>
        </p:nvSpPr>
        <p:spPr>
          <a:xfrm>
            <a:off x="822960" y="2103120"/>
            <a:ext cx="6217920" cy="274320"/>
          </a:xfrm>
          <a:prstGeom prst="rect">
            <a:avLst/>
          </a:prstGeom>
          <a:noFill/>
          <a:ln/>
        </p:spPr>
        <p:txBody>
          <a:bodyPr wrap="square" lIns="0" tIns="0" rIns="0" bIns="0" rtlCol="0" anchor="ctr"/>
          <a:lstStyle/>
          <a:p>
            <a:pPr indent="0" marL="0">
              <a:buNone/>
            </a:pPr>
            <a:r>
              <a:rPr lang="en-US" sz="1200" b="1" spc="120" kern="0" dirty="0">
                <a:solidFill>
                  <a:srgbClr val="0E7C5A"/>
                </a:solidFill>
                <a:latin typeface="Calibri" pitchFamily="34" charset="0"/>
                <a:ea typeface="Calibri" pitchFamily="34" charset="-122"/>
                <a:cs typeface="Calibri" pitchFamily="34" charset="-120"/>
              </a:rPr>
              <a:t>READ ALOUD</a:t>
            </a:r>
            <a:endParaRPr lang="en-US" sz="1200" dirty="0"/>
          </a:p>
        </p:txBody>
      </p:sp>
      <p:sp>
        <p:nvSpPr>
          <p:cNvPr id="13" name="Text 9"/>
          <p:cNvSpPr txBox="1"/>
          <p:nvPr/>
        </p:nvSpPr>
        <p:spPr>
          <a:xfrm>
            <a:off x="822960" y="2487168"/>
            <a:ext cx="6217920" cy="3218688"/>
          </a:xfrm>
          <a:prstGeom prst="rect">
            <a:avLst/>
          </a:prstGeom>
          <a:noFill/>
          <a:ln/>
        </p:spPr>
        <p:txBody>
          <a:bodyPr wrap="square" lIns="0" tIns="0" rIns="0" bIns="0" rtlCol="0" anchor="ctr"/>
          <a:lstStyle/>
          <a:p>
            <a:pPr indent="0" marL="0">
              <a:lnSpc>
                <a:spcPct val="134000"/>
              </a:lnSpc>
              <a:buNone/>
            </a:pPr>
            <a:r>
              <a:rPr lang="en-US" sz="1750" dirty="0">
                <a:solidFill>
                  <a:srgbClr val="12211B"/>
                </a:solidFill>
                <a:latin typeface="Calibri" pitchFamily="34" charset="0"/>
                <a:ea typeface="Calibri" pitchFamily="34" charset="-122"/>
                <a:cs typeface="Calibri" pitchFamily="34" charset="-120"/>
              </a:rPr>
              <a:t>The Alemu family lives in Adama.</a:t>
            </a:r>
            <a:endParaRPr lang="en-US" sz="1750" dirty="0"/>
          </a:p>
          <a:p>
            <a:pPr indent="0" marL="0">
              <a:lnSpc>
                <a:spcPct val="134000"/>
              </a:lnSpc>
              <a:buNone/>
            </a:pPr>
            <a:r>
              <a:rPr lang="en-US" sz="1750" dirty="0">
                <a:solidFill>
                  <a:srgbClr val="12211B"/>
                </a:solidFill>
                <a:latin typeface="Calibri" pitchFamily="34" charset="0"/>
                <a:ea typeface="Calibri" pitchFamily="34" charset="-122"/>
                <a:cs typeface="Calibri" pitchFamily="34" charset="-120"/>
              </a:rPr>
              <a:t>Ato Alemu drives a bus. He starts at five in the morning and finishes at seven at night.</a:t>
            </a:r>
            <a:endParaRPr lang="en-US" sz="1750" dirty="0"/>
          </a:p>
          <a:p>
            <a:pPr indent="0" marL="0">
              <a:lnSpc>
                <a:spcPct val="134000"/>
              </a:lnSpc>
              <a:buNone/>
            </a:pPr>
            <a:r>
              <a:rPr lang="en-US" sz="1750" dirty="0">
                <a:solidFill>
                  <a:srgbClr val="12211B"/>
                </a:solidFill>
                <a:latin typeface="Calibri" pitchFamily="34" charset="0"/>
                <a:ea typeface="Calibri" pitchFamily="34" charset="-122"/>
                <a:cs typeface="Calibri" pitchFamily="34" charset="-120"/>
              </a:rPr>
              <a:t>W/ro Alemu teaches at a primary school. She works from eight to four.</a:t>
            </a:r>
            <a:endParaRPr lang="en-US" sz="1750" dirty="0"/>
          </a:p>
          <a:p>
            <a:pPr indent="0" marL="0">
              <a:lnSpc>
                <a:spcPct val="134000"/>
              </a:lnSpc>
              <a:buNone/>
            </a:pPr>
            <a:r>
              <a:rPr lang="en-US" sz="1750" dirty="0">
                <a:solidFill>
                  <a:srgbClr val="12211B"/>
                </a:solidFill>
                <a:latin typeface="Calibri" pitchFamily="34" charset="0"/>
                <a:ea typeface="Calibri" pitchFamily="34" charset="-122"/>
                <a:cs typeface="Calibri" pitchFamily="34" charset="-120"/>
              </a:rPr>
              <a:t>Their two sons go to school. They study every evening.</a:t>
            </a:r>
            <a:endParaRPr lang="en-US" sz="1750" dirty="0"/>
          </a:p>
          <a:p>
            <a:pPr indent="0" marL="0">
              <a:lnSpc>
                <a:spcPct val="134000"/>
              </a:lnSpc>
              <a:buNone/>
            </a:pPr>
            <a:r>
              <a:rPr lang="en-US" sz="1750" dirty="0">
                <a:solidFill>
                  <a:srgbClr val="12211B"/>
                </a:solidFill>
                <a:latin typeface="Calibri" pitchFamily="34" charset="0"/>
                <a:ea typeface="Calibri" pitchFamily="34" charset="-122"/>
                <a:cs typeface="Calibri" pitchFamily="34" charset="-120"/>
              </a:rPr>
              <a:t>The family eats dinner together at eight o'clock.</a:t>
            </a:r>
            <a:endParaRPr lang="en-US" sz="1750" dirty="0"/>
          </a:p>
          <a:p>
            <a:pPr indent="0" marL="0">
              <a:lnSpc>
                <a:spcPct val="134000"/>
              </a:lnSpc>
              <a:buNone/>
            </a:pPr>
            <a:r>
              <a:rPr lang="en-US" sz="1750" dirty="0">
                <a:solidFill>
                  <a:srgbClr val="12211B"/>
                </a:solidFill>
                <a:latin typeface="Calibri" pitchFamily="34" charset="0"/>
                <a:ea typeface="Calibri" pitchFamily="34" charset="-122"/>
                <a:cs typeface="Calibri" pitchFamily="34" charset="-120"/>
              </a:rPr>
              <a:t>On Sunday nobody works. They visit their grandmother.</a:t>
            </a:r>
            <a:endParaRPr lang="en-US" sz="1750" dirty="0"/>
          </a:p>
        </p:txBody>
      </p:sp>
      <p:sp>
        <p:nvSpPr>
          <p:cNvPr id="14" name="Shape 10"/>
          <p:cNvSpPr/>
          <p:nvPr/>
        </p:nvSpPr>
        <p:spPr>
          <a:xfrm>
            <a:off x="7589520" y="1883664"/>
            <a:ext cx="4053535" cy="4059936"/>
          </a:xfrm>
          <a:prstGeom prst="roundRect">
            <a:avLst>
              <a:gd name="adj" fmla="val 3158"/>
            </a:avLst>
          </a:prstGeom>
          <a:solidFill>
            <a:srgbClr val="F6F9F7"/>
          </a:solidFill>
          <a:ln w="12700">
            <a:solidFill>
              <a:srgbClr val="E3E9E5"/>
            </a:solidFill>
            <a:prstDash val="solid"/>
          </a:ln>
        </p:spPr>
      </p:sp>
      <p:sp>
        <p:nvSpPr>
          <p:cNvPr id="15" name="Text 11"/>
          <p:cNvSpPr txBox="1"/>
          <p:nvPr/>
        </p:nvSpPr>
        <p:spPr>
          <a:xfrm>
            <a:off x="7827264" y="2103120"/>
            <a:ext cx="3578047" cy="274320"/>
          </a:xfrm>
          <a:prstGeom prst="rect">
            <a:avLst/>
          </a:prstGeom>
          <a:noFill/>
          <a:ln/>
        </p:spPr>
        <p:txBody>
          <a:bodyPr wrap="square" lIns="0" tIns="0" rIns="0" bIns="0" rtlCol="0" anchor="ctr"/>
          <a:lstStyle/>
          <a:p>
            <a:pPr indent="0" marL="0">
              <a:buNone/>
            </a:pPr>
            <a:r>
              <a:rPr lang="en-US" sz="1200" b="1" spc="120" kern="0" dirty="0">
                <a:solidFill>
                  <a:srgbClr val="0E7C5A"/>
                </a:solidFill>
                <a:latin typeface="Calibri" pitchFamily="34" charset="0"/>
                <a:ea typeface="Calibri" pitchFamily="34" charset="-122"/>
                <a:cs typeface="Calibri" pitchFamily="34" charset="-120"/>
              </a:rPr>
              <a:t>NEW WORDS HERE</a:t>
            </a:r>
            <a:endParaRPr lang="en-US" sz="1200" dirty="0"/>
          </a:p>
        </p:txBody>
      </p:sp>
      <p:sp>
        <p:nvSpPr>
          <p:cNvPr id="16" name="Text 12"/>
          <p:cNvSpPr/>
          <p:nvPr/>
        </p:nvSpPr>
        <p:spPr>
          <a:xfrm>
            <a:off x="7863840" y="2505456"/>
            <a:ext cx="3504895" cy="3200400"/>
          </a:xfrm>
          <a:prstGeom prst="rect">
            <a:avLst/>
          </a:prstGeom>
          <a:noFill/>
          <a:ln/>
        </p:spPr>
        <p:txBody>
          <a:bodyPr wrap="square" lIns="0" tIns="0" rIns="0" bIns="0" rtlCol="0" anchor="t"/>
          <a:lstStyle/>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drives — the job of a driver</a:t>
            </a:r>
            <a:endParaRPr lang="en-US" sz="1600" dirty="0"/>
          </a:p>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teaches — the job of a teacher</a:t>
            </a:r>
            <a:endParaRPr lang="en-US" sz="1600" dirty="0"/>
          </a:p>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primary school — for young children</a:t>
            </a:r>
            <a:endParaRPr lang="en-US" sz="1600" dirty="0"/>
          </a:p>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together — with each other</a:t>
            </a:r>
            <a:endParaRPr lang="en-US" sz="1600" dirty="0"/>
          </a:p>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Which verbs have -s and which do not? Why?</a:t>
            </a:r>
            <a:endParaRPr lang="en-US" sz="16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READING 5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250" b="1" dirty="0">
                <a:solidFill>
                  <a:srgbClr val="12211B"/>
                </a:solidFill>
                <a:latin typeface="Calibri" pitchFamily="34" charset="0"/>
                <a:ea typeface="Calibri" pitchFamily="34" charset="-122"/>
                <a:cs typeface="Calibri" pitchFamily="34" charset="-120"/>
              </a:rPr>
              <a:t>Reading 2 — questions, answers and vocabulary review</a:t>
            </a:r>
            <a:endParaRPr lang="en-US" sz="325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1 — Present Simple &amp; Daily Routine</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45</a:t>
            </a:r>
            <a:endParaRPr lang="en-US" sz="1100" dirty="0"/>
          </a:p>
        </p:txBody>
      </p:sp>
      <p:sp>
        <p:nvSpPr>
          <p:cNvPr id="10" name="Shape 6"/>
          <p:cNvSpPr/>
          <p:nvPr/>
        </p:nvSpPr>
        <p:spPr>
          <a:xfrm>
            <a:off x="548640" y="1700784"/>
            <a:ext cx="11094415" cy="753466"/>
          </a:xfrm>
          <a:prstGeom prst="roundRect">
            <a:avLst>
              <a:gd name="adj" fmla="val 16990"/>
            </a:avLst>
          </a:prstGeom>
          <a:solidFill>
            <a:srgbClr val="E6F5EC"/>
          </a:solidFill>
          <a:ln w="12700">
            <a:solidFill>
              <a:srgbClr val="2E9E5B"/>
            </a:solidFill>
            <a:prstDash val="solid"/>
          </a:ln>
        </p:spPr>
      </p:sp>
      <p:sp>
        <p:nvSpPr>
          <p:cNvPr id="11" name="Shape 7"/>
          <p:cNvSpPr/>
          <p:nvPr/>
        </p:nvSpPr>
        <p:spPr>
          <a:xfrm>
            <a:off x="731520" y="1885493"/>
            <a:ext cx="384048" cy="384048"/>
          </a:xfrm>
          <a:prstGeom prst="ellipse">
            <a:avLst/>
          </a:prstGeom>
          <a:solidFill>
            <a:srgbClr val="2E9E5B"/>
          </a:solidFill>
          <a:ln/>
        </p:spPr>
      </p:sp>
      <p:sp>
        <p:nvSpPr>
          <p:cNvPr id="12" name="Text 8"/>
          <p:cNvSpPr txBox="1"/>
          <p:nvPr/>
        </p:nvSpPr>
        <p:spPr>
          <a:xfrm>
            <a:off x="731520" y="1885493"/>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9"/>
          <p:cNvSpPr/>
          <p:nvPr/>
        </p:nvSpPr>
        <p:spPr>
          <a:xfrm>
            <a:off x="1316736" y="1755648"/>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1 — What does Ato Alemu do?</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He drives a bus.</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One person, so -s. The question uses “does” and the answer uses the -s form.</a:t>
            </a:r>
            <a:endParaRPr lang="en-US" sz="1100" dirty="0"/>
          </a:p>
        </p:txBody>
      </p:sp>
      <p:sp>
        <p:nvSpPr>
          <p:cNvPr id="14" name="Shape 10"/>
          <p:cNvSpPr/>
          <p:nvPr/>
        </p:nvSpPr>
        <p:spPr>
          <a:xfrm>
            <a:off x="548640" y="2573122"/>
            <a:ext cx="11094415" cy="753466"/>
          </a:xfrm>
          <a:prstGeom prst="roundRect">
            <a:avLst>
              <a:gd name="adj" fmla="val 16990"/>
            </a:avLst>
          </a:prstGeom>
          <a:solidFill>
            <a:srgbClr val="E6F5EC"/>
          </a:solidFill>
          <a:ln w="12700">
            <a:solidFill>
              <a:srgbClr val="2E9E5B"/>
            </a:solidFill>
            <a:prstDash val="solid"/>
          </a:ln>
        </p:spPr>
      </p:sp>
      <p:sp>
        <p:nvSpPr>
          <p:cNvPr id="15" name="Shape 11"/>
          <p:cNvSpPr/>
          <p:nvPr/>
        </p:nvSpPr>
        <p:spPr>
          <a:xfrm>
            <a:off x="731520" y="2757830"/>
            <a:ext cx="384048" cy="384048"/>
          </a:xfrm>
          <a:prstGeom prst="ellipse">
            <a:avLst/>
          </a:prstGeom>
          <a:solidFill>
            <a:srgbClr val="2E9E5B"/>
          </a:solidFill>
          <a:ln/>
        </p:spPr>
      </p:sp>
      <p:sp>
        <p:nvSpPr>
          <p:cNvPr id="16" name="Text 12"/>
          <p:cNvSpPr txBox="1"/>
          <p:nvPr/>
        </p:nvSpPr>
        <p:spPr>
          <a:xfrm>
            <a:off x="731520" y="275783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3"/>
          <p:cNvSpPr/>
          <p:nvPr/>
        </p:nvSpPr>
        <p:spPr>
          <a:xfrm>
            <a:off x="1316736" y="2627986"/>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2 — What time does W/ro Alemu finish?</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She finishes at four.</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“Finish” ends in sh, so -es, and it adds a syllable: fin-ish-es.</a:t>
            </a:r>
            <a:endParaRPr lang="en-US" sz="1100" dirty="0"/>
          </a:p>
        </p:txBody>
      </p:sp>
      <p:sp>
        <p:nvSpPr>
          <p:cNvPr id="18" name="Shape 14"/>
          <p:cNvSpPr/>
          <p:nvPr/>
        </p:nvSpPr>
        <p:spPr>
          <a:xfrm>
            <a:off x="548640" y="3445459"/>
            <a:ext cx="11094415" cy="753466"/>
          </a:xfrm>
          <a:prstGeom prst="roundRect">
            <a:avLst>
              <a:gd name="adj" fmla="val 16990"/>
            </a:avLst>
          </a:prstGeom>
          <a:solidFill>
            <a:srgbClr val="E6F5EC"/>
          </a:solidFill>
          <a:ln w="12700">
            <a:solidFill>
              <a:srgbClr val="2E9E5B"/>
            </a:solidFill>
            <a:prstDash val="solid"/>
          </a:ln>
        </p:spPr>
      </p:sp>
      <p:sp>
        <p:nvSpPr>
          <p:cNvPr id="19" name="Shape 15"/>
          <p:cNvSpPr/>
          <p:nvPr/>
        </p:nvSpPr>
        <p:spPr>
          <a:xfrm>
            <a:off x="731520" y="3630168"/>
            <a:ext cx="384048" cy="384048"/>
          </a:xfrm>
          <a:prstGeom prst="ellipse">
            <a:avLst/>
          </a:prstGeom>
          <a:solidFill>
            <a:srgbClr val="2E9E5B"/>
          </a:solidFill>
          <a:ln/>
        </p:spPr>
      </p:sp>
      <p:sp>
        <p:nvSpPr>
          <p:cNvPr id="20" name="Text 16"/>
          <p:cNvSpPr txBox="1"/>
          <p:nvPr/>
        </p:nvSpPr>
        <p:spPr>
          <a:xfrm>
            <a:off x="731520" y="363016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7"/>
          <p:cNvSpPr/>
          <p:nvPr/>
        </p:nvSpPr>
        <p:spPr>
          <a:xfrm>
            <a:off x="1316736" y="3500323"/>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3 — What do the two sons do?</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They go to school and they study every evening.</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“They” is plural, so NO -s on either verb. Note the question uses “do”, not “does”.</a:t>
            </a:r>
            <a:endParaRPr lang="en-US" sz="1100" dirty="0"/>
          </a:p>
        </p:txBody>
      </p:sp>
      <p:sp>
        <p:nvSpPr>
          <p:cNvPr id="22" name="Shape 18"/>
          <p:cNvSpPr/>
          <p:nvPr/>
        </p:nvSpPr>
        <p:spPr>
          <a:xfrm>
            <a:off x="548640" y="4317797"/>
            <a:ext cx="11094415" cy="753466"/>
          </a:xfrm>
          <a:prstGeom prst="roundRect">
            <a:avLst>
              <a:gd name="adj" fmla="val 16990"/>
            </a:avLst>
          </a:prstGeom>
          <a:solidFill>
            <a:srgbClr val="E6F5EC"/>
          </a:solidFill>
          <a:ln w="12700">
            <a:solidFill>
              <a:srgbClr val="2E9E5B"/>
            </a:solidFill>
            <a:prstDash val="solid"/>
          </a:ln>
        </p:spPr>
      </p:sp>
      <p:sp>
        <p:nvSpPr>
          <p:cNvPr id="23" name="Shape 19"/>
          <p:cNvSpPr/>
          <p:nvPr/>
        </p:nvSpPr>
        <p:spPr>
          <a:xfrm>
            <a:off x="731520" y="4502506"/>
            <a:ext cx="384048" cy="384048"/>
          </a:xfrm>
          <a:prstGeom prst="ellipse">
            <a:avLst/>
          </a:prstGeom>
          <a:solidFill>
            <a:srgbClr val="2E9E5B"/>
          </a:solidFill>
          <a:ln/>
        </p:spPr>
      </p:sp>
      <p:sp>
        <p:nvSpPr>
          <p:cNvPr id="24" name="Text 20"/>
          <p:cNvSpPr txBox="1"/>
          <p:nvPr/>
        </p:nvSpPr>
        <p:spPr>
          <a:xfrm>
            <a:off x="731520" y="450250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1"/>
          <p:cNvSpPr/>
          <p:nvPr/>
        </p:nvSpPr>
        <p:spPr>
          <a:xfrm>
            <a:off x="1316736" y="4372661"/>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4 — When does the family eat dinner?</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They eat dinner at eight o'clock.</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“The family” can be treated as one unit — “the family eats” — or as “they eat”. Both are acceptable.</a:t>
            </a:r>
            <a:endParaRPr lang="en-US" sz="1100" dirty="0"/>
          </a:p>
        </p:txBody>
      </p:sp>
      <p:sp>
        <p:nvSpPr>
          <p:cNvPr id="26" name="Shape 22"/>
          <p:cNvSpPr/>
          <p:nvPr/>
        </p:nvSpPr>
        <p:spPr>
          <a:xfrm>
            <a:off x="548640" y="5190134"/>
            <a:ext cx="11094415" cy="753466"/>
          </a:xfrm>
          <a:prstGeom prst="roundRect">
            <a:avLst>
              <a:gd name="adj" fmla="val 16990"/>
            </a:avLst>
          </a:prstGeom>
          <a:solidFill>
            <a:srgbClr val="E6F5EC"/>
          </a:solidFill>
          <a:ln w="12700">
            <a:solidFill>
              <a:srgbClr val="2E9E5B"/>
            </a:solidFill>
            <a:prstDash val="solid"/>
          </a:ln>
        </p:spPr>
      </p:sp>
      <p:sp>
        <p:nvSpPr>
          <p:cNvPr id="27" name="Shape 23"/>
          <p:cNvSpPr/>
          <p:nvPr/>
        </p:nvSpPr>
        <p:spPr>
          <a:xfrm>
            <a:off x="731520" y="5374843"/>
            <a:ext cx="384048" cy="384048"/>
          </a:xfrm>
          <a:prstGeom prst="ellipse">
            <a:avLst/>
          </a:prstGeom>
          <a:solidFill>
            <a:srgbClr val="2E9E5B"/>
          </a:solidFill>
          <a:ln/>
        </p:spPr>
      </p:sp>
      <p:sp>
        <p:nvSpPr>
          <p:cNvPr id="28" name="Text 24"/>
          <p:cNvSpPr txBox="1"/>
          <p:nvPr/>
        </p:nvSpPr>
        <p:spPr>
          <a:xfrm>
            <a:off x="731520" y="5374843"/>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9" name="Text 25"/>
          <p:cNvSpPr/>
          <p:nvPr/>
        </p:nvSpPr>
        <p:spPr>
          <a:xfrm>
            <a:off x="1316736" y="5244998"/>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5 — Vocabulary check: name the five words from this module.</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wake up · breakfast · usually · never · finish</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All five appeared in this module. Three of them are in these two texts — find them again.</a:t>
            </a:r>
            <a:endParaRPr lang="en-US" sz="11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7A4FBF"/>
          </a:solidFill>
          <a:ln/>
        </p:spPr>
      </p:sp>
      <p:sp>
        <p:nvSpPr>
          <p:cNvPr id="3" name="Shape 1"/>
          <p:cNvSpPr/>
          <p:nvPr/>
        </p:nvSpPr>
        <p:spPr>
          <a:xfrm>
            <a:off x="649224" y="539496"/>
            <a:ext cx="219456" cy="219456"/>
          </a:xfrm>
          <a:prstGeom prst="ellipse">
            <a:avLst/>
          </a:prstGeom>
          <a:solidFill>
            <a:srgbClr val="7A4FBF"/>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WRITING 1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Writing 1 — put the verb in the right form</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1 — Present Simple &amp; Daily Routine</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46</a:t>
            </a:r>
            <a:endParaRPr lang="en-US" sz="1100" dirty="0"/>
          </a:p>
        </p:txBody>
      </p:sp>
      <p:sp>
        <p:nvSpPr>
          <p:cNvPr id="10" name="Shape 6"/>
          <p:cNvSpPr/>
          <p:nvPr/>
        </p:nvSpPr>
        <p:spPr>
          <a:xfrm>
            <a:off x="548640" y="1700784"/>
            <a:ext cx="11094415" cy="566928"/>
          </a:xfrm>
          <a:prstGeom prst="roundRect">
            <a:avLst>
              <a:gd name="adj" fmla="val 22581"/>
            </a:avLst>
          </a:prstGeom>
          <a:solidFill>
            <a:srgbClr val="F2ECFA"/>
          </a:solidFill>
          <a:ln w="12700">
            <a:solidFill>
              <a:srgbClr val="7A4FBF"/>
            </a:solidFill>
            <a:prstDash val="solid"/>
          </a:ln>
        </p:spPr>
      </p:sp>
      <p:sp>
        <p:nvSpPr>
          <p:cNvPr id="11" name="Shape 7"/>
          <p:cNvSpPr/>
          <p:nvPr/>
        </p:nvSpPr>
        <p:spPr>
          <a:xfrm>
            <a:off x="749808" y="1810512"/>
            <a:ext cx="347472" cy="347472"/>
          </a:xfrm>
          <a:prstGeom prst="ellipse">
            <a:avLst/>
          </a:prstGeom>
          <a:solidFill>
            <a:srgbClr val="7A4FBF"/>
          </a:solidFill>
          <a:ln/>
        </p:spPr>
      </p:sp>
      <p:pic>
        <p:nvPicPr>
          <p:cNvPr id="12" name="Image 1" descr="preencoded.png">    </p:cNvPr>
          <p:cNvPicPr>
            <a:picLocks noChangeAspect="1"/>
          </p:cNvPicPr>
          <p:nvPr/>
        </p:nvPicPr>
        <p:blipFill>
          <a:blip r:embed="rId2"/>
          <a:stretch>
            <a:fillRect/>
          </a:stretch>
        </p:blipFill>
        <p:spPr>
          <a:xfrm>
            <a:off x="836676" y="1897380"/>
            <a:ext cx="173736" cy="173736"/>
          </a:xfrm>
          <a:prstGeom prst="rect">
            <a:avLst/>
          </a:prstGeom>
        </p:spPr>
      </p:pic>
      <p:sp>
        <p:nvSpPr>
          <p:cNvPr id="13" name="Text 8"/>
          <p:cNvSpPr txBox="1"/>
          <p:nvPr/>
        </p:nvSpPr>
        <p:spPr>
          <a:xfrm>
            <a:off x="1207008" y="170078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Copy each sentence and write the correct form of the verb.</a:t>
            </a:r>
            <a:endParaRPr lang="en-US" sz="1700" dirty="0"/>
          </a:p>
        </p:txBody>
      </p:sp>
      <p:sp>
        <p:nvSpPr>
          <p:cNvPr id="14" name="Shape 9"/>
          <p:cNvSpPr/>
          <p:nvPr/>
        </p:nvSpPr>
        <p:spPr>
          <a:xfrm>
            <a:off x="548640" y="2414016"/>
            <a:ext cx="11094415" cy="610819"/>
          </a:xfrm>
          <a:prstGeom prst="roundRect">
            <a:avLst>
              <a:gd name="adj" fmla="val 20958"/>
            </a:avLst>
          </a:prstGeom>
          <a:solidFill>
            <a:srgbClr val="F6F9F7"/>
          </a:solidFill>
          <a:ln w="12700">
            <a:solidFill>
              <a:srgbClr val="E3E9E5"/>
            </a:solidFill>
            <a:prstDash val="solid"/>
          </a:ln>
        </p:spPr>
      </p:sp>
      <p:sp>
        <p:nvSpPr>
          <p:cNvPr id="15" name="Shape 10"/>
          <p:cNvSpPr/>
          <p:nvPr/>
        </p:nvSpPr>
        <p:spPr>
          <a:xfrm>
            <a:off x="749808" y="2518258"/>
            <a:ext cx="402336" cy="402336"/>
          </a:xfrm>
          <a:prstGeom prst="ellipse">
            <a:avLst/>
          </a:prstGeom>
          <a:solidFill>
            <a:srgbClr val="7A4FBF"/>
          </a:solidFill>
          <a:ln/>
        </p:spPr>
      </p:sp>
      <p:sp>
        <p:nvSpPr>
          <p:cNvPr id="16" name="Text 11"/>
          <p:cNvSpPr txBox="1"/>
          <p:nvPr/>
        </p:nvSpPr>
        <p:spPr>
          <a:xfrm>
            <a:off x="749808" y="251825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7" name="Text 12"/>
          <p:cNvSpPr/>
          <p:nvPr/>
        </p:nvSpPr>
        <p:spPr>
          <a:xfrm>
            <a:off x="1353312" y="2468880"/>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1.  My sister ______ in a hospital.  (work)</a:t>
            </a:r>
            <a:endParaRPr lang="en-US" sz="2000" dirty="0"/>
          </a:p>
        </p:txBody>
      </p:sp>
      <p:sp>
        <p:nvSpPr>
          <p:cNvPr id="18" name="Shape 13"/>
          <p:cNvSpPr/>
          <p:nvPr/>
        </p:nvSpPr>
        <p:spPr>
          <a:xfrm>
            <a:off x="548640" y="3143707"/>
            <a:ext cx="11094415" cy="610819"/>
          </a:xfrm>
          <a:prstGeom prst="roundRect">
            <a:avLst>
              <a:gd name="adj" fmla="val 20958"/>
            </a:avLst>
          </a:prstGeom>
          <a:solidFill>
            <a:srgbClr val="F6F9F7"/>
          </a:solidFill>
          <a:ln w="12700">
            <a:solidFill>
              <a:srgbClr val="E3E9E5"/>
            </a:solidFill>
            <a:prstDash val="solid"/>
          </a:ln>
        </p:spPr>
      </p:sp>
      <p:sp>
        <p:nvSpPr>
          <p:cNvPr id="19" name="Shape 14"/>
          <p:cNvSpPr/>
          <p:nvPr/>
        </p:nvSpPr>
        <p:spPr>
          <a:xfrm>
            <a:off x="749808" y="3247949"/>
            <a:ext cx="402336" cy="402336"/>
          </a:xfrm>
          <a:prstGeom prst="ellipse">
            <a:avLst/>
          </a:prstGeom>
          <a:solidFill>
            <a:srgbClr val="7A4FBF"/>
          </a:solidFill>
          <a:ln/>
        </p:spPr>
      </p:sp>
      <p:sp>
        <p:nvSpPr>
          <p:cNvPr id="20" name="Text 15"/>
          <p:cNvSpPr txBox="1"/>
          <p:nvPr/>
        </p:nvSpPr>
        <p:spPr>
          <a:xfrm>
            <a:off x="749808" y="324794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1" name="Text 16"/>
          <p:cNvSpPr/>
          <p:nvPr/>
        </p:nvSpPr>
        <p:spPr>
          <a:xfrm>
            <a:off x="1353312" y="3198571"/>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2.  They ______ English every evening.  (study)</a:t>
            </a:r>
            <a:endParaRPr lang="en-US" sz="2000" dirty="0"/>
          </a:p>
        </p:txBody>
      </p:sp>
      <p:sp>
        <p:nvSpPr>
          <p:cNvPr id="22" name="Shape 17"/>
          <p:cNvSpPr/>
          <p:nvPr/>
        </p:nvSpPr>
        <p:spPr>
          <a:xfrm>
            <a:off x="548640" y="3873398"/>
            <a:ext cx="11094415" cy="610819"/>
          </a:xfrm>
          <a:prstGeom prst="roundRect">
            <a:avLst>
              <a:gd name="adj" fmla="val 20958"/>
            </a:avLst>
          </a:prstGeom>
          <a:solidFill>
            <a:srgbClr val="F6F9F7"/>
          </a:solidFill>
          <a:ln w="12700">
            <a:solidFill>
              <a:srgbClr val="E3E9E5"/>
            </a:solidFill>
            <a:prstDash val="solid"/>
          </a:ln>
        </p:spPr>
      </p:sp>
      <p:sp>
        <p:nvSpPr>
          <p:cNvPr id="23" name="Shape 18"/>
          <p:cNvSpPr/>
          <p:nvPr/>
        </p:nvSpPr>
        <p:spPr>
          <a:xfrm>
            <a:off x="749808" y="3977640"/>
            <a:ext cx="402336" cy="402336"/>
          </a:xfrm>
          <a:prstGeom prst="ellipse">
            <a:avLst/>
          </a:prstGeom>
          <a:solidFill>
            <a:srgbClr val="7A4FBF"/>
          </a:solidFill>
          <a:ln/>
        </p:spPr>
      </p:sp>
      <p:sp>
        <p:nvSpPr>
          <p:cNvPr id="24" name="Text 19"/>
          <p:cNvSpPr txBox="1"/>
          <p:nvPr/>
        </p:nvSpPr>
        <p:spPr>
          <a:xfrm>
            <a:off x="749808" y="39776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5" name="Text 20"/>
          <p:cNvSpPr/>
          <p:nvPr/>
        </p:nvSpPr>
        <p:spPr>
          <a:xfrm>
            <a:off x="1353312" y="3928262"/>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3.  He ______ television after dinner.  (watch)</a:t>
            </a:r>
            <a:endParaRPr lang="en-US" sz="2000" dirty="0"/>
          </a:p>
        </p:txBody>
      </p:sp>
      <p:sp>
        <p:nvSpPr>
          <p:cNvPr id="26" name="Shape 21"/>
          <p:cNvSpPr/>
          <p:nvPr/>
        </p:nvSpPr>
        <p:spPr>
          <a:xfrm>
            <a:off x="548640" y="4603090"/>
            <a:ext cx="11094415" cy="610819"/>
          </a:xfrm>
          <a:prstGeom prst="roundRect">
            <a:avLst>
              <a:gd name="adj" fmla="val 20958"/>
            </a:avLst>
          </a:prstGeom>
          <a:solidFill>
            <a:srgbClr val="F6F9F7"/>
          </a:solidFill>
          <a:ln w="12700">
            <a:solidFill>
              <a:srgbClr val="E3E9E5"/>
            </a:solidFill>
            <a:prstDash val="solid"/>
          </a:ln>
        </p:spPr>
      </p:sp>
      <p:sp>
        <p:nvSpPr>
          <p:cNvPr id="27" name="Shape 22"/>
          <p:cNvSpPr/>
          <p:nvPr/>
        </p:nvSpPr>
        <p:spPr>
          <a:xfrm>
            <a:off x="749808" y="4707331"/>
            <a:ext cx="402336" cy="402336"/>
          </a:xfrm>
          <a:prstGeom prst="ellipse">
            <a:avLst/>
          </a:prstGeom>
          <a:solidFill>
            <a:srgbClr val="7A4FBF"/>
          </a:solidFill>
          <a:ln/>
        </p:spPr>
      </p:sp>
      <p:sp>
        <p:nvSpPr>
          <p:cNvPr id="28" name="Text 23"/>
          <p:cNvSpPr txBox="1"/>
          <p:nvPr/>
        </p:nvSpPr>
        <p:spPr>
          <a:xfrm>
            <a:off x="749808" y="470733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9" name="Text 24"/>
          <p:cNvSpPr/>
          <p:nvPr/>
        </p:nvSpPr>
        <p:spPr>
          <a:xfrm>
            <a:off x="1353312" y="4657954"/>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4.  I ______ coffee in the morning.  (drink)</a:t>
            </a:r>
            <a:endParaRPr lang="en-US" sz="2000" dirty="0"/>
          </a:p>
        </p:txBody>
      </p:sp>
      <p:sp>
        <p:nvSpPr>
          <p:cNvPr id="30" name="Shape 25"/>
          <p:cNvSpPr/>
          <p:nvPr/>
        </p:nvSpPr>
        <p:spPr>
          <a:xfrm>
            <a:off x="548640" y="5332781"/>
            <a:ext cx="11094415" cy="610819"/>
          </a:xfrm>
          <a:prstGeom prst="roundRect">
            <a:avLst>
              <a:gd name="adj" fmla="val 20958"/>
            </a:avLst>
          </a:prstGeom>
          <a:solidFill>
            <a:srgbClr val="F6F9F7"/>
          </a:solidFill>
          <a:ln w="12700">
            <a:solidFill>
              <a:srgbClr val="E3E9E5"/>
            </a:solidFill>
            <a:prstDash val="solid"/>
          </a:ln>
        </p:spPr>
      </p:sp>
      <p:sp>
        <p:nvSpPr>
          <p:cNvPr id="31" name="Shape 26"/>
          <p:cNvSpPr/>
          <p:nvPr/>
        </p:nvSpPr>
        <p:spPr>
          <a:xfrm>
            <a:off x="749808" y="5437022"/>
            <a:ext cx="402336" cy="402336"/>
          </a:xfrm>
          <a:prstGeom prst="ellipse">
            <a:avLst/>
          </a:prstGeom>
          <a:solidFill>
            <a:srgbClr val="7A4FBF"/>
          </a:solidFill>
          <a:ln/>
        </p:spPr>
      </p:sp>
      <p:sp>
        <p:nvSpPr>
          <p:cNvPr id="32" name="Text 27"/>
          <p:cNvSpPr txBox="1"/>
          <p:nvPr/>
        </p:nvSpPr>
        <p:spPr>
          <a:xfrm>
            <a:off x="749808" y="543702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3" name="Text 28"/>
          <p:cNvSpPr/>
          <p:nvPr/>
        </p:nvSpPr>
        <p:spPr>
          <a:xfrm>
            <a:off x="1353312" y="5387645"/>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5.  The shop ______ at eight o'clock.  (open)</a:t>
            </a:r>
            <a:endParaRPr lang="en-US" sz="20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7A4FBF"/>
          </a:solidFill>
          <a:ln/>
        </p:spPr>
      </p:sp>
      <p:sp>
        <p:nvSpPr>
          <p:cNvPr id="3" name="Shape 1"/>
          <p:cNvSpPr/>
          <p:nvPr/>
        </p:nvSpPr>
        <p:spPr>
          <a:xfrm>
            <a:off x="649224" y="539496"/>
            <a:ext cx="219456" cy="219456"/>
          </a:xfrm>
          <a:prstGeom prst="ellipse">
            <a:avLst/>
          </a:prstGeom>
          <a:solidFill>
            <a:srgbClr val="7A4FBF"/>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WRITING 2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Writing 2 — “My Day”</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The Level 2 writing task. Eight sentences about your routine.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1 — Present Simple &amp; Daily Routine</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47</a:t>
            </a:r>
            <a:endParaRPr lang="en-US" sz="1100" dirty="0"/>
          </a:p>
        </p:txBody>
      </p:sp>
      <p:sp>
        <p:nvSpPr>
          <p:cNvPr id="11" name="Shape 7"/>
          <p:cNvSpPr/>
          <p:nvPr/>
        </p:nvSpPr>
        <p:spPr>
          <a:xfrm>
            <a:off x="548640" y="1883664"/>
            <a:ext cx="6949440" cy="4059936"/>
          </a:xfrm>
          <a:prstGeom prst="roundRect">
            <a:avLst>
              <a:gd name="adj" fmla="val 3153"/>
            </a:avLst>
          </a:prstGeom>
          <a:solidFill>
            <a:srgbClr val="F2ECFA"/>
          </a:solidFill>
          <a:ln w="15875">
            <a:solidFill>
              <a:srgbClr val="7A4FBF"/>
            </a:solidFill>
            <a:prstDash val="solid"/>
          </a:ln>
          <a:effectLst>
            <a:outerShdw sx="100000" sy="100000" kx="0" ky="0" algn="bl" rotWithShape="0" blurRad="101600" dist="25400" dir="5400000">
              <a:srgbClr val="94A69C">
                <a:alpha val="30000"/>
              </a:srgbClr>
            </a:outerShdw>
          </a:effectLst>
        </p:spPr>
      </p:sp>
      <p:sp>
        <p:nvSpPr>
          <p:cNvPr id="12" name="Text 8"/>
          <p:cNvSpPr txBox="1"/>
          <p:nvPr/>
        </p:nvSpPr>
        <p:spPr>
          <a:xfrm>
            <a:off x="822960" y="2103120"/>
            <a:ext cx="6400800" cy="274320"/>
          </a:xfrm>
          <a:prstGeom prst="rect">
            <a:avLst/>
          </a:prstGeom>
          <a:noFill/>
          <a:ln/>
        </p:spPr>
        <p:txBody>
          <a:bodyPr wrap="square" lIns="0" tIns="0" rIns="0" bIns="0" rtlCol="0" anchor="ctr"/>
          <a:lstStyle/>
          <a:p>
            <a:pPr indent="0" marL="0">
              <a:buNone/>
            </a:pPr>
            <a:r>
              <a:rPr lang="en-US" sz="1200" b="1" spc="120" kern="0" dirty="0">
                <a:solidFill>
                  <a:srgbClr val="7A4FBF"/>
                </a:solidFill>
                <a:latin typeface="Calibri" pitchFamily="34" charset="0"/>
                <a:ea typeface="Calibri" pitchFamily="34" charset="-122"/>
                <a:cs typeface="Calibri" pitchFamily="34" charset="-120"/>
              </a:rPr>
              <a:t>WRITE EIGHT SENTENCES USING THIS FRAME</a:t>
            </a:r>
            <a:endParaRPr lang="en-US" sz="1200" dirty="0"/>
          </a:p>
        </p:txBody>
      </p:sp>
      <p:sp>
        <p:nvSpPr>
          <p:cNvPr id="13" name="Text 9"/>
          <p:cNvSpPr txBox="1"/>
          <p:nvPr/>
        </p:nvSpPr>
        <p:spPr>
          <a:xfrm>
            <a:off x="822960" y="2487168"/>
            <a:ext cx="6400800" cy="3218688"/>
          </a:xfrm>
          <a:prstGeom prst="rect">
            <a:avLst/>
          </a:prstGeom>
          <a:noFill/>
          <a:ln/>
        </p:spPr>
        <p:txBody>
          <a:bodyPr wrap="square" lIns="0" tIns="0" rIns="0" bIns="0" rtlCol="0" anchor="ctr"/>
          <a:lstStyle/>
          <a:p>
            <a:pPr indent="0" marL="0">
              <a:lnSpc>
                <a:spcPct val="150000"/>
              </a:lnSpc>
              <a:buNone/>
            </a:pPr>
            <a:r>
              <a:rPr lang="en-US" sz="1750" dirty="0">
                <a:solidFill>
                  <a:srgbClr val="12211B"/>
                </a:solidFill>
                <a:latin typeface="Calibri" pitchFamily="34" charset="0"/>
                <a:ea typeface="Calibri" pitchFamily="34" charset="-122"/>
                <a:cs typeface="Calibri" pitchFamily="34" charset="-120"/>
              </a:rPr>
              <a:t>I wake up at ______.</a:t>
            </a:r>
            <a:endParaRPr lang="en-US" sz="1750" dirty="0"/>
          </a:p>
          <a:p>
            <a:pPr indent="0" marL="0">
              <a:lnSpc>
                <a:spcPct val="150000"/>
              </a:lnSpc>
              <a:buNone/>
            </a:pPr>
            <a:r>
              <a:rPr lang="en-US" sz="1750" dirty="0">
                <a:solidFill>
                  <a:srgbClr val="12211B"/>
                </a:solidFill>
                <a:latin typeface="Calibri" pitchFamily="34" charset="0"/>
                <a:ea typeface="Calibri" pitchFamily="34" charset="-122"/>
                <a:cs typeface="Calibri" pitchFamily="34" charset="-120"/>
              </a:rPr>
              <a:t>I have breakfast at ______.</a:t>
            </a:r>
            <a:endParaRPr lang="en-US" sz="1750" dirty="0"/>
          </a:p>
          <a:p>
            <a:pPr indent="0" marL="0">
              <a:lnSpc>
                <a:spcPct val="150000"/>
              </a:lnSpc>
              <a:buNone/>
            </a:pPr>
            <a:r>
              <a:rPr lang="en-US" sz="1750" dirty="0">
                <a:solidFill>
                  <a:srgbClr val="12211B"/>
                </a:solidFill>
                <a:latin typeface="Calibri" pitchFamily="34" charset="0"/>
                <a:ea typeface="Calibri" pitchFamily="34" charset="-122"/>
                <a:cs typeface="Calibri" pitchFamily="34" charset="-120"/>
              </a:rPr>
              <a:t>I go to ______ at ______.</a:t>
            </a:r>
            <a:endParaRPr lang="en-US" sz="1750" dirty="0"/>
          </a:p>
          <a:p>
            <a:pPr indent="0" marL="0">
              <a:lnSpc>
                <a:spcPct val="150000"/>
              </a:lnSpc>
              <a:buNone/>
            </a:pPr>
            <a:r>
              <a:rPr lang="en-US" sz="1750" dirty="0">
                <a:solidFill>
                  <a:srgbClr val="12211B"/>
                </a:solidFill>
                <a:latin typeface="Calibri" pitchFamily="34" charset="0"/>
                <a:ea typeface="Calibri" pitchFamily="34" charset="-122"/>
                <a:cs typeface="Calibri" pitchFamily="34" charset="-120"/>
              </a:rPr>
              <a:t>I usually ______ in the morning.</a:t>
            </a:r>
            <a:endParaRPr lang="en-US" sz="1750" dirty="0"/>
          </a:p>
          <a:p>
            <a:pPr indent="0" marL="0">
              <a:lnSpc>
                <a:spcPct val="150000"/>
              </a:lnSpc>
              <a:buNone/>
            </a:pPr>
            <a:r>
              <a:rPr lang="en-US" sz="1750" dirty="0">
                <a:solidFill>
                  <a:srgbClr val="12211B"/>
                </a:solidFill>
                <a:latin typeface="Calibri" pitchFamily="34" charset="0"/>
                <a:ea typeface="Calibri" pitchFamily="34" charset="-122"/>
                <a:cs typeface="Calibri" pitchFamily="34" charset="-120"/>
              </a:rPr>
              <a:t>I finish at ______.</a:t>
            </a:r>
            <a:endParaRPr lang="en-US" sz="1750" dirty="0"/>
          </a:p>
          <a:p>
            <a:pPr indent="0" marL="0">
              <a:lnSpc>
                <a:spcPct val="150000"/>
              </a:lnSpc>
              <a:buNone/>
            </a:pPr>
            <a:r>
              <a:rPr lang="en-US" sz="1750" dirty="0">
                <a:solidFill>
                  <a:srgbClr val="12211B"/>
                </a:solidFill>
                <a:latin typeface="Calibri" pitchFamily="34" charset="0"/>
                <a:ea typeface="Calibri" pitchFamily="34" charset="-122"/>
                <a:cs typeface="Calibri" pitchFamily="34" charset="-120"/>
              </a:rPr>
              <a:t>In the evening I ______.</a:t>
            </a:r>
            <a:endParaRPr lang="en-US" sz="1750" dirty="0"/>
          </a:p>
          <a:p>
            <a:pPr indent="0" marL="0">
              <a:lnSpc>
                <a:spcPct val="150000"/>
              </a:lnSpc>
              <a:buNone/>
            </a:pPr>
            <a:r>
              <a:rPr lang="en-US" sz="1750" dirty="0">
                <a:solidFill>
                  <a:srgbClr val="12211B"/>
                </a:solidFill>
                <a:latin typeface="Calibri" pitchFamily="34" charset="0"/>
                <a:ea typeface="Calibri" pitchFamily="34" charset="-122"/>
                <a:cs typeface="Calibri" pitchFamily="34" charset="-120"/>
              </a:rPr>
              <a:t>I never ______.</a:t>
            </a:r>
            <a:endParaRPr lang="en-US" sz="1750" dirty="0"/>
          </a:p>
          <a:p>
            <a:pPr indent="0" marL="0">
              <a:lnSpc>
                <a:spcPct val="150000"/>
              </a:lnSpc>
              <a:buNone/>
            </a:pPr>
            <a:r>
              <a:rPr lang="en-US" sz="1750" dirty="0">
                <a:solidFill>
                  <a:srgbClr val="12211B"/>
                </a:solidFill>
                <a:latin typeface="Calibri" pitchFamily="34" charset="0"/>
                <a:ea typeface="Calibri" pitchFamily="34" charset="-122"/>
                <a:cs typeface="Calibri" pitchFamily="34" charset="-120"/>
              </a:rPr>
              <a:t>On Sunday I ______.</a:t>
            </a:r>
            <a:endParaRPr lang="en-US" sz="1750" dirty="0"/>
          </a:p>
        </p:txBody>
      </p:sp>
      <p:sp>
        <p:nvSpPr>
          <p:cNvPr id="14" name="Shape 10"/>
          <p:cNvSpPr/>
          <p:nvPr/>
        </p:nvSpPr>
        <p:spPr>
          <a:xfrm>
            <a:off x="7772400" y="1883664"/>
            <a:ext cx="3870655" cy="4059936"/>
          </a:xfrm>
          <a:prstGeom prst="roundRect">
            <a:avLst>
              <a:gd name="adj" fmla="val 3307"/>
            </a:avLst>
          </a:prstGeom>
          <a:solidFill>
            <a:srgbClr val="F6F9F7"/>
          </a:solidFill>
          <a:ln w="12700">
            <a:solidFill>
              <a:srgbClr val="E3E9E5"/>
            </a:solidFill>
            <a:prstDash val="solid"/>
          </a:ln>
        </p:spPr>
      </p:sp>
      <p:sp>
        <p:nvSpPr>
          <p:cNvPr id="15" name="Text 11"/>
          <p:cNvSpPr txBox="1"/>
          <p:nvPr/>
        </p:nvSpPr>
        <p:spPr>
          <a:xfrm>
            <a:off x="8010144" y="2103120"/>
            <a:ext cx="3395167" cy="274320"/>
          </a:xfrm>
          <a:prstGeom prst="rect">
            <a:avLst/>
          </a:prstGeom>
          <a:noFill/>
          <a:ln/>
        </p:spPr>
        <p:txBody>
          <a:bodyPr wrap="square" lIns="0" tIns="0" rIns="0" bIns="0" rtlCol="0" anchor="ctr"/>
          <a:lstStyle/>
          <a:p>
            <a:pPr indent="0" marL="0">
              <a:buNone/>
            </a:pPr>
            <a:r>
              <a:rPr lang="en-US" sz="1200" b="1" spc="120" kern="0" dirty="0">
                <a:solidFill>
                  <a:srgbClr val="7A4FBF"/>
                </a:solidFill>
                <a:latin typeface="Calibri" pitchFamily="34" charset="0"/>
                <a:ea typeface="Calibri" pitchFamily="34" charset="-122"/>
                <a:cs typeface="Calibri" pitchFamily="34" charset="-120"/>
              </a:rPr>
              <a:t>BEFORE YOU WRITE, CHECK</a:t>
            </a:r>
            <a:endParaRPr lang="en-US" sz="1200" dirty="0"/>
          </a:p>
        </p:txBody>
      </p:sp>
      <p:sp>
        <p:nvSpPr>
          <p:cNvPr id="16" name="Text 12"/>
          <p:cNvSpPr/>
          <p:nvPr/>
        </p:nvSpPr>
        <p:spPr>
          <a:xfrm>
            <a:off x="8046720" y="2505456"/>
            <a:ext cx="3322015" cy="3200400"/>
          </a:xfrm>
          <a:prstGeom prst="rect">
            <a:avLst/>
          </a:prstGeom>
          <a:noFill/>
          <a:ln/>
        </p:spPr>
        <p:txBody>
          <a:bodyPr wrap="square" lIns="0" tIns="0" rIns="0" bIns="0" rtlCol="0" anchor="t"/>
          <a:lstStyle/>
          <a:p>
            <a:pPr marL="228600" indent="-228600">
              <a:lnSpc>
                <a:spcPct val="100000"/>
              </a:lnSpc>
              <a:spcAft>
                <a:spcPts val="872"/>
              </a:spcAft>
              <a:buSzPct val="100000"/>
              <a:buChar char="•"/>
            </a:pPr>
            <a:r>
              <a:rPr lang="en-US" sz="1550" dirty="0">
                <a:solidFill>
                  <a:srgbClr val="3A473F"/>
                </a:solidFill>
                <a:latin typeface="Calibri" pitchFamily="34" charset="0"/>
                <a:ea typeface="Calibri" pitchFamily="34" charset="-122"/>
                <a:cs typeface="Calibri" pitchFamily="34" charset="-120"/>
              </a:rPr>
              <a:t>Is there a capital letter and a full stop in every sentence?</a:t>
            </a:r>
            <a:endParaRPr lang="en-US" sz="1550" dirty="0"/>
          </a:p>
          <a:p>
            <a:pPr marL="228600" indent="-228600">
              <a:lnSpc>
                <a:spcPct val="100000"/>
              </a:lnSpc>
              <a:spcAft>
                <a:spcPts val="872"/>
              </a:spcAft>
              <a:buSzPct val="100000"/>
              <a:buChar char="•"/>
            </a:pPr>
            <a:r>
              <a:rPr lang="en-US" sz="1550" dirty="0">
                <a:solidFill>
                  <a:srgbClr val="3A473F"/>
                </a:solidFill>
                <a:latin typeface="Calibri" pitchFamily="34" charset="0"/>
                <a:ea typeface="Calibri" pitchFamily="34" charset="-122"/>
                <a:cs typeface="Calibri" pitchFamily="34" charset="-120"/>
              </a:rPr>
              <a:t>Are the times correct — at, on, in?</a:t>
            </a:r>
            <a:endParaRPr lang="en-US" sz="1550" dirty="0"/>
          </a:p>
          <a:p>
            <a:pPr marL="228600" indent="-228600">
              <a:lnSpc>
                <a:spcPct val="100000"/>
              </a:lnSpc>
              <a:spcAft>
                <a:spcPts val="872"/>
              </a:spcAft>
              <a:buSzPct val="100000"/>
              <a:buChar char="•"/>
            </a:pPr>
            <a:r>
              <a:rPr lang="en-US" sz="1550" dirty="0">
                <a:solidFill>
                  <a:srgbClr val="3A473F"/>
                </a:solidFill>
                <a:latin typeface="Calibri" pitchFamily="34" charset="0"/>
                <a:ea typeface="Calibri" pitchFamily="34" charset="-122"/>
                <a:cs typeface="Calibri" pitchFamily="34" charset="-120"/>
              </a:rPr>
              <a:t>Are the frequency words BEFORE the verb?</a:t>
            </a:r>
            <a:endParaRPr lang="en-US" sz="1550" dirty="0"/>
          </a:p>
          <a:p>
            <a:pPr marL="228600" indent="-228600">
              <a:lnSpc>
                <a:spcPct val="100000"/>
              </a:lnSpc>
              <a:spcAft>
                <a:spcPts val="872"/>
              </a:spcAft>
              <a:buSzPct val="100000"/>
              <a:buChar char="•"/>
            </a:pPr>
            <a:r>
              <a:rPr lang="en-US" sz="1550" dirty="0">
                <a:solidFill>
                  <a:srgbClr val="3A473F"/>
                </a:solidFill>
                <a:latin typeface="Calibri" pitchFamily="34" charset="0"/>
                <a:ea typeface="Calibri" pitchFamily="34" charset="-122"/>
                <a:cs typeface="Calibri" pitchFamily="34" charset="-120"/>
              </a:rPr>
              <a:t>Did you use “I”, so there is no -s anywhere?</a:t>
            </a:r>
            <a:endParaRPr lang="en-US" sz="1550" dirty="0"/>
          </a:p>
          <a:p>
            <a:pPr marL="228600" indent="-228600">
              <a:lnSpc>
                <a:spcPct val="100000"/>
              </a:lnSpc>
              <a:spcAft>
                <a:spcPts val="872"/>
              </a:spcAft>
              <a:buSzPct val="100000"/>
              <a:buChar char="•"/>
            </a:pPr>
            <a:r>
              <a:rPr lang="en-US" sz="1550" dirty="0">
                <a:solidFill>
                  <a:srgbClr val="3A473F"/>
                </a:solidFill>
                <a:latin typeface="Calibri" pitchFamily="34" charset="0"/>
                <a:ea typeface="Calibri" pitchFamily="34" charset="-122"/>
                <a:cs typeface="Calibri" pitchFamily="34" charset="-120"/>
              </a:rPr>
              <a:t>Now write it again about a family member — every verb needs -s.</a:t>
            </a:r>
            <a:endParaRPr lang="en-US" sz="15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7A4FBF"/>
          </a:solidFill>
          <a:ln/>
        </p:spPr>
      </p:sp>
      <p:sp>
        <p:nvSpPr>
          <p:cNvPr id="3" name="Shape 1"/>
          <p:cNvSpPr/>
          <p:nvPr/>
        </p:nvSpPr>
        <p:spPr>
          <a:xfrm>
            <a:off x="649224" y="539496"/>
            <a:ext cx="219456" cy="219456"/>
          </a:xfrm>
          <a:prstGeom prst="ellipse">
            <a:avLst/>
          </a:prstGeom>
          <a:solidFill>
            <a:srgbClr val="7A4FBF"/>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WRITING 3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Writing 3 — negatives and questions</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1 — Present Simple &amp; Daily Routine</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48</a:t>
            </a:r>
            <a:endParaRPr lang="en-US" sz="1100" dirty="0"/>
          </a:p>
        </p:txBody>
      </p:sp>
      <p:sp>
        <p:nvSpPr>
          <p:cNvPr id="10" name="Shape 6"/>
          <p:cNvSpPr/>
          <p:nvPr/>
        </p:nvSpPr>
        <p:spPr>
          <a:xfrm>
            <a:off x="548640" y="1700784"/>
            <a:ext cx="11094415" cy="566928"/>
          </a:xfrm>
          <a:prstGeom prst="roundRect">
            <a:avLst>
              <a:gd name="adj" fmla="val 22581"/>
            </a:avLst>
          </a:prstGeom>
          <a:solidFill>
            <a:srgbClr val="F2ECFA"/>
          </a:solidFill>
          <a:ln w="12700">
            <a:solidFill>
              <a:srgbClr val="7A4FBF"/>
            </a:solidFill>
            <a:prstDash val="solid"/>
          </a:ln>
        </p:spPr>
      </p:sp>
      <p:sp>
        <p:nvSpPr>
          <p:cNvPr id="11" name="Shape 7"/>
          <p:cNvSpPr/>
          <p:nvPr/>
        </p:nvSpPr>
        <p:spPr>
          <a:xfrm>
            <a:off x="749808" y="1810512"/>
            <a:ext cx="347472" cy="347472"/>
          </a:xfrm>
          <a:prstGeom prst="ellipse">
            <a:avLst/>
          </a:prstGeom>
          <a:solidFill>
            <a:srgbClr val="7A4FBF"/>
          </a:solidFill>
          <a:ln/>
        </p:spPr>
      </p:sp>
      <p:pic>
        <p:nvPicPr>
          <p:cNvPr id="12" name="Image 1" descr="preencoded.png">    </p:cNvPr>
          <p:cNvPicPr>
            <a:picLocks noChangeAspect="1"/>
          </p:cNvPicPr>
          <p:nvPr/>
        </p:nvPicPr>
        <p:blipFill>
          <a:blip r:embed="rId2"/>
          <a:stretch>
            <a:fillRect/>
          </a:stretch>
        </p:blipFill>
        <p:spPr>
          <a:xfrm>
            <a:off x="836676" y="1897380"/>
            <a:ext cx="173736" cy="173736"/>
          </a:xfrm>
          <a:prstGeom prst="rect">
            <a:avLst/>
          </a:prstGeom>
        </p:spPr>
      </p:pic>
      <p:sp>
        <p:nvSpPr>
          <p:cNvPr id="13" name="Text 8"/>
          <p:cNvSpPr txBox="1"/>
          <p:nvPr/>
        </p:nvSpPr>
        <p:spPr>
          <a:xfrm>
            <a:off x="1207008" y="170078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Write the full new sentence each time.</a:t>
            </a:r>
            <a:endParaRPr lang="en-US" sz="1700" dirty="0"/>
          </a:p>
        </p:txBody>
      </p:sp>
      <p:sp>
        <p:nvSpPr>
          <p:cNvPr id="14" name="Shape 9"/>
          <p:cNvSpPr/>
          <p:nvPr/>
        </p:nvSpPr>
        <p:spPr>
          <a:xfrm>
            <a:off x="548640" y="2414016"/>
            <a:ext cx="11094415" cy="610819"/>
          </a:xfrm>
          <a:prstGeom prst="roundRect">
            <a:avLst>
              <a:gd name="adj" fmla="val 20958"/>
            </a:avLst>
          </a:prstGeom>
          <a:solidFill>
            <a:srgbClr val="F6F9F7"/>
          </a:solidFill>
          <a:ln w="12700">
            <a:solidFill>
              <a:srgbClr val="E3E9E5"/>
            </a:solidFill>
            <a:prstDash val="solid"/>
          </a:ln>
        </p:spPr>
      </p:sp>
      <p:sp>
        <p:nvSpPr>
          <p:cNvPr id="15" name="Shape 10"/>
          <p:cNvSpPr/>
          <p:nvPr/>
        </p:nvSpPr>
        <p:spPr>
          <a:xfrm>
            <a:off x="749808" y="2518258"/>
            <a:ext cx="402336" cy="402336"/>
          </a:xfrm>
          <a:prstGeom prst="ellipse">
            <a:avLst/>
          </a:prstGeom>
          <a:solidFill>
            <a:srgbClr val="7A4FBF"/>
          </a:solidFill>
          <a:ln/>
        </p:spPr>
      </p:sp>
      <p:sp>
        <p:nvSpPr>
          <p:cNvPr id="16" name="Text 11"/>
          <p:cNvSpPr txBox="1"/>
          <p:nvPr/>
        </p:nvSpPr>
        <p:spPr>
          <a:xfrm>
            <a:off x="749808" y="251825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7" name="Text 12"/>
          <p:cNvSpPr/>
          <p:nvPr/>
        </p:nvSpPr>
        <p:spPr>
          <a:xfrm>
            <a:off x="1353312" y="2468880"/>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1.  Make it negative:  “She likes coffee.”</a:t>
            </a:r>
            <a:endParaRPr lang="en-US" sz="2000" dirty="0"/>
          </a:p>
        </p:txBody>
      </p:sp>
      <p:sp>
        <p:nvSpPr>
          <p:cNvPr id="18" name="Shape 13"/>
          <p:cNvSpPr/>
          <p:nvPr/>
        </p:nvSpPr>
        <p:spPr>
          <a:xfrm>
            <a:off x="548640" y="3143707"/>
            <a:ext cx="11094415" cy="610819"/>
          </a:xfrm>
          <a:prstGeom prst="roundRect">
            <a:avLst>
              <a:gd name="adj" fmla="val 20958"/>
            </a:avLst>
          </a:prstGeom>
          <a:solidFill>
            <a:srgbClr val="F6F9F7"/>
          </a:solidFill>
          <a:ln w="12700">
            <a:solidFill>
              <a:srgbClr val="E3E9E5"/>
            </a:solidFill>
            <a:prstDash val="solid"/>
          </a:ln>
        </p:spPr>
      </p:sp>
      <p:sp>
        <p:nvSpPr>
          <p:cNvPr id="19" name="Shape 14"/>
          <p:cNvSpPr/>
          <p:nvPr/>
        </p:nvSpPr>
        <p:spPr>
          <a:xfrm>
            <a:off x="749808" y="3247949"/>
            <a:ext cx="402336" cy="402336"/>
          </a:xfrm>
          <a:prstGeom prst="ellipse">
            <a:avLst/>
          </a:prstGeom>
          <a:solidFill>
            <a:srgbClr val="7A4FBF"/>
          </a:solidFill>
          <a:ln/>
        </p:spPr>
      </p:sp>
      <p:sp>
        <p:nvSpPr>
          <p:cNvPr id="20" name="Text 15"/>
          <p:cNvSpPr txBox="1"/>
          <p:nvPr/>
        </p:nvSpPr>
        <p:spPr>
          <a:xfrm>
            <a:off x="749808" y="324794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1" name="Text 16"/>
          <p:cNvSpPr/>
          <p:nvPr/>
        </p:nvSpPr>
        <p:spPr>
          <a:xfrm>
            <a:off x="1353312" y="3198571"/>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2.  Make it negative:  “They work on Saturday.”</a:t>
            </a:r>
            <a:endParaRPr lang="en-US" sz="2000" dirty="0"/>
          </a:p>
        </p:txBody>
      </p:sp>
      <p:sp>
        <p:nvSpPr>
          <p:cNvPr id="22" name="Shape 17"/>
          <p:cNvSpPr/>
          <p:nvPr/>
        </p:nvSpPr>
        <p:spPr>
          <a:xfrm>
            <a:off x="548640" y="3873398"/>
            <a:ext cx="11094415" cy="610819"/>
          </a:xfrm>
          <a:prstGeom prst="roundRect">
            <a:avLst>
              <a:gd name="adj" fmla="val 20958"/>
            </a:avLst>
          </a:prstGeom>
          <a:solidFill>
            <a:srgbClr val="F6F9F7"/>
          </a:solidFill>
          <a:ln w="12700">
            <a:solidFill>
              <a:srgbClr val="E3E9E5"/>
            </a:solidFill>
            <a:prstDash val="solid"/>
          </a:ln>
        </p:spPr>
      </p:sp>
      <p:sp>
        <p:nvSpPr>
          <p:cNvPr id="23" name="Shape 18"/>
          <p:cNvSpPr/>
          <p:nvPr/>
        </p:nvSpPr>
        <p:spPr>
          <a:xfrm>
            <a:off x="749808" y="3977640"/>
            <a:ext cx="402336" cy="402336"/>
          </a:xfrm>
          <a:prstGeom prst="ellipse">
            <a:avLst/>
          </a:prstGeom>
          <a:solidFill>
            <a:srgbClr val="7A4FBF"/>
          </a:solidFill>
          <a:ln/>
        </p:spPr>
      </p:sp>
      <p:sp>
        <p:nvSpPr>
          <p:cNvPr id="24" name="Text 19"/>
          <p:cNvSpPr txBox="1"/>
          <p:nvPr/>
        </p:nvSpPr>
        <p:spPr>
          <a:xfrm>
            <a:off x="749808" y="39776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5" name="Text 20"/>
          <p:cNvSpPr/>
          <p:nvPr/>
        </p:nvSpPr>
        <p:spPr>
          <a:xfrm>
            <a:off x="1353312" y="3928262"/>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3.  Make it a question:  “He lives in Adama.”</a:t>
            </a:r>
            <a:endParaRPr lang="en-US" sz="2000" dirty="0"/>
          </a:p>
        </p:txBody>
      </p:sp>
      <p:sp>
        <p:nvSpPr>
          <p:cNvPr id="26" name="Shape 21"/>
          <p:cNvSpPr/>
          <p:nvPr/>
        </p:nvSpPr>
        <p:spPr>
          <a:xfrm>
            <a:off x="548640" y="4603090"/>
            <a:ext cx="11094415" cy="610819"/>
          </a:xfrm>
          <a:prstGeom prst="roundRect">
            <a:avLst>
              <a:gd name="adj" fmla="val 20958"/>
            </a:avLst>
          </a:prstGeom>
          <a:solidFill>
            <a:srgbClr val="F6F9F7"/>
          </a:solidFill>
          <a:ln w="12700">
            <a:solidFill>
              <a:srgbClr val="E3E9E5"/>
            </a:solidFill>
            <a:prstDash val="solid"/>
          </a:ln>
        </p:spPr>
      </p:sp>
      <p:sp>
        <p:nvSpPr>
          <p:cNvPr id="27" name="Shape 22"/>
          <p:cNvSpPr/>
          <p:nvPr/>
        </p:nvSpPr>
        <p:spPr>
          <a:xfrm>
            <a:off x="749808" y="4707331"/>
            <a:ext cx="402336" cy="402336"/>
          </a:xfrm>
          <a:prstGeom prst="ellipse">
            <a:avLst/>
          </a:prstGeom>
          <a:solidFill>
            <a:srgbClr val="7A4FBF"/>
          </a:solidFill>
          <a:ln/>
        </p:spPr>
      </p:sp>
      <p:sp>
        <p:nvSpPr>
          <p:cNvPr id="28" name="Text 23"/>
          <p:cNvSpPr txBox="1"/>
          <p:nvPr/>
        </p:nvSpPr>
        <p:spPr>
          <a:xfrm>
            <a:off x="749808" y="470733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9" name="Text 24"/>
          <p:cNvSpPr/>
          <p:nvPr/>
        </p:nvSpPr>
        <p:spPr>
          <a:xfrm>
            <a:off x="1353312" y="4657954"/>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4.  Make it a question:  “You study every day.”</a:t>
            </a:r>
            <a:endParaRPr lang="en-US" sz="2000" dirty="0"/>
          </a:p>
        </p:txBody>
      </p:sp>
      <p:sp>
        <p:nvSpPr>
          <p:cNvPr id="30" name="Shape 25"/>
          <p:cNvSpPr/>
          <p:nvPr/>
        </p:nvSpPr>
        <p:spPr>
          <a:xfrm>
            <a:off x="548640" y="5332781"/>
            <a:ext cx="11094415" cy="610819"/>
          </a:xfrm>
          <a:prstGeom prst="roundRect">
            <a:avLst>
              <a:gd name="adj" fmla="val 20958"/>
            </a:avLst>
          </a:prstGeom>
          <a:solidFill>
            <a:srgbClr val="F6F9F7"/>
          </a:solidFill>
          <a:ln w="12700">
            <a:solidFill>
              <a:srgbClr val="E3E9E5"/>
            </a:solidFill>
            <a:prstDash val="solid"/>
          </a:ln>
        </p:spPr>
      </p:sp>
      <p:sp>
        <p:nvSpPr>
          <p:cNvPr id="31" name="Shape 26"/>
          <p:cNvSpPr/>
          <p:nvPr/>
        </p:nvSpPr>
        <p:spPr>
          <a:xfrm>
            <a:off x="749808" y="5437022"/>
            <a:ext cx="402336" cy="402336"/>
          </a:xfrm>
          <a:prstGeom prst="ellipse">
            <a:avLst/>
          </a:prstGeom>
          <a:solidFill>
            <a:srgbClr val="7A4FBF"/>
          </a:solidFill>
          <a:ln/>
        </p:spPr>
      </p:sp>
      <p:sp>
        <p:nvSpPr>
          <p:cNvPr id="32" name="Text 27"/>
          <p:cNvSpPr txBox="1"/>
          <p:nvPr/>
        </p:nvSpPr>
        <p:spPr>
          <a:xfrm>
            <a:off x="749808" y="543702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3" name="Text 28"/>
          <p:cNvSpPr/>
          <p:nvPr/>
        </p:nvSpPr>
        <p:spPr>
          <a:xfrm>
            <a:off x="1353312" y="5387645"/>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5.  Ask about the time:  “The shop opens at eight.”</a:t>
            </a:r>
            <a:endParaRPr lang="en-US" sz="20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7A4FBF"/>
          </a:solidFill>
          <a:ln/>
        </p:spPr>
      </p:sp>
      <p:sp>
        <p:nvSpPr>
          <p:cNvPr id="3" name="Shape 1"/>
          <p:cNvSpPr/>
          <p:nvPr/>
        </p:nvSpPr>
        <p:spPr>
          <a:xfrm>
            <a:off x="649224" y="539496"/>
            <a:ext cx="219456" cy="219456"/>
          </a:xfrm>
          <a:prstGeom prst="ellipse">
            <a:avLst/>
          </a:prstGeom>
          <a:solidFill>
            <a:srgbClr val="7A4FBF"/>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WRITING 4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Writing 3 — answers and why</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1 — Present Simple &amp; Daily Routine</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49</a:t>
            </a:r>
            <a:endParaRPr lang="en-US" sz="1100" dirty="0"/>
          </a:p>
        </p:txBody>
      </p:sp>
      <p:sp>
        <p:nvSpPr>
          <p:cNvPr id="10" name="Shape 6"/>
          <p:cNvSpPr/>
          <p:nvPr/>
        </p:nvSpPr>
        <p:spPr>
          <a:xfrm>
            <a:off x="548640" y="1700784"/>
            <a:ext cx="11094415" cy="753466"/>
          </a:xfrm>
          <a:prstGeom prst="roundRect">
            <a:avLst>
              <a:gd name="adj" fmla="val 16990"/>
            </a:avLst>
          </a:prstGeom>
          <a:solidFill>
            <a:srgbClr val="E6F5EC"/>
          </a:solidFill>
          <a:ln w="12700">
            <a:solidFill>
              <a:srgbClr val="2E9E5B"/>
            </a:solidFill>
            <a:prstDash val="solid"/>
          </a:ln>
        </p:spPr>
      </p:sp>
      <p:sp>
        <p:nvSpPr>
          <p:cNvPr id="11" name="Shape 7"/>
          <p:cNvSpPr/>
          <p:nvPr/>
        </p:nvSpPr>
        <p:spPr>
          <a:xfrm>
            <a:off x="731520" y="1885493"/>
            <a:ext cx="384048" cy="384048"/>
          </a:xfrm>
          <a:prstGeom prst="ellipse">
            <a:avLst/>
          </a:prstGeom>
          <a:solidFill>
            <a:srgbClr val="2E9E5B"/>
          </a:solidFill>
          <a:ln/>
        </p:spPr>
      </p:sp>
      <p:sp>
        <p:nvSpPr>
          <p:cNvPr id="12" name="Text 8"/>
          <p:cNvSpPr txBox="1"/>
          <p:nvPr/>
        </p:nvSpPr>
        <p:spPr>
          <a:xfrm>
            <a:off x="731520" y="1885493"/>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9"/>
          <p:cNvSpPr/>
          <p:nvPr/>
        </p:nvSpPr>
        <p:spPr>
          <a:xfrm>
            <a:off x="1316736" y="1755648"/>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1 — negative of “She likes coffee.”</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She does not like coffee.</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The -s moves from “likes” to “does”. It appears exactly once in the sentence.</a:t>
            </a:r>
            <a:endParaRPr lang="en-US" sz="1100" dirty="0"/>
          </a:p>
        </p:txBody>
      </p:sp>
      <p:sp>
        <p:nvSpPr>
          <p:cNvPr id="14" name="Shape 10"/>
          <p:cNvSpPr/>
          <p:nvPr/>
        </p:nvSpPr>
        <p:spPr>
          <a:xfrm>
            <a:off x="548640" y="2573122"/>
            <a:ext cx="11094415" cy="753466"/>
          </a:xfrm>
          <a:prstGeom prst="roundRect">
            <a:avLst>
              <a:gd name="adj" fmla="val 16990"/>
            </a:avLst>
          </a:prstGeom>
          <a:solidFill>
            <a:srgbClr val="E6F5EC"/>
          </a:solidFill>
          <a:ln w="12700">
            <a:solidFill>
              <a:srgbClr val="2E9E5B"/>
            </a:solidFill>
            <a:prstDash val="solid"/>
          </a:ln>
        </p:spPr>
      </p:sp>
      <p:sp>
        <p:nvSpPr>
          <p:cNvPr id="15" name="Shape 11"/>
          <p:cNvSpPr/>
          <p:nvPr/>
        </p:nvSpPr>
        <p:spPr>
          <a:xfrm>
            <a:off x="731520" y="2757830"/>
            <a:ext cx="384048" cy="384048"/>
          </a:xfrm>
          <a:prstGeom prst="ellipse">
            <a:avLst/>
          </a:prstGeom>
          <a:solidFill>
            <a:srgbClr val="2E9E5B"/>
          </a:solidFill>
          <a:ln/>
        </p:spPr>
      </p:sp>
      <p:sp>
        <p:nvSpPr>
          <p:cNvPr id="16" name="Text 12"/>
          <p:cNvSpPr txBox="1"/>
          <p:nvPr/>
        </p:nvSpPr>
        <p:spPr>
          <a:xfrm>
            <a:off x="731520" y="275783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3"/>
          <p:cNvSpPr/>
          <p:nvPr/>
        </p:nvSpPr>
        <p:spPr>
          <a:xfrm>
            <a:off x="1316736" y="2627986"/>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2 — negative of “They work on Saturday.”</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They do not work on Saturday.</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“They” takes “do not”. There was no -s to move, so nothing else changes.</a:t>
            </a:r>
            <a:endParaRPr lang="en-US" sz="1100" dirty="0"/>
          </a:p>
        </p:txBody>
      </p:sp>
      <p:sp>
        <p:nvSpPr>
          <p:cNvPr id="18" name="Shape 14"/>
          <p:cNvSpPr/>
          <p:nvPr/>
        </p:nvSpPr>
        <p:spPr>
          <a:xfrm>
            <a:off x="548640" y="3445459"/>
            <a:ext cx="11094415" cy="753466"/>
          </a:xfrm>
          <a:prstGeom prst="roundRect">
            <a:avLst>
              <a:gd name="adj" fmla="val 16990"/>
            </a:avLst>
          </a:prstGeom>
          <a:solidFill>
            <a:srgbClr val="E6F5EC"/>
          </a:solidFill>
          <a:ln w="12700">
            <a:solidFill>
              <a:srgbClr val="2E9E5B"/>
            </a:solidFill>
            <a:prstDash val="solid"/>
          </a:ln>
        </p:spPr>
      </p:sp>
      <p:sp>
        <p:nvSpPr>
          <p:cNvPr id="19" name="Shape 15"/>
          <p:cNvSpPr/>
          <p:nvPr/>
        </p:nvSpPr>
        <p:spPr>
          <a:xfrm>
            <a:off x="731520" y="3630168"/>
            <a:ext cx="384048" cy="384048"/>
          </a:xfrm>
          <a:prstGeom prst="ellipse">
            <a:avLst/>
          </a:prstGeom>
          <a:solidFill>
            <a:srgbClr val="2E9E5B"/>
          </a:solidFill>
          <a:ln/>
        </p:spPr>
      </p:sp>
      <p:sp>
        <p:nvSpPr>
          <p:cNvPr id="20" name="Text 16"/>
          <p:cNvSpPr txBox="1"/>
          <p:nvPr/>
        </p:nvSpPr>
        <p:spPr>
          <a:xfrm>
            <a:off x="731520" y="363016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7"/>
          <p:cNvSpPr/>
          <p:nvPr/>
        </p:nvSpPr>
        <p:spPr>
          <a:xfrm>
            <a:off x="1316736" y="3500323"/>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3 — question from “He lives in Adama.”</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Does he live in Adama?</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“Does” goes first and takes the -s, so “lives” returns to “live”.</a:t>
            </a:r>
            <a:endParaRPr lang="en-US" sz="1100" dirty="0"/>
          </a:p>
        </p:txBody>
      </p:sp>
      <p:sp>
        <p:nvSpPr>
          <p:cNvPr id="22" name="Shape 18"/>
          <p:cNvSpPr/>
          <p:nvPr/>
        </p:nvSpPr>
        <p:spPr>
          <a:xfrm>
            <a:off x="548640" y="4317797"/>
            <a:ext cx="11094415" cy="753466"/>
          </a:xfrm>
          <a:prstGeom prst="roundRect">
            <a:avLst>
              <a:gd name="adj" fmla="val 16990"/>
            </a:avLst>
          </a:prstGeom>
          <a:solidFill>
            <a:srgbClr val="E6F5EC"/>
          </a:solidFill>
          <a:ln w="12700">
            <a:solidFill>
              <a:srgbClr val="2E9E5B"/>
            </a:solidFill>
            <a:prstDash val="solid"/>
          </a:ln>
        </p:spPr>
      </p:sp>
      <p:sp>
        <p:nvSpPr>
          <p:cNvPr id="23" name="Shape 19"/>
          <p:cNvSpPr/>
          <p:nvPr/>
        </p:nvSpPr>
        <p:spPr>
          <a:xfrm>
            <a:off x="731520" y="4502506"/>
            <a:ext cx="384048" cy="384048"/>
          </a:xfrm>
          <a:prstGeom prst="ellipse">
            <a:avLst/>
          </a:prstGeom>
          <a:solidFill>
            <a:srgbClr val="2E9E5B"/>
          </a:solidFill>
          <a:ln/>
        </p:spPr>
      </p:sp>
      <p:sp>
        <p:nvSpPr>
          <p:cNvPr id="24" name="Text 20"/>
          <p:cNvSpPr txBox="1"/>
          <p:nvPr/>
        </p:nvSpPr>
        <p:spPr>
          <a:xfrm>
            <a:off x="731520" y="450250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1"/>
          <p:cNvSpPr/>
          <p:nvPr/>
        </p:nvSpPr>
        <p:spPr>
          <a:xfrm>
            <a:off x="1316736" y="4372661"/>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4 — question from “You study every day.”</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Do you study every day?</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“You” takes “do”. The main verb is unchanged and the full stop becomes a question mark.</a:t>
            </a:r>
            <a:endParaRPr lang="en-US" sz="1100" dirty="0"/>
          </a:p>
        </p:txBody>
      </p:sp>
      <p:sp>
        <p:nvSpPr>
          <p:cNvPr id="26" name="Shape 22"/>
          <p:cNvSpPr/>
          <p:nvPr/>
        </p:nvSpPr>
        <p:spPr>
          <a:xfrm>
            <a:off x="548640" y="5190134"/>
            <a:ext cx="11094415" cy="753466"/>
          </a:xfrm>
          <a:prstGeom prst="roundRect">
            <a:avLst>
              <a:gd name="adj" fmla="val 16990"/>
            </a:avLst>
          </a:prstGeom>
          <a:solidFill>
            <a:srgbClr val="E6F5EC"/>
          </a:solidFill>
          <a:ln w="12700">
            <a:solidFill>
              <a:srgbClr val="2E9E5B"/>
            </a:solidFill>
            <a:prstDash val="solid"/>
          </a:ln>
        </p:spPr>
      </p:sp>
      <p:sp>
        <p:nvSpPr>
          <p:cNvPr id="27" name="Shape 23"/>
          <p:cNvSpPr/>
          <p:nvPr/>
        </p:nvSpPr>
        <p:spPr>
          <a:xfrm>
            <a:off x="731520" y="5374843"/>
            <a:ext cx="384048" cy="384048"/>
          </a:xfrm>
          <a:prstGeom prst="ellipse">
            <a:avLst/>
          </a:prstGeom>
          <a:solidFill>
            <a:srgbClr val="2E9E5B"/>
          </a:solidFill>
          <a:ln/>
        </p:spPr>
      </p:sp>
      <p:sp>
        <p:nvSpPr>
          <p:cNvPr id="28" name="Text 24"/>
          <p:cNvSpPr txBox="1"/>
          <p:nvPr/>
        </p:nvSpPr>
        <p:spPr>
          <a:xfrm>
            <a:off x="731520" y="5374843"/>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9" name="Text 25"/>
          <p:cNvSpPr/>
          <p:nvPr/>
        </p:nvSpPr>
        <p:spPr>
          <a:xfrm>
            <a:off x="1316736" y="5244998"/>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5 — asking about the time</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What time does the shop open?</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Question word, then “does”, then the subject, then the base verb. Four parts in a fixed order.</a:t>
            </a:r>
            <a:endParaRPr lang="en-US" sz="11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7A4FBF"/>
          </a:solidFill>
          <a:ln/>
        </p:spPr>
      </p:sp>
      <p:sp>
        <p:nvSpPr>
          <p:cNvPr id="3" name="Shape 1"/>
          <p:cNvSpPr/>
          <p:nvPr/>
        </p:nvSpPr>
        <p:spPr>
          <a:xfrm>
            <a:off x="649224" y="539496"/>
            <a:ext cx="219456" cy="219456"/>
          </a:xfrm>
          <a:prstGeom prst="ellipse">
            <a:avLst/>
          </a:prstGeom>
          <a:solidFill>
            <a:srgbClr val="7A4FBF"/>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WRITING 5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Your writing checklist for this module</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Add these to your Level 1 checks.</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1 — Present Simple &amp; Daily Routine</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50</a:t>
            </a:r>
            <a:endParaRPr lang="en-US" sz="1100" dirty="0"/>
          </a:p>
        </p:txBody>
      </p:sp>
      <p:sp>
        <p:nvSpPr>
          <p:cNvPr id="11" name="Shape 7"/>
          <p:cNvSpPr/>
          <p:nvPr/>
        </p:nvSpPr>
        <p:spPr>
          <a:xfrm>
            <a:off x="548640" y="1883664"/>
            <a:ext cx="11094415" cy="905256"/>
          </a:xfrm>
          <a:prstGeom prst="roundRect">
            <a:avLst>
              <a:gd name="adj" fmla="val 14141"/>
            </a:avLst>
          </a:prstGeom>
          <a:solidFill>
            <a:srgbClr val="F6F9F7"/>
          </a:solidFill>
          <a:ln w="12700">
            <a:solidFill>
              <a:srgbClr val="E3E9E5"/>
            </a:solidFill>
            <a:prstDash val="solid"/>
          </a:ln>
        </p:spPr>
      </p:sp>
      <p:sp>
        <p:nvSpPr>
          <p:cNvPr id="12" name="Shape 8"/>
          <p:cNvSpPr/>
          <p:nvPr/>
        </p:nvSpPr>
        <p:spPr>
          <a:xfrm>
            <a:off x="786384" y="2135124"/>
            <a:ext cx="402336" cy="402336"/>
          </a:xfrm>
          <a:prstGeom prst="ellipse">
            <a:avLst/>
          </a:prstGeom>
          <a:solidFill>
            <a:srgbClr val="7A4FBF"/>
          </a:solidFill>
          <a:ln/>
        </p:spPr>
      </p:sp>
      <p:pic>
        <p:nvPicPr>
          <p:cNvPr id="13" name="Image 1" descr="preencoded.png">    </p:cNvPr>
          <p:cNvPicPr>
            <a:picLocks noChangeAspect="1"/>
          </p:cNvPicPr>
          <p:nvPr/>
        </p:nvPicPr>
        <p:blipFill>
          <a:blip r:embed="rId2"/>
          <a:stretch>
            <a:fillRect/>
          </a:stretch>
        </p:blipFill>
        <p:spPr>
          <a:xfrm>
            <a:off x="882945" y="2231685"/>
            <a:ext cx="209215" cy="209215"/>
          </a:xfrm>
          <a:prstGeom prst="rect">
            <a:avLst/>
          </a:prstGeom>
        </p:spPr>
      </p:pic>
      <p:sp>
        <p:nvSpPr>
          <p:cNvPr id="14" name="Text 9"/>
          <p:cNvSpPr/>
          <p:nvPr/>
        </p:nvSpPr>
        <p:spPr>
          <a:xfrm>
            <a:off x="1463040" y="1956816"/>
            <a:ext cx="9905695" cy="758952"/>
          </a:xfrm>
          <a:prstGeom prst="rect">
            <a:avLst/>
          </a:prstGeom>
          <a:noFill/>
          <a:ln/>
        </p:spPr>
        <p:txBody>
          <a:bodyPr wrap="square" lIns="0" tIns="0" rIns="0" bIns="0" rtlCol="0" anchor="ctr"/>
          <a:lstStyle/>
          <a:p>
            <a:pPr indent="0" marL="0">
              <a:lnSpc>
                <a:spcPct val="102000"/>
              </a:lnSpc>
              <a:buNone/>
            </a:pPr>
            <a:r>
              <a:rPr lang="en-US" sz="2100" b="1" dirty="0">
                <a:solidFill>
                  <a:srgbClr val="12211B"/>
                </a:solidFill>
                <a:latin typeface="Calibri" pitchFamily="34" charset="0"/>
                <a:ea typeface="Calibri" pitchFamily="34" charset="-122"/>
                <a:cs typeface="Calibri" pitchFamily="34" charset="-120"/>
              </a:rPr>
              <a:t>Is there -s on the verb after he, she, it or one person's name?</a:t>
            </a:r>
            <a:endParaRPr lang="en-US" sz="2100" dirty="0"/>
          </a:p>
          <a:p>
            <a:pPr indent="0" marL="0">
              <a:lnSpc>
                <a:spcPct val="102000"/>
              </a:lnSpc>
              <a:spcBef>
                <a:spcPts val="300"/>
              </a:spcBef>
              <a:buNone/>
            </a:pPr>
            <a:r>
              <a:rPr lang="en-US" sz="1600" dirty="0">
                <a:solidFill>
                  <a:srgbClr val="3A473F"/>
                </a:solidFill>
                <a:latin typeface="Calibri" pitchFamily="34" charset="0"/>
                <a:ea typeface="Calibri" pitchFamily="34" charset="-122"/>
                <a:cs typeface="Calibri" pitchFamily="34" charset="-120"/>
              </a:rPr>
              <a:t>“My sister works.” — not “My sister work.”</a:t>
            </a:r>
            <a:endParaRPr lang="en-US" sz="2100" dirty="0"/>
          </a:p>
        </p:txBody>
      </p:sp>
      <p:sp>
        <p:nvSpPr>
          <p:cNvPr id="15" name="Shape 10"/>
          <p:cNvSpPr/>
          <p:nvPr/>
        </p:nvSpPr>
        <p:spPr>
          <a:xfrm>
            <a:off x="548640" y="2935224"/>
            <a:ext cx="11094415" cy="905256"/>
          </a:xfrm>
          <a:prstGeom prst="roundRect">
            <a:avLst>
              <a:gd name="adj" fmla="val 14141"/>
            </a:avLst>
          </a:prstGeom>
          <a:solidFill>
            <a:srgbClr val="F6F9F7"/>
          </a:solidFill>
          <a:ln w="12700">
            <a:solidFill>
              <a:srgbClr val="E3E9E5"/>
            </a:solidFill>
            <a:prstDash val="solid"/>
          </a:ln>
        </p:spPr>
      </p:sp>
      <p:sp>
        <p:nvSpPr>
          <p:cNvPr id="16" name="Shape 11"/>
          <p:cNvSpPr/>
          <p:nvPr/>
        </p:nvSpPr>
        <p:spPr>
          <a:xfrm>
            <a:off x="786384" y="3186684"/>
            <a:ext cx="402336" cy="402336"/>
          </a:xfrm>
          <a:prstGeom prst="ellipse">
            <a:avLst/>
          </a:prstGeom>
          <a:solidFill>
            <a:srgbClr val="7A4FBF"/>
          </a:solidFill>
          <a:ln/>
        </p:spPr>
      </p:sp>
      <p:pic>
        <p:nvPicPr>
          <p:cNvPr id="17" name="Image 2" descr="preencoded.png">    </p:cNvPr>
          <p:cNvPicPr>
            <a:picLocks noChangeAspect="1"/>
          </p:cNvPicPr>
          <p:nvPr/>
        </p:nvPicPr>
        <p:blipFill>
          <a:blip r:embed="rId3"/>
          <a:stretch>
            <a:fillRect/>
          </a:stretch>
        </p:blipFill>
        <p:spPr>
          <a:xfrm>
            <a:off x="882945" y="3283245"/>
            <a:ext cx="209215" cy="209215"/>
          </a:xfrm>
          <a:prstGeom prst="rect">
            <a:avLst/>
          </a:prstGeom>
        </p:spPr>
      </p:pic>
      <p:sp>
        <p:nvSpPr>
          <p:cNvPr id="18" name="Text 12"/>
          <p:cNvSpPr/>
          <p:nvPr/>
        </p:nvSpPr>
        <p:spPr>
          <a:xfrm>
            <a:off x="1463040" y="3008376"/>
            <a:ext cx="9905695" cy="758952"/>
          </a:xfrm>
          <a:prstGeom prst="rect">
            <a:avLst/>
          </a:prstGeom>
          <a:noFill/>
          <a:ln/>
        </p:spPr>
        <p:txBody>
          <a:bodyPr wrap="square" lIns="0" tIns="0" rIns="0" bIns="0" rtlCol="0" anchor="ctr"/>
          <a:lstStyle/>
          <a:p>
            <a:pPr indent="0" marL="0">
              <a:lnSpc>
                <a:spcPct val="102000"/>
              </a:lnSpc>
              <a:buNone/>
            </a:pPr>
            <a:r>
              <a:rPr lang="en-US" sz="2100" b="1" dirty="0">
                <a:solidFill>
                  <a:srgbClr val="12211B"/>
                </a:solidFill>
                <a:latin typeface="Calibri" pitchFamily="34" charset="0"/>
                <a:ea typeface="Calibri" pitchFamily="34" charset="-122"/>
                <a:cs typeface="Calibri" pitchFamily="34" charset="-120"/>
              </a:rPr>
              <a:t>Is the -s spelled correctly?</a:t>
            </a:r>
            <a:endParaRPr lang="en-US" sz="2100" dirty="0"/>
          </a:p>
          <a:p>
            <a:pPr indent="0" marL="0">
              <a:lnSpc>
                <a:spcPct val="102000"/>
              </a:lnSpc>
              <a:spcBef>
                <a:spcPts val="300"/>
              </a:spcBef>
              <a:buNone/>
            </a:pPr>
            <a:r>
              <a:rPr lang="en-US" sz="1600" dirty="0">
                <a:solidFill>
                  <a:srgbClr val="3A473F"/>
                </a:solidFill>
                <a:latin typeface="Calibri" pitchFamily="34" charset="0"/>
                <a:ea typeface="Calibri" pitchFamily="34" charset="-122"/>
                <a:cs typeface="Calibri" pitchFamily="34" charset="-120"/>
              </a:rPr>
              <a:t>goes · studies · watches · has. Check the ending of the verb first.</a:t>
            </a:r>
            <a:endParaRPr lang="en-US" sz="2100" dirty="0"/>
          </a:p>
        </p:txBody>
      </p:sp>
      <p:sp>
        <p:nvSpPr>
          <p:cNvPr id="19" name="Shape 13"/>
          <p:cNvSpPr/>
          <p:nvPr/>
        </p:nvSpPr>
        <p:spPr>
          <a:xfrm>
            <a:off x="548640" y="3986784"/>
            <a:ext cx="11094415" cy="905256"/>
          </a:xfrm>
          <a:prstGeom prst="roundRect">
            <a:avLst>
              <a:gd name="adj" fmla="val 14141"/>
            </a:avLst>
          </a:prstGeom>
          <a:solidFill>
            <a:srgbClr val="F6F9F7"/>
          </a:solidFill>
          <a:ln w="12700">
            <a:solidFill>
              <a:srgbClr val="E3E9E5"/>
            </a:solidFill>
            <a:prstDash val="solid"/>
          </a:ln>
        </p:spPr>
      </p:sp>
      <p:sp>
        <p:nvSpPr>
          <p:cNvPr id="20" name="Shape 14"/>
          <p:cNvSpPr/>
          <p:nvPr/>
        </p:nvSpPr>
        <p:spPr>
          <a:xfrm>
            <a:off x="786384" y="4238244"/>
            <a:ext cx="402336" cy="402336"/>
          </a:xfrm>
          <a:prstGeom prst="ellipse">
            <a:avLst/>
          </a:prstGeom>
          <a:solidFill>
            <a:srgbClr val="7A4FBF"/>
          </a:solidFill>
          <a:ln/>
        </p:spPr>
      </p:sp>
      <p:pic>
        <p:nvPicPr>
          <p:cNvPr id="21" name="Image 3" descr="preencoded.png">    </p:cNvPr>
          <p:cNvPicPr>
            <a:picLocks noChangeAspect="1"/>
          </p:cNvPicPr>
          <p:nvPr/>
        </p:nvPicPr>
        <p:blipFill>
          <a:blip r:embed="rId4"/>
          <a:stretch>
            <a:fillRect/>
          </a:stretch>
        </p:blipFill>
        <p:spPr>
          <a:xfrm>
            <a:off x="882945" y="4334805"/>
            <a:ext cx="209215" cy="209215"/>
          </a:xfrm>
          <a:prstGeom prst="rect">
            <a:avLst/>
          </a:prstGeom>
        </p:spPr>
      </p:pic>
      <p:sp>
        <p:nvSpPr>
          <p:cNvPr id="22" name="Text 15"/>
          <p:cNvSpPr/>
          <p:nvPr/>
        </p:nvSpPr>
        <p:spPr>
          <a:xfrm>
            <a:off x="1463040" y="4059936"/>
            <a:ext cx="9905695" cy="758952"/>
          </a:xfrm>
          <a:prstGeom prst="rect">
            <a:avLst/>
          </a:prstGeom>
          <a:noFill/>
          <a:ln/>
        </p:spPr>
        <p:txBody>
          <a:bodyPr wrap="square" lIns="0" tIns="0" rIns="0" bIns="0" rtlCol="0" anchor="ctr"/>
          <a:lstStyle/>
          <a:p>
            <a:pPr indent="0" marL="0">
              <a:lnSpc>
                <a:spcPct val="102000"/>
              </a:lnSpc>
              <a:buNone/>
            </a:pPr>
            <a:r>
              <a:rPr lang="en-US" sz="2100" b="1" dirty="0">
                <a:solidFill>
                  <a:srgbClr val="12211B"/>
                </a:solidFill>
                <a:latin typeface="Calibri" pitchFamily="34" charset="0"/>
                <a:ea typeface="Calibri" pitchFamily="34" charset="-122"/>
                <a:cs typeface="Calibri" pitchFamily="34" charset="-120"/>
              </a:rPr>
              <a:t>Is the main verb WITHOUT -s after do, does, don't or doesn't?</a:t>
            </a:r>
            <a:endParaRPr lang="en-US" sz="2100" dirty="0"/>
          </a:p>
          <a:p>
            <a:pPr indent="0" marL="0">
              <a:lnSpc>
                <a:spcPct val="102000"/>
              </a:lnSpc>
              <a:spcBef>
                <a:spcPts val="300"/>
              </a:spcBef>
              <a:buNone/>
            </a:pPr>
            <a:r>
              <a:rPr lang="en-US" sz="1600" dirty="0">
                <a:solidFill>
                  <a:srgbClr val="3A473F"/>
                </a:solidFill>
                <a:latin typeface="Calibri" pitchFamily="34" charset="0"/>
                <a:ea typeface="Calibri" pitchFamily="34" charset="-122"/>
                <a:cs typeface="Calibri" pitchFamily="34" charset="-120"/>
              </a:rPr>
              <a:t>“She does not work.” — not “does not works”.</a:t>
            </a:r>
            <a:endParaRPr lang="en-US" sz="2100" dirty="0"/>
          </a:p>
        </p:txBody>
      </p:sp>
      <p:sp>
        <p:nvSpPr>
          <p:cNvPr id="23" name="Shape 16"/>
          <p:cNvSpPr/>
          <p:nvPr/>
        </p:nvSpPr>
        <p:spPr>
          <a:xfrm>
            <a:off x="548640" y="5038344"/>
            <a:ext cx="11094415" cy="905256"/>
          </a:xfrm>
          <a:prstGeom prst="roundRect">
            <a:avLst>
              <a:gd name="adj" fmla="val 14141"/>
            </a:avLst>
          </a:prstGeom>
          <a:solidFill>
            <a:srgbClr val="F6F9F7"/>
          </a:solidFill>
          <a:ln w="12700">
            <a:solidFill>
              <a:srgbClr val="E3E9E5"/>
            </a:solidFill>
            <a:prstDash val="solid"/>
          </a:ln>
        </p:spPr>
      </p:sp>
      <p:sp>
        <p:nvSpPr>
          <p:cNvPr id="24" name="Shape 17"/>
          <p:cNvSpPr/>
          <p:nvPr/>
        </p:nvSpPr>
        <p:spPr>
          <a:xfrm>
            <a:off x="786384" y="5289804"/>
            <a:ext cx="402336" cy="402336"/>
          </a:xfrm>
          <a:prstGeom prst="ellipse">
            <a:avLst/>
          </a:prstGeom>
          <a:solidFill>
            <a:srgbClr val="7A4FBF"/>
          </a:solidFill>
          <a:ln/>
        </p:spPr>
      </p:sp>
      <p:pic>
        <p:nvPicPr>
          <p:cNvPr id="25" name="Image 4" descr="preencoded.png">    </p:cNvPr>
          <p:cNvPicPr>
            <a:picLocks noChangeAspect="1"/>
          </p:cNvPicPr>
          <p:nvPr/>
        </p:nvPicPr>
        <p:blipFill>
          <a:blip r:embed="rId5"/>
          <a:stretch>
            <a:fillRect/>
          </a:stretch>
        </p:blipFill>
        <p:spPr>
          <a:xfrm>
            <a:off x="882945" y="5386365"/>
            <a:ext cx="209215" cy="209215"/>
          </a:xfrm>
          <a:prstGeom prst="rect">
            <a:avLst/>
          </a:prstGeom>
        </p:spPr>
      </p:pic>
      <p:sp>
        <p:nvSpPr>
          <p:cNvPr id="26" name="Text 18"/>
          <p:cNvSpPr/>
          <p:nvPr/>
        </p:nvSpPr>
        <p:spPr>
          <a:xfrm>
            <a:off x="1463040" y="5111496"/>
            <a:ext cx="9905695" cy="758952"/>
          </a:xfrm>
          <a:prstGeom prst="rect">
            <a:avLst/>
          </a:prstGeom>
          <a:noFill/>
          <a:ln/>
        </p:spPr>
        <p:txBody>
          <a:bodyPr wrap="square" lIns="0" tIns="0" rIns="0" bIns="0" rtlCol="0" anchor="ctr"/>
          <a:lstStyle/>
          <a:p>
            <a:pPr indent="0" marL="0">
              <a:lnSpc>
                <a:spcPct val="102000"/>
              </a:lnSpc>
              <a:buNone/>
            </a:pPr>
            <a:r>
              <a:rPr lang="en-US" sz="2100" b="1" dirty="0">
                <a:solidFill>
                  <a:srgbClr val="12211B"/>
                </a:solidFill>
                <a:latin typeface="Calibri" pitchFamily="34" charset="0"/>
                <a:ea typeface="Calibri" pitchFamily="34" charset="-122"/>
                <a:cs typeface="Calibri" pitchFamily="34" charset="-120"/>
              </a:rPr>
              <a:t>Is the frequency word before the verb?</a:t>
            </a:r>
            <a:endParaRPr lang="en-US" sz="2100" dirty="0"/>
          </a:p>
          <a:p>
            <a:pPr indent="0" marL="0">
              <a:lnSpc>
                <a:spcPct val="102000"/>
              </a:lnSpc>
              <a:spcBef>
                <a:spcPts val="300"/>
              </a:spcBef>
              <a:buNone/>
            </a:pPr>
            <a:r>
              <a:rPr lang="en-US" sz="1600" dirty="0">
                <a:solidFill>
                  <a:srgbClr val="3A473F"/>
                </a:solidFill>
                <a:latin typeface="Calibri" pitchFamily="34" charset="0"/>
                <a:ea typeface="Calibri" pitchFamily="34" charset="-122"/>
                <a:cs typeface="Calibri" pitchFamily="34" charset="-120"/>
              </a:rPr>
              <a:t>“I usually walk.” — not “I walk usually”.</a:t>
            </a:r>
            <a:endParaRPr lang="en-US" sz="21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EXERCISE A · EASY</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Exercise A — multiple choice</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1 — Present Simple &amp; Daily Routine</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51</a:t>
            </a:r>
            <a:endParaRPr lang="en-US" sz="1100" dirty="0"/>
          </a:p>
        </p:txBody>
      </p:sp>
      <p:sp>
        <p:nvSpPr>
          <p:cNvPr id="10" name="Shape 6"/>
          <p:cNvSpPr/>
          <p:nvPr/>
        </p:nvSpPr>
        <p:spPr>
          <a:xfrm>
            <a:off x="548640" y="1700784"/>
            <a:ext cx="11094415" cy="566928"/>
          </a:xfrm>
          <a:prstGeom prst="roundRect">
            <a:avLst>
              <a:gd name="adj" fmla="val 22581"/>
            </a:avLst>
          </a:prstGeom>
          <a:solidFill>
            <a:srgbClr val="EDF0FD"/>
          </a:solidFill>
          <a:ln w="12700">
            <a:solidFill>
              <a:srgbClr val="0E7C5A"/>
            </a:solidFill>
            <a:prstDash val="solid"/>
          </a:ln>
        </p:spPr>
      </p:sp>
      <p:sp>
        <p:nvSpPr>
          <p:cNvPr id="11" name="Shape 7"/>
          <p:cNvSpPr/>
          <p:nvPr/>
        </p:nvSpPr>
        <p:spPr>
          <a:xfrm>
            <a:off x="749808" y="1810512"/>
            <a:ext cx="347472" cy="347472"/>
          </a:xfrm>
          <a:prstGeom prst="ellipse">
            <a:avLst/>
          </a:prstGeom>
          <a:solidFill>
            <a:srgbClr val="0E7C5A"/>
          </a:solidFill>
          <a:ln/>
        </p:spPr>
      </p:sp>
      <p:pic>
        <p:nvPicPr>
          <p:cNvPr id="12" name="Image 1" descr="preencoded.png">    </p:cNvPr>
          <p:cNvPicPr>
            <a:picLocks noChangeAspect="1"/>
          </p:cNvPicPr>
          <p:nvPr/>
        </p:nvPicPr>
        <p:blipFill>
          <a:blip r:embed="rId2"/>
          <a:stretch>
            <a:fillRect/>
          </a:stretch>
        </p:blipFill>
        <p:spPr>
          <a:xfrm>
            <a:off x="836676" y="1897380"/>
            <a:ext cx="173736" cy="173736"/>
          </a:xfrm>
          <a:prstGeom prst="rect">
            <a:avLst/>
          </a:prstGeom>
        </p:spPr>
      </p:pic>
      <p:sp>
        <p:nvSpPr>
          <p:cNvPr id="13" name="Text 8"/>
          <p:cNvSpPr txBox="1"/>
          <p:nvPr/>
        </p:nvSpPr>
        <p:spPr>
          <a:xfrm>
            <a:off x="1207008" y="170078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Write a, b or c for each question.</a:t>
            </a:r>
            <a:endParaRPr lang="en-US" sz="1700" dirty="0"/>
          </a:p>
        </p:txBody>
      </p:sp>
      <p:sp>
        <p:nvSpPr>
          <p:cNvPr id="14" name="Shape 9"/>
          <p:cNvSpPr/>
          <p:nvPr/>
        </p:nvSpPr>
        <p:spPr>
          <a:xfrm>
            <a:off x="548640" y="2414016"/>
            <a:ext cx="11094415" cy="610819"/>
          </a:xfrm>
          <a:prstGeom prst="roundRect">
            <a:avLst>
              <a:gd name="adj" fmla="val 20958"/>
            </a:avLst>
          </a:prstGeom>
          <a:solidFill>
            <a:srgbClr val="F6F9F7"/>
          </a:solidFill>
          <a:ln w="12700">
            <a:solidFill>
              <a:srgbClr val="E3E9E5"/>
            </a:solidFill>
            <a:prstDash val="solid"/>
          </a:ln>
        </p:spPr>
      </p:sp>
      <p:sp>
        <p:nvSpPr>
          <p:cNvPr id="15" name="Shape 10"/>
          <p:cNvSpPr/>
          <p:nvPr/>
        </p:nvSpPr>
        <p:spPr>
          <a:xfrm>
            <a:off x="749808" y="2518258"/>
            <a:ext cx="402336" cy="402336"/>
          </a:xfrm>
          <a:prstGeom prst="ellipse">
            <a:avLst/>
          </a:prstGeom>
          <a:solidFill>
            <a:srgbClr val="0E7C5A"/>
          </a:solidFill>
          <a:ln/>
        </p:spPr>
      </p:sp>
      <p:sp>
        <p:nvSpPr>
          <p:cNvPr id="16" name="Text 11"/>
          <p:cNvSpPr txBox="1"/>
          <p:nvPr/>
        </p:nvSpPr>
        <p:spPr>
          <a:xfrm>
            <a:off x="749808" y="251825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7" name="Text 12"/>
          <p:cNvSpPr/>
          <p:nvPr/>
        </p:nvSpPr>
        <p:spPr>
          <a:xfrm>
            <a:off x="1353312" y="2468880"/>
            <a:ext cx="10033711" cy="501091"/>
          </a:xfrm>
          <a:prstGeom prst="rect">
            <a:avLst/>
          </a:prstGeom>
          <a:noFill/>
          <a:ln/>
        </p:spPr>
        <p:txBody>
          <a:bodyPr wrap="square" lIns="0" tIns="0" rIns="0" bIns="0" rtlCol="0" anchor="ctr"/>
          <a:lstStyle/>
          <a:p>
            <a:pPr indent="0" marL="0">
              <a:lnSpc>
                <a:spcPct val="102000"/>
              </a:lnSpc>
              <a:buNone/>
            </a:pPr>
            <a:r>
              <a:rPr lang="en-US" sz="1480" b="1" dirty="0">
                <a:solidFill>
                  <a:srgbClr val="12211B"/>
                </a:solidFill>
                <a:latin typeface="Calibri" pitchFamily="34" charset="0"/>
                <a:ea typeface="Calibri" pitchFamily="34" charset="-122"/>
                <a:cs typeface="Calibri" pitchFamily="34" charset="-120"/>
              </a:rPr>
              <a:t>1. Which is correct?</a:t>
            </a:r>
            <a:endParaRPr lang="en-US" sz="1480" dirty="0"/>
          </a:p>
          <a:p>
            <a:pPr indent="0" marL="0">
              <a:lnSpc>
                <a:spcPct val="102000"/>
              </a:lnSpc>
              <a:spcBef>
                <a:spcPts val="246"/>
              </a:spcBef>
              <a:buNone/>
            </a:pPr>
            <a:r>
              <a:rPr lang="en-US" sz="1150" dirty="0">
                <a:solidFill>
                  <a:srgbClr val="3A473F"/>
                </a:solidFill>
                <a:latin typeface="Calibri" pitchFamily="34" charset="0"/>
                <a:ea typeface="Calibri" pitchFamily="34" charset="-122"/>
                <a:cs typeface="Calibri" pitchFamily="34" charset="-120"/>
              </a:rPr>
              <a:t>a) She work here.     b) She works here.     c) She working here.</a:t>
            </a:r>
            <a:endParaRPr lang="en-US" sz="1480" dirty="0"/>
          </a:p>
        </p:txBody>
      </p:sp>
      <p:sp>
        <p:nvSpPr>
          <p:cNvPr id="18" name="Shape 13"/>
          <p:cNvSpPr/>
          <p:nvPr/>
        </p:nvSpPr>
        <p:spPr>
          <a:xfrm>
            <a:off x="548640" y="3143707"/>
            <a:ext cx="11094415" cy="610819"/>
          </a:xfrm>
          <a:prstGeom prst="roundRect">
            <a:avLst>
              <a:gd name="adj" fmla="val 20958"/>
            </a:avLst>
          </a:prstGeom>
          <a:solidFill>
            <a:srgbClr val="F6F9F7"/>
          </a:solidFill>
          <a:ln w="12700">
            <a:solidFill>
              <a:srgbClr val="E3E9E5"/>
            </a:solidFill>
            <a:prstDash val="solid"/>
          </a:ln>
        </p:spPr>
      </p:sp>
      <p:sp>
        <p:nvSpPr>
          <p:cNvPr id="19" name="Shape 14"/>
          <p:cNvSpPr/>
          <p:nvPr/>
        </p:nvSpPr>
        <p:spPr>
          <a:xfrm>
            <a:off x="749808" y="3247949"/>
            <a:ext cx="402336" cy="402336"/>
          </a:xfrm>
          <a:prstGeom prst="ellipse">
            <a:avLst/>
          </a:prstGeom>
          <a:solidFill>
            <a:srgbClr val="0E7C5A"/>
          </a:solidFill>
          <a:ln/>
        </p:spPr>
      </p:sp>
      <p:sp>
        <p:nvSpPr>
          <p:cNvPr id="20" name="Text 15"/>
          <p:cNvSpPr txBox="1"/>
          <p:nvPr/>
        </p:nvSpPr>
        <p:spPr>
          <a:xfrm>
            <a:off x="749808" y="324794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1" name="Text 16"/>
          <p:cNvSpPr/>
          <p:nvPr/>
        </p:nvSpPr>
        <p:spPr>
          <a:xfrm>
            <a:off x="1353312" y="3198571"/>
            <a:ext cx="10033711" cy="501091"/>
          </a:xfrm>
          <a:prstGeom prst="rect">
            <a:avLst/>
          </a:prstGeom>
          <a:noFill/>
          <a:ln/>
        </p:spPr>
        <p:txBody>
          <a:bodyPr wrap="square" lIns="0" tIns="0" rIns="0" bIns="0" rtlCol="0" anchor="ctr"/>
          <a:lstStyle/>
          <a:p>
            <a:pPr indent="0" marL="0">
              <a:lnSpc>
                <a:spcPct val="102000"/>
              </a:lnSpc>
              <a:buNone/>
            </a:pPr>
            <a:r>
              <a:rPr lang="en-US" sz="1480" b="1" dirty="0">
                <a:solidFill>
                  <a:srgbClr val="12211B"/>
                </a:solidFill>
                <a:latin typeface="Calibri" pitchFamily="34" charset="0"/>
                <a:ea typeface="Calibri" pitchFamily="34" charset="-122"/>
                <a:cs typeface="Calibri" pitchFamily="34" charset="-120"/>
              </a:rPr>
              <a:t>2. Complete: “They ___ in Gondar.”</a:t>
            </a:r>
            <a:endParaRPr lang="en-US" sz="1480" dirty="0"/>
          </a:p>
          <a:p>
            <a:pPr indent="0" marL="0">
              <a:lnSpc>
                <a:spcPct val="102000"/>
              </a:lnSpc>
              <a:spcBef>
                <a:spcPts val="246"/>
              </a:spcBef>
              <a:buNone/>
            </a:pPr>
            <a:r>
              <a:rPr lang="en-US" sz="1150" dirty="0">
                <a:solidFill>
                  <a:srgbClr val="3A473F"/>
                </a:solidFill>
                <a:latin typeface="Calibri" pitchFamily="34" charset="0"/>
                <a:ea typeface="Calibri" pitchFamily="34" charset="-122"/>
                <a:cs typeface="Calibri" pitchFamily="34" charset="-120"/>
              </a:rPr>
              <a:t>a) lives     b) live     c) living</a:t>
            </a:r>
            <a:endParaRPr lang="en-US" sz="1480" dirty="0"/>
          </a:p>
        </p:txBody>
      </p:sp>
      <p:sp>
        <p:nvSpPr>
          <p:cNvPr id="22" name="Shape 17"/>
          <p:cNvSpPr/>
          <p:nvPr/>
        </p:nvSpPr>
        <p:spPr>
          <a:xfrm>
            <a:off x="548640" y="3873398"/>
            <a:ext cx="11094415" cy="610819"/>
          </a:xfrm>
          <a:prstGeom prst="roundRect">
            <a:avLst>
              <a:gd name="adj" fmla="val 20958"/>
            </a:avLst>
          </a:prstGeom>
          <a:solidFill>
            <a:srgbClr val="F6F9F7"/>
          </a:solidFill>
          <a:ln w="12700">
            <a:solidFill>
              <a:srgbClr val="E3E9E5"/>
            </a:solidFill>
            <a:prstDash val="solid"/>
          </a:ln>
        </p:spPr>
      </p:sp>
      <p:sp>
        <p:nvSpPr>
          <p:cNvPr id="23" name="Shape 18"/>
          <p:cNvSpPr/>
          <p:nvPr/>
        </p:nvSpPr>
        <p:spPr>
          <a:xfrm>
            <a:off x="749808" y="3977640"/>
            <a:ext cx="402336" cy="402336"/>
          </a:xfrm>
          <a:prstGeom prst="ellipse">
            <a:avLst/>
          </a:prstGeom>
          <a:solidFill>
            <a:srgbClr val="0E7C5A"/>
          </a:solidFill>
          <a:ln/>
        </p:spPr>
      </p:sp>
      <p:sp>
        <p:nvSpPr>
          <p:cNvPr id="24" name="Text 19"/>
          <p:cNvSpPr txBox="1"/>
          <p:nvPr/>
        </p:nvSpPr>
        <p:spPr>
          <a:xfrm>
            <a:off x="749808" y="39776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5" name="Text 20"/>
          <p:cNvSpPr/>
          <p:nvPr/>
        </p:nvSpPr>
        <p:spPr>
          <a:xfrm>
            <a:off x="1353312" y="3928262"/>
            <a:ext cx="10033711" cy="501091"/>
          </a:xfrm>
          <a:prstGeom prst="rect">
            <a:avLst/>
          </a:prstGeom>
          <a:noFill/>
          <a:ln/>
        </p:spPr>
        <p:txBody>
          <a:bodyPr wrap="square" lIns="0" tIns="0" rIns="0" bIns="0" rtlCol="0" anchor="ctr"/>
          <a:lstStyle/>
          <a:p>
            <a:pPr indent="0" marL="0">
              <a:lnSpc>
                <a:spcPct val="102000"/>
              </a:lnSpc>
              <a:buNone/>
            </a:pPr>
            <a:r>
              <a:rPr lang="en-US" sz="1480" b="1" dirty="0">
                <a:solidFill>
                  <a:srgbClr val="12211B"/>
                </a:solidFill>
                <a:latin typeface="Calibri" pitchFamily="34" charset="0"/>
                <a:ea typeface="Calibri" pitchFamily="34" charset="-122"/>
                <a:cs typeface="Calibri" pitchFamily="34" charset="-120"/>
              </a:rPr>
              <a:t>3. Which is correct?</a:t>
            </a:r>
            <a:endParaRPr lang="en-US" sz="1480" dirty="0"/>
          </a:p>
          <a:p>
            <a:pPr indent="0" marL="0">
              <a:lnSpc>
                <a:spcPct val="102000"/>
              </a:lnSpc>
              <a:spcBef>
                <a:spcPts val="246"/>
              </a:spcBef>
              <a:buNone/>
            </a:pPr>
            <a:r>
              <a:rPr lang="en-US" sz="1150" dirty="0">
                <a:solidFill>
                  <a:srgbClr val="3A473F"/>
                </a:solidFill>
                <a:latin typeface="Calibri" pitchFamily="34" charset="0"/>
                <a:ea typeface="Calibri" pitchFamily="34" charset="-122"/>
                <a:cs typeface="Calibri" pitchFamily="34" charset="-120"/>
              </a:rPr>
              <a:t>a) He doesn't works.     b) He doesn't work.     c) He don't work.</a:t>
            </a:r>
            <a:endParaRPr lang="en-US" sz="1480" dirty="0"/>
          </a:p>
        </p:txBody>
      </p:sp>
      <p:sp>
        <p:nvSpPr>
          <p:cNvPr id="26" name="Shape 21"/>
          <p:cNvSpPr/>
          <p:nvPr/>
        </p:nvSpPr>
        <p:spPr>
          <a:xfrm>
            <a:off x="548640" y="4603090"/>
            <a:ext cx="11094415" cy="610819"/>
          </a:xfrm>
          <a:prstGeom prst="roundRect">
            <a:avLst>
              <a:gd name="adj" fmla="val 20958"/>
            </a:avLst>
          </a:prstGeom>
          <a:solidFill>
            <a:srgbClr val="F6F9F7"/>
          </a:solidFill>
          <a:ln w="12700">
            <a:solidFill>
              <a:srgbClr val="E3E9E5"/>
            </a:solidFill>
            <a:prstDash val="solid"/>
          </a:ln>
        </p:spPr>
      </p:sp>
      <p:sp>
        <p:nvSpPr>
          <p:cNvPr id="27" name="Shape 22"/>
          <p:cNvSpPr/>
          <p:nvPr/>
        </p:nvSpPr>
        <p:spPr>
          <a:xfrm>
            <a:off x="749808" y="4707331"/>
            <a:ext cx="402336" cy="402336"/>
          </a:xfrm>
          <a:prstGeom prst="ellipse">
            <a:avLst/>
          </a:prstGeom>
          <a:solidFill>
            <a:srgbClr val="0E7C5A"/>
          </a:solidFill>
          <a:ln/>
        </p:spPr>
      </p:sp>
      <p:sp>
        <p:nvSpPr>
          <p:cNvPr id="28" name="Text 23"/>
          <p:cNvSpPr txBox="1"/>
          <p:nvPr/>
        </p:nvSpPr>
        <p:spPr>
          <a:xfrm>
            <a:off x="749808" y="470733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9" name="Text 24"/>
          <p:cNvSpPr/>
          <p:nvPr/>
        </p:nvSpPr>
        <p:spPr>
          <a:xfrm>
            <a:off x="1353312" y="4657954"/>
            <a:ext cx="10033711" cy="501091"/>
          </a:xfrm>
          <a:prstGeom prst="rect">
            <a:avLst/>
          </a:prstGeom>
          <a:noFill/>
          <a:ln/>
        </p:spPr>
        <p:txBody>
          <a:bodyPr wrap="square" lIns="0" tIns="0" rIns="0" bIns="0" rtlCol="0" anchor="ctr"/>
          <a:lstStyle/>
          <a:p>
            <a:pPr indent="0" marL="0">
              <a:lnSpc>
                <a:spcPct val="102000"/>
              </a:lnSpc>
              <a:buNone/>
            </a:pPr>
            <a:r>
              <a:rPr lang="en-US" sz="1480" b="1" dirty="0">
                <a:solidFill>
                  <a:srgbClr val="12211B"/>
                </a:solidFill>
                <a:latin typeface="Calibri" pitchFamily="34" charset="0"/>
                <a:ea typeface="Calibri" pitchFamily="34" charset="-122"/>
                <a:cs typeface="Calibri" pitchFamily="34" charset="-120"/>
              </a:rPr>
              <a:t>4. Complete: “___ she like coffee?”</a:t>
            </a:r>
            <a:endParaRPr lang="en-US" sz="1480" dirty="0"/>
          </a:p>
          <a:p>
            <a:pPr indent="0" marL="0">
              <a:lnSpc>
                <a:spcPct val="102000"/>
              </a:lnSpc>
              <a:spcBef>
                <a:spcPts val="246"/>
              </a:spcBef>
              <a:buNone/>
            </a:pPr>
            <a:r>
              <a:rPr lang="en-US" sz="1150" dirty="0">
                <a:solidFill>
                  <a:srgbClr val="3A473F"/>
                </a:solidFill>
                <a:latin typeface="Calibri" pitchFamily="34" charset="0"/>
                <a:ea typeface="Calibri" pitchFamily="34" charset="-122"/>
                <a:cs typeface="Calibri" pitchFamily="34" charset="-120"/>
              </a:rPr>
              <a:t>a) Do     b) Does     c) Is</a:t>
            </a:r>
            <a:endParaRPr lang="en-US" sz="1480" dirty="0"/>
          </a:p>
        </p:txBody>
      </p:sp>
      <p:sp>
        <p:nvSpPr>
          <p:cNvPr id="30" name="Shape 25"/>
          <p:cNvSpPr/>
          <p:nvPr/>
        </p:nvSpPr>
        <p:spPr>
          <a:xfrm>
            <a:off x="548640" y="5332781"/>
            <a:ext cx="11094415" cy="610819"/>
          </a:xfrm>
          <a:prstGeom prst="roundRect">
            <a:avLst>
              <a:gd name="adj" fmla="val 20958"/>
            </a:avLst>
          </a:prstGeom>
          <a:solidFill>
            <a:srgbClr val="F6F9F7"/>
          </a:solidFill>
          <a:ln w="12700">
            <a:solidFill>
              <a:srgbClr val="E3E9E5"/>
            </a:solidFill>
            <a:prstDash val="solid"/>
          </a:ln>
        </p:spPr>
      </p:sp>
      <p:sp>
        <p:nvSpPr>
          <p:cNvPr id="31" name="Shape 26"/>
          <p:cNvSpPr/>
          <p:nvPr/>
        </p:nvSpPr>
        <p:spPr>
          <a:xfrm>
            <a:off x="749808" y="5437022"/>
            <a:ext cx="402336" cy="402336"/>
          </a:xfrm>
          <a:prstGeom prst="ellipse">
            <a:avLst/>
          </a:prstGeom>
          <a:solidFill>
            <a:srgbClr val="0E7C5A"/>
          </a:solidFill>
          <a:ln/>
        </p:spPr>
      </p:sp>
      <p:sp>
        <p:nvSpPr>
          <p:cNvPr id="32" name="Text 27"/>
          <p:cNvSpPr txBox="1"/>
          <p:nvPr/>
        </p:nvSpPr>
        <p:spPr>
          <a:xfrm>
            <a:off x="749808" y="543702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3" name="Text 28"/>
          <p:cNvSpPr/>
          <p:nvPr/>
        </p:nvSpPr>
        <p:spPr>
          <a:xfrm>
            <a:off x="1353312" y="5387645"/>
            <a:ext cx="10033711" cy="501091"/>
          </a:xfrm>
          <a:prstGeom prst="rect">
            <a:avLst/>
          </a:prstGeom>
          <a:noFill/>
          <a:ln/>
        </p:spPr>
        <p:txBody>
          <a:bodyPr wrap="square" lIns="0" tIns="0" rIns="0" bIns="0" rtlCol="0" anchor="ctr"/>
          <a:lstStyle/>
          <a:p>
            <a:pPr indent="0" marL="0">
              <a:lnSpc>
                <a:spcPct val="102000"/>
              </a:lnSpc>
              <a:buNone/>
            </a:pPr>
            <a:r>
              <a:rPr lang="en-US" sz="1480" b="1" dirty="0">
                <a:solidFill>
                  <a:srgbClr val="12211B"/>
                </a:solidFill>
                <a:latin typeface="Calibri" pitchFamily="34" charset="0"/>
                <a:ea typeface="Calibri" pitchFamily="34" charset="-122"/>
                <a:cs typeface="Calibri" pitchFamily="34" charset="-120"/>
              </a:rPr>
              <a:t>5. Which is correct?</a:t>
            </a:r>
            <a:endParaRPr lang="en-US" sz="1480" dirty="0"/>
          </a:p>
          <a:p>
            <a:pPr indent="0" marL="0">
              <a:lnSpc>
                <a:spcPct val="102000"/>
              </a:lnSpc>
              <a:spcBef>
                <a:spcPts val="246"/>
              </a:spcBef>
              <a:buNone/>
            </a:pPr>
            <a:r>
              <a:rPr lang="en-US" sz="1150" dirty="0">
                <a:solidFill>
                  <a:srgbClr val="3A473F"/>
                </a:solidFill>
                <a:latin typeface="Calibri" pitchFamily="34" charset="0"/>
                <a:ea typeface="Calibri" pitchFamily="34" charset="-122"/>
                <a:cs typeface="Calibri" pitchFamily="34" charset="-120"/>
              </a:rPr>
              <a:t>a) I always drink tea.     b) I drink always tea.     c) Always I drink tea.</a:t>
            </a:r>
            <a:endParaRPr lang="en-US" sz="148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EXERCISE B · EASY</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Exercise B — fill in the blank</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1 — Present Simple &amp; Daily Routine</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52</a:t>
            </a:r>
            <a:endParaRPr lang="en-US" sz="1100" dirty="0"/>
          </a:p>
        </p:txBody>
      </p:sp>
      <p:sp>
        <p:nvSpPr>
          <p:cNvPr id="10" name="Shape 6"/>
          <p:cNvSpPr/>
          <p:nvPr/>
        </p:nvSpPr>
        <p:spPr>
          <a:xfrm>
            <a:off x="548640" y="1700784"/>
            <a:ext cx="11094415" cy="566928"/>
          </a:xfrm>
          <a:prstGeom prst="roundRect">
            <a:avLst>
              <a:gd name="adj" fmla="val 22581"/>
            </a:avLst>
          </a:prstGeom>
          <a:solidFill>
            <a:srgbClr val="EDF0FD"/>
          </a:solidFill>
          <a:ln w="12700">
            <a:solidFill>
              <a:srgbClr val="0E7C5A"/>
            </a:solidFill>
            <a:prstDash val="solid"/>
          </a:ln>
        </p:spPr>
      </p:sp>
      <p:sp>
        <p:nvSpPr>
          <p:cNvPr id="11" name="Shape 7"/>
          <p:cNvSpPr/>
          <p:nvPr/>
        </p:nvSpPr>
        <p:spPr>
          <a:xfrm>
            <a:off x="749808" y="1810512"/>
            <a:ext cx="347472" cy="347472"/>
          </a:xfrm>
          <a:prstGeom prst="ellipse">
            <a:avLst/>
          </a:prstGeom>
          <a:solidFill>
            <a:srgbClr val="0E7C5A"/>
          </a:solidFill>
          <a:ln/>
        </p:spPr>
      </p:sp>
      <p:pic>
        <p:nvPicPr>
          <p:cNvPr id="12" name="Image 1" descr="preencoded.png">    </p:cNvPr>
          <p:cNvPicPr>
            <a:picLocks noChangeAspect="1"/>
          </p:cNvPicPr>
          <p:nvPr/>
        </p:nvPicPr>
        <p:blipFill>
          <a:blip r:embed="rId2"/>
          <a:stretch>
            <a:fillRect/>
          </a:stretch>
        </p:blipFill>
        <p:spPr>
          <a:xfrm>
            <a:off x="836676" y="1897380"/>
            <a:ext cx="173736" cy="173736"/>
          </a:xfrm>
          <a:prstGeom prst="rect">
            <a:avLst/>
          </a:prstGeom>
        </p:spPr>
      </p:pic>
      <p:sp>
        <p:nvSpPr>
          <p:cNvPr id="13" name="Text 8"/>
          <p:cNvSpPr txBox="1"/>
          <p:nvPr/>
        </p:nvSpPr>
        <p:spPr>
          <a:xfrm>
            <a:off x="1207008" y="170078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Copy each sentence and fill the gap.</a:t>
            </a:r>
            <a:endParaRPr lang="en-US" sz="1700" dirty="0"/>
          </a:p>
        </p:txBody>
      </p:sp>
      <p:sp>
        <p:nvSpPr>
          <p:cNvPr id="14" name="Shape 9"/>
          <p:cNvSpPr/>
          <p:nvPr/>
        </p:nvSpPr>
        <p:spPr>
          <a:xfrm>
            <a:off x="548640" y="2414016"/>
            <a:ext cx="11094415" cy="610819"/>
          </a:xfrm>
          <a:prstGeom prst="roundRect">
            <a:avLst>
              <a:gd name="adj" fmla="val 20958"/>
            </a:avLst>
          </a:prstGeom>
          <a:solidFill>
            <a:srgbClr val="F6F9F7"/>
          </a:solidFill>
          <a:ln w="12700">
            <a:solidFill>
              <a:srgbClr val="E3E9E5"/>
            </a:solidFill>
            <a:prstDash val="solid"/>
          </a:ln>
        </p:spPr>
      </p:sp>
      <p:sp>
        <p:nvSpPr>
          <p:cNvPr id="15" name="Shape 10"/>
          <p:cNvSpPr/>
          <p:nvPr/>
        </p:nvSpPr>
        <p:spPr>
          <a:xfrm>
            <a:off x="749808" y="2518258"/>
            <a:ext cx="402336" cy="402336"/>
          </a:xfrm>
          <a:prstGeom prst="ellipse">
            <a:avLst/>
          </a:prstGeom>
          <a:solidFill>
            <a:srgbClr val="0E7C5A"/>
          </a:solidFill>
          <a:ln/>
        </p:spPr>
      </p:sp>
      <p:sp>
        <p:nvSpPr>
          <p:cNvPr id="16" name="Text 11"/>
          <p:cNvSpPr txBox="1"/>
          <p:nvPr/>
        </p:nvSpPr>
        <p:spPr>
          <a:xfrm>
            <a:off x="749808" y="251825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7" name="Text 12"/>
          <p:cNvSpPr/>
          <p:nvPr/>
        </p:nvSpPr>
        <p:spPr>
          <a:xfrm>
            <a:off x="1353312" y="2468880"/>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  My father ______ a bus.  (drive)</a:t>
            </a:r>
            <a:endParaRPr lang="en-US" sz="1800" dirty="0"/>
          </a:p>
        </p:txBody>
      </p:sp>
      <p:sp>
        <p:nvSpPr>
          <p:cNvPr id="18" name="Shape 13"/>
          <p:cNvSpPr/>
          <p:nvPr/>
        </p:nvSpPr>
        <p:spPr>
          <a:xfrm>
            <a:off x="548640" y="3143707"/>
            <a:ext cx="11094415" cy="610819"/>
          </a:xfrm>
          <a:prstGeom prst="roundRect">
            <a:avLst>
              <a:gd name="adj" fmla="val 20958"/>
            </a:avLst>
          </a:prstGeom>
          <a:solidFill>
            <a:srgbClr val="F6F9F7"/>
          </a:solidFill>
          <a:ln w="12700">
            <a:solidFill>
              <a:srgbClr val="E3E9E5"/>
            </a:solidFill>
            <a:prstDash val="solid"/>
          </a:ln>
        </p:spPr>
      </p:sp>
      <p:sp>
        <p:nvSpPr>
          <p:cNvPr id="19" name="Shape 14"/>
          <p:cNvSpPr/>
          <p:nvPr/>
        </p:nvSpPr>
        <p:spPr>
          <a:xfrm>
            <a:off x="749808" y="3247949"/>
            <a:ext cx="402336" cy="402336"/>
          </a:xfrm>
          <a:prstGeom prst="ellipse">
            <a:avLst/>
          </a:prstGeom>
          <a:solidFill>
            <a:srgbClr val="0E7C5A"/>
          </a:solidFill>
          <a:ln/>
        </p:spPr>
      </p:sp>
      <p:sp>
        <p:nvSpPr>
          <p:cNvPr id="20" name="Text 15"/>
          <p:cNvSpPr txBox="1"/>
          <p:nvPr/>
        </p:nvSpPr>
        <p:spPr>
          <a:xfrm>
            <a:off x="749808" y="324794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1" name="Text 16"/>
          <p:cNvSpPr/>
          <p:nvPr/>
        </p:nvSpPr>
        <p:spPr>
          <a:xfrm>
            <a:off x="1353312" y="3198571"/>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2.  We ______ English on Monday.  (study)</a:t>
            </a:r>
            <a:endParaRPr lang="en-US" sz="1800" dirty="0"/>
          </a:p>
        </p:txBody>
      </p:sp>
      <p:sp>
        <p:nvSpPr>
          <p:cNvPr id="22" name="Shape 17"/>
          <p:cNvSpPr/>
          <p:nvPr/>
        </p:nvSpPr>
        <p:spPr>
          <a:xfrm>
            <a:off x="548640" y="3873398"/>
            <a:ext cx="11094415" cy="610819"/>
          </a:xfrm>
          <a:prstGeom prst="roundRect">
            <a:avLst>
              <a:gd name="adj" fmla="val 20958"/>
            </a:avLst>
          </a:prstGeom>
          <a:solidFill>
            <a:srgbClr val="F6F9F7"/>
          </a:solidFill>
          <a:ln w="12700">
            <a:solidFill>
              <a:srgbClr val="E3E9E5"/>
            </a:solidFill>
            <a:prstDash val="solid"/>
          </a:ln>
        </p:spPr>
      </p:sp>
      <p:sp>
        <p:nvSpPr>
          <p:cNvPr id="23" name="Shape 18"/>
          <p:cNvSpPr/>
          <p:nvPr/>
        </p:nvSpPr>
        <p:spPr>
          <a:xfrm>
            <a:off x="749808" y="3977640"/>
            <a:ext cx="402336" cy="402336"/>
          </a:xfrm>
          <a:prstGeom prst="ellipse">
            <a:avLst/>
          </a:prstGeom>
          <a:solidFill>
            <a:srgbClr val="0E7C5A"/>
          </a:solidFill>
          <a:ln/>
        </p:spPr>
      </p:sp>
      <p:sp>
        <p:nvSpPr>
          <p:cNvPr id="24" name="Text 19"/>
          <p:cNvSpPr txBox="1"/>
          <p:nvPr/>
        </p:nvSpPr>
        <p:spPr>
          <a:xfrm>
            <a:off x="749808" y="39776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5" name="Text 20"/>
          <p:cNvSpPr/>
          <p:nvPr/>
        </p:nvSpPr>
        <p:spPr>
          <a:xfrm>
            <a:off x="1353312" y="3928262"/>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3.  She ______ her homework every evening.  (finish)</a:t>
            </a:r>
            <a:endParaRPr lang="en-US" sz="1800" dirty="0"/>
          </a:p>
        </p:txBody>
      </p:sp>
      <p:sp>
        <p:nvSpPr>
          <p:cNvPr id="26" name="Shape 21"/>
          <p:cNvSpPr/>
          <p:nvPr/>
        </p:nvSpPr>
        <p:spPr>
          <a:xfrm>
            <a:off x="548640" y="4603090"/>
            <a:ext cx="11094415" cy="610819"/>
          </a:xfrm>
          <a:prstGeom prst="roundRect">
            <a:avLst>
              <a:gd name="adj" fmla="val 20958"/>
            </a:avLst>
          </a:prstGeom>
          <a:solidFill>
            <a:srgbClr val="F6F9F7"/>
          </a:solidFill>
          <a:ln w="12700">
            <a:solidFill>
              <a:srgbClr val="E3E9E5"/>
            </a:solidFill>
            <a:prstDash val="solid"/>
          </a:ln>
        </p:spPr>
      </p:sp>
      <p:sp>
        <p:nvSpPr>
          <p:cNvPr id="27" name="Shape 22"/>
          <p:cNvSpPr/>
          <p:nvPr/>
        </p:nvSpPr>
        <p:spPr>
          <a:xfrm>
            <a:off x="749808" y="4707331"/>
            <a:ext cx="402336" cy="402336"/>
          </a:xfrm>
          <a:prstGeom prst="ellipse">
            <a:avLst/>
          </a:prstGeom>
          <a:solidFill>
            <a:srgbClr val="0E7C5A"/>
          </a:solidFill>
          <a:ln/>
        </p:spPr>
      </p:sp>
      <p:sp>
        <p:nvSpPr>
          <p:cNvPr id="28" name="Text 23"/>
          <p:cNvSpPr txBox="1"/>
          <p:nvPr/>
        </p:nvSpPr>
        <p:spPr>
          <a:xfrm>
            <a:off x="749808" y="470733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9" name="Text 24"/>
          <p:cNvSpPr/>
          <p:nvPr/>
        </p:nvSpPr>
        <p:spPr>
          <a:xfrm>
            <a:off x="1353312" y="4657954"/>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4.  The bank ______ at eight thirty.  (open)</a:t>
            </a:r>
            <a:endParaRPr lang="en-US" sz="1800" dirty="0"/>
          </a:p>
        </p:txBody>
      </p:sp>
      <p:sp>
        <p:nvSpPr>
          <p:cNvPr id="30" name="Shape 25"/>
          <p:cNvSpPr/>
          <p:nvPr/>
        </p:nvSpPr>
        <p:spPr>
          <a:xfrm>
            <a:off x="548640" y="5332781"/>
            <a:ext cx="11094415" cy="610819"/>
          </a:xfrm>
          <a:prstGeom prst="roundRect">
            <a:avLst>
              <a:gd name="adj" fmla="val 20958"/>
            </a:avLst>
          </a:prstGeom>
          <a:solidFill>
            <a:srgbClr val="F6F9F7"/>
          </a:solidFill>
          <a:ln w="12700">
            <a:solidFill>
              <a:srgbClr val="E3E9E5"/>
            </a:solidFill>
            <a:prstDash val="solid"/>
          </a:ln>
        </p:spPr>
      </p:sp>
      <p:sp>
        <p:nvSpPr>
          <p:cNvPr id="31" name="Shape 26"/>
          <p:cNvSpPr/>
          <p:nvPr/>
        </p:nvSpPr>
        <p:spPr>
          <a:xfrm>
            <a:off x="749808" y="5437022"/>
            <a:ext cx="402336" cy="402336"/>
          </a:xfrm>
          <a:prstGeom prst="ellipse">
            <a:avLst/>
          </a:prstGeom>
          <a:solidFill>
            <a:srgbClr val="0E7C5A"/>
          </a:solidFill>
          <a:ln/>
        </p:spPr>
      </p:sp>
      <p:sp>
        <p:nvSpPr>
          <p:cNvPr id="32" name="Text 27"/>
          <p:cNvSpPr txBox="1"/>
          <p:nvPr/>
        </p:nvSpPr>
        <p:spPr>
          <a:xfrm>
            <a:off x="749808" y="543702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3" name="Text 28"/>
          <p:cNvSpPr/>
          <p:nvPr/>
        </p:nvSpPr>
        <p:spPr>
          <a:xfrm>
            <a:off x="1353312" y="5387645"/>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5.  My brothers ______ football at the weekend.  (play)</a:t>
            </a:r>
            <a:endParaRPr lang="en-US" sz="18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EXERCISE C · EASY</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Exercise C — matching</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Match the subject to the verb, and the question to the answer.</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1 — Present Simple &amp; Daily Routine</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53</a:t>
            </a:r>
            <a:endParaRPr lang="en-US" sz="1100" dirty="0"/>
          </a:p>
        </p:txBody>
      </p:sp>
      <p:sp>
        <p:nvSpPr>
          <p:cNvPr id="11" name="Shape 7"/>
          <p:cNvSpPr/>
          <p:nvPr/>
        </p:nvSpPr>
        <p:spPr>
          <a:xfrm>
            <a:off x="548640" y="1883664"/>
            <a:ext cx="11094415" cy="566928"/>
          </a:xfrm>
          <a:prstGeom prst="roundRect">
            <a:avLst>
              <a:gd name="adj" fmla="val 22581"/>
            </a:avLst>
          </a:prstGeom>
          <a:solidFill>
            <a:srgbClr val="EDF0FD"/>
          </a:solidFill>
          <a:ln w="12700">
            <a:solidFill>
              <a:srgbClr val="0E7C5A"/>
            </a:solidFill>
            <a:prstDash val="solid"/>
          </a:ln>
        </p:spPr>
      </p:sp>
      <p:sp>
        <p:nvSpPr>
          <p:cNvPr id="12" name="Shape 8"/>
          <p:cNvSpPr/>
          <p:nvPr/>
        </p:nvSpPr>
        <p:spPr>
          <a:xfrm>
            <a:off x="749808" y="1993392"/>
            <a:ext cx="347472" cy="347472"/>
          </a:xfrm>
          <a:prstGeom prst="ellipse">
            <a:avLst/>
          </a:prstGeom>
          <a:solidFill>
            <a:srgbClr val="0E7C5A"/>
          </a:solidFill>
          <a:ln/>
        </p:spPr>
      </p:sp>
      <p:pic>
        <p:nvPicPr>
          <p:cNvPr id="13" name="Image 1" descr="preencoded.png">    </p:cNvPr>
          <p:cNvPicPr>
            <a:picLocks noChangeAspect="1"/>
          </p:cNvPicPr>
          <p:nvPr/>
        </p:nvPicPr>
        <p:blipFill>
          <a:blip r:embed="rId2"/>
          <a:stretch>
            <a:fillRect/>
          </a:stretch>
        </p:blipFill>
        <p:spPr>
          <a:xfrm>
            <a:off x="836676" y="2080260"/>
            <a:ext cx="173736" cy="173736"/>
          </a:xfrm>
          <a:prstGeom prst="rect">
            <a:avLst/>
          </a:prstGeom>
        </p:spPr>
      </p:pic>
      <p:sp>
        <p:nvSpPr>
          <p:cNvPr id="14" name="Text 9"/>
          <p:cNvSpPr txBox="1"/>
          <p:nvPr/>
        </p:nvSpPr>
        <p:spPr>
          <a:xfrm>
            <a:off x="1207008" y="188366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Write the pairs: 1–c, 2–a, and so on.</a:t>
            </a:r>
            <a:endParaRPr lang="en-US" sz="1700" dirty="0"/>
          </a:p>
        </p:txBody>
      </p:sp>
      <p:sp>
        <p:nvSpPr>
          <p:cNvPr id="15" name="Shape 10"/>
          <p:cNvSpPr/>
          <p:nvPr/>
        </p:nvSpPr>
        <p:spPr>
          <a:xfrm>
            <a:off x="548640" y="2596896"/>
            <a:ext cx="11094415" cy="747522"/>
          </a:xfrm>
          <a:prstGeom prst="roundRect">
            <a:avLst>
              <a:gd name="adj" fmla="val 17125"/>
            </a:avLst>
          </a:prstGeom>
          <a:solidFill>
            <a:srgbClr val="F6F9F7"/>
          </a:solidFill>
          <a:ln w="12700">
            <a:solidFill>
              <a:srgbClr val="E3E9E5"/>
            </a:solidFill>
            <a:prstDash val="solid"/>
          </a:ln>
        </p:spPr>
      </p:sp>
      <p:sp>
        <p:nvSpPr>
          <p:cNvPr id="16" name="Shape 11"/>
          <p:cNvSpPr/>
          <p:nvPr/>
        </p:nvSpPr>
        <p:spPr>
          <a:xfrm>
            <a:off x="749808" y="2769489"/>
            <a:ext cx="402336" cy="402336"/>
          </a:xfrm>
          <a:prstGeom prst="ellipse">
            <a:avLst/>
          </a:prstGeom>
          <a:solidFill>
            <a:srgbClr val="0E7C5A"/>
          </a:solidFill>
          <a:ln/>
        </p:spPr>
      </p:sp>
      <p:sp>
        <p:nvSpPr>
          <p:cNvPr id="17" name="Text 12"/>
          <p:cNvSpPr txBox="1"/>
          <p:nvPr/>
        </p:nvSpPr>
        <p:spPr>
          <a:xfrm>
            <a:off x="749808" y="276948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8" name="Text 13"/>
          <p:cNvSpPr/>
          <p:nvPr/>
        </p:nvSpPr>
        <p:spPr>
          <a:xfrm>
            <a:off x="1353312" y="2651760"/>
            <a:ext cx="10033711" cy="637794"/>
          </a:xfrm>
          <a:prstGeom prst="rect">
            <a:avLst/>
          </a:prstGeom>
          <a:noFill/>
          <a:ln/>
        </p:spPr>
        <p:txBody>
          <a:bodyPr wrap="square" lIns="0" tIns="0" rIns="0" bIns="0" rtlCol="0" anchor="ctr"/>
          <a:lstStyle/>
          <a:p>
            <a:pPr indent="0" marL="0">
              <a:lnSpc>
                <a:spcPct val="102000"/>
              </a:lnSpc>
              <a:buNone/>
            </a:pPr>
            <a:r>
              <a:rPr lang="en-US" sz="1500" b="1" dirty="0">
                <a:solidFill>
                  <a:srgbClr val="12211B"/>
                </a:solidFill>
                <a:latin typeface="Calibri" pitchFamily="34" charset="0"/>
                <a:ea typeface="Calibri" pitchFamily="34" charset="-122"/>
                <a:cs typeface="Calibri" pitchFamily="34" charset="-120"/>
              </a:rPr>
              <a:t>Part 1 — match the SUBJECT to the VERB FORM</a:t>
            </a:r>
            <a:endParaRPr lang="en-US" sz="1500" dirty="0"/>
          </a:p>
          <a:p>
            <a:pPr indent="0" marL="0">
              <a:lnSpc>
                <a:spcPct val="102000"/>
              </a:lnSpc>
              <a:spcBef>
                <a:spcPts val="265"/>
              </a:spcBef>
              <a:buNone/>
            </a:pPr>
            <a:r>
              <a:rPr lang="en-US" sz="1150" dirty="0">
                <a:solidFill>
                  <a:srgbClr val="3A473F"/>
                </a:solidFill>
                <a:latin typeface="Calibri" pitchFamily="34" charset="0"/>
                <a:ea typeface="Calibri" pitchFamily="34" charset="-122"/>
                <a:cs typeface="Calibri" pitchFamily="34" charset="-120"/>
              </a:rPr>
              <a:t>1. I     2. My sister     3. They     4. The shop          a) opens     b) work     c) works     d) work</a:t>
            </a:r>
            <a:endParaRPr lang="en-US" sz="1500" dirty="0"/>
          </a:p>
        </p:txBody>
      </p:sp>
      <p:sp>
        <p:nvSpPr>
          <p:cNvPr id="19" name="Shape 14"/>
          <p:cNvSpPr/>
          <p:nvPr/>
        </p:nvSpPr>
        <p:spPr>
          <a:xfrm>
            <a:off x="548640" y="3463290"/>
            <a:ext cx="11094415" cy="747522"/>
          </a:xfrm>
          <a:prstGeom prst="roundRect">
            <a:avLst>
              <a:gd name="adj" fmla="val 17125"/>
            </a:avLst>
          </a:prstGeom>
          <a:solidFill>
            <a:srgbClr val="F6F9F7"/>
          </a:solidFill>
          <a:ln w="12700">
            <a:solidFill>
              <a:srgbClr val="E3E9E5"/>
            </a:solidFill>
            <a:prstDash val="solid"/>
          </a:ln>
        </p:spPr>
      </p:sp>
      <p:sp>
        <p:nvSpPr>
          <p:cNvPr id="20" name="Shape 15"/>
          <p:cNvSpPr/>
          <p:nvPr/>
        </p:nvSpPr>
        <p:spPr>
          <a:xfrm>
            <a:off x="749808" y="3635883"/>
            <a:ext cx="402336" cy="402336"/>
          </a:xfrm>
          <a:prstGeom prst="ellipse">
            <a:avLst/>
          </a:prstGeom>
          <a:solidFill>
            <a:srgbClr val="0E7C5A"/>
          </a:solidFill>
          <a:ln/>
        </p:spPr>
      </p:sp>
      <p:sp>
        <p:nvSpPr>
          <p:cNvPr id="21" name="Text 16"/>
          <p:cNvSpPr txBox="1"/>
          <p:nvPr/>
        </p:nvSpPr>
        <p:spPr>
          <a:xfrm>
            <a:off x="749808" y="3635883"/>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2" name="Text 17"/>
          <p:cNvSpPr/>
          <p:nvPr/>
        </p:nvSpPr>
        <p:spPr>
          <a:xfrm>
            <a:off x="1353312" y="3518154"/>
            <a:ext cx="10033711" cy="637794"/>
          </a:xfrm>
          <a:prstGeom prst="rect">
            <a:avLst/>
          </a:prstGeom>
          <a:noFill/>
          <a:ln/>
        </p:spPr>
        <p:txBody>
          <a:bodyPr wrap="square" lIns="0" tIns="0" rIns="0" bIns="0" rtlCol="0" anchor="ctr"/>
          <a:lstStyle/>
          <a:p>
            <a:pPr indent="0" marL="0">
              <a:lnSpc>
                <a:spcPct val="102000"/>
              </a:lnSpc>
              <a:buNone/>
            </a:pPr>
            <a:r>
              <a:rPr lang="en-US" sz="1500" b="1" dirty="0">
                <a:solidFill>
                  <a:srgbClr val="12211B"/>
                </a:solidFill>
                <a:latin typeface="Calibri" pitchFamily="34" charset="0"/>
                <a:ea typeface="Calibri" pitchFamily="34" charset="-122"/>
                <a:cs typeface="Calibri" pitchFamily="34" charset="-120"/>
              </a:rPr>
              <a:t>Part 2 — match the QUESTION to the ANSWER</a:t>
            </a:r>
            <a:endParaRPr lang="en-US" sz="1500" dirty="0"/>
          </a:p>
          <a:p>
            <a:pPr indent="0" marL="0">
              <a:lnSpc>
                <a:spcPct val="102000"/>
              </a:lnSpc>
              <a:spcBef>
                <a:spcPts val="265"/>
              </a:spcBef>
              <a:buNone/>
            </a:pPr>
            <a:r>
              <a:rPr lang="en-US" sz="1150" dirty="0">
                <a:solidFill>
                  <a:srgbClr val="3A473F"/>
                </a:solidFill>
                <a:latin typeface="Calibri" pitchFamily="34" charset="0"/>
                <a:ea typeface="Calibri" pitchFamily="34" charset="-122"/>
                <a:cs typeface="Calibri" pitchFamily="34" charset="-120"/>
              </a:rPr>
              <a:t>1. Do you work here?     2. Does she like tea?     3. What time do you start?     4. How often does he come?</a:t>
            </a:r>
            <a:endParaRPr lang="en-US" sz="1500" dirty="0"/>
          </a:p>
        </p:txBody>
      </p:sp>
      <p:sp>
        <p:nvSpPr>
          <p:cNvPr id="23" name="Shape 18"/>
          <p:cNvSpPr/>
          <p:nvPr/>
        </p:nvSpPr>
        <p:spPr>
          <a:xfrm>
            <a:off x="548640" y="4329684"/>
            <a:ext cx="11094415" cy="747522"/>
          </a:xfrm>
          <a:prstGeom prst="roundRect">
            <a:avLst>
              <a:gd name="adj" fmla="val 17125"/>
            </a:avLst>
          </a:prstGeom>
          <a:solidFill>
            <a:srgbClr val="F6F9F7"/>
          </a:solidFill>
          <a:ln w="12700">
            <a:solidFill>
              <a:srgbClr val="E3E9E5"/>
            </a:solidFill>
            <a:prstDash val="solid"/>
          </a:ln>
        </p:spPr>
      </p:sp>
      <p:sp>
        <p:nvSpPr>
          <p:cNvPr id="24" name="Shape 19"/>
          <p:cNvSpPr/>
          <p:nvPr/>
        </p:nvSpPr>
        <p:spPr>
          <a:xfrm>
            <a:off x="749808" y="4502277"/>
            <a:ext cx="402336" cy="402336"/>
          </a:xfrm>
          <a:prstGeom prst="ellipse">
            <a:avLst/>
          </a:prstGeom>
          <a:solidFill>
            <a:srgbClr val="0E7C5A"/>
          </a:solidFill>
          <a:ln/>
        </p:spPr>
      </p:sp>
      <p:sp>
        <p:nvSpPr>
          <p:cNvPr id="25" name="Text 20"/>
          <p:cNvSpPr txBox="1"/>
          <p:nvPr/>
        </p:nvSpPr>
        <p:spPr>
          <a:xfrm>
            <a:off x="749808" y="4502277"/>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6" name="Text 21"/>
          <p:cNvSpPr/>
          <p:nvPr/>
        </p:nvSpPr>
        <p:spPr>
          <a:xfrm>
            <a:off x="1353312" y="4384548"/>
            <a:ext cx="10033711" cy="637794"/>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a) At seven o'clock.        b) Yes, I do.</a:t>
            </a:r>
            <a:endParaRPr lang="en-US" sz="1700" dirty="0"/>
          </a:p>
          <a:p>
            <a:pPr indent="0" marL="0">
              <a:lnSpc>
                <a:spcPct val="102000"/>
              </a:lnSpc>
              <a:spcBef>
                <a:spcPts val="300"/>
              </a:spcBef>
              <a:buNone/>
            </a:pPr>
            <a:r>
              <a:rPr lang="en-US" sz="1300" dirty="0">
                <a:solidFill>
                  <a:srgbClr val="3A473F"/>
                </a:solidFill>
                <a:latin typeface="Calibri" pitchFamily="34" charset="0"/>
                <a:ea typeface="Calibri" pitchFamily="34" charset="-122"/>
                <a:cs typeface="Calibri" pitchFamily="34" charset="-120"/>
              </a:rPr>
              <a:t>c) Twice a week.        d) No, she does not.</a:t>
            </a:r>
            <a:endParaRPr lang="en-US" sz="1700" dirty="0"/>
          </a:p>
        </p:txBody>
      </p:sp>
      <p:sp>
        <p:nvSpPr>
          <p:cNvPr id="27" name="Shape 22"/>
          <p:cNvSpPr/>
          <p:nvPr/>
        </p:nvSpPr>
        <p:spPr>
          <a:xfrm>
            <a:off x="548640" y="5196078"/>
            <a:ext cx="11094415" cy="747522"/>
          </a:xfrm>
          <a:prstGeom prst="roundRect">
            <a:avLst>
              <a:gd name="adj" fmla="val 17125"/>
            </a:avLst>
          </a:prstGeom>
          <a:solidFill>
            <a:srgbClr val="F6F9F7"/>
          </a:solidFill>
          <a:ln w="12700">
            <a:solidFill>
              <a:srgbClr val="E3E9E5"/>
            </a:solidFill>
            <a:prstDash val="solid"/>
          </a:ln>
        </p:spPr>
      </p:sp>
      <p:sp>
        <p:nvSpPr>
          <p:cNvPr id="28" name="Shape 23"/>
          <p:cNvSpPr/>
          <p:nvPr/>
        </p:nvSpPr>
        <p:spPr>
          <a:xfrm>
            <a:off x="749808" y="5368671"/>
            <a:ext cx="402336" cy="402336"/>
          </a:xfrm>
          <a:prstGeom prst="ellipse">
            <a:avLst/>
          </a:prstGeom>
          <a:solidFill>
            <a:srgbClr val="0E7C5A"/>
          </a:solidFill>
          <a:ln/>
        </p:spPr>
      </p:sp>
      <p:sp>
        <p:nvSpPr>
          <p:cNvPr id="29" name="Text 24"/>
          <p:cNvSpPr txBox="1"/>
          <p:nvPr/>
        </p:nvSpPr>
        <p:spPr>
          <a:xfrm>
            <a:off x="749808" y="536867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30" name="Text 25"/>
          <p:cNvSpPr/>
          <p:nvPr/>
        </p:nvSpPr>
        <p:spPr>
          <a:xfrm>
            <a:off x="1353312" y="5250942"/>
            <a:ext cx="10033711" cy="637794"/>
          </a:xfrm>
          <a:prstGeom prst="rect">
            <a:avLst/>
          </a:prstGeom>
          <a:noFill/>
          <a:ln/>
        </p:spPr>
        <p:txBody>
          <a:bodyPr wrap="square" lIns="0" tIns="0" rIns="0" bIns="0" rtlCol="0" anchor="ctr"/>
          <a:lstStyle/>
          <a:p>
            <a:pPr indent="0" marL="0">
              <a:lnSpc>
                <a:spcPct val="102000"/>
              </a:lnSpc>
              <a:buNone/>
            </a:pPr>
            <a:r>
              <a:rPr lang="en-US" sz="1500" b="1" dirty="0">
                <a:solidFill>
                  <a:srgbClr val="12211B"/>
                </a:solidFill>
                <a:latin typeface="Calibri" pitchFamily="34" charset="0"/>
                <a:ea typeface="Calibri" pitchFamily="34" charset="-122"/>
                <a:cs typeface="Calibri" pitchFamily="34" charset="-120"/>
              </a:rPr>
              <a:t>Part 3 — match the VERB to its -s FORM</a:t>
            </a:r>
            <a:endParaRPr lang="en-US" sz="1500" dirty="0"/>
          </a:p>
          <a:p>
            <a:pPr indent="0" marL="0">
              <a:lnSpc>
                <a:spcPct val="102000"/>
              </a:lnSpc>
              <a:spcBef>
                <a:spcPts val="265"/>
              </a:spcBef>
              <a:buNone/>
            </a:pPr>
            <a:r>
              <a:rPr lang="en-US" sz="1150" dirty="0">
                <a:solidFill>
                  <a:srgbClr val="3A473F"/>
                </a:solidFill>
                <a:latin typeface="Calibri" pitchFamily="34" charset="0"/>
                <a:ea typeface="Calibri" pitchFamily="34" charset="-122"/>
                <a:cs typeface="Calibri" pitchFamily="34" charset="-120"/>
              </a:rPr>
              <a:t>1. study     2. watch     3. have     4. go          a) has     b) studies     c) goes     d) watches</a:t>
            </a:r>
            <a:endParaRPr lang="en-US" sz="15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EXERCISE D · EASY</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Exercise D — write the -s form</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1 — Present Simple &amp; Daily Routine</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54</a:t>
            </a:r>
            <a:endParaRPr lang="en-US" sz="1100" dirty="0"/>
          </a:p>
        </p:txBody>
      </p:sp>
      <p:sp>
        <p:nvSpPr>
          <p:cNvPr id="10" name="Shape 6"/>
          <p:cNvSpPr/>
          <p:nvPr/>
        </p:nvSpPr>
        <p:spPr>
          <a:xfrm>
            <a:off x="548640" y="1700784"/>
            <a:ext cx="11094415" cy="566928"/>
          </a:xfrm>
          <a:prstGeom prst="roundRect">
            <a:avLst>
              <a:gd name="adj" fmla="val 22581"/>
            </a:avLst>
          </a:prstGeom>
          <a:solidFill>
            <a:srgbClr val="EDF0FD"/>
          </a:solidFill>
          <a:ln w="12700">
            <a:solidFill>
              <a:srgbClr val="0E7C5A"/>
            </a:solidFill>
            <a:prstDash val="solid"/>
          </a:ln>
        </p:spPr>
      </p:sp>
      <p:sp>
        <p:nvSpPr>
          <p:cNvPr id="11" name="Shape 7"/>
          <p:cNvSpPr/>
          <p:nvPr/>
        </p:nvSpPr>
        <p:spPr>
          <a:xfrm>
            <a:off x="749808" y="1810512"/>
            <a:ext cx="347472" cy="347472"/>
          </a:xfrm>
          <a:prstGeom prst="ellipse">
            <a:avLst/>
          </a:prstGeom>
          <a:solidFill>
            <a:srgbClr val="0E7C5A"/>
          </a:solidFill>
          <a:ln/>
        </p:spPr>
      </p:sp>
      <p:pic>
        <p:nvPicPr>
          <p:cNvPr id="12" name="Image 1" descr="preencoded.png">    </p:cNvPr>
          <p:cNvPicPr>
            <a:picLocks noChangeAspect="1"/>
          </p:cNvPicPr>
          <p:nvPr/>
        </p:nvPicPr>
        <p:blipFill>
          <a:blip r:embed="rId2"/>
          <a:stretch>
            <a:fillRect/>
          </a:stretch>
        </p:blipFill>
        <p:spPr>
          <a:xfrm>
            <a:off x="836676" y="1897380"/>
            <a:ext cx="173736" cy="173736"/>
          </a:xfrm>
          <a:prstGeom prst="rect">
            <a:avLst/>
          </a:prstGeom>
        </p:spPr>
      </p:pic>
      <p:sp>
        <p:nvSpPr>
          <p:cNvPr id="13" name="Text 8"/>
          <p:cNvSpPr txBox="1"/>
          <p:nvPr/>
        </p:nvSpPr>
        <p:spPr>
          <a:xfrm>
            <a:off x="1207008" y="170078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Write the he/she/it form of each verb.</a:t>
            </a:r>
            <a:endParaRPr lang="en-US" sz="1700" dirty="0"/>
          </a:p>
        </p:txBody>
      </p:sp>
      <p:sp>
        <p:nvSpPr>
          <p:cNvPr id="14" name="Shape 9"/>
          <p:cNvSpPr/>
          <p:nvPr/>
        </p:nvSpPr>
        <p:spPr>
          <a:xfrm>
            <a:off x="548640" y="2414016"/>
            <a:ext cx="11094415" cy="610819"/>
          </a:xfrm>
          <a:prstGeom prst="roundRect">
            <a:avLst>
              <a:gd name="adj" fmla="val 20958"/>
            </a:avLst>
          </a:prstGeom>
          <a:solidFill>
            <a:srgbClr val="F6F9F7"/>
          </a:solidFill>
          <a:ln w="12700">
            <a:solidFill>
              <a:srgbClr val="E3E9E5"/>
            </a:solidFill>
            <a:prstDash val="solid"/>
          </a:ln>
        </p:spPr>
      </p:sp>
      <p:sp>
        <p:nvSpPr>
          <p:cNvPr id="15" name="Shape 10"/>
          <p:cNvSpPr/>
          <p:nvPr/>
        </p:nvSpPr>
        <p:spPr>
          <a:xfrm>
            <a:off x="749808" y="2518258"/>
            <a:ext cx="402336" cy="402336"/>
          </a:xfrm>
          <a:prstGeom prst="ellipse">
            <a:avLst/>
          </a:prstGeom>
          <a:solidFill>
            <a:srgbClr val="0E7C5A"/>
          </a:solidFill>
          <a:ln/>
        </p:spPr>
      </p:sp>
      <p:sp>
        <p:nvSpPr>
          <p:cNvPr id="16" name="Text 11"/>
          <p:cNvSpPr txBox="1"/>
          <p:nvPr/>
        </p:nvSpPr>
        <p:spPr>
          <a:xfrm>
            <a:off x="749808" y="251825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7" name="Text 12"/>
          <p:cNvSpPr/>
          <p:nvPr/>
        </p:nvSpPr>
        <p:spPr>
          <a:xfrm>
            <a:off x="1353312" y="2468880"/>
            <a:ext cx="10033711" cy="501091"/>
          </a:xfrm>
          <a:prstGeom prst="rect">
            <a:avLst/>
          </a:prstGeom>
          <a:noFill/>
          <a:ln/>
        </p:spPr>
        <p:txBody>
          <a:bodyPr wrap="square" lIns="0" tIns="0" rIns="0" bIns="0" rtlCol="0" anchor="ctr"/>
          <a:lstStyle/>
          <a:p>
            <a:pPr indent="0" marL="0">
              <a:lnSpc>
                <a:spcPct val="102000"/>
              </a:lnSpc>
              <a:buNone/>
            </a:pPr>
            <a:r>
              <a:rPr lang="en-US" sz="1900" b="1" dirty="0">
                <a:solidFill>
                  <a:srgbClr val="12211B"/>
                </a:solidFill>
                <a:latin typeface="Calibri" pitchFamily="34" charset="0"/>
                <a:ea typeface="Calibri" pitchFamily="34" charset="-122"/>
                <a:cs typeface="Calibri" pitchFamily="34" charset="-120"/>
              </a:rPr>
              <a:t>1.  work · live · eat · read</a:t>
            </a:r>
            <a:endParaRPr lang="en-US" sz="1900" dirty="0"/>
          </a:p>
        </p:txBody>
      </p:sp>
      <p:sp>
        <p:nvSpPr>
          <p:cNvPr id="18" name="Shape 13"/>
          <p:cNvSpPr/>
          <p:nvPr/>
        </p:nvSpPr>
        <p:spPr>
          <a:xfrm>
            <a:off x="548640" y="3143707"/>
            <a:ext cx="11094415" cy="610819"/>
          </a:xfrm>
          <a:prstGeom prst="roundRect">
            <a:avLst>
              <a:gd name="adj" fmla="val 20958"/>
            </a:avLst>
          </a:prstGeom>
          <a:solidFill>
            <a:srgbClr val="F6F9F7"/>
          </a:solidFill>
          <a:ln w="12700">
            <a:solidFill>
              <a:srgbClr val="E3E9E5"/>
            </a:solidFill>
            <a:prstDash val="solid"/>
          </a:ln>
        </p:spPr>
      </p:sp>
      <p:sp>
        <p:nvSpPr>
          <p:cNvPr id="19" name="Shape 14"/>
          <p:cNvSpPr/>
          <p:nvPr/>
        </p:nvSpPr>
        <p:spPr>
          <a:xfrm>
            <a:off x="749808" y="3247949"/>
            <a:ext cx="402336" cy="402336"/>
          </a:xfrm>
          <a:prstGeom prst="ellipse">
            <a:avLst/>
          </a:prstGeom>
          <a:solidFill>
            <a:srgbClr val="0E7C5A"/>
          </a:solidFill>
          <a:ln/>
        </p:spPr>
      </p:sp>
      <p:sp>
        <p:nvSpPr>
          <p:cNvPr id="20" name="Text 15"/>
          <p:cNvSpPr txBox="1"/>
          <p:nvPr/>
        </p:nvSpPr>
        <p:spPr>
          <a:xfrm>
            <a:off x="749808" y="324794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1" name="Text 16"/>
          <p:cNvSpPr/>
          <p:nvPr/>
        </p:nvSpPr>
        <p:spPr>
          <a:xfrm>
            <a:off x="1353312" y="3198571"/>
            <a:ext cx="10033711" cy="501091"/>
          </a:xfrm>
          <a:prstGeom prst="rect">
            <a:avLst/>
          </a:prstGeom>
          <a:noFill/>
          <a:ln/>
        </p:spPr>
        <p:txBody>
          <a:bodyPr wrap="square" lIns="0" tIns="0" rIns="0" bIns="0" rtlCol="0" anchor="ctr"/>
          <a:lstStyle/>
          <a:p>
            <a:pPr indent="0" marL="0">
              <a:lnSpc>
                <a:spcPct val="102000"/>
              </a:lnSpc>
              <a:buNone/>
            </a:pPr>
            <a:r>
              <a:rPr lang="en-US" sz="1900" b="1" dirty="0">
                <a:solidFill>
                  <a:srgbClr val="12211B"/>
                </a:solidFill>
                <a:latin typeface="Calibri" pitchFamily="34" charset="0"/>
                <a:ea typeface="Calibri" pitchFamily="34" charset="-122"/>
                <a:cs typeface="Calibri" pitchFamily="34" charset="-120"/>
              </a:rPr>
              <a:t>2.  watch · wash · fix · teach</a:t>
            </a:r>
            <a:endParaRPr lang="en-US" sz="1900" dirty="0"/>
          </a:p>
        </p:txBody>
      </p:sp>
      <p:sp>
        <p:nvSpPr>
          <p:cNvPr id="22" name="Shape 17"/>
          <p:cNvSpPr/>
          <p:nvPr/>
        </p:nvSpPr>
        <p:spPr>
          <a:xfrm>
            <a:off x="548640" y="3873398"/>
            <a:ext cx="11094415" cy="610819"/>
          </a:xfrm>
          <a:prstGeom prst="roundRect">
            <a:avLst>
              <a:gd name="adj" fmla="val 20958"/>
            </a:avLst>
          </a:prstGeom>
          <a:solidFill>
            <a:srgbClr val="F6F9F7"/>
          </a:solidFill>
          <a:ln w="12700">
            <a:solidFill>
              <a:srgbClr val="E3E9E5"/>
            </a:solidFill>
            <a:prstDash val="solid"/>
          </a:ln>
        </p:spPr>
      </p:sp>
      <p:sp>
        <p:nvSpPr>
          <p:cNvPr id="23" name="Shape 18"/>
          <p:cNvSpPr/>
          <p:nvPr/>
        </p:nvSpPr>
        <p:spPr>
          <a:xfrm>
            <a:off x="749808" y="3977640"/>
            <a:ext cx="402336" cy="402336"/>
          </a:xfrm>
          <a:prstGeom prst="ellipse">
            <a:avLst/>
          </a:prstGeom>
          <a:solidFill>
            <a:srgbClr val="0E7C5A"/>
          </a:solidFill>
          <a:ln/>
        </p:spPr>
      </p:sp>
      <p:sp>
        <p:nvSpPr>
          <p:cNvPr id="24" name="Text 19"/>
          <p:cNvSpPr txBox="1"/>
          <p:nvPr/>
        </p:nvSpPr>
        <p:spPr>
          <a:xfrm>
            <a:off x="749808" y="39776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5" name="Text 20"/>
          <p:cNvSpPr/>
          <p:nvPr/>
        </p:nvSpPr>
        <p:spPr>
          <a:xfrm>
            <a:off x="1353312" y="3928262"/>
            <a:ext cx="10033711" cy="501091"/>
          </a:xfrm>
          <a:prstGeom prst="rect">
            <a:avLst/>
          </a:prstGeom>
          <a:noFill/>
          <a:ln/>
        </p:spPr>
        <p:txBody>
          <a:bodyPr wrap="square" lIns="0" tIns="0" rIns="0" bIns="0" rtlCol="0" anchor="ctr"/>
          <a:lstStyle/>
          <a:p>
            <a:pPr indent="0" marL="0">
              <a:lnSpc>
                <a:spcPct val="102000"/>
              </a:lnSpc>
              <a:buNone/>
            </a:pPr>
            <a:r>
              <a:rPr lang="en-US" sz="1900" b="1" dirty="0">
                <a:solidFill>
                  <a:srgbClr val="12211B"/>
                </a:solidFill>
                <a:latin typeface="Calibri" pitchFamily="34" charset="0"/>
                <a:ea typeface="Calibri" pitchFamily="34" charset="-122"/>
                <a:cs typeface="Calibri" pitchFamily="34" charset="-120"/>
              </a:rPr>
              <a:t>3.  study · carry · try · fly</a:t>
            </a:r>
            <a:endParaRPr lang="en-US" sz="1900" dirty="0"/>
          </a:p>
        </p:txBody>
      </p:sp>
      <p:sp>
        <p:nvSpPr>
          <p:cNvPr id="26" name="Shape 21"/>
          <p:cNvSpPr/>
          <p:nvPr/>
        </p:nvSpPr>
        <p:spPr>
          <a:xfrm>
            <a:off x="548640" y="4603090"/>
            <a:ext cx="11094415" cy="610819"/>
          </a:xfrm>
          <a:prstGeom prst="roundRect">
            <a:avLst>
              <a:gd name="adj" fmla="val 20958"/>
            </a:avLst>
          </a:prstGeom>
          <a:solidFill>
            <a:srgbClr val="F6F9F7"/>
          </a:solidFill>
          <a:ln w="12700">
            <a:solidFill>
              <a:srgbClr val="E3E9E5"/>
            </a:solidFill>
            <a:prstDash val="solid"/>
          </a:ln>
        </p:spPr>
      </p:sp>
      <p:sp>
        <p:nvSpPr>
          <p:cNvPr id="27" name="Shape 22"/>
          <p:cNvSpPr/>
          <p:nvPr/>
        </p:nvSpPr>
        <p:spPr>
          <a:xfrm>
            <a:off x="749808" y="4707331"/>
            <a:ext cx="402336" cy="402336"/>
          </a:xfrm>
          <a:prstGeom prst="ellipse">
            <a:avLst/>
          </a:prstGeom>
          <a:solidFill>
            <a:srgbClr val="0E7C5A"/>
          </a:solidFill>
          <a:ln/>
        </p:spPr>
      </p:sp>
      <p:sp>
        <p:nvSpPr>
          <p:cNvPr id="28" name="Text 23"/>
          <p:cNvSpPr txBox="1"/>
          <p:nvPr/>
        </p:nvSpPr>
        <p:spPr>
          <a:xfrm>
            <a:off x="749808" y="470733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9" name="Text 24"/>
          <p:cNvSpPr/>
          <p:nvPr/>
        </p:nvSpPr>
        <p:spPr>
          <a:xfrm>
            <a:off x="1353312" y="4657954"/>
            <a:ext cx="10033711" cy="501091"/>
          </a:xfrm>
          <a:prstGeom prst="rect">
            <a:avLst/>
          </a:prstGeom>
          <a:noFill/>
          <a:ln/>
        </p:spPr>
        <p:txBody>
          <a:bodyPr wrap="square" lIns="0" tIns="0" rIns="0" bIns="0" rtlCol="0" anchor="ctr"/>
          <a:lstStyle/>
          <a:p>
            <a:pPr indent="0" marL="0">
              <a:lnSpc>
                <a:spcPct val="102000"/>
              </a:lnSpc>
              <a:buNone/>
            </a:pPr>
            <a:r>
              <a:rPr lang="en-US" sz="1900" b="1" dirty="0">
                <a:solidFill>
                  <a:srgbClr val="12211B"/>
                </a:solidFill>
                <a:latin typeface="Calibri" pitchFamily="34" charset="0"/>
                <a:ea typeface="Calibri" pitchFamily="34" charset="-122"/>
                <a:cs typeface="Calibri" pitchFamily="34" charset="-120"/>
              </a:rPr>
              <a:t>4.  play · buy · say · stay</a:t>
            </a:r>
            <a:endParaRPr lang="en-US" sz="1900" dirty="0"/>
          </a:p>
        </p:txBody>
      </p:sp>
      <p:sp>
        <p:nvSpPr>
          <p:cNvPr id="30" name="Shape 25"/>
          <p:cNvSpPr/>
          <p:nvPr/>
        </p:nvSpPr>
        <p:spPr>
          <a:xfrm>
            <a:off x="548640" y="5332781"/>
            <a:ext cx="11094415" cy="610819"/>
          </a:xfrm>
          <a:prstGeom prst="roundRect">
            <a:avLst>
              <a:gd name="adj" fmla="val 20958"/>
            </a:avLst>
          </a:prstGeom>
          <a:solidFill>
            <a:srgbClr val="F6F9F7"/>
          </a:solidFill>
          <a:ln w="12700">
            <a:solidFill>
              <a:srgbClr val="E3E9E5"/>
            </a:solidFill>
            <a:prstDash val="solid"/>
          </a:ln>
        </p:spPr>
      </p:sp>
      <p:sp>
        <p:nvSpPr>
          <p:cNvPr id="31" name="Shape 26"/>
          <p:cNvSpPr/>
          <p:nvPr/>
        </p:nvSpPr>
        <p:spPr>
          <a:xfrm>
            <a:off x="749808" y="5437022"/>
            <a:ext cx="402336" cy="402336"/>
          </a:xfrm>
          <a:prstGeom prst="ellipse">
            <a:avLst/>
          </a:prstGeom>
          <a:solidFill>
            <a:srgbClr val="0E7C5A"/>
          </a:solidFill>
          <a:ln/>
        </p:spPr>
      </p:sp>
      <p:sp>
        <p:nvSpPr>
          <p:cNvPr id="32" name="Text 27"/>
          <p:cNvSpPr txBox="1"/>
          <p:nvPr/>
        </p:nvSpPr>
        <p:spPr>
          <a:xfrm>
            <a:off x="749808" y="543702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3" name="Text 28"/>
          <p:cNvSpPr/>
          <p:nvPr/>
        </p:nvSpPr>
        <p:spPr>
          <a:xfrm>
            <a:off x="1353312" y="5387645"/>
            <a:ext cx="10033711" cy="501091"/>
          </a:xfrm>
          <a:prstGeom prst="rect">
            <a:avLst/>
          </a:prstGeom>
          <a:noFill/>
          <a:ln/>
        </p:spPr>
        <p:txBody>
          <a:bodyPr wrap="square" lIns="0" tIns="0" rIns="0" bIns="0" rtlCol="0" anchor="ctr"/>
          <a:lstStyle/>
          <a:p>
            <a:pPr indent="0" marL="0">
              <a:lnSpc>
                <a:spcPct val="102000"/>
              </a:lnSpc>
              <a:buNone/>
            </a:pPr>
            <a:r>
              <a:rPr lang="en-US" sz="1900" b="1" dirty="0">
                <a:solidFill>
                  <a:srgbClr val="12211B"/>
                </a:solidFill>
                <a:latin typeface="Calibri" pitchFamily="34" charset="0"/>
                <a:ea typeface="Calibri" pitchFamily="34" charset="-122"/>
                <a:cs typeface="Calibri" pitchFamily="34" charset="-120"/>
              </a:rPr>
              <a:t>5.  go · do · have</a:t>
            </a:r>
            <a:endParaRPr lang="en-US" sz="19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391156"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89738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EXERCISE E · MEDIUM</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Exercise E — find and correct the mistake</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1 — Present Simple &amp; Daily Routine</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55</a:t>
            </a:r>
            <a:endParaRPr lang="en-US" sz="1100" dirty="0"/>
          </a:p>
        </p:txBody>
      </p:sp>
      <p:sp>
        <p:nvSpPr>
          <p:cNvPr id="10" name="Shape 6"/>
          <p:cNvSpPr/>
          <p:nvPr/>
        </p:nvSpPr>
        <p:spPr>
          <a:xfrm>
            <a:off x="548640" y="1700784"/>
            <a:ext cx="11094415" cy="566928"/>
          </a:xfrm>
          <a:prstGeom prst="roundRect">
            <a:avLst>
              <a:gd name="adj" fmla="val 22581"/>
            </a:avLst>
          </a:prstGeom>
          <a:solidFill>
            <a:srgbClr val="EDF0FD"/>
          </a:solidFill>
          <a:ln w="12700">
            <a:solidFill>
              <a:srgbClr val="0E7C5A"/>
            </a:solidFill>
            <a:prstDash val="solid"/>
          </a:ln>
        </p:spPr>
      </p:sp>
      <p:sp>
        <p:nvSpPr>
          <p:cNvPr id="11" name="Shape 7"/>
          <p:cNvSpPr/>
          <p:nvPr/>
        </p:nvSpPr>
        <p:spPr>
          <a:xfrm>
            <a:off x="749808" y="1810512"/>
            <a:ext cx="347472" cy="347472"/>
          </a:xfrm>
          <a:prstGeom prst="ellipse">
            <a:avLst/>
          </a:prstGeom>
          <a:solidFill>
            <a:srgbClr val="0E7C5A"/>
          </a:solidFill>
          <a:ln/>
        </p:spPr>
      </p:sp>
      <p:pic>
        <p:nvPicPr>
          <p:cNvPr id="12" name="Image 1" descr="preencoded.png">    </p:cNvPr>
          <p:cNvPicPr>
            <a:picLocks noChangeAspect="1"/>
          </p:cNvPicPr>
          <p:nvPr/>
        </p:nvPicPr>
        <p:blipFill>
          <a:blip r:embed="rId2"/>
          <a:stretch>
            <a:fillRect/>
          </a:stretch>
        </p:blipFill>
        <p:spPr>
          <a:xfrm>
            <a:off x="836676" y="1897380"/>
            <a:ext cx="173736" cy="173736"/>
          </a:xfrm>
          <a:prstGeom prst="rect">
            <a:avLst/>
          </a:prstGeom>
        </p:spPr>
      </p:pic>
      <p:sp>
        <p:nvSpPr>
          <p:cNvPr id="13" name="Text 8"/>
          <p:cNvSpPr txBox="1"/>
          <p:nvPr/>
        </p:nvSpPr>
        <p:spPr>
          <a:xfrm>
            <a:off x="1207008" y="170078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Rewrite each sentence correctly.</a:t>
            </a:r>
            <a:endParaRPr lang="en-US" sz="1700" dirty="0"/>
          </a:p>
        </p:txBody>
      </p:sp>
      <p:sp>
        <p:nvSpPr>
          <p:cNvPr id="14" name="Shape 9"/>
          <p:cNvSpPr/>
          <p:nvPr/>
        </p:nvSpPr>
        <p:spPr>
          <a:xfrm>
            <a:off x="548640" y="2414016"/>
            <a:ext cx="11094415" cy="610819"/>
          </a:xfrm>
          <a:prstGeom prst="roundRect">
            <a:avLst>
              <a:gd name="adj" fmla="val 20958"/>
            </a:avLst>
          </a:prstGeom>
          <a:solidFill>
            <a:srgbClr val="F6F9F7"/>
          </a:solidFill>
          <a:ln w="12700">
            <a:solidFill>
              <a:srgbClr val="E3E9E5"/>
            </a:solidFill>
            <a:prstDash val="solid"/>
          </a:ln>
        </p:spPr>
      </p:sp>
      <p:sp>
        <p:nvSpPr>
          <p:cNvPr id="15" name="Shape 10"/>
          <p:cNvSpPr/>
          <p:nvPr/>
        </p:nvSpPr>
        <p:spPr>
          <a:xfrm>
            <a:off x="749808" y="2518258"/>
            <a:ext cx="402336" cy="402336"/>
          </a:xfrm>
          <a:prstGeom prst="ellipse">
            <a:avLst/>
          </a:prstGeom>
          <a:solidFill>
            <a:srgbClr val="0E7C5A"/>
          </a:solidFill>
          <a:ln/>
        </p:spPr>
      </p:sp>
      <p:sp>
        <p:nvSpPr>
          <p:cNvPr id="16" name="Text 11"/>
          <p:cNvSpPr txBox="1"/>
          <p:nvPr/>
        </p:nvSpPr>
        <p:spPr>
          <a:xfrm>
            <a:off x="749808" y="251825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7" name="Text 12"/>
          <p:cNvSpPr/>
          <p:nvPr/>
        </p:nvSpPr>
        <p:spPr>
          <a:xfrm>
            <a:off x="1353312" y="2468880"/>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  My mother work in a school.</a:t>
            </a:r>
            <a:endParaRPr lang="en-US" sz="1800" dirty="0"/>
          </a:p>
        </p:txBody>
      </p:sp>
      <p:sp>
        <p:nvSpPr>
          <p:cNvPr id="18" name="Shape 13"/>
          <p:cNvSpPr/>
          <p:nvPr/>
        </p:nvSpPr>
        <p:spPr>
          <a:xfrm>
            <a:off x="548640" y="3143707"/>
            <a:ext cx="11094415" cy="610819"/>
          </a:xfrm>
          <a:prstGeom prst="roundRect">
            <a:avLst>
              <a:gd name="adj" fmla="val 20958"/>
            </a:avLst>
          </a:prstGeom>
          <a:solidFill>
            <a:srgbClr val="F6F9F7"/>
          </a:solidFill>
          <a:ln w="12700">
            <a:solidFill>
              <a:srgbClr val="E3E9E5"/>
            </a:solidFill>
            <a:prstDash val="solid"/>
          </a:ln>
        </p:spPr>
      </p:sp>
      <p:sp>
        <p:nvSpPr>
          <p:cNvPr id="19" name="Shape 14"/>
          <p:cNvSpPr/>
          <p:nvPr/>
        </p:nvSpPr>
        <p:spPr>
          <a:xfrm>
            <a:off x="749808" y="3247949"/>
            <a:ext cx="402336" cy="402336"/>
          </a:xfrm>
          <a:prstGeom prst="ellipse">
            <a:avLst/>
          </a:prstGeom>
          <a:solidFill>
            <a:srgbClr val="0E7C5A"/>
          </a:solidFill>
          <a:ln/>
        </p:spPr>
      </p:sp>
      <p:sp>
        <p:nvSpPr>
          <p:cNvPr id="20" name="Text 15"/>
          <p:cNvSpPr txBox="1"/>
          <p:nvPr/>
        </p:nvSpPr>
        <p:spPr>
          <a:xfrm>
            <a:off x="749808" y="324794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1" name="Text 16"/>
          <p:cNvSpPr/>
          <p:nvPr/>
        </p:nvSpPr>
        <p:spPr>
          <a:xfrm>
            <a:off x="1353312" y="3198571"/>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2.  He doesn't likes coffee.</a:t>
            </a:r>
            <a:endParaRPr lang="en-US" sz="1800" dirty="0"/>
          </a:p>
        </p:txBody>
      </p:sp>
      <p:sp>
        <p:nvSpPr>
          <p:cNvPr id="22" name="Shape 17"/>
          <p:cNvSpPr/>
          <p:nvPr/>
        </p:nvSpPr>
        <p:spPr>
          <a:xfrm>
            <a:off x="548640" y="3873398"/>
            <a:ext cx="11094415" cy="610819"/>
          </a:xfrm>
          <a:prstGeom prst="roundRect">
            <a:avLst>
              <a:gd name="adj" fmla="val 20958"/>
            </a:avLst>
          </a:prstGeom>
          <a:solidFill>
            <a:srgbClr val="F6F9F7"/>
          </a:solidFill>
          <a:ln w="12700">
            <a:solidFill>
              <a:srgbClr val="E3E9E5"/>
            </a:solidFill>
            <a:prstDash val="solid"/>
          </a:ln>
        </p:spPr>
      </p:sp>
      <p:sp>
        <p:nvSpPr>
          <p:cNvPr id="23" name="Shape 18"/>
          <p:cNvSpPr/>
          <p:nvPr/>
        </p:nvSpPr>
        <p:spPr>
          <a:xfrm>
            <a:off x="749808" y="3977640"/>
            <a:ext cx="402336" cy="402336"/>
          </a:xfrm>
          <a:prstGeom prst="ellipse">
            <a:avLst/>
          </a:prstGeom>
          <a:solidFill>
            <a:srgbClr val="0E7C5A"/>
          </a:solidFill>
          <a:ln/>
        </p:spPr>
      </p:sp>
      <p:sp>
        <p:nvSpPr>
          <p:cNvPr id="24" name="Text 19"/>
          <p:cNvSpPr txBox="1"/>
          <p:nvPr/>
        </p:nvSpPr>
        <p:spPr>
          <a:xfrm>
            <a:off x="749808" y="39776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5" name="Text 20"/>
          <p:cNvSpPr/>
          <p:nvPr/>
        </p:nvSpPr>
        <p:spPr>
          <a:xfrm>
            <a:off x="1353312" y="3928262"/>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3.  Does she lives in Adama?</a:t>
            </a:r>
            <a:endParaRPr lang="en-US" sz="1800" dirty="0"/>
          </a:p>
        </p:txBody>
      </p:sp>
      <p:sp>
        <p:nvSpPr>
          <p:cNvPr id="26" name="Shape 21"/>
          <p:cNvSpPr/>
          <p:nvPr/>
        </p:nvSpPr>
        <p:spPr>
          <a:xfrm>
            <a:off x="548640" y="4603090"/>
            <a:ext cx="11094415" cy="610819"/>
          </a:xfrm>
          <a:prstGeom prst="roundRect">
            <a:avLst>
              <a:gd name="adj" fmla="val 20958"/>
            </a:avLst>
          </a:prstGeom>
          <a:solidFill>
            <a:srgbClr val="F6F9F7"/>
          </a:solidFill>
          <a:ln w="12700">
            <a:solidFill>
              <a:srgbClr val="E3E9E5"/>
            </a:solidFill>
            <a:prstDash val="solid"/>
          </a:ln>
        </p:spPr>
      </p:sp>
      <p:sp>
        <p:nvSpPr>
          <p:cNvPr id="27" name="Shape 22"/>
          <p:cNvSpPr/>
          <p:nvPr/>
        </p:nvSpPr>
        <p:spPr>
          <a:xfrm>
            <a:off x="749808" y="4707331"/>
            <a:ext cx="402336" cy="402336"/>
          </a:xfrm>
          <a:prstGeom prst="ellipse">
            <a:avLst/>
          </a:prstGeom>
          <a:solidFill>
            <a:srgbClr val="0E7C5A"/>
          </a:solidFill>
          <a:ln/>
        </p:spPr>
      </p:sp>
      <p:sp>
        <p:nvSpPr>
          <p:cNvPr id="28" name="Text 23"/>
          <p:cNvSpPr txBox="1"/>
          <p:nvPr/>
        </p:nvSpPr>
        <p:spPr>
          <a:xfrm>
            <a:off x="749808" y="470733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9" name="Text 24"/>
          <p:cNvSpPr/>
          <p:nvPr/>
        </p:nvSpPr>
        <p:spPr>
          <a:xfrm>
            <a:off x="1353312" y="4657954"/>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4.  I drink always tea in the morning.</a:t>
            </a:r>
            <a:endParaRPr lang="en-US" sz="1800" dirty="0"/>
          </a:p>
        </p:txBody>
      </p:sp>
      <p:sp>
        <p:nvSpPr>
          <p:cNvPr id="30" name="Shape 25"/>
          <p:cNvSpPr/>
          <p:nvPr/>
        </p:nvSpPr>
        <p:spPr>
          <a:xfrm>
            <a:off x="548640" y="5332781"/>
            <a:ext cx="11094415" cy="610819"/>
          </a:xfrm>
          <a:prstGeom prst="roundRect">
            <a:avLst>
              <a:gd name="adj" fmla="val 20958"/>
            </a:avLst>
          </a:prstGeom>
          <a:solidFill>
            <a:srgbClr val="F6F9F7"/>
          </a:solidFill>
          <a:ln w="12700">
            <a:solidFill>
              <a:srgbClr val="E3E9E5"/>
            </a:solidFill>
            <a:prstDash val="solid"/>
          </a:ln>
        </p:spPr>
      </p:sp>
      <p:sp>
        <p:nvSpPr>
          <p:cNvPr id="31" name="Shape 26"/>
          <p:cNvSpPr/>
          <p:nvPr/>
        </p:nvSpPr>
        <p:spPr>
          <a:xfrm>
            <a:off x="749808" y="5437022"/>
            <a:ext cx="402336" cy="402336"/>
          </a:xfrm>
          <a:prstGeom prst="ellipse">
            <a:avLst/>
          </a:prstGeom>
          <a:solidFill>
            <a:srgbClr val="0E7C5A"/>
          </a:solidFill>
          <a:ln/>
        </p:spPr>
      </p:sp>
      <p:sp>
        <p:nvSpPr>
          <p:cNvPr id="32" name="Text 27"/>
          <p:cNvSpPr txBox="1"/>
          <p:nvPr/>
        </p:nvSpPr>
        <p:spPr>
          <a:xfrm>
            <a:off x="749808" y="543702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3" name="Text 28"/>
          <p:cNvSpPr/>
          <p:nvPr/>
        </p:nvSpPr>
        <p:spPr>
          <a:xfrm>
            <a:off x="1353312" y="5387645"/>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5.  They studys English every day.</a:t>
            </a:r>
            <a:endParaRPr lang="en-US" sz="18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391156"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89738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EXERCISE F · MEDIUM</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Exercise F — true or false</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1 — Present Simple &amp; Daily Routine</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56</a:t>
            </a:r>
            <a:endParaRPr lang="en-US" sz="1100" dirty="0"/>
          </a:p>
        </p:txBody>
      </p:sp>
      <p:sp>
        <p:nvSpPr>
          <p:cNvPr id="10" name="Shape 6"/>
          <p:cNvSpPr/>
          <p:nvPr/>
        </p:nvSpPr>
        <p:spPr>
          <a:xfrm>
            <a:off x="548640" y="1700784"/>
            <a:ext cx="11094415" cy="566928"/>
          </a:xfrm>
          <a:prstGeom prst="roundRect">
            <a:avLst>
              <a:gd name="adj" fmla="val 22581"/>
            </a:avLst>
          </a:prstGeom>
          <a:solidFill>
            <a:srgbClr val="EDF0FD"/>
          </a:solidFill>
          <a:ln w="12700">
            <a:solidFill>
              <a:srgbClr val="0E7C5A"/>
            </a:solidFill>
            <a:prstDash val="solid"/>
          </a:ln>
        </p:spPr>
      </p:sp>
      <p:sp>
        <p:nvSpPr>
          <p:cNvPr id="11" name="Shape 7"/>
          <p:cNvSpPr/>
          <p:nvPr/>
        </p:nvSpPr>
        <p:spPr>
          <a:xfrm>
            <a:off x="749808" y="1810512"/>
            <a:ext cx="347472" cy="347472"/>
          </a:xfrm>
          <a:prstGeom prst="ellipse">
            <a:avLst/>
          </a:prstGeom>
          <a:solidFill>
            <a:srgbClr val="0E7C5A"/>
          </a:solidFill>
          <a:ln/>
        </p:spPr>
      </p:sp>
      <p:pic>
        <p:nvPicPr>
          <p:cNvPr id="12" name="Image 1" descr="preencoded.png">    </p:cNvPr>
          <p:cNvPicPr>
            <a:picLocks noChangeAspect="1"/>
          </p:cNvPicPr>
          <p:nvPr/>
        </p:nvPicPr>
        <p:blipFill>
          <a:blip r:embed="rId2"/>
          <a:stretch>
            <a:fillRect/>
          </a:stretch>
        </p:blipFill>
        <p:spPr>
          <a:xfrm>
            <a:off x="836676" y="1897380"/>
            <a:ext cx="173736" cy="173736"/>
          </a:xfrm>
          <a:prstGeom prst="rect">
            <a:avLst/>
          </a:prstGeom>
        </p:spPr>
      </p:pic>
      <p:sp>
        <p:nvSpPr>
          <p:cNvPr id="13" name="Text 8"/>
          <p:cNvSpPr txBox="1"/>
          <p:nvPr/>
        </p:nvSpPr>
        <p:spPr>
          <a:xfrm>
            <a:off x="1207008" y="170078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Write T or F. For every F, write the correction.</a:t>
            </a:r>
            <a:endParaRPr lang="en-US" sz="1700" dirty="0"/>
          </a:p>
        </p:txBody>
      </p:sp>
      <p:sp>
        <p:nvSpPr>
          <p:cNvPr id="14" name="Shape 9"/>
          <p:cNvSpPr/>
          <p:nvPr/>
        </p:nvSpPr>
        <p:spPr>
          <a:xfrm>
            <a:off x="548640" y="2414016"/>
            <a:ext cx="11094415" cy="489204"/>
          </a:xfrm>
          <a:prstGeom prst="roundRect">
            <a:avLst>
              <a:gd name="adj" fmla="val 26168"/>
            </a:avLst>
          </a:prstGeom>
          <a:solidFill>
            <a:srgbClr val="F6F9F7"/>
          </a:solidFill>
          <a:ln w="12700">
            <a:solidFill>
              <a:srgbClr val="E3E9E5"/>
            </a:solidFill>
            <a:prstDash val="solid"/>
          </a:ln>
        </p:spPr>
      </p:sp>
      <p:sp>
        <p:nvSpPr>
          <p:cNvPr id="15" name="Shape 10"/>
          <p:cNvSpPr/>
          <p:nvPr/>
        </p:nvSpPr>
        <p:spPr>
          <a:xfrm>
            <a:off x="749808" y="2457450"/>
            <a:ext cx="402336" cy="402336"/>
          </a:xfrm>
          <a:prstGeom prst="ellipse">
            <a:avLst/>
          </a:prstGeom>
          <a:solidFill>
            <a:srgbClr val="0E7C5A"/>
          </a:solidFill>
          <a:ln/>
        </p:spPr>
      </p:sp>
      <p:sp>
        <p:nvSpPr>
          <p:cNvPr id="16" name="Text 11"/>
          <p:cNvSpPr txBox="1"/>
          <p:nvPr/>
        </p:nvSpPr>
        <p:spPr>
          <a:xfrm>
            <a:off x="749808" y="245745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7" name="Text 12"/>
          <p:cNvSpPr/>
          <p:nvPr/>
        </p:nvSpPr>
        <p:spPr>
          <a:xfrm>
            <a:off x="1353312" y="2468880"/>
            <a:ext cx="10033711" cy="379476"/>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  We add -s to the verb after he, she and it.</a:t>
            </a:r>
            <a:endParaRPr lang="en-US" sz="1800" dirty="0"/>
          </a:p>
        </p:txBody>
      </p:sp>
      <p:sp>
        <p:nvSpPr>
          <p:cNvPr id="18" name="Shape 13"/>
          <p:cNvSpPr/>
          <p:nvPr/>
        </p:nvSpPr>
        <p:spPr>
          <a:xfrm>
            <a:off x="548640" y="3022092"/>
            <a:ext cx="11094415" cy="489204"/>
          </a:xfrm>
          <a:prstGeom prst="roundRect">
            <a:avLst>
              <a:gd name="adj" fmla="val 26168"/>
            </a:avLst>
          </a:prstGeom>
          <a:solidFill>
            <a:srgbClr val="F6F9F7"/>
          </a:solidFill>
          <a:ln w="12700">
            <a:solidFill>
              <a:srgbClr val="E3E9E5"/>
            </a:solidFill>
            <a:prstDash val="solid"/>
          </a:ln>
        </p:spPr>
      </p:sp>
      <p:sp>
        <p:nvSpPr>
          <p:cNvPr id="19" name="Shape 14"/>
          <p:cNvSpPr/>
          <p:nvPr/>
        </p:nvSpPr>
        <p:spPr>
          <a:xfrm>
            <a:off x="749808" y="3065526"/>
            <a:ext cx="402336" cy="402336"/>
          </a:xfrm>
          <a:prstGeom prst="ellipse">
            <a:avLst/>
          </a:prstGeom>
          <a:solidFill>
            <a:srgbClr val="0E7C5A"/>
          </a:solidFill>
          <a:ln/>
        </p:spPr>
      </p:sp>
      <p:sp>
        <p:nvSpPr>
          <p:cNvPr id="20" name="Text 15"/>
          <p:cNvSpPr txBox="1"/>
          <p:nvPr/>
        </p:nvSpPr>
        <p:spPr>
          <a:xfrm>
            <a:off x="749808" y="3065526"/>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1" name="Text 16"/>
          <p:cNvSpPr/>
          <p:nvPr/>
        </p:nvSpPr>
        <p:spPr>
          <a:xfrm>
            <a:off x="1353312" y="3076956"/>
            <a:ext cx="10033711" cy="379476"/>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2.  “She doesn't works” is correct English.</a:t>
            </a:r>
            <a:endParaRPr lang="en-US" sz="1800" dirty="0"/>
          </a:p>
        </p:txBody>
      </p:sp>
      <p:sp>
        <p:nvSpPr>
          <p:cNvPr id="22" name="Shape 17"/>
          <p:cNvSpPr/>
          <p:nvPr/>
        </p:nvSpPr>
        <p:spPr>
          <a:xfrm>
            <a:off x="548640" y="3630168"/>
            <a:ext cx="11094415" cy="489204"/>
          </a:xfrm>
          <a:prstGeom prst="roundRect">
            <a:avLst>
              <a:gd name="adj" fmla="val 26168"/>
            </a:avLst>
          </a:prstGeom>
          <a:solidFill>
            <a:srgbClr val="F6F9F7"/>
          </a:solidFill>
          <a:ln w="12700">
            <a:solidFill>
              <a:srgbClr val="E3E9E5"/>
            </a:solidFill>
            <a:prstDash val="solid"/>
          </a:ln>
        </p:spPr>
      </p:sp>
      <p:sp>
        <p:nvSpPr>
          <p:cNvPr id="23" name="Shape 18"/>
          <p:cNvSpPr/>
          <p:nvPr/>
        </p:nvSpPr>
        <p:spPr>
          <a:xfrm>
            <a:off x="749808" y="3673602"/>
            <a:ext cx="402336" cy="402336"/>
          </a:xfrm>
          <a:prstGeom prst="ellipse">
            <a:avLst/>
          </a:prstGeom>
          <a:solidFill>
            <a:srgbClr val="0E7C5A"/>
          </a:solidFill>
          <a:ln/>
        </p:spPr>
      </p:sp>
      <p:sp>
        <p:nvSpPr>
          <p:cNvPr id="24" name="Text 19"/>
          <p:cNvSpPr txBox="1"/>
          <p:nvPr/>
        </p:nvSpPr>
        <p:spPr>
          <a:xfrm>
            <a:off x="749808" y="367360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5" name="Text 20"/>
          <p:cNvSpPr/>
          <p:nvPr/>
        </p:nvSpPr>
        <p:spPr>
          <a:xfrm>
            <a:off x="1353312" y="3685032"/>
            <a:ext cx="10033711" cy="379476"/>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3.  The verb “have” becomes “haves” after he.</a:t>
            </a:r>
            <a:endParaRPr lang="en-US" sz="1800" dirty="0"/>
          </a:p>
        </p:txBody>
      </p:sp>
      <p:sp>
        <p:nvSpPr>
          <p:cNvPr id="26" name="Shape 21"/>
          <p:cNvSpPr/>
          <p:nvPr/>
        </p:nvSpPr>
        <p:spPr>
          <a:xfrm>
            <a:off x="548640" y="4238244"/>
            <a:ext cx="11094415" cy="489204"/>
          </a:xfrm>
          <a:prstGeom prst="roundRect">
            <a:avLst>
              <a:gd name="adj" fmla="val 26168"/>
            </a:avLst>
          </a:prstGeom>
          <a:solidFill>
            <a:srgbClr val="F6F9F7"/>
          </a:solidFill>
          <a:ln w="12700">
            <a:solidFill>
              <a:srgbClr val="E3E9E5"/>
            </a:solidFill>
            <a:prstDash val="solid"/>
          </a:ln>
        </p:spPr>
      </p:sp>
      <p:sp>
        <p:nvSpPr>
          <p:cNvPr id="27" name="Shape 22"/>
          <p:cNvSpPr/>
          <p:nvPr/>
        </p:nvSpPr>
        <p:spPr>
          <a:xfrm>
            <a:off x="749808" y="4281678"/>
            <a:ext cx="402336" cy="402336"/>
          </a:xfrm>
          <a:prstGeom prst="ellipse">
            <a:avLst/>
          </a:prstGeom>
          <a:solidFill>
            <a:srgbClr val="0E7C5A"/>
          </a:solidFill>
          <a:ln/>
        </p:spPr>
      </p:sp>
      <p:sp>
        <p:nvSpPr>
          <p:cNvPr id="28" name="Text 23"/>
          <p:cNvSpPr txBox="1"/>
          <p:nvPr/>
        </p:nvSpPr>
        <p:spPr>
          <a:xfrm>
            <a:off x="749808" y="428167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9" name="Text 24"/>
          <p:cNvSpPr/>
          <p:nvPr/>
        </p:nvSpPr>
        <p:spPr>
          <a:xfrm>
            <a:off x="1353312" y="4293108"/>
            <a:ext cx="10033711" cy="379476"/>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4.  Frequency words go before the main verb.</a:t>
            </a:r>
            <a:endParaRPr lang="en-US" sz="1800" dirty="0"/>
          </a:p>
        </p:txBody>
      </p:sp>
      <p:sp>
        <p:nvSpPr>
          <p:cNvPr id="30" name="Shape 25"/>
          <p:cNvSpPr/>
          <p:nvPr/>
        </p:nvSpPr>
        <p:spPr>
          <a:xfrm>
            <a:off x="548640" y="4846320"/>
            <a:ext cx="11094415" cy="489204"/>
          </a:xfrm>
          <a:prstGeom prst="roundRect">
            <a:avLst>
              <a:gd name="adj" fmla="val 26168"/>
            </a:avLst>
          </a:prstGeom>
          <a:solidFill>
            <a:srgbClr val="F6F9F7"/>
          </a:solidFill>
          <a:ln w="12700">
            <a:solidFill>
              <a:srgbClr val="E3E9E5"/>
            </a:solidFill>
            <a:prstDash val="solid"/>
          </a:ln>
        </p:spPr>
      </p:sp>
      <p:sp>
        <p:nvSpPr>
          <p:cNvPr id="31" name="Shape 26"/>
          <p:cNvSpPr/>
          <p:nvPr/>
        </p:nvSpPr>
        <p:spPr>
          <a:xfrm>
            <a:off x="749808" y="4889754"/>
            <a:ext cx="402336" cy="402336"/>
          </a:xfrm>
          <a:prstGeom prst="ellipse">
            <a:avLst/>
          </a:prstGeom>
          <a:solidFill>
            <a:srgbClr val="0E7C5A"/>
          </a:solidFill>
          <a:ln/>
        </p:spPr>
      </p:sp>
      <p:sp>
        <p:nvSpPr>
          <p:cNvPr id="32" name="Text 27"/>
          <p:cNvSpPr txBox="1"/>
          <p:nvPr/>
        </p:nvSpPr>
        <p:spPr>
          <a:xfrm>
            <a:off x="749808" y="4889754"/>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3" name="Text 28"/>
          <p:cNvSpPr/>
          <p:nvPr/>
        </p:nvSpPr>
        <p:spPr>
          <a:xfrm>
            <a:off x="1353312" y="4901184"/>
            <a:ext cx="10033711" cy="379476"/>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5.  “Do you like coffee?” is a correct question.</a:t>
            </a:r>
            <a:endParaRPr lang="en-US" sz="1800" dirty="0"/>
          </a:p>
        </p:txBody>
      </p:sp>
      <p:sp>
        <p:nvSpPr>
          <p:cNvPr id="34" name="Shape 29"/>
          <p:cNvSpPr/>
          <p:nvPr/>
        </p:nvSpPr>
        <p:spPr>
          <a:xfrm>
            <a:off x="548640" y="5454396"/>
            <a:ext cx="11094415" cy="489204"/>
          </a:xfrm>
          <a:prstGeom prst="roundRect">
            <a:avLst>
              <a:gd name="adj" fmla="val 26168"/>
            </a:avLst>
          </a:prstGeom>
          <a:solidFill>
            <a:srgbClr val="F6F9F7"/>
          </a:solidFill>
          <a:ln w="12700">
            <a:solidFill>
              <a:srgbClr val="E3E9E5"/>
            </a:solidFill>
            <a:prstDash val="solid"/>
          </a:ln>
        </p:spPr>
      </p:sp>
      <p:sp>
        <p:nvSpPr>
          <p:cNvPr id="35" name="Shape 30"/>
          <p:cNvSpPr/>
          <p:nvPr/>
        </p:nvSpPr>
        <p:spPr>
          <a:xfrm>
            <a:off x="749808" y="5497830"/>
            <a:ext cx="402336" cy="402336"/>
          </a:xfrm>
          <a:prstGeom prst="ellipse">
            <a:avLst/>
          </a:prstGeom>
          <a:solidFill>
            <a:srgbClr val="0E7C5A"/>
          </a:solidFill>
          <a:ln/>
        </p:spPr>
      </p:sp>
      <p:sp>
        <p:nvSpPr>
          <p:cNvPr id="36" name="Text 31"/>
          <p:cNvSpPr txBox="1"/>
          <p:nvPr/>
        </p:nvSpPr>
        <p:spPr>
          <a:xfrm>
            <a:off x="749808" y="549783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37" name="Text 32"/>
          <p:cNvSpPr/>
          <p:nvPr/>
        </p:nvSpPr>
        <p:spPr>
          <a:xfrm>
            <a:off x="1353312" y="5509260"/>
            <a:ext cx="10033711" cy="379476"/>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6.  “Study” becomes “studys” after she.</a:t>
            </a:r>
            <a:endParaRPr lang="en-US" sz="18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391156"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89738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EXERCISE G · MEDIUM</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Exercise G — short answer</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1 — Present Simple &amp; Daily Routine</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57</a:t>
            </a:r>
            <a:endParaRPr lang="en-US" sz="1100" dirty="0"/>
          </a:p>
        </p:txBody>
      </p:sp>
      <p:sp>
        <p:nvSpPr>
          <p:cNvPr id="10" name="Shape 6"/>
          <p:cNvSpPr/>
          <p:nvPr/>
        </p:nvSpPr>
        <p:spPr>
          <a:xfrm>
            <a:off x="548640" y="1700784"/>
            <a:ext cx="11094415" cy="566928"/>
          </a:xfrm>
          <a:prstGeom prst="roundRect">
            <a:avLst>
              <a:gd name="adj" fmla="val 22581"/>
            </a:avLst>
          </a:prstGeom>
          <a:solidFill>
            <a:srgbClr val="EDF0FD"/>
          </a:solidFill>
          <a:ln w="12700">
            <a:solidFill>
              <a:srgbClr val="0E7C5A"/>
            </a:solidFill>
            <a:prstDash val="solid"/>
          </a:ln>
        </p:spPr>
      </p:sp>
      <p:sp>
        <p:nvSpPr>
          <p:cNvPr id="11" name="Shape 7"/>
          <p:cNvSpPr/>
          <p:nvPr/>
        </p:nvSpPr>
        <p:spPr>
          <a:xfrm>
            <a:off x="749808" y="1810512"/>
            <a:ext cx="347472" cy="347472"/>
          </a:xfrm>
          <a:prstGeom prst="ellipse">
            <a:avLst/>
          </a:prstGeom>
          <a:solidFill>
            <a:srgbClr val="0E7C5A"/>
          </a:solidFill>
          <a:ln/>
        </p:spPr>
      </p:sp>
      <p:pic>
        <p:nvPicPr>
          <p:cNvPr id="12" name="Image 1" descr="preencoded.png">    </p:cNvPr>
          <p:cNvPicPr>
            <a:picLocks noChangeAspect="1"/>
          </p:cNvPicPr>
          <p:nvPr/>
        </p:nvPicPr>
        <p:blipFill>
          <a:blip r:embed="rId2"/>
          <a:stretch>
            <a:fillRect/>
          </a:stretch>
        </p:blipFill>
        <p:spPr>
          <a:xfrm>
            <a:off x="836676" y="1897380"/>
            <a:ext cx="173736" cy="173736"/>
          </a:xfrm>
          <a:prstGeom prst="rect">
            <a:avLst/>
          </a:prstGeom>
        </p:spPr>
      </p:pic>
      <p:sp>
        <p:nvSpPr>
          <p:cNvPr id="13" name="Text 8"/>
          <p:cNvSpPr txBox="1"/>
          <p:nvPr/>
        </p:nvSpPr>
        <p:spPr>
          <a:xfrm>
            <a:off x="1207008" y="170078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Write a complete sentence for each question.</a:t>
            </a:r>
            <a:endParaRPr lang="en-US" sz="1700" dirty="0"/>
          </a:p>
        </p:txBody>
      </p:sp>
      <p:sp>
        <p:nvSpPr>
          <p:cNvPr id="14" name="Shape 9"/>
          <p:cNvSpPr/>
          <p:nvPr/>
        </p:nvSpPr>
        <p:spPr>
          <a:xfrm>
            <a:off x="548640" y="2414016"/>
            <a:ext cx="11094415" cy="610819"/>
          </a:xfrm>
          <a:prstGeom prst="roundRect">
            <a:avLst>
              <a:gd name="adj" fmla="val 20958"/>
            </a:avLst>
          </a:prstGeom>
          <a:solidFill>
            <a:srgbClr val="F6F9F7"/>
          </a:solidFill>
          <a:ln w="12700">
            <a:solidFill>
              <a:srgbClr val="E3E9E5"/>
            </a:solidFill>
            <a:prstDash val="solid"/>
          </a:ln>
        </p:spPr>
      </p:sp>
      <p:sp>
        <p:nvSpPr>
          <p:cNvPr id="15" name="Shape 10"/>
          <p:cNvSpPr/>
          <p:nvPr/>
        </p:nvSpPr>
        <p:spPr>
          <a:xfrm>
            <a:off x="749808" y="2518258"/>
            <a:ext cx="402336" cy="402336"/>
          </a:xfrm>
          <a:prstGeom prst="ellipse">
            <a:avLst/>
          </a:prstGeom>
          <a:solidFill>
            <a:srgbClr val="0E7C5A"/>
          </a:solidFill>
          <a:ln/>
        </p:spPr>
      </p:sp>
      <p:sp>
        <p:nvSpPr>
          <p:cNvPr id="16" name="Text 11"/>
          <p:cNvSpPr txBox="1"/>
          <p:nvPr/>
        </p:nvSpPr>
        <p:spPr>
          <a:xfrm>
            <a:off x="749808" y="251825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7" name="Text 12"/>
          <p:cNvSpPr/>
          <p:nvPr/>
        </p:nvSpPr>
        <p:spPr>
          <a:xfrm>
            <a:off x="1353312" y="2468880"/>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  What time do you wake up?</a:t>
            </a:r>
            <a:endParaRPr lang="en-US" sz="1800" dirty="0"/>
          </a:p>
        </p:txBody>
      </p:sp>
      <p:sp>
        <p:nvSpPr>
          <p:cNvPr id="18" name="Shape 13"/>
          <p:cNvSpPr/>
          <p:nvPr/>
        </p:nvSpPr>
        <p:spPr>
          <a:xfrm>
            <a:off x="548640" y="3143707"/>
            <a:ext cx="11094415" cy="610819"/>
          </a:xfrm>
          <a:prstGeom prst="roundRect">
            <a:avLst>
              <a:gd name="adj" fmla="val 20958"/>
            </a:avLst>
          </a:prstGeom>
          <a:solidFill>
            <a:srgbClr val="F6F9F7"/>
          </a:solidFill>
          <a:ln w="12700">
            <a:solidFill>
              <a:srgbClr val="E3E9E5"/>
            </a:solidFill>
            <a:prstDash val="solid"/>
          </a:ln>
        </p:spPr>
      </p:sp>
      <p:sp>
        <p:nvSpPr>
          <p:cNvPr id="19" name="Shape 14"/>
          <p:cNvSpPr/>
          <p:nvPr/>
        </p:nvSpPr>
        <p:spPr>
          <a:xfrm>
            <a:off x="749808" y="3247949"/>
            <a:ext cx="402336" cy="402336"/>
          </a:xfrm>
          <a:prstGeom prst="ellipse">
            <a:avLst/>
          </a:prstGeom>
          <a:solidFill>
            <a:srgbClr val="0E7C5A"/>
          </a:solidFill>
          <a:ln/>
        </p:spPr>
      </p:sp>
      <p:sp>
        <p:nvSpPr>
          <p:cNvPr id="20" name="Text 15"/>
          <p:cNvSpPr txBox="1"/>
          <p:nvPr/>
        </p:nvSpPr>
        <p:spPr>
          <a:xfrm>
            <a:off x="749808" y="324794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1" name="Text 16"/>
          <p:cNvSpPr/>
          <p:nvPr/>
        </p:nvSpPr>
        <p:spPr>
          <a:xfrm>
            <a:off x="1353312" y="3198571"/>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2.  How do you get to work or school?</a:t>
            </a:r>
            <a:endParaRPr lang="en-US" sz="1800" dirty="0"/>
          </a:p>
        </p:txBody>
      </p:sp>
      <p:sp>
        <p:nvSpPr>
          <p:cNvPr id="22" name="Shape 17"/>
          <p:cNvSpPr/>
          <p:nvPr/>
        </p:nvSpPr>
        <p:spPr>
          <a:xfrm>
            <a:off x="548640" y="3873398"/>
            <a:ext cx="11094415" cy="610819"/>
          </a:xfrm>
          <a:prstGeom prst="roundRect">
            <a:avLst>
              <a:gd name="adj" fmla="val 20958"/>
            </a:avLst>
          </a:prstGeom>
          <a:solidFill>
            <a:srgbClr val="F6F9F7"/>
          </a:solidFill>
          <a:ln w="12700">
            <a:solidFill>
              <a:srgbClr val="E3E9E5"/>
            </a:solidFill>
            <a:prstDash val="solid"/>
          </a:ln>
        </p:spPr>
      </p:sp>
      <p:sp>
        <p:nvSpPr>
          <p:cNvPr id="23" name="Shape 18"/>
          <p:cNvSpPr/>
          <p:nvPr/>
        </p:nvSpPr>
        <p:spPr>
          <a:xfrm>
            <a:off x="749808" y="3977640"/>
            <a:ext cx="402336" cy="402336"/>
          </a:xfrm>
          <a:prstGeom prst="ellipse">
            <a:avLst/>
          </a:prstGeom>
          <a:solidFill>
            <a:srgbClr val="0E7C5A"/>
          </a:solidFill>
          <a:ln/>
        </p:spPr>
      </p:sp>
      <p:sp>
        <p:nvSpPr>
          <p:cNvPr id="24" name="Text 19"/>
          <p:cNvSpPr txBox="1"/>
          <p:nvPr/>
        </p:nvSpPr>
        <p:spPr>
          <a:xfrm>
            <a:off x="749808" y="39776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5" name="Text 20"/>
          <p:cNvSpPr/>
          <p:nvPr/>
        </p:nvSpPr>
        <p:spPr>
          <a:xfrm>
            <a:off x="1353312" y="3928262"/>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3.  What does your mother or father do?</a:t>
            </a:r>
            <a:endParaRPr lang="en-US" sz="1800" dirty="0"/>
          </a:p>
        </p:txBody>
      </p:sp>
      <p:sp>
        <p:nvSpPr>
          <p:cNvPr id="26" name="Shape 21"/>
          <p:cNvSpPr/>
          <p:nvPr/>
        </p:nvSpPr>
        <p:spPr>
          <a:xfrm>
            <a:off x="548640" y="4603090"/>
            <a:ext cx="11094415" cy="610819"/>
          </a:xfrm>
          <a:prstGeom prst="roundRect">
            <a:avLst>
              <a:gd name="adj" fmla="val 20958"/>
            </a:avLst>
          </a:prstGeom>
          <a:solidFill>
            <a:srgbClr val="F6F9F7"/>
          </a:solidFill>
          <a:ln w="12700">
            <a:solidFill>
              <a:srgbClr val="E3E9E5"/>
            </a:solidFill>
            <a:prstDash val="solid"/>
          </a:ln>
        </p:spPr>
      </p:sp>
      <p:sp>
        <p:nvSpPr>
          <p:cNvPr id="27" name="Shape 22"/>
          <p:cNvSpPr/>
          <p:nvPr/>
        </p:nvSpPr>
        <p:spPr>
          <a:xfrm>
            <a:off x="749808" y="4707331"/>
            <a:ext cx="402336" cy="402336"/>
          </a:xfrm>
          <a:prstGeom prst="ellipse">
            <a:avLst/>
          </a:prstGeom>
          <a:solidFill>
            <a:srgbClr val="0E7C5A"/>
          </a:solidFill>
          <a:ln/>
        </p:spPr>
      </p:sp>
      <p:sp>
        <p:nvSpPr>
          <p:cNvPr id="28" name="Text 23"/>
          <p:cNvSpPr txBox="1"/>
          <p:nvPr/>
        </p:nvSpPr>
        <p:spPr>
          <a:xfrm>
            <a:off x="749808" y="470733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9" name="Text 24"/>
          <p:cNvSpPr/>
          <p:nvPr/>
        </p:nvSpPr>
        <p:spPr>
          <a:xfrm>
            <a:off x="1353312" y="4657954"/>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4.  How often do you speak English?</a:t>
            </a:r>
            <a:endParaRPr lang="en-US" sz="1800" dirty="0"/>
          </a:p>
        </p:txBody>
      </p:sp>
      <p:sp>
        <p:nvSpPr>
          <p:cNvPr id="30" name="Shape 25"/>
          <p:cNvSpPr/>
          <p:nvPr/>
        </p:nvSpPr>
        <p:spPr>
          <a:xfrm>
            <a:off x="548640" y="5332781"/>
            <a:ext cx="11094415" cy="610819"/>
          </a:xfrm>
          <a:prstGeom prst="roundRect">
            <a:avLst>
              <a:gd name="adj" fmla="val 20958"/>
            </a:avLst>
          </a:prstGeom>
          <a:solidFill>
            <a:srgbClr val="F6F9F7"/>
          </a:solidFill>
          <a:ln w="12700">
            <a:solidFill>
              <a:srgbClr val="E3E9E5"/>
            </a:solidFill>
            <a:prstDash val="solid"/>
          </a:ln>
        </p:spPr>
      </p:sp>
      <p:sp>
        <p:nvSpPr>
          <p:cNvPr id="31" name="Shape 26"/>
          <p:cNvSpPr/>
          <p:nvPr/>
        </p:nvSpPr>
        <p:spPr>
          <a:xfrm>
            <a:off x="749808" y="5437022"/>
            <a:ext cx="402336" cy="402336"/>
          </a:xfrm>
          <a:prstGeom prst="ellipse">
            <a:avLst/>
          </a:prstGeom>
          <a:solidFill>
            <a:srgbClr val="0E7C5A"/>
          </a:solidFill>
          <a:ln/>
        </p:spPr>
      </p:sp>
      <p:sp>
        <p:nvSpPr>
          <p:cNvPr id="32" name="Text 27"/>
          <p:cNvSpPr txBox="1"/>
          <p:nvPr/>
        </p:nvSpPr>
        <p:spPr>
          <a:xfrm>
            <a:off x="749808" y="543702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3" name="Text 28"/>
          <p:cNvSpPr/>
          <p:nvPr/>
        </p:nvSpPr>
        <p:spPr>
          <a:xfrm>
            <a:off x="1353312" y="5387645"/>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5.  What do you never do?</a:t>
            </a:r>
            <a:endParaRPr lang="en-US" sz="18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391156"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89738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EXERCISE H · MEDIUM</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Exercise H — speaking tasks</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Work in pairs. One minute per task.</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1 — Present Simple &amp; Daily Routine</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58</a:t>
            </a:r>
            <a:endParaRPr lang="en-US" sz="1100" dirty="0"/>
          </a:p>
        </p:txBody>
      </p:sp>
      <p:sp>
        <p:nvSpPr>
          <p:cNvPr id="11" name="Shape 7"/>
          <p:cNvSpPr/>
          <p:nvPr/>
        </p:nvSpPr>
        <p:spPr>
          <a:xfrm>
            <a:off x="548640" y="1883664"/>
            <a:ext cx="11094415" cy="566928"/>
          </a:xfrm>
          <a:prstGeom prst="roundRect">
            <a:avLst>
              <a:gd name="adj" fmla="val 22581"/>
            </a:avLst>
          </a:prstGeom>
          <a:solidFill>
            <a:srgbClr val="FDEDE8"/>
          </a:solidFill>
          <a:ln w="12700">
            <a:solidFill>
              <a:srgbClr val="E4572E"/>
            </a:solidFill>
            <a:prstDash val="solid"/>
          </a:ln>
        </p:spPr>
      </p:sp>
      <p:sp>
        <p:nvSpPr>
          <p:cNvPr id="12" name="Shape 8"/>
          <p:cNvSpPr/>
          <p:nvPr/>
        </p:nvSpPr>
        <p:spPr>
          <a:xfrm>
            <a:off x="749808" y="1993392"/>
            <a:ext cx="347472" cy="347472"/>
          </a:xfrm>
          <a:prstGeom prst="ellipse">
            <a:avLst/>
          </a:prstGeom>
          <a:solidFill>
            <a:srgbClr val="E4572E"/>
          </a:solidFill>
          <a:ln/>
        </p:spPr>
      </p:sp>
      <p:pic>
        <p:nvPicPr>
          <p:cNvPr id="13" name="Image 1" descr="preencoded.png">    </p:cNvPr>
          <p:cNvPicPr>
            <a:picLocks noChangeAspect="1"/>
          </p:cNvPicPr>
          <p:nvPr/>
        </p:nvPicPr>
        <p:blipFill>
          <a:blip r:embed="rId2"/>
          <a:stretch>
            <a:fillRect/>
          </a:stretch>
        </p:blipFill>
        <p:spPr>
          <a:xfrm>
            <a:off x="836676" y="2080260"/>
            <a:ext cx="173736" cy="173736"/>
          </a:xfrm>
          <a:prstGeom prst="rect">
            <a:avLst/>
          </a:prstGeom>
        </p:spPr>
      </p:pic>
      <p:sp>
        <p:nvSpPr>
          <p:cNvPr id="14" name="Text 9"/>
          <p:cNvSpPr txBox="1"/>
          <p:nvPr/>
        </p:nvSpPr>
        <p:spPr>
          <a:xfrm>
            <a:off x="1207008" y="188366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Speak, do not write. Your partner listens and checks.</a:t>
            </a:r>
            <a:endParaRPr lang="en-US" sz="1700" dirty="0"/>
          </a:p>
        </p:txBody>
      </p:sp>
      <p:sp>
        <p:nvSpPr>
          <p:cNvPr id="15" name="Shape 10"/>
          <p:cNvSpPr/>
          <p:nvPr/>
        </p:nvSpPr>
        <p:spPr>
          <a:xfrm>
            <a:off x="548640" y="2596896"/>
            <a:ext cx="11094415" cy="747522"/>
          </a:xfrm>
          <a:prstGeom prst="roundRect">
            <a:avLst>
              <a:gd name="adj" fmla="val 17125"/>
            </a:avLst>
          </a:prstGeom>
          <a:solidFill>
            <a:srgbClr val="F6F9F7"/>
          </a:solidFill>
          <a:ln w="12700">
            <a:solidFill>
              <a:srgbClr val="E3E9E5"/>
            </a:solidFill>
            <a:prstDash val="solid"/>
          </a:ln>
        </p:spPr>
      </p:sp>
      <p:sp>
        <p:nvSpPr>
          <p:cNvPr id="16" name="Shape 11"/>
          <p:cNvSpPr/>
          <p:nvPr/>
        </p:nvSpPr>
        <p:spPr>
          <a:xfrm>
            <a:off x="749808" y="2769489"/>
            <a:ext cx="402336" cy="402336"/>
          </a:xfrm>
          <a:prstGeom prst="ellipse">
            <a:avLst/>
          </a:prstGeom>
          <a:solidFill>
            <a:srgbClr val="E4572E"/>
          </a:solidFill>
          <a:ln/>
        </p:spPr>
      </p:sp>
      <p:sp>
        <p:nvSpPr>
          <p:cNvPr id="17" name="Text 12"/>
          <p:cNvSpPr txBox="1"/>
          <p:nvPr/>
        </p:nvSpPr>
        <p:spPr>
          <a:xfrm>
            <a:off x="749808" y="276948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8" name="Text 13"/>
          <p:cNvSpPr/>
          <p:nvPr/>
        </p:nvSpPr>
        <p:spPr>
          <a:xfrm>
            <a:off x="1353312" y="2651760"/>
            <a:ext cx="10033711" cy="637794"/>
          </a:xfrm>
          <a:prstGeom prst="rect">
            <a:avLst/>
          </a:prstGeom>
          <a:noFill/>
          <a:ln/>
        </p:spPr>
        <p:txBody>
          <a:bodyPr wrap="square" lIns="0" tIns="0" rIns="0" bIns="0" rtlCol="0" anchor="ctr"/>
          <a:lstStyle/>
          <a:p>
            <a:pPr indent="0" marL="0">
              <a:lnSpc>
                <a:spcPct val="102000"/>
              </a:lnSpc>
              <a:buNone/>
            </a:pPr>
            <a:r>
              <a:rPr lang="en-US" sz="1900" b="1" dirty="0">
                <a:solidFill>
                  <a:srgbClr val="12211B"/>
                </a:solidFill>
                <a:latin typeface="Calibri" pitchFamily="34" charset="0"/>
                <a:ea typeface="Calibri" pitchFamily="34" charset="-122"/>
                <a:cs typeface="Calibri" pitchFamily="34" charset="-120"/>
              </a:rPr>
              <a:t>1.  Describe your day in eight sentences.</a:t>
            </a:r>
            <a:endParaRPr lang="en-US" sz="1900" dirty="0"/>
          </a:p>
        </p:txBody>
      </p:sp>
      <p:sp>
        <p:nvSpPr>
          <p:cNvPr id="19" name="Shape 14"/>
          <p:cNvSpPr/>
          <p:nvPr/>
        </p:nvSpPr>
        <p:spPr>
          <a:xfrm>
            <a:off x="548640" y="3463290"/>
            <a:ext cx="11094415" cy="747522"/>
          </a:xfrm>
          <a:prstGeom prst="roundRect">
            <a:avLst>
              <a:gd name="adj" fmla="val 17125"/>
            </a:avLst>
          </a:prstGeom>
          <a:solidFill>
            <a:srgbClr val="F6F9F7"/>
          </a:solidFill>
          <a:ln w="12700">
            <a:solidFill>
              <a:srgbClr val="E3E9E5"/>
            </a:solidFill>
            <a:prstDash val="solid"/>
          </a:ln>
        </p:spPr>
      </p:sp>
      <p:sp>
        <p:nvSpPr>
          <p:cNvPr id="20" name="Shape 15"/>
          <p:cNvSpPr/>
          <p:nvPr/>
        </p:nvSpPr>
        <p:spPr>
          <a:xfrm>
            <a:off x="749808" y="3635883"/>
            <a:ext cx="402336" cy="402336"/>
          </a:xfrm>
          <a:prstGeom prst="ellipse">
            <a:avLst/>
          </a:prstGeom>
          <a:solidFill>
            <a:srgbClr val="E4572E"/>
          </a:solidFill>
          <a:ln/>
        </p:spPr>
      </p:sp>
      <p:sp>
        <p:nvSpPr>
          <p:cNvPr id="21" name="Text 16"/>
          <p:cNvSpPr txBox="1"/>
          <p:nvPr/>
        </p:nvSpPr>
        <p:spPr>
          <a:xfrm>
            <a:off x="749808" y="3635883"/>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2" name="Text 17"/>
          <p:cNvSpPr/>
          <p:nvPr/>
        </p:nvSpPr>
        <p:spPr>
          <a:xfrm>
            <a:off x="1353312" y="3518154"/>
            <a:ext cx="10033711" cy="637794"/>
          </a:xfrm>
          <a:prstGeom prst="rect">
            <a:avLst/>
          </a:prstGeom>
          <a:noFill/>
          <a:ln/>
        </p:spPr>
        <p:txBody>
          <a:bodyPr wrap="square" lIns="0" tIns="0" rIns="0" bIns="0" rtlCol="0" anchor="ctr"/>
          <a:lstStyle/>
          <a:p>
            <a:pPr indent="0" marL="0">
              <a:lnSpc>
                <a:spcPct val="102000"/>
              </a:lnSpc>
              <a:buNone/>
            </a:pPr>
            <a:r>
              <a:rPr lang="en-US" sz="1900" b="1" dirty="0">
                <a:solidFill>
                  <a:srgbClr val="12211B"/>
                </a:solidFill>
                <a:latin typeface="Calibri" pitchFamily="34" charset="0"/>
                <a:ea typeface="Calibri" pitchFamily="34" charset="-122"/>
                <a:cs typeface="Calibri" pitchFamily="34" charset="-120"/>
              </a:rPr>
              <a:t>2.  Describe your partner's day back to them — every verb needs -s.</a:t>
            </a:r>
            <a:endParaRPr lang="en-US" sz="1900" dirty="0"/>
          </a:p>
        </p:txBody>
      </p:sp>
      <p:sp>
        <p:nvSpPr>
          <p:cNvPr id="23" name="Shape 18"/>
          <p:cNvSpPr/>
          <p:nvPr/>
        </p:nvSpPr>
        <p:spPr>
          <a:xfrm>
            <a:off x="548640" y="4329684"/>
            <a:ext cx="11094415" cy="747522"/>
          </a:xfrm>
          <a:prstGeom prst="roundRect">
            <a:avLst>
              <a:gd name="adj" fmla="val 17125"/>
            </a:avLst>
          </a:prstGeom>
          <a:solidFill>
            <a:srgbClr val="F6F9F7"/>
          </a:solidFill>
          <a:ln w="12700">
            <a:solidFill>
              <a:srgbClr val="E3E9E5"/>
            </a:solidFill>
            <a:prstDash val="solid"/>
          </a:ln>
        </p:spPr>
      </p:sp>
      <p:sp>
        <p:nvSpPr>
          <p:cNvPr id="24" name="Shape 19"/>
          <p:cNvSpPr/>
          <p:nvPr/>
        </p:nvSpPr>
        <p:spPr>
          <a:xfrm>
            <a:off x="749808" y="4502277"/>
            <a:ext cx="402336" cy="402336"/>
          </a:xfrm>
          <a:prstGeom prst="ellipse">
            <a:avLst/>
          </a:prstGeom>
          <a:solidFill>
            <a:srgbClr val="E4572E"/>
          </a:solidFill>
          <a:ln/>
        </p:spPr>
      </p:sp>
      <p:sp>
        <p:nvSpPr>
          <p:cNvPr id="25" name="Text 20"/>
          <p:cNvSpPr txBox="1"/>
          <p:nvPr/>
        </p:nvSpPr>
        <p:spPr>
          <a:xfrm>
            <a:off x="749808" y="4502277"/>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6" name="Text 21"/>
          <p:cNvSpPr/>
          <p:nvPr/>
        </p:nvSpPr>
        <p:spPr>
          <a:xfrm>
            <a:off x="1353312" y="4384548"/>
            <a:ext cx="10033711" cy="637794"/>
          </a:xfrm>
          <a:prstGeom prst="rect">
            <a:avLst/>
          </a:prstGeom>
          <a:noFill/>
          <a:ln/>
        </p:spPr>
        <p:txBody>
          <a:bodyPr wrap="square" lIns="0" tIns="0" rIns="0" bIns="0" rtlCol="0" anchor="ctr"/>
          <a:lstStyle/>
          <a:p>
            <a:pPr indent="0" marL="0">
              <a:lnSpc>
                <a:spcPct val="102000"/>
              </a:lnSpc>
              <a:buNone/>
            </a:pPr>
            <a:r>
              <a:rPr lang="en-US" sz="1900" b="1" dirty="0">
                <a:solidFill>
                  <a:srgbClr val="12211B"/>
                </a:solidFill>
                <a:latin typeface="Calibri" pitchFamily="34" charset="0"/>
                <a:ea typeface="Calibri" pitchFamily="34" charset="-122"/>
                <a:cs typeface="Calibri" pitchFamily="34" charset="-120"/>
              </a:rPr>
              <a:t>3.  Ask five questions with DO and DOES.</a:t>
            </a:r>
            <a:endParaRPr lang="en-US" sz="1900" dirty="0"/>
          </a:p>
        </p:txBody>
      </p:sp>
      <p:sp>
        <p:nvSpPr>
          <p:cNvPr id="27" name="Shape 22"/>
          <p:cNvSpPr/>
          <p:nvPr/>
        </p:nvSpPr>
        <p:spPr>
          <a:xfrm>
            <a:off x="548640" y="5196078"/>
            <a:ext cx="11094415" cy="747522"/>
          </a:xfrm>
          <a:prstGeom prst="roundRect">
            <a:avLst>
              <a:gd name="adj" fmla="val 17125"/>
            </a:avLst>
          </a:prstGeom>
          <a:solidFill>
            <a:srgbClr val="F6F9F7"/>
          </a:solidFill>
          <a:ln w="12700">
            <a:solidFill>
              <a:srgbClr val="E3E9E5"/>
            </a:solidFill>
            <a:prstDash val="solid"/>
          </a:ln>
        </p:spPr>
      </p:sp>
      <p:sp>
        <p:nvSpPr>
          <p:cNvPr id="28" name="Shape 23"/>
          <p:cNvSpPr/>
          <p:nvPr/>
        </p:nvSpPr>
        <p:spPr>
          <a:xfrm>
            <a:off x="749808" y="5368671"/>
            <a:ext cx="402336" cy="402336"/>
          </a:xfrm>
          <a:prstGeom prst="ellipse">
            <a:avLst/>
          </a:prstGeom>
          <a:solidFill>
            <a:srgbClr val="E4572E"/>
          </a:solidFill>
          <a:ln/>
        </p:spPr>
      </p:sp>
      <p:sp>
        <p:nvSpPr>
          <p:cNvPr id="29" name="Text 24"/>
          <p:cNvSpPr txBox="1"/>
          <p:nvPr/>
        </p:nvSpPr>
        <p:spPr>
          <a:xfrm>
            <a:off x="749808" y="536867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30" name="Text 25"/>
          <p:cNvSpPr/>
          <p:nvPr/>
        </p:nvSpPr>
        <p:spPr>
          <a:xfrm>
            <a:off x="1353312" y="5250942"/>
            <a:ext cx="10033711" cy="637794"/>
          </a:xfrm>
          <a:prstGeom prst="rect">
            <a:avLst/>
          </a:prstGeom>
          <a:noFill/>
          <a:ln/>
        </p:spPr>
        <p:txBody>
          <a:bodyPr wrap="square" lIns="0" tIns="0" rIns="0" bIns="0" rtlCol="0" anchor="ctr"/>
          <a:lstStyle/>
          <a:p>
            <a:pPr indent="0" marL="0">
              <a:lnSpc>
                <a:spcPct val="102000"/>
              </a:lnSpc>
              <a:buNone/>
            </a:pPr>
            <a:r>
              <a:rPr lang="en-US" sz="1900" b="1" dirty="0">
                <a:solidFill>
                  <a:srgbClr val="12211B"/>
                </a:solidFill>
                <a:latin typeface="Calibri" pitchFamily="34" charset="0"/>
                <a:ea typeface="Calibri" pitchFamily="34" charset="-122"/>
                <a:cs typeface="Calibri" pitchFamily="34" charset="-120"/>
              </a:rPr>
              <a:t>4.  Say three things you never do and two you always do.</a:t>
            </a:r>
            <a:endParaRPr lang="en-US" sz="19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679192"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218541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EXERCISE I · DIFFICULT</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Exercise I — mixed challenge</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1 — Present Simple &amp; Daily Routine</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59</a:t>
            </a:r>
            <a:endParaRPr lang="en-US" sz="1100" dirty="0"/>
          </a:p>
        </p:txBody>
      </p:sp>
      <p:sp>
        <p:nvSpPr>
          <p:cNvPr id="10" name="Shape 6"/>
          <p:cNvSpPr/>
          <p:nvPr/>
        </p:nvSpPr>
        <p:spPr>
          <a:xfrm>
            <a:off x="548640" y="1700784"/>
            <a:ext cx="11094415" cy="566928"/>
          </a:xfrm>
          <a:prstGeom prst="roundRect">
            <a:avLst>
              <a:gd name="adj" fmla="val 22581"/>
            </a:avLst>
          </a:prstGeom>
          <a:solidFill>
            <a:srgbClr val="EDF0FD"/>
          </a:solidFill>
          <a:ln w="12700">
            <a:solidFill>
              <a:srgbClr val="0E7C5A"/>
            </a:solidFill>
            <a:prstDash val="solid"/>
          </a:ln>
        </p:spPr>
      </p:sp>
      <p:sp>
        <p:nvSpPr>
          <p:cNvPr id="11" name="Shape 7"/>
          <p:cNvSpPr/>
          <p:nvPr/>
        </p:nvSpPr>
        <p:spPr>
          <a:xfrm>
            <a:off x="749808" y="1810512"/>
            <a:ext cx="347472" cy="347472"/>
          </a:xfrm>
          <a:prstGeom prst="ellipse">
            <a:avLst/>
          </a:prstGeom>
          <a:solidFill>
            <a:srgbClr val="0E7C5A"/>
          </a:solidFill>
          <a:ln/>
        </p:spPr>
      </p:sp>
      <p:pic>
        <p:nvPicPr>
          <p:cNvPr id="12" name="Image 1" descr="preencoded.png">    </p:cNvPr>
          <p:cNvPicPr>
            <a:picLocks noChangeAspect="1"/>
          </p:cNvPicPr>
          <p:nvPr/>
        </p:nvPicPr>
        <p:blipFill>
          <a:blip r:embed="rId2"/>
          <a:stretch>
            <a:fillRect/>
          </a:stretch>
        </p:blipFill>
        <p:spPr>
          <a:xfrm>
            <a:off x="836676" y="1897380"/>
            <a:ext cx="173736" cy="173736"/>
          </a:xfrm>
          <a:prstGeom prst="rect">
            <a:avLst/>
          </a:prstGeom>
        </p:spPr>
      </p:pic>
      <p:sp>
        <p:nvSpPr>
          <p:cNvPr id="13" name="Text 8"/>
          <p:cNvSpPr txBox="1"/>
          <p:nvPr/>
        </p:nvSpPr>
        <p:spPr>
          <a:xfrm>
            <a:off x="1207008" y="170078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Take your time. Look back at earlier slides if you need to.</a:t>
            </a:r>
            <a:endParaRPr lang="en-US" sz="1700" dirty="0"/>
          </a:p>
        </p:txBody>
      </p:sp>
      <p:sp>
        <p:nvSpPr>
          <p:cNvPr id="14" name="Shape 9"/>
          <p:cNvSpPr/>
          <p:nvPr/>
        </p:nvSpPr>
        <p:spPr>
          <a:xfrm>
            <a:off x="548640" y="2414016"/>
            <a:ext cx="11094415" cy="610819"/>
          </a:xfrm>
          <a:prstGeom prst="roundRect">
            <a:avLst>
              <a:gd name="adj" fmla="val 20958"/>
            </a:avLst>
          </a:prstGeom>
          <a:solidFill>
            <a:srgbClr val="F6F9F7"/>
          </a:solidFill>
          <a:ln w="12700">
            <a:solidFill>
              <a:srgbClr val="E3E9E5"/>
            </a:solidFill>
            <a:prstDash val="solid"/>
          </a:ln>
        </p:spPr>
      </p:sp>
      <p:sp>
        <p:nvSpPr>
          <p:cNvPr id="15" name="Shape 10"/>
          <p:cNvSpPr/>
          <p:nvPr/>
        </p:nvSpPr>
        <p:spPr>
          <a:xfrm>
            <a:off x="749808" y="2518258"/>
            <a:ext cx="402336" cy="402336"/>
          </a:xfrm>
          <a:prstGeom prst="ellipse">
            <a:avLst/>
          </a:prstGeom>
          <a:solidFill>
            <a:srgbClr val="0E7C5A"/>
          </a:solidFill>
          <a:ln/>
        </p:spPr>
      </p:sp>
      <p:sp>
        <p:nvSpPr>
          <p:cNvPr id="16" name="Text 11"/>
          <p:cNvSpPr txBox="1"/>
          <p:nvPr/>
        </p:nvSpPr>
        <p:spPr>
          <a:xfrm>
            <a:off x="749808" y="251825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7" name="Text 12"/>
          <p:cNvSpPr/>
          <p:nvPr/>
        </p:nvSpPr>
        <p:spPr>
          <a:xfrm>
            <a:off x="1353312" y="2468880"/>
            <a:ext cx="10033711" cy="501091"/>
          </a:xfrm>
          <a:prstGeom prst="rect">
            <a:avLst/>
          </a:prstGeom>
          <a:noFill/>
          <a:ln/>
        </p:spPr>
        <p:txBody>
          <a:bodyPr wrap="square" lIns="0" tIns="0" rIns="0" bIns="0" rtlCol="0" anchor="ctr"/>
          <a:lstStyle/>
          <a:p>
            <a:pPr indent="0" marL="0">
              <a:lnSpc>
                <a:spcPct val="102000"/>
              </a:lnSpc>
              <a:buNone/>
            </a:pPr>
            <a:r>
              <a:rPr lang="en-US" sz="1500" b="1" dirty="0">
                <a:solidFill>
                  <a:srgbClr val="12211B"/>
                </a:solidFill>
                <a:latin typeface="Calibri" pitchFamily="34" charset="0"/>
                <a:ea typeface="Calibri" pitchFamily="34" charset="-122"/>
                <a:cs typeface="Calibri" pitchFamily="34" charset="-120"/>
              </a:rPr>
              <a:t>1. Write six sentences about a family member's routine. Every verb must be third person.</a:t>
            </a:r>
            <a:endParaRPr lang="en-US" sz="1500" dirty="0"/>
          </a:p>
          <a:p>
            <a:pPr indent="0" marL="0">
              <a:lnSpc>
                <a:spcPct val="102000"/>
              </a:lnSpc>
              <a:spcBef>
                <a:spcPts val="265"/>
              </a:spcBef>
              <a:buNone/>
            </a:pPr>
            <a:r>
              <a:rPr lang="en-US" sz="1150" dirty="0">
                <a:solidFill>
                  <a:srgbClr val="3A473F"/>
                </a:solidFill>
                <a:latin typeface="Calibri" pitchFamily="34" charset="0"/>
                <a:ea typeface="Calibri" pitchFamily="34" charset="-122"/>
                <a:cs typeface="Calibri" pitchFamily="34" charset="-120"/>
              </a:rPr>
              <a:t>Check all six endings.</a:t>
            </a:r>
            <a:endParaRPr lang="en-US" sz="1500" dirty="0"/>
          </a:p>
        </p:txBody>
      </p:sp>
      <p:sp>
        <p:nvSpPr>
          <p:cNvPr id="18" name="Shape 13"/>
          <p:cNvSpPr/>
          <p:nvPr/>
        </p:nvSpPr>
        <p:spPr>
          <a:xfrm>
            <a:off x="548640" y="3143707"/>
            <a:ext cx="11094415" cy="610819"/>
          </a:xfrm>
          <a:prstGeom prst="roundRect">
            <a:avLst>
              <a:gd name="adj" fmla="val 20958"/>
            </a:avLst>
          </a:prstGeom>
          <a:solidFill>
            <a:srgbClr val="F6F9F7"/>
          </a:solidFill>
          <a:ln w="12700">
            <a:solidFill>
              <a:srgbClr val="E3E9E5"/>
            </a:solidFill>
            <a:prstDash val="solid"/>
          </a:ln>
        </p:spPr>
      </p:sp>
      <p:sp>
        <p:nvSpPr>
          <p:cNvPr id="19" name="Shape 14"/>
          <p:cNvSpPr/>
          <p:nvPr/>
        </p:nvSpPr>
        <p:spPr>
          <a:xfrm>
            <a:off x="749808" y="3247949"/>
            <a:ext cx="402336" cy="402336"/>
          </a:xfrm>
          <a:prstGeom prst="ellipse">
            <a:avLst/>
          </a:prstGeom>
          <a:solidFill>
            <a:srgbClr val="0E7C5A"/>
          </a:solidFill>
          <a:ln/>
        </p:spPr>
      </p:sp>
      <p:sp>
        <p:nvSpPr>
          <p:cNvPr id="20" name="Text 15"/>
          <p:cNvSpPr txBox="1"/>
          <p:nvPr/>
        </p:nvSpPr>
        <p:spPr>
          <a:xfrm>
            <a:off x="749808" y="324794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1" name="Text 16"/>
          <p:cNvSpPr/>
          <p:nvPr/>
        </p:nvSpPr>
        <p:spPr>
          <a:xfrm>
            <a:off x="1353312" y="3198571"/>
            <a:ext cx="10033711" cy="501091"/>
          </a:xfrm>
          <a:prstGeom prst="rect">
            <a:avLst/>
          </a:prstGeom>
          <a:noFill/>
          <a:ln/>
        </p:spPr>
        <p:txBody>
          <a:bodyPr wrap="square" lIns="0" tIns="0" rIns="0" bIns="0" rtlCol="0" anchor="ctr"/>
          <a:lstStyle/>
          <a:p>
            <a:pPr indent="0" marL="0">
              <a:lnSpc>
                <a:spcPct val="102000"/>
              </a:lnSpc>
              <a:buNone/>
            </a:pPr>
            <a:r>
              <a:rPr lang="en-US" sz="1500" b="1" dirty="0">
                <a:solidFill>
                  <a:srgbClr val="12211B"/>
                </a:solidFill>
                <a:latin typeface="Calibri" pitchFamily="34" charset="0"/>
                <a:ea typeface="Calibri" pitchFamily="34" charset="-122"/>
                <a:cs typeface="Calibri" pitchFamily="34" charset="-120"/>
              </a:rPr>
              <a:t>2. Correct this:  “My sister work in a bank. She don't work on Sunday. Does she likes it?”</a:t>
            </a:r>
            <a:endParaRPr lang="en-US" sz="1500" dirty="0"/>
          </a:p>
          <a:p>
            <a:pPr indent="0" marL="0">
              <a:lnSpc>
                <a:spcPct val="102000"/>
              </a:lnSpc>
              <a:spcBef>
                <a:spcPts val="265"/>
              </a:spcBef>
              <a:buNone/>
            </a:pPr>
            <a:r>
              <a:rPr lang="en-US" sz="1150" dirty="0">
                <a:solidFill>
                  <a:srgbClr val="3A473F"/>
                </a:solidFill>
                <a:latin typeface="Calibri" pitchFamily="34" charset="0"/>
                <a:ea typeface="Calibri" pitchFamily="34" charset="-122"/>
                <a:cs typeface="Calibri" pitchFamily="34" charset="-120"/>
              </a:rPr>
              <a:t>There are four things to fix.</a:t>
            </a:r>
            <a:endParaRPr lang="en-US" sz="1500" dirty="0"/>
          </a:p>
        </p:txBody>
      </p:sp>
      <p:sp>
        <p:nvSpPr>
          <p:cNvPr id="22" name="Shape 17"/>
          <p:cNvSpPr/>
          <p:nvPr/>
        </p:nvSpPr>
        <p:spPr>
          <a:xfrm>
            <a:off x="548640" y="3873398"/>
            <a:ext cx="11094415" cy="610819"/>
          </a:xfrm>
          <a:prstGeom prst="roundRect">
            <a:avLst>
              <a:gd name="adj" fmla="val 20958"/>
            </a:avLst>
          </a:prstGeom>
          <a:solidFill>
            <a:srgbClr val="F6F9F7"/>
          </a:solidFill>
          <a:ln w="12700">
            <a:solidFill>
              <a:srgbClr val="E3E9E5"/>
            </a:solidFill>
            <a:prstDash val="solid"/>
          </a:ln>
        </p:spPr>
      </p:sp>
      <p:sp>
        <p:nvSpPr>
          <p:cNvPr id="23" name="Shape 18"/>
          <p:cNvSpPr/>
          <p:nvPr/>
        </p:nvSpPr>
        <p:spPr>
          <a:xfrm>
            <a:off x="749808" y="3977640"/>
            <a:ext cx="402336" cy="402336"/>
          </a:xfrm>
          <a:prstGeom prst="ellipse">
            <a:avLst/>
          </a:prstGeom>
          <a:solidFill>
            <a:srgbClr val="0E7C5A"/>
          </a:solidFill>
          <a:ln/>
        </p:spPr>
      </p:sp>
      <p:sp>
        <p:nvSpPr>
          <p:cNvPr id="24" name="Text 19"/>
          <p:cNvSpPr txBox="1"/>
          <p:nvPr/>
        </p:nvSpPr>
        <p:spPr>
          <a:xfrm>
            <a:off x="749808" y="39776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5" name="Text 20"/>
          <p:cNvSpPr/>
          <p:nvPr/>
        </p:nvSpPr>
        <p:spPr>
          <a:xfrm>
            <a:off x="1353312" y="3928262"/>
            <a:ext cx="10033711" cy="501091"/>
          </a:xfrm>
          <a:prstGeom prst="rect">
            <a:avLst/>
          </a:prstGeom>
          <a:noFill/>
          <a:ln/>
        </p:spPr>
        <p:txBody>
          <a:bodyPr wrap="square" lIns="0" tIns="0" rIns="0" bIns="0" rtlCol="0" anchor="ctr"/>
          <a:lstStyle/>
          <a:p>
            <a:pPr indent="0" marL="0">
              <a:lnSpc>
                <a:spcPct val="102000"/>
              </a:lnSpc>
              <a:buNone/>
            </a:pPr>
            <a:r>
              <a:rPr lang="en-US" sz="1500" b="1" dirty="0">
                <a:solidFill>
                  <a:srgbClr val="12211B"/>
                </a:solidFill>
                <a:latin typeface="Calibri" pitchFamily="34" charset="0"/>
                <a:ea typeface="Calibri" pitchFamily="34" charset="-122"/>
                <a:cs typeface="Calibri" pitchFamily="34" charset="-120"/>
              </a:rPr>
              <a:t>3. Write three questions with DO and three with DOES.</a:t>
            </a:r>
            <a:endParaRPr lang="en-US" sz="1500" dirty="0"/>
          </a:p>
          <a:p>
            <a:pPr indent="0" marL="0">
              <a:lnSpc>
                <a:spcPct val="102000"/>
              </a:lnSpc>
              <a:spcBef>
                <a:spcPts val="265"/>
              </a:spcBef>
              <a:buNone/>
            </a:pPr>
            <a:r>
              <a:rPr lang="en-US" sz="1150" dirty="0">
                <a:solidFill>
                  <a:srgbClr val="3A473F"/>
                </a:solidFill>
                <a:latin typeface="Calibri" pitchFamily="34" charset="0"/>
                <a:ea typeface="Calibri" pitchFamily="34" charset="-122"/>
                <a:cs typeface="Calibri" pitchFamily="34" charset="-120"/>
              </a:rPr>
              <a:t>Six questions in total.</a:t>
            </a:r>
            <a:endParaRPr lang="en-US" sz="1500" dirty="0"/>
          </a:p>
        </p:txBody>
      </p:sp>
      <p:sp>
        <p:nvSpPr>
          <p:cNvPr id="26" name="Shape 21"/>
          <p:cNvSpPr/>
          <p:nvPr/>
        </p:nvSpPr>
        <p:spPr>
          <a:xfrm>
            <a:off x="548640" y="4603090"/>
            <a:ext cx="11094415" cy="610819"/>
          </a:xfrm>
          <a:prstGeom prst="roundRect">
            <a:avLst>
              <a:gd name="adj" fmla="val 20958"/>
            </a:avLst>
          </a:prstGeom>
          <a:solidFill>
            <a:srgbClr val="F6F9F7"/>
          </a:solidFill>
          <a:ln w="12700">
            <a:solidFill>
              <a:srgbClr val="E3E9E5"/>
            </a:solidFill>
            <a:prstDash val="solid"/>
          </a:ln>
        </p:spPr>
      </p:sp>
      <p:sp>
        <p:nvSpPr>
          <p:cNvPr id="27" name="Shape 22"/>
          <p:cNvSpPr/>
          <p:nvPr/>
        </p:nvSpPr>
        <p:spPr>
          <a:xfrm>
            <a:off x="749808" y="4707331"/>
            <a:ext cx="402336" cy="402336"/>
          </a:xfrm>
          <a:prstGeom prst="ellipse">
            <a:avLst/>
          </a:prstGeom>
          <a:solidFill>
            <a:srgbClr val="0E7C5A"/>
          </a:solidFill>
          <a:ln/>
        </p:spPr>
      </p:sp>
      <p:sp>
        <p:nvSpPr>
          <p:cNvPr id="28" name="Text 23"/>
          <p:cNvSpPr txBox="1"/>
          <p:nvPr/>
        </p:nvSpPr>
        <p:spPr>
          <a:xfrm>
            <a:off x="749808" y="470733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9" name="Text 24"/>
          <p:cNvSpPr/>
          <p:nvPr/>
        </p:nvSpPr>
        <p:spPr>
          <a:xfrm>
            <a:off x="1353312" y="4657954"/>
            <a:ext cx="10033711" cy="501091"/>
          </a:xfrm>
          <a:prstGeom prst="rect">
            <a:avLst/>
          </a:prstGeom>
          <a:noFill/>
          <a:ln/>
        </p:spPr>
        <p:txBody>
          <a:bodyPr wrap="square" lIns="0" tIns="0" rIns="0" bIns="0" rtlCol="0" anchor="ctr"/>
          <a:lstStyle/>
          <a:p>
            <a:pPr indent="0" marL="0">
              <a:lnSpc>
                <a:spcPct val="102000"/>
              </a:lnSpc>
              <a:buNone/>
            </a:pPr>
            <a:r>
              <a:rPr lang="en-US" sz="1500" b="1" dirty="0">
                <a:solidFill>
                  <a:srgbClr val="12211B"/>
                </a:solidFill>
                <a:latin typeface="Calibri" pitchFamily="34" charset="0"/>
                <a:ea typeface="Calibri" pitchFamily="34" charset="-122"/>
                <a:cs typeface="Calibri" pitchFamily="34" charset="-120"/>
              </a:rPr>
              <a:t>4. Write the -s form of:  go · study · watch · have · play · fix</a:t>
            </a:r>
            <a:endParaRPr lang="en-US" sz="1500" dirty="0"/>
          </a:p>
          <a:p>
            <a:pPr indent="0" marL="0">
              <a:lnSpc>
                <a:spcPct val="102000"/>
              </a:lnSpc>
              <a:spcBef>
                <a:spcPts val="265"/>
              </a:spcBef>
              <a:buNone/>
            </a:pPr>
            <a:r>
              <a:rPr lang="en-US" sz="1150" dirty="0">
                <a:solidFill>
                  <a:srgbClr val="3A473F"/>
                </a:solidFill>
                <a:latin typeface="Calibri" pitchFamily="34" charset="0"/>
                <a:ea typeface="Calibri" pitchFamily="34" charset="-122"/>
                <a:cs typeface="Calibri" pitchFamily="34" charset="-120"/>
              </a:rPr>
              <a:t>Six verbs, four rules.</a:t>
            </a:r>
            <a:endParaRPr lang="en-US" sz="1500" dirty="0"/>
          </a:p>
        </p:txBody>
      </p:sp>
      <p:sp>
        <p:nvSpPr>
          <p:cNvPr id="30" name="Shape 25"/>
          <p:cNvSpPr/>
          <p:nvPr/>
        </p:nvSpPr>
        <p:spPr>
          <a:xfrm>
            <a:off x="548640" y="5332781"/>
            <a:ext cx="11094415" cy="610819"/>
          </a:xfrm>
          <a:prstGeom prst="roundRect">
            <a:avLst>
              <a:gd name="adj" fmla="val 20958"/>
            </a:avLst>
          </a:prstGeom>
          <a:solidFill>
            <a:srgbClr val="F6F9F7"/>
          </a:solidFill>
          <a:ln w="12700">
            <a:solidFill>
              <a:srgbClr val="E3E9E5"/>
            </a:solidFill>
            <a:prstDash val="solid"/>
          </a:ln>
        </p:spPr>
      </p:sp>
      <p:sp>
        <p:nvSpPr>
          <p:cNvPr id="31" name="Shape 26"/>
          <p:cNvSpPr/>
          <p:nvPr/>
        </p:nvSpPr>
        <p:spPr>
          <a:xfrm>
            <a:off x="749808" y="5437022"/>
            <a:ext cx="402336" cy="402336"/>
          </a:xfrm>
          <a:prstGeom prst="ellipse">
            <a:avLst/>
          </a:prstGeom>
          <a:solidFill>
            <a:srgbClr val="0E7C5A"/>
          </a:solidFill>
          <a:ln/>
        </p:spPr>
      </p:sp>
      <p:sp>
        <p:nvSpPr>
          <p:cNvPr id="32" name="Text 27"/>
          <p:cNvSpPr txBox="1"/>
          <p:nvPr/>
        </p:nvSpPr>
        <p:spPr>
          <a:xfrm>
            <a:off x="749808" y="543702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3" name="Text 28"/>
          <p:cNvSpPr/>
          <p:nvPr/>
        </p:nvSpPr>
        <p:spPr>
          <a:xfrm>
            <a:off x="1353312" y="5387645"/>
            <a:ext cx="10033711" cy="501091"/>
          </a:xfrm>
          <a:prstGeom prst="rect">
            <a:avLst/>
          </a:prstGeom>
          <a:noFill/>
          <a:ln/>
        </p:spPr>
        <p:txBody>
          <a:bodyPr wrap="square" lIns="0" tIns="0" rIns="0" bIns="0" rtlCol="0" anchor="ctr"/>
          <a:lstStyle/>
          <a:p>
            <a:pPr indent="0" marL="0">
              <a:lnSpc>
                <a:spcPct val="102000"/>
              </a:lnSpc>
              <a:buNone/>
            </a:pPr>
            <a:r>
              <a:rPr lang="en-US" sz="1500" b="1" dirty="0">
                <a:solidFill>
                  <a:srgbClr val="12211B"/>
                </a:solidFill>
                <a:latin typeface="Calibri" pitchFamily="34" charset="0"/>
                <a:ea typeface="Calibri" pitchFamily="34" charset="-122"/>
                <a:cs typeface="Calibri" pitchFamily="34" charset="-120"/>
              </a:rPr>
              <a:t>5. Write one sentence with a frequency word, one negative and one question — about the same person.</a:t>
            </a:r>
            <a:endParaRPr lang="en-US" sz="1500" dirty="0"/>
          </a:p>
          <a:p>
            <a:pPr indent="0" marL="0">
              <a:lnSpc>
                <a:spcPct val="102000"/>
              </a:lnSpc>
              <a:spcBef>
                <a:spcPts val="265"/>
              </a:spcBef>
              <a:buNone/>
            </a:pPr>
            <a:r>
              <a:rPr lang="en-US" sz="1150" dirty="0">
                <a:solidFill>
                  <a:srgbClr val="3A473F"/>
                </a:solidFill>
                <a:latin typeface="Calibri" pitchFamily="34" charset="0"/>
                <a:ea typeface="Calibri" pitchFamily="34" charset="-122"/>
                <a:cs typeface="Calibri" pitchFamily="34" charset="-120"/>
              </a:rPr>
              <a:t>Three sentences.</a:t>
            </a:r>
            <a:endParaRPr lang="en-US" sz="15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679192"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218541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EXERCISE J · DIFFICULT</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Exercise J — think and explain</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There is no single right answer. Explain your thinking.</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1 — Present Simple &amp; Daily Routine</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60</a:t>
            </a:r>
            <a:endParaRPr lang="en-US" sz="1100" dirty="0"/>
          </a:p>
        </p:txBody>
      </p:sp>
      <p:sp>
        <p:nvSpPr>
          <p:cNvPr id="11" name="Shape 7"/>
          <p:cNvSpPr/>
          <p:nvPr/>
        </p:nvSpPr>
        <p:spPr>
          <a:xfrm>
            <a:off x="548640" y="1883664"/>
            <a:ext cx="11094415" cy="566928"/>
          </a:xfrm>
          <a:prstGeom prst="roundRect">
            <a:avLst>
              <a:gd name="adj" fmla="val 22581"/>
            </a:avLst>
          </a:prstGeom>
          <a:solidFill>
            <a:srgbClr val="EDF0FD"/>
          </a:solidFill>
          <a:ln w="12700">
            <a:solidFill>
              <a:srgbClr val="0E7C5A"/>
            </a:solidFill>
            <a:prstDash val="solid"/>
          </a:ln>
        </p:spPr>
      </p:sp>
      <p:sp>
        <p:nvSpPr>
          <p:cNvPr id="12" name="Shape 8"/>
          <p:cNvSpPr/>
          <p:nvPr/>
        </p:nvSpPr>
        <p:spPr>
          <a:xfrm>
            <a:off x="749808" y="1993392"/>
            <a:ext cx="347472" cy="347472"/>
          </a:xfrm>
          <a:prstGeom prst="ellipse">
            <a:avLst/>
          </a:prstGeom>
          <a:solidFill>
            <a:srgbClr val="0E7C5A"/>
          </a:solidFill>
          <a:ln/>
        </p:spPr>
      </p:sp>
      <p:pic>
        <p:nvPicPr>
          <p:cNvPr id="13" name="Image 1" descr="preencoded.png">    </p:cNvPr>
          <p:cNvPicPr>
            <a:picLocks noChangeAspect="1"/>
          </p:cNvPicPr>
          <p:nvPr/>
        </p:nvPicPr>
        <p:blipFill>
          <a:blip r:embed="rId2"/>
          <a:stretch>
            <a:fillRect/>
          </a:stretch>
        </p:blipFill>
        <p:spPr>
          <a:xfrm>
            <a:off x="836676" y="2080260"/>
            <a:ext cx="173736" cy="173736"/>
          </a:xfrm>
          <a:prstGeom prst="rect">
            <a:avLst/>
          </a:prstGeom>
        </p:spPr>
      </p:pic>
      <p:sp>
        <p:nvSpPr>
          <p:cNvPr id="14" name="Text 9"/>
          <p:cNvSpPr txBox="1"/>
          <p:nvPr/>
        </p:nvSpPr>
        <p:spPr>
          <a:xfrm>
            <a:off x="1207008" y="188366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Answer in English if you can. These test understanding, not memory.</a:t>
            </a:r>
            <a:endParaRPr lang="en-US" sz="1700" dirty="0"/>
          </a:p>
        </p:txBody>
      </p:sp>
      <p:sp>
        <p:nvSpPr>
          <p:cNvPr id="15" name="Shape 10"/>
          <p:cNvSpPr/>
          <p:nvPr/>
        </p:nvSpPr>
        <p:spPr>
          <a:xfrm>
            <a:off x="548640" y="2596896"/>
            <a:ext cx="11094415" cy="747522"/>
          </a:xfrm>
          <a:prstGeom prst="roundRect">
            <a:avLst>
              <a:gd name="adj" fmla="val 17125"/>
            </a:avLst>
          </a:prstGeom>
          <a:solidFill>
            <a:srgbClr val="F6F9F7"/>
          </a:solidFill>
          <a:ln w="12700">
            <a:solidFill>
              <a:srgbClr val="E3E9E5"/>
            </a:solidFill>
            <a:prstDash val="solid"/>
          </a:ln>
        </p:spPr>
      </p:sp>
      <p:sp>
        <p:nvSpPr>
          <p:cNvPr id="16" name="Shape 11"/>
          <p:cNvSpPr/>
          <p:nvPr/>
        </p:nvSpPr>
        <p:spPr>
          <a:xfrm>
            <a:off x="749808" y="2769489"/>
            <a:ext cx="402336" cy="402336"/>
          </a:xfrm>
          <a:prstGeom prst="ellipse">
            <a:avLst/>
          </a:prstGeom>
          <a:solidFill>
            <a:srgbClr val="0E7C5A"/>
          </a:solidFill>
          <a:ln/>
        </p:spPr>
      </p:sp>
      <p:sp>
        <p:nvSpPr>
          <p:cNvPr id="17" name="Text 12"/>
          <p:cNvSpPr txBox="1"/>
          <p:nvPr/>
        </p:nvSpPr>
        <p:spPr>
          <a:xfrm>
            <a:off x="749808" y="276948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8" name="Text 13"/>
          <p:cNvSpPr/>
          <p:nvPr/>
        </p:nvSpPr>
        <p:spPr>
          <a:xfrm>
            <a:off x="1353312" y="2651760"/>
            <a:ext cx="10033711" cy="637794"/>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1. The -s adds no meaning at all. So why does it matter?</a:t>
            </a:r>
            <a:endParaRPr lang="en-US" sz="1700" dirty="0"/>
          </a:p>
          <a:p>
            <a:pPr indent="0" marL="0">
              <a:lnSpc>
                <a:spcPct val="102000"/>
              </a:lnSpc>
              <a:spcBef>
                <a:spcPts val="300"/>
              </a:spcBef>
              <a:buNone/>
            </a:pPr>
            <a:r>
              <a:rPr lang="en-US" sz="1300" dirty="0">
                <a:solidFill>
                  <a:srgbClr val="3A473F"/>
                </a:solidFill>
                <a:latin typeface="Calibri" pitchFamily="34" charset="0"/>
                <a:ea typeface="Calibri" pitchFamily="34" charset="-122"/>
                <a:cs typeface="Calibri" pitchFamily="34" charset="-120"/>
              </a:rPr>
              <a:t>What happens when a listener does not hear it?</a:t>
            </a:r>
            <a:endParaRPr lang="en-US" sz="1700" dirty="0"/>
          </a:p>
        </p:txBody>
      </p:sp>
      <p:sp>
        <p:nvSpPr>
          <p:cNvPr id="19" name="Shape 14"/>
          <p:cNvSpPr/>
          <p:nvPr/>
        </p:nvSpPr>
        <p:spPr>
          <a:xfrm>
            <a:off x="548640" y="3463290"/>
            <a:ext cx="11094415" cy="747522"/>
          </a:xfrm>
          <a:prstGeom prst="roundRect">
            <a:avLst>
              <a:gd name="adj" fmla="val 17125"/>
            </a:avLst>
          </a:prstGeom>
          <a:solidFill>
            <a:srgbClr val="F6F9F7"/>
          </a:solidFill>
          <a:ln w="12700">
            <a:solidFill>
              <a:srgbClr val="E3E9E5"/>
            </a:solidFill>
            <a:prstDash val="solid"/>
          </a:ln>
        </p:spPr>
      </p:sp>
      <p:sp>
        <p:nvSpPr>
          <p:cNvPr id="20" name="Shape 15"/>
          <p:cNvSpPr/>
          <p:nvPr/>
        </p:nvSpPr>
        <p:spPr>
          <a:xfrm>
            <a:off x="749808" y="3635883"/>
            <a:ext cx="402336" cy="402336"/>
          </a:xfrm>
          <a:prstGeom prst="ellipse">
            <a:avLst/>
          </a:prstGeom>
          <a:solidFill>
            <a:srgbClr val="0E7C5A"/>
          </a:solidFill>
          <a:ln/>
        </p:spPr>
      </p:sp>
      <p:sp>
        <p:nvSpPr>
          <p:cNvPr id="21" name="Text 16"/>
          <p:cNvSpPr txBox="1"/>
          <p:nvPr/>
        </p:nvSpPr>
        <p:spPr>
          <a:xfrm>
            <a:off x="749808" y="3635883"/>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2" name="Text 17"/>
          <p:cNvSpPr/>
          <p:nvPr/>
        </p:nvSpPr>
        <p:spPr>
          <a:xfrm>
            <a:off x="1353312" y="3518154"/>
            <a:ext cx="10033711" cy="637794"/>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2. Why do learners say “She doesn't likes”? What are they thinking?</a:t>
            </a:r>
            <a:endParaRPr lang="en-US" sz="1700" dirty="0"/>
          </a:p>
          <a:p>
            <a:pPr indent="0" marL="0">
              <a:lnSpc>
                <a:spcPct val="102000"/>
              </a:lnSpc>
              <a:spcBef>
                <a:spcPts val="300"/>
              </a:spcBef>
              <a:buNone/>
            </a:pPr>
            <a:r>
              <a:rPr lang="en-US" sz="1300" dirty="0">
                <a:solidFill>
                  <a:srgbClr val="3A473F"/>
                </a:solidFill>
                <a:latin typeface="Calibri" pitchFamily="34" charset="0"/>
                <a:ea typeface="Calibri" pitchFamily="34" charset="-122"/>
                <a:cs typeface="Calibri" pitchFamily="34" charset="-120"/>
              </a:rPr>
              <a:t>It is a logical mistake, not a careless one.</a:t>
            </a:r>
            <a:endParaRPr lang="en-US" sz="1700" dirty="0"/>
          </a:p>
        </p:txBody>
      </p:sp>
      <p:sp>
        <p:nvSpPr>
          <p:cNvPr id="23" name="Shape 18"/>
          <p:cNvSpPr/>
          <p:nvPr/>
        </p:nvSpPr>
        <p:spPr>
          <a:xfrm>
            <a:off x="548640" y="4329684"/>
            <a:ext cx="11094415" cy="747522"/>
          </a:xfrm>
          <a:prstGeom prst="roundRect">
            <a:avLst>
              <a:gd name="adj" fmla="val 17125"/>
            </a:avLst>
          </a:prstGeom>
          <a:solidFill>
            <a:srgbClr val="F6F9F7"/>
          </a:solidFill>
          <a:ln w="12700">
            <a:solidFill>
              <a:srgbClr val="E3E9E5"/>
            </a:solidFill>
            <a:prstDash val="solid"/>
          </a:ln>
        </p:spPr>
      </p:sp>
      <p:sp>
        <p:nvSpPr>
          <p:cNvPr id="24" name="Shape 19"/>
          <p:cNvSpPr/>
          <p:nvPr/>
        </p:nvSpPr>
        <p:spPr>
          <a:xfrm>
            <a:off x="749808" y="4502277"/>
            <a:ext cx="402336" cy="402336"/>
          </a:xfrm>
          <a:prstGeom prst="ellipse">
            <a:avLst/>
          </a:prstGeom>
          <a:solidFill>
            <a:srgbClr val="0E7C5A"/>
          </a:solidFill>
          <a:ln/>
        </p:spPr>
      </p:sp>
      <p:sp>
        <p:nvSpPr>
          <p:cNvPr id="25" name="Text 20"/>
          <p:cNvSpPr txBox="1"/>
          <p:nvPr/>
        </p:nvSpPr>
        <p:spPr>
          <a:xfrm>
            <a:off x="749808" y="4502277"/>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6" name="Text 21"/>
          <p:cNvSpPr/>
          <p:nvPr/>
        </p:nvSpPr>
        <p:spPr>
          <a:xfrm>
            <a:off x="1353312" y="4384548"/>
            <a:ext cx="10033711" cy="637794"/>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3. Your friend says “Where you work?” How would you explain the missing word?</a:t>
            </a:r>
            <a:endParaRPr lang="en-US" sz="1700" dirty="0"/>
          </a:p>
          <a:p>
            <a:pPr indent="0" marL="0">
              <a:lnSpc>
                <a:spcPct val="102000"/>
              </a:lnSpc>
              <a:spcBef>
                <a:spcPts val="300"/>
              </a:spcBef>
              <a:buNone/>
            </a:pPr>
            <a:r>
              <a:rPr lang="en-US" sz="1300" dirty="0">
                <a:solidFill>
                  <a:srgbClr val="3A473F"/>
                </a:solidFill>
                <a:latin typeface="Calibri" pitchFamily="34" charset="0"/>
                <a:ea typeface="Calibri" pitchFamily="34" charset="-122"/>
                <a:cs typeface="Calibri" pitchFamily="34" charset="-120"/>
              </a:rPr>
              <a:t>How would you teach it so they remember?</a:t>
            </a:r>
            <a:endParaRPr lang="en-US" sz="1700" dirty="0"/>
          </a:p>
        </p:txBody>
      </p:sp>
      <p:sp>
        <p:nvSpPr>
          <p:cNvPr id="27" name="Shape 22"/>
          <p:cNvSpPr/>
          <p:nvPr/>
        </p:nvSpPr>
        <p:spPr>
          <a:xfrm>
            <a:off x="548640" y="5196078"/>
            <a:ext cx="11094415" cy="747522"/>
          </a:xfrm>
          <a:prstGeom prst="roundRect">
            <a:avLst>
              <a:gd name="adj" fmla="val 17125"/>
            </a:avLst>
          </a:prstGeom>
          <a:solidFill>
            <a:srgbClr val="F6F9F7"/>
          </a:solidFill>
          <a:ln w="12700">
            <a:solidFill>
              <a:srgbClr val="E3E9E5"/>
            </a:solidFill>
            <a:prstDash val="solid"/>
          </a:ln>
        </p:spPr>
      </p:sp>
      <p:sp>
        <p:nvSpPr>
          <p:cNvPr id="28" name="Shape 23"/>
          <p:cNvSpPr/>
          <p:nvPr/>
        </p:nvSpPr>
        <p:spPr>
          <a:xfrm>
            <a:off x="749808" y="5368671"/>
            <a:ext cx="402336" cy="402336"/>
          </a:xfrm>
          <a:prstGeom prst="ellipse">
            <a:avLst/>
          </a:prstGeom>
          <a:solidFill>
            <a:srgbClr val="0E7C5A"/>
          </a:solidFill>
          <a:ln/>
        </p:spPr>
      </p:sp>
      <p:sp>
        <p:nvSpPr>
          <p:cNvPr id="29" name="Text 24"/>
          <p:cNvSpPr txBox="1"/>
          <p:nvPr/>
        </p:nvSpPr>
        <p:spPr>
          <a:xfrm>
            <a:off x="749808" y="536867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30" name="Text 25"/>
          <p:cNvSpPr/>
          <p:nvPr/>
        </p:nvSpPr>
        <p:spPr>
          <a:xfrm>
            <a:off x="1353312" y="5250942"/>
            <a:ext cx="10033711" cy="637794"/>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4. Which is more useful to practise: the -s in writing, or the -s in speaking? Why?</a:t>
            </a:r>
            <a:endParaRPr lang="en-US" sz="1700" dirty="0"/>
          </a:p>
          <a:p>
            <a:pPr indent="0" marL="0">
              <a:lnSpc>
                <a:spcPct val="102000"/>
              </a:lnSpc>
              <a:spcBef>
                <a:spcPts val="300"/>
              </a:spcBef>
              <a:buNone/>
            </a:pPr>
            <a:r>
              <a:rPr lang="en-US" sz="1300" dirty="0">
                <a:solidFill>
                  <a:srgbClr val="3A473F"/>
                </a:solidFill>
                <a:latin typeface="Calibri" pitchFamily="34" charset="0"/>
                <a:ea typeface="Calibri" pitchFamily="34" charset="-122"/>
                <a:cs typeface="Calibri" pitchFamily="34" charset="-120"/>
              </a:rPr>
              <a:t>Where do you use English most?</a:t>
            </a:r>
            <a:endParaRPr lang="en-US" sz="17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A5D43"/>
          </a:solidFill>
          <a:ln/>
        </p:spPr>
      </p:sp>
      <p:sp>
        <p:nvSpPr>
          <p:cNvPr id="3" name="Shape 1"/>
          <p:cNvSpPr/>
          <p:nvPr/>
        </p:nvSpPr>
        <p:spPr>
          <a:xfrm>
            <a:off x="649224" y="539496"/>
            <a:ext cx="219456" cy="219456"/>
          </a:xfrm>
          <a:prstGeom prst="ellipse">
            <a:avLst/>
          </a:prstGeom>
          <a:solidFill>
            <a:srgbClr val="0A5D43"/>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QUIZ 1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Module 1 quiz — Part 1 · The -s ending</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20 questions in total. Answer key follows. Pass mark: 16 out of 20.</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1 — Present Simple &amp; Daily Routine</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61</a:t>
            </a:r>
            <a:endParaRPr lang="en-US" sz="1100" dirty="0"/>
          </a:p>
        </p:txBody>
      </p:sp>
      <p:sp>
        <p:nvSpPr>
          <p:cNvPr id="11" name="Shape 7"/>
          <p:cNvSpPr/>
          <p:nvPr/>
        </p:nvSpPr>
        <p:spPr>
          <a:xfrm>
            <a:off x="548640" y="1883664"/>
            <a:ext cx="11094415" cy="566928"/>
          </a:xfrm>
          <a:prstGeom prst="roundRect">
            <a:avLst>
              <a:gd name="adj" fmla="val 22581"/>
            </a:avLst>
          </a:prstGeom>
          <a:solidFill>
            <a:srgbClr val="EDF3EF"/>
          </a:solidFill>
          <a:ln w="12700">
            <a:solidFill>
              <a:srgbClr val="0A5D43"/>
            </a:solidFill>
            <a:prstDash val="solid"/>
          </a:ln>
        </p:spPr>
      </p:sp>
      <p:sp>
        <p:nvSpPr>
          <p:cNvPr id="12" name="Shape 8"/>
          <p:cNvSpPr/>
          <p:nvPr/>
        </p:nvSpPr>
        <p:spPr>
          <a:xfrm>
            <a:off x="749808" y="1993392"/>
            <a:ext cx="347472" cy="347472"/>
          </a:xfrm>
          <a:prstGeom prst="ellipse">
            <a:avLst/>
          </a:prstGeom>
          <a:solidFill>
            <a:srgbClr val="0A5D43"/>
          </a:solidFill>
          <a:ln/>
        </p:spPr>
      </p:sp>
      <p:pic>
        <p:nvPicPr>
          <p:cNvPr id="13" name="Image 1" descr="preencoded.png">    </p:cNvPr>
          <p:cNvPicPr>
            <a:picLocks noChangeAspect="1"/>
          </p:cNvPicPr>
          <p:nvPr/>
        </p:nvPicPr>
        <p:blipFill>
          <a:blip r:embed="rId2"/>
          <a:stretch>
            <a:fillRect/>
          </a:stretch>
        </p:blipFill>
        <p:spPr>
          <a:xfrm>
            <a:off x="836676" y="2080260"/>
            <a:ext cx="173736" cy="173736"/>
          </a:xfrm>
          <a:prstGeom prst="rect">
            <a:avLst/>
          </a:prstGeom>
        </p:spPr>
      </p:pic>
      <p:sp>
        <p:nvSpPr>
          <p:cNvPr id="14" name="Text 9"/>
          <p:cNvSpPr txBox="1"/>
          <p:nvPr/>
        </p:nvSpPr>
        <p:spPr>
          <a:xfrm>
            <a:off x="1207008" y="188366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Write your answers on paper. Do not look back at the earlier slides.</a:t>
            </a:r>
            <a:endParaRPr lang="en-US" sz="1700" dirty="0"/>
          </a:p>
        </p:txBody>
      </p:sp>
      <p:sp>
        <p:nvSpPr>
          <p:cNvPr id="15" name="Shape 10"/>
          <p:cNvSpPr/>
          <p:nvPr/>
        </p:nvSpPr>
        <p:spPr>
          <a:xfrm>
            <a:off x="548640" y="2596896"/>
            <a:ext cx="11094415" cy="747522"/>
          </a:xfrm>
          <a:prstGeom prst="roundRect">
            <a:avLst>
              <a:gd name="adj" fmla="val 17125"/>
            </a:avLst>
          </a:prstGeom>
          <a:solidFill>
            <a:srgbClr val="F6F9F7"/>
          </a:solidFill>
          <a:ln w="12700">
            <a:solidFill>
              <a:srgbClr val="E3E9E5"/>
            </a:solidFill>
            <a:prstDash val="solid"/>
          </a:ln>
        </p:spPr>
      </p:sp>
      <p:sp>
        <p:nvSpPr>
          <p:cNvPr id="16" name="Shape 11"/>
          <p:cNvSpPr/>
          <p:nvPr/>
        </p:nvSpPr>
        <p:spPr>
          <a:xfrm>
            <a:off x="749808" y="2769489"/>
            <a:ext cx="402336" cy="402336"/>
          </a:xfrm>
          <a:prstGeom prst="ellipse">
            <a:avLst/>
          </a:prstGeom>
          <a:solidFill>
            <a:srgbClr val="0A5D43"/>
          </a:solidFill>
          <a:ln/>
        </p:spPr>
      </p:sp>
      <p:sp>
        <p:nvSpPr>
          <p:cNvPr id="17" name="Text 12"/>
          <p:cNvSpPr txBox="1"/>
          <p:nvPr/>
        </p:nvSpPr>
        <p:spPr>
          <a:xfrm>
            <a:off x="749808" y="276948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8" name="Text 13"/>
          <p:cNvSpPr/>
          <p:nvPr/>
        </p:nvSpPr>
        <p:spPr>
          <a:xfrm>
            <a:off x="1353312" y="2651760"/>
            <a:ext cx="10033711" cy="637794"/>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1. Which is correct?</a:t>
            </a:r>
            <a:endParaRPr lang="en-US" sz="1700" dirty="0"/>
          </a:p>
          <a:p>
            <a:pPr indent="0" marL="0">
              <a:lnSpc>
                <a:spcPct val="102000"/>
              </a:lnSpc>
              <a:spcBef>
                <a:spcPts val="283"/>
              </a:spcBef>
              <a:buNone/>
            </a:pPr>
            <a:r>
              <a:rPr lang="en-US" sz="1320" dirty="0">
                <a:solidFill>
                  <a:srgbClr val="3A473F"/>
                </a:solidFill>
                <a:latin typeface="Calibri" pitchFamily="34" charset="0"/>
                <a:ea typeface="Calibri" pitchFamily="34" charset="-122"/>
                <a:cs typeface="Calibri" pitchFamily="34" charset="-120"/>
              </a:rPr>
              <a:t>a) She work here.     b) She works here.     c) She is work here.</a:t>
            </a:r>
            <a:endParaRPr lang="en-US" sz="1700" dirty="0"/>
          </a:p>
        </p:txBody>
      </p:sp>
      <p:sp>
        <p:nvSpPr>
          <p:cNvPr id="19" name="Shape 14"/>
          <p:cNvSpPr/>
          <p:nvPr/>
        </p:nvSpPr>
        <p:spPr>
          <a:xfrm>
            <a:off x="548640" y="3463290"/>
            <a:ext cx="11094415" cy="747522"/>
          </a:xfrm>
          <a:prstGeom prst="roundRect">
            <a:avLst>
              <a:gd name="adj" fmla="val 17125"/>
            </a:avLst>
          </a:prstGeom>
          <a:solidFill>
            <a:srgbClr val="F6F9F7"/>
          </a:solidFill>
          <a:ln w="12700">
            <a:solidFill>
              <a:srgbClr val="E3E9E5"/>
            </a:solidFill>
            <a:prstDash val="solid"/>
          </a:ln>
        </p:spPr>
      </p:sp>
      <p:sp>
        <p:nvSpPr>
          <p:cNvPr id="20" name="Shape 15"/>
          <p:cNvSpPr/>
          <p:nvPr/>
        </p:nvSpPr>
        <p:spPr>
          <a:xfrm>
            <a:off x="749808" y="3635883"/>
            <a:ext cx="402336" cy="402336"/>
          </a:xfrm>
          <a:prstGeom prst="ellipse">
            <a:avLst/>
          </a:prstGeom>
          <a:solidFill>
            <a:srgbClr val="0A5D43"/>
          </a:solidFill>
          <a:ln/>
        </p:spPr>
      </p:sp>
      <p:sp>
        <p:nvSpPr>
          <p:cNvPr id="21" name="Text 16"/>
          <p:cNvSpPr txBox="1"/>
          <p:nvPr/>
        </p:nvSpPr>
        <p:spPr>
          <a:xfrm>
            <a:off x="749808" y="3635883"/>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2" name="Text 17"/>
          <p:cNvSpPr/>
          <p:nvPr/>
        </p:nvSpPr>
        <p:spPr>
          <a:xfrm>
            <a:off x="1353312" y="3518154"/>
            <a:ext cx="10033711" cy="637794"/>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2. Complete: “My brother ___ in Bahir Dar.”  (live)</a:t>
            </a:r>
            <a:endParaRPr lang="en-US" sz="1700" dirty="0"/>
          </a:p>
          <a:p>
            <a:pPr indent="0" marL="0">
              <a:lnSpc>
                <a:spcPct val="102000"/>
              </a:lnSpc>
              <a:spcBef>
                <a:spcPts val="283"/>
              </a:spcBef>
              <a:buNone/>
            </a:pPr>
            <a:r>
              <a:rPr lang="en-US" sz="1320" dirty="0">
                <a:solidFill>
                  <a:srgbClr val="3A473F"/>
                </a:solidFill>
                <a:latin typeface="Calibri" pitchFamily="34" charset="0"/>
                <a:ea typeface="Calibri" pitchFamily="34" charset="-122"/>
                <a:cs typeface="Calibri" pitchFamily="34" charset="-120"/>
              </a:rPr>
              <a:t>Write the correct form.</a:t>
            </a:r>
            <a:endParaRPr lang="en-US" sz="1700" dirty="0"/>
          </a:p>
        </p:txBody>
      </p:sp>
      <p:sp>
        <p:nvSpPr>
          <p:cNvPr id="23" name="Shape 18"/>
          <p:cNvSpPr/>
          <p:nvPr/>
        </p:nvSpPr>
        <p:spPr>
          <a:xfrm>
            <a:off x="548640" y="4329684"/>
            <a:ext cx="11094415" cy="747522"/>
          </a:xfrm>
          <a:prstGeom prst="roundRect">
            <a:avLst>
              <a:gd name="adj" fmla="val 17125"/>
            </a:avLst>
          </a:prstGeom>
          <a:solidFill>
            <a:srgbClr val="F6F9F7"/>
          </a:solidFill>
          <a:ln w="12700">
            <a:solidFill>
              <a:srgbClr val="E3E9E5"/>
            </a:solidFill>
            <a:prstDash val="solid"/>
          </a:ln>
        </p:spPr>
      </p:sp>
      <p:sp>
        <p:nvSpPr>
          <p:cNvPr id="24" name="Shape 19"/>
          <p:cNvSpPr/>
          <p:nvPr/>
        </p:nvSpPr>
        <p:spPr>
          <a:xfrm>
            <a:off x="749808" y="4502277"/>
            <a:ext cx="402336" cy="402336"/>
          </a:xfrm>
          <a:prstGeom prst="ellipse">
            <a:avLst/>
          </a:prstGeom>
          <a:solidFill>
            <a:srgbClr val="0A5D43"/>
          </a:solidFill>
          <a:ln/>
        </p:spPr>
      </p:sp>
      <p:sp>
        <p:nvSpPr>
          <p:cNvPr id="25" name="Text 20"/>
          <p:cNvSpPr txBox="1"/>
          <p:nvPr/>
        </p:nvSpPr>
        <p:spPr>
          <a:xfrm>
            <a:off x="749808" y="4502277"/>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6" name="Text 21"/>
          <p:cNvSpPr/>
          <p:nvPr/>
        </p:nvSpPr>
        <p:spPr>
          <a:xfrm>
            <a:off x="1353312" y="4384548"/>
            <a:ext cx="10033711" cy="637794"/>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3. Complete: “They ___ English every day.”  (study)</a:t>
            </a:r>
            <a:endParaRPr lang="en-US" sz="1700" dirty="0"/>
          </a:p>
          <a:p>
            <a:pPr indent="0" marL="0">
              <a:lnSpc>
                <a:spcPct val="102000"/>
              </a:lnSpc>
              <a:spcBef>
                <a:spcPts val="283"/>
              </a:spcBef>
              <a:buNone/>
            </a:pPr>
            <a:r>
              <a:rPr lang="en-US" sz="1320" dirty="0">
                <a:solidFill>
                  <a:srgbClr val="3A473F"/>
                </a:solidFill>
                <a:latin typeface="Calibri" pitchFamily="34" charset="0"/>
                <a:ea typeface="Calibri" pitchFamily="34" charset="-122"/>
                <a:cs typeface="Calibri" pitchFamily="34" charset="-120"/>
              </a:rPr>
              <a:t>Write the correct form.</a:t>
            </a:r>
            <a:endParaRPr lang="en-US" sz="1700" dirty="0"/>
          </a:p>
        </p:txBody>
      </p:sp>
      <p:sp>
        <p:nvSpPr>
          <p:cNvPr id="27" name="Shape 22"/>
          <p:cNvSpPr/>
          <p:nvPr/>
        </p:nvSpPr>
        <p:spPr>
          <a:xfrm>
            <a:off x="548640" y="5196078"/>
            <a:ext cx="11094415" cy="747522"/>
          </a:xfrm>
          <a:prstGeom prst="roundRect">
            <a:avLst>
              <a:gd name="adj" fmla="val 17125"/>
            </a:avLst>
          </a:prstGeom>
          <a:solidFill>
            <a:srgbClr val="F6F9F7"/>
          </a:solidFill>
          <a:ln w="12700">
            <a:solidFill>
              <a:srgbClr val="E3E9E5"/>
            </a:solidFill>
            <a:prstDash val="solid"/>
          </a:ln>
        </p:spPr>
      </p:sp>
      <p:sp>
        <p:nvSpPr>
          <p:cNvPr id="28" name="Shape 23"/>
          <p:cNvSpPr/>
          <p:nvPr/>
        </p:nvSpPr>
        <p:spPr>
          <a:xfrm>
            <a:off x="749808" y="5368671"/>
            <a:ext cx="402336" cy="402336"/>
          </a:xfrm>
          <a:prstGeom prst="ellipse">
            <a:avLst/>
          </a:prstGeom>
          <a:solidFill>
            <a:srgbClr val="0A5D43"/>
          </a:solidFill>
          <a:ln/>
        </p:spPr>
      </p:sp>
      <p:sp>
        <p:nvSpPr>
          <p:cNvPr id="29" name="Text 24"/>
          <p:cNvSpPr txBox="1"/>
          <p:nvPr/>
        </p:nvSpPr>
        <p:spPr>
          <a:xfrm>
            <a:off x="749808" y="536867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30" name="Text 25"/>
          <p:cNvSpPr/>
          <p:nvPr/>
        </p:nvSpPr>
        <p:spPr>
          <a:xfrm>
            <a:off x="1353312" y="5250942"/>
            <a:ext cx="10033711" cy="637794"/>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4. Which subjects take -s?</a:t>
            </a:r>
            <a:endParaRPr lang="en-US" sz="1700" dirty="0"/>
          </a:p>
          <a:p>
            <a:pPr indent="0" marL="0">
              <a:lnSpc>
                <a:spcPct val="102000"/>
              </a:lnSpc>
              <a:spcBef>
                <a:spcPts val="283"/>
              </a:spcBef>
              <a:buNone/>
            </a:pPr>
            <a:r>
              <a:rPr lang="en-US" sz="1320" dirty="0">
                <a:solidFill>
                  <a:srgbClr val="3A473F"/>
                </a:solidFill>
                <a:latin typeface="Calibri" pitchFamily="34" charset="0"/>
                <a:ea typeface="Calibri" pitchFamily="34" charset="-122"/>
                <a:cs typeface="Calibri" pitchFamily="34" charset="-120"/>
              </a:rPr>
              <a:t>a) I, you, we     b) he, she, it     c) all of them</a:t>
            </a:r>
            <a:endParaRPr lang="en-US" sz="17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A5D43"/>
          </a:solidFill>
          <a:ln/>
        </p:spPr>
      </p:sp>
      <p:sp>
        <p:nvSpPr>
          <p:cNvPr id="3" name="Shape 1"/>
          <p:cNvSpPr/>
          <p:nvPr/>
        </p:nvSpPr>
        <p:spPr>
          <a:xfrm>
            <a:off x="649224" y="539496"/>
            <a:ext cx="219456" cy="219456"/>
          </a:xfrm>
          <a:prstGeom prst="ellipse">
            <a:avLst/>
          </a:prstGeom>
          <a:solidFill>
            <a:srgbClr val="0A5D43"/>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QUIZ 2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Module 1 quiz — Part 2 · Spelling</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20 questions in total. Answer key follows. Pass mark: 16 out of 20.</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1 — Present Simple &amp; Daily Routine</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62</a:t>
            </a:r>
            <a:endParaRPr lang="en-US" sz="1100" dirty="0"/>
          </a:p>
        </p:txBody>
      </p:sp>
      <p:sp>
        <p:nvSpPr>
          <p:cNvPr id="11" name="Shape 7"/>
          <p:cNvSpPr/>
          <p:nvPr/>
        </p:nvSpPr>
        <p:spPr>
          <a:xfrm>
            <a:off x="548640" y="1883664"/>
            <a:ext cx="11094415" cy="925830"/>
          </a:xfrm>
          <a:prstGeom prst="roundRect">
            <a:avLst>
              <a:gd name="adj" fmla="val 13827"/>
            </a:avLst>
          </a:prstGeom>
          <a:solidFill>
            <a:srgbClr val="F6F9F7"/>
          </a:solidFill>
          <a:ln w="12700">
            <a:solidFill>
              <a:srgbClr val="E3E9E5"/>
            </a:solidFill>
            <a:prstDash val="solid"/>
          </a:ln>
        </p:spPr>
      </p:sp>
      <p:sp>
        <p:nvSpPr>
          <p:cNvPr id="12" name="Shape 8"/>
          <p:cNvSpPr/>
          <p:nvPr/>
        </p:nvSpPr>
        <p:spPr>
          <a:xfrm>
            <a:off x="749808" y="2145411"/>
            <a:ext cx="402336" cy="402336"/>
          </a:xfrm>
          <a:prstGeom prst="ellipse">
            <a:avLst/>
          </a:prstGeom>
          <a:solidFill>
            <a:srgbClr val="0A5D43"/>
          </a:solidFill>
          <a:ln/>
        </p:spPr>
      </p:sp>
      <p:sp>
        <p:nvSpPr>
          <p:cNvPr id="13" name="Text 9"/>
          <p:cNvSpPr txBox="1"/>
          <p:nvPr/>
        </p:nvSpPr>
        <p:spPr>
          <a:xfrm>
            <a:off x="749808" y="214541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4" name="Text 10"/>
          <p:cNvSpPr/>
          <p:nvPr/>
        </p:nvSpPr>
        <p:spPr>
          <a:xfrm>
            <a:off x="1353312" y="1938528"/>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5. The he/she form of “go” is …</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a) gos     b) goes     c) goies</a:t>
            </a:r>
            <a:endParaRPr lang="en-US" sz="1800" dirty="0"/>
          </a:p>
        </p:txBody>
      </p:sp>
      <p:sp>
        <p:nvSpPr>
          <p:cNvPr id="15" name="Shape 11"/>
          <p:cNvSpPr/>
          <p:nvPr/>
        </p:nvSpPr>
        <p:spPr>
          <a:xfrm>
            <a:off x="548640" y="2928366"/>
            <a:ext cx="11094415" cy="925830"/>
          </a:xfrm>
          <a:prstGeom prst="roundRect">
            <a:avLst>
              <a:gd name="adj" fmla="val 13827"/>
            </a:avLst>
          </a:prstGeom>
          <a:solidFill>
            <a:srgbClr val="F6F9F7"/>
          </a:solidFill>
          <a:ln w="12700">
            <a:solidFill>
              <a:srgbClr val="E3E9E5"/>
            </a:solidFill>
            <a:prstDash val="solid"/>
          </a:ln>
        </p:spPr>
      </p:sp>
      <p:sp>
        <p:nvSpPr>
          <p:cNvPr id="16" name="Shape 12"/>
          <p:cNvSpPr/>
          <p:nvPr/>
        </p:nvSpPr>
        <p:spPr>
          <a:xfrm>
            <a:off x="749808" y="3190113"/>
            <a:ext cx="402336" cy="402336"/>
          </a:xfrm>
          <a:prstGeom prst="ellipse">
            <a:avLst/>
          </a:prstGeom>
          <a:solidFill>
            <a:srgbClr val="0A5D43"/>
          </a:solidFill>
          <a:ln/>
        </p:spPr>
      </p:sp>
      <p:sp>
        <p:nvSpPr>
          <p:cNvPr id="17" name="Text 13"/>
          <p:cNvSpPr txBox="1"/>
          <p:nvPr/>
        </p:nvSpPr>
        <p:spPr>
          <a:xfrm>
            <a:off x="749808" y="3190113"/>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18" name="Text 14"/>
          <p:cNvSpPr/>
          <p:nvPr/>
        </p:nvSpPr>
        <p:spPr>
          <a:xfrm>
            <a:off x="1353312" y="2983230"/>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6. The he/she form of “study” is …</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a) studys     b) studies     c) studyes</a:t>
            </a:r>
            <a:endParaRPr lang="en-US" sz="1800" dirty="0"/>
          </a:p>
        </p:txBody>
      </p:sp>
      <p:sp>
        <p:nvSpPr>
          <p:cNvPr id="19" name="Shape 15"/>
          <p:cNvSpPr/>
          <p:nvPr/>
        </p:nvSpPr>
        <p:spPr>
          <a:xfrm>
            <a:off x="548640" y="3973068"/>
            <a:ext cx="11094415" cy="925830"/>
          </a:xfrm>
          <a:prstGeom prst="roundRect">
            <a:avLst>
              <a:gd name="adj" fmla="val 13827"/>
            </a:avLst>
          </a:prstGeom>
          <a:solidFill>
            <a:srgbClr val="F6F9F7"/>
          </a:solidFill>
          <a:ln w="12700">
            <a:solidFill>
              <a:srgbClr val="E3E9E5"/>
            </a:solidFill>
            <a:prstDash val="solid"/>
          </a:ln>
        </p:spPr>
      </p:sp>
      <p:sp>
        <p:nvSpPr>
          <p:cNvPr id="20" name="Shape 16"/>
          <p:cNvSpPr/>
          <p:nvPr/>
        </p:nvSpPr>
        <p:spPr>
          <a:xfrm>
            <a:off x="749808" y="4234815"/>
            <a:ext cx="402336" cy="402336"/>
          </a:xfrm>
          <a:prstGeom prst="ellipse">
            <a:avLst/>
          </a:prstGeom>
          <a:solidFill>
            <a:srgbClr val="0A5D43"/>
          </a:solidFill>
          <a:ln/>
        </p:spPr>
      </p:sp>
      <p:sp>
        <p:nvSpPr>
          <p:cNvPr id="21" name="Text 17"/>
          <p:cNvSpPr txBox="1"/>
          <p:nvPr/>
        </p:nvSpPr>
        <p:spPr>
          <a:xfrm>
            <a:off x="749808" y="4234815"/>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7</a:t>
            </a:r>
            <a:endParaRPr lang="en-US" sz="1500" dirty="0"/>
          </a:p>
        </p:txBody>
      </p:sp>
      <p:sp>
        <p:nvSpPr>
          <p:cNvPr id="22" name="Text 18"/>
          <p:cNvSpPr/>
          <p:nvPr/>
        </p:nvSpPr>
        <p:spPr>
          <a:xfrm>
            <a:off x="1353312" y="4027932"/>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7. The he/she form of “have” is …</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a) haves     b) has     c) haves</a:t>
            </a:r>
            <a:endParaRPr lang="en-US" sz="1800" dirty="0"/>
          </a:p>
        </p:txBody>
      </p:sp>
      <p:sp>
        <p:nvSpPr>
          <p:cNvPr id="23" name="Shape 19"/>
          <p:cNvSpPr/>
          <p:nvPr/>
        </p:nvSpPr>
        <p:spPr>
          <a:xfrm>
            <a:off x="548640" y="5017770"/>
            <a:ext cx="11094415" cy="925830"/>
          </a:xfrm>
          <a:prstGeom prst="roundRect">
            <a:avLst>
              <a:gd name="adj" fmla="val 13827"/>
            </a:avLst>
          </a:prstGeom>
          <a:solidFill>
            <a:srgbClr val="F6F9F7"/>
          </a:solidFill>
          <a:ln w="12700">
            <a:solidFill>
              <a:srgbClr val="E3E9E5"/>
            </a:solidFill>
            <a:prstDash val="solid"/>
          </a:ln>
        </p:spPr>
      </p:sp>
      <p:sp>
        <p:nvSpPr>
          <p:cNvPr id="24" name="Shape 20"/>
          <p:cNvSpPr/>
          <p:nvPr/>
        </p:nvSpPr>
        <p:spPr>
          <a:xfrm>
            <a:off x="749808" y="5279517"/>
            <a:ext cx="402336" cy="402336"/>
          </a:xfrm>
          <a:prstGeom prst="ellipse">
            <a:avLst/>
          </a:prstGeom>
          <a:solidFill>
            <a:srgbClr val="0A5D43"/>
          </a:solidFill>
          <a:ln/>
        </p:spPr>
      </p:sp>
      <p:sp>
        <p:nvSpPr>
          <p:cNvPr id="25" name="Text 21"/>
          <p:cNvSpPr txBox="1"/>
          <p:nvPr/>
        </p:nvSpPr>
        <p:spPr>
          <a:xfrm>
            <a:off x="749808" y="5279517"/>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8</a:t>
            </a:r>
            <a:endParaRPr lang="en-US" sz="1500" dirty="0"/>
          </a:p>
        </p:txBody>
      </p:sp>
      <p:sp>
        <p:nvSpPr>
          <p:cNvPr id="26" name="Text 22"/>
          <p:cNvSpPr/>
          <p:nvPr/>
        </p:nvSpPr>
        <p:spPr>
          <a:xfrm>
            <a:off x="1353312" y="5072634"/>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8. Write the he/she form of:  watch · play · finish</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Three verbs, three rules.</a:t>
            </a:r>
            <a:endParaRPr lang="en-US" sz="18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A5D43"/>
          </a:solidFill>
          <a:ln/>
        </p:spPr>
      </p:sp>
      <p:sp>
        <p:nvSpPr>
          <p:cNvPr id="3" name="Shape 1"/>
          <p:cNvSpPr/>
          <p:nvPr/>
        </p:nvSpPr>
        <p:spPr>
          <a:xfrm>
            <a:off x="649224" y="539496"/>
            <a:ext cx="219456" cy="219456"/>
          </a:xfrm>
          <a:prstGeom prst="ellipse">
            <a:avLst/>
          </a:prstGeom>
          <a:solidFill>
            <a:srgbClr val="0A5D43"/>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QUIZ 3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550" b="1" dirty="0">
                <a:solidFill>
                  <a:srgbClr val="12211B"/>
                </a:solidFill>
                <a:latin typeface="Calibri" pitchFamily="34" charset="0"/>
                <a:ea typeface="Calibri" pitchFamily="34" charset="-122"/>
                <a:cs typeface="Calibri" pitchFamily="34" charset="-120"/>
              </a:rPr>
              <a:t>Module 1 quiz — Part 3 · Negatives and questions</a:t>
            </a:r>
            <a:endParaRPr lang="en-US" sz="355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20 questions in total. Answer key follows. Pass mark: 16 out of 20.</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1 — Present Simple &amp; Daily Routine</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63</a:t>
            </a:r>
            <a:endParaRPr lang="en-US" sz="1100" dirty="0"/>
          </a:p>
        </p:txBody>
      </p:sp>
      <p:sp>
        <p:nvSpPr>
          <p:cNvPr id="11" name="Shape 7"/>
          <p:cNvSpPr/>
          <p:nvPr/>
        </p:nvSpPr>
        <p:spPr>
          <a:xfrm>
            <a:off x="548640" y="1883664"/>
            <a:ext cx="11094415" cy="925830"/>
          </a:xfrm>
          <a:prstGeom prst="roundRect">
            <a:avLst>
              <a:gd name="adj" fmla="val 13827"/>
            </a:avLst>
          </a:prstGeom>
          <a:solidFill>
            <a:srgbClr val="F6F9F7"/>
          </a:solidFill>
          <a:ln w="12700">
            <a:solidFill>
              <a:srgbClr val="E3E9E5"/>
            </a:solidFill>
            <a:prstDash val="solid"/>
          </a:ln>
        </p:spPr>
      </p:sp>
      <p:sp>
        <p:nvSpPr>
          <p:cNvPr id="12" name="Shape 8"/>
          <p:cNvSpPr/>
          <p:nvPr/>
        </p:nvSpPr>
        <p:spPr>
          <a:xfrm>
            <a:off x="749808" y="2145411"/>
            <a:ext cx="402336" cy="402336"/>
          </a:xfrm>
          <a:prstGeom prst="ellipse">
            <a:avLst/>
          </a:prstGeom>
          <a:solidFill>
            <a:srgbClr val="0A5D43"/>
          </a:solidFill>
          <a:ln/>
        </p:spPr>
      </p:sp>
      <p:sp>
        <p:nvSpPr>
          <p:cNvPr id="13" name="Text 9"/>
          <p:cNvSpPr txBox="1"/>
          <p:nvPr/>
        </p:nvSpPr>
        <p:spPr>
          <a:xfrm>
            <a:off x="749808" y="214541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9</a:t>
            </a:r>
            <a:endParaRPr lang="en-US" sz="1500" dirty="0"/>
          </a:p>
        </p:txBody>
      </p:sp>
      <p:sp>
        <p:nvSpPr>
          <p:cNvPr id="14" name="Text 10"/>
          <p:cNvSpPr/>
          <p:nvPr/>
        </p:nvSpPr>
        <p:spPr>
          <a:xfrm>
            <a:off x="1353312" y="1938528"/>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9. Make it negative: “She likes tea.”</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Write the full sentence.</a:t>
            </a:r>
            <a:endParaRPr lang="en-US" sz="1800" dirty="0"/>
          </a:p>
        </p:txBody>
      </p:sp>
      <p:sp>
        <p:nvSpPr>
          <p:cNvPr id="15" name="Shape 11"/>
          <p:cNvSpPr/>
          <p:nvPr/>
        </p:nvSpPr>
        <p:spPr>
          <a:xfrm>
            <a:off x="548640" y="2928366"/>
            <a:ext cx="11094415" cy="925830"/>
          </a:xfrm>
          <a:prstGeom prst="roundRect">
            <a:avLst>
              <a:gd name="adj" fmla="val 13827"/>
            </a:avLst>
          </a:prstGeom>
          <a:solidFill>
            <a:srgbClr val="F6F9F7"/>
          </a:solidFill>
          <a:ln w="12700">
            <a:solidFill>
              <a:srgbClr val="E3E9E5"/>
            </a:solidFill>
            <a:prstDash val="solid"/>
          </a:ln>
        </p:spPr>
      </p:sp>
      <p:sp>
        <p:nvSpPr>
          <p:cNvPr id="16" name="Shape 12"/>
          <p:cNvSpPr/>
          <p:nvPr/>
        </p:nvSpPr>
        <p:spPr>
          <a:xfrm>
            <a:off x="749808" y="3190113"/>
            <a:ext cx="402336" cy="402336"/>
          </a:xfrm>
          <a:prstGeom prst="ellipse">
            <a:avLst/>
          </a:prstGeom>
          <a:solidFill>
            <a:srgbClr val="0A5D43"/>
          </a:solidFill>
          <a:ln/>
        </p:spPr>
      </p:sp>
      <p:sp>
        <p:nvSpPr>
          <p:cNvPr id="17" name="Text 13"/>
          <p:cNvSpPr txBox="1"/>
          <p:nvPr/>
        </p:nvSpPr>
        <p:spPr>
          <a:xfrm>
            <a:off x="749808" y="3190113"/>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10</a:t>
            </a:r>
            <a:endParaRPr lang="en-US" sz="1500" dirty="0"/>
          </a:p>
        </p:txBody>
      </p:sp>
      <p:sp>
        <p:nvSpPr>
          <p:cNvPr id="18" name="Text 14"/>
          <p:cNvSpPr/>
          <p:nvPr/>
        </p:nvSpPr>
        <p:spPr>
          <a:xfrm>
            <a:off x="1353312" y="2983230"/>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10. Which is correct?</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a) He doesn't works.     b) He doesn't work.     c) He don't works.</a:t>
            </a:r>
            <a:endParaRPr lang="en-US" sz="1800" dirty="0"/>
          </a:p>
        </p:txBody>
      </p:sp>
      <p:sp>
        <p:nvSpPr>
          <p:cNvPr id="19" name="Shape 15"/>
          <p:cNvSpPr/>
          <p:nvPr/>
        </p:nvSpPr>
        <p:spPr>
          <a:xfrm>
            <a:off x="548640" y="3973068"/>
            <a:ext cx="11094415" cy="925830"/>
          </a:xfrm>
          <a:prstGeom prst="roundRect">
            <a:avLst>
              <a:gd name="adj" fmla="val 13827"/>
            </a:avLst>
          </a:prstGeom>
          <a:solidFill>
            <a:srgbClr val="F6F9F7"/>
          </a:solidFill>
          <a:ln w="12700">
            <a:solidFill>
              <a:srgbClr val="E3E9E5"/>
            </a:solidFill>
            <a:prstDash val="solid"/>
          </a:ln>
        </p:spPr>
      </p:sp>
      <p:sp>
        <p:nvSpPr>
          <p:cNvPr id="20" name="Shape 16"/>
          <p:cNvSpPr/>
          <p:nvPr/>
        </p:nvSpPr>
        <p:spPr>
          <a:xfrm>
            <a:off x="749808" y="4234815"/>
            <a:ext cx="402336" cy="402336"/>
          </a:xfrm>
          <a:prstGeom prst="ellipse">
            <a:avLst/>
          </a:prstGeom>
          <a:solidFill>
            <a:srgbClr val="0A5D43"/>
          </a:solidFill>
          <a:ln/>
        </p:spPr>
      </p:sp>
      <p:sp>
        <p:nvSpPr>
          <p:cNvPr id="21" name="Text 17"/>
          <p:cNvSpPr txBox="1"/>
          <p:nvPr/>
        </p:nvSpPr>
        <p:spPr>
          <a:xfrm>
            <a:off x="749808" y="4234815"/>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11</a:t>
            </a:r>
            <a:endParaRPr lang="en-US" sz="1500" dirty="0"/>
          </a:p>
        </p:txBody>
      </p:sp>
      <p:sp>
        <p:nvSpPr>
          <p:cNvPr id="22" name="Text 18"/>
          <p:cNvSpPr/>
          <p:nvPr/>
        </p:nvSpPr>
        <p:spPr>
          <a:xfrm>
            <a:off x="1353312" y="4027932"/>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11. Make it a question: “They live in Gondar.”</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Write the full sentence.</a:t>
            </a:r>
            <a:endParaRPr lang="en-US" sz="1800" dirty="0"/>
          </a:p>
        </p:txBody>
      </p:sp>
      <p:sp>
        <p:nvSpPr>
          <p:cNvPr id="23" name="Shape 19"/>
          <p:cNvSpPr/>
          <p:nvPr/>
        </p:nvSpPr>
        <p:spPr>
          <a:xfrm>
            <a:off x="548640" y="5017770"/>
            <a:ext cx="11094415" cy="925830"/>
          </a:xfrm>
          <a:prstGeom prst="roundRect">
            <a:avLst>
              <a:gd name="adj" fmla="val 13827"/>
            </a:avLst>
          </a:prstGeom>
          <a:solidFill>
            <a:srgbClr val="F6F9F7"/>
          </a:solidFill>
          <a:ln w="12700">
            <a:solidFill>
              <a:srgbClr val="E3E9E5"/>
            </a:solidFill>
            <a:prstDash val="solid"/>
          </a:ln>
        </p:spPr>
      </p:sp>
      <p:sp>
        <p:nvSpPr>
          <p:cNvPr id="24" name="Shape 20"/>
          <p:cNvSpPr/>
          <p:nvPr/>
        </p:nvSpPr>
        <p:spPr>
          <a:xfrm>
            <a:off x="749808" y="5279517"/>
            <a:ext cx="402336" cy="402336"/>
          </a:xfrm>
          <a:prstGeom prst="ellipse">
            <a:avLst/>
          </a:prstGeom>
          <a:solidFill>
            <a:srgbClr val="0A5D43"/>
          </a:solidFill>
          <a:ln/>
        </p:spPr>
      </p:sp>
      <p:sp>
        <p:nvSpPr>
          <p:cNvPr id="25" name="Text 21"/>
          <p:cNvSpPr txBox="1"/>
          <p:nvPr/>
        </p:nvSpPr>
        <p:spPr>
          <a:xfrm>
            <a:off x="749808" y="5279517"/>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12</a:t>
            </a:r>
            <a:endParaRPr lang="en-US" sz="1500" dirty="0"/>
          </a:p>
        </p:txBody>
      </p:sp>
      <p:sp>
        <p:nvSpPr>
          <p:cNvPr id="26" name="Text 22"/>
          <p:cNvSpPr/>
          <p:nvPr/>
        </p:nvSpPr>
        <p:spPr>
          <a:xfrm>
            <a:off x="1353312" y="5072634"/>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12. Complete: “___ your sister work here?”</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a) Do     b) Does     c) Is</a:t>
            </a:r>
            <a:endParaRPr lang="en-US" sz="18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A5D43"/>
          </a:solidFill>
          <a:ln/>
        </p:spPr>
      </p:sp>
      <p:sp>
        <p:nvSpPr>
          <p:cNvPr id="3" name="Shape 1"/>
          <p:cNvSpPr/>
          <p:nvPr/>
        </p:nvSpPr>
        <p:spPr>
          <a:xfrm>
            <a:off x="649224" y="539496"/>
            <a:ext cx="219456" cy="219456"/>
          </a:xfrm>
          <a:prstGeom prst="ellipse">
            <a:avLst/>
          </a:prstGeom>
          <a:solidFill>
            <a:srgbClr val="0A5D43"/>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QUIZ 4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550" b="1" dirty="0">
                <a:solidFill>
                  <a:srgbClr val="12211B"/>
                </a:solidFill>
                <a:latin typeface="Calibri" pitchFamily="34" charset="0"/>
                <a:ea typeface="Calibri" pitchFamily="34" charset="-122"/>
                <a:cs typeface="Calibri" pitchFamily="34" charset="-120"/>
              </a:rPr>
              <a:t>Module 1 quiz — Part 4 · Frequency and listening</a:t>
            </a:r>
            <a:endParaRPr lang="en-US" sz="355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20 questions in total. Answer key follows. Pass mark: 16 out of 20.</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1 — Present Simple &amp; Daily Routine</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64</a:t>
            </a:r>
            <a:endParaRPr lang="en-US" sz="1100" dirty="0"/>
          </a:p>
        </p:txBody>
      </p:sp>
      <p:sp>
        <p:nvSpPr>
          <p:cNvPr id="11" name="Shape 7"/>
          <p:cNvSpPr/>
          <p:nvPr/>
        </p:nvSpPr>
        <p:spPr>
          <a:xfrm>
            <a:off x="548640" y="1883664"/>
            <a:ext cx="11094415" cy="925830"/>
          </a:xfrm>
          <a:prstGeom prst="roundRect">
            <a:avLst>
              <a:gd name="adj" fmla="val 13827"/>
            </a:avLst>
          </a:prstGeom>
          <a:solidFill>
            <a:srgbClr val="F6F9F7"/>
          </a:solidFill>
          <a:ln w="12700">
            <a:solidFill>
              <a:srgbClr val="E3E9E5"/>
            </a:solidFill>
            <a:prstDash val="solid"/>
          </a:ln>
        </p:spPr>
      </p:sp>
      <p:sp>
        <p:nvSpPr>
          <p:cNvPr id="12" name="Shape 8"/>
          <p:cNvSpPr/>
          <p:nvPr/>
        </p:nvSpPr>
        <p:spPr>
          <a:xfrm>
            <a:off x="749808" y="2145411"/>
            <a:ext cx="402336" cy="402336"/>
          </a:xfrm>
          <a:prstGeom prst="ellipse">
            <a:avLst/>
          </a:prstGeom>
          <a:solidFill>
            <a:srgbClr val="0A5D43"/>
          </a:solidFill>
          <a:ln/>
        </p:spPr>
      </p:sp>
      <p:sp>
        <p:nvSpPr>
          <p:cNvPr id="13" name="Text 9"/>
          <p:cNvSpPr txBox="1"/>
          <p:nvPr/>
        </p:nvSpPr>
        <p:spPr>
          <a:xfrm>
            <a:off x="749808" y="214541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13</a:t>
            </a:r>
            <a:endParaRPr lang="en-US" sz="1500" dirty="0"/>
          </a:p>
        </p:txBody>
      </p:sp>
      <p:sp>
        <p:nvSpPr>
          <p:cNvPr id="14" name="Text 10"/>
          <p:cNvSpPr/>
          <p:nvPr/>
        </p:nvSpPr>
        <p:spPr>
          <a:xfrm>
            <a:off x="1353312" y="1938528"/>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13. Where does “always” go?</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a) before the verb     b) at the end     c) at the start</a:t>
            </a:r>
            <a:endParaRPr lang="en-US" sz="1800" dirty="0"/>
          </a:p>
        </p:txBody>
      </p:sp>
      <p:sp>
        <p:nvSpPr>
          <p:cNvPr id="15" name="Shape 11"/>
          <p:cNvSpPr/>
          <p:nvPr/>
        </p:nvSpPr>
        <p:spPr>
          <a:xfrm>
            <a:off x="548640" y="2928366"/>
            <a:ext cx="11094415" cy="925830"/>
          </a:xfrm>
          <a:prstGeom prst="roundRect">
            <a:avLst>
              <a:gd name="adj" fmla="val 13827"/>
            </a:avLst>
          </a:prstGeom>
          <a:solidFill>
            <a:srgbClr val="F6F9F7"/>
          </a:solidFill>
          <a:ln w="12700">
            <a:solidFill>
              <a:srgbClr val="E3E9E5"/>
            </a:solidFill>
            <a:prstDash val="solid"/>
          </a:ln>
        </p:spPr>
      </p:sp>
      <p:sp>
        <p:nvSpPr>
          <p:cNvPr id="16" name="Shape 12"/>
          <p:cNvSpPr/>
          <p:nvPr/>
        </p:nvSpPr>
        <p:spPr>
          <a:xfrm>
            <a:off x="749808" y="3190113"/>
            <a:ext cx="402336" cy="402336"/>
          </a:xfrm>
          <a:prstGeom prst="ellipse">
            <a:avLst/>
          </a:prstGeom>
          <a:solidFill>
            <a:srgbClr val="0A5D43"/>
          </a:solidFill>
          <a:ln/>
        </p:spPr>
      </p:sp>
      <p:sp>
        <p:nvSpPr>
          <p:cNvPr id="17" name="Text 13"/>
          <p:cNvSpPr txBox="1"/>
          <p:nvPr/>
        </p:nvSpPr>
        <p:spPr>
          <a:xfrm>
            <a:off x="749808" y="3190113"/>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14</a:t>
            </a:r>
            <a:endParaRPr lang="en-US" sz="1500" dirty="0"/>
          </a:p>
        </p:txBody>
      </p:sp>
      <p:sp>
        <p:nvSpPr>
          <p:cNvPr id="18" name="Text 14"/>
          <p:cNvSpPr/>
          <p:nvPr/>
        </p:nvSpPr>
        <p:spPr>
          <a:xfrm>
            <a:off x="1353312" y="2983230"/>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14. Correct this: “I drink never coffee.”</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Write the full sentence.</a:t>
            </a:r>
            <a:endParaRPr lang="en-US" sz="1800" dirty="0"/>
          </a:p>
        </p:txBody>
      </p:sp>
      <p:sp>
        <p:nvSpPr>
          <p:cNvPr id="19" name="Shape 15"/>
          <p:cNvSpPr/>
          <p:nvPr/>
        </p:nvSpPr>
        <p:spPr>
          <a:xfrm>
            <a:off x="548640" y="3973068"/>
            <a:ext cx="11094415" cy="925830"/>
          </a:xfrm>
          <a:prstGeom prst="roundRect">
            <a:avLst>
              <a:gd name="adj" fmla="val 13827"/>
            </a:avLst>
          </a:prstGeom>
          <a:solidFill>
            <a:srgbClr val="F6F9F7"/>
          </a:solidFill>
          <a:ln w="12700">
            <a:solidFill>
              <a:srgbClr val="E3E9E5"/>
            </a:solidFill>
            <a:prstDash val="solid"/>
          </a:ln>
        </p:spPr>
      </p:sp>
      <p:sp>
        <p:nvSpPr>
          <p:cNvPr id="20" name="Shape 16"/>
          <p:cNvSpPr/>
          <p:nvPr/>
        </p:nvSpPr>
        <p:spPr>
          <a:xfrm>
            <a:off x="749808" y="4234815"/>
            <a:ext cx="402336" cy="402336"/>
          </a:xfrm>
          <a:prstGeom prst="ellipse">
            <a:avLst/>
          </a:prstGeom>
          <a:solidFill>
            <a:srgbClr val="0A5D43"/>
          </a:solidFill>
          <a:ln/>
        </p:spPr>
      </p:sp>
      <p:sp>
        <p:nvSpPr>
          <p:cNvPr id="21" name="Text 17"/>
          <p:cNvSpPr txBox="1"/>
          <p:nvPr/>
        </p:nvSpPr>
        <p:spPr>
          <a:xfrm>
            <a:off x="749808" y="4234815"/>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15</a:t>
            </a:r>
            <a:endParaRPr lang="en-US" sz="1500" dirty="0"/>
          </a:p>
        </p:txBody>
      </p:sp>
      <p:sp>
        <p:nvSpPr>
          <p:cNvPr id="22" name="Text 18"/>
          <p:cNvSpPr/>
          <p:nvPr/>
        </p:nvSpPr>
        <p:spPr>
          <a:xfrm>
            <a:off x="1353312" y="4027932"/>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15. Listen: what time does the speaker start work?</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Write the time.</a:t>
            </a:r>
            <a:endParaRPr lang="en-US" sz="1800" dirty="0"/>
          </a:p>
        </p:txBody>
      </p:sp>
      <p:sp>
        <p:nvSpPr>
          <p:cNvPr id="23" name="Shape 19"/>
          <p:cNvSpPr/>
          <p:nvPr/>
        </p:nvSpPr>
        <p:spPr>
          <a:xfrm>
            <a:off x="548640" y="5017770"/>
            <a:ext cx="11094415" cy="925830"/>
          </a:xfrm>
          <a:prstGeom prst="roundRect">
            <a:avLst>
              <a:gd name="adj" fmla="val 13827"/>
            </a:avLst>
          </a:prstGeom>
          <a:solidFill>
            <a:srgbClr val="F6F9F7"/>
          </a:solidFill>
          <a:ln w="12700">
            <a:solidFill>
              <a:srgbClr val="E3E9E5"/>
            </a:solidFill>
            <a:prstDash val="solid"/>
          </a:ln>
        </p:spPr>
      </p:sp>
      <p:sp>
        <p:nvSpPr>
          <p:cNvPr id="24" name="Shape 20"/>
          <p:cNvSpPr/>
          <p:nvPr/>
        </p:nvSpPr>
        <p:spPr>
          <a:xfrm>
            <a:off x="749808" y="5279517"/>
            <a:ext cx="402336" cy="402336"/>
          </a:xfrm>
          <a:prstGeom prst="ellipse">
            <a:avLst/>
          </a:prstGeom>
          <a:solidFill>
            <a:srgbClr val="0A5D43"/>
          </a:solidFill>
          <a:ln/>
        </p:spPr>
      </p:sp>
      <p:sp>
        <p:nvSpPr>
          <p:cNvPr id="25" name="Text 21"/>
          <p:cNvSpPr txBox="1"/>
          <p:nvPr/>
        </p:nvSpPr>
        <p:spPr>
          <a:xfrm>
            <a:off x="749808" y="5279517"/>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16</a:t>
            </a:r>
            <a:endParaRPr lang="en-US" sz="1500" dirty="0"/>
          </a:p>
        </p:txBody>
      </p:sp>
      <p:sp>
        <p:nvSpPr>
          <p:cNvPr id="26" name="Text 22"/>
          <p:cNvSpPr/>
          <p:nvPr/>
        </p:nvSpPr>
        <p:spPr>
          <a:xfrm>
            <a:off x="1353312" y="5072634"/>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16. Listen: which day does the speaker NOT work?</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Write the day.</a:t>
            </a:r>
            <a:endParaRPr lang="en-US" sz="18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A5D43"/>
          </a:solidFill>
          <a:ln/>
        </p:spPr>
      </p:sp>
      <p:sp>
        <p:nvSpPr>
          <p:cNvPr id="3" name="Shape 1"/>
          <p:cNvSpPr/>
          <p:nvPr/>
        </p:nvSpPr>
        <p:spPr>
          <a:xfrm>
            <a:off x="649224" y="539496"/>
            <a:ext cx="219456" cy="219456"/>
          </a:xfrm>
          <a:prstGeom prst="ellipse">
            <a:avLst/>
          </a:prstGeom>
          <a:solidFill>
            <a:srgbClr val="0A5D43"/>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QUIZ 5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750" b="1" dirty="0">
                <a:solidFill>
                  <a:srgbClr val="12211B"/>
                </a:solidFill>
                <a:latin typeface="Calibri" pitchFamily="34" charset="0"/>
                <a:ea typeface="Calibri" pitchFamily="34" charset="-122"/>
                <a:cs typeface="Calibri" pitchFamily="34" charset="-120"/>
              </a:rPr>
              <a:t>Module 1 quiz — Part 5 · Writing and speaking</a:t>
            </a:r>
            <a:endParaRPr lang="en-US" sz="375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20 questions in total. Answer key follows. Pass mark: 16 out of 20.</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1 — Present Simple &amp; Daily Routine</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65</a:t>
            </a:r>
            <a:endParaRPr lang="en-US" sz="1100" dirty="0"/>
          </a:p>
        </p:txBody>
      </p:sp>
      <p:sp>
        <p:nvSpPr>
          <p:cNvPr id="11" name="Shape 7"/>
          <p:cNvSpPr/>
          <p:nvPr/>
        </p:nvSpPr>
        <p:spPr>
          <a:xfrm>
            <a:off x="548640" y="1883664"/>
            <a:ext cx="11094415" cy="925830"/>
          </a:xfrm>
          <a:prstGeom prst="roundRect">
            <a:avLst>
              <a:gd name="adj" fmla="val 13827"/>
            </a:avLst>
          </a:prstGeom>
          <a:solidFill>
            <a:srgbClr val="F6F9F7"/>
          </a:solidFill>
          <a:ln w="12700">
            <a:solidFill>
              <a:srgbClr val="E3E9E5"/>
            </a:solidFill>
            <a:prstDash val="solid"/>
          </a:ln>
        </p:spPr>
      </p:sp>
      <p:sp>
        <p:nvSpPr>
          <p:cNvPr id="12" name="Shape 8"/>
          <p:cNvSpPr/>
          <p:nvPr/>
        </p:nvSpPr>
        <p:spPr>
          <a:xfrm>
            <a:off x="749808" y="2145411"/>
            <a:ext cx="402336" cy="402336"/>
          </a:xfrm>
          <a:prstGeom prst="ellipse">
            <a:avLst/>
          </a:prstGeom>
          <a:solidFill>
            <a:srgbClr val="0A5D43"/>
          </a:solidFill>
          <a:ln/>
        </p:spPr>
      </p:sp>
      <p:sp>
        <p:nvSpPr>
          <p:cNvPr id="13" name="Text 9"/>
          <p:cNvSpPr txBox="1"/>
          <p:nvPr/>
        </p:nvSpPr>
        <p:spPr>
          <a:xfrm>
            <a:off x="749808" y="214541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17</a:t>
            </a:r>
            <a:endParaRPr lang="en-US" sz="1500" dirty="0"/>
          </a:p>
        </p:txBody>
      </p:sp>
      <p:sp>
        <p:nvSpPr>
          <p:cNvPr id="14" name="Text 10"/>
          <p:cNvSpPr/>
          <p:nvPr/>
        </p:nvSpPr>
        <p:spPr>
          <a:xfrm>
            <a:off x="1353312" y="1938528"/>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17. Write two sentences about your own routine.</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Use a time in each.</a:t>
            </a:r>
            <a:endParaRPr lang="en-US" sz="1800" dirty="0"/>
          </a:p>
        </p:txBody>
      </p:sp>
      <p:sp>
        <p:nvSpPr>
          <p:cNvPr id="15" name="Shape 11"/>
          <p:cNvSpPr/>
          <p:nvPr/>
        </p:nvSpPr>
        <p:spPr>
          <a:xfrm>
            <a:off x="548640" y="2928366"/>
            <a:ext cx="11094415" cy="925830"/>
          </a:xfrm>
          <a:prstGeom prst="roundRect">
            <a:avLst>
              <a:gd name="adj" fmla="val 13827"/>
            </a:avLst>
          </a:prstGeom>
          <a:solidFill>
            <a:srgbClr val="F6F9F7"/>
          </a:solidFill>
          <a:ln w="12700">
            <a:solidFill>
              <a:srgbClr val="E3E9E5"/>
            </a:solidFill>
            <a:prstDash val="solid"/>
          </a:ln>
        </p:spPr>
      </p:sp>
      <p:sp>
        <p:nvSpPr>
          <p:cNvPr id="16" name="Shape 12"/>
          <p:cNvSpPr/>
          <p:nvPr/>
        </p:nvSpPr>
        <p:spPr>
          <a:xfrm>
            <a:off x="749808" y="3190113"/>
            <a:ext cx="402336" cy="402336"/>
          </a:xfrm>
          <a:prstGeom prst="ellipse">
            <a:avLst/>
          </a:prstGeom>
          <a:solidFill>
            <a:srgbClr val="0A5D43"/>
          </a:solidFill>
          <a:ln/>
        </p:spPr>
      </p:sp>
      <p:sp>
        <p:nvSpPr>
          <p:cNvPr id="17" name="Text 13"/>
          <p:cNvSpPr txBox="1"/>
          <p:nvPr/>
        </p:nvSpPr>
        <p:spPr>
          <a:xfrm>
            <a:off x="749808" y="3190113"/>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18</a:t>
            </a:r>
            <a:endParaRPr lang="en-US" sz="1500" dirty="0"/>
          </a:p>
        </p:txBody>
      </p:sp>
      <p:sp>
        <p:nvSpPr>
          <p:cNvPr id="18" name="Text 14"/>
          <p:cNvSpPr/>
          <p:nvPr/>
        </p:nvSpPr>
        <p:spPr>
          <a:xfrm>
            <a:off x="1353312" y="2983230"/>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18. Write two sentences about a family member's routine.</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Every verb needs -s.</a:t>
            </a:r>
            <a:endParaRPr lang="en-US" sz="1800" dirty="0"/>
          </a:p>
        </p:txBody>
      </p:sp>
      <p:sp>
        <p:nvSpPr>
          <p:cNvPr id="19" name="Shape 15"/>
          <p:cNvSpPr/>
          <p:nvPr/>
        </p:nvSpPr>
        <p:spPr>
          <a:xfrm>
            <a:off x="548640" y="3973068"/>
            <a:ext cx="11094415" cy="925830"/>
          </a:xfrm>
          <a:prstGeom prst="roundRect">
            <a:avLst>
              <a:gd name="adj" fmla="val 13827"/>
            </a:avLst>
          </a:prstGeom>
          <a:solidFill>
            <a:srgbClr val="F6F9F7"/>
          </a:solidFill>
          <a:ln w="12700">
            <a:solidFill>
              <a:srgbClr val="E3E9E5"/>
            </a:solidFill>
            <a:prstDash val="solid"/>
          </a:ln>
        </p:spPr>
      </p:sp>
      <p:sp>
        <p:nvSpPr>
          <p:cNvPr id="20" name="Shape 16"/>
          <p:cNvSpPr/>
          <p:nvPr/>
        </p:nvSpPr>
        <p:spPr>
          <a:xfrm>
            <a:off x="749808" y="4234815"/>
            <a:ext cx="402336" cy="402336"/>
          </a:xfrm>
          <a:prstGeom prst="ellipse">
            <a:avLst/>
          </a:prstGeom>
          <a:solidFill>
            <a:srgbClr val="0A5D43"/>
          </a:solidFill>
          <a:ln/>
        </p:spPr>
      </p:sp>
      <p:sp>
        <p:nvSpPr>
          <p:cNvPr id="21" name="Text 17"/>
          <p:cNvSpPr txBox="1"/>
          <p:nvPr/>
        </p:nvSpPr>
        <p:spPr>
          <a:xfrm>
            <a:off x="749808" y="4234815"/>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19</a:t>
            </a:r>
            <a:endParaRPr lang="en-US" sz="1500" dirty="0"/>
          </a:p>
        </p:txBody>
      </p:sp>
      <p:sp>
        <p:nvSpPr>
          <p:cNvPr id="22" name="Text 18"/>
          <p:cNvSpPr/>
          <p:nvPr/>
        </p:nvSpPr>
        <p:spPr>
          <a:xfrm>
            <a:off x="1353312" y="4027932"/>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19. Write one negative sentence and one question.</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Check the main verb has no -s.</a:t>
            </a:r>
            <a:endParaRPr lang="en-US" sz="1800" dirty="0"/>
          </a:p>
        </p:txBody>
      </p:sp>
      <p:sp>
        <p:nvSpPr>
          <p:cNvPr id="23" name="Shape 19"/>
          <p:cNvSpPr/>
          <p:nvPr/>
        </p:nvSpPr>
        <p:spPr>
          <a:xfrm>
            <a:off x="548640" y="5017770"/>
            <a:ext cx="11094415" cy="925830"/>
          </a:xfrm>
          <a:prstGeom prst="roundRect">
            <a:avLst>
              <a:gd name="adj" fmla="val 13827"/>
            </a:avLst>
          </a:prstGeom>
          <a:solidFill>
            <a:srgbClr val="F6F9F7"/>
          </a:solidFill>
          <a:ln w="12700">
            <a:solidFill>
              <a:srgbClr val="E3E9E5"/>
            </a:solidFill>
            <a:prstDash val="solid"/>
          </a:ln>
        </p:spPr>
      </p:sp>
      <p:sp>
        <p:nvSpPr>
          <p:cNvPr id="24" name="Shape 20"/>
          <p:cNvSpPr/>
          <p:nvPr/>
        </p:nvSpPr>
        <p:spPr>
          <a:xfrm>
            <a:off x="749808" y="5279517"/>
            <a:ext cx="402336" cy="402336"/>
          </a:xfrm>
          <a:prstGeom prst="ellipse">
            <a:avLst/>
          </a:prstGeom>
          <a:solidFill>
            <a:srgbClr val="0A5D43"/>
          </a:solidFill>
          <a:ln/>
        </p:spPr>
      </p:sp>
      <p:sp>
        <p:nvSpPr>
          <p:cNvPr id="25" name="Text 21"/>
          <p:cNvSpPr txBox="1"/>
          <p:nvPr/>
        </p:nvSpPr>
        <p:spPr>
          <a:xfrm>
            <a:off x="749808" y="5279517"/>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20</a:t>
            </a:r>
            <a:endParaRPr lang="en-US" sz="1500" dirty="0"/>
          </a:p>
        </p:txBody>
      </p:sp>
      <p:sp>
        <p:nvSpPr>
          <p:cNvPr id="26" name="Text 22"/>
          <p:cNvSpPr/>
          <p:nvPr/>
        </p:nvSpPr>
        <p:spPr>
          <a:xfrm>
            <a:off x="1353312" y="5072634"/>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20. SPEAKING: describe your day, then your partner's day.</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Your teacher or partner listens and checks.</a:t>
            </a:r>
            <a:endParaRPr lang="en-US" sz="18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2E9E5B"/>
          </a:solidFill>
          <a:ln/>
        </p:spPr>
      </p:sp>
      <p:sp>
        <p:nvSpPr>
          <p:cNvPr id="3" name="Shape 1"/>
          <p:cNvSpPr/>
          <p:nvPr/>
        </p:nvSpPr>
        <p:spPr>
          <a:xfrm>
            <a:off x="649224" y="539496"/>
            <a:ext cx="219456" cy="219456"/>
          </a:xfrm>
          <a:prstGeom prst="ellipse">
            <a:avLst/>
          </a:prstGeom>
          <a:solidFill>
            <a:srgbClr val="2E9E5B"/>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ANSWER KEY 1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Quiz answers — questions 1 to 4</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Every answer has a reason. Read the reason, not just the answer.</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1 — Present Simple &amp; Daily Routine</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66</a:t>
            </a:r>
            <a:endParaRPr lang="en-US" sz="1100" dirty="0"/>
          </a:p>
        </p:txBody>
      </p:sp>
      <p:sp>
        <p:nvSpPr>
          <p:cNvPr id="11" name="Shape 7"/>
          <p:cNvSpPr/>
          <p:nvPr/>
        </p:nvSpPr>
        <p:spPr>
          <a:xfrm>
            <a:off x="548640" y="1883664"/>
            <a:ext cx="11094415" cy="925830"/>
          </a:xfrm>
          <a:prstGeom prst="roundRect">
            <a:avLst>
              <a:gd name="adj" fmla="val 13827"/>
            </a:avLst>
          </a:prstGeom>
          <a:solidFill>
            <a:srgbClr val="E6F5EC"/>
          </a:solidFill>
          <a:ln w="12700">
            <a:solidFill>
              <a:srgbClr val="2E9E5B"/>
            </a:solidFill>
            <a:prstDash val="solid"/>
          </a:ln>
        </p:spPr>
      </p:sp>
      <p:sp>
        <p:nvSpPr>
          <p:cNvPr id="12" name="Shape 8"/>
          <p:cNvSpPr/>
          <p:nvPr/>
        </p:nvSpPr>
        <p:spPr>
          <a:xfrm>
            <a:off x="731520" y="2154555"/>
            <a:ext cx="384048" cy="384048"/>
          </a:xfrm>
          <a:prstGeom prst="ellipse">
            <a:avLst/>
          </a:prstGeom>
          <a:solidFill>
            <a:srgbClr val="2E9E5B"/>
          </a:solidFill>
          <a:ln/>
        </p:spPr>
      </p:sp>
      <p:sp>
        <p:nvSpPr>
          <p:cNvPr id="13" name="Text 9"/>
          <p:cNvSpPr txBox="1"/>
          <p:nvPr/>
        </p:nvSpPr>
        <p:spPr>
          <a:xfrm>
            <a:off x="731520" y="2154555"/>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4" name="Text 10"/>
          <p:cNvSpPr/>
          <p:nvPr/>
        </p:nvSpPr>
        <p:spPr>
          <a:xfrm>
            <a:off x="1316736" y="1938528"/>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Q1 — which is correct?</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b) She works here.</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“She” is third person singular, so the verb takes -s. Option c) mixes two tenses.</a:t>
            </a:r>
            <a:endParaRPr lang="en-US" sz="1100" dirty="0"/>
          </a:p>
        </p:txBody>
      </p:sp>
      <p:sp>
        <p:nvSpPr>
          <p:cNvPr id="15" name="Shape 11"/>
          <p:cNvSpPr/>
          <p:nvPr/>
        </p:nvSpPr>
        <p:spPr>
          <a:xfrm>
            <a:off x="548640" y="2928366"/>
            <a:ext cx="11094415" cy="925830"/>
          </a:xfrm>
          <a:prstGeom prst="roundRect">
            <a:avLst>
              <a:gd name="adj" fmla="val 13827"/>
            </a:avLst>
          </a:prstGeom>
          <a:solidFill>
            <a:srgbClr val="E6F5EC"/>
          </a:solidFill>
          <a:ln w="12700">
            <a:solidFill>
              <a:srgbClr val="2E9E5B"/>
            </a:solidFill>
            <a:prstDash val="solid"/>
          </a:ln>
        </p:spPr>
      </p:sp>
      <p:sp>
        <p:nvSpPr>
          <p:cNvPr id="16" name="Shape 12"/>
          <p:cNvSpPr/>
          <p:nvPr/>
        </p:nvSpPr>
        <p:spPr>
          <a:xfrm>
            <a:off x="731520" y="3199257"/>
            <a:ext cx="384048" cy="384048"/>
          </a:xfrm>
          <a:prstGeom prst="ellipse">
            <a:avLst/>
          </a:prstGeom>
          <a:solidFill>
            <a:srgbClr val="2E9E5B"/>
          </a:solidFill>
          <a:ln/>
        </p:spPr>
      </p:sp>
      <p:sp>
        <p:nvSpPr>
          <p:cNvPr id="17" name="Text 13"/>
          <p:cNvSpPr txBox="1"/>
          <p:nvPr/>
        </p:nvSpPr>
        <p:spPr>
          <a:xfrm>
            <a:off x="731520" y="3199257"/>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8" name="Text 14"/>
          <p:cNvSpPr/>
          <p:nvPr/>
        </p:nvSpPr>
        <p:spPr>
          <a:xfrm>
            <a:off x="1316736" y="2983230"/>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Q2 — “My brother ___ in Bahir Dar.”</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lives</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“My brother” is one man, so it behaves like “he”. The name or description does not change the rule.</a:t>
            </a:r>
            <a:endParaRPr lang="en-US" sz="1100" dirty="0"/>
          </a:p>
        </p:txBody>
      </p:sp>
      <p:sp>
        <p:nvSpPr>
          <p:cNvPr id="19" name="Shape 15"/>
          <p:cNvSpPr/>
          <p:nvPr/>
        </p:nvSpPr>
        <p:spPr>
          <a:xfrm>
            <a:off x="548640" y="3973068"/>
            <a:ext cx="11094415" cy="925830"/>
          </a:xfrm>
          <a:prstGeom prst="roundRect">
            <a:avLst>
              <a:gd name="adj" fmla="val 13827"/>
            </a:avLst>
          </a:prstGeom>
          <a:solidFill>
            <a:srgbClr val="E6F5EC"/>
          </a:solidFill>
          <a:ln w="12700">
            <a:solidFill>
              <a:srgbClr val="2E9E5B"/>
            </a:solidFill>
            <a:prstDash val="solid"/>
          </a:ln>
        </p:spPr>
      </p:sp>
      <p:sp>
        <p:nvSpPr>
          <p:cNvPr id="20" name="Shape 16"/>
          <p:cNvSpPr/>
          <p:nvPr/>
        </p:nvSpPr>
        <p:spPr>
          <a:xfrm>
            <a:off x="731520" y="4243959"/>
            <a:ext cx="384048" cy="384048"/>
          </a:xfrm>
          <a:prstGeom prst="ellipse">
            <a:avLst/>
          </a:prstGeom>
          <a:solidFill>
            <a:srgbClr val="2E9E5B"/>
          </a:solidFill>
          <a:ln/>
        </p:spPr>
      </p:sp>
      <p:sp>
        <p:nvSpPr>
          <p:cNvPr id="21" name="Text 17"/>
          <p:cNvSpPr txBox="1"/>
          <p:nvPr/>
        </p:nvSpPr>
        <p:spPr>
          <a:xfrm>
            <a:off x="731520" y="4243959"/>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2" name="Text 18"/>
          <p:cNvSpPr/>
          <p:nvPr/>
        </p:nvSpPr>
        <p:spPr>
          <a:xfrm>
            <a:off x="1316736" y="4027932"/>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Q3 — “They ___ English every day.”</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study</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“They” is plural, so there is no -s. The -ies spelling only applies to the third-person singular form.</a:t>
            </a:r>
            <a:endParaRPr lang="en-US" sz="1100" dirty="0"/>
          </a:p>
        </p:txBody>
      </p:sp>
      <p:sp>
        <p:nvSpPr>
          <p:cNvPr id="23" name="Shape 19"/>
          <p:cNvSpPr/>
          <p:nvPr/>
        </p:nvSpPr>
        <p:spPr>
          <a:xfrm>
            <a:off x="548640" y="5017770"/>
            <a:ext cx="11094415" cy="925830"/>
          </a:xfrm>
          <a:prstGeom prst="roundRect">
            <a:avLst>
              <a:gd name="adj" fmla="val 13827"/>
            </a:avLst>
          </a:prstGeom>
          <a:solidFill>
            <a:srgbClr val="E6F5EC"/>
          </a:solidFill>
          <a:ln w="12700">
            <a:solidFill>
              <a:srgbClr val="2E9E5B"/>
            </a:solidFill>
            <a:prstDash val="solid"/>
          </a:ln>
        </p:spPr>
      </p:sp>
      <p:sp>
        <p:nvSpPr>
          <p:cNvPr id="24" name="Shape 20"/>
          <p:cNvSpPr/>
          <p:nvPr/>
        </p:nvSpPr>
        <p:spPr>
          <a:xfrm>
            <a:off x="731520" y="5288661"/>
            <a:ext cx="384048" cy="384048"/>
          </a:xfrm>
          <a:prstGeom prst="ellipse">
            <a:avLst/>
          </a:prstGeom>
          <a:solidFill>
            <a:srgbClr val="2E9E5B"/>
          </a:solidFill>
          <a:ln/>
        </p:spPr>
      </p:sp>
      <p:sp>
        <p:nvSpPr>
          <p:cNvPr id="25" name="Text 21"/>
          <p:cNvSpPr txBox="1"/>
          <p:nvPr/>
        </p:nvSpPr>
        <p:spPr>
          <a:xfrm>
            <a:off x="731520" y="5288661"/>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6" name="Text 22"/>
          <p:cNvSpPr/>
          <p:nvPr/>
        </p:nvSpPr>
        <p:spPr>
          <a:xfrm>
            <a:off x="1316736" y="5072634"/>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Q4 — which subjects take -s?</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b) he, she, it</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Only these three, plus any single person or thing that can be replaced by one of them.</a:t>
            </a:r>
            <a:endParaRPr lang="en-US" sz="11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2E9E5B"/>
          </a:solidFill>
          <a:ln/>
        </p:spPr>
      </p:sp>
      <p:sp>
        <p:nvSpPr>
          <p:cNvPr id="3" name="Shape 1"/>
          <p:cNvSpPr/>
          <p:nvPr/>
        </p:nvSpPr>
        <p:spPr>
          <a:xfrm>
            <a:off x="649224" y="539496"/>
            <a:ext cx="219456" cy="219456"/>
          </a:xfrm>
          <a:prstGeom prst="ellipse">
            <a:avLst/>
          </a:prstGeom>
          <a:solidFill>
            <a:srgbClr val="2E9E5B"/>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ANSWER KEY 2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Quiz answers — questions 5 to 8</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Every answer has a reason. Read the reason, not just the answer.</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1 — Present Simple &amp; Daily Routine</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67</a:t>
            </a:r>
            <a:endParaRPr lang="en-US" sz="1100" dirty="0"/>
          </a:p>
        </p:txBody>
      </p:sp>
      <p:sp>
        <p:nvSpPr>
          <p:cNvPr id="11" name="Shape 7"/>
          <p:cNvSpPr/>
          <p:nvPr/>
        </p:nvSpPr>
        <p:spPr>
          <a:xfrm>
            <a:off x="548640" y="1883664"/>
            <a:ext cx="11094415" cy="925830"/>
          </a:xfrm>
          <a:prstGeom prst="roundRect">
            <a:avLst>
              <a:gd name="adj" fmla="val 13827"/>
            </a:avLst>
          </a:prstGeom>
          <a:solidFill>
            <a:srgbClr val="E6F5EC"/>
          </a:solidFill>
          <a:ln w="12700">
            <a:solidFill>
              <a:srgbClr val="2E9E5B"/>
            </a:solidFill>
            <a:prstDash val="solid"/>
          </a:ln>
        </p:spPr>
      </p:sp>
      <p:sp>
        <p:nvSpPr>
          <p:cNvPr id="12" name="Shape 8"/>
          <p:cNvSpPr/>
          <p:nvPr/>
        </p:nvSpPr>
        <p:spPr>
          <a:xfrm>
            <a:off x="731520" y="2154555"/>
            <a:ext cx="384048" cy="384048"/>
          </a:xfrm>
          <a:prstGeom prst="ellipse">
            <a:avLst/>
          </a:prstGeom>
          <a:solidFill>
            <a:srgbClr val="2E9E5B"/>
          </a:solidFill>
          <a:ln/>
        </p:spPr>
      </p:sp>
      <p:sp>
        <p:nvSpPr>
          <p:cNvPr id="13" name="Text 9"/>
          <p:cNvSpPr txBox="1"/>
          <p:nvPr/>
        </p:nvSpPr>
        <p:spPr>
          <a:xfrm>
            <a:off x="731520" y="2154555"/>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14" name="Text 10"/>
          <p:cNvSpPr/>
          <p:nvPr/>
        </p:nvSpPr>
        <p:spPr>
          <a:xfrm>
            <a:off x="1316736" y="1938528"/>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Q5 — “go”</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b) goes</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Verbs ending in o take -es. “Gos” is the commonest spelling error in this module.</a:t>
            </a:r>
            <a:endParaRPr lang="en-US" sz="1100" dirty="0"/>
          </a:p>
        </p:txBody>
      </p:sp>
      <p:sp>
        <p:nvSpPr>
          <p:cNvPr id="15" name="Shape 11"/>
          <p:cNvSpPr/>
          <p:nvPr/>
        </p:nvSpPr>
        <p:spPr>
          <a:xfrm>
            <a:off x="548640" y="2928366"/>
            <a:ext cx="11094415" cy="925830"/>
          </a:xfrm>
          <a:prstGeom prst="roundRect">
            <a:avLst>
              <a:gd name="adj" fmla="val 13827"/>
            </a:avLst>
          </a:prstGeom>
          <a:solidFill>
            <a:srgbClr val="E6F5EC"/>
          </a:solidFill>
          <a:ln w="12700">
            <a:solidFill>
              <a:srgbClr val="2E9E5B"/>
            </a:solidFill>
            <a:prstDash val="solid"/>
          </a:ln>
        </p:spPr>
      </p:sp>
      <p:sp>
        <p:nvSpPr>
          <p:cNvPr id="16" name="Shape 12"/>
          <p:cNvSpPr/>
          <p:nvPr/>
        </p:nvSpPr>
        <p:spPr>
          <a:xfrm>
            <a:off x="731520" y="3199257"/>
            <a:ext cx="384048" cy="384048"/>
          </a:xfrm>
          <a:prstGeom prst="ellipse">
            <a:avLst/>
          </a:prstGeom>
          <a:solidFill>
            <a:srgbClr val="2E9E5B"/>
          </a:solidFill>
          <a:ln/>
        </p:spPr>
      </p:sp>
      <p:sp>
        <p:nvSpPr>
          <p:cNvPr id="17" name="Text 13"/>
          <p:cNvSpPr txBox="1"/>
          <p:nvPr/>
        </p:nvSpPr>
        <p:spPr>
          <a:xfrm>
            <a:off x="731520" y="3199257"/>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18" name="Text 14"/>
          <p:cNvSpPr/>
          <p:nvPr/>
        </p:nvSpPr>
        <p:spPr>
          <a:xfrm>
            <a:off x="1316736" y="2983230"/>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Q6 — “study”</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b) studies</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Consonant + y becomes -ies. Compare “play”, which has a vowel before the y and takes only -s.</a:t>
            </a:r>
            <a:endParaRPr lang="en-US" sz="1100" dirty="0"/>
          </a:p>
        </p:txBody>
      </p:sp>
      <p:sp>
        <p:nvSpPr>
          <p:cNvPr id="19" name="Shape 15"/>
          <p:cNvSpPr/>
          <p:nvPr/>
        </p:nvSpPr>
        <p:spPr>
          <a:xfrm>
            <a:off x="548640" y="3973068"/>
            <a:ext cx="11094415" cy="925830"/>
          </a:xfrm>
          <a:prstGeom prst="roundRect">
            <a:avLst>
              <a:gd name="adj" fmla="val 13827"/>
            </a:avLst>
          </a:prstGeom>
          <a:solidFill>
            <a:srgbClr val="E6F5EC"/>
          </a:solidFill>
          <a:ln w="12700">
            <a:solidFill>
              <a:srgbClr val="2E9E5B"/>
            </a:solidFill>
            <a:prstDash val="solid"/>
          </a:ln>
        </p:spPr>
      </p:sp>
      <p:sp>
        <p:nvSpPr>
          <p:cNvPr id="20" name="Shape 16"/>
          <p:cNvSpPr/>
          <p:nvPr/>
        </p:nvSpPr>
        <p:spPr>
          <a:xfrm>
            <a:off x="731520" y="4243959"/>
            <a:ext cx="384048" cy="384048"/>
          </a:xfrm>
          <a:prstGeom prst="ellipse">
            <a:avLst/>
          </a:prstGeom>
          <a:solidFill>
            <a:srgbClr val="2E9E5B"/>
          </a:solidFill>
          <a:ln/>
        </p:spPr>
      </p:sp>
      <p:sp>
        <p:nvSpPr>
          <p:cNvPr id="21" name="Text 17"/>
          <p:cNvSpPr txBox="1"/>
          <p:nvPr/>
        </p:nvSpPr>
        <p:spPr>
          <a:xfrm>
            <a:off x="731520" y="4243959"/>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7</a:t>
            </a:r>
            <a:endParaRPr lang="en-US" sz="1400" dirty="0"/>
          </a:p>
        </p:txBody>
      </p:sp>
      <p:sp>
        <p:nvSpPr>
          <p:cNvPr id="22" name="Text 18"/>
          <p:cNvSpPr/>
          <p:nvPr/>
        </p:nvSpPr>
        <p:spPr>
          <a:xfrm>
            <a:off x="1316736" y="4027932"/>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Q7 — “have”</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b) has</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Irregular. It follows no rule and must be memorised on its own.</a:t>
            </a:r>
            <a:endParaRPr lang="en-US" sz="1100" dirty="0"/>
          </a:p>
        </p:txBody>
      </p:sp>
      <p:sp>
        <p:nvSpPr>
          <p:cNvPr id="23" name="Shape 19"/>
          <p:cNvSpPr/>
          <p:nvPr/>
        </p:nvSpPr>
        <p:spPr>
          <a:xfrm>
            <a:off x="548640" y="5017770"/>
            <a:ext cx="11094415" cy="925830"/>
          </a:xfrm>
          <a:prstGeom prst="roundRect">
            <a:avLst>
              <a:gd name="adj" fmla="val 13827"/>
            </a:avLst>
          </a:prstGeom>
          <a:solidFill>
            <a:srgbClr val="E6F5EC"/>
          </a:solidFill>
          <a:ln w="12700">
            <a:solidFill>
              <a:srgbClr val="2E9E5B"/>
            </a:solidFill>
            <a:prstDash val="solid"/>
          </a:ln>
        </p:spPr>
      </p:sp>
      <p:sp>
        <p:nvSpPr>
          <p:cNvPr id="24" name="Shape 20"/>
          <p:cNvSpPr/>
          <p:nvPr/>
        </p:nvSpPr>
        <p:spPr>
          <a:xfrm>
            <a:off x="731520" y="5288661"/>
            <a:ext cx="384048" cy="384048"/>
          </a:xfrm>
          <a:prstGeom prst="ellipse">
            <a:avLst/>
          </a:prstGeom>
          <a:solidFill>
            <a:srgbClr val="2E9E5B"/>
          </a:solidFill>
          <a:ln/>
        </p:spPr>
      </p:sp>
      <p:sp>
        <p:nvSpPr>
          <p:cNvPr id="25" name="Text 21"/>
          <p:cNvSpPr txBox="1"/>
          <p:nvPr/>
        </p:nvSpPr>
        <p:spPr>
          <a:xfrm>
            <a:off x="731520" y="5288661"/>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8</a:t>
            </a:r>
            <a:endParaRPr lang="en-US" sz="1400" dirty="0"/>
          </a:p>
        </p:txBody>
      </p:sp>
      <p:sp>
        <p:nvSpPr>
          <p:cNvPr id="26" name="Text 22"/>
          <p:cNvSpPr/>
          <p:nvPr/>
        </p:nvSpPr>
        <p:spPr>
          <a:xfrm>
            <a:off x="1316736" y="5072634"/>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Q8 — watch · play · finish</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watches · plays · finishes</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Three different rules: -es after ch, plain -s after a vowel + y, and -es after sh with an extra syllable.</a:t>
            </a:r>
            <a:endParaRPr lang="en-US" sz="11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2E9E5B"/>
          </a:solidFill>
          <a:ln/>
        </p:spPr>
      </p:sp>
      <p:sp>
        <p:nvSpPr>
          <p:cNvPr id="3" name="Shape 1"/>
          <p:cNvSpPr/>
          <p:nvPr/>
        </p:nvSpPr>
        <p:spPr>
          <a:xfrm>
            <a:off x="649224" y="539496"/>
            <a:ext cx="219456" cy="219456"/>
          </a:xfrm>
          <a:prstGeom prst="ellipse">
            <a:avLst/>
          </a:prstGeom>
          <a:solidFill>
            <a:srgbClr val="2E9E5B"/>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ANSWER KEY 3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Quiz answers — questions 9 to 12</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Every answer has a reason. Read the reason, not just the answer.</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1 — Present Simple &amp; Daily Routine</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68</a:t>
            </a:r>
            <a:endParaRPr lang="en-US" sz="1100" dirty="0"/>
          </a:p>
        </p:txBody>
      </p:sp>
      <p:sp>
        <p:nvSpPr>
          <p:cNvPr id="11" name="Shape 7"/>
          <p:cNvSpPr/>
          <p:nvPr/>
        </p:nvSpPr>
        <p:spPr>
          <a:xfrm>
            <a:off x="548640" y="1883664"/>
            <a:ext cx="11094415" cy="925830"/>
          </a:xfrm>
          <a:prstGeom prst="roundRect">
            <a:avLst>
              <a:gd name="adj" fmla="val 13827"/>
            </a:avLst>
          </a:prstGeom>
          <a:solidFill>
            <a:srgbClr val="E6F5EC"/>
          </a:solidFill>
          <a:ln w="12700">
            <a:solidFill>
              <a:srgbClr val="2E9E5B"/>
            </a:solidFill>
            <a:prstDash val="solid"/>
          </a:ln>
        </p:spPr>
      </p:sp>
      <p:sp>
        <p:nvSpPr>
          <p:cNvPr id="12" name="Shape 8"/>
          <p:cNvSpPr/>
          <p:nvPr/>
        </p:nvSpPr>
        <p:spPr>
          <a:xfrm>
            <a:off x="731520" y="2154555"/>
            <a:ext cx="384048" cy="384048"/>
          </a:xfrm>
          <a:prstGeom prst="ellipse">
            <a:avLst/>
          </a:prstGeom>
          <a:solidFill>
            <a:srgbClr val="2E9E5B"/>
          </a:solidFill>
          <a:ln/>
        </p:spPr>
      </p:sp>
      <p:sp>
        <p:nvSpPr>
          <p:cNvPr id="13" name="Text 9"/>
          <p:cNvSpPr txBox="1"/>
          <p:nvPr/>
        </p:nvSpPr>
        <p:spPr>
          <a:xfrm>
            <a:off x="731520" y="2154555"/>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9</a:t>
            </a:r>
            <a:endParaRPr lang="en-US" sz="1400" dirty="0"/>
          </a:p>
        </p:txBody>
      </p:sp>
      <p:sp>
        <p:nvSpPr>
          <p:cNvPr id="14" name="Text 10"/>
          <p:cNvSpPr/>
          <p:nvPr/>
        </p:nvSpPr>
        <p:spPr>
          <a:xfrm>
            <a:off x="1316736" y="1938528"/>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Q9 — negative of “She likes tea.”</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She does not like tea.</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The -s moves from “likes” onto “does”. It appears exactly once in the sentence.</a:t>
            </a:r>
            <a:endParaRPr lang="en-US" sz="1100" dirty="0"/>
          </a:p>
        </p:txBody>
      </p:sp>
      <p:sp>
        <p:nvSpPr>
          <p:cNvPr id="15" name="Shape 11"/>
          <p:cNvSpPr/>
          <p:nvPr/>
        </p:nvSpPr>
        <p:spPr>
          <a:xfrm>
            <a:off x="548640" y="2928366"/>
            <a:ext cx="11094415" cy="925830"/>
          </a:xfrm>
          <a:prstGeom prst="roundRect">
            <a:avLst>
              <a:gd name="adj" fmla="val 13827"/>
            </a:avLst>
          </a:prstGeom>
          <a:solidFill>
            <a:srgbClr val="E6F5EC"/>
          </a:solidFill>
          <a:ln w="12700">
            <a:solidFill>
              <a:srgbClr val="2E9E5B"/>
            </a:solidFill>
            <a:prstDash val="solid"/>
          </a:ln>
        </p:spPr>
      </p:sp>
      <p:sp>
        <p:nvSpPr>
          <p:cNvPr id="16" name="Shape 12"/>
          <p:cNvSpPr/>
          <p:nvPr/>
        </p:nvSpPr>
        <p:spPr>
          <a:xfrm>
            <a:off x="731520" y="3199257"/>
            <a:ext cx="384048" cy="384048"/>
          </a:xfrm>
          <a:prstGeom prst="ellipse">
            <a:avLst/>
          </a:prstGeom>
          <a:solidFill>
            <a:srgbClr val="2E9E5B"/>
          </a:solidFill>
          <a:ln/>
        </p:spPr>
      </p:sp>
      <p:sp>
        <p:nvSpPr>
          <p:cNvPr id="17" name="Text 13"/>
          <p:cNvSpPr txBox="1"/>
          <p:nvPr/>
        </p:nvSpPr>
        <p:spPr>
          <a:xfrm>
            <a:off x="731520" y="3199257"/>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10</a:t>
            </a:r>
            <a:endParaRPr lang="en-US" sz="1400" dirty="0"/>
          </a:p>
        </p:txBody>
      </p:sp>
      <p:sp>
        <p:nvSpPr>
          <p:cNvPr id="18" name="Text 14"/>
          <p:cNvSpPr/>
          <p:nvPr/>
        </p:nvSpPr>
        <p:spPr>
          <a:xfrm>
            <a:off x="1316736" y="2983230"/>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Q10 — which is correct?</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b) He doesn't work.</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“Doesn't” already carries the -s, so the main verb returns to its base form.</a:t>
            </a:r>
            <a:endParaRPr lang="en-US" sz="1100" dirty="0"/>
          </a:p>
        </p:txBody>
      </p:sp>
      <p:sp>
        <p:nvSpPr>
          <p:cNvPr id="19" name="Shape 15"/>
          <p:cNvSpPr/>
          <p:nvPr/>
        </p:nvSpPr>
        <p:spPr>
          <a:xfrm>
            <a:off x="548640" y="3973068"/>
            <a:ext cx="11094415" cy="925830"/>
          </a:xfrm>
          <a:prstGeom prst="roundRect">
            <a:avLst>
              <a:gd name="adj" fmla="val 13827"/>
            </a:avLst>
          </a:prstGeom>
          <a:solidFill>
            <a:srgbClr val="E6F5EC"/>
          </a:solidFill>
          <a:ln w="12700">
            <a:solidFill>
              <a:srgbClr val="2E9E5B"/>
            </a:solidFill>
            <a:prstDash val="solid"/>
          </a:ln>
        </p:spPr>
      </p:sp>
      <p:sp>
        <p:nvSpPr>
          <p:cNvPr id="20" name="Shape 16"/>
          <p:cNvSpPr/>
          <p:nvPr/>
        </p:nvSpPr>
        <p:spPr>
          <a:xfrm>
            <a:off x="731520" y="4243959"/>
            <a:ext cx="384048" cy="384048"/>
          </a:xfrm>
          <a:prstGeom prst="ellipse">
            <a:avLst/>
          </a:prstGeom>
          <a:solidFill>
            <a:srgbClr val="2E9E5B"/>
          </a:solidFill>
          <a:ln/>
        </p:spPr>
      </p:sp>
      <p:sp>
        <p:nvSpPr>
          <p:cNvPr id="21" name="Text 17"/>
          <p:cNvSpPr txBox="1"/>
          <p:nvPr/>
        </p:nvSpPr>
        <p:spPr>
          <a:xfrm>
            <a:off x="731520" y="4243959"/>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11</a:t>
            </a:r>
            <a:endParaRPr lang="en-US" sz="1400" dirty="0"/>
          </a:p>
        </p:txBody>
      </p:sp>
      <p:sp>
        <p:nvSpPr>
          <p:cNvPr id="22" name="Text 18"/>
          <p:cNvSpPr/>
          <p:nvPr/>
        </p:nvSpPr>
        <p:spPr>
          <a:xfrm>
            <a:off x="1316736" y="4027932"/>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Q11 — question from “They live in Gondar.”</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Do they live in Gondar?</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“They” takes “do”. The main verb does not change and the full stop becomes a question mark.</a:t>
            </a:r>
            <a:endParaRPr lang="en-US" sz="1100" dirty="0"/>
          </a:p>
        </p:txBody>
      </p:sp>
      <p:sp>
        <p:nvSpPr>
          <p:cNvPr id="23" name="Shape 19"/>
          <p:cNvSpPr/>
          <p:nvPr/>
        </p:nvSpPr>
        <p:spPr>
          <a:xfrm>
            <a:off x="548640" y="5017770"/>
            <a:ext cx="11094415" cy="925830"/>
          </a:xfrm>
          <a:prstGeom prst="roundRect">
            <a:avLst>
              <a:gd name="adj" fmla="val 13827"/>
            </a:avLst>
          </a:prstGeom>
          <a:solidFill>
            <a:srgbClr val="E6F5EC"/>
          </a:solidFill>
          <a:ln w="12700">
            <a:solidFill>
              <a:srgbClr val="2E9E5B"/>
            </a:solidFill>
            <a:prstDash val="solid"/>
          </a:ln>
        </p:spPr>
      </p:sp>
      <p:sp>
        <p:nvSpPr>
          <p:cNvPr id="24" name="Shape 20"/>
          <p:cNvSpPr/>
          <p:nvPr/>
        </p:nvSpPr>
        <p:spPr>
          <a:xfrm>
            <a:off x="731520" y="5288661"/>
            <a:ext cx="384048" cy="384048"/>
          </a:xfrm>
          <a:prstGeom prst="ellipse">
            <a:avLst/>
          </a:prstGeom>
          <a:solidFill>
            <a:srgbClr val="2E9E5B"/>
          </a:solidFill>
          <a:ln/>
        </p:spPr>
      </p:sp>
      <p:sp>
        <p:nvSpPr>
          <p:cNvPr id="25" name="Text 21"/>
          <p:cNvSpPr txBox="1"/>
          <p:nvPr/>
        </p:nvSpPr>
        <p:spPr>
          <a:xfrm>
            <a:off x="731520" y="5288661"/>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12</a:t>
            </a:r>
            <a:endParaRPr lang="en-US" sz="1400" dirty="0"/>
          </a:p>
        </p:txBody>
      </p:sp>
      <p:sp>
        <p:nvSpPr>
          <p:cNvPr id="26" name="Text 22"/>
          <p:cNvSpPr/>
          <p:nvPr/>
        </p:nvSpPr>
        <p:spPr>
          <a:xfrm>
            <a:off x="1316736" y="5072634"/>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Q12 — “___ your sister work here?”</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b) Does</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“Your sister” is one person, so it takes “does” — and “work” therefore has no -s.</a:t>
            </a:r>
            <a:endParaRPr lang="en-US" sz="11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2E9E5B"/>
          </a:solidFill>
          <a:ln/>
        </p:spPr>
      </p:sp>
      <p:sp>
        <p:nvSpPr>
          <p:cNvPr id="3" name="Shape 1"/>
          <p:cNvSpPr/>
          <p:nvPr/>
        </p:nvSpPr>
        <p:spPr>
          <a:xfrm>
            <a:off x="649224" y="539496"/>
            <a:ext cx="219456" cy="219456"/>
          </a:xfrm>
          <a:prstGeom prst="ellipse">
            <a:avLst/>
          </a:prstGeom>
          <a:solidFill>
            <a:srgbClr val="2E9E5B"/>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ANSWER KEY 4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Quiz answers — questions 13 to 16</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Every answer has a reason. Read the reason, not just the answer.</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1 — Present Simple &amp; Daily Routine</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69</a:t>
            </a:r>
            <a:endParaRPr lang="en-US" sz="1100" dirty="0"/>
          </a:p>
        </p:txBody>
      </p:sp>
      <p:sp>
        <p:nvSpPr>
          <p:cNvPr id="11" name="Shape 7"/>
          <p:cNvSpPr/>
          <p:nvPr/>
        </p:nvSpPr>
        <p:spPr>
          <a:xfrm>
            <a:off x="548640" y="1883664"/>
            <a:ext cx="11094415" cy="925830"/>
          </a:xfrm>
          <a:prstGeom prst="roundRect">
            <a:avLst>
              <a:gd name="adj" fmla="val 13827"/>
            </a:avLst>
          </a:prstGeom>
          <a:solidFill>
            <a:srgbClr val="E6F5EC"/>
          </a:solidFill>
          <a:ln w="12700">
            <a:solidFill>
              <a:srgbClr val="2E9E5B"/>
            </a:solidFill>
            <a:prstDash val="solid"/>
          </a:ln>
        </p:spPr>
      </p:sp>
      <p:sp>
        <p:nvSpPr>
          <p:cNvPr id="12" name="Shape 8"/>
          <p:cNvSpPr/>
          <p:nvPr/>
        </p:nvSpPr>
        <p:spPr>
          <a:xfrm>
            <a:off x="731520" y="2154555"/>
            <a:ext cx="384048" cy="384048"/>
          </a:xfrm>
          <a:prstGeom prst="ellipse">
            <a:avLst/>
          </a:prstGeom>
          <a:solidFill>
            <a:srgbClr val="2E9E5B"/>
          </a:solidFill>
          <a:ln/>
        </p:spPr>
      </p:sp>
      <p:sp>
        <p:nvSpPr>
          <p:cNvPr id="13" name="Text 9"/>
          <p:cNvSpPr txBox="1"/>
          <p:nvPr/>
        </p:nvSpPr>
        <p:spPr>
          <a:xfrm>
            <a:off x="731520" y="2154555"/>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13</a:t>
            </a:r>
            <a:endParaRPr lang="en-US" sz="1400" dirty="0"/>
          </a:p>
        </p:txBody>
      </p:sp>
      <p:sp>
        <p:nvSpPr>
          <p:cNvPr id="14" name="Text 10"/>
          <p:cNvSpPr/>
          <p:nvPr/>
        </p:nvSpPr>
        <p:spPr>
          <a:xfrm>
            <a:off x="1316736" y="1938528"/>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Q13 — where does “always” go?</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a) before the verb</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“I always drink coffee.” The exception is with the verb “to be”, where it goes after: “He is always late.”</a:t>
            </a:r>
            <a:endParaRPr lang="en-US" sz="1100" dirty="0"/>
          </a:p>
        </p:txBody>
      </p:sp>
      <p:sp>
        <p:nvSpPr>
          <p:cNvPr id="15" name="Shape 11"/>
          <p:cNvSpPr/>
          <p:nvPr/>
        </p:nvSpPr>
        <p:spPr>
          <a:xfrm>
            <a:off x="548640" y="2928366"/>
            <a:ext cx="11094415" cy="925830"/>
          </a:xfrm>
          <a:prstGeom prst="roundRect">
            <a:avLst>
              <a:gd name="adj" fmla="val 13827"/>
            </a:avLst>
          </a:prstGeom>
          <a:solidFill>
            <a:srgbClr val="E6F5EC"/>
          </a:solidFill>
          <a:ln w="12700">
            <a:solidFill>
              <a:srgbClr val="2E9E5B"/>
            </a:solidFill>
            <a:prstDash val="solid"/>
          </a:ln>
        </p:spPr>
      </p:sp>
      <p:sp>
        <p:nvSpPr>
          <p:cNvPr id="16" name="Shape 12"/>
          <p:cNvSpPr/>
          <p:nvPr/>
        </p:nvSpPr>
        <p:spPr>
          <a:xfrm>
            <a:off x="731520" y="3199257"/>
            <a:ext cx="384048" cy="384048"/>
          </a:xfrm>
          <a:prstGeom prst="ellipse">
            <a:avLst/>
          </a:prstGeom>
          <a:solidFill>
            <a:srgbClr val="2E9E5B"/>
          </a:solidFill>
          <a:ln/>
        </p:spPr>
      </p:sp>
      <p:sp>
        <p:nvSpPr>
          <p:cNvPr id="17" name="Text 13"/>
          <p:cNvSpPr txBox="1"/>
          <p:nvPr/>
        </p:nvSpPr>
        <p:spPr>
          <a:xfrm>
            <a:off x="731520" y="3199257"/>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14</a:t>
            </a:r>
            <a:endParaRPr lang="en-US" sz="1400" dirty="0"/>
          </a:p>
        </p:txBody>
      </p:sp>
      <p:sp>
        <p:nvSpPr>
          <p:cNvPr id="18" name="Text 14"/>
          <p:cNvSpPr/>
          <p:nvPr/>
        </p:nvSpPr>
        <p:spPr>
          <a:xfrm>
            <a:off x="1316736" y="2983230"/>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Q14 — correct “I drink never coffee.”</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I never drink coffee.</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The frequency word goes before the main verb, not after it.</a:t>
            </a:r>
            <a:endParaRPr lang="en-US" sz="1100" dirty="0"/>
          </a:p>
        </p:txBody>
      </p:sp>
      <p:sp>
        <p:nvSpPr>
          <p:cNvPr id="19" name="Shape 15"/>
          <p:cNvSpPr/>
          <p:nvPr/>
        </p:nvSpPr>
        <p:spPr>
          <a:xfrm>
            <a:off x="548640" y="3973068"/>
            <a:ext cx="11094415" cy="925830"/>
          </a:xfrm>
          <a:prstGeom prst="roundRect">
            <a:avLst>
              <a:gd name="adj" fmla="val 13827"/>
            </a:avLst>
          </a:prstGeom>
          <a:solidFill>
            <a:srgbClr val="E6F5EC"/>
          </a:solidFill>
          <a:ln w="12700">
            <a:solidFill>
              <a:srgbClr val="2E9E5B"/>
            </a:solidFill>
            <a:prstDash val="solid"/>
          </a:ln>
        </p:spPr>
      </p:sp>
      <p:sp>
        <p:nvSpPr>
          <p:cNvPr id="20" name="Shape 16"/>
          <p:cNvSpPr/>
          <p:nvPr/>
        </p:nvSpPr>
        <p:spPr>
          <a:xfrm>
            <a:off x="731520" y="4243959"/>
            <a:ext cx="384048" cy="384048"/>
          </a:xfrm>
          <a:prstGeom prst="ellipse">
            <a:avLst/>
          </a:prstGeom>
          <a:solidFill>
            <a:srgbClr val="2E9E5B"/>
          </a:solidFill>
          <a:ln/>
        </p:spPr>
      </p:sp>
      <p:sp>
        <p:nvSpPr>
          <p:cNvPr id="21" name="Text 17"/>
          <p:cNvSpPr txBox="1"/>
          <p:nvPr/>
        </p:nvSpPr>
        <p:spPr>
          <a:xfrm>
            <a:off x="731520" y="4243959"/>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15</a:t>
            </a:r>
            <a:endParaRPr lang="en-US" sz="1400" dirty="0"/>
          </a:p>
        </p:txBody>
      </p:sp>
      <p:sp>
        <p:nvSpPr>
          <p:cNvPr id="22" name="Text 18"/>
          <p:cNvSpPr/>
          <p:nvPr/>
        </p:nvSpPr>
        <p:spPr>
          <a:xfrm>
            <a:off x="1316736" y="4027932"/>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Q15 — what time?</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Half past seven.  (7:30)</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The speaker says “half past seven”. Both forms are acceptable in the answer.</a:t>
            </a:r>
            <a:endParaRPr lang="en-US" sz="1100" dirty="0"/>
          </a:p>
        </p:txBody>
      </p:sp>
      <p:sp>
        <p:nvSpPr>
          <p:cNvPr id="23" name="Shape 19"/>
          <p:cNvSpPr/>
          <p:nvPr/>
        </p:nvSpPr>
        <p:spPr>
          <a:xfrm>
            <a:off x="548640" y="5017770"/>
            <a:ext cx="11094415" cy="925830"/>
          </a:xfrm>
          <a:prstGeom prst="roundRect">
            <a:avLst>
              <a:gd name="adj" fmla="val 13827"/>
            </a:avLst>
          </a:prstGeom>
          <a:solidFill>
            <a:srgbClr val="E6F5EC"/>
          </a:solidFill>
          <a:ln w="12700">
            <a:solidFill>
              <a:srgbClr val="2E9E5B"/>
            </a:solidFill>
            <a:prstDash val="solid"/>
          </a:ln>
        </p:spPr>
      </p:sp>
      <p:sp>
        <p:nvSpPr>
          <p:cNvPr id="24" name="Shape 20"/>
          <p:cNvSpPr/>
          <p:nvPr/>
        </p:nvSpPr>
        <p:spPr>
          <a:xfrm>
            <a:off x="731520" y="5288661"/>
            <a:ext cx="384048" cy="384048"/>
          </a:xfrm>
          <a:prstGeom prst="ellipse">
            <a:avLst/>
          </a:prstGeom>
          <a:solidFill>
            <a:srgbClr val="2E9E5B"/>
          </a:solidFill>
          <a:ln/>
        </p:spPr>
      </p:sp>
      <p:sp>
        <p:nvSpPr>
          <p:cNvPr id="25" name="Text 21"/>
          <p:cNvSpPr txBox="1"/>
          <p:nvPr/>
        </p:nvSpPr>
        <p:spPr>
          <a:xfrm>
            <a:off x="731520" y="5288661"/>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16</a:t>
            </a:r>
            <a:endParaRPr lang="en-US" sz="1400" dirty="0"/>
          </a:p>
        </p:txBody>
      </p:sp>
      <p:sp>
        <p:nvSpPr>
          <p:cNvPr id="26" name="Text 22"/>
          <p:cNvSpPr/>
          <p:nvPr/>
        </p:nvSpPr>
        <p:spPr>
          <a:xfrm>
            <a:off x="1316736" y="5072634"/>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Q16 — which day?</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Friday.</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“I never work on Friday.” ON for a day, and Friday takes a capital letter.</a:t>
            </a:r>
            <a:endParaRPr lang="en-US" sz="11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2E9E5B"/>
          </a:solidFill>
          <a:ln/>
        </p:spPr>
      </p:sp>
      <p:sp>
        <p:nvSpPr>
          <p:cNvPr id="3" name="Shape 1"/>
          <p:cNvSpPr/>
          <p:nvPr/>
        </p:nvSpPr>
        <p:spPr>
          <a:xfrm>
            <a:off x="649224" y="539496"/>
            <a:ext cx="219456" cy="219456"/>
          </a:xfrm>
          <a:prstGeom prst="ellipse">
            <a:avLst/>
          </a:prstGeom>
          <a:solidFill>
            <a:srgbClr val="2E9E5B"/>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ANSWER KEY 5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Quiz answers — questions 17 to 20</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Every answer has a reason. Read the reason, not just the answer.</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1 — Present Simple &amp; Daily Routine</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70</a:t>
            </a:r>
            <a:endParaRPr lang="en-US" sz="1100" dirty="0"/>
          </a:p>
        </p:txBody>
      </p:sp>
      <p:sp>
        <p:nvSpPr>
          <p:cNvPr id="11" name="Shape 7"/>
          <p:cNvSpPr/>
          <p:nvPr/>
        </p:nvSpPr>
        <p:spPr>
          <a:xfrm>
            <a:off x="548640" y="1883664"/>
            <a:ext cx="11094415" cy="925830"/>
          </a:xfrm>
          <a:prstGeom prst="roundRect">
            <a:avLst>
              <a:gd name="adj" fmla="val 13827"/>
            </a:avLst>
          </a:prstGeom>
          <a:solidFill>
            <a:srgbClr val="E6F5EC"/>
          </a:solidFill>
          <a:ln w="12700">
            <a:solidFill>
              <a:srgbClr val="2E9E5B"/>
            </a:solidFill>
            <a:prstDash val="solid"/>
          </a:ln>
        </p:spPr>
      </p:sp>
      <p:sp>
        <p:nvSpPr>
          <p:cNvPr id="12" name="Shape 8"/>
          <p:cNvSpPr/>
          <p:nvPr/>
        </p:nvSpPr>
        <p:spPr>
          <a:xfrm>
            <a:off x="731520" y="2154555"/>
            <a:ext cx="384048" cy="384048"/>
          </a:xfrm>
          <a:prstGeom prst="ellipse">
            <a:avLst/>
          </a:prstGeom>
          <a:solidFill>
            <a:srgbClr val="2E9E5B"/>
          </a:solidFill>
          <a:ln/>
        </p:spPr>
      </p:sp>
      <p:sp>
        <p:nvSpPr>
          <p:cNvPr id="13" name="Text 9"/>
          <p:cNvSpPr txBox="1"/>
          <p:nvPr/>
        </p:nvSpPr>
        <p:spPr>
          <a:xfrm>
            <a:off x="731520" y="2154555"/>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17</a:t>
            </a:r>
            <a:endParaRPr lang="en-US" sz="1400" dirty="0"/>
          </a:p>
        </p:txBody>
      </p:sp>
      <p:sp>
        <p:nvSpPr>
          <p:cNvPr id="14" name="Text 10"/>
          <p:cNvSpPr/>
          <p:nvPr/>
        </p:nvSpPr>
        <p:spPr>
          <a:xfrm>
            <a:off x="1316736" y="1938528"/>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Q17 — your own routine</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e.g. “I wake up at six o'clock. I start work at eight.”</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With “I” there is no -s. Marked on the times and the sentence structure.</a:t>
            </a:r>
            <a:endParaRPr lang="en-US" sz="1100" dirty="0"/>
          </a:p>
        </p:txBody>
      </p:sp>
      <p:sp>
        <p:nvSpPr>
          <p:cNvPr id="15" name="Shape 11"/>
          <p:cNvSpPr/>
          <p:nvPr/>
        </p:nvSpPr>
        <p:spPr>
          <a:xfrm>
            <a:off x="548640" y="2928366"/>
            <a:ext cx="11094415" cy="925830"/>
          </a:xfrm>
          <a:prstGeom prst="roundRect">
            <a:avLst>
              <a:gd name="adj" fmla="val 13827"/>
            </a:avLst>
          </a:prstGeom>
          <a:solidFill>
            <a:srgbClr val="E6F5EC"/>
          </a:solidFill>
          <a:ln w="12700">
            <a:solidFill>
              <a:srgbClr val="2E9E5B"/>
            </a:solidFill>
            <a:prstDash val="solid"/>
          </a:ln>
        </p:spPr>
      </p:sp>
      <p:sp>
        <p:nvSpPr>
          <p:cNvPr id="16" name="Shape 12"/>
          <p:cNvSpPr/>
          <p:nvPr/>
        </p:nvSpPr>
        <p:spPr>
          <a:xfrm>
            <a:off x="731520" y="3199257"/>
            <a:ext cx="384048" cy="384048"/>
          </a:xfrm>
          <a:prstGeom prst="ellipse">
            <a:avLst/>
          </a:prstGeom>
          <a:solidFill>
            <a:srgbClr val="2E9E5B"/>
          </a:solidFill>
          <a:ln/>
        </p:spPr>
      </p:sp>
      <p:sp>
        <p:nvSpPr>
          <p:cNvPr id="17" name="Text 13"/>
          <p:cNvSpPr txBox="1"/>
          <p:nvPr/>
        </p:nvSpPr>
        <p:spPr>
          <a:xfrm>
            <a:off x="731520" y="3199257"/>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18</a:t>
            </a:r>
            <a:endParaRPr lang="en-US" sz="1400" dirty="0"/>
          </a:p>
        </p:txBody>
      </p:sp>
      <p:sp>
        <p:nvSpPr>
          <p:cNvPr id="18" name="Text 14"/>
          <p:cNvSpPr/>
          <p:nvPr/>
        </p:nvSpPr>
        <p:spPr>
          <a:xfrm>
            <a:off x="1316736" y="2983230"/>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Q18 — a family member's routine</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e.g. “My mother wakes up at five. She works in a school.”</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Every verb needs -s. This is the item that carries the most marks.</a:t>
            </a:r>
            <a:endParaRPr lang="en-US" sz="1100" dirty="0"/>
          </a:p>
        </p:txBody>
      </p:sp>
      <p:sp>
        <p:nvSpPr>
          <p:cNvPr id="19" name="Shape 15"/>
          <p:cNvSpPr/>
          <p:nvPr/>
        </p:nvSpPr>
        <p:spPr>
          <a:xfrm>
            <a:off x="548640" y="3973068"/>
            <a:ext cx="11094415" cy="925830"/>
          </a:xfrm>
          <a:prstGeom prst="roundRect">
            <a:avLst>
              <a:gd name="adj" fmla="val 13827"/>
            </a:avLst>
          </a:prstGeom>
          <a:solidFill>
            <a:srgbClr val="E6F5EC"/>
          </a:solidFill>
          <a:ln w="12700">
            <a:solidFill>
              <a:srgbClr val="2E9E5B"/>
            </a:solidFill>
            <a:prstDash val="solid"/>
          </a:ln>
        </p:spPr>
      </p:sp>
      <p:sp>
        <p:nvSpPr>
          <p:cNvPr id="20" name="Shape 16"/>
          <p:cNvSpPr/>
          <p:nvPr/>
        </p:nvSpPr>
        <p:spPr>
          <a:xfrm>
            <a:off x="731520" y="4243959"/>
            <a:ext cx="384048" cy="384048"/>
          </a:xfrm>
          <a:prstGeom prst="ellipse">
            <a:avLst/>
          </a:prstGeom>
          <a:solidFill>
            <a:srgbClr val="2E9E5B"/>
          </a:solidFill>
          <a:ln/>
        </p:spPr>
      </p:sp>
      <p:sp>
        <p:nvSpPr>
          <p:cNvPr id="21" name="Text 17"/>
          <p:cNvSpPr txBox="1"/>
          <p:nvPr/>
        </p:nvSpPr>
        <p:spPr>
          <a:xfrm>
            <a:off x="731520" y="4243959"/>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19</a:t>
            </a:r>
            <a:endParaRPr lang="en-US" sz="1400" dirty="0"/>
          </a:p>
        </p:txBody>
      </p:sp>
      <p:sp>
        <p:nvSpPr>
          <p:cNvPr id="22" name="Text 18"/>
          <p:cNvSpPr/>
          <p:nvPr/>
        </p:nvSpPr>
        <p:spPr>
          <a:xfrm>
            <a:off x="1316736" y="4027932"/>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Q19 — a negative and a question</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e.g. “He does not work on Sunday.”  “Do you like coffee?”</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In both, the main verb has no -s, because the auxiliary carries it.</a:t>
            </a:r>
            <a:endParaRPr lang="en-US" sz="1100" dirty="0"/>
          </a:p>
        </p:txBody>
      </p:sp>
      <p:sp>
        <p:nvSpPr>
          <p:cNvPr id="23" name="Shape 19"/>
          <p:cNvSpPr/>
          <p:nvPr/>
        </p:nvSpPr>
        <p:spPr>
          <a:xfrm>
            <a:off x="548640" y="5017770"/>
            <a:ext cx="11094415" cy="925830"/>
          </a:xfrm>
          <a:prstGeom prst="roundRect">
            <a:avLst>
              <a:gd name="adj" fmla="val 13827"/>
            </a:avLst>
          </a:prstGeom>
          <a:solidFill>
            <a:srgbClr val="E6F5EC"/>
          </a:solidFill>
          <a:ln w="12700">
            <a:solidFill>
              <a:srgbClr val="2E9E5B"/>
            </a:solidFill>
            <a:prstDash val="solid"/>
          </a:ln>
        </p:spPr>
      </p:sp>
      <p:sp>
        <p:nvSpPr>
          <p:cNvPr id="24" name="Shape 20"/>
          <p:cNvSpPr/>
          <p:nvPr/>
        </p:nvSpPr>
        <p:spPr>
          <a:xfrm>
            <a:off x="731520" y="5288661"/>
            <a:ext cx="384048" cy="384048"/>
          </a:xfrm>
          <a:prstGeom prst="ellipse">
            <a:avLst/>
          </a:prstGeom>
          <a:solidFill>
            <a:srgbClr val="2E9E5B"/>
          </a:solidFill>
          <a:ln/>
        </p:spPr>
      </p:sp>
      <p:sp>
        <p:nvSpPr>
          <p:cNvPr id="25" name="Text 21"/>
          <p:cNvSpPr txBox="1"/>
          <p:nvPr/>
        </p:nvSpPr>
        <p:spPr>
          <a:xfrm>
            <a:off x="731520" y="5288661"/>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20</a:t>
            </a:r>
            <a:endParaRPr lang="en-US" sz="1400" dirty="0"/>
          </a:p>
        </p:txBody>
      </p:sp>
      <p:sp>
        <p:nvSpPr>
          <p:cNvPr id="26" name="Text 22"/>
          <p:cNvSpPr/>
          <p:nvPr/>
        </p:nvSpPr>
        <p:spPr>
          <a:xfrm>
            <a:off x="1316736" y="5072634"/>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Q20 — speaking task</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Your day, then your partner's day</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Marked on the -s in the second half. The first half needs none, the second needs it on every verb.</a:t>
            </a:r>
            <a:endParaRPr lang="en-US" sz="11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F2A93B"/>
          </a:solidFill>
          <a:ln/>
        </p:spPr>
      </p:sp>
      <p:sp>
        <p:nvSpPr>
          <p:cNvPr id="3" name="Shape 1"/>
          <p:cNvSpPr/>
          <p:nvPr/>
        </p:nvSpPr>
        <p:spPr>
          <a:xfrm>
            <a:off x="649224" y="539496"/>
            <a:ext cx="219456" cy="219456"/>
          </a:xfrm>
          <a:prstGeom prst="ellipse">
            <a:avLst/>
          </a:prstGeom>
          <a:solidFill>
            <a:srgbClr val="F2A93B"/>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HOMEWORK</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Homework 1 — every day this week</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Ten minutes a day. Out loud.</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1 — Present Simple &amp; Daily Routine</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71</a:t>
            </a:r>
            <a:endParaRPr lang="en-US" sz="1100" dirty="0"/>
          </a:p>
        </p:txBody>
      </p:sp>
      <p:sp>
        <p:nvSpPr>
          <p:cNvPr id="11" name="Shape 7"/>
          <p:cNvSpPr/>
          <p:nvPr/>
        </p:nvSpPr>
        <p:spPr>
          <a:xfrm>
            <a:off x="548640" y="1883664"/>
            <a:ext cx="11094415" cy="694944"/>
          </a:xfrm>
          <a:prstGeom prst="roundRect">
            <a:avLst>
              <a:gd name="adj" fmla="val 18421"/>
            </a:avLst>
          </a:prstGeom>
          <a:solidFill>
            <a:srgbClr val="F6F9F7"/>
          </a:solidFill>
          <a:ln w="12700">
            <a:solidFill>
              <a:srgbClr val="E3E9E5"/>
            </a:solidFill>
            <a:prstDash val="solid"/>
          </a:ln>
        </p:spPr>
      </p:sp>
      <p:sp>
        <p:nvSpPr>
          <p:cNvPr id="12" name="Shape 8"/>
          <p:cNvSpPr/>
          <p:nvPr/>
        </p:nvSpPr>
        <p:spPr>
          <a:xfrm>
            <a:off x="786384" y="2002536"/>
            <a:ext cx="457200" cy="457200"/>
          </a:xfrm>
          <a:prstGeom prst="ellipse">
            <a:avLst/>
          </a:prstGeom>
          <a:solidFill>
            <a:srgbClr val="F2A93B"/>
          </a:solidFill>
          <a:ln/>
        </p:spPr>
      </p:sp>
      <p:sp>
        <p:nvSpPr>
          <p:cNvPr id="13" name="Text 9"/>
          <p:cNvSpPr txBox="1"/>
          <p:nvPr/>
        </p:nvSpPr>
        <p:spPr>
          <a:xfrm>
            <a:off x="786384" y="2002536"/>
            <a:ext cx="457200" cy="457200"/>
          </a:xfrm>
          <a:prstGeom prst="rect">
            <a:avLst/>
          </a:prstGeom>
          <a:noFill/>
          <a:ln/>
        </p:spPr>
        <p:txBody>
          <a:bodyPr wrap="square" lIns="0" tIns="0" rIns="0" bIns="0" rtlCol="0" anchor="ctr"/>
          <a:lstStyle/>
          <a:p>
            <a:pPr algn="ctr" indent="0" marL="0">
              <a:buNone/>
            </a:pPr>
            <a:r>
              <a:rPr lang="en-US" sz="1300" b="1" dirty="0">
                <a:solidFill>
                  <a:srgbClr val="0B231C"/>
                </a:solidFill>
                <a:latin typeface="Calibri" pitchFamily="34" charset="0"/>
                <a:ea typeface="Calibri" pitchFamily="34" charset="-122"/>
                <a:cs typeface="Calibri" pitchFamily="34" charset="-120"/>
              </a:rPr>
              <a:t>MON</a:t>
            </a:r>
            <a:endParaRPr lang="en-US" sz="1300" dirty="0"/>
          </a:p>
        </p:txBody>
      </p:sp>
      <p:sp>
        <p:nvSpPr>
          <p:cNvPr id="14" name="Text 10"/>
          <p:cNvSpPr/>
          <p:nvPr/>
        </p:nvSpPr>
        <p:spPr>
          <a:xfrm>
            <a:off x="1463040" y="1956816"/>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Chant the verb forms</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“I work, you work, he works, she works, it works, we work, they work.” Five times.</a:t>
            </a:r>
            <a:endParaRPr lang="en-US" sz="1600" dirty="0"/>
          </a:p>
        </p:txBody>
      </p:sp>
      <p:sp>
        <p:nvSpPr>
          <p:cNvPr id="15" name="Shape 11"/>
          <p:cNvSpPr/>
          <p:nvPr/>
        </p:nvSpPr>
        <p:spPr>
          <a:xfrm>
            <a:off x="548640" y="2724912"/>
            <a:ext cx="11094415" cy="694944"/>
          </a:xfrm>
          <a:prstGeom prst="roundRect">
            <a:avLst>
              <a:gd name="adj" fmla="val 18421"/>
            </a:avLst>
          </a:prstGeom>
          <a:solidFill>
            <a:srgbClr val="F6F9F7"/>
          </a:solidFill>
          <a:ln w="12700">
            <a:solidFill>
              <a:srgbClr val="E3E9E5"/>
            </a:solidFill>
            <a:prstDash val="solid"/>
          </a:ln>
        </p:spPr>
      </p:sp>
      <p:sp>
        <p:nvSpPr>
          <p:cNvPr id="16" name="Shape 12"/>
          <p:cNvSpPr/>
          <p:nvPr/>
        </p:nvSpPr>
        <p:spPr>
          <a:xfrm>
            <a:off x="786384" y="2843784"/>
            <a:ext cx="457200" cy="457200"/>
          </a:xfrm>
          <a:prstGeom prst="ellipse">
            <a:avLst/>
          </a:prstGeom>
          <a:solidFill>
            <a:srgbClr val="F2A93B"/>
          </a:solidFill>
          <a:ln/>
        </p:spPr>
      </p:sp>
      <p:sp>
        <p:nvSpPr>
          <p:cNvPr id="17" name="Text 13"/>
          <p:cNvSpPr txBox="1"/>
          <p:nvPr/>
        </p:nvSpPr>
        <p:spPr>
          <a:xfrm>
            <a:off x="786384" y="2843784"/>
            <a:ext cx="457200" cy="457200"/>
          </a:xfrm>
          <a:prstGeom prst="rect">
            <a:avLst/>
          </a:prstGeom>
          <a:noFill/>
          <a:ln/>
        </p:spPr>
        <p:txBody>
          <a:bodyPr wrap="square" lIns="0" tIns="0" rIns="0" bIns="0" rtlCol="0" anchor="ctr"/>
          <a:lstStyle/>
          <a:p>
            <a:pPr algn="ctr" indent="0" marL="0">
              <a:buNone/>
            </a:pPr>
            <a:r>
              <a:rPr lang="en-US" sz="1300" b="1" dirty="0">
                <a:solidFill>
                  <a:srgbClr val="0B231C"/>
                </a:solidFill>
                <a:latin typeface="Calibri" pitchFamily="34" charset="0"/>
                <a:ea typeface="Calibri" pitchFamily="34" charset="-122"/>
                <a:cs typeface="Calibri" pitchFamily="34" charset="-120"/>
              </a:rPr>
              <a:t>TUE</a:t>
            </a:r>
            <a:endParaRPr lang="en-US" sz="1300" dirty="0"/>
          </a:p>
        </p:txBody>
      </p:sp>
      <p:sp>
        <p:nvSpPr>
          <p:cNvPr id="18" name="Text 14"/>
          <p:cNvSpPr/>
          <p:nvPr/>
        </p:nvSpPr>
        <p:spPr>
          <a:xfrm>
            <a:off x="1463040" y="2798064"/>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Describe your day out loud</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Ten sentences, standing up. Then say it again about a family member.</a:t>
            </a:r>
            <a:endParaRPr lang="en-US" sz="1600" dirty="0"/>
          </a:p>
        </p:txBody>
      </p:sp>
      <p:sp>
        <p:nvSpPr>
          <p:cNvPr id="19" name="Shape 15"/>
          <p:cNvSpPr/>
          <p:nvPr/>
        </p:nvSpPr>
        <p:spPr>
          <a:xfrm>
            <a:off x="548640" y="3566160"/>
            <a:ext cx="11094415" cy="694944"/>
          </a:xfrm>
          <a:prstGeom prst="roundRect">
            <a:avLst>
              <a:gd name="adj" fmla="val 18421"/>
            </a:avLst>
          </a:prstGeom>
          <a:solidFill>
            <a:srgbClr val="F6F9F7"/>
          </a:solidFill>
          <a:ln w="12700">
            <a:solidFill>
              <a:srgbClr val="E3E9E5"/>
            </a:solidFill>
            <a:prstDash val="solid"/>
          </a:ln>
        </p:spPr>
      </p:sp>
      <p:sp>
        <p:nvSpPr>
          <p:cNvPr id="20" name="Shape 16"/>
          <p:cNvSpPr/>
          <p:nvPr/>
        </p:nvSpPr>
        <p:spPr>
          <a:xfrm>
            <a:off x="786384" y="3685032"/>
            <a:ext cx="457200" cy="457200"/>
          </a:xfrm>
          <a:prstGeom prst="ellipse">
            <a:avLst/>
          </a:prstGeom>
          <a:solidFill>
            <a:srgbClr val="F2A93B"/>
          </a:solidFill>
          <a:ln/>
        </p:spPr>
      </p:sp>
      <p:sp>
        <p:nvSpPr>
          <p:cNvPr id="21" name="Text 17"/>
          <p:cNvSpPr txBox="1"/>
          <p:nvPr/>
        </p:nvSpPr>
        <p:spPr>
          <a:xfrm>
            <a:off x="786384" y="3685032"/>
            <a:ext cx="457200" cy="457200"/>
          </a:xfrm>
          <a:prstGeom prst="rect">
            <a:avLst/>
          </a:prstGeom>
          <a:noFill/>
          <a:ln/>
        </p:spPr>
        <p:txBody>
          <a:bodyPr wrap="square" lIns="0" tIns="0" rIns="0" bIns="0" rtlCol="0" anchor="ctr"/>
          <a:lstStyle/>
          <a:p>
            <a:pPr algn="ctr" indent="0" marL="0">
              <a:buNone/>
            </a:pPr>
            <a:r>
              <a:rPr lang="en-US" sz="1300" b="1" dirty="0">
                <a:solidFill>
                  <a:srgbClr val="0B231C"/>
                </a:solidFill>
                <a:latin typeface="Calibri" pitchFamily="34" charset="0"/>
                <a:ea typeface="Calibri" pitchFamily="34" charset="-122"/>
                <a:cs typeface="Calibri" pitchFamily="34" charset="-120"/>
              </a:rPr>
              <a:t>WED</a:t>
            </a:r>
            <a:endParaRPr lang="en-US" sz="1300" dirty="0"/>
          </a:p>
        </p:txBody>
      </p:sp>
      <p:sp>
        <p:nvSpPr>
          <p:cNvPr id="22" name="Text 18"/>
          <p:cNvSpPr/>
          <p:nvPr/>
        </p:nvSpPr>
        <p:spPr>
          <a:xfrm>
            <a:off x="1463040" y="3639312"/>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Write the -s form of twenty verbs</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Five from each spelling rule. Check them against slide 17.</a:t>
            </a:r>
            <a:endParaRPr lang="en-US" sz="1600" dirty="0"/>
          </a:p>
        </p:txBody>
      </p:sp>
      <p:sp>
        <p:nvSpPr>
          <p:cNvPr id="23" name="Shape 19"/>
          <p:cNvSpPr/>
          <p:nvPr/>
        </p:nvSpPr>
        <p:spPr>
          <a:xfrm>
            <a:off x="548640" y="4407408"/>
            <a:ext cx="11094415" cy="694944"/>
          </a:xfrm>
          <a:prstGeom prst="roundRect">
            <a:avLst>
              <a:gd name="adj" fmla="val 18421"/>
            </a:avLst>
          </a:prstGeom>
          <a:solidFill>
            <a:srgbClr val="F6F9F7"/>
          </a:solidFill>
          <a:ln w="12700">
            <a:solidFill>
              <a:srgbClr val="E3E9E5"/>
            </a:solidFill>
            <a:prstDash val="solid"/>
          </a:ln>
        </p:spPr>
      </p:sp>
      <p:sp>
        <p:nvSpPr>
          <p:cNvPr id="24" name="Shape 20"/>
          <p:cNvSpPr/>
          <p:nvPr/>
        </p:nvSpPr>
        <p:spPr>
          <a:xfrm>
            <a:off x="786384" y="4526280"/>
            <a:ext cx="457200" cy="457200"/>
          </a:xfrm>
          <a:prstGeom prst="ellipse">
            <a:avLst/>
          </a:prstGeom>
          <a:solidFill>
            <a:srgbClr val="F2A93B"/>
          </a:solidFill>
          <a:ln/>
        </p:spPr>
      </p:sp>
      <p:sp>
        <p:nvSpPr>
          <p:cNvPr id="25" name="Text 21"/>
          <p:cNvSpPr txBox="1"/>
          <p:nvPr/>
        </p:nvSpPr>
        <p:spPr>
          <a:xfrm>
            <a:off x="786384" y="4526280"/>
            <a:ext cx="457200" cy="457200"/>
          </a:xfrm>
          <a:prstGeom prst="rect">
            <a:avLst/>
          </a:prstGeom>
          <a:noFill/>
          <a:ln/>
        </p:spPr>
        <p:txBody>
          <a:bodyPr wrap="square" lIns="0" tIns="0" rIns="0" bIns="0" rtlCol="0" anchor="ctr"/>
          <a:lstStyle/>
          <a:p>
            <a:pPr algn="ctr" indent="0" marL="0">
              <a:buNone/>
            </a:pPr>
            <a:r>
              <a:rPr lang="en-US" sz="1300" b="1" dirty="0">
                <a:solidFill>
                  <a:srgbClr val="0B231C"/>
                </a:solidFill>
                <a:latin typeface="Calibri" pitchFamily="34" charset="0"/>
                <a:ea typeface="Calibri" pitchFamily="34" charset="-122"/>
                <a:cs typeface="Calibri" pitchFamily="34" charset="-120"/>
              </a:rPr>
              <a:t>THU</a:t>
            </a:r>
            <a:endParaRPr lang="en-US" sz="1300" dirty="0"/>
          </a:p>
        </p:txBody>
      </p:sp>
      <p:sp>
        <p:nvSpPr>
          <p:cNvPr id="26" name="Text 22"/>
          <p:cNvSpPr/>
          <p:nvPr/>
        </p:nvSpPr>
        <p:spPr>
          <a:xfrm>
            <a:off x="1463040" y="4480560"/>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Ask five people a DO question</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In English if you can. Family counts.</a:t>
            </a:r>
            <a:endParaRPr lang="en-US" sz="1600" dirty="0"/>
          </a:p>
        </p:txBody>
      </p:sp>
      <p:sp>
        <p:nvSpPr>
          <p:cNvPr id="27" name="Shape 23"/>
          <p:cNvSpPr/>
          <p:nvPr/>
        </p:nvSpPr>
        <p:spPr>
          <a:xfrm>
            <a:off x="548640" y="5248656"/>
            <a:ext cx="11094415" cy="694944"/>
          </a:xfrm>
          <a:prstGeom prst="roundRect">
            <a:avLst>
              <a:gd name="adj" fmla="val 18421"/>
            </a:avLst>
          </a:prstGeom>
          <a:solidFill>
            <a:srgbClr val="F6F9F7"/>
          </a:solidFill>
          <a:ln w="12700">
            <a:solidFill>
              <a:srgbClr val="E3E9E5"/>
            </a:solidFill>
            <a:prstDash val="solid"/>
          </a:ln>
        </p:spPr>
      </p:sp>
      <p:sp>
        <p:nvSpPr>
          <p:cNvPr id="28" name="Shape 24"/>
          <p:cNvSpPr/>
          <p:nvPr/>
        </p:nvSpPr>
        <p:spPr>
          <a:xfrm>
            <a:off x="786384" y="5367528"/>
            <a:ext cx="457200" cy="457200"/>
          </a:xfrm>
          <a:prstGeom prst="ellipse">
            <a:avLst/>
          </a:prstGeom>
          <a:solidFill>
            <a:srgbClr val="F2A93B"/>
          </a:solidFill>
          <a:ln/>
        </p:spPr>
      </p:sp>
      <p:sp>
        <p:nvSpPr>
          <p:cNvPr id="29" name="Text 25"/>
          <p:cNvSpPr txBox="1"/>
          <p:nvPr/>
        </p:nvSpPr>
        <p:spPr>
          <a:xfrm>
            <a:off x="786384" y="5367528"/>
            <a:ext cx="457200" cy="457200"/>
          </a:xfrm>
          <a:prstGeom prst="rect">
            <a:avLst/>
          </a:prstGeom>
          <a:noFill/>
          <a:ln/>
        </p:spPr>
        <p:txBody>
          <a:bodyPr wrap="square" lIns="0" tIns="0" rIns="0" bIns="0" rtlCol="0" anchor="ctr"/>
          <a:lstStyle/>
          <a:p>
            <a:pPr algn="ctr" indent="0" marL="0">
              <a:buNone/>
            </a:pPr>
            <a:r>
              <a:rPr lang="en-US" sz="1300" b="1" dirty="0">
                <a:solidFill>
                  <a:srgbClr val="0B231C"/>
                </a:solidFill>
                <a:latin typeface="Calibri" pitchFamily="34" charset="0"/>
                <a:ea typeface="Calibri" pitchFamily="34" charset="-122"/>
                <a:cs typeface="Calibri" pitchFamily="34" charset="-120"/>
              </a:rPr>
              <a:t>FRI</a:t>
            </a:r>
            <a:endParaRPr lang="en-US" sz="1300" dirty="0"/>
          </a:p>
        </p:txBody>
      </p:sp>
      <p:sp>
        <p:nvSpPr>
          <p:cNvPr id="30" name="Text 26"/>
          <p:cNvSpPr/>
          <p:nvPr/>
        </p:nvSpPr>
        <p:spPr>
          <a:xfrm>
            <a:off x="1463040" y="5321808"/>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Say five sentences with frequency words</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always · usually · often · sometimes · never.</a:t>
            </a:r>
            <a:endParaRPr lang="en-US" sz="16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F2A93B"/>
          </a:solidFill>
          <a:ln/>
        </p:spPr>
      </p:sp>
      <p:sp>
        <p:nvSpPr>
          <p:cNvPr id="3" name="Shape 1"/>
          <p:cNvSpPr/>
          <p:nvPr/>
        </p:nvSpPr>
        <p:spPr>
          <a:xfrm>
            <a:off x="649224" y="539496"/>
            <a:ext cx="219456" cy="219456"/>
          </a:xfrm>
          <a:prstGeom prst="ellipse">
            <a:avLst/>
          </a:prstGeom>
          <a:solidFill>
            <a:srgbClr val="F2A93B"/>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HOMEWORK</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Homework 2 — to hand in</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Bring these to the next lesson.</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1 — Present Simple &amp; Daily Routine</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72</a:t>
            </a:r>
            <a:endParaRPr lang="en-US" sz="1100" dirty="0"/>
          </a:p>
        </p:txBody>
      </p:sp>
      <p:sp>
        <p:nvSpPr>
          <p:cNvPr id="11" name="Shape 7"/>
          <p:cNvSpPr/>
          <p:nvPr/>
        </p:nvSpPr>
        <p:spPr>
          <a:xfrm>
            <a:off x="548640" y="1883664"/>
            <a:ext cx="11094415" cy="1255776"/>
          </a:xfrm>
          <a:prstGeom prst="roundRect">
            <a:avLst>
              <a:gd name="adj" fmla="val 10194"/>
            </a:avLst>
          </a:prstGeom>
          <a:solidFill>
            <a:srgbClr val="F6F9F7"/>
          </a:solidFill>
          <a:ln w="12700">
            <a:solidFill>
              <a:srgbClr val="E3E9E5"/>
            </a:solidFill>
            <a:prstDash val="solid"/>
          </a:ln>
        </p:spPr>
      </p:sp>
      <p:sp>
        <p:nvSpPr>
          <p:cNvPr id="12" name="Shape 8"/>
          <p:cNvSpPr/>
          <p:nvPr/>
        </p:nvSpPr>
        <p:spPr>
          <a:xfrm>
            <a:off x="786384" y="2282952"/>
            <a:ext cx="457200" cy="457200"/>
          </a:xfrm>
          <a:prstGeom prst="ellipse">
            <a:avLst/>
          </a:prstGeom>
          <a:solidFill>
            <a:srgbClr val="F2A93B"/>
          </a:solidFill>
          <a:ln/>
        </p:spPr>
      </p:sp>
      <p:sp>
        <p:nvSpPr>
          <p:cNvPr id="13" name="Text 9"/>
          <p:cNvSpPr txBox="1"/>
          <p:nvPr/>
        </p:nvSpPr>
        <p:spPr>
          <a:xfrm>
            <a:off x="786384" y="2282952"/>
            <a:ext cx="457200" cy="457200"/>
          </a:xfrm>
          <a:prstGeom prst="rect">
            <a:avLst/>
          </a:prstGeom>
          <a:noFill/>
          <a:ln/>
        </p:spPr>
        <p:txBody>
          <a:bodyPr wrap="square" lIns="0" tIns="0" rIns="0" bIns="0" rtlCol="0" anchor="ctr"/>
          <a:lstStyle/>
          <a:p>
            <a:pPr algn="ctr" indent="0" marL="0">
              <a:buNone/>
            </a:pPr>
            <a:r>
              <a:rPr lang="en-US" sz="1300" b="1" dirty="0">
                <a:solidFill>
                  <a:srgbClr val="0B231C"/>
                </a:solidFill>
                <a:latin typeface="Calibri" pitchFamily="34" charset="0"/>
                <a:ea typeface="Calibri" pitchFamily="34" charset="-122"/>
                <a:cs typeface="Calibri" pitchFamily="34" charset="-120"/>
              </a:rPr>
              <a:t>1</a:t>
            </a:r>
            <a:endParaRPr lang="en-US" sz="1300" dirty="0"/>
          </a:p>
        </p:txBody>
      </p:sp>
      <p:sp>
        <p:nvSpPr>
          <p:cNvPr id="14" name="Text 10"/>
          <p:cNvSpPr/>
          <p:nvPr/>
        </p:nvSpPr>
        <p:spPr>
          <a:xfrm>
            <a:off x="1463040" y="1956816"/>
            <a:ext cx="9905695" cy="1109472"/>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Write “My Day” — eight sentences</a:t>
            </a:r>
            <a:endParaRPr lang="en-US" sz="2000" dirty="0"/>
          </a:p>
          <a:p>
            <a:pPr indent="0" marL="0">
              <a:lnSpc>
                <a:spcPct val="102000"/>
              </a:lnSpc>
              <a:spcBef>
                <a:spcPts val="300"/>
              </a:spcBef>
              <a:buNone/>
            </a:pPr>
            <a:r>
              <a:rPr lang="en-US" sz="1500" dirty="0">
                <a:solidFill>
                  <a:srgbClr val="3A473F"/>
                </a:solidFill>
                <a:latin typeface="Calibri" pitchFamily="34" charset="0"/>
                <a:ea typeface="Calibri" pitchFamily="34" charset="-122"/>
                <a:cs typeface="Calibri" pitchFamily="34" charset="-120"/>
              </a:rPr>
              <a:t>About yourself, with times and three frequency words.</a:t>
            </a:r>
            <a:endParaRPr lang="en-US" sz="2000" dirty="0"/>
          </a:p>
        </p:txBody>
      </p:sp>
      <p:sp>
        <p:nvSpPr>
          <p:cNvPr id="15" name="Shape 11"/>
          <p:cNvSpPr/>
          <p:nvPr/>
        </p:nvSpPr>
        <p:spPr>
          <a:xfrm>
            <a:off x="548640" y="3285744"/>
            <a:ext cx="11094415" cy="1255776"/>
          </a:xfrm>
          <a:prstGeom prst="roundRect">
            <a:avLst>
              <a:gd name="adj" fmla="val 10194"/>
            </a:avLst>
          </a:prstGeom>
          <a:solidFill>
            <a:srgbClr val="F6F9F7"/>
          </a:solidFill>
          <a:ln w="12700">
            <a:solidFill>
              <a:srgbClr val="E3E9E5"/>
            </a:solidFill>
            <a:prstDash val="solid"/>
          </a:ln>
        </p:spPr>
      </p:sp>
      <p:sp>
        <p:nvSpPr>
          <p:cNvPr id="16" name="Shape 12"/>
          <p:cNvSpPr/>
          <p:nvPr/>
        </p:nvSpPr>
        <p:spPr>
          <a:xfrm>
            <a:off x="786384" y="3685032"/>
            <a:ext cx="457200" cy="457200"/>
          </a:xfrm>
          <a:prstGeom prst="ellipse">
            <a:avLst/>
          </a:prstGeom>
          <a:solidFill>
            <a:srgbClr val="F2A93B"/>
          </a:solidFill>
          <a:ln/>
        </p:spPr>
      </p:sp>
      <p:sp>
        <p:nvSpPr>
          <p:cNvPr id="17" name="Text 13"/>
          <p:cNvSpPr txBox="1"/>
          <p:nvPr/>
        </p:nvSpPr>
        <p:spPr>
          <a:xfrm>
            <a:off x="786384" y="3685032"/>
            <a:ext cx="457200" cy="457200"/>
          </a:xfrm>
          <a:prstGeom prst="rect">
            <a:avLst/>
          </a:prstGeom>
          <a:noFill/>
          <a:ln/>
        </p:spPr>
        <p:txBody>
          <a:bodyPr wrap="square" lIns="0" tIns="0" rIns="0" bIns="0" rtlCol="0" anchor="ctr"/>
          <a:lstStyle/>
          <a:p>
            <a:pPr algn="ctr" indent="0" marL="0">
              <a:buNone/>
            </a:pPr>
            <a:r>
              <a:rPr lang="en-US" sz="1300" b="1" dirty="0">
                <a:solidFill>
                  <a:srgbClr val="0B231C"/>
                </a:solidFill>
                <a:latin typeface="Calibri" pitchFamily="34" charset="0"/>
                <a:ea typeface="Calibri" pitchFamily="34" charset="-122"/>
                <a:cs typeface="Calibri" pitchFamily="34" charset="-120"/>
              </a:rPr>
              <a:t>2</a:t>
            </a:r>
            <a:endParaRPr lang="en-US" sz="1300" dirty="0"/>
          </a:p>
        </p:txBody>
      </p:sp>
      <p:sp>
        <p:nvSpPr>
          <p:cNvPr id="18" name="Text 14"/>
          <p:cNvSpPr/>
          <p:nvPr/>
        </p:nvSpPr>
        <p:spPr>
          <a:xfrm>
            <a:off x="1463040" y="3358896"/>
            <a:ext cx="9905695" cy="1109472"/>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Write the same eight sentences about someone else</a:t>
            </a:r>
            <a:endParaRPr lang="en-US" sz="2000" dirty="0"/>
          </a:p>
          <a:p>
            <a:pPr indent="0" marL="0">
              <a:lnSpc>
                <a:spcPct val="102000"/>
              </a:lnSpc>
              <a:spcBef>
                <a:spcPts val="300"/>
              </a:spcBef>
              <a:buNone/>
            </a:pPr>
            <a:r>
              <a:rPr lang="en-US" sz="1500" dirty="0">
                <a:solidFill>
                  <a:srgbClr val="3A473F"/>
                </a:solidFill>
                <a:latin typeface="Calibri" pitchFamily="34" charset="0"/>
                <a:ea typeface="Calibri" pitchFamily="34" charset="-122"/>
                <a:cs typeface="Calibri" pitchFamily="34" charset="-120"/>
              </a:rPr>
              <a:t>A family member or a friend. Every verb needs -s. Underline all eight endings.</a:t>
            </a:r>
            <a:endParaRPr lang="en-US" sz="2000" dirty="0"/>
          </a:p>
        </p:txBody>
      </p:sp>
      <p:sp>
        <p:nvSpPr>
          <p:cNvPr id="19" name="Shape 15"/>
          <p:cNvSpPr/>
          <p:nvPr/>
        </p:nvSpPr>
        <p:spPr>
          <a:xfrm>
            <a:off x="548640" y="4687824"/>
            <a:ext cx="11094415" cy="1255776"/>
          </a:xfrm>
          <a:prstGeom prst="roundRect">
            <a:avLst>
              <a:gd name="adj" fmla="val 10194"/>
            </a:avLst>
          </a:prstGeom>
          <a:solidFill>
            <a:srgbClr val="F6F9F7"/>
          </a:solidFill>
          <a:ln w="12700">
            <a:solidFill>
              <a:srgbClr val="E3E9E5"/>
            </a:solidFill>
            <a:prstDash val="solid"/>
          </a:ln>
        </p:spPr>
      </p:sp>
      <p:sp>
        <p:nvSpPr>
          <p:cNvPr id="20" name="Shape 16"/>
          <p:cNvSpPr/>
          <p:nvPr/>
        </p:nvSpPr>
        <p:spPr>
          <a:xfrm>
            <a:off x="786384" y="5087112"/>
            <a:ext cx="457200" cy="457200"/>
          </a:xfrm>
          <a:prstGeom prst="ellipse">
            <a:avLst/>
          </a:prstGeom>
          <a:solidFill>
            <a:srgbClr val="F2A93B"/>
          </a:solidFill>
          <a:ln/>
        </p:spPr>
      </p:sp>
      <p:sp>
        <p:nvSpPr>
          <p:cNvPr id="21" name="Text 17"/>
          <p:cNvSpPr txBox="1"/>
          <p:nvPr/>
        </p:nvSpPr>
        <p:spPr>
          <a:xfrm>
            <a:off x="786384" y="5087112"/>
            <a:ext cx="457200" cy="457200"/>
          </a:xfrm>
          <a:prstGeom prst="rect">
            <a:avLst/>
          </a:prstGeom>
          <a:noFill/>
          <a:ln/>
        </p:spPr>
        <p:txBody>
          <a:bodyPr wrap="square" lIns="0" tIns="0" rIns="0" bIns="0" rtlCol="0" anchor="ctr"/>
          <a:lstStyle/>
          <a:p>
            <a:pPr algn="ctr" indent="0" marL="0">
              <a:buNone/>
            </a:pPr>
            <a:r>
              <a:rPr lang="en-US" sz="1300" b="1" dirty="0">
                <a:solidFill>
                  <a:srgbClr val="0B231C"/>
                </a:solidFill>
                <a:latin typeface="Calibri" pitchFamily="34" charset="0"/>
                <a:ea typeface="Calibri" pitchFamily="34" charset="-122"/>
                <a:cs typeface="Calibri" pitchFamily="34" charset="-120"/>
              </a:rPr>
              <a:t>3</a:t>
            </a:r>
            <a:endParaRPr lang="en-US" sz="1300" dirty="0"/>
          </a:p>
        </p:txBody>
      </p:sp>
      <p:sp>
        <p:nvSpPr>
          <p:cNvPr id="22" name="Text 18"/>
          <p:cNvSpPr/>
          <p:nvPr/>
        </p:nvSpPr>
        <p:spPr>
          <a:xfrm>
            <a:off x="1463040" y="4760976"/>
            <a:ext cx="9905695" cy="1109472"/>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Record your 90-second speaking challenge</a:t>
            </a:r>
            <a:endParaRPr lang="en-US" sz="2000" dirty="0"/>
          </a:p>
          <a:p>
            <a:pPr indent="0" marL="0">
              <a:lnSpc>
                <a:spcPct val="102000"/>
              </a:lnSpc>
              <a:spcBef>
                <a:spcPts val="300"/>
              </a:spcBef>
              <a:buNone/>
            </a:pPr>
            <a:r>
              <a:rPr lang="en-US" sz="1500" dirty="0">
                <a:solidFill>
                  <a:srgbClr val="3A473F"/>
                </a:solidFill>
                <a:latin typeface="Calibri" pitchFamily="34" charset="0"/>
                <a:ea typeface="Calibri" pitchFamily="34" charset="-122"/>
                <a:cs typeface="Calibri" pitchFamily="34" charset="-120"/>
              </a:rPr>
              <a:t>Your routine · three frequency words · two negatives · a family member's routine · two questions.</a:t>
            </a:r>
            <a:endParaRPr lang="en-US" sz="20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F2A93B"/>
          </a:solidFill>
          <a:ln/>
        </p:spPr>
      </p:sp>
      <p:sp>
        <p:nvSpPr>
          <p:cNvPr id="3" name="Shape 1"/>
          <p:cNvSpPr/>
          <p:nvPr/>
        </p:nvSpPr>
        <p:spPr>
          <a:xfrm>
            <a:off x="649224" y="539496"/>
            <a:ext cx="219456" cy="219456"/>
          </a:xfrm>
          <a:prstGeom prst="ellipse">
            <a:avLst/>
          </a:prstGeom>
          <a:solidFill>
            <a:srgbClr val="F2A93B"/>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HOMEWORK</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2600" b="1" dirty="0">
                <a:solidFill>
                  <a:srgbClr val="12211B"/>
                </a:solidFill>
                <a:latin typeface="Calibri" pitchFamily="34" charset="0"/>
                <a:ea typeface="Calibri" pitchFamily="34" charset="-122"/>
                <a:cs typeface="Calibri" pitchFamily="34" charset="-120"/>
              </a:rPr>
              <a:t>How your homework will be marked</a:t>
            </a:r>
            <a:endParaRPr lang="en-US" sz="26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You know the standard before you start.</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1 — Present Simple &amp; Daily Routine</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73</a:t>
            </a:r>
            <a:endParaRPr lang="en-US" sz="1100" dirty="0"/>
          </a:p>
        </p:txBody>
      </p:sp>
      <p:sp>
        <p:nvSpPr>
          <p:cNvPr id="11" name="Shape 7"/>
          <p:cNvSpPr/>
          <p:nvPr/>
        </p:nvSpPr>
        <p:spPr>
          <a:xfrm>
            <a:off x="548640" y="1883664"/>
            <a:ext cx="5446624" cy="1929384"/>
          </a:xfrm>
          <a:prstGeom prst="roundRect">
            <a:avLst>
              <a:gd name="adj" fmla="val 6635"/>
            </a:avLst>
          </a:prstGeom>
          <a:solidFill>
            <a:srgbClr val="FDF3E7"/>
          </a:solidFill>
          <a:ln w="12700">
            <a:solidFill>
              <a:srgbClr val="EFDCB2"/>
            </a:solidFill>
            <a:prstDash val="solid"/>
          </a:ln>
        </p:spPr>
      </p:sp>
      <p:sp>
        <p:nvSpPr>
          <p:cNvPr id="12" name="Shape 8"/>
          <p:cNvSpPr/>
          <p:nvPr/>
        </p:nvSpPr>
        <p:spPr>
          <a:xfrm>
            <a:off x="768096" y="2103120"/>
            <a:ext cx="457200" cy="457200"/>
          </a:xfrm>
          <a:prstGeom prst="ellipse">
            <a:avLst/>
          </a:prstGeom>
          <a:solidFill>
            <a:srgbClr val="F2A93B"/>
          </a:solidFill>
          <a:ln/>
        </p:spPr>
      </p:sp>
      <p:pic>
        <p:nvPicPr>
          <p:cNvPr id="13" name="Image 1" descr="preencoded.png">    </p:cNvPr>
          <p:cNvPicPr>
            <a:picLocks noChangeAspect="1"/>
          </p:cNvPicPr>
          <p:nvPr/>
        </p:nvPicPr>
        <p:blipFill>
          <a:blip r:embed="rId2"/>
          <a:stretch>
            <a:fillRect/>
          </a:stretch>
        </p:blipFill>
        <p:spPr>
          <a:xfrm>
            <a:off x="882396" y="2217420"/>
            <a:ext cx="228600" cy="228600"/>
          </a:xfrm>
          <a:prstGeom prst="rect">
            <a:avLst/>
          </a:prstGeom>
        </p:spPr>
      </p:pic>
      <p:sp>
        <p:nvSpPr>
          <p:cNvPr id="14" name="Text 9"/>
          <p:cNvSpPr/>
          <p:nvPr/>
        </p:nvSpPr>
        <p:spPr>
          <a:xfrm>
            <a:off x="768096" y="2706624"/>
            <a:ext cx="5007712" cy="923544"/>
          </a:xfrm>
          <a:prstGeom prst="rect">
            <a:avLst/>
          </a:prstGeom>
          <a:noFill/>
          <a:ln/>
        </p:spPr>
        <p:txBody>
          <a:bodyPr wrap="square" lIns="0" tIns="0" rIns="0" bIns="0" rtlCol="0" anchor="t"/>
          <a:lstStyle/>
          <a:p>
            <a:pPr indent="0" marL="0">
              <a:lnSpc>
                <a:spcPct val="102000"/>
              </a:lnSpc>
              <a:buNone/>
            </a:pPr>
            <a:r>
              <a:rPr lang="en-US" sz="1500" b="1" dirty="0">
                <a:solidFill>
                  <a:srgbClr val="12211B"/>
                </a:solidFill>
                <a:latin typeface="Calibri" pitchFamily="34" charset="0"/>
                <a:ea typeface="Calibri" pitchFamily="34" charset="-122"/>
                <a:cs typeface="Calibri" pitchFamily="34" charset="-120"/>
              </a:rPr>
              <a:t>“My Day” — 5 marks</a:t>
            </a:r>
            <a:endParaRPr lang="en-US" sz="1500" dirty="0"/>
          </a:p>
          <a:p>
            <a:pPr indent="0" marL="0">
              <a:lnSpc>
                <a:spcPct val="102000"/>
              </a:lnSpc>
              <a:spcBef>
                <a:spcPts val="300"/>
              </a:spcBef>
              <a:buNone/>
            </a:pPr>
            <a:r>
              <a:rPr lang="en-US" sz="1200" dirty="0">
                <a:solidFill>
                  <a:srgbClr val="3A473F"/>
                </a:solidFill>
                <a:latin typeface="Calibri" pitchFamily="34" charset="0"/>
                <a:ea typeface="Calibri" pitchFamily="34" charset="-122"/>
                <a:cs typeface="Calibri" pitchFamily="34" charset="-120"/>
              </a:rPr>
              <a:t>Eight sentences (2) · correct times with at/on/in (2) · three frequency words in the right position (1).</a:t>
            </a:r>
            <a:endParaRPr lang="en-US" sz="1500" dirty="0"/>
          </a:p>
        </p:txBody>
      </p:sp>
      <p:sp>
        <p:nvSpPr>
          <p:cNvPr id="15" name="Shape 10"/>
          <p:cNvSpPr/>
          <p:nvPr/>
        </p:nvSpPr>
        <p:spPr>
          <a:xfrm>
            <a:off x="6196432" y="1883664"/>
            <a:ext cx="5446624" cy="1929384"/>
          </a:xfrm>
          <a:prstGeom prst="roundRect">
            <a:avLst>
              <a:gd name="adj" fmla="val 6635"/>
            </a:avLst>
          </a:prstGeom>
          <a:solidFill>
            <a:srgbClr val="FDF3E7"/>
          </a:solidFill>
          <a:ln w="12700">
            <a:solidFill>
              <a:srgbClr val="EFDCB2"/>
            </a:solidFill>
            <a:prstDash val="solid"/>
          </a:ln>
        </p:spPr>
      </p:sp>
      <p:sp>
        <p:nvSpPr>
          <p:cNvPr id="16" name="Shape 11"/>
          <p:cNvSpPr/>
          <p:nvPr/>
        </p:nvSpPr>
        <p:spPr>
          <a:xfrm>
            <a:off x="6415888" y="2103120"/>
            <a:ext cx="457200" cy="457200"/>
          </a:xfrm>
          <a:prstGeom prst="ellipse">
            <a:avLst/>
          </a:prstGeom>
          <a:solidFill>
            <a:srgbClr val="F2A93B"/>
          </a:solidFill>
          <a:ln/>
        </p:spPr>
      </p:sp>
      <p:pic>
        <p:nvPicPr>
          <p:cNvPr id="17" name="Image 2" descr="preencoded.png">    </p:cNvPr>
          <p:cNvPicPr>
            <a:picLocks noChangeAspect="1"/>
          </p:cNvPicPr>
          <p:nvPr/>
        </p:nvPicPr>
        <p:blipFill>
          <a:blip r:embed="rId3"/>
          <a:stretch>
            <a:fillRect/>
          </a:stretch>
        </p:blipFill>
        <p:spPr>
          <a:xfrm>
            <a:off x="6530188" y="2217420"/>
            <a:ext cx="228600" cy="228600"/>
          </a:xfrm>
          <a:prstGeom prst="rect">
            <a:avLst/>
          </a:prstGeom>
        </p:spPr>
      </p:pic>
      <p:sp>
        <p:nvSpPr>
          <p:cNvPr id="18" name="Text 12"/>
          <p:cNvSpPr/>
          <p:nvPr/>
        </p:nvSpPr>
        <p:spPr>
          <a:xfrm>
            <a:off x="6415888" y="2706624"/>
            <a:ext cx="5007712" cy="923544"/>
          </a:xfrm>
          <a:prstGeom prst="rect">
            <a:avLst/>
          </a:prstGeom>
          <a:noFill/>
          <a:ln/>
        </p:spPr>
        <p:txBody>
          <a:bodyPr wrap="square" lIns="0" tIns="0" rIns="0" bIns="0" rtlCol="0" anchor="t"/>
          <a:lstStyle/>
          <a:p>
            <a:pPr indent="0" marL="0">
              <a:lnSpc>
                <a:spcPct val="102000"/>
              </a:lnSpc>
              <a:buNone/>
            </a:pPr>
            <a:r>
              <a:rPr lang="en-US" sz="1750" b="1" dirty="0">
                <a:solidFill>
                  <a:srgbClr val="12211B"/>
                </a:solidFill>
                <a:latin typeface="Calibri" pitchFamily="34" charset="0"/>
                <a:ea typeface="Calibri" pitchFamily="34" charset="-122"/>
                <a:cs typeface="Calibri" pitchFamily="34" charset="-120"/>
              </a:rPr>
              <a:t>Third-person version — 10 marks</a:t>
            </a:r>
            <a:endParaRPr lang="en-US" sz="1750" dirty="0"/>
          </a:p>
          <a:p>
            <a:pPr indent="0" marL="0">
              <a:lnSpc>
                <a:spcPct val="102000"/>
              </a:lnSpc>
              <a:spcBef>
                <a:spcPts val="350"/>
              </a:spcBef>
              <a:buNone/>
            </a:pPr>
            <a:r>
              <a:rPr lang="en-US" sz="1400" dirty="0">
                <a:solidFill>
                  <a:srgbClr val="3A473F"/>
                </a:solidFill>
                <a:latin typeface="Calibri" pitchFamily="34" charset="0"/>
                <a:ea typeface="Calibri" pitchFamily="34" charset="-122"/>
                <a:cs typeface="Calibri" pitchFamily="34" charset="-120"/>
              </a:rPr>
              <a:t>Eight sentences (2) · -s on every verb (5) · correct spelling of the -s forms (3).</a:t>
            </a:r>
            <a:endParaRPr lang="en-US" sz="1750" dirty="0"/>
          </a:p>
        </p:txBody>
      </p:sp>
      <p:sp>
        <p:nvSpPr>
          <p:cNvPr id="19" name="Shape 13"/>
          <p:cNvSpPr/>
          <p:nvPr/>
        </p:nvSpPr>
        <p:spPr>
          <a:xfrm>
            <a:off x="548640" y="4014216"/>
            <a:ext cx="5446624" cy="1929384"/>
          </a:xfrm>
          <a:prstGeom prst="roundRect">
            <a:avLst>
              <a:gd name="adj" fmla="val 6635"/>
            </a:avLst>
          </a:prstGeom>
          <a:solidFill>
            <a:srgbClr val="FDF3E7"/>
          </a:solidFill>
          <a:ln w="12700">
            <a:solidFill>
              <a:srgbClr val="EFDCB2"/>
            </a:solidFill>
            <a:prstDash val="solid"/>
          </a:ln>
        </p:spPr>
      </p:sp>
      <p:sp>
        <p:nvSpPr>
          <p:cNvPr id="20" name="Shape 14"/>
          <p:cNvSpPr/>
          <p:nvPr/>
        </p:nvSpPr>
        <p:spPr>
          <a:xfrm>
            <a:off x="768096" y="4233672"/>
            <a:ext cx="457200" cy="457200"/>
          </a:xfrm>
          <a:prstGeom prst="ellipse">
            <a:avLst/>
          </a:prstGeom>
          <a:solidFill>
            <a:srgbClr val="F2A93B"/>
          </a:solidFill>
          <a:ln/>
        </p:spPr>
      </p:sp>
      <p:pic>
        <p:nvPicPr>
          <p:cNvPr id="21" name="Image 3" descr="preencoded.png">    </p:cNvPr>
          <p:cNvPicPr>
            <a:picLocks noChangeAspect="1"/>
          </p:cNvPicPr>
          <p:nvPr/>
        </p:nvPicPr>
        <p:blipFill>
          <a:blip r:embed="rId4"/>
          <a:stretch>
            <a:fillRect/>
          </a:stretch>
        </p:blipFill>
        <p:spPr>
          <a:xfrm>
            <a:off x="882396" y="4347972"/>
            <a:ext cx="228600" cy="228600"/>
          </a:xfrm>
          <a:prstGeom prst="rect">
            <a:avLst/>
          </a:prstGeom>
        </p:spPr>
      </p:pic>
      <p:sp>
        <p:nvSpPr>
          <p:cNvPr id="22" name="Text 15"/>
          <p:cNvSpPr/>
          <p:nvPr/>
        </p:nvSpPr>
        <p:spPr>
          <a:xfrm>
            <a:off x="768096" y="4837176"/>
            <a:ext cx="5007712" cy="923544"/>
          </a:xfrm>
          <a:prstGeom prst="rect">
            <a:avLst/>
          </a:prstGeom>
          <a:noFill/>
          <a:ln/>
        </p:spPr>
        <p:txBody>
          <a:bodyPr wrap="square" lIns="0" tIns="0" rIns="0" bIns="0" rtlCol="0" anchor="t"/>
          <a:lstStyle/>
          <a:p>
            <a:pPr indent="0" marL="0">
              <a:lnSpc>
                <a:spcPct val="102000"/>
              </a:lnSpc>
              <a:buNone/>
            </a:pPr>
            <a:r>
              <a:rPr lang="en-US" sz="1500" b="1" dirty="0">
                <a:solidFill>
                  <a:srgbClr val="12211B"/>
                </a:solidFill>
                <a:latin typeface="Calibri" pitchFamily="34" charset="0"/>
                <a:ea typeface="Calibri" pitchFamily="34" charset="-122"/>
                <a:cs typeface="Calibri" pitchFamily="34" charset="-120"/>
              </a:rPr>
              <a:t>Recording — 10 marks</a:t>
            </a:r>
            <a:endParaRPr lang="en-US" sz="1500" dirty="0"/>
          </a:p>
          <a:p>
            <a:pPr indent="0" marL="0">
              <a:lnSpc>
                <a:spcPct val="102000"/>
              </a:lnSpc>
              <a:spcBef>
                <a:spcPts val="300"/>
              </a:spcBef>
              <a:buNone/>
            </a:pPr>
            <a:r>
              <a:rPr lang="en-US" sz="1200" dirty="0">
                <a:solidFill>
                  <a:srgbClr val="3A473F"/>
                </a:solidFill>
                <a:latin typeface="Calibri" pitchFamily="34" charset="0"/>
                <a:ea typeface="Calibri" pitchFamily="34" charset="-122"/>
                <a:cs typeface="Calibri" pitchFamily="34" charset="-120"/>
              </a:rPr>
              <a:t>All five parts (3) · -s throughout the third-person section (4) · no -s after do or does (2) · understandable (1).</a:t>
            </a:r>
            <a:endParaRPr lang="en-US" sz="1500" dirty="0"/>
          </a:p>
        </p:txBody>
      </p:sp>
      <p:sp>
        <p:nvSpPr>
          <p:cNvPr id="23" name="Shape 16"/>
          <p:cNvSpPr/>
          <p:nvPr/>
        </p:nvSpPr>
        <p:spPr>
          <a:xfrm>
            <a:off x="6196432" y="4014216"/>
            <a:ext cx="5446624" cy="1929384"/>
          </a:xfrm>
          <a:prstGeom prst="roundRect">
            <a:avLst>
              <a:gd name="adj" fmla="val 6635"/>
            </a:avLst>
          </a:prstGeom>
          <a:solidFill>
            <a:srgbClr val="FDF3E7"/>
          </a:solidFill>
          <a:ln w="12700">
            <a:solidFill>
              <a:srgbClr val="EFDCB2"/>
            </a:solidFill>
            <a:prstDash val="solid"/>
          </a:ln>
        </p:spPr>
      </p:sp>
      <p:sp>
        <p:nvSpPr>
          <p:cNvPr id="24" name="Shape 17"/>
          <p:cNvSpPr/>
          <p:nvPr/>
        </p:nvSpPr>
        <p:spPr>
          <a:xfrm>
            <a:off x="6415888" y="4233672"/>
            <a:ext cx="457200" cy="457200"/>
          </a:xfrm>
          <a:prstGeom prst="ellipse">
            <a:avLst/>
          </a:prstGeom>
          <a:solidFill>
            <a:srgbClr val="F2A93B"/>
          </a:solidFill>
          <a:ln/>
        </p:spPr>
      </p:sp>
      <p:pic>
        <p:nvPicPr>
          <p:cNvPr id="25" name="Image 4" descr="preencoded.png">    </p:cNvPr>
          <p:cNvPicPr>
            <a:picLocks noChangeAspect="1"/>
          </p:cNvPicPr>
          <p:nvPr/>
        </p:nvPicPr>
        <p:blipFill>
          <a:blip r:embed="rId5"/>
          <a:stretch>
            <a:fillRect/>
          </a:stretch>
        </p:blipFill>
        <p:spPr>
          <a:xfrm>
            <a:off x="6530188" y="4347972"/>
            <a:ext cx="228600" cy="228600"/>
          </a:xfrm>
          <a:prstGeom prst="rect">
            <a:avLst/>
          </a:prstGeom>
        </p:spPr>
      </p:pic>
      <p:sp>
        <p:nvSpPr>
          <p:cNvPr id="26" name="Text 18"/>
          <p:cNvSpPr/>
          <p:nvPr/>
        </p:nvSpPr>
        <p:spPr>
          <a:xfrm>
            <a:off x="6415888" y="4837176"/>
            <a:ext cx="5007712" cy="923544"/>
          </a:xfrm>
          <a:prstGeom prst="rect">
            <a:avLst/>
          </a:prstGeom>
          <a:noFill/>
          <a:ln/>
        </p:spPr>
        <p:txBody>
          <a:bodyPr wrap="square" lIns="0" tIns="0" rIns="0" bIns="0" rtlCol="0" anchor="t"/>
          <a:lstStyle/>
          <a:p>
            <a:pPr indent="0" marL="0">
              <a:lnSpc>
                <a:spcPct val="102000"/>
              </a:lnSpc>
              <a:buNone/>
            </a:pPr>
            <a:r>
              <a:rPr lang="en-US" sz="1500" b="1" dirty="0">
                <a:solidFill>
                  <a:srgbClr val="12211B"/>
                </a:solidFill>
                <a:latin typeface="Calibri" pitchFamily="34" charset="0"/>
                <a:ea typeface="Calibri" pitchFamily="34" charset="-122"/>
                <a:cs typeface="Calibri" pitchFamily="34" charset="-120"/>
              </a:rPr>
              <a:t>Total — 25 marks</a:t>
            </a:r>
            <a:endParaRPr lang="en-US" sz="1500" dirty="0"/>
          </a:p>
          <a:p>
            <a:pPr indent="0" marL="0">
              <a:lnSpc>
                <a:spcPct val="102000"/>
              </a:lnSpc>
              <a:spcBef>
                <a:spcPts val="300"/>
              </a:spcBef>
              <a:buNone/>
            </a:pPr>
            <a:r>
              <a:rPr lang="en-US" sz="1200" dirty="0">
                <a:solidFill>
                  <a:srgbClr val="3A473F"/>
                </a:solidFill>
                <a:latin typeface="Calibri" pitchFamily="34" charset="0"/>
                <a:ea typeface="Calibri" pitchFamily="34" charset="-122"/>
                <a:cs typeface="Calibri" pitchFamily="34" charset="-120"/>
              </a:rPr>
              <a:t>20+ excellent · 15–19 good · 10–14 keep practising · below 10 → repeat Exercises A–F with your teacher.</a:t>
            </a:r>
            <a:endParaRPr lang="en-US" sz="15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SUMMARY</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2600" b="1" dirty="0">
                <a:solidFill>
                  <a:srgbClr val="12211B"/>
                </a:solidFill>
                <a:latin typeface="Calibri" pitchFamily="34" charset="0"/>
                <a:ea typeface="Calibri" pitchFamily="34" charset="-122"/>
                <a:cs typeface="Calibri" pitchFamily="34" charset="-120"/>
              </a:rPr>
              <a:t>What you learned in this module</a:t>
            </a:r>
            <a:endParaRPr lang="en-US" sz="26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Six things. Check each one — can you do it?</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1 — Present Simple &amp; Daily Routine</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74</a:t>
            </a:r>
            <a:endParaRPr lang="en-US" sz="1100" dirty="0"/>
          </a:p>
        </p:txBody>
      </p:sp>
      <p:sp>
        <p:nvSpPr>
          <p:cNvPr id="11" name="Shape 7"/>
          <p:cNvSpPr/>
          <p:nvPr/>
        </p:nvSpPr>
        <p:spPr>
          <a:xfrm>
            <a:off x="548640" y="1883664"/>
            <a:ext cx="3564026" cy="1929384"/>
          </a:xfrm>
          <a:prstGeom prst="roundRect">
            <a:avLst>
              <a:gd name="adj" fmla="val 6635"/>
            </a:avLst>
          </a:prstGeom>
          <a:solidFill>
            <a:srgbClr val="F6F9F7"/>
          </a:solidFill>
          <a:ln w="12700">
            <a:solidFill>
              <a:srgbClr val="E3E9E5"/>
            </a:solidFill>
            <a:prstDash val="solid"/>
          </a:ln>
        </p:spPr>
      </p:sp>
      <p:sp>
        <p:nvSpPr>
          <p:cNvPr id="12" name="Shape 8"/>
          <p:cNvSpPr/>
          <p:nvPr/>
        </p:nvSpPr>
        <p:spPr>
          <a:xfrm>
            <a:off x="768096" y="2103120"/>
            <a:ext cx="457200" cy="457200"/>
          </a:xfrm>
          <a:prstGeom prst="ellipse">
            <a:avLst/>
          </a:prstGeom>
          <a:solidFill>
            <a:srgbClr val="0E7C5A"/>
          </a:solidFill>
          <a:ln/>
        </p:spPr>
      </p:sp>
      <p:pic>
        <p:nvPicPr>
          <p:cNvPr id="13" name="Image 1" descr="preencoded.png">    </p:cNvPr>
          <p:cNvPicPr>
            <a:picLocks noChangeAspect="1"/>
          </p:cNvPicPr>
          <p:nvPr/>
        </p:nvPicPr>
        <p:blipFill>
          <a:blip r:embed="rId2"/>
          <a:stretch>
            <a:fillRect/>
          </a:stretch>
        </p:blipFill>
        <p:spPr>
          <a:xfrm>
            <a:off x="882396" y="2217420"/>
            <a:ext cx="228600" cy="228600"/>
          </a:xfrm>
          <a:prstGeom prst="rect">
            <a:avLst/>
          </a:prstGeom>
        </p:spPr>
      </p:pic>
      <p:sp>
        <p:nvSpPr>
          <p:cNvPr id="14" name="Text 9"/>
          <p:cNvSpPr/>
          <p:nvPr/>
        </p:nvSpPr>
        <p:spPr>
          <a:xfrm>
            <a:off x="768096" y="2706624"/>
            <a:ext cx="3125114" cy="923544"/>
          </a:xfrm>
          <a:prstGeom prst="rect">
            <a:avLst/>
          </a:prstGeom>
          <a:noFill/>
          <a:ln/>
        </p:spPr>
        <p:txBody>
          <a:bodyPr wrap="square" lIns="0" tIns="0" rIns="0" bIns="0" rtlCol="0" anchor="t"/>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The present simple</a:t>
            </a:r>
            <a:endParaRPr lang="en-US" sz="1600" dirty="0"/>
          </a:p>
          <a:p>
            <a:pPr indent="0" marL="0">
              <a:lnSpc>
                <a:spcPct val="102000"/>
              </a:lnSpc>
              <a:spcBef>
                <a:spcPts val="320"/>
              </a:spcBef>
              <a:buNone/>
            </a:pPr>
            <a:r>
              <a:rPr lang="en-US" sz="1200" dirty="0">
                <a:solidFill>
                  <a:srgbClr val="3A473F"/>
                </a:solidFill>
                <a:latin typeface="Calibri" pitchFamily="34" charset="0"/>
                <a:ea typeface="Calibri" pitchFamily="34" charset="-122"/>
                <a:cs typeface="Calibri" pitchFamily="34" charset="-120"/>
              </a:rPr>
              <a:t>For habits, routines and facts — not for what is happening now.</a:t>
            </a:r>
            <a:endParaRPr lang="en-US" sz="1600" dirty="0"/>
          </a:p>
        </p:txBody>
      </p:sp>
      <p:sp>
        <p:nvSpPr>
          <p:cNvPr id="15" name="Shape 10"/>
          <p:cNvSpPr/>
          <p:nvPr/>
        </p:nvSpPr>
        <p:spPr>
          <a:xfrm>
            <a:off x="4313834" y="1883664"/>
            <a:ext cx="3564026" cy="1929384"/>
          </a:xfrm>
          <a:prstGeom prst="roundRect">
            <a:avLst>
              <a:gd name="adj" fmla="val 6635"/>
            </a:avLst>
          </a:prstGeom>
          <a:solidFill>
            <a:srgbClr val="F6F9F7"/>
          </a:solidFill>
          <a:ln w="12700">
            <a:solidFill>
              <a:srgbClr val="E3E9E5"/>
            </a:solidFill>
            <a:prstDash val="solid"/>
          </a:ln>
        </p:spPr>
      </p:sp>
      <p:sp>
        <p:nvSpPr>
          <p:cNvPr id="16" name="Shape 11"/>
          <p:cNvSpPr/>
          <p:nvPr/>
        </p:nvSpPr>
        <p:spPr>
          <a:xfrm>
            <a:off x="4533290" y="2103120"/>
            <a:ext cx="457200" cy="457200"/>
          </a:xfrm>
          <a:prstGeom prst="ellipse">
            <a:avLst/>
          </a:prstGeom>
          <a:solidFill>
            <a:srgbClr val="0E7C5A"/>
          </a:solidFill>
          <a:ln/>
        </p:spPr>
      </p:sp>
      <p:pic>
        <p:nvPicPr>
          <p:cNvPr id="17" name="Image 2" descr="preencoded.png">    </p:cNvPr>
          <p:cNvPicPr>
            <a:picLocks noChangeAspect="1"/>
          </p:cNvPicPr>
          <p:nvPr/>
        </p:nvPicPr>
        <p:blipFill>
          <a:blip r:embed="rId3"/>
          <a:stretch>
            <a:fillRect/>
          </a:stretch>
        </p:blipFill>
        <p:spPr>
          <a:xfrm>
            <a:off x="4647590" y="2217420"/>
            <a:ext cx="228600" cy="228600"/>
          </a:xfrm>
          <a:prstGeom prst="rect">
            <a:avLst/>
          </a:prstGeom>
        </p:spPr>
      </p:pic>
      <p:sp>
        <p:nvSpPr>
          <p:cNvPr id="18" name="Text 12"/>
          <p:cNvSpPr/>
          <p:nvPr/>
        </p:nvSpPr>
        <p:spPr>
          <a:xfrm>
            <a:off x="4533290" y="2706624"/>
            <a:ext cx="3125114" cy="923544"/>
          </a:xfrm>
          <a:prstGeom prst="rect">
            <a:avLst/>
          </a:prstGeom>
          <a:noFill/>
          <a:ln/>
        </p:spPr>
        <p:txBody>
          <a:bodyPr wrap="square" lIns="0" tIns="0" rIns="0" bIns="0" rtlCol="0" anchor="t"/>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The -s ending</a:t>
            </a:r>
            <a:endParaRPr lang="en-US" sz="1600" dirty="0"/>
          </a:p>
          <a:p>
            <a:pPr indent="0" marL="0">
              <a:lnSpc>
                <a:spcPct val="102000"/>
              </a:lnSpc>
              <a:spcBef>
                <a:spcPts val="320"/>
              </a:spcBef>
              <a:buNone/>
            </a:pPr>
            <a:r>
              <a:rPr lang="en-US" sz="1200" dirty="0">
                <a:solidFill>
                  <a:srgbClr val="3A473F"/>
                </a:solidFill>
                <a:latin typeface="Calibri" pitchFamily="34" charset="0"/>
                <a:ea typeface="Calibri" pitchFamily="34" charset="-122"/>
                <a:cs typeface="Calibri" pitchFamily="34" charset="-120"/>
              </a:rPr>
              <a:t>He, she and it add -s. Nothing else does. The most corrected error in English.</a:t>
            </a:r>
            <a:endParaRPr lang="en-US" sz="1600" dirty="0"/>
          </a:p>
        </p:txBody>
      </p:sp>
      <p:sp>
        <p:nvSpPr>
          <p:cNvPr id="19" name="Shape 13"/>
          <p:cNvSpPr/>
          <p:nvPr/>
        </p:nvSpPr>
        <p:spPr>
          <a:xfrm>
            <a:off x="8079029" y="1883664"/>
            <a:ext cx="3564026" cy="1929384"/>
          </a:xfrm>
          <a:prstGeom prst="roundRect">
            <a:avLst>
              <a:gd name="adj" fmla="val 6635"/>
            </a:avLst>
          </a:prstGeom>
          <a:solidFill>
            <a:srgbClr val="F6F9F7"/>
          </a:solidFill>
          <a:ln w="12700">
            <a:solidFill>
              <a:srgbClr val="E3E9E5"/>
            </a:solidFill>
            <a:prstDash val="solid"/>
          </a:ln>
        </p:spPr>
      </p:sp>
      <p:sp>
        <p:nvSpPr>
          <p:cNvPr id="20" name="Shape 14"/>
          <p:cNvSpPr/>
          <p:nvPr/>
        </p:nvSpPr>
        <p:spPr>
          <a:xfrm>
            <a:off x="8298485" y="2103120"/>
            <a:ext cx="457200" cy="457200"/>
          </a:xfrm>
          <a:prstGeom prst="ellipse">
            <a:avLst/>
          </a:prstGeom>
          <a:solidFill>
            <a:srgbClr val="0E7C5A"/>
          </a:solidFill>
          <a:ln/>
        </p:spPr>
      </p:sp>
      <p:pic>
        <p:nvPicPr>
          <p:cNvPr id="21" name="Image 3" descr="preencoded.png">    </p:cNvPr>
          <p:cNvPicPr>
            <a:picLocks noChangeAspect="1"/>
          </p:cNvPicPr>
          <p:nvPr/>
        </p:nvPicPr>
        <p:blipFill>
          <a:blip r:embed="rId4"/>
          <a:stretch>
            <a:fillRect/>
          </a:stretch>
        </p:blipFill>
        <p:spPr>
          <a:xfrm>
            <a:off x="8412785" y="2217420"/>
            <a:ext cx="228600" cy="228600"/>
          </a:xfrm>
          <a:prstGeom prst="rect">
            <a:avLst/>
          </a:prstGeom>
        </p:spPr>
      </p:pic>
      <p:sp>
        <p:nvSpPr>
          <p:cNvPr id="22" name="Text 15"/>
          <p:cNvSpPr/>
          <p:nvPr/>
        </p:nvSpPr>
        <p:spPr>
          <a:xfrm>
            <a:off x="8298485" y="2706624"/>
            <a:ext cx="3125114" cy="923544"/>
          </a:xfrm>
          <a:prstGeom prst="rect">
            <a:avLst/>
          </a:prstGeom>
          <a:noFill/>
          <a:ln/>
        </p:spPr>
        <p:txBody>
          <a:bodyPr wrap="square" lIns="0" tIns="0" rIns="0" bIns="0" rtlCol="0" anchor="t"/>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The spelling rules</a:t>
            </a:r>
            <a:endParaRPr lang="en-US" sz="1600" dirty="0"/>
          </a:p>
          <a:p>
            <a:pPr indent="0" marL="0">
              <a:lnSpc>
                <a:spcPct val="102000"/>
              </a:lnSpc>
              <a:spcBef>
                <a:spcPts val="320"/>
              </a:spcBef>
              <a:buNone/>
            </a:pPr>
            <a:r>
              <a:rPr lang="en-US" sz="1200" dirty="0">
                <a:solidFill>
                  <a:srgbClr val="3A473F"/>
                </a:solidFill>
                <a:latin typeface="Calibri" pitchFamily="34" charset="0"/>
                <a:ea typeface="Calibri" pitchFamily="34" charset="-122"/>
                <a:cs typeface="Calibri" pitchFamily="34" charset="-120"/>
              </a:rPr>
              <a:t>-s · -es after ch, sh, s, x, o · -ies after consonant + y · and “has”.</a:t>
            </a:r>
            <a:endParaRPr lang="en-US" sz="1600" dirty="0"/>
          </a:p>
        </p:txBody>
      </p:sp>
      <p:sp>
        <p:nvSpPr>
          <p:cNvPr id="23" name="Shape 16"/>
          <p:cNvSpPr/>
          <p:nvPr/>
        </p:nvSpPr>
        <p:spPr>
          <a:xfrm>
            <a:off x="548640" y="4014216"/>
            <a:ext cx="3564026" cy="1929384"/>
          </a:xfrm>
          <a:prstGeom prst="roundRect">
            <a:avLst>
              <a:gd name="adj" fmla="val 6635"/>
            </a:avLst>
          </a:prstGeom>
          <a:solidFill>
            <a:srgbClr val="F6F9F7"/>
          </a:solidFill>
          <a:ln w="12700">
            <a:solidFill>
              <a:srgbClr val="E3E9E5"/>
            </a:solidFill>
            <a:prstDash val="solid"/>
          </a:ln>
        </p:spPr>
      </p:sp>
      <p:sp>
        <p:nvSpPr>
          <p:cNvPr id="24" name="Shape 17"/>
          <p:cNvSpPr/>
          <p:nvPr/>
        </p:nvSpPr>
        <p:spPr>
          <a:xfrm>
            <a:off x="768096" y="4233672"/>
            <a:ext cx="457200" cy="457200"/>
          </a:xfrm>
          <a:prstGeom prst="ellipse">
            <a:avLst/>
          </a:prstGeom>
          <a:solidFill>
            <a:srgbClr val="0E7C5A"/>
          </a:solidFill>
          <a:ln/>
        </p:spPr>
      </p:sp>
      <p:pic>
        <p:nvPicPr>
          <p:cNvPr id="25" name="Image 4" descr="preencoded.png">    </p:cNvPr>
          <p:cNvPicPr>
            <a:picLocks noChangeAspect="1"/>
          </p:cNvPicPr>
          <p:nvPr/>
        </p:nvPicPr>
        <p:blipFill>
          <a:blip r:embed="rId5"/>
          <a:stretch>
            <a:fillRect/>
          </a:stretch>
        </p:blipFill>
        <p:spPr>
          <a:xfrm>
            <a:off x="882396" y="4347972"/>
            <a:ext cx="228600" cy="228600"/>
          </a:xfrm>
          <a:prstGeom prst="rect">
            <a:avLst/>
          </a:prstGeom>
        </p:spPr>
      </p:pic>
      <p:sp>
        <p:nvSpPr>
          <p:cNvPr id="26" name="Text 18"/>
          <p:cNvSpPr/>
          <p:nvPr/>
        </p:nvSpPr>
        <p:spPr>
          <a:xfrm>
            <a:off x="768096" y="4837176"/>
            <a:ext cx="3125114" cy="923544"/>
          </a:xfrm>
          <a:prstGeom prst="rect">
            <a:avLst/>
          </a:prstGeom>
          <a:noFill/>
          <a:ln/>
        </p:spPr>
        <p:txBody>
          <a:bodyPr wrap="square" lIns="0" tIns="0" rIns="0" bIns="0" rtlCol="0" anchor="t"/>
          <a:lstStyle/>
          <a:p>
            <a:pPr indent="0" marL="0">
              <a:lnSpc>
                <a:spcPct val="102000"/>
              </a:lnSpc>
              <a:buNone/>
            </a:pPr>
            <a:r>
              <a:rPr lang="en-US" sz="1750" b="1" dirty="0">
                <a:solidFill>
                  <a:srgbClr val="12211B"/>
                </a:solidFill>
                <a:latin typeface="Calibri" pitchFamily="34" charset="0"/>
                <a:ea typeface="Calibri" pitchFamily="34" charset="-122"/>
                <a:cs typeface="Calibri" pitchFamily="34" charset="-120"/>
              </a:rPr>
              <a:t>Negatives</a:t>
            </a:r>
            <a:endParaRPr lang="en-US" sz="1750" dirty="0"/>
          </a:p>
          <a:p>
            <a:pPr indent="0" marL="0">
              <a:lnSpc>
                <a:spcPct val="102000"/>
              </a:lnSpc>
              <a:spcBef>
                <a:spcPts val="350"/>
              </a:spcBef>
              <a:buNone/>
            </a:pPr>
            <a:r>
              <a:rPr lang="en-US" sz="1310" dirty="0">
                <a:solidFill>
                  <a:srgbClr val="3A473F"/>
                </a:solidFill>
                <a:latin typeface="Calibri" pitchFamily="34" charset="0"/>
                <a:ea typeface="Calibri" pitchFamily="34" charset="-122"/>
                <a:cs typeface="Calibri" pitchFamily="34" charset="-120"/>
              </a:rPr>
              <a:t>do not · does not — and the main verb loses its -s.</a:t>
            </a:r>
            <a:endParaRPr lang="en-US" sz="1750" dirty="0"/>
          </a:p>
        </p:txBody>
      </p:sp>
      <p:sp>
        <p:nvSpPr>
          <p:cNvPr id="27" name="Shape 19"/>
          <p:cNvSpPr/>
          <p:nvPr/>
        </p:nvSpPr>
        <p:spPr>
          <a:xfrm>
            <a:off x="4313834" y="4014216"/>
            <a:ext cx="3564026" cy="1929384"/>
          </a:xfrm>
          <a:prstGeom prst="roundRect">
            <a:avLst>
              <a:gd name="adj" fmla="val 6635"/>
            </a:avLst>
          </a:prstGeom>
          <a:solidFill>
            <a:srgbClr val="F6F9F7"/>
          </a:solidFill>
          <a:ln w="12700">
            <a:solidFill>
              <a:srgbClr val="E3E9E5"/>
            </a:solidFill>
            <a:prstDash val="solid"/>
          </a:ln>
        </p:spPr>
      </p:sp>
      <p:sp>
        <p:nvSpPr>
          <p:cNvPr id="28" name="Shape 20"/>
          <p:cNvSpPr/>
          <p:nvPr/>
        </p:nvSpPr>
        <p:spPr>
          <a:xfrm>
            <a:off x="4533290" y="4233672"/>
            <a:ext cx="457200" cy="457200"/>
          </a:xfrm>
          <a:prstGeom prst="ellipse">
            <a:avLst/>
          </a:prstGeom>
          <a:solidFill>
            <a:srgbClr val="0E7C5A"/>
          </a:solidFill>
          <a:ln/>
        </p:spPr>
      </p:sp>
      <p:pic>
        <p:nvPicPr>
          <p:cNvPr id="29" name="Image 5" descr="preencoded.png">    </p:cNvPr>
          <p:cNvPicPr>
            <a:picLocks noChangeAspect="1"/>
          </p:cNvPicPr>
          <p:nvPr/>
        </p:nvPicPr>
        <p:blipFill>
          <a:blip r:embed="rId6"/>
          <a:stretch>
            <a:fillRect/>
          </a:stretch>
        </p:blipFill>
        <p:spPr>
          <a:xfrm>
            <a:off x="4647590" y="4347972"/>
            <a:ext cx="228600" cy="228600"/>
          </a:xfrm>
          <a:prstGeom prst="rect">
            <a:avLst/>
          </a:prstGeom>
        </p:spPr>
      </p:pic>
      <p:sp>
        <p:nvSpPr>
          <p:cNvPr id="30" name="Text 21"/>
          <p:cNvSpPr/>
          <p:nvPr/>
        </p:nvSpPr>
        <p:spPr>
          <a:xfrm>
            <a:off x="4533290" y="4837176"/>
            <a:ext cx="3125114" cy="923544"/>
          </a:xfrm>
          <a:prstGeom prst="rect">
            <a:avLst/>
          </a:prstGeom>
          <a:noFill/>
          <a:ln/>
        </p:spPr>
        <p:txBody>
          <a:bodyPr wrap="square" lIns="0" tIns="0" rIns="0" bIns="0" rtlCol="0" anchor="t"/>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Questions</a:t>
            </a:r>
            <a:endParaRPr lang="en-US" sz="1600" dirty="0"/>
          </a:p>
          <a:p>
            <a:pPr indent="0" marL="0">
              <a:lnSpc>
                <a:spcPct val="102000"/>
              </a:lnSpc>
              <a:spcBef>
                <a:spcPts val="320"/>
              </a:spcBef>
              <a:buNone/>
            </a:pPr>
            <a:r>
              <a:rPr lang="en-US" sz="1200" dirty="0">
                <a:solidFill>
                  <a:srgbClr val="3A473F"/>
                </a:solidFill>
                <a:latin typeface="Calibri" pitchFamily="34" charset="0"/>
                <a:ea typeface="Calibri" pitchFamily="34" charset="-122"/>
                <a:cs typeface="Calibri" pitchFamily="34" charset="-120"/>
              </a:rPr>
              <a:t>Do · Does at the front, base verb after. “Does she work here?”</a:t>
            </a:r>
            <a:endParaRPr lang="en-US" sz="1600" dirty="0"/>
          </a:p>
        </p:txBody>
      </p:sp>
      <p:sp>
        <p:nvSpPr>
          <p:cNvPr id="31" name="Shape 22"/>
          <p:cNvSpPr/>
          <p:nvPr/>
        </p:nvSpPr>
        <p:spPr>
          <a:xfrm>
            <a:off x="8079029" y="4014216"/>
            <a:ext cx="3564026" cy="1929384"/>
          </a:xfrm>
          <a:prstGeom prst="roundRect">
            <a:avLst>
              <a:gd name="adj" fmla="val 6635"/>
            </a:avLst>
          </a:prstGeom>
          <a:solidFill>
            <a:srgbClr val="F6F9F7"/>
          </a:solidFill>
          <a:ln w="12700">
            <a:solidFill>
              <a:srgbClr val="E3E9E5"/>
            </a:solidFill>
            <a:prstDash val="solid"/>
          </a:ln>
        </p:spPr>
      </p:sp>
      <p:sp>
        <p:nvSpPr>
          <p:cNvPr id="32" name="Shape 23"/>
          <p:cNvSpPr/>
          <p:nvPr/>
        </p:nvSpPr>
        <p:spPr>
          <a:xfrm>
            <a:off x="8298485" y="4233672"/>
            <a:ext cx="457200" cy="457200"/>
          </a:xfrm>
          <a:prstGeom prst="ellipse">
            <a:avLst/>
          </a:prstGeom>
          <a:solidFill>
            <a:srgbClr val="0E7C5A"/>
          </a:solidFill>
          <a:ln/>
        </p:spPr>
      </p:sp>
      <p:pic>
        <p:nvPicPr>
          <p:cNvPr id="33" name="Image 6" descr="preencoded.png">    </p:cNvPr>
          <p:cNvPicPr>
            <a:picLocks noChangeAspect="1"/>
          </p:cNvPicPr>
          <p:nvPr/>
        </p:nvPicPr>
        <p:blipFill>
          <a:blip r:embed="rId7"/>
          <a:stretch>
            <a:fillRect/>
          </a:stretch>
        </p:blipFill>
        <p:spPr>
          <a:xfrm>
            <a:off x="8412785" y="4347972"/>
            <a:ext cx="228600" cy="228600"/>
          </a:xfrm>
          <a:prstGeom prst="rect">
            <a:avLst/>
          </a:prstGeom>
        </p:spPr>
      </p:pic>
      <p:sp>
        <p:nvSpPr>
          <p:cNvPr id="34" name="Text 24"/>
          <p:cNvSpPr/>
          <p:nvPr/>
        </p:nvSpPr>
        <p:spPr>
          <a:xfrm>
            <a:off x="8298485" y="4837176"/>
            <a:ext cx="3125114" cy="923544"/>
          </a:xfrm>
          <a:prstGeom prst="rect">
            <a:avLst/>
          </a:prstGeom>
          <a:noFill/>
          <a:ln/>
        </p:spPr>
        <p:txBody>
          <a:bodyPr wrap="square" lIns="0" tIns="0" rIns="0" bIns="0" rtlCol="0" anchor="t"/>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Frequency words</a:t>
            </a:r>
            <a:endParaRPr lang="en-US" sz="1600" dirty="0"/>
          </a:p>
          <a:p>
            <a:pPr indent="0" marL="0">
              <a:lnSpc>
                <a:spcPct val="102000"/>
              </a:lnSpc>
              <a:spcBef>
                <a:spcPts val="320"/>
              </a:spcBef>
              <a:buNone/>
            </a:pPr>
            <a:r>
              <a:rPr lang="en-US" sz="1200" dirty="0">
                <a:solidFill>
                  <a:srgbClr val="3A473F"/>
                </a:solidFill>
                <a:latin typeface="Calibri" pitchFamily="34" charset="0"/>
                <a:ea typeface="Calibri" pitchFamily="34" charset="-122"/>
                <a:cs typeface="Calibri" pitchFamily="34" charset="-120"/>
              </a:rPr>
              <a:t>always · usually · often · sometimes · never — before the verb.</a:t>
            </a:r>
            <a:endParaRPr lang="en-US" sz="16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SUMMARY</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2600" b="1" dirty="0">
                <a:solidFill>
                  <a:srgbClr val="12211B"/>
                </a:solidFill>
                <a:latin typeface="Calibri" pitchFamily="34" charset="0"/>
                <a:ea typeface="Calibri" pitchFamily="34" charset="-122"/>
                <a:cs typeface="Calibri" pitchFamily="34" charset="-120"/>
              </a:rPr>
              <a:t>Keep these where you can see them</a:t>
            </a:r>
            <a:endParaRPr lang="en-US" sz="26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The language you must be able to produce, not just recognise.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1 — Present Simple &amp; Daily Routine</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75</a:t>
            </a:r>
            <a:endParaRPr lang="en-US" sz="1100" dirty="0"/>
          </a:p>
        </p:txBody>
      </p:sp>
      <p:sp>
        <p:nvSpPr>
          <p:cNvPr id="11" name="Shape 7"/>
          <p:cNvSpPr/>
          <p:nvPr/>
        </p:nvSpPr>
        <p:spPr>
          <a:xfrm>
            <a:off x="548640" y="1883664"/>
            <a:ext cx="5446624" cy="1929384"/>
          </a:xfrm>
          <a:prstGeom prst="roundRect">
            <a:avLst>
              <a:gd name="adj" fmla="val 6635"/>
            </a:avLst>
          </a:prstGeom>
          <a:solidFill>
            <a:srgbClr val="E7F3EF"/>
          </a:solidFill>
          <a:ln w="12700">
            <a:solidFill>
              <a:srgbClr val="C4E0D5"/>
            </a:solidFill>
            <a:prstDash val="solid"/>
          </a:ln>
        </p:spPr>
      </p:sp>
      <p:sp>
        <p:nvSpPr>
          <p:cNvPr id="12" name="Shape 8"/>
          <p:cNvSpPr/>
          <p:nvPr/>
        </p:nvSpPr>
        <p:spPr>
          <a:xfrm>
            <a:off x="768096" y="2121408"/>
            <a:ext cx="384048" cy="384048"/>
          </a:xfrm>
          <a:prstGeom prst="ellipse">
            <a:avLst/>
          </a:prstGeom>
          <a:solidFill>
            <a:srgbClr val="0E7C5A"/>
          </a:solidFill>
          <a:ln/>
        </p:spPr>
      </p:sp>
      <p:pic>
        <p:nvPicPr>
          <p:cNvPr id="13" name="Image 1" descr="preencoded.png">    </p:cNvPr>
          <p:cNvPicPr>
            <a:picLocks noChangeAspect="1"/>
          </p:cNvPicPr>
          <p:nvPr/>
        </p:nvPicPr>
        <p:blipFill>
          <a:blip r:embed="rId2"/>
          <a:stretch>
            <a:fillRect/>
          </a:stretch>
        </p:blipFill>
        <p:spPr>
          <a:xfrm>
            <a:off x="864108" y="2217420"/>
            <a:ext cx="192024" cy="192024"/>
          </a:xfrm>
          <a:prstGeom prst="rect">
            <a:avLst/>
          </a:prstGeom>
        </p:spPr>
      </p:pic>
      <p:sp>
        <p:nvSpPr>
          <p:cNvPr id="14" name="Text 9"/>
          <p:cNvSpPr txBox="1"/>
          <p:nvPr/>
        </p:nvSpPr>
        <p:spPr>
          <a:xfrm>
            <a:off x="1261872" y="2103120"/>
            <a:ext cx="4513936" cy="420624"/>
          </a:xfrm>
          <a:prstGeom prst="rect">
            <a:avLst/>
          </a:prstGeom>
          <a:noFill/>
          <a:ln/>
        </p:spPr>
        <p:txBody>
          <a:bodyPr wrap="square" lIns="0" tIns="0" rIns="0" bIns="0" rtlCol="0" anchor="ctr"/>
          <a:lstStyle/>
          <a:p>
            <a:pPr indent="0" marL="0">
              <a:buNone/>
            </a:pPr>
            <a:r>
              <a:rPr lang="en-US" sz="2000" b="1" dirty="0">
                <a:solidFill>
                  <a:srgbClr val="12211B"/>
                </a:solidFill>
                <a:latin typeface="Calibri" pitchFamily="34" charset="0"/>
                <a:ea typeface="Calibri" pitchFamily="34" charset="-122"/>
                <a:cs typeface="Calibri" pitchFamily="34" charset="-120"/>
              </a:rPr>
              <a:t>The full set</a:t>
            </a:r>
            <a:endParaRPr lang="en-US" sz="2000" dirty="0"/>
          </a:p>
        </p:txBody>
      </p:sp>
      <p:sp>
        <p:nvSpPr>
          <p:cNvPr id="15" name="Text 10"/>
          <p:cNvSpPr txBox="1"/>
          <p:nvPr/>
        </p:nvSpPr>
        <p:spPr>
          <a:xfrm>
            <a:off x="768096" y="2615184"/>
            <a:ext cx="5007712" cy="1033272"/>
          </a:xfrm>
          <a:prstGeom prst="rect">
            <a:avLst/>
          </a:prstGeom>
          <a:noFill/>
          <a:ln/>
        </p:spPr>
        <p:txBody>
          <a:bodyPr wrap="square" lIns="0" tIns="0" rIns="0" bIns="0" rtlCol="0" anchor="ctr"/>
          <a:lstStyle/>
          <a:p>
            <a:pPr indent="0" marL="0">
              <a:lnSpc>
                <a:spcPct val="112000"/>
              </a:lnSpc>
              <a:buNone/>
            </a:pPr>
            <a:r>
              <a:rPr lang="en-US" sz="1650" dirty="0">
                <a:solidFill>
                  <a:srgbClr val="3A473F"/>
                </a:solidFill>
                <a:latin typeface="Calibri" pitchFamily="34" charset="0"/>
                <a:ea typeface="Calibri" pitchFamily="34" charset="-122"/>
                <a:cs typeface="Calibri" pitchFamily="34" charset="-120"/>
              </a:rPr>
              <a:t>I work · you work · HE WORKS · SHE WORKS · IT WORKS</a:t>
            </a:r>
            <a:endParaRPr lang="en-US" sz="1650" dirty="0"/>
          </a:p>
          <a:p>
            <a:pPr indent="0" marL="0">
              <a:lnSpc>
                <a:spcPct val="112000"/>
              </a:lnSpc>
              <a:buNone/>
            </a:pPr>
            <a:r>
              <a:rPr lang="en-US" sz="1650" dirty="0">
                <a:solidFill>
                  <a:srgbClr val="3A473F"/>
                </a:solidFill>
                <a:latin typeface="Calibri" pitchFamily="34" charset="0"/>
                <a:ea typeface="Calibri" pitchFamily="34" charset="-122"/>
                <a:cs typeface="Calibri" pitchFamily="34" charset="-120"/>
              </a:rPr>
              <a:t>we work · they work</a:t>
            </a:r>
            <a:endParaRPr lang="en-US" sz="1650" dirty="0"/>
          </a:p>
        </p:txBody>
      </p:sp>
      <p:sp>
        <p:nvSpPr>
          <p:cNvPr id="16" name="Shape 11"/>
          <p:cNvSpPr/>
          <p:nvPr/>
        </p:nvSpPr>
        <p:spPr>
          <a:xfrm>
            <a:off x="6196432" y="1883664"/>
            <a:ext cx="5446624" cy="1929384"/>
          </a:xfrm>
          <a:prstGeom prst="roundRect">
            <a:avLst>
              <a:gd name="adj" fmla="val 6635"/>
            </a:avLst>
          </a:prstGeom>
          <a:solidFill>
            <a:srgbClr val="E7F3EF"/>
          </a:solidFill>
          <a:ln w="12700">
            <a:solidFill>
              <a:srgbClr val="C4E0D5"/>
            </a:solidFill>
            <a:prstDash val="solid"/>
          </a:ln>
        </p:spPr>
      </p:sp>
      <p:sp>
        <p:nvSpPr>
          <p:cNvPr id="17" name="Shape 12"/>
          <p:cNvSpPr/>
          <p:nvPr/>
        </p:nvSpPr>
        <p:spPr>
          <a:xfrm>
            <a:off x="6415888" y="2121408"/>
            <a:ext cx="384048" cy="384048"/>
          </a:xfrm>
          <a:prstGeom prst="ellipse">
            <a:avLst/>
          </a:prstGeom>
          <a:solidFill>
            <a:srgbClr val="0E7C5A"/>
          </a:solidFill>
          <a:ln/>
        </p:spPr>
      </p:sp>
      <p:pic>
        <p:nvPicPr>
          <p:cNvPr id="18" name="Image 2" descr="preencoded.png">    </p:cNvPr>
          <p:cNvPicPr>
            <a:picLocks noChangeAspect="1"/>
          </p:cNvPicPr>
          <p:nvPr/>
        </p:nvPicPr>
        <p:blipFill>
          <a:blip r:embed="rId3"/>
          <a:stretch>
            <a:fillRect/>
          </a:stretch>
        </p:blipFill>
        <p:spPr>
          <a:xfrm>
            <a:off x="6511900" y="2217420"/>
            <a:ext cx="192024" cy="192024"/>
          </a:xfrm>
          <a:prstGeom prst="rect">
            <a:avLst/>
          </a:prstGeom>
        </p:spPr>
      </p:pic>
      <p:sp>
        <p:nvSpPr>
          <p:cNvPr id="19" name="Text 13"/>
          <p:cNvSpPr txBox="1"/>
          <p:nvPr/>
        </p:nvSpPr>
        <p:spPr>
          <a:xfrm>
            <a:off x="6909664" y="2103120"/>
            <a:ext cx="4513936" cy="420624"/>
          </a:xfrm>
          <a:prstGeom prst="rect">
            <a:avLst/>
          </a:prstGeom>
          <a:noFill/>
          <a:ln/>
        </p:spPr>
        <p:txBody>
          <a:bodyPr wrap="square" lIns="0" tIns="0" rIns="0" bIns="0" rtlCol="0" anchor="ctr"/>
          <a:lstStyle/>
          <a:p>
            <a:pPr indent="0" marL="0">
              <a:buNone/>
            </a:pPr>
            <a:r>
              <a:rPr lang="en-US" sz="2000" b="1" dirty="0">
                <a:solidFill>
                  <a:srgbClr val="12211B"/>
                </a:solidFill>
                <a:latin typeface="Calibri" pitchFamily="34" charset="0"/>
                <a:ea typeface="Calibri" pitchFamily="34" charset="-122"/>
                <a:cs typeface="Calibri" pitchFamily="34" charset="-120"/>
              </a:rPr>
              <a:t>The spelling rules</a:t>
            </a:r>
            <a:endParaRPr lang="en-US" sz="2000" dirty="0"/>
          </a:p>
        </p:txBody>
      </p:sp>
      <p:sp>
        <p:nvSpPr>
          <p:cNvPr id="20" name="Text 14"/>
          <p:cNvSpPr txBox="1"/>
          <p:nvPr/>
        </p:nvSpPr>
        <p:spPr>
          <a:xfrm>
            <a:off x="6415888" y="2615184"/>
            <a:ext cx="5007712" cy="1033272"/>
          </a:xfrm>
          <a:prstGeom prst="rect">
            <a:avLst/>
          </a:prstGeom>
          <a:noFill/>
          <a:ln/>
        </p:spPr>
        <p:txBody>
          <a:bodyPr wrap="square" lIns="0" tIns="0" rIns="0" bIns="0" rtlCol="0" anchor="ctr"/>
          <a:lstStyle/>
          <a:p>
            <a:pPr indent="0" marL="0">
              <a:lnSpc>
                <a:spcPct val="112000"/>
              </a:lnSpc>
              <a:buNone/>
            </a:pPr>
            <a:r>
              <a:rPr lang="en-US" sz="1500" dirty="0">
                <a:solidFill>
                  <a:srgbClr val="3A473F"/>
                </a:solidFill>
                <a:latin typeface="Calibri" pitchFamily="34" charset="0"/>
                <a:ea typeface="Calibri" pitchFamily="34" charset="-122"/>
                <a:cs typeface="Calibri" pitchFamily="34" charset="-120"/>
              </a:rPr>
              <a:t>most: + s  →  works</a:t>
            </a:r>
            <a:endParaRPr lang="en-US" sz="1500" dirty="0"/>
          </a:p>
          <a:p>
            <a:pPr indent="0" marL="0">
              <a:lnSpc>
                <a:spcPct val="112000"/>
              </a:lnSpc>
              <a:buNone/>
            </a:pPr>
            <a:r>
              <a:rPr lang="en-US" sz="1500" dirty="0">
                <a:solidFill>
                  <a:srgbClr val="3A473F"/>
                </a:solidFill>
                <a:latin typeface="Calibri" pitchFamily="34" charset="0"/>
                <a:ea typeface="Calibri" pitchFamily="34" charset="-122"/>
                <a:cs typeface="Calibri" pitchFamily="34" charset="-120"/>
              </a:rPr>
              <a:t>ch, sh, s, x, o: + es  →  goes, watches</a:t>
            </a:r>
            <a:endParaRPr lang="en-US" sz="1500" dirty="0"/>
          </a:p>
          <a:p>
            <a:pPr indent="0" marL="0">
              <a:lnSpc>
                <a:spcPct val="112000"/>
              </a:lnSpc>
              <a:buNone/>
            </a:pPr>
            <a:r>
              <a:rPr lang="en-US" sz="1500" dirty="0">
                <a:solidFill>
                  <a:srgbClr val="3A473F"/>
                </a:solidFill>
                <a:latin typeface="Calibri" pitchFamily="34" charset="0"/>
                <a:ea typeface="Calibri" pitchFamily="34" charset="-122"/>
                <a:cs typeface="Calibri" pitchFamily="34" charset="-120"/>
              </a:rPr>
              <a:t>consonant + y: → ies  →  studies</a:t>
            </a:r>
            <a:endParaRPr lang="en-US" sz="1500" dirty="0"/>
          </a:p>
          <a:p>
            <a:pPr indent="0" marL="0">
              <a:lnSpc>
                <a:spcPct val="112000"/>
              </a:lnSpc>
              <a:buNone/>
            </a:pPr>
            <a:r>
              <a:rPr lang="en-US" sz="1500" dirty="0">
                <a:solidFill>
                  <a:srgbClr val="3A473F"/>
                </a:solidFill>
                <a:latin typeface="Calibri" pitchFamily="34" charset="0"/>
                <a:ea typeface="Calibri" pitchFamily="34" charset="-122"/>
                <a:cs typeface="Calibri" pitchFamily="34" charset="-120"/>
              </a:rPr>
              <a:t>have  →  HAS</a:t>
            </a:r>
            <a:endParaRPr lang="en-US" sz="1500" dirty="0"/>
          </a:p>
        </p:txBody>
      </p:sp>
      <p:sp>
        <p:nvSpPr>
          <p:cNvPr id="21" name="Shape 15"/>
          <p:cNvSpPr/>
          <p:nvPr/>
        </p:nvSpPr>
        <p:spPr>
          <a:xfrm>
            <a:off x="548640" y="4014216"/>
            <a:ext cx="5446624" cy="1929384"/>
          </a:xfrm>
          <a:prstGeom prst="roundRect">
            <a:avLst>
              <a:gd name="adj" fmla="val 6635"/>
            </a:avLst>
          </a:prstGeom>
          <a:solidFill>
            <a:srgbClr val="E7F3EF"/>
          </a:solidFill>
          <a:ln w="12700">
            <a:solidFill>
              <a:srgbClr val="C4E0D5"/>
            </a:solidFill>
            <a:prstDash val="solid"/>
          </a:ln>
        </p:spPr>
      </p:sp>
      <p:sp>
        <p:nvSpPr>
          <p:cNvPr id="22" name="Shape 16"/>
          <p:cNvSpPr/>
          <p:nvPr/>
        </p:nvSpPr>
        <p:spPr>
          <a:xfrm>
            <a:off x="768096" y="4251960"/>
            <a:ext cx="384048" cy="384048"/>
          </a:xfrm>
          <a:prstGeom prst="ellipse">
            <a:avLst/>
          </a:prstGeom>
          <a:solidFill>
            <a:srgbClr val="0E7C5A"/>
          </a:solidFill>
          <a:ln/>
        </p:spPr>
      </p:sp>
      <p:pic>
        <p:nvPicPr>
          <p:cNvPr id="23" name="Image 3" descr="preencoded.png">    </p:cNvPr>
          <p:cNvPicPr>
            <a:picLocks noChangeAspect="1"/>
          </p:cNvPicPr>
          <p:nvPr/>
        </p:nvPicPr>
        <p:blipFill>
          <a:blip r:embed="rId4"/>
          <a:stretch>
            <a:fillRect/>
          </a:stretch>
        </p:blipFill>
        <p:spPr>
          <a:xfrm>
            <a:off x="864108" y="4347972"/>
            <a:ext cx="192024" cy="192024"/>
          </a:xfrm>
          <a:prstGeom prst="rect">
            <a:avLst/>
          </a:prstGeom>
        </p:spPr>
      </p:pic>
      <p:sp>
        <p:nvSpPr>
          <p:cNvPr id="24" name="Text 17"/>
          <p:cNvSpPr txBox="1"/>
          <p:nvPr/>
        </p:nvSpPr>
        <p:spPr>
          <a:xfrm>
            <a:off x="1261872" y="4233672"/>
            <a:ext cx="4513936" cy="420624"/>
          </a:xfrm>
          <a:prstGeom prst="rect">
            <a:avLst/>
          </a:prstGeom>
          <a:noFill/>
          <a:ln/>
        </p:spPr>
        <p:txBody>
          <a:bodyPr wrap="square" lIns="0" tIns="0" rIns="0" bIns="0" rtlCol="0" anchor="ctr"/>
          <a:lstStyle/>
          <a:p>
            <a:pPr indent="0" marL="0">
              <a:buNone/>
            </a:pPr>
            <a:r>
              <a:rPr lang="en-US" sz="2000" b="1" dirty="0">
                <a:solidFill>
                  <a:srgbClr val="12211B"/>
                </a:solidFill>
                <a:latin typeface="Calibri" pitchFamily="34" charset="0"/>
                <a:ea typeface="Calibri" pitchFamily="34" charset="-122"/>
                <a:cs typeface="Calibri" pitchFamily="34" charset="-120"/>
              </a:rPr>
              <a:t>Negative and question</a:t>
            </a:r>
            <a:endParaRPr lang="en-US" sz="2000" dirty="0"/>
          </a:p>
        </p:txBody>
      </p:sp>
      <p:sp>
        <p:nvSpPr>
          <p:cNvPr id="25" name="Text 18"/>
          <p:cNvSpPr txBox="1"/>
          <p:nvPr/>
        </p:nvSpPr>
        <p:spPr>
          <a:xfrm>
            <a:off x="768096" y="4745736"/>
            <a:ext cx="5007712" cy="1033272"/>
          </a:xfrm>
          <a:prstGeom prst="rect">
            <a:avLst/>
          </a:prstGeom>
          <a:noFill/>
          <a:ln/>
        </p:spPr>
        <p:txBody>
          <a:bodyPr wrap="square" lIns="0" tIns="0" rIns="0" bIns="0" rtlCol="0" anchor="ctr"/>
          <a:lstStyle/>
          <a:p>
            <a:pPr indent="0" marL="0">
              <a:lnSpc>
                <a:spcPct val="112000"/>
              </a:lnSpc>
              <a:buNone/>
            </a:pPr>
            <a:r>
              <a:rPr lang="en-US" sz="1650" dirty="0">
                <a:solidFill>
                  <a:srgbClr val="3A473F"/>
                </a:solidFill>
                <a:latin typeface="Calibri" pitchFamily="34" charset="0"/>
                <a:ea typeface="Calibri" pitchFamily="34" charset="-122"/>
                <a:cs typeface="Calibri" pitchFamily="34" charset="-120"/>
              </a:rPr>
              <a:t>She does not WORK.  (no -s on the verb)</a:t>
            </a:r>
            <a:endParaRPr lang="en-US" sz="1650" dirty="0"/>
          </a:p>
          <a:p>
            <a:pPr indent="0" marL="0">
              <a:lnSpc>
                <a:spcPct val="112000"/>
              </a:lnSpc>
              <a:buNone/>
            </a:pPr>
            <a:r>
              <a:rPr lang="en-US" sz="1650" dirty="0">
                <a:solidFill>
                  <a:srgbClr val="3A473F"/>
                </a:solidFill>
                <a:latin typeface="Calibri" pitchFamily="34" charset="0"/>
                <a:ea typeface="Calibri" pitchFamily="34" charset="-122"/>
                <a:cs typeface="Calibri" pitchFamily="34" charset="-120"/>
              </a:rPr>
              <a:t>Does she WORK here?  (no -s on the verb)</a:t>
            </a:r>
            <a:endParaRPr lang="en-US" sz="1650" dirty="0"/>
          </a:p>
          <a:p>
            <a:pPr indent="0" marL="0">
              <a:lnSpc>
                <a:spcPct val="112000"/>
              </a:lnSpc>
              <a:buNone/>
            </a:pPr>
            <a:r>
              <a:rPr lang="en-US" sz="1650" dirty="0">
                <a:solidFill>
                  <a:srgbClr val="3A473F"/>
                </a:solidFill>
                <a:latin typeface="Calibri" pitchFamily="34" charset="0"/>
                <a:ea typeface="Calibri" pitchFamily="34" charset="-122"/>
                <a:cs typeface="Calibri" pitchFamily="34" charset="-120"/>
              </a:rPr>
              <a:t>The -s appears exactly once.</a:t>
            </a:r>
            <a:endParaRPr lang="en-US" sz="1650" dirty="0"/>
          </a:p>
        </p:txBody>
      </p:sp>
      <p:sp>
        <p:nvSpPr>
          <p:cNvPr id="26" name="Shape 19"/>
          <p:cNvSpPr/>
          <p:nvPr/>
        </p:nvSpPr>
        <p:spPr>
          <a:xfrm>
            <a:off x="6196432" y="4014216"/>
            <a:ext cx="5446624" cy="1929384"/>
          </a:xfrm>
          <a:prstGeom prst="roundRect">
            <a:avLst>
              <a:gd name="adj" fmla="val 6635"/>
            </a:avLst>
          </a:prstGeom>
          <a:solidFill>
            <a:srgbClr val="E7F3EF"/>
          </a:solidFill>
          <a:ln w="12700">
            <a:solidFill>
              <a:srgbClr val="C4E0D5"/>
            </a:solidFill>
            <a:prstDash val="solid"/>
          </a:ln>
        </p:spPr>
      </p:sp>
      <p:sp>
        <p:nvSpPr>
          <p:cNvPr id="27" name="Shape 20"/>
          <p:cNvSpPr/>
          <p:nvPr/>
        </p:nvSpPr>
        <p:spPr>
          <a:xfrm>
            <a:off x="6415888" y="4251960"/>
            <a:ext cx="384048" cy="384048"/>
          </a:xfrm>
          <a:prstGeom prst="ellipse">
            <a:avLst/>
          </a:prstGeom>
          <a:solidFill>
            <a:srgbClr val="0E7C5A"/>
          </a:solidFill>
          <a:ln/>
        </p:spPr>
      </p:sp>
      <p:pic>
        <p:nvPicPr>
          <p:cNvPr id="28" name="Image 4" descr="preencoded.png">    </p:cNvPr>
          <p:cNvPicPr>
            <a:picLocks noChangeAspect="1"/>
          </p:cNvPicPr>
          <p:nvPr/>
        </p:nvPicPr>
        <p:blipFill>
          <a:blip r:embed="rId5"/>
          <a:stretch>
            <a:fillRect/>
          </a:stretch>
        </p:blipFill>
        <p:spPr>
          <a:xfrm>
            <a:off x="6511900" y="4347972"/>
            <a:ext cx="192024" cy="192024"/>
          </a:xfrm>
          <a:prstGeom prst="rect">
            <a:avLst/>
          </a:prstGeom>
        </p:spPr>
      </p:pic>
      <p:sp>
        <p:nvSpPr>
          <p:cNvPr id="29" name="Text 21"/>
          <p:cNvSpPr txBox="1"/>
          <p:nvPr/>
        </p:nvSpPr>
        <p:spPr>
          <a:xfrm>
            <a:off x="6909664" y="4233672"/>
            <a:ext cx="4513936" cy="420624"/>
          </a:xfrm>
          <a:prstGeom prst="rect">
            <a:avLst/>
          </a:prstGeom>
          <a:noFill/>
          <a:ln/>
        </p:spPr>
        <p:txBody>
          <a:bodyPr wrap="square" lIns="0" tIns="0" rIns="0" bIns="0" rtlCol="0" anchor="ctr"/>
          <a:lstStyle/>
          <a:p>
            <a:pPr indent="0" marL="0">
              <a:buNone/>
            </a:pPr>
            <a:r>
              <a:rPr lang="en-US" sz="2000" b="1" dirty="0">
                <a:solidFill>
                  <a:srgbClr val="12211B"/>
                </a:solidFill>
                <a:latin typeface="Calibri" pitchFamily="34" charset="0"/>
                <a:ea typeface="Calibri" pitchFamily="34" charset="-122"/>
                <a:cs typeface="Calibri" pitchFamily="34" charset="-120"/>
              </a:rPr>
              <a:t>Frequency words</a:t>
            </a:r>
            <a:endParaRPr lang="en-US" sz="2000" dirty="0"/>
          </a:p>
        </p:txBody>
      </p:sp>
      <p:sp>
        <p:nvSpPr>
          <p:cNvPr id="30" name="Text 22"/>
          <p:cNvSpPr txBox="1"/>
          <p:nvPr/>
        </p:nvSpPr>
        <p:spPr>
          <a:xfrm>
            <a:off x="6415888" y="4745736"/>
            <a:ext cx="5007712" cy="1033272"/>
          </a:xfrm>
          <a:prstGeom prst="rect">
            <a:avLst/>
          </a:prstGeom>
          <a:noFill/>
          <a:ln/>
        </p:spPr>
        <p:txBody>
          <a:bodyPr wrap="square" lIns="0" tIns="0" rIns="0" bIns="0" rtlCol="0" anchor="ctr"/>
          <a:lstStyle/>
          <a:p>
            <a:pPr indent="0" marL="0">
              <a:lnSpc>
                <a:spcPct val="112000"/>
              </a:lnSpc>
              <a:buNone/>
            </a:pPr>
            <a:r>
              <a:rPr lang="en-US" sz="1650" dirty="0">
                <a:solidFill>
                  <a:srgbClr val="3A473F"/>
                </a:solidFill>
                <a:latin typeface="Calibri" pitchFamily="34" charset="0"/>
                <a:ea typeface="Calibri" pitchFamily="34" charset="-122"/>
                <a:cs typeface="Calibri" pitchFamily="34" charset="-120"/>
              </a:rPr>
              <a:t>always · usually · often · sometimes · never</a:t>
            </a:r>
            <a:endParaRPr lang="en-US" sz="1650" dirty="0"/>
          </a:p>
          <a:p>
            <a:pPr indent="0" marL="0">
              <a:lnSpc>
                <a:spcPct val="112000"/>
              </a:lnSpc>
              <a:buNone/>
            </a:pPr>
            <a:r>
              <a:rPr lang="en-US" sz="1650" dirty="0">
                <a:solidFill>
                  <a:srgbClr val="3A473F"/>
                </a:solidFill>
                <a:latin typeface="Calibri" pitchFamily="34" charset="0"/>
                <a:ea typeface="Calibri" pitchFamily="34" charset="-122"/>
                <a:cs typeface="Calibri" pitchFamily="34" charset="-120"/>
              </a:rPr>
              <a:t>BEFORE the main verb: “I always walk.”</a:t>
            </a:r>
            <a:endParaRPr lang="en-US" sz="1650" dirty="0"/>
          </a:p>
          <a:p>
            <a:pPr indent="0" marL="0">
              <a:lnSpc>
                <a:spcPct val="112000"/>
              </a:lnSpc>
              <a:buNone/>
            </a:pPr>
            <a:r>
              <a:rPr lang="en-US" sz="1650" dirty="0">
                <a:solidFill>
                  <a:srgbClr val="3A473F"/>
                </a:solidFill>
                <a:latin typeface="Calibri" pitchFamily="34" charset="0"/>
                <a:ea typeface="Calibri" pitchFamily="34" charset="-122"/>
                <a:cs typeface="Calibri" pitchFamily="34" charset="-120"/>
              </a:rPr>
              <a:t>AFTER “to be”: “He is always late.”</a:t>
            </a:r>
            <a:endParaRPr lang="en-US" sz="165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0B231C"/>
        </a:solidFill>
      </p:bgPr>
    </p:bg>
    <p:spTree>
      <p:nvGrpSpPr>
        <p:cNvPr id="1" name=""/>
        <p:cNvGrpSpPr/>
        <p:nvPr/>
      </p:nvGrpSpPr>
      <p:grpSpPr>
        <a:xfrm>
          <a:off x="0" y="0"/>
          <a:ext cx="0" cy="0"/>
          <a:chOff x="0" y="0"/>
          <a:chExt cx="0" cy="0"/>
        </a:xfrm>
      </p:grpSpPr>
      <p:sp>
        <p:nvSpPr>
          <p:cNvPr id="2" name="Text 0"/>
          <p:cNvSpPr txBox="1"/>
          <p:nvPr/>
        </p:nvSpPr>
        <p:spPr>
          <a:xfrm>
            <a:off x="548640" y="1554480"/>
            <a:ext cx="10972800" cy="310896"/>
          </a:xfrm>
          <a:prstGeom prst="rect">
            <a:avLst/>
          </a:prstGeom>
          <a:noFill/>
          <a:ln/>
        </p:spPr>
        <p:txBody>
          <a:bodyPr wrap="square" lIns="0" tIns="0" rIns="0" bIns="0" rtlCol="0" anchor="ctr"/>
          <a:lstStyle/>
          <a:p>
            <a:pPr indent="0" marL="0">
              <a:buNone/>
            </a:pPr>
            <a:r>
              <a:rPr lang="en-US" sz="1400" b="1" spc="240" kern="0" dirty="0">
                <a:solidFill>
                  <a:srgbClr val="F2A93B"/>
                </a:solidFill>
                <a:latin typeface="Calibri" pitchFamily="34" charset="0"/>
                <a:ea typeface="Calibri" pitchFamily="34" charset="-122"/>
                <a:cs typeface="Calibri" pitchFamily="34" charset="-120"/>
              </a:rPr>
              <a:t>CONGRATULATIONS</a:t>
            </a:r>
            <a:endParaRPr lang="en-US" sz="1400" dirty="0"/>
          </a:p>
        </p:txBody>
      </p:sp>
      <p:sp>
        <p:nvSpPr>
          <p:cNvPr id="3" name="Text 1"/>
          <p:cNvSpPr txBox="1"/>
          <p:nvPr/>
        </p:nvSpPr>
        <p:spPr>
          <a:xfrm>
            <a:off x="548640" y="2011680"/>
            <a:ext cx="10972800" cy="2011680"/>
          </a:xfrm>
          <a:prstGeom prst="rect">
            <a:avLst/>
          </a:prstGeom>
          <a:noFill/>
          <a:ln/>
        </p:spPr>
        <p:txBody>
          <a:bodyPr wrap="square" lIns="0" tIns="0" rIns="0" bIns="0" rtlCol="0" anchor="ctr"/>
          <a:lstStyle/>
          <a:p>
            <a:pPr indent="0" marL="0">
              <a:lnSpc>
                <a:spcPct val="106000"/>
              </a:lnSpc>
              <a:buNone/>
            </a:pPr>
            <a:r>
              <a:rPr lang="en-US" sz="4400" b="1" dirty="0">
                <a:solidFill>
                  <a:srgbClr val="FFFFFF"/>
                </a:solidFill>
                <a:latin typeface="Calibri" pitchFamily="34" charset="0"/>
                <a:ea typeface="Calibri" pitchFamily="34" charset="-122"/>
                <a:cs typeface="Calibri" pitchFamily="34" charset="-120"/>
              </a:rPr>
              <a:t>You can now describe a whole life — not just a moment.</a:t>
            </a:r>
            <a:endParaRPr lang="en-US" sz="4400" dirty="0"/>
          </a:p>
        </p:txBody>
      </p:sp>
      <p:sp>
        <p:nvSpPr>
          <p:cNvPr id="4" name="Text 2"/>
          <p:cNvSpPr txBox="1"/>
          <p:nvPr/>
        </p:nvSpPr>
        <p:spPr>
          <a:xfrm>
            <a:off x="548640" y="4206240"/>
            <a:ext cx="10058400" cy="822960"/>
          </a:xfrm>
          <a:prstGeom prst="rect">
            <a:avLst/>
          </a:prstGeom>
          <a:noFill/>
          <a:ln/>
        </p:spPr>
        <p:txBody>
          <a:bodyPr wrap="square" lIns="0" tIns="0" rIns="0" bIns="0" rtlCol="0" anchor="ctr"/>
          <a:lstStyle/>
          <a:p>
            <a:pPr indent="0" marL="0">
              <a:lnSpc>
                <a:spcPct val="120000"/>
              </a:lnSpc>
              <a:buNone/>
            </a:pPr>
            <a:r>
              <a:rPr lang="en-US" sz="1500" dirty="0">
                <a:solidFill>
                  <a:srgbClr val="B9CFC1"/>
                </a:solidFill>
                <a:latin typeface="Calibri" pitchFamily="34" charset="0"/>
                <a:ea typeface="Calibri" pitchFamily="34" charset="-122"/>
                <a:cs typeface="Calibri" pitchFamily="34" charset="-120"/>
              </a:rPr>
              <a:t>What you do every day, what you never do, what someone else does, and how to ask about it.</a:t>
            </a:r>
            <a:endParaRPr lang="en-US" sz="1500" dirty="0"/>
          </a:p>
          <a:p>
            <a:pPr indent="0" marL="0">
              <a:lnSpc>
                <a:spcPct val="120000"/>
              </a:lnSpc>
              <a:buNone/>
            </a:pPr>
            <a:r>
              <a:rPr lang="en-US" sz="1500" dirty="0">
                <a:solidFill>
                  <a:srgbClr val="B9CFC1"/>
                </a:solidFill>
                <a:latin typeface="Calibri" pitchFamily="34" charset="0"/>
                <a:ea typeface="Calibri" pitchFamily="34" charset="-122"/>
                <a:cs typeface="Calibri" pitchFamily="34" charset="-120"/>
              </a:rPr>
              <a:t>The small letter -s will take a few more weeks to become automatic. That is normal, and it is worth the work.</a:t>
            </a:r>
            <a:endParaRPr lang="en-US" sz="1500" dirty="0"/>
          </a:p>
        </p:txBody>
      </p:sp>
      <p:sp>
        <p:nvSpPr>
          <p:cNvPr id="5" name="Shape 3"/>
          <p:cNvSpPr/>
          <p:nvPr/>
        </p:nvSpPr>
        <p:spPr>
          <a:xfrm>
            <a:off x="548640" y="5120640"/>
            <a:ext cx="3511296" cy="713232"/>
          </a:xfrm>
          <a:prstGeom prst="roundRect">
            <a:avLst>
              <a:gd name="adj" fmla="val 17949"/>
            </a:avLst>
          </a:prstGeom>
          <a:solidFill>
            <a:srgbClr val="1C4E39"/>
          </a:solidFill>
          <a:ln w="12700">
            <a:solidFill>
              <a:srgbClr val="2A6249"/>
            </a:solidFill>
            <a:prstDash val="solid"/>
          </a:ln>
        </p:spPr>
      </p:sp>
      <p:sp>
        <p:nvSpPr>
          <p:cNvPr id="6" name="Text 4"/>
          <p:cNvSpPr txBox="1"/>
          <p:nvPr/>
        </p:nvSpPr>
        <p:spPr>
          <a:xfrm>
            <a:off x="731520" y="5120640"/>
            <a:ext cx="3145536" cy="713232"/>
          </a:xfrm>
          <a:prstGeom prst="rect">
            <a:avLst/>
          </a:prstGeom>
          <a:noFill/>
          <a:ln/>
        </p:spPr>
        <p:txBody>
          <a:bodyPr wrap="square" lIns="0" tIns="0" rIns="0" bIns="0" rtlCol="0" anchor="ctr"/>
          <a:lstStyle/>
          <a:p>
            <a:pPr indent="0" marL="0">
              <a:buNone/>
            </a:pPr>
            <a:r>
              <a:rPr lang="en-US" sz="1500" dirty="0">
                <a:solidFill>
                  <a:srgbClr val="D2E0D8"/>
                </a:solidFill>
                <a:latin typeface="Calibri" pitchFamily="34" charset="0"/>
                <a:ea typeface="Calibri" pitchFamily="34" charset="-122"/>
                <a:cs typeface="Calibri" pitchFamily="34" charset="-120"/>
              </a:rPr>
              <a:t>NEXT — Module 2</a:t>
            </a:r>
            <a:endParaRPr lang="en-US" sz="1500" dirty="0"/>
          </a:p>
        </p:txBody>
      </p:sp>
      <p:sp>
        <p:nvSpPr>
          <p:cNvPr id="7" name="Shape 5"/>
          <p:cNvSpPr/>
          <p:nvPr/>
        </p:nvSpPr>
        <p:spPr>
          <a:xfrm>
            <a:off x="4279392" y="5120640"/>
            <a:ext cx="3511296" cy="713232"/>
          </a:xfrm>
          <a:prstGeom prst="roundRect">
            <a:avLst>
              <a:gd name="adj" fmla="val 17949"/>
            </a:avLst>
          </a:prstGeom>
          <a:solidFill>
            <a:srgbClr val="1C4E39"/>
          </a:solidFill>
          <a:ln w="12700">
            <a:solidFill>
              <a:srgbClr val="2A6249"/>
            </a:solidFill>
            <a:prstDash val="solid"/>
          </a:ln>
        </p:spPr>
      </p:sp>
      <p:sp>
        <p:nvSpPr>
          <p:cNvPr id="8" name="Text 6"/>
          <p:cNvSpPr txBox="1"/>
          <p:nvPr/>
        </p:nvSpPr>
        <p:spPr>
          <a:xfrm>
            <a:off x="4462272" y="5120640"/>
            <a:ext cx="3145536" cy="713232"/>
          </a:xfrm>
          <a:prstGeom prst="rect">
            <a:avLst/>
          </a:prstGeom>
          <a:noFill/>
          <a:ln/>
        </p:spPr>
        <p:txBody>
          <a:bodyPr wrap="square" lIns="0" tIns="0" rIns="0" bIns="0" rtlCol="0" anchor="ctr"/>
          <a:lstStyle/>
          <a:p>
            <a:pPr indent="0" marL="0">
              <a:buNone/>
            </a:pPr>
            <a:r>
              <a:rPr lang="en-US" sz="1500" dirty="0">
                <a:solidFill>
                  <a:srgbClr val="D2E0D8"/>
                </a:solidFill>
                <a:latin typeface="Calibri" pitchFamily="34" charset="0"/>
                <a:ea typeface="Calibri" pitchFamily="34" charset="-122"/>
                <a:cs typeface="Calibri" pitchFamily="34" charset="-120"/>
              </a:rPr>
              <a:t>Present Continuous</a:t>
            </a:r>
            <a:endParaRPr lang="en-US" sz="1500" dirty="0"/>
          </a:p>
        </p:txBody>
      </p:sp>
      <p:sp>
        <p:nvSpPr>
          <p:cNvPr id="9" name="Shape 7"/>
          <p:cNvSpPr/>
          <p:nvPr/>
        </p:nvSpPr>
        <p:spPr>
          <a:xfrm>
            <a:off x="8010144" y="5120640"/>
            <a:ext cx="3511296" cy="713232"/>
          </a:xfrm>
          <a:prstGeom prst="roundRect">
            <a:avLst>
              <a:gd name="adj" fmla="val 17949"/>
            </a:avLst>
          </a:prstGeom>
          <a:solidFill>
            <a:srgbClr val="1C4E39"/>
          </a:solidFill>
          <a:ln w="12700">
            <a:solidFill>
              <a:srgbClr val="2A6249"/>
            </a:solidFill>
            <a:prstDash val="solid"/>
          </a:ln>
        </p:spPr>
      </p:sp>
      <p:sp>
        <p:nvSpPr>
          <p:cNvPr id="10" name="Text 8"/>
          <p:cNvSpPr txBox="1"/>
          <p:nvPr/>
        </p:nvSpPr>
        <p:spPr>
          <a:xfrm>
            <a:off x="8193024" y="5120640"/>
            <a:ext cx="3145536" cy="713232"/>
          </a:xfrm>
          <a:prstGeom prst="rect">
            <a:avLst/>
          </a:prstGeom>
          <a:noFill/>
          <a:ln/>
        </p:spPr>
        <p:txBody>
          <a:bodyPr wrap="square" lIns="0" tIns="0" rIns="0" bIns="0" rtlCol="0" anchor="ctr"/>
          <a:lstStyle/>
          <a:p>
            <a:pPr indent="0" marL="0">
              <a:buNone/>
            </a:pPr>
            <a:r>
              <a:rPr lang="en-US" sz="1500" dirty="0">
                <a:solidFill>
                  <a:srgbClr val="D2E0D8"/>
                </a:solidFill>
                <a:latin typeface="Calibri" pitchFamily="34" charset="0"/>
                <a:ea typeface="Calibri" pitchFamily="34" charset="-122"/>
                <a:cs typeface="Calibri" pitchFamily="34" charset="-120"/>
              </a:rPr>
              <a:t>What is happening RIGHT NOW — and how it differs from this module</a:t>
            </a:r>
            <a:endParaRPr lang="en-US" sz="1500" dirty="0"/>
          </a:p>
        </p:txBody>
      </p:sp>
      <p:sp>
        <p:nvSpPr>
          <p:cNvPr id="11" name="Text 9"/>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7C9488"/>
                </a:solidFill>
                <a:latin typeface="Calibri" pitchFamily="34" charset="0"/>
                <a:ea typeface="Calibri" pitchFamily="34" charset="-122"/>
                <a:cs typeface="Calibri" pitchFamily="34" charset="-120"/>
              </a:rPr>
              <a:t>Level 2 · Elementary English · Module 1 — Present Simple &amp; Daily Routine</a:t>
            </a:r>
            <a:endParaRPr lang="en-US" sz="1000" dirty="0"/>
          </a:p>
        </p:txBody>
      </p:sp>
      <p:sp>
        <p:nvSpPr>
          <p:cNvPr id="12" name="Text 10"/>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F2A93B"/>
                </a:solidFill>
                <a:latin typeface="Calibri" pitchFamily="34" charset="0"/>
                <a:ea typeface="Calibri" pitchFamily="34" charset="-122"/>
                <a:cs typeface="Calibri" pitchFamily="34" charset="-120"/>
              </a:rPr>
              <a:t>76</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76</Slides>
  <Notes>76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76</vt:i4>
      </vt:variant>
    </vt:vector>
  </HeadingPairs>
  <TitlesOfParts>
    <vt:vector size="7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vector>
  </TitlesOfParts>
  <Company>English Learning Platform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Level 2 · Module 1 — Present Simple &amp; Daily Routine</dc:title>
  <dc:subject>English course for Ethiopian learners — Level 2 Elementary English</dc:subject>
  <dc:creator>English Learning Platform</dc:creator>
  <cp:lastModifiedBy>English Learning Platform</cp:lastModifiedBy>
  <cp:revision>1</cp:revision>
  <dcterms:created xsi:type="dcterms:W3CDTF">2026-07-27T19:24:44Z</dcterms:created>
  <dcterms:modified xsi:type="dcterms:W3CDTF">2026-07-27T19:24:44Z</dcterms:modified>
</cp:coreProperties>
</file>