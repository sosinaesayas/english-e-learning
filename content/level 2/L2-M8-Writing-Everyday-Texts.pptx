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saying this is the final module of Level 2. Everything learned in Modules 1–7 gets written down here. Nothing new is added — it is put together.
TIP: Learners write far less English than they speak or read, so they are less confident here. Say that writing is the easiest skill to improve, because you have time to think and time to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Objective 5 is the big one and the end-of-level test. Say so now so learners know what they are building towards.
TIP: Objective 4 is the most immediately practical. Forms in English appear at banks, schools, clinics and every job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Task 3 is the diagnostic. Most learners say “I do not know where to start”, which is a structure problem, not a language problem — and structure is what this module gives them.
COMMON MISTAKES: Correct nothing in the warm-up.
TIP: Write task 3 answers on the board and return to them in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Write one long confusing sentence on the board, then the same content as three short ones. Ask which is better English. Learners always assume the long one — say clearly that it is not.
COMMON MISTAKES: Learners believe good English means complicated English. The opposite is true, and believing otherwise makes them write sentences they cannot control.
TIP: The third chip is the whole quality-control system. Reading your own writing back catches most errors before anybody else sees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Show a real paragraph on the board and physically point at the capital, the full stop, the topic sentence and the blank line. Structure must be seen, not described.
COMMON MISTAKES: Learners write one paragraph of twenty sentences with no breaks. Show what that looks like on the board — it is visibly unreadable.
EXTRA EXAMPLES: The blank line between paragraphs is a real signal to the reader: “a new topic starts here”.
TIP: One idea per sentence is the single most useful writing rule at this level. Repeat it in every exercise.
CLASSROOM ACTIVITY: Find the parts: give a printed paragraph and have learners mark capitals, full stops, the topic sentence and the paragraph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Write a paragraph on the board with no punctuation at all and have the class add it aloud. Doing it together is far more effective than explaining the rules.
COMMON MISTAKES: Lower-case “i” is the commonest error in the whole course, because no other language capitalises it. Correct it every single time.
EXTRA EXAMPLES: Also capitalised: months, languages, nationalities, and the first word of a title.
TIP: Days and months are capitalised in English but not in many other languages. Point that out — it is a rule, not a style choice.
CLASSROOM ACTIVITY: Punctuate it: give a 60-word text with no capitals or stops. Learners restore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valuable slide in the module.
HOW TO TEACH: Do the transformation live on the board. Learners see six sentences become three and immediately hear the improvement.
COMMON MISTAKES: Joining everything into one enormous sentence. Two or three ideas joined is good; six is not.
EXTRA EXAMPLES: Note that “Sara works in a shop in Merkato” joins without any joining word at all — sometimes you just move the information.
TIP: This is the single change that most improves writing at this level. Spend the full fourteen minutes.
CLASSROOM ACTIVITY: Six into three: give six short sentences and have learners join them into three. Compare versions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Read the example and have learners label each sentence 1, 2, 3 or 4. Labelling makes the invisible structure visible.
COMMON MISTAKES: Learners start with a detail instead of a topic sentence, and the reader has no idea what the paragraph is about until the end.
EXTRA EXAMPLES: The topic sentence is also what makes SKIMMING work — connect this directly to Module 6. Writers put the main idea first, which is why readers can find it there.
TIP: Give the topic sentence and have learners write the rest. Providing the opening removes the “where do I start?” problem entirely.
CLASSROOM ACTIVITY: Finish the paragraph: give three topic sentences and have learners write four more sentences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rule that matters: say WHY you are writing in the first line. Long introductions before the point are the commonest fault in learner messages.
COMMON MISTAKES: Writing three sentences of greeting before the purpose. In English, business messages get to the point immediately — this is a cultural difference worth naming.
EXTRA EXAMPLES: Formality by relationship: “Dear Mr/Mrs + surname” for people you do not know, first names for people you do.
TIP: This same three-part shape works for a text message, an email and a note on a door. One structure, many uses.
CLASSROOM ACTIVITY: Three messages: the same information written formally, friendly and very informally.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Give a text containing exactly these six error types and have learners find them using the list in order. Checking in order is more reliable than reading and hoping.
COMMON MISTAKES: Learners re-read for meaning rather than for errors, and see nothing. Checking one error type at a time is what works.
EXTRA EXAMPLES: Question 6 is the most powerful. Reading aloud slows you down and engages your ear, which knows things your eye does not.
TIP: Print this as a card and require it before every piece of written work for the rest of the course.
CLASSROOM ACTIVITY: Find six errors: give a 60-word text containing one of each error type. Learners find all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Cross out the W on the board. Then drill write / wrote / written as a set — irregular verbs are learned as sets, not as rules.
COMMON MISTAKES: “Writed” is a regular-ending overgeneralisation and is very common. Correct it every time.
EXTRA EXAMPLES: write · wrote · written.  Also: “write to somebody”, with the preposition.
TIP: Silent W also appears in “wrong” and “answer”. Group them — connect back to Module 6.
CLASSROOM ACTIVITY: Silent letters: list write, wrong, answer, know and have learners cross out the silent letter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two-object pattern: “send me the message” or “send the message to me”. Both are correct; “send to me the message” is not.
COMMON MISTAKES: Word order with two objects is genuinely hard. Give the two correct patterns and drill them.
EXTRA EXAMPLES: send a message · send an email · send money · send somebody a photograph.
TIP: “Send money” is a phrase almost every learner will need — remittances are part of daily life for many families.
CLASSROOM ACTIVITY: Two ways: give five sentences and have learners write each in both correct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both meanings together with one example each. Learners meet both constantly and confusing them causes real misunderstandings.
COMMON MISTAKES: The double T is said as one short /t/. And the ending is weak — LET-ter, stress on the first syllable.
EXTRA EXAMPLES: capital letter · small letter · a letter from the bank · write a letter.
TIP: “Capital letter” is needed for the punctuation slides, so teach that phrase explicitly here.
CLASSROOM ACTIVITY: Which meaning? Give six sentences and have learners say which meaning of “letter” each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This word appears on every form in English. Teach it beside “name”, “date of birth” and “signature” — they always appear together.
COMMON MISTAKES: Learners stress the first syllable. Clap on the second until it holds.
EXTRA EXAMPLES: home address · email address · What is your address? · Could you write down your address?
TIP: Connect to Module 7: “Could you write it down?” is exactly the phrase used when somebody says an address too fast.
CLASSROOM ACTIVITY: Form practice: learners write their own name, address and date of birth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This is a classroom word learners will hear in every writing instruction, so it earns its place. Teach it with “paragraph” and “word”.
COMMON MISTAKES: Learners say “three syllables” — SEN-ten-ce. It is two: SEN-tence.
EXTRA EXAMPLES: word · sentence · paragraph · text. Four sizes, teach them as a set.
TIP: Learners need to understand instructions like “write five sentences”. Without this word, every writing task is confusing.
CLASSROOM ACTIVITY: Count them: give a short paragraph and have learners count the words, sentences and paragraphs.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Write a paragraph in all lower case and have the class correct it aloud. Correcting together is more effective than any explanation.
COMMON MISTAKES: Lower-case “i” is the single most frequent error in learner writing. Mark it every time, in every piece of work.
EXTRA EXAMPLES: Days, months, languages and nationalities are capitalised in English but not in most other languages, including Amharic. That is why they are forgotten.
TIP: Add the first word of a title. “Reading for Meaning” — the small words in the middle stay lower case.
CLASSROOM ACTIVITY: All lower case: give a 70-word text with no capitals at all. Learners restore every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note is the important part. Using a comma where a full stop belongs is extremely common and makes writing hard to read.
COMMON MISTAKES: The comma splice — joining two complete sentences with a comma. Show it on the board and show the two correct fixes.
EXTRA EXAMPLES: Three uses is enough at this level. Do not teach more — the risk is over-use, which is worse than under-use.
TIP: If in doubt, leave the comma out. A missing comma is rarely a problem; a wrong one usually is.
CLASSROOM ACTIVITY: Comma or full stop: give ten sentence pairs and have learners choose between a comma and a full stop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In Module 6 learners recognised these words. Here they produce them. Recognition always comes before production, and this is the production stage.
COMMON MISTAKES: Over-joining. Once learners discover joining, they join everything. Set a limit of three ideas per sentence.
EXTRA EXAMPLES: Comma before “but” when it joins two full ideas. No comma before “and” in a short join.
TIP: This is the single change that most improves writing at this level. Give it real practice time in Exercises B and C.
CLASSROOM ACTIVITY: Join them: give twelve short sentences and have learners produce six joined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Point out the specific differences: full forms rather than contractions, “I would like” rather than “can we”, and a full name rather than a first name.
COMMON MISTAKES: Learners write everything formally because it feels safer. It is not — it sounds strange to a friend.
EXTRA EXAMPLES: “Yours sincerely” when you used the person's name; “Yours faithfully” when you wrote “Dear Sir or Madam”. Mention it, do not drill it.
TIP: Learners need formal English for job applications and banks, and friendly English for everything else. Both are required.
CLASSROOM ACTIVITY: Change the register: give a formal message and have learners rewrite it for a friend, and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Do all five steps live on the board with one topic suggested by the class. Watching a text being built removes the “where do I start?” problem entirely.
COMMON MISTAKES: Learners try to write perfect sentences immediately and freeze. Steps 3 and 4 separate getting the ideas down from making them sound good — that separation is the technique.
EXTRA EXAMPLES: Steps 3 and 4 are the professional method: write badly first, improve second. Nobody writes a good first sentence.
TIP: Print these five steps. Learners who follow them produce work far better than learners who simply start writing.
CLASSROOM ACTIVITY: Live writing: build one paragraph on the board using all five steps, taking suggestions from the class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Bring a real form — a bank form, a school form, a job application. Real forms are far better than invented ones and learners take them seriously.
COMMON MISTAKES: Form vocabulary is rarely taught and constantly needed. Teach it as a set: surname, first name, date of birth, address, signature, occupation.
EXTRA EXAMPLES: Also: “please print” means write in clear separate letters, not joined handwriting.
TIP: This is one of the most practically useful dialogues in Level 2. Working adults meet English forms constantly.
CLASSROOM ACTIVITY: Real form: hand out a real English form and have learners complete it, asking about any word they do not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Model how to give feedback kindly: say what is good first, then name one specific thing. Dawit does exactly that.
COMMON MISTAKES: Learners either say nothing or correct everything. One specific correction is more useful than twenty.
EXTRA EXAMPLES: “Anything else?” is a good general phrase and appears in shops, offices and conversations.
TIP: Build the habit of asking somebody to check. It is what good writers do in every language, including professionals.
CLASSROOM ACTIVITY: Check my writing: pairs exchange work and each names one good thing and one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Have learners write their own details for all six on paper. Doing it with real information makes it stick.
COMMON MISTAKES: Surname and first name are frequently reversed, which causes real problems on official documents and tickets.
EXTRA EXAMPLES: Also common: “Sex / Gender”, “Nationality”, “Marital status”, “Please print”.
TIP: Date format matters. DD/MM/YYYY is used in Ethiopia and Britain; MM/DD/YYYY in America. Point that out — it causes genuine confusion.
CLASSROOM ACTIVITY: My details card: every learner writes all six items for themselves and keeps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then three pairs perform before you reveal the answers.
COMMON MISTAKES: Gap 1 needs the helper “does”, from Module 5. Deliberate revision.
TIP: The last line is the habit worth building: always ask somebody to check before you sign anything.
CLASSROOM ACTIVITY: Do it again with a different form word and a different job.
ANSWERS: 1 does ... mean · 2 write · 3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for all four rounds.
HOW TO TEACH: Round 3 is genuinely useful: asking for somebody's details in English is a real workplace task.
COMMON MISTAKES: In round 2 learners correct everything. Limit them to one correction — that constraint teaches them to prioritise.
TIP: Round 4 makes the improvement audible. Learners hear the difference joining makes, which is more convincing than being told.
CLASSROOM ACTIVITY: Best message: read three messages aloud and let the class choose the clearest.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Speaking before writing removes the blank-page problem completely. Learners always have more to say than they think they can write.
COMMON MISTAKES: Learners try to speak in perfect sentences. Tell them to speak normally — the partner's writing catches the content.
EXTRA EXAMPLES: This is a real technique, used by professional writers: say it, then write down what you said.
TIP: Learners who cannot write a paragraph can almost always say one. This activity proves that to them.
CLASSROOM ACTIVITY: Speak and record: learners record four sentences on a phone, then write them down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each sentence twice at natural speed. Learners write. Then reveal on the board and have them mark their own.
COMMON MISTAKES: Punctuation is not heard, so learners must apply the rules rather than listen. That is exactly the skill being tested.
EXTRA EXAMPLES: Item 3 and item 4 together teach the comma rule: comma before “but”, no comma before “because”.
TIP: Count the class errors and write the number on the board. Repeat at the end of the week to show improvement.
CLASSROOM ACTIVITY: Peer marking: learners exchange papers and mark against the board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the confusable pairs hard: A/E, I/Y, G/J, M/N, B/V/P. These five pairs cause almost every spelling misunderstanding on the phone.
COMMON MISTAKES: B, V and P are the hardest set for Ethiopian learners, connecting back to the /v/ and /p/ work in Level 1.
EXTRA EXAMPLES: The “B for Bahir Dar” technique is what everybody uses on the phone. Teach it as a practical tool.
TIP: Connect to Module 7: “Could you spell that?” and “Could you write it down?” are the two ways round this problem.
CLASSROOM ACTIVITY: Spell it: learners spell their own name and their partner writes it. Check for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Task 1 is the most useful: reading aloud catches errors that reading silently never does, because your ear knows things your eye misses.
COMMON MISTAKES: Learners read too fast to hear anything. Insist on stopping at every full stop.
EXTRA EXAMPLES: Task 4 builds self-assessment, which is what turns a one-off correction into lasting improvement.
TIP: If a sentence is hard to read aloud, it is usually badly written. Say that — it is a reliable test learners can use alone.
CLASSROOM ACTIVITY: Read-aloud test: any sentence that cannot be read aloud in one breath is probably too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including listening back.
HOW TO TEACH: This is the last recording of Level 2. Play the learner's Module 1 recording immediately afterwards. The comparison is the strongest motivation in the whole course.
COMMON MISTAKES: Steps 4 and 5 test register. Listen for the difference between “Hi” and “Dear Mr”, and between “can we” and “I would like to”.
TIP: Do the Module 1 comparison in class if learners agree to it. Hearing eight modules of progress in two minutes changes how learners see themselves.
CLASSROOM ACTIVITY: Then and now: play the first and last recordings side by side for any learner willing.
ANSWERS: SUCCESS CRITERIA: a name and address spelled clearly enough to transcribe · a paragraph read with stops at full stops · the correct topic sentence identified · a three-part friendly message · the same message correctly made 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Read twice at natural speed, then a third time slowly for checking only. Punctuation is never spoken, so learners must apply the rules from slides 16 and 17.
COMMON MISTAKES: The comma before “but” is the one they must find. And “I” must be capital in five places.
EXTRA EXAMPLES: Ask how many capital letters there are in total. Counting makes them look carefully.
ANSWERS: Six sentences. One comma, before “but”. Capitals: My, I (×6), Bethlehem, Bahir Dar, Sunday, We,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Count how many learners got every capital I right. That single number tells you whether slide 16 needs repeating.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This is a real-life task: filling in a form from spoken details. Read at natural speed, twice, then once slowly for checking.
COMMON MISTAKES: The spelled names must be caught letter by letter, connecting to the spelling drill on slide 33.
EXTRA EXAMPLES: The date is said “the fifth of March” but written 05/03/1998. Point out that the spoken and written forms differ.
ANSWERS: Chaltu · Bekele · 05/03/1998 · 12 Church Road, Adama · 0911 223 445 · nurse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Mark this strictly. On a real form, one wrong letter in a surname or one wrong digit in a phone number makes the whole document useless.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The common principle in all four: write KEY WORDS, not sentences. Trying to write full sentences while listening guarantees you fall behind.
COMMON MISTAKES: Learners try to write everything and lose the thread. Teach short notes as a deliberate technique.
TIP: Reading back what you wrote is the check that catches errors before they matter. Do it every time.
CLASSROOM ACTIVITY: Note taking: read a short set of directions and have learners write no more than eight words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Have learners mark the differences physically on the page. Comparing two versions teaches register far better than any explanation.
COMMON MISTAKES: Learners assume the formal one is “better English”. It is not — it is for a different reader, and to a friend it would sound cold.
EXTRA EXAMPLES: Point at the contractions: “can't” in B, “cannot” in A. Contractions are informal and should be avoided in formal writing.
TIP: Both messages have the same three parts — greeting, purpose, close. Only the words change, not the shape.
CLASSROOM ACTIVITY: Third version: learners write the same message to a colleague they know slightly —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Question 5 is the important one: the three-part shape is identical in both. Only the words change.
COMMON MISTAKES: Learners look for differences and miss the structural similarity. Ask question 5 explicitly.
TIP: Point out that message B is shorter but not less polite. Short is not rude — unclear is.
ANSWERS: 1 It was at two, she wants four. · 2 Message A — “Mr Bekele”. · 3 “can't”. · 4 A: full name after “Yours sincerely”. B: first name only. · 5 Greeting, purpose in the first line, and a close — the same three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transferable idea. If learners take one thing from this section, it should be that the three-part shape is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This paragraph deliberately uses grammar from Modules 1 to 7: present simple, past, present perfect, future, and joining words. Point each one out as you read.
COMMON MISTAKES: Learners see three paragraphs as one text. The blank lines are the signal — point at them physically.
EXTRA EXAMPLES: “I have worked… for three years” is the present perfect from Module 2 — an action that started in the past and continues now.
TIP: This is the model for the end-of-level writing task. Learners should study its shape, not memorise its content.
CLASSROOM ACTIVITY: Label the parts: learners mark the topic sentence of each paragraph and circle every joining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Point out that this one text uses grammar from every module of Level 2. That is what the level was building towards, and learners should be told so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item 1 together on the board, naming each correction. Then let learners work alone.
COMMON MISTAKES: Item 5 needs two sentences, not one joined by a comma. That is the comma-splice error from slide 17.
TIP: Count the capital-I corrections. That number is your measure of whether slide 16 has landed.
ANSWERS: 1 Sara and I went to Bahir Dar on Friday. · 2 I bought bread, milk and eggs at the market. · 3 She likes her job, but the pay is not good. · 4 I speak Amharic, English and a little Oromo. · 5 First, boil the water. Then add the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Item 5 is the point of the exercise. Reading aloud makes the improvement audible, which is far more convincing than being told.
COMMON MISTAKES: Item 1 can drop the repeated subject entirely: “works and lives”. That is the most elegant answer — praise it.
TIP: Items 3 and 4 are the reason-and-result pair. Both could be reversed with the other word — accept it if the order is changed correctly.
ANSWERS: 1 Dawit works and lives in Adama. · 2 The shop is small, but it is always busy. · 3 I was late because the bus did not come. · 4 She studied hard, so she passed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minutes writing, plus 5 minutes planning.
HOW TO TEACH: Spend five minutes on step 1 and 2 from slide 20 before anybody writes: decide the reader, write the purpose sentence. Planning prevents the blank page.
COMMON MISTAKES: Learners write one long block with no paragraph breaks. Remind them to leave a blank line between paragraphs.
TIP: This is the culminating task of Level 2. Mark it properly, return it with comments, and let learners rewrite it once.
ANSWERS: MODEL: see slide 44 — the “My work” text is exactly the required length and shape, and uses all the required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Give this rubric BEFORE the task, not after. Learners who know the standard hit it far more often — and 20+ out of 25 is a genuine Level 2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Require this checklist before every piece of written work for the rest of the course. It is the quality-control system.
TIP: Print it as a card. Two minutes of checking finds most errors, and finding your own errors is worth more than having them found for you.
CLASSROOM ACTIVITY: Check it now: learners apply all six questions to the paragraph they just wrote and count their own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1 tests both the name capital and the capital I. Anyone choosing c) needs slide 16 again.
ANSWERS: 1 b · 2 a · 3 b · 4 a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Items 2 and 3 are the reason-and-result pair. Ask which half is the reason in each.
COMMON MISTAKES: Swapping because and so is the commonest error. Draw the direction of the logic on the board.
TIP: Item 5 revises the form vocabulary, which learners will need at a bank long before they need a paragraph.
ANSWERS: 1 and · 2 because · 3 so · 4 but · 5 surname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Let learners work in pairs and compare.
TIP: Part 3 item 3 is new: “Dear Sir or Madam” is what you write when you do not know the person's name at all. Very useful for job applications.
ANSWERS: Part 1: 1–c, 2–d, 3–a, 4–b.  ·  Part 2: 1–c, 2–a, 3–b.  ·  Part 3: 1–b, 2–a, 3–c.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Ask which sentence is most general. That one is the topic sentence and it always goes first.
COMMON MISTAKES: Learners often put b) somewhere in the middle. A closing sentence only works at the end.
TIP: This is slide 8's structure as a puzzle. If learners can order it, they can build one.
ANSWERS: c · d · a · e · b.  Topic sentence (c), details (d), examples (a and e), closing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Each error type appears in the six-question checklist. Have learners name which question would have caught each one.
COMMON MISTAKES: Item 3 has two errors — the past verb and the plural. Say so before they start, or accept either correction.
TIP: Items 2 and 6 are the third-person -s from Level 1. If these are still wrong after eight modules, they need dedicated revision.
ANSWERS: 1 I live in Adama. · 2 She works in a shop. · 3 I bought three books yesterday. · 4 She likes her job, but the pay is not good. (or a full stop) · 5 September. · 6 He goes to the market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each false statement is what makes this teach rather than test.
TIP: Item 5 matters. Learners default to formal because it feels safe, and then write cold, strange messages to friends.
ANSWERS: 1 F — “I” is capital everywhere · 2 T · 3 F — use a full stop or a joining word · 4 T · 5 F — each is right for a different reader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Item 2 needs the three-part shape and a slightly formal register. Item 1 can be informal.
COMMON MISTAKES: A shopping list needs no full sentences — it is a list. Point out that not every text is a paragraph.
TIP: These are the texts learners will actually write. Mark them as real communication, not as grammar exercises.
ANSWERS: MODELS: 1 “Dear Kebede, I will be away from Monday to Wednesday. Could you please take my post? Thank you. Sara.” · 2 “Dear Mr Abel, I am sorry but I cannot come to class on Thursday because I have to go to the clinic. I will do the homework at home. Thank you. Hana.”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Task 1 assesses the spelling drill from slide 33. Check the written version against the real name.
TIP: Task 3 is the register test. Listen for “Hi” versus “Dear Mr”, and “can we” versus “I would like to”.
ANSWERS: SUCCESS CRITERIA: 1 name and address written exactly right · 2 four complete sentences · 3 an audible difference in register between the two versions · 4 clear stops at every full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minutes.
HOW TO TEACH: This is the rehearsal for the end-of-level task. Give the rubric from slide 49 before they start.
TIP: Question 5 is the most valuable. Learners who count their own corrections start finding errors before the teacher does.
ANSWERS: 1 must have all three parts, a title plus surname, and no contractions · 2 same information, first name, contractions allowed · 3 must be 90–110 words with a clear topic sentence · 4 at least three joining words · 5 any honest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Question 1 connects writing to reading directly: the topic sentence goes first because that is where skimming readers look. Writer and reader are two halves of the same system.
TIP: Question 1 is the best question in the module. It ties Modules 6 and 8 into one idea.
ANSWERS: 1 Because the reader wants to know the subject immediately, and skimming readers look at the first sentence — Module 6. 2 Because all-short sentences sound like a list and hide how the ideas relate; joining words show the relationship. 3 Writing formally to a close friend sounds cold, distant or even sarcastic. 4 Your ear has heard far more English than your eye has read; it notices wrong rhythm and missing words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last quiz of Level 2. Question 20 is the end-of-level writing task — allow twenty minutes for it and mark it with the rubric from slide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last quiz of Level 2. Question 20 is the end-of-level writing task — allow twenty minutes for it and mark it with the rubric from slide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last quiz of Level 2. Question 20 is the end-of-level writing task — allow twenty minutes for it and mark it with the rubric from slide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last quiz of Level 2. Question 20 is the end-of-level writing task — allow twenty minutes for it and mark it with the rubric from slide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last quiz of Level 2. Question 20 is the end-of-level writing task — allow twenty minutes for it and mark it with the rubric from slide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Q8 and Q9 are the diagnostic block: the capital I, the comma splice, and the topic sentence. Errors in any of these need slides 16, 17 and 8 again before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Q8 and Q9 are the diagnostic block: the capital I, the comma splice, and the topic sentence. Errors in any of these need slides 16, 17 and 8 again before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Q8 and Q9 are the diagnostic block: the capital I, the comma splice, and the topic sentence. Errors in any of these need slides 16, 17 and 8 again before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Q8 and Q9 are the diagnostic block: the capital I, the comma splice, and the topic sentence. Errors in any of these need slides 16, 17 and 8 again before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Q2, Q8 and Q9 are the diagnostic block: the capital I, the comma splice, and the topic sentence. Errors in any of these need slides 16, 17 and 8 again before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The week builds towards Friday's paragraph. Do not let learners write it on Monday — the earlier tasks are the preparation.
TIP: Wednesday's task is the register drill. Writing the same content twice makes the difference obvious in a way no explanation does.
CLASSROOM ACTIVITY: Ask learners to bring one real English form they have seen — from a bank, a school or a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This is the final work of Level 2. Mark it carefully with the slide 49 rubric, return it with written comments, and allow one rewrite.
COMMON MISTAKES: Learners who cannot record must not be excluded. Offer the live option openly.
TIP: Keep every paragraph. At the start of Level 3, hand them back — learners will see how much they have improved, and nothing motivates more than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This is the largest homework of Level 2 and it is the end-of-level assessment. Show this rubric before learners start writing.
COMMON MISTAKES: Do not deduct for spelling errors in the paragraph beyond a couple of marks. Structure and joining are what this module taught.
TIP: Give the mark privately with two written comments: one thing done well, one thing to work on. Never read marks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3 and read warm-up task 3 again: what stops you writing? Most answers were “I do not know where to start” — and slide 20 answered that.
TIP: This is the last teaching summary of Level 2. Take a moment to name what learners have completed: eight modules, 608 slides, a full CEFR A1 to A2 course.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photograph this slide. Better still, print all four boxes on one page as the Level 2 writing card.
TIP: Together with the reading card from Module 6 and the listening card from Module 7, this makes a three-page toolkit covering the whole second half of Level 2.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Do not rush this slide.
HOW TO TEACH: Play each learner's Module 1 recording next to their Module 8 recording, if they agree. Eight modules of progress heard in four minutes is the most powerful thing you can do in this room.
COMMON MISTAKES: Do not let learners leave thinking they are “not good yet”. A2 is a real, recognised, useful level — say so plainly.
TIP: Preview Level 3 honestly: it is where accuracy and fluency come together, and where English starts being used for work — interviews, presentations and the workplace.
CLASSROOM ACTIVITY: Certificate moment: read every learner's name and say one specific thing each has improved at. It takes ten minutes and learners remember it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slideLayout" Target="../slideLayouts/slideLayout1.xml"/><Relationship Id="rId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2</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2</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Elementary</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A1 → A2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8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50" b="1" dirty="0">
                <a:solidFill>
                  <a:srgbClr val="FFFFFF"/>
                </a:solidFill>
                <a:latin typeface="Calibri" pitchFamily="34" charset="0"/>
                <a:ea typeface="Calibri" pitchFamily="34" charset="-122"/>
                <a:cs typeface="Calibri" pitchFamily="34" charset="-120"/>
              </a:rPr>
              <a:t>Writing Everyday Texts</a:t>
            </a:r>
            <a:endParaRPr lang="en-US" sz="445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700" dirty="0">
                <a:solidFill>
                  <a:srgbClr val="B9CFC1"/>
                </a:solidFill>
                <a:latin typeface="Calibri" pitchFamily="34" charset="0"/>
                <a:ea typeface="Calibri" pitchFamily="34" charset="-122"/>
                <a:cs typeface="Calibri" pitchFamily="34" charset="-120"/>
              </a:rPr>
              <a:t>The last module of Level 2. Messages, notes, forms — and your first real paragraph in English.</a:t>
            </a:r>
            <a:endParaRPr lang="en-US" sz="17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END OF</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LEVEL 2</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of them useful the day you leave this room.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Write a clear message or note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Greeting, purpose, close. Three parts, every time.</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capital letters, full stops and commas correctly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three marks that make writing readable.</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Join short sentences into longer ones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and · but · because · so. Your writing stops sounding like a child's.</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Fill in a form in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Name, date of birth, address, signature — and what each word means.</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Write a paragraph of 100–150 words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One idea, a topic sentence, details, and a closing line.</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what do you write?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In one week</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do you write in one week? Messages? Notes? Lists? Nothing? Count them.</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In English?</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Have you ever written anything in English outside a classroom? What was it?</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What stops you?</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is hardest about writing English? Spelling? Grammar? Not knowing where to start?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Good writing is not long words. It is short sentences that a stranger can understand.</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700" dirty="0">
                <a:solidFill>
                  <a:srgbClr val="B9CFC1"/>
                </a:solidFill>
                <a:latin typeface="Calibri" pitchFamily="34" charset="0"/>
                <a:ea typeface="Calibri" pitchFamily="34" charset="-122"/>
                <a:cs typeface="Calibri" pitchFamily="34" charset="-120"/>
              </a:rPr>
              <a:t>Everything you need is already in Modules 1 to 7.</a:t>
            </a:r>
            <a:endParaRPr lang="en-US" sz="1700" dirty="0"/>
          </a:p>
          <a:p>
            <a:pPr indent="0" marL="0">
              <a:lnSpc>
                <a:spcPct val="120000"/>
              </a:lnSpc>
              <a:buNone/>
            </a:pPr>
            <a:r>
              <a:rPr lang="en-US" sz="1700" dirty="0">
                <a:solidFill>
                  <a:srgbClr val="B9CFC1"/>
                </a:solidFill>
                <a:latin typeface="Calibri" pitchFamily="34" charset="0"/>
                <a:ea typeface="Calibri" pitchFamily="34" charset="-122"/>
                <a:cs typeface="Calibri" pitchFamily="34" charset="-120"/>
              </a:rPr>
              <a:t>This module gives you the SHAPE — where to put it on the page, and how to join it together.</a:t>
            </a:r>
            <a:endParaRPr lang="en-US" sz="17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One idea per sentence</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One topic per paragraph</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Always read it back</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Sentence · paragraph · text</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sizes. Each one has a rule.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 SENTENCE</a:t>
            </a:r>
            <a:endParaRPr lang="en-US" sz="1900" dirty="0"/>
          </a:p>
          <a:p>
            <a:pPr indent="0" marL="0">
              <a:lnSpc>
                <a:spcPct val="102000"/>
              </a:lnSpc>
              <a:spcBef>
                <a:spcPts val="362"/>
              </a:spcBef>
              <a:buNone/>
            </a:pPr>
            <a:r>
              <a:rPr lang="en-US" sz="1450" dirty="0">
                <a:solidFill>
                  <a:srgbClr val="3A473F"/>
                </a:solidFill>
                <a:latin typeface="Calibri" pitchFamily="34" charset="0"/>
                <a:ea typeface="Calibri" pitchFamily="34" charset="-122"/>
                <a:cs typeface="Calibri" pitchFamily="34" charset="-120"/>
              </a:rPr>
              <a:t>ONE idea.</a:t>
            </a:r>
            <a:endParaRPr lang="en-US" sz="1900" dirty="0"/>
          </a:p>
          <a:p>
            <a:pPr indent="0" marL="0">
              <a:lnSpc>
                <a:spcPct val="102000"/>
              </a:lnSpc>
              <a:spcBef>
                <a:spcPts val="362"/>
              </a:spcBef>
              <a:buNone/>
            </a:pPr>
            <a:endParaRPr lang="en-US" sz="1900" dirty="0"/>
          </a:p>
          <a:p>
            <a:pPr indent="0" marL="0">
              <a:lnSpc>
                <a:spcPct val="102000"/>
              </a:lnSpc>
              <a:spcBef>
                <a:spcPts val="362"/>
              </a:spcBef>
              <a:buNone/>
            </a:pPr>
            <a:r>
              <a:rPr lang="en-US" sz="1450" dirty="0">
                <a:solidFill>
                  <a:srgbClr val="3A473F"/>
                </a:solidFill>
                <a:latin typeface="Calibri" pitchFamily="34" charset="0"/>
                <a:ea typeface="Calibri" pitchFamily="34" charset="-122"/>
                <a:cs typeface="Calibri" pitchFamily="34" charset="-120"/>
              </a:rPr>
              <a:t>Starts with a CAPITAL letter.</a:t>
            </a:r>
            <a:endParaRPr lang="en-US" sz="1900" dirty="0"/>
          </a:p>
          <a:p>
            <a:pPr indent="0" marL="0">
              <a:lnSpc>
                <a:spcPct val="102000"/>
              </a:lnSpc>
              <a:spcBef>
                <a:spcPts val="362"/>
              </a:spcBef>
              <a:buNone/>
            </a:pPr>
            <a:r>
              <a:rPr lang="en-US" sz="1450" dirty="0">
                <a:solidFill>
                  <a:srgbClr val="3A473F"/>
                </a:solidFill>
                <a:latin typeface="Calibri" pitchFamily="34" charset="0"/>
                <a:ea typeface="Calibri" pitchFamily="34" charset="-122"/>
                <a:cs typeface="Calibri" pitchFamily="34" charset="-120"/>
              </a:rPr>
              <a:t>Ends with a FULL STOP.</a:t>
            </a:r>
            <a:endParaRPr lang="en-US" sz="1900" dirty="0"/>
          </a:p>
          <a:p>
            <a:pPr indent="0" marL="0">
              <a:lnSpc>
                <a:spcPct val="102000"/>
              </a:lnSpc>
              <a:spcBef>
                <a:spcPts val="362"/>
              </a:spcBef>
              <a:buNone/>
            </a:pPr>
            <a:r>
              <a:rPr lang="en-US" sz="1450" dirty="0">
                <a:solidFill>
                  <a:srgbClr val="3A473F"/>
                </a:solidFill>
                <a:latin typeface="Calibri" pitchFamily="34" charset="0"/>
                <a:ea typeface="Calibri" pitchFamily="34" charset="-122"/>
                <a:cs typeface="Calibri" pitchFamily="34" charset="-120"/>
              </a:rPr>
              <a:t>Has a subject and a verb.</a:t>
            </a:r>
            <a:endParaRPr lang="en-US" sz="1900" dirty="0"/>
          </a:p>
          <a:p>
            <a:pPr indent="0" marL="0">
              <a:lnSpc>
                <a:spcPct val="102000"/>
              </a:lnSpc>
              <a:spcBef>
                <a:spcPts val="362"/>
              </a:spcBef>
              <a:buNone/>
            </a:pPr>
            <a:endParaRPr lang="en-US" sz="1900" dirty="0"/>
          </a:p>
          <a:p>
            <a:pPr indent="0" marL="0">
              <a:lnSpc>
                <a:spcPct val="102000"/>
              </a:lnSpc>
              <a:spcBef>
                <a:spcPts val="362"/>
              </a:spcBef>
              <a:buNone/>
            </a:pPr>
            <a:r>
              <a:rPr lang="en-US" sz="1450" dirty="0">
                <a:solidFill>
                  <a:srgbClr val="3A473F"/>
                </a:solidFill>
                <a:latin typeface="Calibri" pitchFamily="34" charset="0"/>
                <a:ea typeface="Calibri" pitchFamily="34" charset="-122"/>
                <a:cs typeface="Calibri" pitchFamily="34" charset="-120"/>
              </a:rPr>
              <a:t>“Sara works in a shop.”</a:t>
            </a:r>
            <a:endParaRPr lang="en-US" sz="1900" dirty="0"/>
          </a:p>
        </p:txBody>
      </p:sp>
      <p:sp>
        <p:nvSpPr>
          <p:cNvPr id="15" name="Shape 10"/>
          <p:cNvSpPr/>
          <p:nvPr/>
        </p:nvSpPr>
        <p:spPr>
          <a:xfrm>
            <a:off x="4313834"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1850" b="1" dirty="0">
                <a:solidFill>
                  <a:srgbClr val="12211B"/>
                </a:solidFill>
                <a:latin typeface="Calibri" pitchFamily="34" charset="0"/>
                <a:ea typeface="Calibri" pitchFamily="34" charset="-122"/>
                <a:cs typeface="Calibri" pitchFamily="34" charset="-120"/>
              </a:rPr>
              <a:t>2 · PARAGRAPH</a:t>
            </a: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ONE topic.</a:t>
            </a:r>
            <a:endParaRPr lang="en-US" sz="1850" dirty="0"/>
          </a:p>
          <a:p>
            <a:pPr indent="0" marL="0">
              <a:lnSpc>
                <a:spcPct val="102000"/>
              </a:lnSpc>
              <a:spcBef>
                <a:spcPts val="352"/>
              </a:spcBef>
              <a:buNone/>
            </a:pP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4 to 8 sentences.</a:t>
            </a: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Starts with a topic sentence.</a:t>
            </a: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Leave a blank line before the next one.</a:t>
            </a:r>
            <a:endParaRPr lang="en-US" sz="1850" dirty="0"/>
          </a:p>
          <a:p>
            <a:pPr indent="0" marL="0">
              <a:lnSpc>
                <a:spcPct val="102000"/>
              </a:lnSpc>
              <a:spcBef>
                <a:spcPts val="352"/>
              </a:spcBef>
              <a:buNone/>
            </a:pP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100–150 words.</a:t>
            </a:r>
            <a:endParaRPr lang="en-US" sz="1850" dirty="0"/>
          </a:p>
        </p:txBody>
      </p:sp>
      <p:sp>
        <p:nvSpPr>
          <p:cNvPr id="19" name="Shape 13"/>
          <p:cNvSpPr/>
          <p:nvPr/>
        </p:nvSpPr>
        <p:spPr>
          <a:xfrm>
            <a:off x="8079029"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1850" b="1" dirty="0">
                <a:solidFill>
                  <a:srgbClr val="12211B"/>
                </a:solidFill>
                <a:latin typeface="Calibri" pitchFamily="34" charset="0"/>
                <a:ea typeface="Calibri" pitchFamily="34" charset="-122"/>
                <a:cs typeface="Calibri" pitchFamily="34" charset="-120"/>
              </a:rPr>
              <a:t>3 · TEXT</a:t>
            </a: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The whole thing.</a:t>
            </a:r>
            <a:endParaRPr lang="en-US" sz="1850" dirty="0"/>
          </a:p>
          <a:p>
            <a:pPr indent="0" marL="0">
              <a:lnSpc>
                <a:spcPct val="102000"/>
              </a:lnSpc>
              <a:spcBef>
                <a:spcPts val="352"/>
              </a:spcBef>
              <a:buNone/>
            </a:pP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A message, a note, a letter, a form.</a:t>
            </a: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May be one paragraph or several.</a:t>
            </a:r>
            <a:endParaRPr lang="en-US" sz="1850" dirty="0"/>
          </a:p>
          <a:p>
            <a:pPr indent="0" marL="0">
              <a:lnSpc>
                <a:spcPct val="102000"/>
              </a:lnSpc>
              <a:spcBef>
                <a:spcPts val="352"/>
              </a:spcBef>
              <a:buNone/>
            </a:pP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Each one has its own shape.</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four marks you need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Get these right and your writing is readable. Get them wrong and it is not.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011680"/>
                <a:gridCol w="4023360"/>
                <a:gridCol w="5059375"/>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Mark</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When to use it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Capital  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start of a sentence · names · I · days · countries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 Monday, Sara and I went to Adama.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Full stop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end of a statement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works in a shop.</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Question mark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end of a question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Where do you work?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Comma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in a list · after a joining word at the start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bought bread, milk and eggs.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word “I” is ALWAYS a capital letter in English, anywhere in the sentence. No other language does this — so it is easy to forget.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00" b="1" dirty="0">
                <a:solidFill>
                  <a:srgbClr val="12211B"/>
                </a:solidFill>
                <a:latin typeface="Calibri" pitchFamily="34" charset="0"/>
                <a:ea typeface="Calibri" pitchFamily="34" charset="-122"/>
                <a:cs typeface="Calibri" pitchFamily="34" charset="-120"/>
              </a:rPr>
              <a:t>Joining sentences — the biggest single improvement</a:t>
            </a:r>
            <a:endParaRPr lang="en-US" sz="34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Short sentences are correct. But all-short sounds like a child.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Before — all short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Sara works in a shop.</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shop is in Merkato.</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She starts at eight.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She finishes at six.</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She likes her job.</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pay is not good.</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After — joined</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Sara works in a shop in Merkato.</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She starts at eight and finishes at six.</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She likes her job, but the pay is not good.</a:t>
            </a:r>
            <a:endParaRPr lang="en-US" sz="1500" dirty="0"/>
          </a:p>
          <a:p>
            <a:pPr marL="228600" indent="-228600">
              <a:lnSpc>
                <a:spcPct val="100000"/>
              </a:lnSpc>
              <a:spcAft>
                <a:spcPts val="868"/>
              </a:spcAft>
              <a:buSzPct val="100000"/>
              <a:buChar char="•"/>
            </a:pP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Six sentences became three.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Nothing was lost.</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and · but · because · so.  Four words. They are the difference between elementary writing and good writing.</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shape of a paragraph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parts. Always the same order.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630936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76072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EXAMPLE — 5 SENTENCES</a:t>
            </a:r>
            <a:endParaRPr lang="en-US" sz="1200" dirty="0"/>
          </a:p>
        </p:txBody>
      </p:sp>
      <p:sp>
        <p:nvSpPr>
          <p:cNvPr id="13" name="Text 9"/>
          <p:cNvSpPr txBox="1"/>
          <p:nvPr/>
        </p:nvSpPr>
        <p:spPr>
          <a:xfrm>
            <a:off x="822960" y="2487168"/>
            <a:ext cx="5760720" cy="3218688"/>
          </a:xfrm>
          <a:prstGeom prst="rect">
            <a:avLst/>
          </a:prstGeom>
          <a:noFill/>
          <a:ln/>
        </p:spPr>
        <p:txBody>
          <a:bodyPr wrap="square" lIns="0" tIns="0" rIns="0" bIns="0" rtlCol="0" anchor="ctr"/>
          <a:lstStyle/>
          <a:p>
            <a:pPr indent="0" marL="0">
              <a:lnSpc>
                <a:spcPct val="142000"/>
              </a:lnSpc>
              <a:buNone/>
            </a:pPr>
            <a:r>
              <a:rPr lang="en-US" sz="1650" dirty="0">
                <a:solidFill>
                  <a:srgbClr val="12211B"/>
                </a:solidFill>
                <a:latin typeface="Calibri" pitchFamily="34" charset="0"/>
                <a:ea typeface="Calibri" pitchFamily="34" charset="-122"/>
                <a:cs typeface="Calibri" pitchFamily="34" charset="-120"/>
              </a:rPr>
              <a:t>My town is a good place to live.</a:t>
            </a:r>
            <a:endParaRPr lang="en-US" sz="1650" dirty="0"/>
          </a:p>
          <a:p>
            <a:pPr indent="0" marL="0">
              <a:lnSpc>
                <a:spcPct val="142000"/>
              </a:lnSpc>
              <a:buNone/>
            </a:pPr>
            <a:endParaRPr lang="en-US" sz="1650" dirty="0"/>
          </a:p>
          <a:p>
            <a:pPr indent="0" marL="0">
              <a:lnSpc>
                <a:spcPct val="142000"/>
              </a:lnSpc>
              <a:buNone/>
            </a:pPr>
            <a:r>
              <a:rPr lang="en-US" sz="1650" dirty="0">
                <a:solidFill>
                  <a:srgbClr val="12211B"/>
                </a:solidFill>
                <a:latin typeface="Calibri" pitchFamily="34" charset="0"/>
                <a:ea typeface="Calibri" pitchFamily="34" charset="-122"/>
                <a:cs typeface="Calibri" pitchFamily="34" charset="-120"/>
              </a:rPr>
              <a:t>It is not very big, but it has</a:t>
            </a:r>
            <a:endParaRPr lang="en-US" sz="1650" dirty="0"/>
          </a:p>
          <a:p>
            <a:pPr indent="0" marL="0">
              <a:lnSpc>
                <a:spcPct val="142000"/>
              </a:lnSpc>
              <a:buNone/>
            </a:pPr>
            <a:r>
              <a:rPr lang="en-US" sz="1650" dirty="0">
                <a:solidFill>
                  <a:srgbClr val="12211B"/>
                </a:solidFill>
                <a:latin typeface="Calibri" pitchFamily="34" charset="0"/>
                <a:ea typeface="Calibri" pitchFamily="34" charset="-122"/>
                <a:cs typeface="Calibri" pitchFamily="34" charset="-120"/>
              </a:rPr>
              <a:t>everything you need. There is a</a:t>
            </a:r>
            <a:endParaRPr lang="en-US" sz="1650" dirty="0"/>
          </a:p>
          <a:p>
            <a:pPr indent="0" marL="0">
              <a:lnSpc>
                <a:spcPct val="142000"/>
              </a:lnSpc>
              <a:buNone/>
            </a:pPr>
            <a:r>
              <a:rPr lang="en-US" sz="1650" dirty="0">
                <a:solidFill>
                  <a:srgbClr val="12211B"/>
                </a:solidFill>
                <a:latin typeface="Calibri" pitchFamily="34" charset="0"/>
                <a:ea typeface="Calibri" pitchFamily="34" charset="-122"/>
                <a:cs typeface="Calibri" pitchFamily="34" charset="-120"/>
              </a:rPr>
              <a:t>market, two schools and a small</a:t>
            </a:r>
            <a:endParaRPr lang="en-US" sz="1650" dirty="0"/>
          </a:p>
          <a:p>
            <a:pPr indent="0" marL="0">
              <a:lnSpc>
                <a:spcPct val="142000"/>
              </a:lnSpc>
              <a:buNone/>
            </a:pPr>
            <a:r>
              <a:rPr lang="en-US" sz="1650" dirty="0">
                <a:solidFill>
                  <a:srgbClr val="12211B"/>
                </a:solidFill>
                <a:latin typeface="Calibri" pitchFamily="34" charset="0"/>
                <a:ea typeface="Calibri" pitchFamily="34" charset="-122"/>
                <a:cs typeface="Calibri" pitchFamily="34" charset="-120"/>
              </a:rPr>
              <a:t>hospital. The people are friendly</a:t>
            </a:r>
            <a:endParaRPr lang="en-US" sz="1650" dirty="0"/>
          </a:p>
          <a:p>
            <a:pPr indent="0" marL="0">
              <a:lnSpc>
                <a:spcPct val="142000"/>
              </a:lnSpc>
              <a:buNone/>
            </a:pPr>
            <a:r>
              <a:rPr lang="en-US" sz="1650" dirty="0">
                <a:solidFill>
                  <a:srgbClr val="12211B"/>
                </a:solidFill>
                <a:latin typeface="Calibri" pitchFamily="34" charset="0"/>
                <a:ea typeface="Calibri" pitchFamily="34" charset="-122"/>
                <a:cs typeface="Calibri" pitchFamily="34" charset="-120"/>
              </a:rPr>
              <a:t>and the food is cheap.</a:t>
            </a:r>
            <a:endParaRPr lang="en-US" sz="1650" dirty="0"/>
          </a:p>
          <a:p>
            <a:pPr indent="0" marL="0">
              <a:lnSpc>
                <a:spcPct val="142000"/>
              </a:lnSpc>
              <a:buNone/>
            </a:pPr>
            <a:endParaRPr lang="en-US" sz="1650" dirty="0"/>
          </a:p>
          <a:p>
            <a:pPr indent="0" marL="0">
              <a:lnSpc>
                <a:spcPct val="142000"/>
              </a:lnSpc>
              <a:buNone/>
            </a:pPr>
            <a:r>
              <a:rPr lang="en-US" sz="1650" dirty="0">
                <a:solidFill>
                  <a:srgbClr val="12211B"/>
                </a:solidFill>
                <a:latin typeface="Calibri" pitchFamily="34" charset="0"/>
                <a:ea typeface="Calibri" pitchFamily="34" charset="-122"/>
                <a:cs typeface="Calibri" pitchFamily="34" charset="-120"/>
              </a:rPr>
              <a:t>I am happy here.</a:t>
            </a:r>
            <a:endParaRPr lang="en-US" sz="1650" dirty="0"/>
          </a:p>
        </p:txBody>
      </p:sp>
      <p:sp>
        <p:nvSpPr>
          <p:cNvPr id="14" name="Shape 10"/>
          <p:cNvSpPr/>
          <p:nvPr/>
        </p:nvSpPr>
        <p:spPr>
          <a:xfrm>
            <a:off x="7132320" y="1883664"/>
            <a:ext cx="451073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370064" y="2103120"/>
            <a:ext cx="403524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THE FOUR PARTS</a:t>
            </a:r>
            <a:endParaRPr lang="en-US" sz="1200" dirty="0"/>
          </a:p>
        </p:txBody>
      </p:sp>
      <p:sp>
        <p:nvSpPr>
          <p:cNvPr id="16" name="Text 12"/>
          <p:cNvSpPr/>
          <p:nvPr/>
        </p:nvSpPr>
        <p:spPr>
          <a:xfrm>
            <a:off x="7406640" y="2505456"/>
            <a:ext cx="39620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TOPIC SENTENCE — says what the paragraph is about. Always first.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DETAILS — two or three sentences that support it.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EXAMPLES — “There is a market, two schools and…”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CLOSING — one short sentence to finish.</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A message has three parts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Greeting · purpose · close. Never more complicated than this.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3564026" cy="4059936"/>
          </a:xfrm>
          <a:prstGeom prst="roundRect">
            <a:avLst>
              <a:gd name="adj" fmla="val 3592"/>
            </a:avLst>
          </a:prstGeom>
          <a:solidFill>
            <a:srgbClr val="F2ECFA"/>
          </a:solidFill>
          <a:ln w="12700">
            <a:solidFill>
              <a:srgbClr val="D9CBEE"/>
            </a:solidFill>
            <a:prstDash val="solid"/>
          </a:ln>
        </p:spPr>
      </p:sp>
      <p:sp>
        <p:nvSpPr>
          <p:cNvPr id="12" name="Shape 8"/>
          <p:cNvSpPr/>
          <p:nvPr/>
        </p:nvSpPr>
        <p:spPr>
          <a:xfrm>
            <a:off x="768096" y="2103120"/>
            <a:ext cx="457200" cy="457200"/>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 GREETING</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“Dear Mr Abel,”  — formal</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“Hello Sara,”  — friendly</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“Hi,”  — very informal</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Use a comma after it.</a:t>
            </a:r>
            <a:endParaRPr lang="en-US" sz="2000" dirty="0"/>
          </a:p>
        </p:txBody>
      </p:sp>
      <p:sp>
        <p:nvSpPr>
          <p:cNvPr id="15" name="Shape 10"/>
          <p:cNvSpPr/>
          <p:nvPr/>
        </p:nvSpPr>
        <p:spPr>
          <a:xfrm>
            <a:off x="4313834" y="1883664"/>
            <a:ext cx="3564026" cy="4059936"/>
          </a:xfrm>
          <a:prstGeom prst="roundRect">
            <a:avLst>
              <a:gd name="adj" fmla="val 3592"/>
            </a:avLst>
          </a:prstGeom>
          <a:solidFill>
            <a:srgbClr val="F2ECFA"/>
          </a:solidFill>
          <a:ln w="12700">
            <a:solidFill>
              <a:srgbClr val="D9CBEE"/>
            </a:solidFill>
            <a:prstDash val="solid"/>
          </a:ln>
        </p:spPr>
      </p:sp>
      <p:sp>
        <p:nvSpPr>
          <p:cNvPr id="16" name="Shape 11"/>
          <p:cNvSpPr/>
          <p:nvPr/>
        </p:nvSpPr>
        <p:spPr>
          <a:xfrm>
            <a:off x="4533290" y="2103120"/>
            <a:ext cx="457200" cy="457200"/>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 PURPOSE</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Why are you writing?</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Say it in the FIRST line.</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“I am writing about the meeting on Friday.”</a:t>
            </a:r>
            <a:endParaRPr lang="en-US" sz="2000" dirty="0"/>
          </a:p>
        </p:txBody>
      </p:sp>
      <p:sp>
        <p:nvSpPr>
          <p:cNvPr id="19" name="Shape 13"/>
          <p:cNvSpPr/>
          <p:nvPr/>
        </p:nvSpPr>
        <p:spPr>
          <a:xfrm>
            <a:off x="8079029" y="1883664"/>
            <a:ext cx="3564026" cy="4059936"/>
          </a:xfrm>
          <a:prstGeom prst="roundRect">
            <a:avLst>
              <a:gd name="adj" fmla="val 3592"/>
            </a:avLst>
          </a:prstGeom>
          <a:solidFill>
            <a:srgbClr val="F2ECFA"/>
          </a:solidFill>
          <a:ln w="12700">
            <a:solidFill>
              <a:srgbClr val="D9CBEE"/>
            </a:solidFill>
            <a:prstDash val="solid"/>
          </a:ln>
        </p:spPr>
      </p:sp>
      <p:sp>
        <p:nvSpPr>
          <p:cNvPr id="20" name="Shape 14"/>
          <p:cNvSpPr/>
          <p:nvPr/>
        </p:nvSpPr>
        <p:spPr>
          <a:xfrm>
            <a:off x="8298485" y="2103120"/>
            <a:ext cx="457200" cy="457200"/>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 CLOSE</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“Thank you.”</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“See you on Friday.”</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Then your name on a new line.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Check your own writing — six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0" name="Shape 6"/>
          <p:cNvSpPr/>
          <p:nvPr/>
        </p:nvSpPr>
        <p:spPr>
          <a:xfrm>
            <a:off x="548640" y="1700784"/>
            <a:ext cx="11094415" cy="630936"/>
          </a:xfrm>
          <a:prstGeom prst="roundRect">
            <a:avLst>
              <a:gd name="adj" fmla="val 20290"/>
            </a:avLst>
          </a:prstGeom>
          <a:solidFill>
            <a:srgbClr val="F6F9F7"/>
          </a:solidFill>
          <a:ln w="12700">
            <a:solidFill>
              <a:srgbClr val="E3E9E5"/>
            </a:solidFill>
            <a:prstDash val="solid"/>
          </a:ln>
        </p:spPr>
      </p:sp>
      <p:sp>
        <p:nvSpPr>
          <p:cNvPr id="11" name="Shape 7"/>
          <p:cNvSpPr/>
          <p:nvPr/>
        </p:nvSpPr>
        <p:spPr>
          <a:xfrm>
            <a:off x="786384" y="1787652"/>
            <a:ext cx="457200" cy="457200"/>
          </a:xfrm>
          <a:prstGeom prst="ellipse">
            <a:avLst/>
          </a:prstGeom>
          <a:solidFill>
            <a:srgbClr val="0E7C5A"/>
          </a:solidFill>
          <a:ln/>
        </p:spPr>
      </p:sp>
      <p:sp>
        <p:nvSpPr>
          <p:cNvPr id="12" name="Text 8"/>
          <p:cNvSpPr txBox="1"/>
          <p:nvPr/>
        </p:nvSpPr>
        <p:spPr>
          <a:xfrm>
            <a:off x="786384" y="17876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9"/>
          <p:cNvSpPr/>
          <p:nvPr/>
        </p:nvSpPr>
        <p:spPr>
          <a:xfrm>
            <a:off x="1463040" y="177393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Does every sentence start with a capital and end with a full stop?</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Look only at the first and last character of each sentence.</a:t>
            </a:r>
            <a:endParaRPr lang="en-US" sz="1630" dirty="0"/>
          </a:p>
        </p:txBody>
      </p:sp>
      <p:sp>
        <p:nvSpPr>
          <p:cNvPr id="14" name="Shape 10"/>
          <p:cNvSpPr/>
          <p:nvPr/>
        </p:nvSpPr>
        <p:spPr>
          <a:xfrm>
            <a:off x="548640" y="2423160"/>
            <a:ext cx="11094415" cy="630936"/>
          </a:xfrm>
          <a:prstGeom prst="roundRect">
            <a:avLst>
              <a:gd name="adj" fmla="val 20290"/>
            </a:avLst>
          </a:prstGeom>
          <a:solidFill>
            <a:srgbClr val="F6F9F7"/>
          </a:solidFill>
          <a:ln w="12700">
            <a:solidFill>
              <a:srgbClr val="E3E9E5"/>
            </a:solidFill>
            <a:prstDash val="solid"/>
          </a:ln>
        </p:spPr>
      </p:sp>
      <p:sp>
        <p:nvSpPr>
          <p:cNvPr id="15" name="Shape 11"/>
          <p:cNvSpPr/>
          <p:nvPr/>
        </p:nvSpPr>
        <p:spPr>
          <a:xfrm>
            <a:off x="786384" y="2510028"/>
            <a:ext cx="457200" cy="457200"/>
          </a:xfrm>
          <a:prstGeom prst="ellipse">
            <a:avLst/>
          </a:prstGeom>
          <a:solidFill>
            <a:srgbClr val="0E7C5A"/>
          </a:solidFill>
          <a:ln/>
        </p:spPr>
      </p:sp>
      <p:sp>
        <p:nvSpPr>
          <p:cNvPr id="16" name="Text 12"/>
          <p:cNvSpPr txBox="1"/>
          <p:nvPr/>
        </p:nvSpPr>
        <p:spPr>
          <a:xfrm>
            <a:off x="786384" y="25100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3"/>
          <p:cNvSpPr/>
          <p:nvPr/>
        </p:nvSpPr>
        <p:spPr>
          <a:xfrm>
            <a:off x="1463040" y="2496312"/>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Is every “I” a capital letter?</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The commonest error in the whole course.</a:t>
            </a:r>
            <a:endParaRPr lang="en-US" sz="1630" dirty="0"/>
          </a:p>
        </p:txBody>
      </p:sp>
      <p:sp>
        <p:nvSpPr>
          <p:cNvPr id="18" name="Shape 14"/>
          <p:cNvSpPr/>
          <p:nvPr/>
        </p:nvSpPr>
        <p:spPr>
          <a:xfrm>
            <a:off x="548640" y="3145536"/>
            <a:ext cx="11094415" cy="630936"/>
          </a:xfrm>
          <a:prstGeom prst="roundRect">
            <a:avLst>
              <a:gd name="adj" fmla="val 20290"/>
            </a:avLst>
          </a:prstGeom>
          <a:solidFill>
            <a:srgbClr val="F6F9F7"/>
          </a:solidFill>
          <a:ln w="12700">
            <a:solidFill>
              <a:srgbClr val="E3E9E5"/>
            </a:solidFill>
            <a:prstDash val="solid"/>
          </a:ln>
        </p:spPr>
      </p:sp>
      <p:sp>
        <p:nvSpPr>
          <p:cNvPr id="19" name="Shape 15"/>
          <p:cNvSpPr/>
          <p:nvPr/>
        </p:nvSpPr>
        <p:spPr>
          <a:xfrm>
            <a:off x="786384" y="3232404"/>
            <a:ext cx="457200" cy="457200"/>
          </a:xfrm>
          <a:prstGeom prst="ellipse">
            <a:avLst/>
          </a:prstGeom>
          <a:solidFill>
            <a:srgbClr val="0E7C5A"/>
          </a:solidFill>
          <a:ln/>
        </p:spPr>
      </p:sp>
      <p:sp>
        <p:nvSpPr>
          <p:cNvPr id="20" name="Text 16"/>
          <p:cNvSpPr txBox="1"/>
          <p:nvPr/>
        </p:nvSpPr>
        <p:spPr>
          <a:xfrm>
            <a:off x="786384" y="32324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7"/>
          <p:cNvSpPr/>
          <p:nvPr/>
        </p:nvSpPr>
        <p:spPr>
          <a:xfrm>
            <a:off x="1463040" y="3218688"/>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Does every verb match its subject?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He works, not he work. From Level 1.</a:t>
            </a:r>
            <a:endParaRPr lang="en-US" sz="1630" dirty="0"/>
          </a:p>
        </p:txBody>
      </p:sp>
      <p:sp>
        <p:nvSpPr>
          <p:cNvPr id="22" name="Shape 18"/>
          <p:cNvSpPr/>
          <p:nvPr/>
        </p:nvSpPr>
        <p:spPr>
          <a:xfrm>
            <a:off x="548640" y="3867912"/>
            <a:ext cx="11094415" cy="630936"/>
          </a:xfrm>
          <a:prstGeom prst="roundRect">
            <a:avLst>
              <a:gd name="adj" fmla="val 20290"/>
            </a:avLst>
          </a:prstGeom>
          <a:solidFill>
            <a:srgbClr val="F6F9F7"/>
          </a:solidFill>
          <a:ln w="12700">
            <a:solidFill>
              <a:srgbClr val="E3E9E5"/>
            </a:solidFill>
            <a:prstDash val="solid"/>
          </a:ln>
        </p:spPr>
      </p:sp>
      <p:sp>
        <p:nvSpPr>
          <p:cNvPr id="23" name="Shape 19"/>
          <p:cNvSpPr/>
          <p:nvPr/>
        </p:nvSpPr>
        <p:spPr>
          <a:xfrm>
            <a:off x="786384" y="3954780"/>
            <a:ext cx="457200" cy="457200"/>
          </a:xfrm>
          <a:prstGeom prst="ellipse">
            <a:avLst/>
          </a:prstGeom>
          <a:solidFill>
            <a:srgbClr val="0E7C5A"/>
          </a:solidFill>
          <a:ln/>
        </p:spPr>
      </p:sp>
      <p:sp>
        <p:nvSpPr>
          <p:cNvPr id="24" name="Text 20"/>
          <p:cNvSpPr txBox="1"/>
          <p:nvPr/>
        </p:nvSpPr>
        <p:spPr>
          <a:xfrm>
            <a:off x="786384" y="39547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1"/>
          <p:cNvSpPr/>
          <p:nvPr/>
        </p:nvSpPr>
        <p:spPr>
          <a:xfrm>
            <a:off x="1463040" y="3941064"/>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Is there a plural -s where it is needed?</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Three books, not three book.</a:t>
            </a:r>
            <a:endParaRPr lang="en-US" sz="1630" dirty="0"/>
          </a:p>
        </p:txBody>
      </p:sp>
      <p:sp>
        <p:nvSpPr>
          <p:cNvPr id="26" name="Shape 22"/>
          <p:cNvSpPr/>
          <p:nvPr/>
        </p:nvSpPr>
        <p:spPr>
          <a:xfrm>
            <a:off x="548640" y="4590288"/>
            <a:ext cx="11094415" cy="630936"/>
          </a:xfrm>
          <a:prstGeom prst="roundRect">
            <a:avLst>
              <a:gd name="adj" fmla="val 20290"/>
            </a:avLst>
          </a:prstGeom>
          <a:solidFill>
            <a:srgbClr val="F6F9F7"/>
          </a:solidFill>
          <a:ln w="12700">
            <a:solidFill>
              <a:srgbClr val="E3E9E5"/>
            </a:solidFill>
            <a:prstDash val="solid"/>
          </a:ln>
        </p:spPr>
      </p:sp>
      <p:sp>
        <p:nvSpPr>
          <p:cNvPr id="27" name="Shape 23"/>
          <p:cNvSpPr/>
          <p:nvPr/>
        </p:nvSpPr>
        <p:spPr>
          <a:xfrm>
            <a:off x="786384" y="4677156"/>
            <a:ext cx="457200" cy="457200"/>
          </a:xfrm>
          <a:prstGeom prst="ellipse">
            <a:avLst/>
          </a:prstGeom>
          <a:solidFill>
            <a:srgbClr val="0E7C5A"/>
          </a:solidFill>
          <a:ln/>
        </p:spPr>
      </p:sp>
      <p:sp>
        <p:nvSpPr>
          <p:cNvPr id="28" name="Text 24"/>
          <p:cNvSpPr txBox="1"/>
          <p:nvPr/>
        </p:nvSpPr>
        <p:spPr>
          <a:xfrm>
            <a:off x="786384" y="46771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5"/>
          <p:cNvSpPr/>
          <p:nvPr/>
        </p:nvSpPr>
        <p:spPr>
          <a:xfrm>
            <a:off x="1463040" y="4663440"/>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Are the past verbs right?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went, not goed. From Module 3.</a:t>
            </a:r>
            <a:endParaRPr lang="en-US" sz="1630" dirty="0"/>
          </a:p>
        </p:txBody>
      </p:sp>
      <p:sp>
        <p:nvSpPr>
          <p:cNvPr id="30" name="Shape 26"/>
          <p:cNvSpPr/>
          <p:nvPr/>
        </p:nvSpPr>
        <p:spPr>
          <a:xfrm>
            <a:off x="548640" y="5312664"/>
            <a:ext cx="11094415" cy="630936"/>
          </a:xfrm>
          <a:prstGeom prst="roundRect">
            <a:avLst>
              <a:gd name="adj" fmla="val 20290"/>
            </a:avLst>
          </a:prstGeom>
          <a:solidFill>
            <a:srgbClr val="F6F9F7"/>
          </a:solidFill>
          <a:ln w="12700">
            <a:solidFill>
              <a:srgbClr val="E3E9E5"/>
            </a:solidFill>
            <a:prstDash val="solid"/>
          </a:ln>
        </p:spPr>
      </p:sp>
      <p:sp>
        <p:nvSpPr>
          <p:cNvPr id="31" name="Shape 27"/>
          <p:cNvSpPr/>
          <p:nvPr/>
        </p:nvSpPr>
        <p:spPr>
          <a:xfrm>
            <a:off x="786384" y="5399532"/>
            <a:ext cx="457200" cy="457200"/>
          </a:xfrm>
          <a:prstGeom prst="ellipse">
            <a:avLst/>
          </a:prstGeom>
          <a:solidFill>
            <a:srgbClr val="0E7C5A"/>
          </a:solidFill>
          <a:ln/>
        </p:spPr>
      </p:sp>
      <p:sp>
        <p:nvSpPr>
          <p:cNvPr id="32" name="Text 28"/>
          <p:cNvSpPr txBox="1"/>
          <p:nvPr/>
        </p:nvSpPr>
        <p:spPr>
          <a:xfrm>
            <a:off x="786384" y="53995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29"/>
          <p:cNvSpPr/>
          <p:nvPr/>
        </p:nvSpPr>
        <p:spPr>
          <a:xfrm>
            <a:off x="1463040" y="538581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Read it aloud. Does it sound right?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Your ear catches what your eye misses.</a:t>
            </a:r>
            <a:endParaRPr lang="en-US" sz="16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write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write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/raɪt/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put words on paper or on a screen.</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00" b="1" dirty="0">
                <a:solidFill>
                  <a:srgbClr val="12211B"/>
                </a:solidFill>
                <a:latin typeface="Calibri" pitchFamily="34" charset="0"/>
                <a:ea typeface="Calibri" pitchFamily="34" charset="-122"/>
                <a:cs typeface="Calibri" pitchFamily="34" charset="-120"/>
              </a:rPr>
              <a:t>I write to my sister every week. She wrote a message yesterday.</a:t>
            </a:r>
            <a:endParaRPr lang="en-US" sz="15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The W is SILENT — say /raɪt/. And the past is WROTE, not “writed”. Irregular, from Module 3.</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send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send</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/send/</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make something go to somebody else.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50" b="1" dirty="0">
                <a:solidFill>
                  <a:srgbClr val="12211B"/>
                </a:solidFill>
                <a:latin typeface="Calibri" pitchFamily="34" charset="0"/>
                <a:ea typeface="Calibri" pitchFamily="34" charset="-122"/>
                <a:cs typeface="Calibri" pitchFamily="34" charset="-120"/>
              </a:rPr>
              <a:t>I sent the message this morning. Please send me your address.</a:t>
            </a:r>
            <a:endParaRPr lang="en-US" sz="15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The past is SENT, not “sended”. And it is “send me the message”, not “send to me”.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letter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letter</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/ˈletə/</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200" dirty="0">
                <a:solidFill>
                  <a:srgbClr val="12211B"/>
                </a:solidFill>
                <a:latin typeface="Calibri" pitchFamily="34" charset="0"/>
                <a:ea typeface="Calibri" pitchFamily="34" charset="-122"/>
                <a:cs typeface="Calibri" pitchFamily="34" charset="-120"/>
              </a:rPr>
              <a:t>Two meanings: (1) a written message you send · (2) a, b, c — a written symbol.</a:t>
            </a:r>
            <a:endParaRPr lang="en-US" sz="12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50" b="1" dirty="0">
                <a:solidFill>
                  <a:srgbClr val="12211B"/>
                </a:solidFill>
                <a:latin typeface="Calibri" pitchFamily="34" charset="0"/>
                <a:ea typeface="Calibri" pitchFamily="34" charset="-122"/>
                <a:cs typeface="Calibri" pitchFamily="34" charset="-120"/>
              </a:rPr>
              <a:t>I got a letter from the school. The word “sign” has four letters.</a:t>
            </a:r>
            <a:endParaRPr lang="en-US" sz="14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Both meanings are common and only the context tells you which. Do not confuse it with “message”, which is usually shorter.</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address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address</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/əˈdres/</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Where somebody lives or where something is sent.</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What is your address? Please write your address here.</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SECOND syllable: a-DRESS. And note the double D and double S in the spelling.</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sentence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sentence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/ˈsentəns/</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00" dirty="0">
                <a:solidFill>
                  <a:srgbClr val="12211B"/>
                </a:solidFill>
                <a:latin typeface="Calibri" pitchFamily="34" charset="0"/>
                <a:ea typeface="Calibri" pitchFamily="34" charset="-122"/>
                <a:cs typeface="Calibri" pitchFamily="34" charset="-120"/>
              </a:rPr>
              <a:t>A group of words with one idea, a subject and a verb.</a:t>
            </a:r>
            <a:endParaRPr lang="en-US" sz="18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00" b="1" dirty="0">
                <a:solidFill>
                  <a:srgbClr val="12211B"/>
                </a:solidFill>
                <a:latin typeface="Calibri" pitchFamily="34" charset="0"/>
                <a:ea typeface="Calibri" pitchFamily="34" charset="-122"/>
                <a:cs typeface="Calibri" pitchFamily="34" charset="-120"/>
              </a:rPr>
              <a:t>Write three sentences about your town. This sentence has five words.</a:t>
            </a:r>
            <a:endParaRPr lang="en-US" sz="1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FIRST syllable: SEN-tence. Two syllables, not three.</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LANGUAGE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Capital letters — the full list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Seven places. Learn them all.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474720"/>
                <a:gridCol w="3108960"/>
                <a:gridCol w="451073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 a capital for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 first word of a sentence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works here.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works here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 word I — always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Sara and I went.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sara and i went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names of people and places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Dawit · Adama · Ethiopia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dawit · adama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days and months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Monday · September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monday · september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languages and nationalities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English · Amharic · Oromo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english · amharic</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word “I” is capital EVERYWHERE — at the start, in the middle, at the end. This is unique to English.</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LANGUAGE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comma — three simple uses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Do not use it everywhere. Three places only, at this level.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291840"/>
                <a:gridCol w="3291840"/>
                <a:gridCol w="4510735"/>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Rule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50292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In a list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between items, but NOT before the last “and”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bought bread, milk and eggs.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0292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After a starting word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First, Then, However, After that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First, boil the water.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0292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Before but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when it joins two full ideas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 is small, but it is clean.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 comma is NOT a full stop. “She works in a shop, she starts at eight” is WRONG. Use a full stop, or join with “and”.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LANGUAGE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Joining words — the four you need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same four from Module 6. Now you WRITE them.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194560"/>
                <a:gridCol w="3474720"/>
                <a:gridCol w="54251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 joins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similar ideas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starts at eight and finishes at six.</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but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opposite ideas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likes her job, but the pay is not good.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because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 idea and its REASON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was late because the bus did not come.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 idea and its RESULT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bus did not come, so I was late.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Join TWO ideas, or at most three. Six ideas in one sentence is not good English — it is a sentence you have lost control of.</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LANGUAGE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Formal or friendly?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information. Different reader.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Formal — people you do not know</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Dear Mr Abel,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writing about the meeting.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would like to change the time.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Thank you very much.</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Yours sincerely,  Sara Tesfaye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Friendly — people you know</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Hi Abel,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About the meeting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Can we change the time?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Thanks!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Sara</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Formal is not “better”. It is for a different reader. Using formal English with a friend sounds cold; using informal English with a bank sounds careless.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LANGUAGE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Put it all together — how to write anything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steps. Follow them in order, every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3F5BD9"/>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Decide WHO will read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It changes everything — the greeting, the words, the length.</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3F5BD9"/>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your purpose in one sentence first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That sentence becomes your topic sentence or your first line.</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3F5BD9"/>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Add three or four details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Short sentences. One idea each. Do not worry about style yet.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3F5BD9"/>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Join some of them with and, but, because, so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Two or three ideas per sentence. Not six.</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3F5BD9"/>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Check it with the six questions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Capitals · I · verb agreement · plural -s · past verbs · read it aloud.</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capital letters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Find and fix the error.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“sara and i went to adama on monday.”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Sara and I went to Adama on Monday.</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Four capitals: the first word, the name, the place, and the day. Plus “I”, which is always capital.</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 speak amharic and english.”</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speak Amharic and English.</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Languages are capitalised in English. Most languages do not do this, which is why it is forgotten.</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“my birthday is in september.”</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My birthday is in September.</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Months are capitalised, and so are days. Seasons are not: “in summer”, lower case.</a:t>
            </a:r>
            <a:endParaRPr lang="en-US" sz="123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commas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Comma, full stop, or nothing?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“I bought bread milk and eggs.”</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I bought bread, milk and eggs.</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One comma between list items. No comma before the final “and” in British English.</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“She works in a shop, she starts at eight.”</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She works in a shop. She starts at eight.  OR  …shop, and she starts at eight.</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A comma cannot join two complete sentences. Use a full stop, or add a joining word.</a:t>
            </a:r>
            <a:endParaRPr lang="en-US" sz="12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“First boil the water.”</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First, boil the water.</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A comma after a starting word like First, Then, However or After that.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joining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word joins these two ideas?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“She likes her job. The pay is not good.”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likes her job, but the pay is not good.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two ideas are opposite, so “but” — with a comma before it, because both halves are complete sentences.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 was late. The bus did not come.”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was late because the bus did not come.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second half is the reason for the first. Reason follows “because”, and no comma is needed.</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“She starts at eight. She finishes at six.”</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She starts at eight and finishes at six.</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Two similar ideas, same subject. Note that “she” is not repeated after “and”.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the paragraph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sentence goes first?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“There is a market. My town is a good place to live. The people are friendly.”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“My town is a good place to live” goes first.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It is the topic sentence — it says what the whole paragraph is about. The others are details.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How do you know which is the topic sentence?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It is the most general. The others are examples of it.</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Details are specific; the topic sentence covers all of them.</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How many sentences should a paragraph have?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Four to eight. About 100 to 150 words.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Fewer than four is a note, not a paragraph. More than eight usually means two topics that should be split.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messages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Formal or friendly?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Writing to a bank manager you have never met. Which greeting?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“Dear Mr / Mrs + surname,”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Formal, because you do not know them and it is a professional matter. Use their surname, never their first name.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Writing to a classmate. Which greeting?</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“Hi Sara,” or “Hello Sara,”</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Friendly. “Dear Ms Tesfaye” to a classmate would sound cold or sarcastic.</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Where do you say WHY you are writing?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In the first line, straight after the greeting.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English business writing gets to the point immediately. A long introduction before the purpose is not polite here — it is unclear.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Filling in a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Tolosa is opening a bank account. The clerk helps him.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7F3EF"/>
          </a:solidFill>
          <a:ln w="12700">
            <a:solidFill>
              <a:srgbClr val="C4E0D5"/>
            </a:solidFill>
            <a:prstDash val="solid"/>
          </a:ln>
        </p:spPr>
      </p:sp>
      <p:sp>
        <p:nvSpPr>
          <p:cNvPr id="12" name="Shape 8"/>
          <p:cNvSpPr/>
          <p:nvPr/>
        </p:nvSpPr>
        <p:spPr>
          <a:xfrm>
            <a:off x="694944" y="1975104"/>
            <a:ext cx="1417320" cy="272796"/>
          </a:xfrm>
          <a:prstGeom prst="roundRect">
            <a:avLst>
              <a:gd name="adj" fmla="val 33520"/>
            </a:avLst>
          </a:prstGeom>
          <a:solidFill>
            <a:srgbClr val="0E7C5A"/>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Please fill in this form. Write your full name here.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TOLOSA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what does “surname” mean?</a:t>
            </a:r>
            <a:endParaRPr lang="en-US" sz="2000" dirty="0"/>
          </a:p>
        </p:txBody>
      </p:sp>
      <p:sp>
        <p:nvSpPr>
          <p:cNvPr id="19" name="Shape 15"/>
          <p:cNvSpPr/>
          <p:nvPr/>
        </p:nvSpPr>
        <p:spPr>
          <a:xfrm>
            <a:off x="548640" y="2996184"/>
            <a:ext cx="11094415" cy="455676"/>
          </a:xfrm>
          <a:prstGeom prst="roundRect">
            <a:avLst>
              <a:gd name="adj" fmla="val 28094"/>
            </a:avLst>
          </a:prstGeom>
          <a:solidFill>
            <a:srgbClr val="E7F3EF"/>
          </a:solidFill>
          <a:ln w="12700">
            <a:solidFill>
              <a:srgbClr val="C4E0D5"/>
            </a:solidFill>
            <a:prstDash val="solid"/>
          </a:ln>
        </p:spPr>
      </p:sp>
      <p:sp>
        <p:nvSpPr>
          <p:cNvPr id="20" name="Shape 16"/>
          <p:cNvSpPr/>
          <p:nvPr/>
        </p:nvSpPr>
        <p:spPr>
          <a:xfrm>
            <a:off x="694944" y="3087624"/>
            <a:ext cx="1417320" cy="272796"/>
          </a:xfrm>
          <a:prstGeom prst="roundRect">
            <a:avLst>
              <a:gd name="adj" fmla="val 33520"/>
            </a:avLst>
          </a:prstGeom>
          <a:solidFill>
            <a:srgbClr val="0E7C5A"/>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Your father's name — the second one.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TOLOSA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And “date of birth”?</a:t>
            </a:r>
            <a:endParaRPr lang="en-US" sz="2000" dirty="0"/>
          </a:p>
        </p:txBody>
      </p:sp>
      <p:sp>
        <p:nvSpPr>
          <p:cNvPr id="27" name="Shape 23"/>
          <p:cNvSpPr/>
          <p:nvPr/>
        </p:nvSpPr>
        <p:spPr>
          <a:xfrm>
            <a:off x="548640" y="4108704"/>
            <a:ext cx="11094415" cy="455676"/>
          </a:xfrm>
          <a:prstGeom prst="roundRect">
            <a:avLst>
              <a:gd name="adj" fmla="val 28094"/>
            </a:avLst>
          </a:prstGeom>
          <a:solidFill>
            <a:srgbClr val="E7F3EF"/>
          </a:solidFill>
          <a:ln w="12700">
            <a:solidFill>
              <a:srgbClr val="C4E0D5"/>
            </a:solidFill>
            <a:prstDash val="solid"/>
          </a:ln>
        </p:spPr>
      </p:sp>
      <p:sp>
        <p:nvSpPr>
          <p:cNvPr id="28" name="Shape 24"/>
          <p:cNvSpPr/>
          <p:nvPr/>
        </p:nvSpPr>
        <p:spPr>
          <a:xfrm>
            <a:off x="694944" y="4200144"/>
            <a:ext cx="1417320" cy="272796"/>
          </a:xfrm>
          <a:prstGeom prst="roundRect">
            <a:avLst>
              <a:gd name="adj" fmla="val 33520"/>
            </a:avLst>
          </a:prstGeom>
          <a:solidFill>
            <a:srgbClr val="0E7C5A"/>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 day you were born. Day, month, year.</a:t>
            </a:r>
            <a:endParaRPr lang="en-US" sz="20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TOLOSA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Thank you. And I sign at the bottom?</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“What does … mean?” from Module 5. Forms are full of words nobody teaches you — so ask.</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Asking somebody to check your writing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Hana wrote a message. She asks Dawit to look at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Could you check this message for me?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Of course. It is good, but there is one mistake here.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Where? I do not see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This “i” — it should be a capital letter.</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Ah, thank you. Anything else?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the rest is fine. It is clear.</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“Could you check this for me?” is one of the most useful sentences you will ever learn. Ask somebody. Always.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Form words you will meet everywhere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words. They appear on every English form.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Surname / Family name</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Your father's name — the second one.</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First name / Given name</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Your own name — the one people call you.</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Date of birth</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The day you were born. Often written DD/MM/YYYY.</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Address</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Where you live. Sometimes “residential address”.</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Occupation</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Your job. “Student”, “teacher”, “shopkeeper”.</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Signature</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Your own handwriting, at the bottom. Not printed.</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7F3EF"/>
          </a:solidFill>
          <a:ln w="12700">
            <a:solidFill>
              <a:srgbClr val="C4E0D5"/>
            </a:solidFill>
            <a:prstDash val="solid"/>
          </a:ln>
        </p:spPr>
      </p:sp>
      <p:sp>
        <p:nvSpPr>
          <p:cNvPr id="12" name="Shape 8"/>
          <p:cNvSpPr/>
          <p:nvPr/>
        </p:nvSpPr>
        <p:spPr>
          <a:xfrm>
            <a:off x="694944" y="1975104"/>
            <a:ext cx="1417320" cy="272796"/>
          </a:xfrm>
          <a:prstGeom prst="roundRect">
            <a:avLst>
              <a:gd name="adj" fmla="val 33520"/>
            </a:avLst>
          </a:prstGeom>
          <a:solidFill>
            <a:srgbClr val="0E7C5A"/>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Please fill in this form.</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what ______ “occupation” ______ ?</a:t>
            </a:r>
            <a:endParaRPr lang="en-US" sz="2000" dirty="0"/>
          </a:p>
        </p:txBody>
      </p:sp>
      <p:sp>
        <p:nvSpPr>
          <p:cNvPr id="19" name="Shape 15"/>
          <p:cNvSpPr/>
          <p:nvPr/>
        </p:nvSpPr>
        <p:spPr>
          <a:xfrm>
            <a:off x="548640" y="2996184"/>
            <a:ext cx="11094415" cy="455676"/>
          </a:xfrm>
          <a:prstGeom prst="roundRect">
            <a:avLst>
              <a:gd name="adj" fmla="val 28094"/>
            </a:avLst>
          </a:prstGeom>
          <a:solidFill>
            <a:srgbClr val="E7F3EF"/>
          </a:solidFill>
          <a:ln w="12700">
            <a:solidFill>
              <a:srgbClr val="C4E0D5"/>
            </a:solidFill>
            <a:prstDash val="solid"/>
          </a:ln>
        </p:spPr>
      </p:sp>
      <p:sp>
        <p:nvSpPr>
          <p:cNvPr id="20" name="Shape 16"/>
          <p:cNvSpPr/>
          <p:nvPr/>
        </p:nvSpPr>
        <p:spPr>
          <a:xfrm>
            <a:off x="694944" y="3087624"/>
            <a:ext cx="1417320" cy="272796"/>
          </a:xfrm>
          <a:prstGeom prst="roundRect">
            <a:avLst>
              <a:gd name="adj" fmla="val 33520"/>
            </a:avLst>
          </a:prstGeom>
          <a:solidFill>
            <a:srgbClr val="0E7C5A"/>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Your job. What work do you do?</a:t>
            </a:r>
            <a:endParaRPr lang="en-US" sz="20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a teacher. And where do I ______ my address?</a:t>
            </a:r>
            <a:endParaRPr lang="en-US" sz="2000" dirty="0"/>
          </a:p>
        </p:txBody>
      </p:sp>
      <p:sp>
        <p:nvSpPr>
          <p:cNvPr id="27" name="Shape 23"/>
          <p:cNvSpPr/>
          <p:nvPr/>
        </p:nvSpPr>
        <p:spPr>
          <a:xfrm>
            <a:off x="548640" y="4108704"/>
            <a:ext cx="11094415" cy="455676"/>
          </a:xfrm>
          <a:prstGeom prst="roundRect">
            <a:avLst>
              <a:gd name="adj" fmla="val 28094"/>
            </a:avLst>
          </a:prstGeom>
          <a:solidFill>
            <a:srgbClr val="E7F3EF"/>
          </a:solidFill>
          <a:ln w="12700">
            <a:solidFill>
              <a:srgbClr val="C4E0D5"/>
            </a:solidFill>
            <a:prstDash val="solid"/>
          </a:ln>
        </p:spPr>
      </p:sp>
      <p:sp>
        <p:nvSpPr>
          <p:cNvPr id="28" name="Shape 24"/>
          <p:cNvSpPr/>
          <p:nvPr/>
        </p:nvSpPr>
        <p:spPr>
          <a:xfrm>
            <a:off x="694944" y="4200144"/>
            <a:ext cx="1417320" cy="272796"/>
          </a:xfrm>
          <a:prstGeom prst="roundRect">
            <a:avLst>
              <a:gd name="adj" fmla="val 33520"/>
            </a:avLst>
          </a:prstGeom>
          <a:solidFill>
            <a:srgbClr val="0E7C5A"/>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In the third box. Then sign at the bottom.</a:t>
            </a:r>
            <a:endParaRPr lang="en-US" sz="20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Could you ______ this for me before I sign?</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“does … mean”  ·  “write”  ·  “check”</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write and check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Three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Write a three-line message to your partner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Greeting, purpose, close. Swap and read.</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Check your partner's message with the six questions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Name one good thing and one correction.</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Fill in a form for your partner by asking them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All six form words. Do not look at their paper.</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Write one sentence, then join it to another with “because”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Read both versions aloud. Which sounds better?</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say it before you write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Speaking first makes writing much easier.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four sentences about your town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Do not write anything yet. Just say them.</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partner writes down what you said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They may ask you to repeat.</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Read what they wrote. Is it what you meant?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Correct it together.</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Now join two of the sentences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and, but, because or so. Say the joined version aloud.</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dictation and correction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One reads, one writes. Then swap.</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Sara and I went to Adama on Monday.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Four capital letters. Count them.</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 bought bread, milk and eggs at the market.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comma. Where?</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She likes her job, but the pay is not good.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 comma before “but”.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 was late because the bus did not come.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 comma before “because”.</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First, boil the water. Then add the coffee.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 comma after “First”. Two sentences.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spelling aloud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will be asked to spell your name at every office in the world.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Letters people confuse</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A  /eɪ/   ·   E  /iː/</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I  /aɪ/   ·   Y  /waɪ/</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G  /dʒiː/   ·   J  /dʒeɪ/</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M  /em/   ·   N  /en/</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B  /biː/   ·   V  /viː/   ·   P  /piː/</a:t>
            </a:r>
            <a:endParaRPr lang="en-US" sz="185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How to be clear</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 for Bahir 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“V for victory”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 for Merkato”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“Double L” for two Ls.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“Capital A, small b.”</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Practise spelling your own name and your address aloud. You will need both far sooner than you expect.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explain your writing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Two minutes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Read your paragraph aloud to your partner</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Stop at every full stop. Did it sound right?</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which sentence is your topic sentence and why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It should be the most general one.</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which two sentences you joined and with what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and · but · because · so.</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one thing you would change if you wrote it again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Be specific.</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Everyone does this. The last one of Level 2.</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Spell your full name and your address aloud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Clearly enough for somebody to write it down.</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your paragraph aloud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Stop at every full stop.</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which sentence is the topic sentence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And why it is the most general one.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a message you would send to a friend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Greeting, purpose, close.</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same message formally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To somebody you do not know.</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 dictation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and write. Punctuation is not said — you must add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TWICE AT NATURAL SPEED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“My name is Bethlehem and I live in Bahir Dar.</a:t>
            </a:r>
            <a:endParaRPr lang="en-US" sz="1700" dirty="0"/>
          </a:p>
          <a:p>
            <a:pPr indent="0" marL="0">
              <a:lnSpc>
                <a:spcPct val="134000"/>
              </a:lnSpc>
              <a:buNone/>
            </a:pP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I work in a small shop near the market.</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I start at eight and finish at six.</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I like my job, but the pay is not very good.</a:t>
            </a:r>
            <a:endParaRPr lang="en-US" sz="1700" dirty="0"/>
          </a:p>
          <a:p>
            <a:pPr indent="0" marL="0">
              <a:lnSpc>
                <a:spcPct val="134000"/>
              </a:lnSpc>
              <a:buNone/>
            </a:pP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On Sunday I visit my sister.</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We usually go to a café and talk for hours.”</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Write everything you hear.</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Add the capital letters yourself.</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Add the full stops yourself.</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Add ONE comma — where?</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How many sentences are there?</a:t>
            </a:r>
            <a:endParaRPr lang="en-US" sz="16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how many sentences?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Six.</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Each has one main idea. Counting sentences is how you check you heard the full stops.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where is the comma?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Before “but”: “I like my job, but the pay is not very good.”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comma goes before “but” when it joins two complete ideas. From slide 17.</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capital letters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My · I (six times) · Bethlehem · Bahir Dar · Sunday · On · We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Sentence starts, the name, the place, the day, and every “I” — which is the one most people miss.</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“near the market”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capital on “market” — it is not a name here.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“Merkato” is a name and takes a capital; “the market” is an ordinary noun and does not.</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hardest part?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capital I, every time.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the most frequent error in the whole course because no other language does it.</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details for a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and fill in the form. Two readings.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TWICE</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“My first name is Chaltu, C-H-A-L-T-U.</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My surname is Bekele, B-E-K-E-L-E.</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I was born on the fifth of March,</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nineteen ninety-eight.</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I live at number twelve, Church Road, Adama.</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My phone number is oh nine one one,</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two two three, four four five.</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I am a nurse.”</a:t>
            </a:r>
            <a:endParaRPr lang="en-US" sz="16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FILL IN THE FORM</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First name:  ____________</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Surname:  ____________</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Date of birth:  ____________</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Address:  ____________</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Phone:  ____________</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Occupation:  ____________</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and 2 — the names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First name Chaltu. Surname Bekele.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were spelled aloud, which is what people do with names on the phone. Catching letters is a real skill.</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date of birth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05/03/1998 — the fifth of March, 1998.</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Said as words, written as numbers. In Ethiopia and Britain the day comes first; in America the month does.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address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12 Church Road, Adama.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number comes before the road name in English. A comma separates the road from the town.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phone number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0911 223 445</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Digit by digit, in groups. From Module 7 — and this is why that drill mattered.</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6 — the occupation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Nurse.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“Occupation” means job. One of the six form words from slide 28.</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Listening and writing together</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everyday tasks that need both at once.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Taking a phone message</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Listen, write, read it back. Who · when · why · what to do · the number. From Module 7.</a:t>
            </a:r>
            <a:endParaRPr lang="en-US" sz="175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Filling in a form from speech</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A clerk reads the questions; you write the answers. Ask them to spell anything unclear.</a:t>
            </a:r>
            <a:endParaRPr lang="en-US" sz="17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Writing down directions</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Listen, write the key words only — not full sentences. Straight · second left · opposite the bank.</a:t>
            </a:r>
            <a:endParaRPr lang="en-US" sz="158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Writing a list from speech</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Somebody tells you what to buy. Write short: “2 kg tomatoes”, not a sentence.</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two messages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information. Two different readers. Find the differences.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A — FORMAL</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Dear Mr Bekele,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am writing about the meeting on Friday.</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am afraid I cannot come at two o'clock.</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Could we change it to four o'clock?</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Thank you very much.</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Yours sincerely,   Sara Tesfaye</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B — FRIENDLY</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Hi Abel,</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Sorry, I can't make two on Friday.</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Can we do four instead?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Thanks!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Sara</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Same three parts. Different words.</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Your task:  What does Sara want?  ·  Which is for somebody she knows?  ·  Find three differences.  ·  Which parts are the SAME?</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time was the meeting, and what time does Sara want?</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Which message uses the person's surname?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Find one contraction in message B.</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does Sara sign her name in each message?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Which parts are the SAME in both messages?</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times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meeting was at two. Sara wants four.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messages give both times. Any message asking for a change must state the old and the new.</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the surname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Message A — “Dear Mr Bekele”.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Title plus surname is formal. Message B uses “Hi Abel”, a first name, which is friendly.</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contraction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“can't” — short for cannot.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Contractions are informal. In formal writing use the full form: cannot, I am, do not.</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signature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“Yours sincerely, Sara Tesfaye”. B: just “Sara”.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Formal messages end with a closing phrase and a full name. Friendly ones need only a first name.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what is the SAME?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three parts: greeting, purpose in the first line, and a close.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shape never changes. Only the words do. Learn one shape and you can write both.</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model paragraph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then find its four parts.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MY WORK</a:t>
            </a:r>
            <a:endParaRPr lang="en-US" sz="1300" dirty="0"/>
          </a:p>
          <a:p>
            <a:pPr indent="0" marL="0">
              <a:lnSpc>
                <a:spcPct val="132000"/>
              </a:lnSpc>
              <a:buNone/>
            </a:pPr>
            <a:endParaRPr lang="en-US" sz="1300" dirty="0"/>
          </a:p>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I have worked in a small shop in Merkato for three years. The shop sells clothes, and it is busy from morning until evening. I start at eight o'clock and finish at six, so the days are long.</a:t>
            </a:r>
            <a:endParaRPr lang="en-US" sz="1300" dirty="0"/>
          </a:p>
          <a:p>
            <a:pPr indent="0" marL="0">
              <a:lnSpc>
                <a:spcPct val="132000"/>
              </a:lnSpc>
              <a:buNone/>
            </a:pPr>
            <a:endParaRPr lang="en-US" sz="1300" dirty="0"/>
          </a:p>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I like the work because I meet many people, and my English has improved a lot since I started. Some customers speak only English, and at first I was afraid. Now I can help them.</a:t>
            </a:r>
            <a:endParaRPr lang="en-US" sz="1300" dirty="0"/>
          </a:p>
          <a:p>
            <a:pPr indent="0" marL="0">
              <a:lnSpc>
                <a:spcPct val="132000"/>
              </a:lnSpc>
              <a:buNone/>
            </a:pPr>
            <a:endParaRPr lang="en-US" sz="1300" dirty="0"/>
          </a:p>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The pay is not very good, but I am learning every day. Next year I hope to work in a hotel.</a:t>
            </a:r>
            <a:endParaRPr lang="en-US" sz="13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How many paragraphs are there?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Find the topic sentence of each one.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Find three joining words.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Find one sentence in the past tense.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Find one sentence about the future.</a:t>
            </a:r>
            <a:endParaRPr lang="en-US" sz="15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how many paragraphs?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Three. The blank lines separate them.</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Each has one topic: what the job is, why she likes it, and what comes next.</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the topic sentences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 have worked in a small shop…” · “I like the work because…” · “The pay is not very good, but…”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Each is the most general sentence of its paragraph and comes first.</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three joining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and · so · because · but — all four appear.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This is what stops the writing sounding like a list of short sentences.</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past and present perfect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“At first I was afraid.” · “I have worked… for three years.”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Past for a finished time; present perfect for something continuing. From Modules 2 and 3.</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the future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“Next year I hope to work in a hotel.”</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From Module 4. Note that a paragraph ending with a future plan feels complete.</a:t>
            </a:r>
            <a:endParaRPr lang="en-US" sz="11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correct the punctuation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sara and i went to bahir dar on friday</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i bought bread milk and eggs at the market</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she likes her job but the pay is not good</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i speak amharic english and a little oromo</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first boil the water then add the coffee</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join the sentences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Use and, but, because or so. Write four sentences.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Dawit works in Adama.  He lives in Adama.</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The shop is small.  It is always busy.</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I was late.  The bus did not come.</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She studied hard.  She passed the exam.</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Now read all four aloud. Do they sound better than the eight?</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the end-of-level task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Write 100–150 words. This is the Level 2 writing test.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1" name="Shape 7"/>
          <p:cNvSpPr/>
          <p:nvPr/>
        </p:nvSpPr>
        <p:spPr>
          <a:xfrm>
            <a:off x="548640" y="1883664"/>
            <a:ext cx="676656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CHOOSE ONE TOPIC</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1.  My town</a:t>
            </a:r>
            <a:endParaRPr lang="en-US" sz="1600" dirty="0"/>
          </a:p>
          <a:p>
            <a:pPr indent="0" marL="0">
              <a:lnSpc>
                <a:spcPct val="145000"/>
              </a:lnSpc>
              <a:buNone/>
            </a:pP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2.  My work or my studies</a:t>
            </a:r>
            <a:endParaRPr lang="en-US" sz="1600" dirty="0"/>
          </a:p>
          <a:p>
            <a:pPr indent="0" marL="0">
              <a:lnSpc>
                <a:spcPct val="145000"/>
              </a:lnSpc>
              <a:buNone/>
            </a:pP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3.  A day I will never forget</a:t>
            </a:r>
            <a:endParaRPr lang="en-US" sz="1600" dirty="0"/>
          </a:p>
          <a:p>
            <a:pPr indent="0" marL="0">
              <a:lnSpc>
                <a:spcPct val="145000"/>
              </a:lnSpc>
              <a:buNone/>
            </a:pP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4.  My plans for next year</a:t>
            </a:r>
            <a:endParaRPr lang="en-US" sz="1600" dirty="0"/>
          </a:p>
          <a:p>
            <a:pPr indent="0" marL="0">
              <a:lnSpc>
                <a:spcPct val="145000"/>
              </a:lnSpc>
              <a:buNone/>
            </a:pP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5.  My family</a:t>
            </a:r>
            <a:endParaRPr lang="en-US" sz="16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YOUR PARAGRAPH MUST HAVE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813"/>
              </a:spcAft>
              <a:buSzPct val="100000"/>
              <a:buChar char="•"/>
            </a:pPr>
            <a:r>
              <a:rPr lang="en-US" sz="1400" dirty="0">
                <a:solidFill>
                  <a:srgbClr val="3A473F"/>
                </a:solidFill>
                <a:latin typeface="Calibri" pitchFamily="34" charset="0"/>
                <a:ea typeface="Calibri" pitchFamily="34" charset="-122"/>
                <a:cs typeface="Calibri" pitchFamily="34" charset="-120"/>
              </a:rPr>
              <a:t>100–150 words, in 2 or 3 paragraphs.</a:t>
            </a:r>
            <a:endParaRPr lang="en-US" sz="1400" dirty="0"/>
          </a:p>
          <a:p>
            <a:pPr marL="228600" indent="-228600">
              <a:lnSpc>
                <a:spcPct val="100000"/>
              </a:lnSpc>
              <a:spcAft>
                <a:spcPts val="813"/>
              </a:spcAft>
              <a:buSzPct val="100000"/>
              <a:buChar char="•"/>
            </a:pPr>
            <a:r>
              <a:rPr lang="en-US" sz="1400" dirty="0">
                <a:solidFill>
                  <a:srgbClr val="3A473F"/>
                </a:solidFill>
                <a:latin typeface="Calibri" pitchFamily="34" charset="0"/>
                <a:ea typeface="Calibri" pitchFamily="34" charset="-122"/>
                <a:cs typeface="Calibri" pitchFamily="34" charset="-120"/>
              </a:rPr>
              <a:t>A topic sentence to start each one.</a:t>
            </a:r>
            <a:endParaRPr lang="en-US" sz="1400" dirty="0"/>
          </a:p>
          <a:p>
            <a:pPr marL="228600" indent="-228600">
              <a:lnSpc>
                <a:spcPct val="100000"/>
              </a:lnSpc>
              <a:spcAft>
                <a:spcPts val="813"/>
              </a:spcAft>
              <a:buSzPct val="100000"/>
              <a:buChar char="•"/>
            </a:pPr>
            <a:r>
              <a:rPr lang="en-US" sz="1400" dirty="0">
                <a:solidFill>
                  <a:srgbClr val="3A473F"/>
                </a:solidFill>
                <a:latin typeface="Calibri" pitchFamily="34" charset="0"/>
                <a:ea typeface="Calibri" pitchFamily="34" charset="-122"/>
                <a:cs typeface="Calibri" pitchFamily="34" charset="-120"/>
              </a:rPr>
              <a:t>At least THREE joining words: and · but · because · so.</a:t>
            </a:r>
            <a:endParaRPr lang="en-US" sz="1400" dirty="0"/>
          </a:p>
          <a:p>
            <a:pPr marL="228600" indent="-228600">
              <a:lnSpc>
                <a:spcPct val="100000"/>
              </a:lnSpc>
              <a:spcAft>
                <a:spcPts val="813"/>
              </a:spcAft>
              <a:buSzPct val="100000"/>
              <a:buChar char="•"/>
            </a:pPr>
            <a:r>
              <a:rPr lang="en-US" sz="1400" dirty="0">
                <a:solidFill>
                  <a:srgbClr val="3A473F"/>
                </a:solidFill>
                <a:latin typeface="Calibri" pitchFamily="34" charset="0"/>
                <a:ea typeface="Calibri" pitchFamily="34" charset="-122"/>
                <a:cs typeface="Calibri" pitchFamily="34" charset="-120"/>
              </a:rPr>
              <a:t>At least one PAST sentence and one FUTURE sentence.</a:t>
            </a:r>
            <a:endParaRPr lang="en-US" sz="1400" dirty="0"/>
          </a:p>
          <a:p>
            <a:pPr marL="228600" indent="-228600">
              <a:lnSpc>
                <a:spcPct val="100000"/>
              </a:lnSpc>
              <a:spcAft>
                <a:spcPts val="813"/>
              </a:spcAft>
              <a:buSzPct val="100000"/>
              <a:buChar char="•"/>
            </a:pPr>
            <a:r>
              <a:rPr lang="en-US" sz="1400" dirty="0">
                <a:solidFill>
                  <a:srgbClr val="3A473F"/>
                </a:solidFill>
                <a:latin typeface="Calibri" pitchFamily="34" charset="0"/>
                <a:ea typeface="Calibri" pitchFamily="34" charset="-122"/>
                <a:cs typeface="Calibri" pitchFamily="34" charset="-120"/>
              </a:rPr>
              <a:t>Correct capitals, full stops and commas.</a:t>
            </a:r>
            <a:endParaRPr lang="en-US" sz="1400" dirty="0"/>
          </a:p>
          <a:p>
            <a:pPr marL="228600" indent="-228600">
              <a:lnSpc>
                <a:spcPct val="100000"/>
              </a:lnSpc>
              <a:spcAft>
                <a:spcPts val="813"/>
              </a:spcAft>
              <a:buSzPct val="100000"/>
              <a:buChar char="•"/>
            </a:pPr>
            <a:r>
              <a:rPr lang="en-US" sz="1400" dirty="0">
                <a:solidFill>
                  <a:srgbClr val="3A473F"/>
                </a:solidFill>
                <a:latin typeface="Calibri" pitchFamily="34" charset="0"/>
                <a:ea typeface="Calibri" pitchFamily="34" charset="-122"/>
                <a:cs typeface="Calibri" pitchFamily="34" charset="-120"/>
              </a:rPr>
              <a:t>Checked with the six questions from slide 10.</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how it is marked</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Length and shape — 5 marks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100–150 words in 2 or 3 paragraphs, with blank lines between them.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Shape is the first thing a reader sees. A block of text with no breaks is hard to read whatever it says.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Topic sentences — 5 marks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Each paragraph starts with its most general sentence.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is what lets a reader skim your writing — the same idea as Module 6, from the writer's side.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Joining words — 5 marks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At least three of: and · but · because · so.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single biggest difference between elementary and good writing at this level.</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Tenses — 5 marks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At least one past sentence and one future sentence, both correct.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Proves you can use Modules 3 and 4 in real writing, not only in exercises.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Punctuation — 5 marks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Capitals, full stops and commas correct. Every “I” capital.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capital I alone accounts for most lost marks here. Check it separately, before anything else.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0" name="Shape 6"/>
          <p:cNvSpPr/>
          <p:nvPr/>
        </p:nvSpPr>
        <p:spPr>
          <a:xfrm>
            <a:off x="548640" y="1700784"/>
            <a:ext cx="11094415" cy="630936"/>
          </a:xfrm>
          <a:prstGeom prst="roundRect">
            <a:avLst>
              <a:gd name="adj" fmla="val 20290"/>
            </a:avLst>
          </a:prstGeom>
          <a:solidFill>
            <a:srgbClr val="F6F9F7"/>
          </a:solidFill>
          <a:ln w="12700">
            <a:solidFill>
              <a:srgbClr val="E3E9E5"/>
            </a:solidFill>
            <a:prstDash val="solid"/>
          </a:ln>
        </p:spPr>
      </p:sp>
      <p:sp>
        <p:nvSpPr>
          <p:cNvPr id="11" name="Shape 7"/>
          <p:cNvSpPr/>
          <p:nvPr/>
        </p:nvSpPr>
        <p:spPr>
          <a:xfrm>
            <a:off x="786384" y="1815084"/>
            <a:ext cx="402336" cy="402336"/>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82945" y="1911645"/>
            <a:ext cx="209215" cy="209215"/>
          </a:xfrm>
          <a:prstGeom prst="rect">
            <a:avLst/>
          </a:prstGeom>
        </p:spPr>
      </p:pic>
      <p:sp>
        <p:nvSpPr>
          <p:cNvPr id="13" name="Text 8"/>
          <p:cNvSpPr/>
          <p:nvPr/>
        </p:nvSpPr>
        <p:spPr>
          <a:xfrm>
            <a:off x="1463040" y="177393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Capital at the start, full stop at the end — every sentence?</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Check the first and last character of each one.</a:t>
            </a:r>
            <a:endParaRPr lang="en-US" sz="1630" dirty="0"/>
          </a:p>
        </p:txBody>
      </p:sp>
      <p:sp>
        <p:nvSpPr>
          <p:cNvPr id="14" name="Shape 9"/>
          <p:cNvSpPr/>
          <p:nvPr/>
        </p:nvSpPr>
        <p:spPr>
          <a:xfrm>
            <a:off x="548640" y="2423160"/>
            <a:ext cx="11094415" cy="630936"/>
          </a:xfrm>
          <a:prstGeom prst="roundRect">
            <a:avLst>
              <a:gd name="adj" fmla="val 20290"/>
            </a:avLst>
          </a:prstGeom>
          <a:solidFill>
            <a:srgbClr val="F6F9F7"/>
          </a:solidFill>
          <a:ln w="12700">
            <a:solidFill>
              <a:srgbClr val="E3E9E5"/>
            </a:solidFill>
            <a:prstDash val="solid"/>
          </a:ln>
        </p:spPr>
      </p:sp>
      <p:sp>
        <p:nvSpPr>
          <p:cNvPr id="15" name="Shape 10"/>
          <p:cNvSpPr/>
          <p:nvPr/>
        </p:nvSpPr>
        <p:spPr>
          <a:xfrm>
            <a:off x="786384" y="2537460"/>
            <a:ext cx="402336" cy="402336"/>
          </a:xfrm>
          <a:prstGeom prst="ellipse">
            <a:avLst/>
          </a:prstGeom>
          <a:solidFill>
            <a:srgbClr val="7A4FBF"/>
          </a:solidFill>
          <a:ln/>
        </p:spPr>
      </p:sp>
      <p:pic>
        <p:nvPicPr>
          <p:cNvPr id="16" name="Image 2" descr="preencoded.png">    </p:cNvPr>
          <p:cNvPicPr>
            <a:picLocks noChangeAspect="1"/>
          </p:cNvPicPr>
          <p:nvPr/>
        </p:nvPicPr>
        <p:blipFill>
          <a:blip r:embed="rId3"/>
          <a:stretch>
            <a:fillRect/>
          </a:stretch>
        </p:blipFill>
        <p:spPr>
          <a:xfrm>
            <a:off x="882945" y="2634021"/>
            <a:ext cx="209215" cy="209215"/>
          </a:xfrm>
          <a:prstGeom prst="rect">
            <a:avLst/>
          </a:prstGeom>
        </p:spPr>
      </p:pic>
      <p:sp>
        <p:nvSpPr>
          <p:cNvPr id="17" name="Text 11"/>
          <p:cNvSpPr/>
          <p:nvPr/>
        </p:nvSpPr>
        <p:spPr>
          <a:xfrm>
            <a:off x="1463040" y="2496312"/>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Is every “I” a capital letter?</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Check this one separately. It is the commonest error.</a:t>
            </a:r>
            <a:endParaRPr lang="en-US" sz="1630" dirty="0"/>
          </a:p>
        </p:txBody>
      </p:sp>
      <p:sp>
        <p:nvSpPr>
          <p:cNvPr id="18" name="Shape 12"/>
          <p:cNvSpPr/>
          <p:nvPr/>
        </p:nvSpPr>
        <p:spPr>
          <a:xfrm>
            <a:off x="548640" y="3145536"/>
            <a:ext cx="11094415" cy="630936"/>
          </a:xfrm>
          <a:prstGeom prst="roundRect">
            <a:avLst>
              <a:gd name="adj" fmla="val 20290"/>
            </a:avLst>
          </a:prstGeom>
          <a:solidFill>
            <a:srgbClr val="F6F9F7"/>
          </a:solidFill>
          <a:ln w="12700">
            <a:solidFill>
              <a:srgbClr val="E3E9E5"/>
            </a:solidFill>
            <a:prstDash val="solid"/>
          </a:ln>
        </p:spPr>
      </p:sp>
      <p:sp>
        <p:nvSpPr>
          <p:cNvPr id="19" name="Shape 13"/>
          <p:cNvSpPr/>
          <p:nvPr/>
        </p:nvSpPr>
        <p:spPr>
          <a:xfrm>
            <a:off x="786384" y="3259836"/>
            <a:ext cx="402336" cy="402336"/>
          </a:xfrm>
          <a:prstGeom prst="ellipse">
            <a:avLst/>
          </a:prstGeom>
          <a:solidFill>
            <a:srgbClr val="7A4FBF"/>
          </a:solidFill>
          <a:ln/>
        </p:spPr>
      </p:sp>
      <p:pic>
        <p:nvPicPr>
          <p:cNvPr id="20" name="Image 3" descr="preencoded.png">    </p:cNvPr>
          <p:cNvPicPr>
            <a:picLocks noChangeAspect="1"/>
          </p:cNvPicPr>
          <p:nvPr/>
        </p:nvPicPr>
        <p:blipFill>
          <a:blip r:embed="rId4"/>
          <a:stretch>
            <a:fillRect/>
          </a:stretch>
        </p:blipFill>
        <p:spPr>
          <a:xfrm>
            <a:off x="882945" y="3356397"/>
            <a:ext cx="209215" cy="209215"/>
          </a:xfrm>
          <a:prstGeom prst="rect">
            <a:avLst/>
          </a:prstGeom>
        </p:spPr>
      </p:pic>
      <p:sp>
        <p:nvSpPr>
          <p:cNvPr id="21" name="Text 14"/>
          <p:cNvSpPr/>
          <p:nvPr/>
        </p:nvSpPr>
        <p:spPr>
          <a:xfrm>
            <a:off x="1463040" y="3218688"/>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Does every verb match its subject?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He works, not he work.</a:t>
            </a:r>
            <a:endParaRPr lang="en-US" sz="1630" dirty="0"/>
          </a:p>
        </p:txBody>
      </p:sp>
      <p:sp>
        <p:nvSpPr>
          <p:cNvPr id="22" name="Shape 15"/>
          <p:cNvSpPr/>
          <p:nvPr/>
        </p:nvSpPr>
        <p:spPr>
          <a:xfrm>
            <a:off x="548640" y="3867912"/>
            <a:ext cx="11094415" cy="630936"/>
          </a:xfrm>
          <a:prstGeom prst="roundRect">
            <a:avLst>
              <a:gd name="adj" fmla="val 20290"/>
            </a:avLst>
          </a:prstGeom>
          <a:solidFill>
            <a:srgbClr val="F6F9F7"/>
          </a:solidFill>
          <a:ln w="12700">
            <a:solidFill>
              <a:srgbClr val="E3E9E5"/>
            </a:solidFill>
            <a:prstDash val="solid"/>
          </a:ln>
        </p:spPr>
      </p:sp>
      <p:sp>
        <p:nvSpPr>
          <p:cNvPr id="23" name="Shape 16"/>
          <p:cNvSpPr/>
          <p:nvPr/>
        </p:nvSpPr>
        <p:spPr>
          <a:xfrm>
            <a:off x="786384" y="3982212"/>
            <a:ext cx="402336" cy="402336"/>
          </a:xfrm>
          <a:prstGeom prst="ellipse">
            <a:avLst/>
          </a:prstGeom>
          <a:solidFill>
            <a:srgbClr val="7A4FBF"/>
          </a:solidFill>
          <a:ln/>
        </p:spPr>
      </p:sp>
      <p:pic>
        <p:nvPicPr>
          <p:cNvPr id="24" name="Image 4" descr="preencoded.png">    </p:cNvPr>
          <p:cNvPicPr>
            <a:picLocks noChangeAspect="1"/>
          </p:cNvPicPr>
          <p:nvPr/>
        </p:nvPicPr>
        <p:blipFill>
          <a:blip r:embed="rId5"/>
          <a:stretch>
            <a:fillRect/>
          </a:stretch>
        </p:blipFill>
        <p:spPr>
          <a:xfrm>
            <a:off x="882945" y="4078773"/>
            <a:ext cx="209215" cy="209215"/>
          </a:xfrm>
          <a:prstGeom prst="rect">
            <a:avLst/>
          </a:prstGeom>
        </p:spPr>
      </p:pic>
      <p:sp>
        <p:nvSpPr>
          <p:cNvPr id="25" name="Text 17"/>
          <p:cNvSpPr/>
          <p:nvPr/>
        </p:nvSpPr>
        <p:spPr>
          <a:xfrm>
            <a:off x="1463040" y="3941064"/>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Is the plural -s there where it is needed?</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Three books, not three book.</a:t>
            </a:r>
            <a:endParaRPr lang="en-US" sz="1630" dirty="0"/>
          </a:p>
        </p:txBody>
      </p:sp>
      <p:sp>
        <p:nvSpPr>
          <p:cNvPr id="26" name="Shape 18"/>
          <p:cNvSpPr/>
          <p:nvPr/>
        </p:nvSpPr>
        <p:spPr>
          <a:xfrm>
            <a:off x="548640" y="4590288"/>
            <a:ext cx="11094415" cy="630936"/>
          </a:xfrm>
          <a:prstGeom prst="roundRect">
            <a:avLst>
              <a:gd name="adj" fmla="val 20290"/>
            </a:avLst>
          </a:prstGeom>
          <a:solidFill>
            <a:srgbClr val="F6F9F7"/>
          </a:solidFill>
          <a:ln w="12700">
            <a:solidFill>
              <a:srgbClr val="E3E9E5"/>
            </a:solidFill>
            <a:prstDash val="solid"/>
          </a:ln>
        </p:spPr>
      </p:sp>
      <p:sp>
        <p:nvSpPr>
          <p:cNvPr id="27" name="Shape 19"/>
          <p:cNvSpPr/>
          <p:nvPr/>
        </p:nvSpPr>
        <p:spPr>
          <a:xfrm>
            <a:off x="786384" y="4704588"/>
            <a:ext cx="402336" cy="402336"/>
          </a:xfrm>
          <a:prstGeom prst="ellipse">
            <a:avLst/>
          </a:prstGeom>
          <a:solidFill>
            <a:srgbClr val="7A4FBF"/>
          </a:solidFill>
          <a:ln/>
        </p:spPr>
      </p:sp>
      <p:pic>
        <p:nvPicPr>
          <p:cNvPr id="28" name="Image 5" descr="preencoded.png">    </p:cNvPr>
          <p:cNvPicPr>
            <a:picLocks noChangeAspect="1"/>
          </p:cNvPicPr>
          <p:nvPr/>
        </p:nvPicPr>
        <p:blipFill>
          <a:blip r:embed="rId6"/>
          <a:stretch>
            <a:fillRect/>
          </a:stretch>
        </p:blipFill>
        <p:spPr>
          <a:xfrm>
            <a:off x="882945" y="4801149"/>
            <a:ext cx="209215" cy="209215"/>
          </a:xfrm>
          <a:prstGeom prst="rect">
            <a:avLst/>
          </a:prstGeom>
        </p:spPr>
      </p:pic>
      <p:sp>
        <p:nvSpPr>
          <p:cNvPr id="29" name="Text 20"/>
          <p:cNvSpPr/>
          <p:nvPr/>
        </p:nvSpPr>
        <p:spPr>
          <a:xfrm>
            <a:off x="1463040" y="4663440"/>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Are the past verbs correct?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went, not goed. bought, not buyed.</a:t>
            </a:r>
            <a:endParaRPr lang="en-US" sz="1630" dirty="0"/>
          </a:p>
        </p:txBody>
      </p:sp>
      <p:sp>
        <p:nvSpPr>
          <p:cNvPr id="30" name="Shape 21"/>
          <p:cNvSpPr/>
          <p:nvPr/>
        </p:nvSpPr>
        <p:spPr>
          <a:xfrm>
            <a:off x="548640" y="5312664"/>
            <a:ext cx="11094415" cy="630936"/>
          </a:xfrm>
          <a:prstGeom prst="roundRect">
            <a:avLst>
              <a:gd name="adj" fmla="val 20290"/>
            </a:avLst>
          </a:prstGeom>
          <a:solidFill>
            <a:srgbClr val="F6F9F7"/>
          </a:solidFill>
          <a:ln w="12700">
            <a:solidFill>
              <a:srgbClr val="E3E9E5"/>
            </a:solidFill>
            <a:prstDash val="solid"/>
          </a:ln>
        </p:spPr>
      </p:sp>
      <p:sp>
        <p:nvSpPr>
          <p:cNvPr id="31" name="Shape 22"/>
          <p:cNvSpPr/>
          <p:nvPr/>
        </p:nvSpPr>
        <p:spPr>
          <a:xfrm>
            <a:off x="786384" y="5426964"/>
            <a:ext cx="402336" cy="402336"/>
          </a:xfrm>
          <a:prstGeom prst="ellipse">
            <a:avLst/>
          </a:prstGeom>
          <a:solidFill>
            <a:srgbClr val="7A4FBF"/>
          </a:solidFill>
          <a:ln/>
        </p:spPr>
      </p:sp>
      <p:pic>
        <p:nvPicPr>
          <p:cNvPr id="32" name="Image 6" descr="preencoded.png">    </p:cNvPr>
          <p:cNvPicPr>
            <a:picLocks noChangeAspect="1"/>
          </p:cNvPicPr>
          <p:nvPr/>
        </p:nvPicPr>
        <p:blipFill>
          <a:blip r:embed="rId7"/>
          <a:stretch>
            <a:fillRect/>
          </a:stretch>
        </p:blipFill>
        <p:spPr>
          <a:xfrm>
            <a:off x="882945" y="5523525"/>
            <a:ext cx="209215" cy="209215"/>
          </a:xfrm>
          <a:prstGeom prst="rect">
            <a:avLst/>
          </a:prstGeom>
        </p:spPr>
      </p:pic>
      <p:sp>
        <p:nvSpPr>
          <p:cNvPr id="33" name="Text 23"/>
          <p:cNvSpPr/>
          <p:nvPr/>
        </p:nvSpPr>
        <p:spPr>
          <a:xfrm>
            <a:off x="1463040" y="538581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Read it aloud — does it sound right?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Your ear catches what your eye misses.</a:t>
            </a:r>
            <a:endParaRPr lang="en-US" sz="163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sara and i went     b) Sara and I went     c) Sara and i went</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bought bread, milk and eggs.     b) I bought bread milk and eggs.     c) I bought, bread milk, and eggs.</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“She likes her job ___ the pay is not good.”</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and     b) but     c) so</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Where does the topic sentence go?</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first     b) last     c) in the middle</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Which greeting is formal?</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Hi Abel,     b) Dear Mr Bekele,     c) Hello,</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missing word.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She starts at eight ______ finishes at six.</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 was late ______ the bus did not come.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 road was bad, ______ the journey took ten hours.</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The shop is small, ______ it is always busy.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Your father's name on a form is your ______ .</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Form words, punctuation and register.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FORM WORD to its MEANING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surname     2. date of birth     3. occupation     4. signature</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your job        b) your own handwriting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your father's name        d) the day you were born</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MARK to its USE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capital letter     2. full stop     3. comma          a) end of a statement     b) in a list     c) names and the word I</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GREETING to the READER</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Dear Mr Bekele,     2. Hi Abel,     3. Dear Sir or Madam,          a) a friend     b) somebody you know professionally     c) a name you do not know</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put the sentences in order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numbers in the correct order.</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There is a market, two schools and a small hospital.</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b)  I am happy here.</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c)  My town is a good place to live.</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d)  It is not very big, but it has everything you need.</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e)  The people are friendly and the food is cheap.</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error correction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Find the error and write the sentence correctly.</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i live in adama.</a:t>
            </a:r>
            <a:endParaRPr lang="en-US" sz="17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She work in a shop.</a:t>
            </a:r>
            <a:endParaRPr lang="en-US" sz="17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I buyed three book yesterday.</a:t>
            </a:r>
            <a:endParaRPr lang="en-US" sz="17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She likes her job, the pay is not good.</a:t>
            </a:r>
            <a:endParaRPr lang="en-US" sz="17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My birthday is in september.</a:t>
            </a:r>
            <a:endParaRPr lang="en-US" sz="17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6.  He go to the market every day.</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The word “i” only needs a capital at the start of a sentence.</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 topic sentence goes first in a paragraph.</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You can join two complete sentences with a comma.</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Days and months take capital letters in English.</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Formal writing is always better than friendly writing.</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Reading your writing aloud helps you find mistakes.</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one properly, with correct punctuation.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A note to your neighbour: you will be away for three days.</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 message to your teacher: you cannot come on Thursday.</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A shopping list of six things.</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Your own name, address and date of birth as on a form.</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One sentence about your plans for next year.</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Spell your full name and address aloud. Your partner writes them.</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Say four sentences about your town. Your partner writes them.</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Say a message to a friend, then the same message formally.</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Read your paragraph aloud, stopping at every full stop.</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Work alone. This is close to the end-of-level test.</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a formal message asking to change an appointment.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Greeting, purpose, close. About 50 words.</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Write the same message to a friend.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About 25 words. Note the difference.</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one paragraph of 100 words about your work or studies.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Topic sentence, three details, a closing line.</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In your paragraph, mark the topic sentence and circle every joining word.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You should find at least three.</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Check your paragraph with all six questions from slide 10.</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Write down how many corrections you made.</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does the topic sentence go first?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the reader, and about Module 6.</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is joining sentences an improvement, if short sentences are correct?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Read six short sentences aloud, then three joined ones.</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When would formal writing be the WRONG choice?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Give a real example.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Why does reading aloud find mistakes that reading silently does not?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does your ear know?</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Module 8 quiz — Part 1 · Capitals and punctuation</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Books and slides closed. Question 20 is worth double.</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Which is correct?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sara and i     b) Sara and I     c) Sara and i</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When is the word “I” a capital letter?</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sentence.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Correct this: “i speak amharic and english.”</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full sentence.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Name two other things that take a capital letter.</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Two answers.</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2 · Commas and joining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Put the comma in: “I bought bread milk and eggs.”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“She likes her job ___ the pay is not good.”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and     b) but     c) because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“I was late ___ the bus did not come.”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so     b) but     c) because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What is wrong with: “She works here, she starts at eight.”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3 · Paragraphs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Where does the topic sentence go?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first     b) last     c) anywhere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How many sentences should a paragraph have?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1–2     b) 4–8     c) 15–20</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What separates one paragraph from the next?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answer.</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Name the four parts of a paragraph.</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Four answers.</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4 · Messages and forms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Name the three parts of a message.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answers.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Which greeting is formal?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Hi Abel,     b) Dear Mr Bekele,     c) Hello,</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What does “surname” mean on a form?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What does “occupation” mean?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word.</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5 · Writing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Join: “The shop is small. It is always busy.”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one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Correct: “I buyed three book yesterday.”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a three-line message to a teacher saying you cannot come tomorrow.</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Greeting, purpose, close.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WRITING: write a paragraph of 100 words about your town.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Topic sentence · three details · closing line.</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Sara and I</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capitals: the name and the word “I”, which is always capital in English.</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when is “I” capital?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Always — at the start, in the middle and at the end.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 other language does this, which is exactly why it is the commonest error in the course.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correct the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speak Amharic and English.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Three capitals: the word I, and both language names. Languages take capitals in English.</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two more capitals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Any two of: names of people · places · days · months · nationalities · the first word of a sentence.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Days and months are the ones most often forgotten, because most languages do not capitalise them.</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the comma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bought bread, milk and eggs.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comma between list items. No comma before the final “and” in British English.</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“likes her job ___ pay is not good”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but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two ideas are opposite. A comma goes before “but” when both halves are complete sentences.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“I was late ___ the bus did not come”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because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second half is the reason for the first. Reason follows “because”.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what is wrong?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comma cannot join two complete sentences. Use a full stop, or add “and”.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is the comma splice, and it is the commonest punctuation error at this level.</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the topic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first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reader needs to know the subject immediately — and skimming readers look at the first sentence, from Module 6.</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how many sentences?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4–8</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Fewer is a note. More usually means two topics that should be separated.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what separates paragraphs?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blank line.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a signal to the reader: a new topic starts here. Without it, the text is a wall.</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the four parts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Topic sentence · details · examples · closing sentence.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Always in that order. The shape never changes, whatever the subject.</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the three parts of a message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Greeting · purpose · close.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same three parts whether the message is formal or friendly. Only the words change.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the formal greeting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Dear Mr Bekele,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Title plus surname. “Hi Abel” is friendly and “Hello,” alone is neutral but incomplete.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“surname”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Your family name — your father's name, the second one.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Also called “family name”. Reversing it with the first name causes real problems on documents.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“occupation”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Your job.</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of the six form words. It appears on almost every official form in English.</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join them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shop is small, but it is always busy.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two ideas are opposite, so “but” — with a comma, because both halves are complete.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correct the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bought three books yesterday.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errors: “buyed” should be “bought” (Module 3) and “book” needs a plural -s.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the message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“Dear Mr Abel, I am sorry but I cannot come tomorrow because I am ill. Thank you. Hana.”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three parts, a reason given, and a slightly formal register for a teacher.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the paragraph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100 words · a topic sentence · three details · a closing line · at least three joining words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with the rubric from slide 49: shape, topic sentences, joining, tenses and punctuation, five marks each.</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Write something real.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five sentences about your 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Check every capital and full stop.</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Join eight short sentences into four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and, but, because and so — one each.</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one message to a friend and one formal message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same information, two registers.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Fill in a form in English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 real one if you can find it. Ask about any word you do not know.</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your 100–150 word paragraph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Then check it with the six questions.</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your Level 2 final work. Bring it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100–150 word paragraph</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Topic sentences · three joining words · one past and one future sentence.</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One formal message and one friendly message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 same information, written for two different readers.</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Spell your name · read your paragraph · name the topic sentence · both messages.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The paragraph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Length and shape (5) · topic sentences (5) · three joining words (5) · one past and one future sentence (5) · punctuation (5).</a:t>
            </a:r>
            <a:endParaRPr lang="en-US" sz="15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Two messages — 10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Three parts in each (4) · a clear difference in register (4) · correct punctuation (2).</a:t>
            </a:r>
            <a:endParaRPr lang="en-US" sz="175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Name spelled clearly (2) · paragraph read with stops (3) · topic sentence identified (2) · both messages, audibly different (3).</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Total — 45 marks</a:t>
            </a:r>
            <a:endParaRPr lang="en-US" sz="1550" dirty="0"/>
          </a:p>
          <a:p>
            <a:pPr indent="0" marL="0">
              <a:lnSpc>
                <a:spcPct val="102000"/>
              </a:lnSpc>
              <a:spcBef>
                <a:spcPts val="310"/>
              </a:spcBef>
              <a:buNone/>
            </a:pPr>
            <a:r>
              <a:rPr lang="en-US" sz="1240" dirty="0">
                <a:solidFill>
                  <a:srgbClr val="3A473F"/>
                </a:solidFill>
                <a:latin typeface="Calibri" pitchFamily="34" charset="0"/>
                <a:ea typeface="Calibri" pitchFamily="34" charset="-122"/>
                <a:cs typeface="Calibri" pitchFamily="34" charset="-120"/>
              </a:rPr>
              <a:t>36+ excellent · 27–35 good · 18–26 keep practising · below 18 → revise Modules 6–8 before Level 3.</a:t>
            </a:r>
            <a:endParaRPr lang="en-US" sz="15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Capital letters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Sentence starts · names · places · days · months · languages · always I.</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Full stops and commas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One idea per sentence. Commas in lists, after First, and before but.</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Joining sentences</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and · but · because · so. The biggest single improvement.</a:t>
            </a:r>
            <a:endParaRPr lang="en-US" sz="17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paragraph</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Topic sentence · details · examples · closing. 100–150 words.</a:t>
            </a:r>
            <a:endParaRPr lang="en-US" sz="160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Messages and forms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Greeting · purpose · close. Surname · date of birth · occupation.</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Checking your own work</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Six questions, then read it aloud. Two minutes finds most errors.</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writing toolkit. Photograph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F2ECFA"/>
          </a:solidFill>
          <a:ln w="12700">
            <a:solidFill>
              <a:srgbClr val="D9CBEE"/>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six checks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Capital start, full stop end?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Is every “I” capital?</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Verb matches the subject?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4  Plural -s where needed?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5  Past verbs correct?  6  Read aloud.</a:t>
            </a:r>
            <a:endParaRPr lang="en-US" sz="1200" dirty="0"/>
          </a:p>
        </p:txBody>
      </p:sp>
      <p:sp>
        <p:nvSpPr>
          <p:cNvPr id="16" name="Shape 11"/>
          <p:cNvSpPr/>
          <p:nvPr/>
        </p:nvSpPr>
        <p:spPr>
          <a:xfrm>
            <a:off x="6196432" y="1883664"/>
            <a:ext cx="5446624" cy="1929384"/>
          </a:xfrm>
          <a:prstGeom prst="roundRect">
            <a:avLst>
              <a:gd name="adj" fmla="val 6635"/>
            </a:avLst>
          </a:prstGeom>
          <a:solidFill>
            <a:srgbClr val="F2ECFA"/>
          </a:solidFill>
          <a:ln w="12700">
            <a:solidFill>
              <a:srgbClr val="D9CBEE"/>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paragraph shape</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TOPIC SENTENCE — the general one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DETAILS — two or three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EXAMPLES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4  CLOSING — one short line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100–150 words. Blank line between.</a:t>
            </a:r>
            <a:endParaRPr lang="en-US" sz="1200" dirty="0"/>
          </a:p>
        </p:txBody>
      </p:sp>
      <p:sp>
        <p:nvSpPr>
          <p:cNvPr id="21" name="Shape 15"/>
          <p:cNvSpPr/>
          <p:nvPr/>
        </p:nvSpPr>
        <p:spPr>
          <a:xfrm>
            <a:off x="548640" y="4014216"/>
            <a:ext cx="5446624" cy="1929384"/>
          </a:xfrm>
          <a:prstGeom prst="roundRect">
            <a:avLst>
              <a:gd name="adj" fmla="val 6635"/>
            </a:avLst>
          </a:prstGeom>
          <a:solidFill>
            <a:srgbClr val="F2ECFA"/>
          </a:solidFill>
          <a:ln w="12700">
            <a:solidFill>
              <a:srgbClr val="D9CBEE"/>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four joining words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and  →  another similar idea</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but  →  the opposite  (comma before)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because  →  the reason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so  →  the result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Two or three ideas. Not six.</a:t>
            </a:r>
            <a:endParaRPr lang="en-US" sz="1200" dirty="0"/>
          </a:p>
        </p:txBody>
      </p:sp>
      <p:sp>
        <p:nvSpPr>
          <p:cNvPr id="26" name="Shape 19"/>
          <p:cNvSpPr/>
          <p:nvPr/>
        </p:nvSpPr>
        <p:spPr>
          <a:xfrm>
            <a:off x="6196432" y="4014216"/>
            <a:ext cx="5446624" cy="1929384"/>
          </a:xfrm>
          <a:prstGeom prst="roundRect">
            <a:avLst>
              <a:gd name="adj" fmla="val 6635"/>
            </a:avLst>
          </a:prstGeom>
          <a:solidFill>
            <a:srgbClr val="F2ECFA"/>
          </a:solidFill>
          <a:ln w="12700">
            <a:solidFill>
              <a:srgbClr val="D9CBEE"/>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Any message, three parts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GREETING  —  Dear Mr … / Hi …</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PURPOSE  —  in the FIRST line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CLOSE  —  Thank you. / Thanks!</a:t>
            </a:r>
            <a:endParaRPr lang="en-US" sz="1200" dirty="0"/>
          </a:p>
          <a:p>
            <a:pPr indent="0" marL="0">
              <a:lnSpc>
                <a:spcPct val="112000"/>
              </a:lnSpc>
              <a:buNone/>
            </a:pP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Then your name.</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YOU HAVE FINISHED LEVEL 2</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Eight modules. You can now speak, read, listen and write in English about your real life.</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50" dirty="0">
                <a:solidFill>
                  <a:srgbClr val="B9CFC1"/>
                </a:solidFill>
                <a:latin typeface="Calibri" pitchFamily="34" charset="0"/>
                <a:ea typeface="Calibri" pitchFamily="34" charset="-122"/>
                <a:cs typeface="Calibri" pitchFamily="34" charset="-120"/>
              </a:rPr>
              <a:t>You started Level 2 able to say a few sentences. You can now write a paragraph, follow directions,</a:t>
            </a:r>
            <a:endParaRPr lang="en-US" sz="1550" dirty="0"/>
          </a:p>
          <a:p>
            <a:pPr indent="0" marL="0">
              <a:lnSpc>
                <a:spcPct val="120000"/>
              </a:lnSpc>
              <a:buNone/>
            </a:pPr>
            <a:r>
              <a:rPr lang="en-US" sz="1550" dirty="0">
                <a:solidFill>
                  <a:srgbClr val="B9CFC1"/>
                </a:solidFill>
                <a:latin typeface="Calibri" pitchFamily="34" charset="0"/>
                <a:ea typeface="Calibri" pitchFamily="34" charset="-122"/>
                <a:cs typeface="Calibri" pitchFamily="34" charset="-120"/>
              </a:rPr>
              <a:t>read a notice, take a phone message and hold a conversation. That is CEFR A2 — and it is real.</a:t>
            </a:r>
            <a:endParaRPr lang="en-US" sz="15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Level 3</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Intermediate English</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Fluency, accuracy and English for work</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8 — Writing Everyday Texts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 Module 8 — Writing Everyday Texts</dc:title>
  <dc:subject>English course for Ethiopian learners — Level 2 Elementary English</dc:subject>
  <dc:creator>English Learning Platform</dc:creator>
  <cp:lastModifiedBy>English Learning Platform</cp:lastModifiedBy>
  <cp:revision>1</cp:revision>
  <dcterms:created xsi:type="dcterms:W3CDTF">2026-07-27T20:47:11Z</dcterms:created>
  <dcterms:modified xsi:type="dcterms:W3CDTF">2026-07-27T20:47:11Z</dcterms:modified>
</cp:coreProperties>
</file>