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or 8 short self-study sessions.
HOW TO TEACH: Open by telling learners plainly: 'In four lessons you will read and write your first English words. Today you do not need to know anything.' Then move quickly to the warm-up — do not spend time on introductions.
TIP: Write the four lesson dates on the board so learners can see the module has an end. Beginners drop out when learning feels endless.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aloud, then ask the class: 'Can you do this now?' Most will say no. Say: 'Good. That is why we are here.' Return to this slide at the end of the module and ask again.
TIP: Objectives are promises. Do not add extra ones during the module, and do not skip any — learners notice.
CLASSROOM ACTIVITY: Ask each learner to point at the objective they most want to achieve. It tells you what to emphasise.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Run all three quickly, in this order. The purpose is not learning — it is removing fear. Every learner discovers they already recognise some English letters, which changes how they enter the lesson.
COMMON MISTAKES: The commonest teacher mistake here is correcting. Do not correct anything in the warm-up, not even badly said letters.
TIP: For task 1, learners with no phone can use the classroom door, a book cover or a food packet. Bring two or three packets with you.
CLASSROOM ACTIVITY: Extension for a strong class: count how many different letters the whole class found and write the total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Say the comparison out loud — it genuinely encourages adult beginners who believe English will be harder than Amharic. Then set today's rule: 'Every time we learn a letter, we learn two things: its name and its sound.'
COMMON MISTAKES: Learners who have seen the alphabet before will assume they know this module. Ask one of them to say the SOUND of G. Most will say 'jee' (the name). That demonstrates why the module is needed.
TIP: Do not go into 'one letter, many sounds' in detail yet. Plant the idea, move on. Detail comes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Point and say. Class repeats in chorus three times. THEN point out of order and ask individuals. The out-of-order step is essential: a learner who can only recite A-B-C in sequence is singing, not reading.
COMMON MISTAKES: H is 'aitch', not 'haitch'. W is 'double-u', not 'double-v'. Z is 'zed' in British English and 'zee' in American English — teach 'zed', accept 'zee', tell learners both exist so they are not confused by films.
EXTRA EXAMPLES: Ask: which letters look the same as capital and small? C c, O o, S s, V v, W w, X x, Z z. Which look completely different? A a, B b, D d, E e, G g, Q q, R r.
TIP: Sixty seconds of out-of-order pointing at the start of every lesson for the rest of the module. It takes no preparation and it is the single most effective drill in Level 1.
CLASSROOM ACTIVITY: Alphabet chain: learner 1 says A, learner 2 says B, around the class. Anyone who hesitates for more than 3 seconds passes to the next person. Run it twice — the second time is always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Do not rush this slide.
HOW TO TEACH: Teach it physically. Hold up a card with B. Say: 'Its name is bee.' Then: 'Its sound is /b/.' Then: 'To spell BOOK I say bee-oh-oh-kay. To read BOOK I say /b/ /ʊ/ /k/.' Do the same with C and G.
COMMON MISTAKES: Learners taught only the alphabet song can sing A-B-C but cannot sound out a word — because nobody ever told them the two are different. Watch for a learner reading 'cat' as 'see-ay-tee'. That learner is spelling, not reading, and needs this slide again.
EXTRA EXAMPLES: C is the clearest example: its name has an /s/ sound in it, but its usual sound is /k/. 'See' and /k/ share nothing. Say both slowly.
TIP: Test the distinction directly: point at a letter and say either 'name?' or 'sound?' Learners must give the right one. Two minutes, every lesson.
CLASSROOM ACTIVITY: Name or Sound: teacher says 'ef' or /f/; learners hold up one finger for NAME, two for SOUND. Fast, silent, and shows you instantly who has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Say the five vowels five times in chorus: A-E-I-O-U. Then test the rule: write any word on the board and ask a learner to point at its vowel. Use the learners' own names.
COMMON MISTAKES: Learners sometimes count Y as a vowel because they have heard 'and sometimes Y'. At Level 1 say clearly: five vowels. Y is a consonant. The exception is taught in Level 2.
EXTRA EXAMPLES: Ethiopian place names are good practice: Addis Ababa (a-i-a-a-a), Gondar (o-a), Jimma (i-a), Bahir Dar (a-i-a).
TIP: Have learners find the vowels in their own name. It makes the rule personal and it is memorable.
CLASSROOM ACTIVITY: Vowel hunt: write 10 words on the board. In pairs, learners circle every vowel. First pair to finish correctly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Model each sound with an exaggerated mouth shape and hold it for two seconds. Class repeats three times in chorus, then five individuals repeat alone. Then say the three example words for each vowel.
COMMON MISTAKES: The /æ/ in 'bag' and the /e/ in 'bed' collapse into one sound for most Ethiopian learners. Drill the pair directly: bag–beg, sat–set, man–men, bad–bed. Say one and ask learners to point left or right.
EXTRA EXAMPLES: More minimal pairs if you have time: pen–pan, cat–cut, sit–set, hot–hat.
TIP: Exaggerate. A beginner cannot copy a mouth shape they cannot see. Sit at the front where everyone can see your mouth, and say it slowly before you say it normally.
CLASSROOM ACTIVITY: Vowel corners: label five corners or walls A E I O U. Say a word; learners walk to the vowel they hear. Physical, noisy, and very effective for adults.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Read each row, then ask learners for one more example from their own life: their name, their town, their language. Write their answers on the board with the capital in a different colour.
COMMON MISTAKES: Amharic script has no capital letters, so this rule has no equivalent in the learners' first language — expect it to be forgotten for several weeks. Do not treat it as carelessness. Re-test it every lesson.
EXTRA EXAMPLES: 'english' vs 'English', 'amharic' vs 'Amharic', 'ethiopia' vs 'Ethiopia' — language and country names always take a capital, which surprises many learners.
TIP: The capital 'I' is the fastest win on this slide. Learners remember it because it is strange, and it appears in almost every sentence they will write.
CLASSROOM ACTIVITY: Capital hunt: give learners a short sentence written entirely in small letters. In pairs they rewrite it correctly. Four sentences takes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This is the highest-value slide in the module.
HOW TO TEACH: Slide your finger under the letters as you speed up — learners follow your finger, not just your voice. Do all three words as a class, then give three more on the board for pairs to blend alone.
COMMON MISTAKES: Do not show the picture or say the meaning first. If learners see a picture of a bag they will guess the word from the image and never decode the letters. Sound first, meaning second — always.
EXTRA EXAMPLES: Once the three on the slide are secure: cat, dog, hat, sun, box, ten, cup, big.
TIP: Swap one sound to show how much a single letter changes: bag → big → bug → bun. Learners hear that English is built from these small pieces. Do this every lesson.
CLASSROOM ACTIVITY: Sound cards: give each of three learners a card — /b/, /æ/, /g/. They stand in order and say their sound; then walk together and say the word. Swap the middle learner for /ɪ/ and the word becomes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Show a real pen. Say the word three times. Class repeats. Then ask five learners individually: “What is this?” They answer: “It is a pen.” Full sentence, not one word.
COMMON MISTAKES: The /p/–/b/ confusion is the single commonest Ethiopian pronunciation issue. Drill the pair: pen–Ben, pig–big, cap–cab, park–bark.
EXTRA EXAMPLES: pencil, paper, book, bag — all classroom objects the learner can point at.
TIP: The paper test makes /p/ visible: hold a small piece of paper in front of your lips. It moves on /p/ and stays still on /b/. Learners never forget it.
CLASSROOM ACTIVITY: Hold up an object; learners say “It is a pen.” Then hold up nothing and ask “Is it a pen?” so they must answer “No, it is a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Hold up the course book or any book. Say it, class repeats three times, then individuals. Then combine with the previous word: “This is my pen. This is my book.”
COMMON MISTAKES: Learners often lengthen the vowel because the spelling has two o's. Show that 'oo' here is short, unlike 'school'. Say book and school side by side.
EXTRA EXAMPLES: notebook, exercise book, textbook — but keep these for recognition only at this stage.
TIP: Point at the two o's and say: 'Two letters, one short sound.' English spelling does not match sound one-to-one — say this now, briefly, so it is not a shock later.
CLASSROOM ACTIVITY: Classroom inventory: in pairs, learners list every book they can see and count them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Use a real bag and put a book inside it. Say the sentence while doing the action: 'My book is in my bag.' The action makes the preposition 'in' clear without translation.
COMMON MISTAKES: bag–beg is the /æ/–/e/ pair from the vowel slide. Drill it again here: bag–beg, bad–bed, sat–set, man–men.
EXTRA EXAMPLES: Put the book on the bag, under the bag, in the bag — three prepositions, no explanation needed.
TIP: Objects the learners actually own work better than pictures. Ask learners to hold up their own bag.
CLASSROOM ACTIVITY: What is in your bag? Learners open their bag, hold up one object and say 'This is my ___.' Anything they cannot name in English, write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Allow extra time for the /v/ sound.
HOW TO TEACH: Model /v/ slowly with your teeth clearly visible on your lip. Hold the sound for two seconds: vvvvv. Class copies. Only then say the whole word.
COMMON MISTAKES: /v/ becoming /b/ is universal for Amharic, Tigrinya and Oromo speakers because /v/ does not exist in those languages. It is not carelessness — the mouth has never made this shape. Expect several lessons of practice.
EXTRA EXAMPLES: van–ban, vote–boat, very–berry, seven, TV, video — the last three are useful because learners already know them.
TIP: Say: 'In Amharic there is no v. Your mouth has never done this before. That is normal — we will practise it every lesson.' Naming the cause reduces embarrassment and speeds up the fix.
CLASSROOM ACTIVITY: Mirror work: learners use a phone camera or a small mirror to watch their own teeth touch their lip. Self-observation fixes this faster than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Break it: say /s/ alone, then /k/ alone, then join them with no gap — sk. Then add the rest: sk-ool. Build it forwards, never backwards.
COMMON MISTAKES: Inserting a vowel before or inside a consonant cluster is a strong first-language pattern: 'isukul', 'sitreet', 'isport'. Drill the cluster in isolation before the word.
EXTRA EXAMPLES: Other clusters to practise the same way: street, stop, sport, small, student, spell.
TIP: Have learners whisper the cluster first. Whispering removes the vowel, because a vowel needs voice. Then say it aloud with the same mouth shape.
CLASSROOM ACTIVITY: Cluster ladder on the board: s → sk → sko → skoo → school. Learners climb the ladder in chorus, then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Write one sentence on the board in all small letters. Ask: 'What is missing?' Let a learner come and fix it. Learner-corrected errors are remembered far better than teacher-stated rules.
COMMON MISTAKES: Because Amharic has no capital letters, this rule feels arbitrary. Say so: 'This does not exist in Amharic. In English it is a rule with no reason — we just do it.' Honesty here helps.
EXTRA EXAMPLES: Give three more all-small sentences for pairs to correct: 'this is my pen.' 'i am from gondar.' 'my teacher is hana.'
TIP: Mark it in every piece of written work from today onwards. If you let it pass once, it takes months to fix.
CLASSROOM ACTIVITY: Sentence relay: one learner writes a sentence in small letters on the board, the next learner corrects it, the third reads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Go row by row and ask learners to supply a real example from their own life for each row — their name, their town, their language. Write their words on the board with the capital in a second colour.
COMMON MISTAKES: The last row is the one learners get wrong in the opposite direction: after learning the rule, some capitalise every noun ('My Pen is Blue'). Show that row explicitly.
EXTRA EXAMPLES: Ethiopian months and festivals for extra practice: Meskel, Timket, Genna, Eid, Enkutatash — all capitals.
TIP: Count the capitals in the sentence in the note box: I, Gondar, I, Amharic. Counting turns an abstract rule into a checkable task.
CLASSROOM ACTIVITY: In pairs, learners write one sentence containing their name, their town and their language, then swap and check each other's capitals.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Read a short text aloud with no pauses at all, deliberately, until learners look confused. Then read it again with proper stops. Ask: 'Which was easier?' That demonstrates the full stop better than any definition.
COMMON MISTAKES: Beginners write one long sentence joined by 'and': 'this is my pen and it is blue and my book is in my bag'. Show them where the full stops belong and rewrite it as three sentences.
EXTRA EXAMPLES: Give this on the board for correction: 'my name is abel i am from merkato i am a trader' → three sentences, three capitals, three full stops.
TIP: Teach the full stop and the capital as one habit, not two rules. Learners who learn them separately apply only one.
CLASSROOM ACTIVITY: Breath reading: learners read a short text aloud and must take a breath at every full stop. It makes punctuation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Say each example twice: once with the correct intonation and once flat. Ask learners which one sounds like a question. Then have the class say both with an exaggerated rise and fall, using a hand gesture going up and down.
COMMON MISTAKES: Learners often write the question mark but say the sentence with flat intonation, so it does not sound like a question to a listener. The punctuation is the easy half; the voice is the half that matters in speech.
EXTRA EXAMPLES: More pairs: 'This is a pen.' / 'Is this a pen?'  ·  'You are a student.' / 'Are you a student?'
TIP: Use your hand as a pitch line: move it up for a question, down for a statement. Learners copy the gesture and the voice follows.
CLASSROOM ACTIVITY: Statement or question: teacher says a sentence with no punctuation visible; learners raise a hand for question, keep it down for statement. Fast, and it tests listening not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Take the three wrong sentences one at a time. For each, ask the class to name every error before you fix it. There are three errors in each — capital at the start, capital on the name, and the end mark.
COMMON MISTAKES: Learners usually spot one error and stop. Tell them in advance there are three, so they keep looking.
EXTRA EXAMPLES: Two more for pairs: 'this is my friend hana' and 'do you speak english'.
TIP: This three-check list becomes the marking standard for the rest of Level 1. Write it on a poster and leave it on the classroom wall.
CLASSROOM ACTIVITY: Error auction: show a wrong sentence; teams 'bid' by saying how many errors they can find. The team bidding highest must find them all or lose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at least two learners before revealing. Then read the WHY aloud — the explanation is the teaching, not the answer.
COMMON MISTAKES: Do not let learners copy the answer without hearing the reason. A learner who knows the answer but not the reason cannot do the next question.
TIP: If most of the class gets an item wrong, stop and re-teach that concept slide before continuing. These examples are a diagnostic as much as a practice.
CLASSROOM ACTIVITY: Ask a learner who answered correctly to explain the WHY in their own words before you read the slide. Peer explanation is more convincing than teacher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at least two learners before revealing. Then read the WHY aloud — the explanation is the teaching, not the answer.
COMMON MISTAKES: Do not let learners copy the answer without hearing the reason. A learner who knows the answer but not the reason cannot do the next question.
TIP: If most of the class gets an item wrong, stop and re-teach that concept slide before continuing. These examples are a diagnostic as much as a practice.
CLASSROOM ACTIVITY: Ask a learner who answered correctly to explain the WHY in their own words before you read the slide. Peer explanation is more convincing than teacher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at least two learners before revealing. Then read the WHY aloud — the explanation is the teaching, not the answer.
COMMON MISTAKES: Do not let learners copy the answer without hearing the reason. A learner who knows the answer but not the reason cannot do the next question.
TIP: If most of the class gets an item wrong, stop and re-teach that concept slide before continuing. These examples are a diagnostic as much as a practice.
CLASSROOM ACTIVITY: Ask a learner who answered correctly to explain the WHY in their own words before you read the slide. Peer explanation is more convincing than teacher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at least two learners before revealing. Then read the WHY aloud — the explanation is the teaching, not the answer.
COMMON MISTAKES: Do not let learners copy the answer without hearing the reason. A learner who knows the answer but not the reason cannot do the next question.
TIP: If most of the class gets an item wrong, stop and re-teach that concept slide before continuing. These examples are a diagnostic as much as a practice.
CLASSROOM ACTIVITY: Ask a learner who answered correctly to explain the WHY in their own words before you read the slide. Peer explanation is more convincing than teacher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at least two learners before revealing. Then read the WHY aloud — the explanation is the teaching, not the answer.
COMMON MISTAKES: Do not let learners copy the answer without hearing the reason. A learner who knows the answer but not the reason cannot do the next question.
TIP: If most of the class gets an item wrong, stop and re-teach that concept slide before continuing. These examples are a diagnostic as much as a practice.
CLASSROOM ACTIVITY: Ask a learner who answered correctly to explain the WHY in their own words before you read the slide. Peer explanation is more convincing than teacher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Four steps, in order: (1) learners listen with books closed, (2) class repeats each line in chorus, (3) pairs read the script, (4) pairs perform it with their own real names and towns. Do not skip step 4 — it is where the learning becomes theirs.
COMMON MISTAKES: Learners spell too fast and run the letters together. Model a slow, clear rhythm with a short pause between letters: S … A … R … A.
EXTRA EXAMPLES: Longer names are harder and more useful. Practise with Bethlehem, Tewodros, Meseret, Abdulkadir.
TIP: The phrase “How do you spell it?” is worth more than the rest of the dialogue combined — learners will use it for the rest of their lives. Drill it separately.
CLASSROOM ACTIVITY: Name chain: each learner introduces and spells their name, then spells the name of the learner before them. Memory plus spelling, and it makes the class learn each other's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 the four phrases before the dialogue, not after. Drill each one five times in chorus. Then read the dialogue so learners see the phrases doing real work.
COMMON MISTAKES: Beginners go silent or switch to Amharic the moment they do not understand. That habit forms in the first weeks and is hard to break later — which is why this comes in Module 1.
EXTRA EXAMPLES: Also useful now: “What does it mean?” and “How do you say … in English?”
TIP: Make it a class rule from today: nobody may say “I don't know” in Amharic. They must use one of the four English phrases instead. Enforce it kindly and consistently.
CLASSROOM ACTIVITY: Deliberately speak too fast to the class and wait. The first learner to say “Please speak slowly” in English gets a point. Repeat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then individually. Insist on the whole phrase — not “repeat?” but “Can you repeat, please?”
COMMON MISTAKES: “Nice to meet you” answered without “too”. Drill the pair together so the reply is automatic.
EXTRA EXAMPLES: Add “Excuse me” as an opener if the class is strong.
TIP: Print these six phrases and stick them on the classroom wall. Point at the poster instead of translating for the rest of the level.
CLASSROOM ACTIVITY: Phrase bingo: each learner takes three of the six phrases. During the lesson, when they use one naturally, they cross it off. First to cross off all three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Give pairs three minutes to fill the gaps in writing, then have three pairs perform it aloud. Only then show the answer key slide.
COMMON MISTAKES: Some learners will write “Nice to meet you” without “too” in the last gap. It is understandable but the reply needs “too”.
TIP: Ask learners to perform it standing up and shaking hands. The physical action fixes the language in memory better than reading it seated.
CLASSROOM ACTIVITY: Once they have done it with their own names, they do it again pretending to be Sara, Dawit, Hana or Abel from the course.
ANSWERS: 1 What is your name?  ·  2 the learner's own name  ·  3 How do you spell it?  ·  4 the learner's name letter by letter  ·  5 Nice to meet you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for all four rounds.
HOW TO TEACH: Keep each round strictly to two minutes and announce the change loudly. The energy comes from the pace. Walk between pairs and listen — do not interrupt, just note what to correct at the end.
COMMON MISTAKES: Do not let one confident learner speak for both. If you see it, stop and give the quiet learner the first turn in the next round.
TIP: Round 4 with a new partner is the one teachers skip when time is short. It is the most valuable — saying it to a new face is much closer to real life than repeating it to the same partner.
CLASSROOM ACTIVITY: After round 4, ask three learners to tell the class one thing they learned about their partner. That turns the drill into real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Always finish with part C. A learner who can only recite in order has memorised a song; a learner who can name a letter out of order can read.
COMMON MISTAKES: H said as “haitch”, W said as “double-v”, and G and J confused with each other. Drill G and J side by side: “jee” and “jay”.
EXTRA EXAMPLES: Ask for the letters in a learner's name, out of order: 'Point at the first letter of your name. Now the last one.'
TIP: Keep an A-Z chart on the wall for the whole of Level 1 and use it for sixty seconds at the start of every single lesson.
CLASSROOM ACTIVITY: Alphabet race: two learners at the board, teacher says a letter, first to touch it on the chart wins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Model it once with a strong learner in front of the class before pairs begin, so everyone sees the pace expected.
COMMON MISTAKES: Spelling too fast is the main problem, and the vowels E and I are commonly confused because their names sound similar. Drill “ee” and “eye” before starting.
EXTRA EXAMPLES: Harder names for fast finishers: Bethlehem, Tewodros, Abdulkadir, Meseret, Wondwossen.
TIP: This activity produces a written record, so you can see instantly who heard correctly and who did not — collect two or three papers and check.
CLASSROOM ACTIVITY: Spell a mystery word: teacher spells a word from the vocabulary list; the first learner to write it correctly and say it aloud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Give every learner a small strip of paper. Say “pen” — the paper moves. Say “Ben” — it does not. Then let learners test themselves. Self-testing is what makes this drill work.
COMMON MISTAKES: This is the number one Ethiopian pronunciation issue. Amharic has both sounds but they pattern differently, so learners substitute one for the other, especially at the start of a word.
EXTRA EXAMPLES: Sentence practice once the pair is secure: “Ben has a pen.” “Put the pen in the big bag.”
TIP: Test by ear as well as by mouth. Say one word from a pair and ask learners to point left or right. Learners must hear the difference before they can produce it.
CLASSROOM ACTIVITY: Minimal pair bingo: learners draw a 2×3 grid and write any six words from the two columns. Teacher reads words at random; learners cross off what they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These sounds are new to the mouth, so allow more time than feels necessary.
HOW TO TEACH: Model each sound in isolation for two full seconds with your mouth clearly visible before saying any word. Learners copy the shape first, then add the word.
COMMON MISTAKES: /v/ becomes /b/ (“bery”), and “th” becomes t, d, s or z (“dis”, “sink” for “think”). Both are because the sound does not exist in the first language — say this out loud so nobody feels stupid.
EXTRA EXAMPLES: Minimal pairs when ready: van–ban, vote–boat, think–sink, three–tree, this–dis.
TIP: Tell learners plainly: “Your mouth has never made this shape before. It will feel strange for two weeks, then it will be normal.” Naming the timeline stops people giving up.
CLASSROOM ACTIVITY: Mirror practice: learners use a phone camera to watch their own mouth. Watching themselves fixes this faster than any correction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including listening back.
HOW TO TEACH: Learners record on a phone. If there are no phones, they perform live to a partner who ticks off the five steps. Everyone records, including the shy learners — that is the point of it being only 30 seconds.
COMMON MISTAKES: Learners rush and skip the spelling step. Tell them to take a breath before spelling.
TIP: Have them listen back once. Self-listening does more for pronunciation than any correction you can give, and it is free.
CLASSROOM ACTIVITY: Keep every recording. Play it back at the end of Level 1 next to their new one — hearing their own progress is the strongest motivation in the whole course.
ANSWERS: SUCCESS CRITERIA: all five steps present · a listener who does not know them can write their name correctly from the spelling · the three objects are named in full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Read each item twice with a five-second pause between them. Read at a natural but unhurried pace. Do not spell anything out or give hints.
COMMON MISTAKES: Items 2 and 4 (E and I) are the classic confusion because “ee” and “eye” are both vowel names. Item 6 (aitch) is often written as A. Expect these.
TIP: Read the whole list once through before learners write anything, so they know what is coming. Then read again for answers.
CLASSROOM ACTIVITY: Extension: read six more letters and have learners write them, then swap papers and mark each other's.
ANSWERS: 1 B · 2 E · 3 G · 4 I · 5 W · 6 H · 7 any word starting with /v/ (van, very, video) · 8 any word starting with /p/ (pen, pig,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Read each answer, then the reason. Ask learners to raise a hand if they got it wrong — not to embarrass anyone, but so you can see which letters need re-drilling. Then re-drill exactly those.
TIP: If more than half the class missed items 2 and 4, spend five minutes on E and I before moving on. It will save time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Spell each item slowly with a clear pause between letters, then repeat at the same speed. Do not say the whole word first — that removes the task.
COMMON MISTAKES: Learners write the names in small letters. Remind them of Grammar Rule 2 before you start, then check for it when marking.
EXTRA EXAMPLES: Add two harder ones if the class is strong: B – E – T – H – L – E – H – E – M and T – E – W – O – D – R – O – S.
TIP: This exercise tests three things at once — letter recognition, listening and the capital letter rule. Mark all three.
ANSWERS: 1 Sara · 2 Dawit · 3 Hana · 4 Gondar · 5 Adama. All five must have a capital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Have learners swap papers and mark each other's. They must check two things: the letters and the capital. Peer marking makes the capital rule stick because they are looking for it in someone else's work.
TIP: Count how many learners wrote all five capitals correctly and say the number aloud. It makes the rule feel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each habit and ask: 'Which one do you not do?' Learners usually admit to the second and third. Ask them to choose one habit to use this week.
COMMON MISTAKES: The commonest listening problem for beginners is not ability — it is stopping at the first unknown word and losing everything after it.
TIP: Model habit 3 by playing a recording with one word deliberately mumbled, then asking what the message was. Learners realise they understood it anyway.
CLASSROOM ACTIVITY: Shadowing: play any short recording and have learners speak along at exactly the same time, twice. It feels strange for thirty seconds and then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chorus step matters more than it looks. Reading together removes the fear of being wrong in front of the class, so that when individuals read afterwards they are already confident.
COMMON MISTAKES: Watch for learners reading letter names instead of sounds — “bee-ay-jee” for “bag”. That learner has not yet made the name/sound distinction and needs Concept 2 again.
EXTRA EXAMPLES: New word here: “her”. Teach it quickly — “her bag” means the bag belongs to Sara.
TIP: Point at each word as the class reads. Beginners lose their place constantly, and following your finger keeps everyone together.
CLASSROOM ACTIVITY: Read it three ways: normally, then whispering, then quickly. Changing how they read keeps repetition from feeling like repetition.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Insist on full sentences from the very first lesson. One-word answers are the habit you are trying to prevent, and it is far easier to prevent than to cure.
COMMON MISTAKES: Learners answer “student” instead of “Sara is a student.” Do not accept it. Say “Full sentence, please” and wait.
TIP: Books must be closed. If the text is visible, learners copy the answer from the page and no reading comprehension takes place at all.
ANSWERS: 1 Sara is in the text. · 2 Sara is a student. · 3 Her pen is in the bag. · 4 Her book is in the bag. · 5 It is Sara's bag.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Read the answer, then the reason. Question 5 is the important one — it is an inference question, meaning the answer is not written directly in the text. Point that out.
TIP: Praise learners who answered in full sentences specifically for that, not for being right. It signals what you are measuring.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Same routine as Reading 1: teacher reads, class reads in chorus, individuals read one line each. Then deal with the four new words using gesture and objects, not translation.
COMMON MISTAKES: “I am not a student” — the word order of the negative is new. Do not explain it grammatically at this level. Say it, have them repeat it, and move on. The rule comes in Level 2.
EXTRA EXAMPLES: The five capitals: My (sentence start), Abel (name), I (always), Addis Ababa (place), Merkato (place) — plus the sentence-start capitals on every line.
TIP: This text is deliberately about an adult with a job, not a child at school. Adult beginners need to see adults like themselves in the material.
CLASSROOM ACTIVITY: Learners rewrite the text about themselves, changing the name, the town, the job and the object. Six sentences, entirely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Question 3 is the one to spend time on: a yes/no answer alone is weak. Teach learners to add the reason. This habit pays off for the rest of the course.
TIP: End by having the class say all five vocabulary words in chorus, then having five individuals each use one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each letter large on the board, saying the direction aloud as you write: 'Start at the top, come down, around.' Learners copy in the air with a finger before they write on paper.
COMMON MISTAKES: b and d reversed is extremely common and is not a sign of any problem — it is normal at this stage. Teach the trick: b has its circle on the right, like the letter in “bag”.
EXTRA EXAMPLES: The letters that go below the line — g, j, p, q, y — are often written sitting on the line instead. Point at the descenders explicitly.
TIP: Adult learners can find copying letters embarrassing. Say once, clearly: 'Everyone starts here, including people who speak four languages already.' Then move on briskly.
CLASSROOM ACTIVITY: Air writing: the whole class writes the letter in the air with a finger while saying its name and its sound. It feels silly for ten seconds and then it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your own example on the board first, complete and correct, and leave it there. Beginners need a model in front of them — removing it does not make them more independent, it makes them stop.
COMMON MISTAKES: The three most common: no capital on the name, no capital on the town, no full stop. The checklist on the right exists for exactly these.
EXTRA EXAMPLES: Fast finishers add two more lines: “I am a student.” or “My bag is blue.”
TIP: Collect these three sentences and keep them. At the end of Level 1, give them back — the visible difference in handwriting and accuracy is powerful for learners.
CLASSROOM ACTIVITY: Learners swap papers and use the five-point checklist to mark their partner's work. Checking someone else's capitals fixes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the first one together on the board so the standard is clear, then let them work alone. Circulate and check capitals and full stops as they write, not after.
COMMON MISTAKES: Item 5 is the one they get wrong — many will write it as a statement with a full stop. Remind them: a question ends with a question mark.
TIP: Do not correct spelling of words outside the module. Correct only the three rules and the five module words. Correcting everything discourages beginners into silence.
ANSWERS: MODEL ANSWERS: 1 This is my pen. · 2 My book is in my bag. · 3 My bag is blue. · 4 My name is Sara. · 5 What is your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Make clear that these are models, not the only right answers. Ask three learners to read their own sentence for item 3 — the variety shows the class that many answers are correct.
TIP: Mark against the three rules only. A learner whose sentence is “My bag is red.” has succeeded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take out their writing from the previous slide and check it against all four. Self-checking is a skill and it needs to be taught, not assumed.
TIP: Print this checklist as a small card for every learner to keep inside their exercise book. Refer to it by name — 'Check your four points' — from now on.
CLASSROOM ACTIVITY: Deliberate error hunt: write a four-sentence text on the board containing exactly four errors, one of each type. Learners find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Let learners answer alone first, then compare with a partner before you take answers from the class. Comparing in pairs raises the number of correct answers and lowers the fear of being wrong.
TIP: Question 3 is the diagnostic one. A learner who chooses c has confused the name with the sound and needs Concept 2 again.
ANSWERS: 1 b (26) · 2 c (E) · 3 a (“jee”) · 4 b (van) · 5 b (My name is Sara.)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1 and 2 are alphabet knowledge. Items 3 to 5 need the module vocabulary. Do item 1 together, then leave them to it.
COMMON MISTAKES: Item 3 tests “is”, which learners frequently leave out entirely — this is the missing verb “to be” and it will be a major focus in Module 3.
TIP: For item 5, remind learners about the consonant cluster: s-chool, with no vowel inserted at the start.
ANSWERS: 1 D · 2 E · 3 is · 4 pen · 5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matching tasks are better than one long one — learners get three chances to succeed. Let them work in pairs.
TIP: Part 3 is the hardest because it needs the sound, not the letter. If learners struggle, say each sound aloud before they start.
ANSWERS: Part 1: 1–b, 2–c, 3–d, 4–a.  ·  Part 2: 1–c, 2–d, 3–a, 4–b.  ·  Part 3: 1–c (pen), 2–d (book), 3–a (van), 4–b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Items 4 and 5 are the useful ones — alphabetical order of words is a real-life skill used in registers, phone contacts and dictionaries. Point that out.
TIP: Teach the strategy explicitly: look at the first letter of each word only. Learners who try to compare whole words get lost.
CLASSROOM ACTIVITY: Human alphabet: five learners hold letter cards and physically arrange themselves in order at the front of the class.
ANSWERS: 1 A, B, C, D · 2 K, L, M, P · 3 T, V, W, Z · 4 Abel, Dawit, Hana, Sara · 5 Adama, Bahir Dar, Gondar, Merkato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before they start — otherwise they find the first one and stop. Sentence 1 has three, sentence 5 has four.
COMMON MISTAKES: Sentence 3 is the reverse error — a capital where none is needed. Learners who have just learned the rule tend to over-apply it.
TIP: Have learners count the errors before correcting. Counting forces careful reading.
ANSWERS: 1 My name is Dawit. (capital M, capital D, full stop) · 2 I am from Gondar. (capital I) · 3 This is my bag. (“bag” is an ordinary thing, small letter) · 4 What is your name? (capital W, question mark not full stop) · 5 I speak Amharic and English. (capital I, capital A, capital E, full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instruction to correct every false statement is what makes this exercise teach rather than just test. Do not let learners write only T or F.
TIP: Item 4 is the key concept of the whole module. If learners get it wrong, return to Concept 2 before the quiz.
ANSWERS: 1 T · 2 F — they are vowels · 3 T · 4 F — you use letter NAMES when you spell · 5 T · 6 F — “van” starts with /v/ and “ban” starts with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Every answer will be different except item 5 — that is intentional. Personal answers are remembered; invented ones are not.
COMMON MISTAKES: Item 2 is often answered by writing the name again rather than spelling it out. Show one example on the board.
TIP: Ask three learners to read their answers aloud. Hearing real classmates' answers is more useful than any model sentence.
ANSWERS: 1 My name is ___. · 2 spelled letter by letter, with capitals correct · 3 I am from ___. · 4 My pen is in my bag. / My book is in my bag. · 5 N comes after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Give each pair a checklist role: while A speaks, B listens for one specific thing — the /v/ in van, or the start of school. Listening with a purpose is far more useful than listening in general.
TIP: Task 4 builds fluency, not accuracy. Speed with the same sentence is how learners stop translating in their head.
ANSWERS: SUCCESS CRITERIA: 1 completed in under 30 seconds · 2 partner can write the name correctly from the spelling · 3 /v/ and /p/ clearly different from /b/ · 4 no vowel inserted before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bridge to the quiz. Let learners work in pairs, and expect it to be genuinely hard — that is the point. Take answers as a class and discuss the reasoning, not just the answer.
TIP: Question 3 is the hardest. Say the four words aloud slowly and let learners hear that bag and van share the /æ/ sound.
ANSWERS: 1 e.g. “My name is Sara.” has two; “I am from Gondar.” has three (I, Gondar, and the sentence-start capital on I which is the same letter) — accept any sentence with three capitals, e.g. “Sara is from Ethiopia.” plus the start capital. 2 school. 3 bag and van (both /æ/). 4 “I am Abel. I am from Merkato.” — capital I twice, capital A on Abel, capital M on Merkato, and a full stop splitting the two sentences. 5 e.g. “Please speak slowly.” and “Can you repeat, please?” or “How do you spell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This is discussion, not writing.
HOW TO TEACH: Take answers orally. Accept Amharic for the reasoning at this level if the learner cannot yet express it in English — the thinking matters more than the language here. Then give them the English phrase for what they said.
TIP: Question 3 is worth real discussion. Adult learners often waste energy looking for logic in English spelling and punctuation. Telling them plainly that some things are just conventions saves months of frustration.
ANSWERS: 1 The song teaches letter NAMES in a fixed order only; it does not teach sounds, and it does not help you recognise a letter out of order — so it does not help you read. 2 The friend is using letter names instead of letter sounds; help by saying the three sounds /b/ /æ/ /g/ and blending them. 3 There is no logical reason — some rules are simply conventions, and the fastest route is to accept and practise rather than look for logic. 4 Say “Please speak slowly”, say “Can you repeat, please?”, ask “How do you spell it?”, point at the object, or ask them to write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Question 20 is spoken and is assessed by you or by a partner.
COMMON MISTAKES: Do not let learners mark their own paper before the answer key. Collect the papers or have them swap.
TIP: Pass mark is 16 out of 20 (80%).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Question 20 is spoken and is assessed by you or by a partner.
COMMON MISTAKES: Do not let learners mark their own paper before the answer key. Collect the papers or have them swap.
TIP: Pass mark is 16 out of 20 (80%).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Question 20 is spoken and is assessed by you or by a partner.
COMMON MISTAKES: Do not let learners mark their own paper before the answer key. Collect the papers or have them swap.
TIP: Pass mark is 16 out of 20 (80%).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Question 20 is spoken and is assessed by you or by a partner.
COMMON MISTAKES: Do not let learners mark their own paper before the answer key. Collect the papers or have them swap.
TIP: Pass mark is 16 out of 20 (80%).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Question 20 is spoken and is assessed by you or by a partner.
COMMON MISTAKES: Do not let learners mark their own paper before the answer key. Collect the papers or have them swap.
TIP: Pass mark is 16 out of 20 (80%).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read the WHY aloud. Ask learners to raise a hand for each one they got wrong — you are collecting data on what to re-teach, not judging anyone. Say so.
COMMON MISTAKES: Do not simply read the answers out and move on. The explanation is where the learning happens — a learner who hears only “b” learns nothing.
TIP: Note which questions the class failed most. Q3, Q8 and Q12 are the diagnostic ones: Q3 means the name/sound idea has not landed, Q8 means the vowel sounds need work, Q12 means punctuation needs another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read the WHY aloud. Ask learners to raise a hand for each one they got wrong — you are collecting data on what to re-teach, not judging anyone. Say so.
COMMON MISTAKES: Do not simply read the answers out and move on. The explanation is where the learning happens — a learner who hears only “b” learns nothing.
TIP: Note which questions the class failed most. Q3, Q8 and Q12 are the diagnostic ones: Q3 means the name/sound idea has not landed, Q8 means the vowel sounds need work, Q12 means punctuation needs another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read the WHY aloud. Ask learners to raise a hand for each one they got wrong — you are collecting data on what to re-teach, not judging anyone. Say so.
COMMON MISTAKES: Do not simply read the answers out and move on. The explanation is where the learning happens — a learner who hears only “b” learns nothing.
TIP: Note which questions the class failed most. Q3, Q8 and Q12 are the diagnostic ones: Q3 means the name/sound idea has not landed, Q8 means the vowel sounds need work, Q12 means punctuation needs another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read the WHY aloud. Ask learners to raise a hand for each one they got wrong — you are collecting data on what to re-teach, not judging anyone. Say so.
COMMON MISTAKES: Do not simply read the answers out and move on. The explanation is where the learning happens — a learner who hears only “b” learns nothing.
TIP: Note which questions the class failed most. Q3, Q8 and Q12 are the diagnostic ones: Q3 means the name/sound idea has not landed, Q8 means the vowel sounds need work, Q12 means punctuation needs another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read the WHY aloud. Ask learners to raise a hand for each one they got wrong — you are collecting data on what to re-teach, not judging anyone. Say so.
COMMON MISTAKES: Do not simply read the answers out and move on. The explanation is where the learning happens — a learner who hears only “b” learns nothing.
TIP: Note which questions the class failed most. Q3, Q8 and Q12 are the diagnostic ones: Q3 means the name/sound idea has not landed, Q8 means the vowel sounds need work, Q12 means punctuation needs another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Give the homework on the board as well as on the slide, and say the date it is due. Beginners forget verbal instructions.
TIP: Ten minutes daily beats an hour once. Say this explicitly — many adult learners believe that studying means long sessions, and then do nothing because they cannot find an hour.
CLASSROOM ACTIVITY: Ask learners to text or message one classmate each evening with one English word. It creates accountability and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Show your own completed example of task 2 so the standard is visible. Say clearly that task 3 is required, not optional — the recording is the main assessment of this module.
COMMON MISTAKES: Learners who cannot record on a phone must not be excluded. Offer the live performance option openly so nobody has to ask.
TIP: Reply to every recording personally, by voice, within two days. A forty-second voice reply that uses the learner's name does more for attendance than any reminder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not after. Learners who know exactly what is being measured produce far better work, and the marking becomes uncontroversial.
COMMON MISTAKES: Do not mark spelling of words outside this module. Mark only what has been taught. Marking everything teaches learners that English is impossible.
TIP: Give the mark privately — written on the work or sent individually. Never read marks aloud to the class. Adult beginners are easily humiliated and rarely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the objectives, and read them again. Ask the same question you asked at the start: 'Can you do this now?' The change in the room is the point of the slide.
TIP: Ask each learner to name the one thing they found hardest. Write the list on the board — that list is your plan for the first ten minutes of the next lesson.
CLASSROOM ACTIVITY: Quick-fire recap: point at each of the six cards and ask a different learner to give one example from it. Two minutes,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This is the reference page for the whole of Level 1.
TIP: Print this slide as an A4 poster for the classroom wall. You will point at it in every lesson for the next two months.
CLASSROOM ACTIVITY: Cover each box in turn and ask the class to say what was in it. Recall from memory, not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Say this properly, not as a formality. Adult beginners routinely believe they are too old or too slow to learn English; finishing a module is direct evidence against that belief. Name what they achieved specifically — 26 letters, 5 words, 3 rules — because specific praise is believable and general praise is not.
TIP: Play back one learner's 30-second recording from the start of the module, with their permission. Hearing a real classmate is worth more than anything you can say.
CLASSROOM ACTIVITY: Ask each learner to say one English sentence to the person next to them and then leave. Everyone ends the module speaking English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1</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1</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Beginner</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Pre-A1 → A1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1 OF 6</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The English Alphabet &amp; Sounds</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400" dirty="0">
                <a:solidFill>
                  <a:srgbClr val="B9CFC1"/>
                </a:solidFill>
                <a:latin typeface="Calibri" pitchFamily="34" charset="0"/>
                <a:ea typeface="Calibri" pitchFamily="34" charset="-122"/>
                <a:cs typeface="Calibri" pitchFamily="34" charset="-120"/>
              </a:rPr>
              <a:t>The first module of the course. We start at the very beginning: 26 letters, the sound each one makes, and your first five English words.</a:t>
            </a:r>
            <a:endParaRPr lang="en-US" sz="14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WORDS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By the end of this module — five things you cannot do yet.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the names of all 26 English letters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In order from A to Z, and out of order when someone points at one.</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the sound each letter makes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name and the sound are different. This one idea is the key to reading English.</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Tell capital letters from small letters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 and a are the same letter. You need to know both.</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Spell your name and your town out loud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"S–A–R–A."  "B–A–H–I–R  D–A–R."</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Read and write your first five English words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pen · book · bag · van · school</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do you already know?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in this activity.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Find the letters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Look at your phone, a bottle, a sign or a shirt. Find 5 English letters. Say them any way you can.</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Write your name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Write your name on paper — in Amharic or in English. Count the letters. Tell your partner the number.</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Just listen</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 teacher plays the alphabet song once. Do not sing. Do not repeat. Only listen.</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26 letters make every word in English.</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Amharic uses more than 200 characters. English uses 26. That is the good news.</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The hard news: one English letter can make more than one sound — so we learn the letter AND the sound together, from today.</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26 letters in total</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5 vowels: A E I O U</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21 consonants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26 letters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Capital letter and small letter. Same letter, two sizes.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1459513" cy="790956"/>
          </a:xfrm>
          <a:prstGeom prst="roundRect">
            <a:avLst>
              <a:gd name="adj" fmla="val 16185"/>
            </a:avLst>
          </a:prstGeom>
          <a:solidFill>
            <a:srgbClr val="F6F9F7"/>
          </a:solidFill>
          <a:ln w="12700">
            <a:solidFill>
              <a:srgbClr val="E3E9E5"/>
            </a:solidFill>
            <a:prstDash val="solid"/>
          </a:ln>
        </p:spPr>
      </p:sp>
      <p:sp>
        <p:nvSpPr>
          <p:cNvPr id="12" name="Text 8"/>
          <p:cNvSpPr txBox="1"/>
          <p:nvPr/>
        </p:nvSpPr>
        <p:spPr>
          <a:xfrm>
            <a:off x="548640"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A a</a:t>
            </a:r>
            <a:endParaRPr lang="en-US" sz="2600" dirty="0"/>
          </a:p>
        </p:txBody>
      </p:sp>
      <p:sp>
        <p:nvSpPr>
          <p:cNvPr id="13" name="Text 9"/>
          <p:cNvSpPr txBox="1"/>
          <p:nvPr/>
        </p:nvSpPr>
        <p:spPr>
          <a:xfrm>
            <a:off x="548640"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ay</a:t>
            </a:r>
            <a:endParaRPr lang="en-US" sz="1100" dirty="0"/>
          </a:p>
        </p:txBody>
      </p:sp>
      <p:sp>
        <p:nvSpPr>
          <p:cNvPr id="14" name="Shape 10"/>
          <p:cNvSpPr/>
          <p:nvPr/>
        </p:nvSpPr>
        <p:spPr>
          <a:xfrm>
            <a:off x="2154457" y="1883664"/>
            <a:ext cx="1459513" cy="790956"/>
          </a:xfrm>
          <a:prstGeom prst="roundRect">
            <a:avLst>
              <a:gd name="adj" fmla="val 16185"/>
            </a:avLst>
          </a:prstGeom>
          <a:solidFill>
            <a:srgbClr val="F6F9F7"/>
          </a:solidFill>
          <a:ln w="12700">
            <a:solidFill>
              <a:srgbClr val="E3E9E5"/>
            </a:solidFill>
            <a:prstDash val="solid"/>
          </a:ln>
        </p:spPr>
      </p:sp>
      <p:sp>
        <p:nvSpPr>
          <p:cNvPr id="15" name="Text 11"/>
          <p:cNvSpPr txBox="1"/>
          <p:nvPr/>
        </p:nvSpPr>
        <p:spPr>
          <a:xfrm>
            <a:off x="2154457"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B b</a:t>
            </a:r>
            <a:endParaRPr lang="en-US" sz="2600" dirty="0"/>
          </a:p>
        </p:txBody>
      </p:sp>
      <p:sp>
        <p:nvSpPr>
          <p:cNvPr id="16" name="Text 12"/>
          <p:cNvSpPr txBox="1"/>
          <p:nvPr/>
        </p:nvSpPr>
        <p:spPr>
          <a:xfrm>
            <a:off x="2154457"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bee</a:t>
            </a:r>
            <a:endParaRPr lang="en-US" sz="1100" dirty="0"/>
          </a:p>
        </p:txBody>
      </p:sp>
      <p:sp>
        <p:nvSpPr>
          <p:cNvPr id="17" name="Shape 13"/>
          <p:cNvSpPr/>
          <p:nvPr/>
        </p:nvSpPr>
        <p:spPr>
          <a:xfrm>
            <a:off x="3760274" y="1883664"/>
            <a:ext cx="1459513" cy="790956"/>
          </a:xfrm>
          <a:prstGeom prst="roundRect">
            <a:avLst>
              <a:gd name="adj" fmla="val 16185"/>
            </a:avLst>
          </a:prstGeom>
          <a:solidFill>
            <a:srgbClr val="F6F9F7"/>
          </a:solidFill>
          <a:ln w="12700">
            <a:solidFill>
              <a:srgbClr val="E3E9E5"/>
            </a:solidFill>
            <a:prstDash val="solid"/>
          </a:ln>
        </p:spPr>
      </p:sp>
      <p:sp>
        <p:nvSpPr>
          <p:cNvPr id="18" name="Text 14"/>
          <p:cNvSpPr txBox="1"/>
          <p:nvPr/>
        </p:nvSpPr>
        <p:spPr>
          <a:xfrm>
            <a:off x="3760274"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C c</a:t>
            </a:r>
            <a:endParaRPr lang="en-US" sz="2600" dirty="0"/>
          </a:p>
        </p:txBody>
      </p:sp>
      <p:sp>
        <p:nvSpPr>
          <p:cNvPr id="19" name="Text 15"/>
          <p:cNvSpPr txBox="1"/>
          <p:nvPr/>
        </p:nvSpPr>
        <p:spPr>
          <a:xfrm>
            <a:off x="3760274"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see</a:t>
            </a:r>
            <a:endParaRPr lang="en-US" sz="1100" dirty="0"/>
          </a:p>
        </p:txBody>
      </p:sp>
      <p:sp>
        <p:nvSpPr>
          <p:cNvPr id="20" name="Shape 16"/>
          <p:cNvSpPr/>
          <p:nvPr/>
        </p:nvSpPr>
        <p:spPr>
          <a:xfrm>
            <a:off x="5366091" y="1883664"/>
            <a:ext cx="1459513" cy="790956"/>
          </a:xfrm>
          <a:prstGeom prst="roundRect">
            <a:avLst>
              <a:gd name="adj" fmla="val 16185"/>
            </a:avLst>
          </a:prstGeom>
          <a:solidFill>
            <a:srgbClr val="F6F9F7"/>
          </a:solidFill>
          <a:ln w="12700">
            <a:solidFill>
              <a:srgbClr val="E3E9E5"/>
            </a:solidFill>
            <a:prstDash val="solid"/>
          </a:ln>
        </p:spPr>
      </p:sp>
      <p:sp>
        <p:nvSpPr>
          <p:cNvPr id="21" name="Text 17"/>
          <p:cNvSpPr txBox="1"/>
          <p:nvPr/>
        </p:nvSpPr>
        <p:spPr>
          <a:xfrm>
            <a:off x="5366091"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D d</a:t>
            </a:r>
            <a:endParaRPr lang="en-US" sz="2600" dirty="0"/>
          </a:p>
        </p:txBody>
      </p:sp>
      <p:sp>
        <p:nvSpPr>
          <p:cNvPr id="22" name="Text 18"/>
          <p:cNvSpPr txBox="1"/>
          <p:nvPr/>
        </p:nvSpPr>
        <p:spPr>
          <a:xfrm>
            <a:off x="5366091"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dee</a:t>
            </a:r>
            <a:endParaRPr lang="en-US" sz="1100" dirty="0"/>
          </a:p>
        </p:txBody>
      </p:sp>
      <p:sp>
        <p:nvSpPr>
          <p:cNvPr id="23" name="Shape 19"/>
          <p:cNvSpPr/>
          <p:nvPr/>
        </p:nvSpPr>
        <p:spPr>
          <a:xfrm>
            <a:off x="6971908" y="1883664"/>
            <a:ext cx="1459513" cy="790956"/>
          </a:xfrm>
          <a:prstGeom prst="roundRect">
            <a:avLst>
              <a:gd name="adj" fmla="val 16185"/>
            </a:avLst>
          </a:prstGeom>
          <a:solidFill>
            <a:srgbClr val="F6F9F7"/>
          </a:solidFill>
          <a:ln w="12700">
            <a:solidFill>
              <a:srgbClr val="E3E9E5"/>
            </a:solidFill>
            <a:prstDash val="solid"/>
          </a:ln>
        </p:spPr>
      </p:sp>
      <p:sp>
        <p:nvSpPr>
          <p:cNvPr id="24" name="Text 20"/>
          <p:cNvSpPr txBox="1"/>
          <p:nvPr/>
        </p:nvSpPr>
        <p:spPr>
          <a:xfrm>
            <a:off x="6971908"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E e</a:t>
            </a:r>
            <a:endParaRPr lang="en-US" sz="2600" dirty="0"/>
          </a:p>
        </p:txBody>
      </p:sp>
      <p:sp>
        <p:nvSpPr>
          <p:cNvPr id="25" name="Text 21"/>
          <p:cNvSpPr txBox="1"/>
          <p:nvPr/>
        </p:nvSpPr>
        <p:spPr>
          <a:xfrm>
            <a:off x="6971908"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ee</a:t>
            </a:r>
            <a:endParaRPr lang="en-US" sz="1100" dirty="0"/>
          </a:p>
        </p:txBody>
      </p:sp>
      <p:sp>
        <p:nvSpPr>
          <p:cNvPr id="26" name="Shape 22"/>
          <p:cNvSpPr/>
          <p:nvPr/>
        </p:nvSpPr>
        <p:spPr>
          <a:xfrm>
            <a:off x="8577725" y="1883664"/>
            <a:ext cx="1459513" cy="790956"/>
          </a:xfrm>
          <a:prstGeom prst="roundRect">
            <a:avLst>
              <a:gd name="adj" fmla="val 16185"/>
            </a:avLst>
          </a:prstGeom>
          <a:solidFill>
            <a:srgbClr val="F6F9F7"/>
          </a:solidFill>
          <a:ln w="12700">
            <a:solidFill>
              <a:srgbClr val="E3E9E5"/>
            </a:solidFill>
            <a:prstDash val="solid"/>
          </a:ln>
        </p:spPr>
      </p:sp>
      <p:sp>
        <p:nvSpPr>
          <p:cNvPr id="27" name="Text 23"/>
          <p:cNvSpPr txBox="1"/>
          <p:nvPr/>
        </p:nvSpPr>
        <p:spPr>
          <a:xfrm>
            <a:off x="8577725"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F f</a:t>
            </a:r>
            <a:endParaRPr lang="en-US" sz="2600" dirty="0"/>
          </a:p>
        </p:txBody>
      </p:sp>
      <p:sp>
        <p:nvSpPr>
          <p:cNvPr id="28" name="Text 24"/>
          <p:cNvSpPr txBox="1"/>
          <p:nvPr/>
        </p:nvSpPr>
        <p:spPr>
          <a:xfrm>
            <a:off x="8577725"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ef</a:t>
            </a:r>
            <a:endParaRPr lang="en-US" sz="1100" dirty="0"/>
          </a:p>
        </p:txBody>
      </p:sp>
      <p:sp>
        <p:nvSpPr>
          <p:cNvPr id="29" name="Shape 25"/>
          <p:cNvSpPr/>
          <p:nvPr/>
        </p:nvSpPr>
        <p:spPr>
          <a:xfrm>
            <a:off x="10183542" y="1883664"/>
            <a:ext cx="1459513" cy="790956"/>
          </a:xfrm>
          <a:prstGeom prst="roundRect">
            <a:avLst>
              <a:gd name="adj" fmla="val 16185"/>
            </a:avLst>
          </a:prstGeom>
          <a:solidFill>
            <a:srgbClr val="F6F9F7"/>
          </a:solidFill>
          <a:ln w="12700">
            <a:solidFill>
              <a:srgbClr val="E3E9E5"/>
            </a:solidFill>
            <a:prstDash val="solid"/>
          </a:ln>
        </p:spPr>
      </p:sp>
      <p:sp>
        <p:nvSpPr>
          <p:cNvPr id="30" name="Text 26"/>
          <p:cNvSpPr txBox="1"/>
          <p:nvPr/>
        </p:nvSpPr>
        <p:spPr>
          <a:xfrm>
            <a:off x="10183542" y="188366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G g</a:t>
            </a:r>
            <a:endParaRPr lang="en-US" sz="2600" dirty="0"/>
          </a:p>
        </p:txBody>
      </p:sp>
      <p:sp>
        <p:nvSpPr>
          <p:cNvPr id="31" name="Text 27"/>
          <p:cNvSpPr txBox="1"/>
          <p:nvPr/>
        </p:nvSpPr>
        <p:spPr>
          <a:xfrm>
            <a:off x="10183542" y="234241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jee</a:t>
            </a:r>
            <a:endParaRPr lang="en-US" sz="1100" dirty="0"/>
          </a:p>
        </p:txBody>
      </p:sp>
      <p:sp>
        <p:nvSpPr>
          <p:cNvPr id="32" name="Shape 28"/>
          <p:cNvSpPr/>
          <p:nvPr/>
        </p:nvSpPr>
        <p:spPr>
          <a:xfrm>
            <a:off x="548640" y="2820924"/>
            <a:ext cx="1459513" cy="790956"/>
          </a:xfrm>
          <a:prstGeom prst="roundRect">
            <a:avLst>
              <a:gd name="adj" fmla="val 16185"/>
            </a:avLst>
          </a:prstGeom>
          <a:solidFill>
            <a:srgbClr val="F6F9F7"/>
          </a:solidFill>
          <a:ln w="12700">
            <a:solidFill>
              <a:srgbClr val="E3E9E5"/>
            </a:solidFill>
            <a:prstDash val="solid"/>
          </a:ln>
        </p:spPr>
      </p:sp>
      <p:sp>
        <p:nvSpPr>
          <p:cNvPr id="33" name="Text 29"/>
          <p:cNvSpPr txBox="1"/>
          <p:nvPr/>
        </p:nvSpPr>
        <p:spPr>
          <a:xfrm>
            <a:off x="548640"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H h</a:t>
            </a:r>
            <a:endParaRPr lang="en-US" sz="2600" dirty="0"/>
          </a:p>
        </p:txBody>
      </p:sp>
      <p:sp>
        <p:nvSpPr>
          <p:cNvPr id="34" name="Text 30"/>
          <p:cNvSpPr txBox="1"/>
          <p:nvPr/>
        </p:nvSpPr>
        <p:spPr>
          <a:xfrm>
            <a:off x="548640"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aitch</a:t>
            </a:r>
            <a:endParaRPr lang="en-US" sz="1100" dirty="0"/>
          </a:p>
        </p:txBody>
      </p:sp>
      <p:sp>
        <p:nvSpPr>
          <p:cNvPr id="35" name="Shape 31"/>
          <p:cNvSpPr/>
          <p:nvPr/>
        </p:nvSpPr>
        <p:spPr>
          <a:xfrm>
            <a:off x="2154457" y="2820924"/>
            <a:ext cx="1459513" cy="790956"/>
          </a:xfrm>
          <a:prstGeom prst="roundRect">
            <a:avLst>
              <a:gd name="adj" fmla="val 16185"/>
            </a:avLst>
          </a:prstGeom>
          <a:solidFill>
            <a:srgbClr val="F6F9F7"/>
          </a:solidFill>
          <a:ln w="12700">
            <a:solidFill>
              <a:srgbClr val="E3E9E5"/>
            </a:solidFill>
            <a:prstDash val="solid"/>
          </a:ln>
        </p:spPr>
      </p:sp>
      <p:sp>
        <p:nvSpPr>
          <p:cNvPr id="36" name="Text 32"/>
          <p:cNvSpPr txBox="1"/>
          <p:nvPr/>
        </p:nvSpPr>
        <p:spPr>
          <a:xfrm>
            <a:off x="2154457"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I i</a:t>
            </a:r>
            <a:endParaRPr lang="en-US" sz="2600" dirty="0"/>
          </a:p>
        </p:txBody>
      </p:sp>
      <p:sp>
        <p:nvSpPr>
          <p:cNvPr id="37" name="Text 33"/>
          <p:cNvSpPr txBox="1"/>
          <p:nvPr/>
        </p:nvSpPr>
        <p:spPr>
          <a:xfrm>
            <a:off x="2154457"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eye</a:t>
            </a:r>
            <a:endParaRPr lang="en-US" sz="1100" dirty="0"/>
          </a:p>
        </p:txBody>
      </p:sp>
      <p:sp>
        <p:nvSpPr>
          <p:cNvPr id="38" name="Shape 34"/>
          <p:cNvSpPr/>
          <p:nvPr/>
        </p:nvSpPr>
        <p:spPr>
          <a:xfrm>
            <a:off x="3760274" y="2820924"/>
            <a:ext cx="1459513" cy="790956"/>
          </a:xfrm>
          <a:prstGeom prst="roundRect">
            <a:avLst>
              <a:gd name="adj" fmla="val 16185"/>
            </a:avLst>
          </a:prstGeom>
          <a:solidFill>
            <a:srgbClr val="F6F9F7"/>
          </a:solidFill>
          <a:ln w="12700">
            <a:solidFill>
              <a:srgbClr val="E3E9E5"/>
            </a:solidFill>
            <a:prstDash val="solid"/>
          </a:ln>
        </p:spPr>
      </p:sp>
      <p:sp>
        <p:nvSpPr>
          <p:cNvPr id="39" name="Text 35"/>
          <p:cNvSpPr txBox="1"/>
          <p:nvPr/>
        </p:nvSpPr>
        <p:spPr>
          <a:xfrm>
            <a:off x="3760274"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J j</a:t>
            </a:r>
            <a:endParaRPr lang="en-US" sz="2600" dirty="0"/>
          </a:p>
        </p:txBody>
      </p:sp>
      <p:sp>
        <p:nvSpPr>
          <p:cNvPr id="40" name="Text 36"/>
          <p:cNvSpPr txBox="1"/>
          <p:nvPr/>
        </p:nvSpPr>
        <p:spPr>
          <a:xfrm>
            <a:off x="3760274"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jay</a:t>
            </a:r>
            <a:endParaRPr lang="en-US" sz="1100" dirty="0"/>
          </a:p>
        </p:txBody>
      </p:sp>
      <p:sp>
        <p:nvSpPr>
          <p:cNvPr id="41" name="Shape 37"/>
          <p:cNvSpPr/>
          <p:nvPr/>
        </p:nvSpPr>
        <p:spPr>
          <a:xfrm>
            <a:off x="5366091" y="2820924"/>
            <a:ext cx="1459513" cy="790956"/>
          </a:xfrm>
          <a:prstGeom prst="roundRect">
            <a:avLst>
              <a:gd name="adj" fmla="val 16185"/>
            </a:avLst>
          </a:prstGeom>
          <a:solidFill>
            <a:srgbClr val="F6F9F7"/>
          </a:solidFill>
          <a:ln w="12700">
            <a:solidFill>
              <a:srgbClr val="E3E9E5"/>
            </a:solidFill>
            <a:prstDash val="solid"/>
          </a:ln>
        </p:spPr>
      </p:sp>
      <p:sp>
        <p:nvSpPr>
          <p:cNvPr id="42" name="Text 38"/>
          <p:cNvSpPr txBox="1"/>
          <p:nvPr/>
        </p:nvSpPr>
        <p:spPr>
          <a:xfrm>
            <a:off x="5366091"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K k</a:t>
            </a:r>
            <a:endParaRPr lang="en-US" sz="2600" dirty="0"/>
          </a:p>
        </p:txBody>
      </p:sp>
      <p:sp>
        <p:nvSpPr>
          <p:cNvPr id="43" name="Text 39"/>
          <p:cNvSpPr txBox="1"/>
          <p:nvPr/>
        </p:nvSpPr>
        <p:spPr>
          <a:xfrm>
            <a:off x="5366091"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kay</a:t>
            </a:r>
            <a:endParaRPr lang="en-US" sz="1100" dirty="0"/>
          </a:p>
        </p:txBody>
      </p:sp>
      <p:sp>
        <p:nvSpPr>
          <p:cNvPr id="44" name="Shape 40"/>
          <p:cNvSpPr/>
          <p:nvPr/>
        </p:nvSpPr>
        <p:spPr>
          <a:xfrm>
            <a:off x="6971908" y="2820924"/>
            <a:ext cx="1459513" cy="790956"/>
          </a:xfrm>
          <a:prstGeom prst="roundRect">
            <a:avLst>
              <a:gd name="adj" fmla="val 16185"/>
            </a:avLst>
          </a:prstGeom>
          <a:solidFill>
            <a:srgbClr val="F6F9F7"/>
          </a:solidFill>
          <a:ln w="12700">
            <a:solidFill>
              <a:srgbClr val="E3E9E5"/>
            </a:solidFill>
            <a:prstDash val="solid"/>
          </a:ln>
        </p:spPr>
      </p:sp>
      <p:sp>
        <p:nvSpPr>
          <p:cNvPr id="45" name="Text 41"/>
          <p:cNvSpPr txBox="1"/>
          <p:nvPr/>
        </p:nvSpPr>
        <p:spPr>
          <a:xfrm>
            <a:off x="6971908"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L l</a:t>
            </a:r>
            <a:endParaRPr lang="en-US" sz="2600" dirty="0"/>
          </a:p>
        </p:txBody>
      </p:sp>
      <p:sp>
        <p:nvSpPr>
          <p:cNvPr id="46" name="Text 42"/>
          <p:cNvSpPr txBox="1"/>
          <p:nvPr/>
        </p:nvSpPr>
        <p:spPr>
          <a:xfrm>
            <a:off x="6971908"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el</a:t>
            </a:r>
            <a:endParaRPr lang="en-US" sz="1100" dirty="0"/>
          </a:p>
        </p:txBody>
      </p:sp>
      <p:sp>
        <p:nvSpPr>
          <p:cNvPr id="47" name="Shape 43"/>
          <p:cNvSpPr/>
          <p:nvPr/>
        </p:nvSpPr>
        <p:spPr>
          <a:xfrm>
            <a:off x="8577725" y="2820924"/>
            <a:ext cx="1459513" cy="790956"/>
          </a:xfrm>
          <a:prstGeom prst="roundRect">
            <a:avLst>
              <a:gd name="adj" fmla="val 16185"/>
            </a:avLst>
          </a:prstGeom>
          <a:solidFill>
            <a:srgbClr val="F6F9F7"/>
          </a:solidFill>
          <a:ln w="12700">
            <a:solidFill>
              <a:srgbClr val="E3E9E5"/>
            </a:solidFill>
            <a:prstDash val="solid"/>
          </a:ln>
        </p:spPr>
      </p:sp>
      <p:sp>
        <p:nvSpPr>
          <p:cNvPr id="48" name="Text 44"/>
          <p:cNvSpPr txBox="1"/>
          <p:nvPr/>
        </p:nvSpPr>
        <p:spPr>
          <a:xfrm>
            <a:off x="8577725"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M m</a:t>
            </a:r>
            <a:endParaRPr lang="en-US" sz="2600" dirty="0"/>
          </a:p>
        </p:txBody>
      </p:sp>
      <p:sp>
        <p:nvSpPr>
          <p:cNvPr id="49" name="Text 45"/>
          <p:cNvSpPr txBox="1"/>
          <p:nvPr/>
        </p:nvSpPr>
        <p:spPr>
          <a:xfrm>
            <a:off x="8577725"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em</a:t>
            </a:r>
            <a:endParaRPr lang="en-US" sz="1100" dirty="0"/>
          </a:p>
        </p:txBody>
      </p:sp>
      <p:sp>
        <p:nvSpPr>
          <p:cNvPr id="50" name="Shape 46"/>
          <p:cNvSpPr/>
          <p:nvPr/>
        </p:nvSpPr>
        <p:spPr>
          <a:xfrm>
            <a:off x="10183542" y="2820924"/>
            <a:ext cx="1459513" cy="790956"/>
          </a:xfrm>
          <a:prstGeom prst="roundRect">
            <a:avLst>
              <a:gd name="adj" fmla="val 16185"/>
            </a:avLst>
          </a:prstGeom>
          <a:solidFill>
            <a:srgbClr val="F6F9F7"/>
          </a:solidFill>
          <a:ln w="12700">
            <a:solidFill>
              <a:srgbClr val="E3E9E5"/>
            </a:solidFill>
            <a:prstDash val="solid"/>
          </a:ln>
        </p:spPr>
      </p:sp>
      <p:sp>
        <p:nvSpPr>
          <p:cNvPr id="51" name="Text 47"/>
          <p:cNvSpPr txBox="1"/>
          <p:nvPr/>
        </p:nvSpPr>
        <p:spPr>
          <a:xfrm>
            <a:off x="10183542" y="282092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N n</a:t>
            </a:r>
            <a:endParaRPr lang="en-US" sz="2600" dirty="0"/>
          </a:p>
        </p:txBody>
      </p:sp>
      <p:sp>
        <p:nvSpPr>
          <p:cNvPr id="52" name="Text 48"/>
          <p:cNvSpPr txBox="1"/>
          <p:nvPr/>
        </p:nvSpPr>
        <p:spPr>
          <a:xfrm>
            <a:off x="10183542" y="327967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en</a:t>
            </a:r>
            <a:endParaRPr lang="en-US" sz="1100" dirty="0"/>
          </a:p>
        </p:txBody>
      </p:sp>
      <p:sp>
        <p:nvSpPr>
          <p:cNvPr id="53" name="Shape 49"/>
          <p:cNvSpPr/>
          <p:nvPr/>
        </p:nvSpPr>
        <p:spPr>
          <a:xfrm>
            <a:off x="548640" y="3758184"/>
            <a:ext cx="1459513" cy="790956"/>
          </a:xfrm>
          <a:prstGeom prst="roundRect">
            <a:avLst>
              <a:gd name="adj" fmla="val 16185"/>
            </a:avLst>
          </a:prstGeom>
          <a:solidFill>
            <a:srgbClr val="F6F9F7"/>
          </a:solidFill>
          <a:ln w="12700">
            <a:solidFill>
              <a:srgbClr val="E3E9E5"/>
            </a:solidFill>
            <a:prstDash val="solid"/>
          </a:ln>
        </p:spPr>
      </p:sp>
      <p:sp>
        <p:nvSpPr>
          <p:cNvPr id="54" name="Text 50"/>
          <p:cNvSpPr txBox="1"/>
          <p:nvPr/>
        </p:nvSpPr>
        <p:spPr>
          <a:xfrm>
            <a:off x="548640"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O o</a:t>
            </a:r>
            <a:endParaRPr lang="en-US" sz="2600" dirty="0"/>
          </a:p>
        </p:txBody>
      </p:sp>
      <p:sp>
        <p:nvSpPr>
          <p:cNvPr id="55" name="Text 51"/>
          <p:cNvSpPr txBox="1"/>
          <p:nvPr/>
        </p:nvSpPr>
        <p:spPr>
          <a:xfrm>
            <a:off x="548640"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oh</a:t>
            </a:r>
            <a:endParaRPr lang="en-US" sz="1100" dirty="0"/>
          </a:p>
        </p:txBody>
      </p:sp>
      <p:sp>
        <p:nvSpPr>
          <p:cNvPr id="56" name="Shape 52"/>
          <p:cNvSpPr/>
          <p:nvPr/>
        </p:nvSpPr>
        <p:spPr>
          <a:xfrm>
            <a:off x="2154457" y="3758184"/>
            <a:ext cx="1459513" cy="790956"/>
          </a:xfrm>
          <a:prstGeom prst="roundRect">
            <a:avLst>
              <a:gd name="adj" fmla="val 16185"/>
            </a:avLst>
          </a:prstGeom>
          <a:solidFill>
            <a:srgbClr val="F6F9F7"/>
          </a:solidFill>
          <a:ln w="12700">
            <a:solidFill>
              <a:srgbClr val="E3E9E5"/>
            </a:solidFill>
            <a:prstDash val="solid"/>
          </a:ln>
        </p:spPr>
      </p:sp>
      <p:sp>
        <p:nvSpPr>
          <p:cNvPr id="57" name="Text 53"/>
          <p:cNvSpPr txBox="1"/>
          <p:nvPr/>
        </p:nvSpPr>
        <p:spPr>
          <a:xfrm>
            <a:off x="2154457"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P p</a:t>
            </a:r>
            <a:endParaRPr lang="en-US" sz="2600" dirty="0"/>
          </a:p>
        </p:txBody>
      </p:sp>
      <p:sp>
        <p:nvSpPr>
          <p:cNvPr id="58" name="Text 54"/>
          <p:cNvSpPr txBox="1"/>
          <p:nvPr/>
        </p:nvSpPr>
        <p:spPr>
          <a:xfrm>
            <a:off x="2154457"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pee</a:t>
            </a:r>
            <a:endParaRPr lang="en-US" sz="1100" dirty="0"/>
          </a:p>
        </p:txBody>
      </p:sp>
      <p:sp>
        <p:nvSpPr>
          <p:cNvPr id="59" name="Shape 55"/>
          <p:cNvSpPr/>
          <p:nvPr/>
        </p:nvSpPr>
        <p:spPr>
          <a:xfrm>
            <a:off x="3760274" y="3758184"/>
            <a:ext cx="1459513" cy="790956"/>
          </a:xfrm>
          <a:prstGeom prst="roundRect">
            <a:avLst>
              <a:gd name="adj" fmla="val 16185"/>
            </a:avLst>
          </a:prstGeom>
          <a:solidFill>
            <a:srgbClr val="F6F9F7"/>
          </a:solidFill>
          <a:ln w="12700">
            <a:solidFill>
              <a:srgbClr val="E3E9E5"/>
            </a:solidFill>
            <a:prstDash val="solid"/>
          </a:ln>
        </p:spPr>
      </p:sp>
      <p:sp>
        <p:nvSpPr>
          <p:cNvPr id="60" name="Text 56"/>
          <p:cNvSpPr txBox="1"/>
          <p:nvPr/>
        </p:nvSpPr>
        <p:spPr>
          <a:xfrm>
            <a:off x="3760274"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Q q</a:t>
            </a:r>
            <a:endParaRPr lang="en-US" sz="2600" dirty="0"/>
          </a:p>
        </p:txBody>
      </p:sp>
      <p:sp>
        <p:nvSpPr>
          <p:cNvPr id="61" name="Text 57"/>
          <p:cNvSpPr txBox="1"/>
          <p:nvPr/>
        </p:nvSpPr>
        <p:spPr>
          <a:xfrm>
            <a:off x="3760274"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cue</a:t>
            </a:r>
            <a:endParaRPr lang="en-US" sz="1100" dirty="0"/>
          </a:p>
        </p:txBody>
      </p:sp>
      <p:sp>
        <p:nvSpPr>
          <p:cNvPr id="62" name="Shape 58"/>
          <p:cNvSpPr/>
          <p:nvPr/>
        </p:nvSpPr>
        <p:spPr>
          <a:xfrm>
            <a:off x="5366091" y="3758184"/>
            <a:ext cx="1459513" cy="790956"/>
          </a:xfrm>
          <a:prstGeom prst="roundRect">
            <a:avLst>
              <a:gd name="adj" fmla="val 16185"/>
            </a:avLst>
          </a:prstGeom>
          <a:solidFill>
            <a:srgbClr val="F6F9F7"/>
          </a:solidFill>
          <a:ln w="12700">
            <a:solidFill>
              <a:srgbClr val="E3E9E5"/>
            </a:solidFill>
            <a:prstDash val="solid"/>
          </a:ln>
        </p:spPr>
      </p:sp>
      <p:sp>
        <p:nvSpPr>
          <p:cNvPr id="63" name="Text 59"/>
          <p:cNvSpPr txBox="1"/>
          <p:nvPr/>
        </p:nvSpPr>
        <p:spPr>
          <a:xfrm>
            <a:off x="5366091"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R r</a:t>
            </a:r>
            <a:endParaRPr lang="en-US" sz="2600" dirty="0"/>
          </a:p>
        </p:txBody>
      </p:sp>
      <p:sp>
        <p:nvSpPr>
          <p:cNvPr id="64" name="Text 60"/>
          <p:cNvSpPr txBox="1"/>
          <p:nvPr/>
        </p:nvSpPr>
        <p:spPr>
          <a:xfrm>
            <a:off x="5366091"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ar</a:t>
            </a:r>
            <a:endParaRPr lang="en-US" sz="1100" dirty="0"/>
          </a:p>
        </p:txBody>
      </p:sp>
      <p:sp>
        <p:nvSpPr>
          <p:cNvPr id="65" name="Shape 61"/>
          <p:cNvSpPr/>
          <p:nvPr/>
        </p:nvSpPr>
        <p:spPr>
          <a:xfrm>
            <a:off x="6971908" y="3758184"/>
            <a:ext cx="1459513" cy="790956"/>
          </a:xfrm>
          <a:prstGeom prst="roundRect">
            <a:avLst>
              <a:gd name="adj" fmla="val 16185"/>
            </a:avLst>
          </a:prstGeom>
          <a:solidFill>
            <a:srgbClr val="F6F9F7"/>
          </a:solidFill>
          <a:ln w="12700">
            <a:solidFill>
              <a:srgbClr val="E3E9E5"/>
            </a:solidFill>
            <a:prstDash val="solid"/>
          </a:ln>
        </p:spPr>
      </p:sp>
      <p:sp>
        <p:nvSpPr>
          <p:cNvPr id="66" name="Text 62"/>
          <p:cNvSpPr txBox="1"/>
          <p:nvPr/>
        </p:nvSpPr>
        <p:spPr>
          <a:xfrm>
            <a:off x="6971908"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S s</a:t>
            </a:r>
            <a:endParaRPr lang="en-US" sz="2600" dirty="0"/>
          </a:p>
        </p:txBody>
      </p:sp>
      <p:sp>
        <p:nvSpPr>
          <p:cNvPr id="67" name="Text 63"/>
          <p:cNvSpPr txBox="1"/>
          <p:nvPr/>
        </p:nvSpPr>
        <p:spPr>
          <a:xfrm>
            <a:off x="6971908"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es</a:t>
            </a:r>
            <a:endParaRPr lang="en-US" sz="1100" dirty="0"/>
          </a:p>
        </p:txBody>
      </p:sp>
      <p:sp>
        <p:nvSpPr>
          <p:cNvPr id="68" name="Shape 64"/>
          <p:cNvSpPr/>
          <p:nvPr/>
        </p:nvSpPr>
        <p:spPr>
          <a:xfrm>
            <a:off x="8577725" y="3758184"/>
            <a:ext cx="1459513" cy="790956"/>
          </a:xfrm>
          <a:prstGeom prst="roundRect">
            <a:avLst>
              <a:gd name="adj" fmla="val 16185"/>
            </a:avLst>
          </a:prstGeom>
          <a:solidFill>
            <a:srgbClr val="F6F9F7"/>
          </a:solidFill>
          <a:ln w="12700">
            <a:solidFill>
              <a:srgbClr val="E3E9E5"/>
            </a:solidFill>
            <a:prstDash val="solid"/>
          </a:ln>
        </p:spPr>
      </p:sp>
      <p:sp>
        <p:nvSpPr>
          <p:cNvPr id="69" name="Text 65"/>
          <p:cNvSpPr txBox="1"/>
          <p:nvPr/>
        </p:nvSpPr>
        <p:spPr>
          <a:xfrm>
            <a:off x="8577725"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T t</a:t>
            </a:r>
            <a:endParaRPr lang="en-US" sz="2600" dirty="0"/>
          </a:p>
        </p:txBody>
      </p:sp>
      <p:sp>
        <p:nvSpPr>
          <p:cNvPr id="70" name="Text 66"/>
          <p:cNvSpPr txBox="1"/>
          <p:nvPr/>
        </p:nvSpPr>
        <p:spPr>
          <a:xfrm>
            <a:off x="8577725"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tee</a:t>
            </a:r>
            <a:endParaRPr lang="en-US" sz="1100" dirty="0"/>
          </a:p>
        </p:txBody>
      </p:sp>
      <p:sp>
        <p:nvSpPr>
          <p:cNvPr id="71" name="Shape 67"/>
          <p:cNvSpPr/>
          <p:nvPr/>
        </p:nvSpPr>
        <p:spPr>
          <a:xfrm>
            <a:off x="10183542" y="3758184"/>
            <a:ext cx="1459513" cy="790956"/>
          </a:xfrm>
          <a:prstGeom prst="roundRect">
            <a:avLst>
              <a:gd name="adj" fmla="val 16185"/>
            </a:avLst>
          </a:prstGeom>
          <a:solidFill>
            <a:srgbClr val="F6F9F7"/>
          </a:solidFill>
          <a:ln w="12700">
            <a:solidFill>
              <a:srgbClr val="E3E9E5"/>
            </a:solidFill>
            <a:prstDash val="solid"/>
          </a:ln>
        </p:spPr>
      </p:sp>
      <p:sp>
        <p:nvSpPr>
          <p:cNvPr id="72" name="Text 68"/>
          <p:cNvSpPr txBox="1"/>
          <p:nvPr/>
        </p:nvSpPr>
        <p:spPr>
          <a:xfrm>
            <a:off x="10183542" y="375818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U u</a:t>
            </a:r>
            <a:endParaRPr lang="en-US" sz="2600" dirty="0"/>
          </a:p>
        </p:txBody>
      </p:sp>
      <p:sp>
        <p:nvSpPr>
          <p:cNvPr id="73" name="Text 69"/>
          <p:cNvSpPr txBox="1"/>
          <p:nvPr/>
        </p:nvSpPr>
        <p:spPr>
          <a:xfrm>
            <a:off x="10183542" y="421693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you</a:t>
            </a:r>
            <a:endParaRPr lang="en-US" sz="1100" dirty="0"/>
          </a:p>
        </p:txBody>
      </p:sp>
      <p:sp>
        <p:nvSpPr>
          <p:cNvPr id="74" name="Shape 70"/>
          <p:cNvSpPr/>
          <p:nvPr/>
        </p:nvSpPr>
        <p:spPr>
          <a:xfrm>
            <a:off x="548640" y="4695444"/>
            <a:ext cx="1459513" cy="790956"/>
          </a:xfrm>
          <a:prstGeom prst="roundRect">
            <a:avLst>
              <a:gd name="adj" fmla="val 16185"/>
            </a:avLst>
          </a:prstGeom>
          <a:solidFill>
            <a:srgbClr val="F6F9F7"/>
          </a:solidFill>
          <a:ln w="12700">
            <a:solidFill>
              <a:srgbClr val="E3E9E5"/>
            </a:solidFill>
            <a:prstDash val="solid"/>
          </a:ln>
        </p:spPr>
      </p:sp>
      <p:sp>
        <p:nvSpPr>
          <p:cNvPr id="75" name="Text 71"/>
          <p:cNvSpPr txBox="1"/>
          <p:nvPr/>
        </p:nvSpPr>
        <p:spPr>
          <a:xfrm>
            <a:off x="548640" y="469544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V v</a:t>
            </a:r>
            <a:endParaRPr lang="en-US" sz="2600" dirty="0"/>
          </a:p>
        </p:txBody>
      </p:sp>
      <p:sp>
        <p:nvSpPr>
          <p:cNvPr id="76" name="Text 72"/>
          <p:cNvSpPr txBox="1"/>
          <p:nvPr/>
        </p:nvSpPr>
        <p:spPr>
          <a:xfrm>
            <a:off x="548640" y="515419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vee</a:t>
            </a:r>
            <a:endParaRPr lang="en-US" sz="1100" dirty="0"/>
          </a:p>
        </p:txBody>
      </p:sp>
      <p:sp>
        <p:nvSpPr>
          <p:cNvPr id="77" name="Shape 73"/>
          <p:cNvSpPr/>
          <p:nvPr/>
        </p:nvSpPr>
        <p:spPr>
          <a:xfrm>
            <a:off x="2154457" y="4695444"/>
            <a:ext cx="1459513" cy="790956"/>
          </a:xfrm>
          <a:prstGeom prst="roundRect">
            <a:avLst>
              <a:gd name="adj" fmla="val 16185"/>
            </a:avLst>
          </a:prstGeom>
          <a:solidFill>
            <a:srgbClr val="F6F9F7"/>
          </a:solidFill>
          <a:ln w="12700">
            <a:solidFill>
              <a:srgbClr val="E3E9E5"/>
            </a:solidFill>
            <a:prstDash val="solid"/>
          </a:ln>
        </p:spPr>
      </p:sp>
      <p:sp>
        <p:nvSpPr>
          <p:cNvPr id="78" name="Text 74"/>
          <p:cNvSpPr txBox="1"/>
          <p:nvPr/>
        </p:nvSpPr>
        <p:spPr>
          <a:xfrm>
            <a:off x="2154457" y="469544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W w</a:t>
            </a:r>
            <a:endParaRPr lang="en-US" sz="2600" dirty="0"/>
          </a:p>
        </p:txBody>
      </p:sp>
      <p:sp>
        <p:nvSpPr>
          <p:cNvPr id="79" name="Text 75"/>
          <p:cNvSpPr txBox="1"/>
          <p:nvPr/>
        </p:nvSpPr>
        <p:spPr>
          <a:xfrm>
            <a:off x="2154457" y="515419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double-u</a:t>
            </a:r>
            <a:endParaRPr lang="en-US" sz="1100" dirty="0"/>
          </a:p>
        </p:txBody>
      </p:sp>
      <p:sp>
        <p:nvSpPr>
          <p:cNvPr id="80" name="Shape 76"/>
          <p:cNvSpPr/>
          <p:nvPr/>
        </p:nvSpPr>
        <p:spPr>
          <a:xfrm>
            <a:off x="3760274" y="4695444"/>
            <a:ext cx="1459513" cy="790956"/>
          </a:xfrm>
          <a:prstGeom prst="roundRect">
            <a:avLst>
              <a:gd name="adj" fmla="val 16185"/>
            </a:avLst>
          </a:prstGeom>
          <a:solidFill>
            <a:srgbClr val="F6F9F7"/>
          </a:solidFill>
          <a:ln w="12700">
            <a:solidFill>
              <a:srgbClr val="E3E9E5"/>
            </a:solidFill>
            <a:prstDash val="solid"/>
          </a:ln>
        </p:spPr>
      </p:sp>
      <p:sp>
        <p:nvSpPr>
          <p:cNvPr id="81" name="Text 77"/>
          <p:cNvSpPr txBox="1"/>
          <p:nvPr/>
        </p:nvSpPr>
        <p:spPr>
          <a:xfrm>
            <a:off x="3760274" y="469544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X x</a:t>
            </a:r>
            <a:endParaRPr lang="en-US" sz="2600" dirty="0"/>
          </a:p>
        </p:txBody>
      </p:sp>
      <p:sp>
        <p:nvSpPr>
          <p:cNvPr id="82" name="Text 78"/>
          <p:cNvSpPr txBox="1"/>
          <p:nvPr/>
        </p:nvSpPr>
        <p:spPr>
          <a:xfrm>
            <a:off x="3760274" y="515419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ex</a:t>
            </a:r>
            <a:endParaRPr lang="en-US" sz="1100" dirty="0"/>
          </a:p>
        </p:txBody>
      </p:sp>
      <p:sp>
        <p:nvSpPr>
          <p:cNvPr id="83" name="Shape 79"/>
          <p:cNvSpPr/>
          <p:nvPr/>
        </p:nvSpPr>
        <p:spPr>
          <a:xfrm>
            <a:off x="5366091" y="4695444"/>
            <a:ext cx="1459513" cy="790956"/>
          </a:xfrm>
          <a:prstGeom prst="roundRect">
            <a:avLst>
              <a:gd name="adj" fmla="val 16185"/>
            </a:avLst>
          </a:prstGeom>
          <a:solidFill>
            <a:srgbClr val="F6F9F7"/>
          </a:solidFill>
          <a:ln w="12700">
            <a:solidFill>
              <a:srgbClr val="E3E9E5"/>
            </a:solidFill>
            <a:prstDash val="solid"/>
          </a:ln>
        </p:spPr>
      </p:sp>
      <p:sp>
        <p:nvSpPr>
          <p:cNvPr id="84" name="Text 80"/>
          <p:cNvSpPr txBox="1"/>
          <p:nvPr/>
        </p:nvSpPr>
        <p:spPr>
          <a:xfrm>
            <a:off x="5366091" y="469544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Y y</a:t>
            </a:r>
            <a:endParaRPr lang="en-US" sz="2600" dirty="0"/>
          </a:p>
        </p:txBody>
      </p:sp>
      <p:sp>
        <p:nvSpPr>
          <p:cNvPr id="85" name="Text 81"/>
          <p:cNvSpPr txBox="1"/>
          <p:nvPr/>
        </p:nvSpPr>
        <p:spPr>
          <a:xfrm>
            <a:off x="5366091" y="515419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why</a:t>
            </a:r>
            <a:endParaRPr lang="en-US" sz="1100" dirty="0"/>
          </a:p>
        </p:txBody>
      </p:sp>
      <p:sp>
        <p:nvSpPr>
          <p:cNvPr id="86" name="Shape 82"/>
          <p:cNvSpPr/>
          <p:nvPr/>
        </p:nvSpPr>
        <p:spPr>
          <a:xfrm>
            <a:off x="6971908" y="4695444"/>
            <a:ext cx="1459513" cy="790956"/>
          </a:xfrm>
          <a:prstGeom prst="roundRect">
            <a:avLst>
              <a:gd name="adj" fmla="val 16185"/>
            </a:avLst>
          </a:prstGeom>
          <a:solidFill>
            <a:srgbClr val="F6F9F7"/>
          </a:solidFill>
          <a:ln w="12700">
            <a:solidFill>
              <a:srgbClr val="E3E9E5"/>
            </a:solidFill>
            <a:prstDash val="solid"/>
          </a:ln>
        </p:spPr>
      </p:sp>
      <p:sp>
        <p:nvSpPr>
          <p:cNvPr id="87" name="Text 83"/>
          <p:cNvSpPr txBox="1"/>
          <p:nvPr/>
        </p:nvSpPr>
        <p:spPr>
          <a:xfrm>
            <a:off x="6971908" y="4695444"/>
            <a:ext cx="1459513" cy="490393"/>
          </a:xfrm>
          <a:prstGeom prst="rect">
            <a:avLst/>
          </a:prstGeom>
          <a:noFill/>
          <a:ln/>
        </p:spPr>
        <p:txBody>
          <a:bodyPr wrap="square" lIns="0" tIns="0" rIns="0" bIns="0" rtlCol="0" anchor="ctr"/>
          <a:lstStyle/>
          <a:p>
            <a:pPr algn="ctr" indent="0" marL="0">
              <a:buNone/>
            </a:pPr>
            <a:r>
              <a:rPr lang="en-US" sz="2600" b="1" dirty="0">
                <a:solidFill>
                  <a:srgbClr val="12211B"/>
                </a:solidFill>
                <a:latin typeface="Calibri" pitchFamily="34" charset="0"/>
                <a:ea typeface="Calibri" pitchFamily="34" charset="-122"/>
                <a:cs typeface="Calibri" pitchFamily="34" charset="-120"/>
              </a:rPr>
              <a:t>Z z</a:t>
            </a:r>
            <a:endParaRPr lang="en-US" sz="2600" dirty="0"/>
          </a:p>
        </p:txBody>
      </p:sp>
      <p:sp>
        <p:nvSpPr>
          <p:cNvPr id="88" name="Text 84"/>
          <p:cNvSpPr txBox="1"/>
          <p:nvPr/>
        </p:nvSpPr>
        <p:spPr>
          <a:xfrm>
            <a:off x="6971908" y="5154198"/>
            <a:ext cx="1459513" cy="268925"/>
          </a:xfrm>
          <a:prstGeom prst="rect">
            <a:avLst/>
          </a:prstGeom>
          <a:noFill/>
          <a:ln/>
        </p:spPr>
        <p:txBody>
          <a:bodyPr wrap="square" lIns="0" tIns="0" rIns="0" bIns="0" rtlCol="0" anchor="ctr"/>
          <a:lstStyle/>
          <a:p>
            <a:pPr algn="ctr" indent="0" marL="0">
              <a:buNone/>
            </a:pPr>
            <a:r>
              <a:rPr lang="en-US" sz="1100" dirty="0">
                <a:solidFill>
                  <a:srgbClr val="6B7C71"/>
                </a:solidFill>
                <a:latin typeface="Calibri" pitchFamily="34" charset="0"/>
                <a:ea typeface="Calibri" pitchFamily="34" charset="-122"/>
                <a:cs typeface="Calibri" pitchFamily="34" charset="-120"/>
              </a:rPr>
              <a:t>zed</a:t>
            </a:r>
            <a:endParaRPr lang="en-US" sz="1100" dirty="0"/>
          </a:p>
        </p:txBody>
      </p:sp>
      <p:sp>
        <p:nvSpPr>
          <p:cNvPr id="89" name="Shape 85"/>
          <p:cNvSpPr/>
          <p:nvPr/>
        </p:nvSpPr>
        <p:spPr>
          <a:xfrm>
            <a:off x="548640" y="5376672"/>
            <a:ext cx="11094415" cy="566928"/>
          </a:xfrm>
          <a:prstGeom prst="roundRect">
            <a:avLst>
              <a:gd name="adj" fmla="val 22581"/>
            </a:avLst>
          </a:prstGeom>
          <a:solidFill>
            <a:srgbClr val="FDF3E7"/>
          </a:solidFill>
          <a:ln w="12700">
            <a:solidFill>
              <a:srgbClr val="EFDCB2"/>
            </a:solidFill>
            <a:prstDash val="solid"/>
          </a:ln>
        </p:spPr>
      </p:sp>
      <p:sp>
        <p:nvSpPr>
          <p:cNvPr id="90" name="Text 86"/>
          <p:cNvSpPr txBox="1"/>
          <p:nvPr/>
        </p:nvSpPr>
        <p:spPr>
          <a:xfrm>
            <a:off x="768096" y="5376672"/>
            <a:ext cx="10655503" cy="56692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each letter after your teacher. Then your teacher points at letters out of order — say those too.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Letter NAME and letter SOUND are different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the most important idea in the whole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1737360"/>
                <a:gridCol w="3017520"/>
                <a:gridCol w="3017520"/>
                <a:gridCol w="3322015"/>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Letter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NAME — use it to spell</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SOUND — use it to read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Word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56692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B</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“bee”</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/b/</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book</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C</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“see”</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/k/</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cat</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6692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G</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“jee”</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/g/</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goat</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6692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H</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“aitch”</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/h/</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hat</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6692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W</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“double-u”</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/w/</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water</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use the NAME when you spell:  “B–O–O–K.”      You use the SOUND when you read:  /b/ /ʊ/ /k/ → book.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5 vowels, 21 consonants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gold letters are the vowels: A, E, I, O, U.</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1459513" cy="790956"/>
          </a:xfrm>
          <a:prstGeom prst="roundRect">
            <a:avLst>
              <a:gd name="adj" fmla="val 16185"/>
            </a:avLst>
          </a:prstGeom>
          <a:solidFill>
            <a:srgbClr val="F2A93B"/>
          </a:solidFill>
          <a:ln w="12700">
            <a:solidFill>
              <a:srgbClr val="F2A93B"/>
            </a:solidFill>
            <a:prstDash val="solid"/>
          </a:ln>
        </p:spPr>
      </p:sp>
      <p:sp>
        <p:nvSpPr>
          <p:cNvPr id="12" name="Text 8"/>
          <p:cNvSpPr txBox="1"/>
          <p:nvPr/>
        </p:nvSpPr>
        <p:spPr>
          <a:xfrm>
            <a:off x="548640" y="1883664"/>
            <a:ext cx="1459513" cy="490393"/>
          </a:xfrm>
          <a:prstGeom prst="rect">
            <a:avLst/>
          </a:prstGeom>
          <a:noFill/>
          <a:ln/>
        </p:spPr>
        <p:txBody>
          <a:bodyPr wrap="square" lIns="0" tIns="0" rIns="0" bIns="0" rtlCol="0" anchor="ctr"/>
          <a:lstStyle/>
          <a:p>
            <a:pPr algn="ctr" indent="0" marL="0">
              <a:buNone/>
            </a:pPr>
            <a:r>
              <a:rPr lang="en-US" sz="2800" b="1" dirty="0">
                <a:solidFill>
                  <a:srgbClr val="0B231C"/>
                </a:solidFill>
                <a:latin typeface="Calibri" pitchFamily="34" charset="0"/>
                <a:ea typeface="Calibri" pitchFamily="34" charset="-122"/>
                <a:cs typeface="Calibri" pitchFamily="34" charset="-120"/>
              </a:rPr>
              <a:t>A a</a:t>
            </a:r>
            <a:endParaRPr lang="en-US" sz="2800" dirty="0"/>
          </a:p>
        </p:txBody>
      </p:sp>
      <p:sp>
        <p:nvSpPr>
          <p:cNvPr id="13" name="Shape 9"/>
          <p:cNvSpPr/>
          <p:nvPr/>
        </p:nvSpPr>
        <p:spPr>
          <a:xfrm>
            <a:off x="2154457" y="1883664"/>
            <a:ext cx="1459513" cy="790956"/>
          </a:xfrm>
          <a:prstGeom prst="roundRect">
            <a:avLst>
              <a:gd name="adj" fmla="val 16185"/>
            </a:avLst>
          </a:prstGeom>
          <a:solidFill>
            <a:srgbClr val="F6F9F7"/>
          </a:solidFill>
          <a:ln w="12700">
            <a:solidFill>
              <a:srgbClr val="E3E9E5"/>
            </a:solidFill>
            <a:prstDash val="solid"/>
          </a:ln>
        </p:spPr>
      </p:sp>
      <p:sp>
        <p:nvSpPr>
          <p:cNvPr id="14" name="Text 10"/>
          <p:cNvSpPr txBox="1"/>
          <p:nvPr/>
        </p:nvSpPr>
        <p:spPr>
          <a:xfrm>
            <a:off x="2154457" y="188366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B b</a:t>
            </a:r>
            <a:endParaRPr lang="en-US" sz="2800" dirty="0"/>
          </a:p>
        </p:txBody>
      </p:sp>
      <p:sp>
        <p:nvSpPr>
          <p:cNvPr id="15" name="Shape 11"/>
          <p:cNvSpPr/>
          <p:nvPr/>
        </p:nvSpPr>
        <p:spPr>
          <a:xfrm>
            <a:off x="3760274" y="1883664"/>
            <a:ext cx="1459513" cy="790956"/>
          </a:xfrm>
          <a:prstGeom prst="roundRect">
            <a:avLst>
              <a:gd name="adj" fmla="val 16185"/>
            </a:avLst>
          </a:prstGeom>
          <a:solidFill>
            <a:srgbClr val="F6F9F7"/>
          </a:solidFill>
          <a:ln w="12700">
            <a:solidFill>
              <a:srgbClr val="E3E9E5"/>
            </a:solidFill>
            <a:prstDash val="solid"/>
          </a:ln>
        </p:spPr>
      </p:sp>
      <p:sp>
        <p:nvSpPr>
          <p:cNvPr id="16" name="Text 12"/>
          <p:cNvSpPr txBox="1"/>
          <p:nvPr/>
        </p:nvSpPr>
        <p:spPr>
          <a:xfrm>
            <a:off x="3760274" y="188366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C c</a:t>
            </a:r>
            <a:endParaRPr lang="en-US" sz="2800" dirty="0"/>
          </a:p>
        </p:txBody>
      </p:sp>
      <p:sp>
        <p:nvSpPr>
          <p:cNvPr id="17" name="Shape 13"/>
          <p:cNvSpPr/>
          <p:nvPr/>
        </p:nvSpPr>
        <p:spPr>
          <a:xfrm>
            <a:off x="5366091" y="1883664"/>
            <a:ext cx="1459513" cy="790956"/>
          </a:xfrm>
          <a:prstGeom prst="roundRect">
            <a:avLst>
              <a:gd name="adj" fmla="val 16185"/>
            </a:avLst>
          </a:prstGeom>
          <a:solidFill>
            <a:srgbClr val="F6F9F7"/>
          </a:solidFill>
          <a:ln w="12700">
            <a:solidFill>
              <a:srgbClr val="E3E9E5"/>
            </a:solidFill>
            <a:prstDash val="solid"/>
          </a:ln>
        </p:spPr>
      </p:sp>
      <p:sp>
        <p:nvSpPr>
          <p:cNvPr id="18" name="Text 14"/>
          <p:cNvSpPr txBox="1"/>
          <p:nvPr/>
        </p:nvSpPr>
        <p:spPr>
          <a:xfrm>
            <a:off x="5366091" y="188366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D d</a:t>
            </a:r>
            <a:endParaRPr lang="en-US" sz="2800" dirty="0"/>
          </a:p>
        </p:txBody>
      </p:sp>
      <p:sp>
        <p:nvSpPr>
          <p:cNvPr id="19" name="Shape 15"/>
          <p:cNvSpPr/>
          <p:nvPr/>
        </p:nvSpPr>
        <p:spPr>
          <a:xfrm>
            <a:off x="6971908" y="1883664"/>
            <a:ext cx="1459513" cy="790956"/>
          </a:xfrm>
          <a:prstGeom prst="roundRect">
            <a:avLst>
              <a:gd name="adj" fmla="val 16185"/>
            </a:avLst>
          </a:prstGeom>
          <a:solidFill>
            <a:srgbClr val="F2A93B"/>
          </a:solidFill>
          <a:ln w="12700">
            <a:solidFill>
              <a:srgbClr val="F2A93B"/>
            </a:solidFill>
            <a:prstDash val="solid"/>
          </a:ln>
        </p:spPr>
      </p:sp>
      <p:sp>
        <p:nvSpPr>
          <p:cNvPr id="20" name="Text 16"/>
          <p:cNvSpPr txBox="1"/>
          <p:nvPr/>
        </p:nvSpPr>
        <p:spPr>
          <a:xfrm>
            <a:off x="6971908" y="1883664"/>
            <a:ext cx="1459513" cy="490393"/>
          </a:xfrm>
          <a:prstGeom prst="rect">
            <a:avLst/>
          </a:prstGeom>
          <a:noFill/>
          <a:ln/>
        </p:spPr>
        <p:txBody>
          <a:bodyPr wrap="square" lIns="0" tIns="0" rIns="0" bIns="0" rtlCol="0" anchor="ctr"/>
          <a:lstStyle/>
          <a:p>
            <a:pPr algn="ctr" indent="0" marL="0">
              <a:buNone/>
            </a:pPr>
            <a:r>
              <a:rPr lang="en-US" sz="2800" b="1" dirty="0">
                <a:solidFill>
                  <a:srgbClr val="0B231C"/>
                </a:solidFill>
                <a:latin typeface="Calibri" pitchFamily="34" charset="0"/>
                <a:ea typeface="Calibri" pitchFamily="34" charset="-122"/>
                <a:cs typeface="Calibri" pitchFamily="34" charset="-120"/>
              </a:rPr>
              <a:t>E e</a:t>
            </a:r>
            <a:endParaRPr lang="en-US" sz="2800" dirty="0"/>
          </a:p>
        </p:txBody>
      </p:sp>
      <p:sp>
        <p:nvSpPr>
          <p:cNvPr id="21" name="Shape 17"/>
          <p:cNvSpPr/>
          <p:nvPr/>
        </p:nvSpPr>
        <p:spPr>
          <a:xfrm>
            <a:off x="8577725" y="1883664"/>
            <a:ext cx="1459513" cy="790956"/>
          </a:xfrm>
          <a:prstGeom prst="roundRect">
            <a:avLst>
              <a:gd name="adj" fmla="val 16185"/>
            </a:avLst>
          </a:prstGeom>
          <a:solidFill>
            <a:srgbClr val="F6F9F7"/>
          </a:solidFill>
          <a:ln w="12700">
            <a:solidFill>
              <a:srgbClr val="E3E9E5"/>
            </a:solidFill>
            <a:prstDash val="solid"/>
          </a:ln>
        </p:spPr>
      </p:sp>
      <p:sp>
        <p:nvSpPr>
          <p:cNvPr id="22" name="Text 18"/>
          <p:cNvSpPr txBox="1"/>
          <p:nvPr/>
        </p:nvSpPr>
        <p:spPr>
          <a:xfrm>
            <a:off x="8577725" y="188366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F f</a:t>
            </a:r>
            <a:endParaRPr lang="en-US" sz="2800" dirty="0"/>
          </a:p>
        </p:txBody>
      </p:sp>
      <p:sp>
        <p:nvSpPr>
          <p:cNvPr id="23" name="Shape 19"/>
          <p:cNvSpPr/>
          <p:nvPr/>
        </p:nvSpPr>
        <p:spPr>
          <a:xfrm>
            <a:off x="10183542" y="1883664"/>
            <a:ext cx="1459513" cy="790956"/>
          </a:xfrm>
          <a:prstGeom prst="roundRect">
            <a:avLst>
              <a:gd name="adj" fmla="val 16185"/>
            </a:avLst>
          </a:prstGeom>
          <a:solidFill>
            <a:srgbClr val="F6F9F7"/>
          </a:solidFill>
          <a:ln w="12700">
            <a:solidFill>
              <a:srgbClr val="E3E9E5"/>
            </a:solidFill>
            <a:prstDash val="solid"/>
          </a:ln>
        </p:spPr>
      </p:sp>
      <p:sp>
        <p:nvSpPr>
          <p:cNvPr id="24" name="Text 20"/>
          <p:cNvSpPr txBox="1"/>
          <p:nvPr/>
        </p:nvSpPr>
        <p:spPr>
          <a:xfrm>
            <a:off x="10183542" y="188366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G g</a:t>
            </a:r>
            <a:endParaRPr lang="en-US" sz="2800" dirty="0"/>
          </a:p>
        </p:txBody>
      </p:sp>
      <p:sp>
        <p:nvSpPr>
          <p:cNvPr id="25" name="Shape 21"/>
          <p:cNvSpPr/>
          <p:nvPr/>
        </p:nvSpPr>
        <p:spPr>
          <a:xfrm>
            <a:off x="548640" y="2820924"/>
            <a:ext cx="1459513" cy="790956"/>
          </a:xfrm>
          <a:prstGeom prst="roundRect">
            <a:avLst>
              <a:gd name="adj" fmla="val 16185"/>
            </a:avLst>
          </a:prstGeom>
          <a:solidFill>
            <a:srgbClr val="F6F9F7"/>
          </a:solidFill>
          <a:ln w="12700">
            <a:solidFill>
              <a:srgbClr val="E3E9E5"/>
            </a:solidFill>
            <a:prstDash val="solid"/>
          </a:ln>
        </p:spPr>
      </p:sp>
      <p:sp>
        <p:nvSpPr>
          <p:cNvPr id="26" name="Text 22"/>
          <p:cNvSpPr txBox="1"/>
          <p:nvPr/>
        </p:nvSpPr>
        <p:spPr>
          <a:xfrm>
            <a:off x="548640" y="282092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H h</a:t>
            </a:r>
            <a:endParaRPr lang="en-US" sz="2800" dirty="0"/>
          </a:p>
        </p:txBody>
      </p:sp>
      <p:sp>
        <p:nvSpPr>
          <p:cNvPr id="27" name="Shape 23"/>
          <p:cNvSpPr/>
          <p:nvPr/>
        </p:nvSpPr>
        <p:spPr>
          <a:xfrm>
            <a:off x="2154457" y="2820924"/>
            <a:ext cx="1459513" cy="790956"/>
          </a:xfrm>
          <a:prstGeom prst="roundRect">
            <a:avLst>
              <a:gd name="adj" fmla="val 16185"/>
            </a:avLst>
          </a:prstGeom>
          <a:solidFill>
            <a:srgbClr val="F2A93B"/>
          </a:solidFill>
          <a:ln w="12700">
            <a:solidFill>
              <a:srgbClr val="F2A93B"/>
            </a:solidFill>
            <a:prstDash val="solid"/>
          </a:ln>
        </p:spPr>
      </p:sp>
      <p:sp>
        <p:nvSpPr>
          <p:cNvPr id="28" name="Text 24"/>
          <p:cNvSpPr txBox="1"/>
          <p:nvPr/>
        </p:nvSpPr>
        <p:spPr>
          <a:xfrm>
            <a:off x="2154457" y="2820924"/>
            <a:ext cx="1459513" cy="490393"/>
          </a:xfrm>
          <a:prstGeom prst="rect">
            <a:avLst/>
          </a:prstGeom>
          <a:noFill/>
          <a:ln/>
        </p:spPr>
        <p:txBody>
          <a:bodyPr wrap="square" lIns="0" tIns="0" rIns="0" bIns="0" rtlCol="0" anchor="ctr"/>
          <a:lstStyle/>
          <a:p>
            <a:pPr algn="ctr" indent="0" marL="0">
              <a:buNone/>
            </a:pPr>
            <a:r>
              <a:rPr lang="en-US" sz="2800" b="1" dirty="0">
                <a:solidFill>
                  <a:srgbClr val="0B231C"/>
                </a:solidFill>
                <a:latin typeface="Calibri" pitchFamily="34" charset="0"/>
                <a:ea typeface="Calibri" pitchFamily="34" charset="-122"/>
                <a:cs typeface="Calibri" pitchFamily="34" charset="-120"/>
              </a:rPr>
              <a:t>I i</a:t>
            </a:r>
            <a:endParaRPr lang="en-US" sz="2800" dirty="0"/>
          </a:p>
        </p:txBody>
      </p:sp>
      <p:sp>
        <p:nvSpPr>
          <p:cNvPr id="29" name="Shape 25"/>
          <p:cNvSpPr/>
          <p:nvPr/>
        </p:nvSpPr>
        <p:spPr>
          <a:xfrm>
            <a:off x="3760274" y="2820924"/>
            <a:ext cx="1459513" cy="790956"/>
          </a:xfrm>
          <a:prstGeom prst="roundRect">
            <a:avLst>
              <a:gd name="adj" fmla="val 16185"/>
            </a:avLst>
          </a:prstGeom>
          <a:solidFill>
            <a:srgbClr val="F6F9F7"/>
          </a:solidFill>
          <a:ln w="12700">
            <a:solidFill>
              <a:srgbClr val="E3E9E5"/>
            </a:solidFill>
            <a:prstDash val="solid"/>
          </a:ln>
        </p:spPr>
      </p:sp>
      <p:sp>
        <p:nvSpPr>
          <p:cNvPr id="30" name="Text 26"/>
          <p:cNvSpPr txBox="1"/>
          <p:nvPr/>
        </p:nvSpPr>
        <p:spPr>
          <a:xfrm>
            <a:off x="3760274" y="282092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J j</a:t>
            </a:r>
            <a:endParaRPr lang="en-US" sz="2800" dirty="0"/>
          </a:p>
        </p:txBody>
      </p:sp>
      <p:sp>
        <p:nvSpPr>
          <p:cNvPr id="31" name="Shape 27"/>
          <p:cNvSpPr/>
          <p:nvPr/>
        </p:nvSpPr>
        <p:spPr>
          <a:xfrm>
            <a:off x="5366091" y="2820924"/>
            <a:ext cx="1459513" cy="790956"/>
          </a:xfrm>
          <a:prstGeom prst="roundRect">
            <a:avLst>
              <a:gd name="adj" fmla="val 16185"/>
            </a:avLst>
          </a:prstGeom>
          <a:solidFill>
            <a:srgbClr val="F6F9F7"/>
          </a:solidFill>
          <a:ln w="12700">
            <a:solidFill>
              <a:srgbClr val="E3E9E5"/>
            </a:solidFill>
            <a:prstDash val="solid"/>
          </a:ln>
        </p:spPr>
      </p:sp>
      <p:sp>
        <p:nvSpPr>
          <p:cNvPr id="32" name="Text 28"/>
          <p:cNvSpPr txBox="1"/>
          <p:nvPr/>
        </p:nvSpPr>
        <p:spPr>
          <a:xfrm>
            <a:off x="5366091" y="282092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K k</a:t>
            </a:r>
            <a:endParaRPr lang="en-US" sz="2800" dirty="0"/>
          </a:p>
        </p:txBody>
      </p:sp>
      <p:sp>
        <p:nvSpPr>
          <p:cNvPr id="33" name="Shape 29"/>
          <p:cNvSpPr/>
          <p:nvPr/>
        </p:nvSpPr>
        <p:spPr>
          <a:xfrm>
            <a:off x="6971908" y="2820924"/>
            <a:ext cx="1459513" cy="790956"/>
          </a:xfrm>
          <a:prstGeom prst="roundRect">
            <a:avLst>
              <a:gd name="adj" fmla="val 16185"/>
            </a:avLst>
          </a:prstGeom>
          <a:solidFill>
            <a:srgbClr val="F6F9F7"/>
          </a:solidFill>
          <a:ln w="12700">
            <a:solidFill>
              <a:srgbClr val="E3E9E5"/>
            </a:solidFill>
            <a:prstDash val="solid"/>
          </a:ln>
        </p:spPr>
      </p:sp>
      <p:sp>
        <p:nvSpPr>
          <p:cNvPr id="34" name="Text 30"/>
          <p:cNvSpPr txBox="1"/>
          <p:nvPr/>
        </p:nvSpPr>
        <p:spPr>
          <a:xfrm>
            <a:off x="6971908" y="282092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L l</a:t>
            </a:r>
            <a:endParaRPr lang="en-US" sz="2800" dirty="0"/>
          </a:p>
        </p:txBody>
      </p:sp>
      <p:sp>
        <p:nvSpPr>
          <p:cNvPr id="35" name="Shape 31"/>
          <p:cNvSpPr/>
          <p:nvPr/>
        </p:nvSpPr>
        <p:spPr>
          <a:xfrm>
            <a:off x="8577725" y="2820924"/>
            <a:ext cx="1459513" cy="790956"/>
          </a:xfrm>
          <a:prstGeom prst="roundRect">
            <a:avLst>
              <a:gd name="adj" fmla="val 16185"/>
            </a:avLst>
          </a:prstGeom>
          <a:solidFill>
            <a:srgbClr val="F6F9F7"/>
          </a:solidFill>
          <a:ln w="12700">
            <a:solidFill>
              <a:srgbClr val="E3E9E5"/>
            </a:solidFill>
            <a:prstDash val="solid"/>
          </a:ln>
        </p:spPr>
      </p:sp>
      <p:sp>
        <p:nvSpPr>
          <p:cNvPr id="36" name="Text 32"/>
          <p:cNvSpPr txBox="1"/>
          <p:nvPr/>
        </p:nvSpPr>
        <p:spPr>
          <a:xfrm>
            <a:off x="8577725" y="282092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M m</a:t>
            </a:r>
            <a:endParaRPr lang="en-US" sz="2800" dirty="0"/>
          </a:p>
        </p:txBody>
      </p:sp>
      <p:sp>
        <p:nvSpPr>
          <p:cNvPr id="37" name="Shape 33"/>
          <p:cNvSpPr/>
          <p:nvPr/>
        </p:nvSpPr>
        <p:spPr>
          <a:xfrm>
            <a:off x="10183542" y="2820924"/>
            <a:ext cx="1459513" cy="790956"/>
          </a:xfrm>
          <a:prstGeom prst="roundRect">
            <a:avLst>
              <a:gd name="adj" fmla="val 16185"/>
            </a:avLst>
          </a:prstGeom>
          <a:solidFill>
            <a:srgbClr val="F6F9F7"/>
          </a:solidFill>
          <a:ln w="12700">
            <a:solidFill>
              <a:srgbClr val="E3E9E5"/>
            </a:solidFill>
            <a:prstDash val="solid"/>
          </a:ln>
        </p:spPr>
      </p:sp>
      <p:sp>
        <p:nvSpPr>
          <p:cNvPr id="38" name="Text 34"/>
          <p:cNvSpPr txBox="1"/>
          <p:nvPr/>
        </p:nvSpPr>
        <p:spPr>
          <a:xfrm>
            <a:off x="10183542" y="282092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N n</a:t>
            </a:r>
            <a:endParaRPr lang="en-US" sz="2800" dirty="0"/>
          </a:p>
        </p:txBody>
      </p:sp>
      <p:sp>
        <p:nvSpPr>
          <p:cNvPr id="39" name="Shape 35"/>
          <p:cNvSpPr/>
          <p:nvPr/>
        </p:nvSpPr>
        <p:spPr>
          <a:xfrm>
            <a:off x="548640" y="3758184"/>
            <a:ext cx="1459513" cy="790956"/>
          </a:xfrm>
          <a:prstGeom prst="roundRect">
            <a:avLst>
              <a:gd name="adj" fmla="val 16185"/>
            </a:avLst>
          </a:prstGeom>
          <a:solidFill>
            <a:srgbClr val="F2A93B"/>
          </a:solidFill>
          <a:ln w="12700">
            <a:solidFill>
              <a:srgbClr val="F2A93B"/>
            </a:solidFill>
            <a:prstDash val="solid"/>
          </a:ln>
        </p:spPr>
      </p:sp>
      <p:sp>
        <p:nvSpPr>
          <p:cNvPr id="40" name="Text 36"/>
          <p:cNvSpPr txBox="1"/>
          <p:nvPr/>
        </p:nvSpPr>
        <p:spPr>
          <a:xfrm>
            <a:off x="548640" y="3758184"/>
            <a:ext cx="1459513" cy="490393"/>
          </a:xfrm>
          <a:prstGeom prst="rect">
            <a:avLst/>
          </a:prstGeom>
          <a:noFill/>
          <a:ln/>
        </p:spPr>
        <p:txBody>
          <a:bodyPr wrap="square" lIns="0" tIns="0" rIns="0" bIns="0" rtlCol="0" anchor="ctr"/>
          <a:lstStyle/>
          <a:p>
            <a:pPr algn="ctr" indent="0" marL="0">
              <a:buNone/>
            </a:pPr>
            <a:r>
              <a:rPr lang="en-US" sz="2800" b="1" dirty="0">
                <a:solidFill>
                  <a:srgbClr val="0B231C"/>
                </a:solidFill>
                <a:latin typeface="Calibri" pitchFamily="34" charset="0"/>
                <a:ea typeface="Calibri" pitchFamily="34" charset="-122"/>
                <a:cs typeface="Calibri" pitchFamily="34" charset="-120"/>
              </a:rPr>
              <a:t>O o</a:t>
            </a:r>
            <a:endParaRPr lang="en-US" sz="2800" dirty="0"/>
          </a:p>
        </p:txBody>
      </p:sp>
      <p:sp>
        <p:nvSpPr>
          <p:cNvPr id="41" name="Shape 37"/>
          <p:cNvSpPr/>
          <p:nvPr/>
        </p:nvSpPr>
        <p:spPr>
          <a:xfrm>
            <a:off x="2154457" y="3758184"/>
            <a:ext cx="1459513" cy="790956"/>
          </a:xfrm>
          <a:prstGeom prst="roundRect">
            <a:avLst>
              <a:gd name="adj" fmla="val 16185"/>
            </a:avLst>
          </a:prstGeom>
          <a:solidFill>
            <a:srgbClr val="F6F9F7"/>
          </a:solidFill>
          <a:ln w="12700">
            <a:solidFill>
              <a:srgbClr val="E3E9E5"/>
            </a:solidFill>
            <a:prstDash val="solid"/>
          </a:ln>
        </p:spPr>
      </p:sp>
      <p:sp>
        <p:nvSpPr>
          <p:cNvPr id="42" name="Text 38"/>
          <p:cNvSpPr txBox="1"/>
          <p:nvPr/>
        </p:nvSpPr>
        <p:spPr>
          <a:xfrm>
            <a:off x="2154457" y="375818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P p</a:t>
            </a:r>
            <a:endParaRPr lang="en-US" sz="2800" dirty="0"/>
          </a:p>
        </p:txBody>
      </p:sp>
      <p:sp>
        <p:nvSpPr>
          <p:cNvPr id="43" name="Shape 39"/>
          <p:cNvSpPr/>
          <p:nvPr/>
        </p:nvSpPr>
        <p:spPr>
          <a:xfrm>
            <a:off x="3760274" y="3758184"/>
            <a:ext cx="1459513" cy="790956"/>
          </a:xfrm>
          <a:prstGeom prst="roundRect">
            <a:avLst>
              <a:gd name="adj" fmla="val 16185"/>
            </a:avLst>
          </a:prstGeom>
          <a:solidFill>
            <a:srgbClr val="F6F9F7"/>
          </a:solidFill>
          <a:ln w="12700">
            <a:solidFill>
              <a:srgbClr val="E3E9E5"/>
            </a:solidFill>
            <a:prstDash val="solid"/>
          </a:ln>
        </p:spPr>
      </p:sp>
      <p:sp>
        <p:nvSpPr>
          <p:cNvPr id="44" name="Text 40"/>
          <p:cNvSpPr txBox="1"/>
          <p:nvPr/>
        </p:nvSpPr>
        <p:spPr>
          <a:xfrm>
            <a:off x="3760274" y="375818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Q q</a:t>
            </a:r>
            <a:endParaRPr lang="en-US" sz="2800" dirty="0"/>
          </a:p>
        </p:txBody>
      </p:sp>
      <p:sp>
        <p:nvSpPr>
          <p:cNvPr id="45" name="Shape 41"/>
          <p:cNvSpPr/>
          <p:nvPr/>
        </p:nvSpPr>
        <p:spPr>
          <a:xfrm>
            <a:off x="5366091" y="3758184"/>
            <a:ext cx="1459513" cy="790956"/>
          </a:xfrm>
          <a:prstGeom prst="roundRect">
            <a:avLst>
              <a:gd name="adj" fmla="val 16185"/>
            </a:avLst>
          </a:prstGeom>
          <a:solidFill>
            <a:srgbClr val="F6F9F7"/>
          </a:solidFill>
          <a:ln w="12700">
            <a:solidFill>
              <a:srgbClr val="E3E9E5"/>
            </a:solidFill>
            <a:prstDash val="solid"/>
          </a:ln>
        </p:spPr>
      </p:sp>
      <p:sp>
        <p:nvSpPr>
          <p:cNvPr id="46" name="Text 42"/>
          <p:cNvSpPr txBox="1"/>
          <p:nvPr/>
        </p:nvSpPr>
        <p:spPr>
          <a:xfrm>
            <a:off x="5366091" y="375818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R r</a:t>
            </a:r>
            <a:endParaRPr lang="en-US" sz="2800" dirty="0"/>
          </a:p>
        </p:txBody>
      </p:sp>
      <p:sp>
        <p:nvSpPr>
          <p:cNvPr id="47" name="Shape 43"/>
          <p:cNvSpPr/>
          <p:nvPr/>
        </p:nvSpPr>
        <p:spPr>
          <a:xfrm>
            <a:off x="6971908" y="3758184"/>
            <a:ext cx="1459513" cy="790956"/>
          </a:xfrm>
          <a:prstGeom prst="roundRect">
            <a:avLst>
              <a:gd name="adj" fmla="val 16185"/>
            </a:avLst>
          </a:prstGeom>
          <a:solidFill>
            <a:srgbClr val="F6F9F7"/>
          </a:solidFill>
          <a:ln w="12700">
            <a:solidFill>
              <a:srgbClr val="E3E9E5"/>
            </a:solidFill>
            <a:prstDash val="solid"/>
          </a:ln>
        </p:spPr>
      </p:sp>
      <p:sp>
        <p:nvSpPr>
          <p:cNvPr id="48" name="Text 44"/>
          <p:cNvSpPr txBox="1"/>
          <p:nvPr/>
        </p:nvSpPr>
        <p:spPr>
          <a:xfrm>
            <a:off x="6971908" y="375818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S s</a:t>
            </a:r>
            <a:endParaRPr lang="en-US" sz="2800" dirty="0"/>
          </a:p>
        </p:txBody>
      </p:sp>
      <p:sp>
        <p:nvSpPr>
          <p:cNvPr id="49" name="Shape 45"/>
          <p:cNvSpPr/>
          <p:nvPr/>
        </p:nvSpPr>
        <p:spPr>
          <a:xfrm>
            <a:off x="8577725" y="3758184"/>
            <a:ext cx="1459513" cy="790956"/>
          </a:xfrm>
          <a:prstGeom prst="roundRect">
            <a:avLst>
              <a:gd name="adj" fmla="val 16185"/>
            </a:avLst>
          </a:prstGeom>
          <a:solidFill>
            <a:srgbClr val="F6F9F7"/>
          </a:solidFill>
          <a:ln w="12700">
            <a:solidFill>
              <a:srgbClr val="E3E9E5"/>
            </a:solidFill>
            <a:prstDash val="solid"/>
          </a:ln>
        </p:spPr>
      </p:sp>
      <p:sp>
        <p:nvSpPr>
          <p:cNvPr id="50" name="Text 46"/>
          <p:cNvSpPr txBox="1"/>
          <p:nvPr/>
        </p:nvSpPr>
        <p:spPr>
          <a:xfrm>
            <a:off x="8577725" y="375818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T t</a:t>
            </a:r>
            <a:endParaRPr lang="en-US" sz="2800" dirty="0"/>
          </a:p>
        </p:txBody>
      </p:sp>
      <p:sp>
        <p:nvSpPr>
          <p:cNvPr id="51" name="Shape 47"/>
          <p:cNvSpPr/>
          <p:nvPr/>
        </p:nvSpPr>
        <p:spPr>
          <a:xfrm>
            <a:off x="10183542" y="3758184"/>
            <a:ext cx="1459513" cy="790956"/>
          </a:xfrm>
          <a:prstGeom prst="roundRect">
            <a:avLst>
              <a:gd name="adj" fmla="val 16185"/>
            </a:avLst>
          </a:prstGeom>
          <a:solidFill>
            <a:srgbClr val="F2A93B"/>
          </a:solidFill>
          <a:ln w="12700">
            <a:solidFill>
              <a:srgbClr val="F2A93B"/>
            </a:solidFill>
            <a:prstDash val="solid"/>
          </a:ln>
        </p:spPr>
      </p:sp>
      <p:sp>
        <p:nvSpPr>
          <p:cNvPr id="52" name="Text 48"/>
          <p:cNvSpPr txBox="1"/>
          <p:nvPr/>
        </p:nvSpPr>
        <p:spPr>
          <a:xfrm>
            <a:off x="10183542" y="3758184"/>
            <a:ext cx="1459513" cy="490393"/>
          </a:xfrm>
          <a:prstGeom prst="rect">
            <a:avLst/>
          </a:prstGeom>
          <a:noFill/>
          <a:ln/>
        </p:spPr>
        <p:txBody>
          <a:bodyPr wrap="square" lIns="0" tIns="0" rIns="0" bIns="0" rtlCol="0" anchor="ctr"/>
          <a:lstStyle/>
          <a:p>
            <a:pPr algn="ctr" indent="0" marL="0">
              <a:buNone/>
            </a:pPr>
            <a:r>
              <a:rPr lang="en-US" sz="2800" b="1" dirty="0">
                <a:solidFill>
                  <a:srgbClr val="0B231C"/>
                </a:solidFill>
                <a:latin typeface="Calibri" pitchFamily="34" charset="0"/>
                <a:ea typeface="Calibri" pitchFamily="34" charset="-122"/>
                <a:cs typeface="Calibri" pitchFamily="34" charset="-120"/>
              </a:rPr>
              <a:t>U u</a:t>
            </a:r>
            <a:endParaRPr lang="en-US" sz="2800" dirty="0"/>
          </a:p>
        </p:txBody>
      </p:sp>
      <p:sp>
        <p:nvSpPr>
          <p:cNvPr id="53" name="Shape 49"/>
          <p:cNvSpPr/>
          <p:nvPr/>
        </p:nvSpPr>
        <p:spPr>
          <a:xfrm>
            <a:off x="548640" y="4695444"/>
            <a:ext cx="1459513" cy="790956"/>
          </a:xfrm>
          <a:prstGeom prst="roundRect">
            <a:avLst>
              <a:gd name="adj" fmla="val 16185"/>
            </a:avLst>
          </a:prstGeom>
          <a:solidFill>
            <a:srgbClr val="F6F9F7"/>
          </a:solidFill>
          <a:ln w="12700">
            <a:solidFill>
              <a:srgbClr val="E3E9E5"/>
            </a:solidFill>
            <a:prstDash val="solid"/>
          </a:ln>
        </p:spPr>
      </p:sp>
      <p:sp>
        <p:nvSpPr>
          <p:cNvPr id="54" name="Text 50"/>
          <p:cNvSpPr txBox="1"/>
          <p:nvPr/>
        </p:nvSpPr>
        <p:spPr>
          <a:xfrm>
            <a:off x="548640" y="469544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V v</a:t>
            </a:r>
            <a:endParaRPr lang="en-US" sz="2800" dirty="0"/>
          </a:p>
        </p:txBody>
      </p:sp>
      <p:sp>
        <p:nvSpPr>
          <p:cNvPr id="55" name="Shape 51"/>
          <p:cNvSpPr/>
          <p:nvPr/>
        </p:nvSpPr>
        <p:spPr>
          <a:xfrm>
            <a:off x="2154457" y="4695444"/>
            <a:ext cx="1459513" cy="790956"/>
          </a:xfrm>
          <a:prstGeom prst="roundRect">
            <a:avLst>
              <a:gd name="adj" fmla="val 16185"/>
            </a:avLst>
          </a:prstGeom>
          <a:solidFill>
            <a:srgbClr val="F6F9F7"/>
          </a:solidFill>
          <a:ln w="12700">
            <a:solidFill>
              <a:srgbClr val="E3E9E5"/>
            </a:solidFill>
            <a:prstDash val="solid"/>
          </a:ln>
        </p:spPr>
      </p:sp>
      <p:sp>
        <p:nvSpPr>
          <p:cNvPr id="56" name="Text 52"/>
          <p:cNvSpPr txBox="1"/>
          <p:nvPr/>
        </p:nvSpPr>
        <p:spPr>
          <a:xfrm>
            <a:off x="2154457" y="469544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W w</a:t>
            </a:r>
            <a:endParaRPr lang="en-US" sz="2800" dirty="0"/>
          </a:p>
        </p:txBody>
      </p:sp>
      <p:sp>
        <p:nvSpPr>
          <p:cNvPr id="57" name="Shape 53"/>
          <p:cNvSpPr/>
          <p:nvPr/>
        </p:nvSpPr>
        <p:spPr>
          <a:xfrm>
            <a:off x="3760274" y="4695444"/>
            <a:ext cx="1459513" cy="790956"/>
          </a:xfrm>
          <a:prstGeom prst="roundRect">
            <a:avLst>
              <a:gd name="adj" fmla="val 16185"/>
            </a:avLst>
          </a:prstGeom>
          <a:solidFill>
            <a:srgbClr val="F6F9F7"/>
          </a:solidFill>
          <a:ln w="12700">
            <a:solidFill>
              <a:srgbClr val="E3E9E5"/>
            </a:solidFill>
            <a:prstDash val="solid"/>
          </a:ln>
        </p:spPr>
      </p:sp>
      <p:sp>
        <p:nvSpPr>
          <p:cNvPr id="58" name="Text 54"/>
          <p:cNvSpPr txBox="1"/>
          <p:nvPr/>
        </p:nvSpPr>
        <p:spPr>
          <a:xfrm>
            <a:off x="3760274" y="469544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X x</a:t>
            </a:r>
            <a:endParaRPr lang="en-US" sz="2800" dirty="0"/>
          </a:p>
        </p:txBody>
      </p:sp>
      <p:sp>
        <p:nvSpPr>
          <p:cNvPr id="59" name="Shape 55"/>
          <p:cNvSpPr/>
          <p:nvPr/>
        </p:nvSpPr>
        <p:spPr>
          <a:xfrm>
            <a:off x="5366091" y="4695444"/>
            <a:ext cx="1459513" cy="790956"/>
          </a:xfrm>
          <a:prstGeom prst="roundRect">
            <a:avLst>
              <a:gd name="adj" fmla="val 16185"/>
            </a:avLst>
          </a:prstGeom>
          <a:solidFill>
            <a:srgbClr val="F6F9F7"/>
          </a:solidFill>
          <a:ln w="12700">
            <a:solidFill>
              <a:srgbClr val="E3E9E5"/>
            </a:solidFill>
            <a:prstDash val="solid"/>
          </a:ln>
        </p:spPr>
      </p:sp>
      <p:sp>
        <p:nvSpPr>
          <p:cNvPr id="60" name="Text 56"/>
          <p:cNvSpPr txBox="1"/>
          <p:nvPr/>
        </p:nvSpPr>
        <p:spPr>
          <a:xfrm>
            <a:off x="5366091" y="469544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Y y</a:t>
            </a:r>
            <a:endParaRPr lang="en-US" sz="2800" dirty="0"/>
          </a:p>
        </p:txBody>
      </p:sp>
      <p:sp>
        <p:nvSpPr>
          <p:cNvPr id="61" name="Shape 57"/>
          <p:cNvSpPr/>
          <p:nvPr/>
        </p:nvSpPr>
        <p:spPr>
          <a:xfrm>
            <a:off x="6971908" y="4695444"/>
            <a:ext cx="1459513" cy="790956"/>
          </a:xfrm>
          <a:prstGeom prst="roundRect">
            <a:avLst>
              <a:gd name="adj" fmla="val 16185"/>
            </a:avLst>
          </a:prstGeom>
          <a:solidFill>
            <a:srgbClr val="F6F9F7"/>
          </a:solidFill>
          <a:ln w="12700">
            <a:solidFill>
              <a:srgbClr val="E3E9E5"/>
            </a:solidFill>
            <a:prstDash val="solid"/>
          </a:ln>
        </p:spPr>
      </p:sp>
      <p:sp>
        <p:nvSpPr>
          <p:cNvPr id="62" name="Text 58"/>
          <p:cNvSpPr txBox="1"/>
          <p:nvPr/>
        </p:nvSpPr>
        <p:spPr>
          <a:xfrm>
            <a:off x="6971908" y="4695444"/>
            <a:ext cx="1459513" cy="490393"/>
          </a:xfrm>
          <a:prstGeom prst="rect">
            <a:avLst/>
          </a:prstGeom>
          <a:noFill/>
          <a:ln/>
        </p:spPr>
        <p:txBody>
          <a:bodyPr wrap="square" lIns="0" tIns="0" rIns="0" bIns="0" rtlCol="0" anchor="ctr"/>
          <a:lstStyle/>
          <a:p>
            <a:pPr algn="ctr" indent="0" marL="0">
              <a:buNone/>
            </a:pPr>
            <a:r>
              <a:rPr lang="en-US" sz="2800" b="1" dirty="0">
                <a:solidFill>
                  <a:srgbClr val="12211B"/>
                </a:solidFill>
                <a:latin typeface="Calibri" pitchFamily="34" charset="0"/>
                <a:ea typeface="Calibri" pitchFamily="34" charset="-122"/>
                <a:cs typeface="Calibri" pitchFamily="34" charset="-120"/>
              </a:rPr>
              <a:t>Z z</a:t>
            </a:r>
            <a:endParaRPr lang="en-US" sz="2800" dirty="0"/>
          </a:p>
        </p:txBody>
      </p:sp>
      <p:sp>
        <p:nvSpPr>
          <p:cNvPr id="63" name="Shape 59"/>
          <p:cNvSpPr/>
          <p:nvPr/>
        </p:nvSpPr>
        <p:spPr>
          <a:xfrm>
            <a:off x="548640" y="5376672"/>
            <a:ext cx="11094415" cy="566928"/>
          </a:xfrm>
          <a:prstGeom prst="roundRect">
            <a:avLst>
              <a:gd name="adj" fmla="val 22581"/>
            </a:avLst>
          </a:prstGeom>
          <a:solidFill>
            <a:srgbClr val="FDF3E7"/>
          </a:solidFill>
          <a:ln w="12700">
            <a:solidFill>
              <a:srgbClr val="EFDCB2"/>
            </a:solidFill>
            <a:prstDash val="solid"/>
          </a:ln>
        </p:spPr>
      </p:sp>
      <p:sp>
        <p:nvSpPr>
          <p:cNvPr id="64" name="Text 60"/>
          <p:cNvSpPr txBox="1"/>
          <p:nvPr/>
        </p:nvSpPr>
        <p:spPr>
          <a:xfrm>
            <a:off x="768096" y="5376672"/>
            <a:ext cx="10655503" cy="56692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Every English word must have at least one vowel.  pen · bag · school · Ethiopia — look for the vowels in each one.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00" b="1" dirty="0">
                <a:solidFill>
                  <a:srgbClr val="12211B"/>
                </a:solidFill>
                <a:latin typeface="Calibri" pitchFamily="34" charset="0"/>
                <a:ea typeface="Calibri" pitchFamily="34" charset="-122"/>
                <a:cs typeface="Calibri" pitchFamily="34" charset="-120"/>
              </a:rPr>
              <a:t>The 5 short vowel sounds</a:t>
            </a:r>
            <a:endParaRPr lang="en-US" sz="34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one sound for each vowel first. Other sounds come later.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2057949" cy="4059936"/>
          </a:xfrm>
          <a:prstGeom prst="roundRect">
            <a:avLst>
              <a:gd name="adj" fmla="val 6221"/>
            </a:avLst>
          </a:prstGeom>
          <a:solidFill>
            <a:srgbClr val="FDF3E7"/>
          </a:solidFill>
          <a:ln w="12700">
            <a:solidFill>
              <a:srgbClr val="EFDCB2"/>
            </a:solidFill>
            <a:prstDash val="solid"/>
          </a:ln>
        </p:spPr>
      </p:sp>
      <p:sp>
        <p:nvSpPr>
          <p:cNvPr id="12" name="Text 8"/>
          <p:cNvSpPr/>
          <p:nvPr/>
        </p:nvSpPr>
        <p:spPr>
          <a:xfrm>
            <a:off x="768096" y="2103120"/>
            <a:ext cx="1619037" cy="3657600"/>
          </a:xfrm>
          <a:prstGeom prst="rect">
            <a:avLst/>
          </a:prstGeom>
          <a:noFill/>
          <a:ln/>
        </p:spPr>
        <p:txBody>
          <a:bodyPr wrap="square" lIns="0" tIns="0" rIns="0" bIns="0" rtlCol="0" anchor="t"/>
          <a:lstStyle/>
          <a:p>
            <a:pPr indent="0" marL="0">
              <a:lnSpc>
                <a:spcPct val="102000"/>
              </a:lnSpc>
              <a:buNone/>
            </a:pPr>
            <a:r>
              <a:rPr lang="en-US" sz="2720" b="1" dirty="0">
                <a:solidFill>
                  <a:srgbClr val="12211B"/>
                </a:solidFill>
                <a:latin typeface="Calibri" pitchFamily="34" charset="0"/>
                <a:ea typeface="Calibri" pitchFamily="34" charset="-122"/>
                <a:cs typeface="Calibri" pitchFamily="34" charset="-120"/>
              </a:rPr>
              <a:t>A a</a:t>
            </a:r>
            <a:endParaRPr lang="en-US" sz="27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/æ/</a:t>
            </a:r>
            <a:endParaRPr lang="en-US" sz="2720" dirty="0"/>
          </a:p>
          <a:p>
            <a:pPr indent="0" marL="0">
              <a:lnSpc>
                <a:spcPct val="102000"/>
              </a:lnSpc>
              <a:spcBef>
                <a:spcPts val="320"/>
              </a:spcBef>
              <a:buNone/>
            </a:pPr>
            <a:endParaRPr lang="en-US" sz="27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bag · cat · man</a:t>
            </a:r>
            <a:endParaRPr lang="en-US" sz="2720" dirty="0"/>
          </a:p>
          <a:p>
            <a:pPr indent="0" marL="0">
              <a:lnSpc>
                <a:spcPct val="102000"/>
              </a:lnSpc>
              <a:spcBef>
                <a:spcPts val="320"/>
              </a:spcBef>
              <a:buNone/>
            </a:pPr>
            <a:endParaRPr lang="en-US" sz="27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Open your mouth wide.</a:t>
            </a:r>
            <a:endParaRPr lang="en-US" sz="2720" dirty="0"/>
          </a:p>
        </p:txBody>
      </p:sp>
      <p:sp>
        <p:nvSpPr>
          <p:cNvPr id="13" name="Shape 9"/>
          <p:cNvSpPr/>
          <p:nvPr/>
        </p:nvSpPr>
        <p:spPr>
          <a:xfrm>
            <a:off x="2807757" y="1883664"/>
            <a:ext cx="2057949" cy="4059936"/>
          </a:xfrm>
          <a:prstGeom prst="roundRect">
            <a:avLst>
              <a:gd name="adj" fmla="val 6221"/>
            </a:avLst>
          </a:prstGeom>
          <a:solidFill>
            <a:srgbClr val="FDF3E7"/>
          </a:solidFill>
          <a:ln w="12700">
            <a:solidFill>
              <a:srgbClr val="EFDCB2"/>
            </a:solidFill>
            <a:prstDash val="solid"/>
          </a:ln>
        </p:spPr>
      </p:sp>
      <p:sp>
        <p:nvSpPr>
          <p:cNvPr id="14" name="Text 10"/>
          <p:cNvSpPr/>
          <p:nvPr/>
        </p:nvSpPr>
        <p:spPr>
          <a:xfrm>
            <a:off x="3027213" y="2103120"/>
            <a:ext cx="1619037" cy="3657600"/>
          </a:xfrm>
          <a:prstGeom prst="rect">
            <a:avLst/>
          </a:prstGeom>
          <a:noFill/>
          <a:ln/>
        </p:spPr>
        <p:txBody>
          <a:bodyPr wrap="square" lIns="0" tIns="0" rIns="0" bIns="0" rtlCol="0" anchor="t"/>
          <a:lstStyle/>
          <a:p>
            <a:pPr indent="0" marL="0">
              <a:lnSpc>
                <a:spcPct val="102000"/>
              </a:lnSpc>
              <a:buNone/>
            </a:pPr>
            <a:r>
              <a:rPr lang="en-US" sz="2850" b="1" dirty="0">
                <a:solidFill>
                  <a:srgbClr val="12211B"/>
                </a:solidFill>
                <a:latin typeface="Calibri" pitchFamily="34" charset="0"/>
                <a:ea typeface="Calibri" pitchFamily="34" charset="-122"/>
                <a:cs typeface="Calibri" pitchFamily="34" charset="-120"/>
              </a:rPr>
              <a:t>E e</a:t>
            </a: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/e/</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pen · bed · ten</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Mouth half open.</a:t>
            </a:r>
            <a:endParaRPr lang="en-US" sz="2850" dirty="0"/>
          </a:p>
        </p:txBody>
      </p:sp>
      <p:sp>
        <p:nvSpPr>
          <p:cNvPr id="15" name="Shape 11"/>
          <p:cNvSpPr/>
          <p:nvPr/>
        </p:nvSpPr>
        <p:spPr>
          <a:xfrm>
            <a:off x="5066873" y="1883664"/>
            <a:ext cx="2057949" cy="4059936"/>
          </a:xfrm>
          <a:prstGeom prst="roundRect">
            <a:avLst>
              <a:gd name="adj" fmla="val 6221"/>
            </a:avLst>
          </a:prstGeom>
          <a:solidFill>
            <a:srgbClr val="FDF3E7"/>
          </a:solidFill>
          <a:ln w="12700">
            <a:solidFill>
              <a:srgbClr val="EFDCB2"/>
            </a:solidFill>
            <a:prstDash val="solid"/>
          </a:ln>
        </p:spPr>
      </p:sp>
      <p:sp>
        <p:nvSpPr>
          <p:cNvPr id="16" name="Text 12"/>
          <p:cNvSpPr/>
          <p:nvPr/>
        </p:nvSpPr>
        <p:spPr>
          <a:xfrm>
            <a:off x="5286329" y="2103120"/>
            <a:ext cx="1619037" cy="3657600"/>
          </a:xfrm>
          <a:prstGeom prst="rect">
            <a:avLst/>
          </a:prstGeom>
          <a:noFill/>
          <a:ln/>
        </p:spPr>
        <p:txBody>
          <a:bodyPr wrap="square" lIns="0" tIns="0" rIns="0" bIns="0" rtlCol="0" anchor="t"/>
          <a:lstStyle/>
          <a:p>
            <a:pPr indent="0" marL="0">
              <a:lnSpc>
                <a:spcPct val="102000"/>
              </a:lnSpc>
              <a:buNone/>
            </a:pPr>
            <a:r>
              <a:rPr lang="en-US" sz="2850" b="1" dirty="0">
                <a:solidFill>
                  <a:srgbClr val="12211B"/>
                </a:solidFill>
                <a:latin typeface="Calibri" pitchFamily="34" charset="0"/>
                <a:ea typeface="Calibri" pitchFamily="34" charset="-122"/>
                <a:cs typeface="Calibri" pitchFamily="34" charset="-120"/>
              </a:rPr>
              <a:t>I i</a:t>
            </a: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/ɪ/</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big · sit · this</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Short and quick.</a:t>
            </a:r>
            <a:endParaRPr lang="en-US" sz="2850" dirty="0"/>
          </a:p>
        </p:txBody>
      </p:sp>
      <p:sp>
        <p:nvSpPr>
          <p:cNvPr id="17" name="Shape 13"/>
          <p:cNvSpPr/>
          <p:nvPr/>
        </p:nvSpPr>
        <p:spPr>
          <a:xfrm>
            <a:off x="7325990" y="1883664"/>
            <a:ext cx="2057949" cy="4059936"/>
          </a:xfrm>
          <a:prstGeom prst="roundRect">
            <a:avLst>
              <a:gd name="adj" fmla="val 6221"/>
            </a:avLst>
          </a:prstGeom>
          <a:solidFill>
            <a:srgbClr val="FDF3E7"/>
          </a:solidFill>
          <a:ln w="12700">
            <a:solidFill>
              <a:srgbClr val="EFDCB2"/>
            </a:solidFill>
            <a:prstDash val="solid"/>
          </a:ln>
        </p:spPr>
      </p:sp>
      <p:sp>
        <p:nvSpPr>
          <p:cNvPr id="18" name="Text 14"/>
          <p:cNvSpPr/>
          <p:nvPr/>
        </p:nvSpPr>
        <p:spPr>
          <a:xfrm>
            <a:off x="7545446" y="2103120"/>
            <a:ext cx="1619037" cy="3657600"/>
          </a:xfrm>
          <a:prstGeom prst="rect">
            <a:avLst/>
          </a:prstGeom>
          <a:noFill/>
          <a:ln/>
        </p:spPr>
        <p:txBody>
          <a:bodyPr wrap="square" lIns="0" tIns="0" rIns="0" bIns="0" rtlCol="0" anchor="t"/>
          <a:lstStyle/>
          <a:p>
            <a:pPr indent="0" marL="0">
              <a:lnSpc>
                <a:spcPct val="102000"/>
              </a:lnSpc>
              <a:buNone/>
            </a:pPr>
            <a:r>
              <a:rPr lang="en-US" sz="2850" b="1" dirty="0">
                <a:solidFill>
                  <a:srgbClr val="12211B"/>
                </a:solidFill>
                <a:latin typeface="Calibri" pitchFamily="34" charset="0"/>
                <a:ea typeface="Calibri" pitchFamily="34" charset="-122"/>
                <a:cs typeface="Calibri" pitchFamily="34" charset="-120"/>
              </a:rPr>
              <a:t>O o</a:t>
            </a: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/ɒ/</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dog · hot · box</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Round your lips.</a:t>
            </a:r>
            <a:endParaRPr lang="en-US" sz="2850" dirty="0"/>
          </a:p>
        </p:txBody>
      </p:sp>
      <p:sp>
        <p:nvSpPr>
          <p:cNvPr id="19" name="Shape 15"/>
          <p:cNvSpPr/>
          <p:nvPr/>
        </p:nvSpPr>
        <p:spPr>
          <a:xfrm>
            <a:off x="9585107" y="1883664"/>
            <a:ext cx="2057949" cy="4059936"/>
          </a:xfrm>
          <a:prstGeom prst="roundRect">
            <a:avLst>
              <a:gd name="adj" fmla="val 6221"/>
            </a:avLst>
          </a:prstGeom>
          <a:solidFill>
            <a:srgbClr val="FDF3E7"/>
          </a:solidFill>
          <a:ln w="12700">
            <a:solidFill>
              <a:srgbClr val="EFDCB2"/>
            </a:solidFill>
            <a:prstDash val="solid"/>
          </a:ln>
        </p:spPr>
      </p:sp>
      <p:sp>
        <p:nvSpPr>
          <p:cNvPr id="20" name="Text 16"/>
          <p:cNvSpPr/>
          <p:nvPr/>
        </p:nvSpPr>
        <p:spPr>
          <a:xfrm>
            <a:off x="9804563" y="2103120"/>
            <a:ext cx="1619037" cy="3657600"/>
          </a:xfrm>
          <a:prstGeom prst="rect">
            <a:avLst/>
          </a:prstGeom>
          <a:noFill/>
          <a:ln/>
        </p:spPr>
        <p:txBody>
          <a:bodyPr wrap="square" lIns="0" tIns="0" rIns="0" bIns="0" rtlCol="0" anchor="t"/>
          <a:lstStyle/>
          <a:p>
            <a:pPr indent="0" marL="0">
              <a:lnSpc>
                <a:spcPct val="102000"/>
              </a:lnSpc>
              <a:buNone/>
            </a:pPr>
            <a:r>
              <a:rPr lang="en-US" sz="2850" b="1" dirty="0">
                <a:solidFill>
                  <a:srgbClr val="12211B"/>
                </a:solidFill>
                <a:latin typeface="Calibri" pitchFamily="34" charset="0"/>
                <a:ea typeface="Calibri" pitchFamily="34" charset="-122"/>
                <a:cs typeface="Calibri" pitchFamily="34" charset="-120"/>
              </a:rPr>
              <a:t>U u</a:t>
            </a: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/ʌ/</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cup · bus · sun</a:t>
            </a:r>
            <a:endParaRPr lang="en-US" sz="2850" dirty="0"/>
          </a:p>
          <a:p>
            <a:pPr indent="0" marL="0">
              <a:lnSpc>
                <a:spcPct val="102000"/>
              </a:lnSpc>
              <a:spcBef>
                <a:spcPts val="335"/>
              </a:spcBef>
              <a:buNone/>
            </a:pPr>
            <a:endParaRPr lang="en-US" sz="28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Relaxed, short.</a:t>
            </a:r>
            <a:endParaRPr lang="en-US" sz="2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Capital letters and small letters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and a are the same letter. We use the capital in four places.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4206240"/>
                <a:gridCol w="4144975"/>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a capital for…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 this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54864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The first letter of a sentence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This is my pen.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this is my pen.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4864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 person's name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Sara · Dawit · Hana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sara · dawit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4864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 place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Addis Ababa · Gondar · Ethiopia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addis ababa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4864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Days, months, languages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Monday · September · English</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monday · english</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And one more: the word “I” is ALWAYS a capital, anywhere in the sentence.  →  “Sara and I are students.”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000" b="1" dirty="0">
                <a:solidFill>
                  <a:srgbClr val="12211B"/>
                </a:solidFill>
                <a:latin typeface="Calibri" pitchFamily="34" charset="0"/>
                <a:ea typeface="Calibri" pitchFamily="34" charset="-122"/>
                <a:cs typeface="Calibri" pitchFamily="34" charset="-120"/>
              </a:rPr>
              <a:t>Put the sounds together — and you are reading</a:t>
            </a:r>
            <a:endParaRPr lang="en-US" sz="30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each sound. Then say them faster. Then say the whole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Text 8"/>
          <p:cNvSpPr/>
          <p:nvPr/>
        </p:nvSpPr>
        <p:spPr>
          <a:xfrm>
            <a:off x="768096" y="2103120"/>
            <a:ext cx="3125114" cy="3657600"/>
          </a:xfrm>
          <a:prstGeom prst="rect">
            <a:avLst/>
          </a:prstGeom>
          <a:noFill/>
          <a:ln/>
        </p:spPr>
        <p:txBody>
          <a:bodyPr wrap="square" lIns="0" tIns="0" rIns="0" bIns="0" rtlCol="0" anchor="t"/>
          <a:lstStyle/>
          <a:p>
            <a:pPr indent="0" marL="0">
              <a:lnSpc>
                <a:spcPct val="102000"/>
              </a:lnSpc>
              <a:buNone/>
            </a:pPr>
            <a:r>
              <a:rPr lang="en-US" sz="2550" b="1" dirty="0">
                <a:solidFill>
                  <a:srgbClr val="12211B"/>
                </a:solidFill>
                <a:latin typeface="Calibri" pitchFamily="34" charset="0"/>
                <a:ea typeface="Calibri" pitchFamily="34" charset="-122"/>
                <a:cs typeface="Calibri" pitchFamily="34" charset="-120"/>
              </a:rPr>
              <a:t>/p/ + /e/ + /n/</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  pen</a:t>
            </a:r>
            <a:endParaRPr lang="en-US" sz="2550" dirty="0"/>
          </a:p>
          <a:p>
            <a:pPr indent="0" marL="0">
              <a:lnSpc>
                <a:spcPct val="102000"/>
              </a:lnSpc>
              <a:spcBef>
                <a:spcPts val="340"/>
              </a:spcBef>
              <a:buNone/>
            </a:pP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Say it slowly: p… e… n.</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Then faster: p-e-n.</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Then together: pen.</a:t>
            </a:r>
            <a:endParaRPr lang="en-US" sz="2550" dirty="0"/>
          </a:p>
        </p:txBody>
      </p:sp>
      <p:sp>
        <p:nvSpPr>
          <p:cNvPr id="13" name="Shape 9"/>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4" name="Text 10"/>
          <p:cNvSpPr/>
          <p:nvPr/>
        </p:nvSpPr>
        <p:spPr>
          <a:xfrm>
            <a:off x="4533290" y="2103120"/>
            <a:ext cx="3125114" cy="3657600"/>
          </a:xfrm>
          <a:prstGeom prst="rect">
            <a:avLst/>
          </a:prstGeom>
          <a:noFill/>
          <a:ln/>
        </p:spPr>
        <p:txBody>
          <a:bodyPr wrap="square" lIns="0" tIns="0" rIns="0" bIns="0" rtlCol="0" anchor="t"/>
          <a:lstStyle/>
          <a:p>
            <a:pPr indent="0" marL="0">
              <a:lnSpc>
                <a:spcPct val="102000"/>
              </a:lnSpc>
              <a:buNone/>
            </a:pPr>
            <a:r>
              <a:rPr lang="en-US" sz="2550" b="1" dirty="0">
                <a:solidFill>
                  <a:srgbClr val="12211B"/>
                </a:solidFill>
                <a:latin typeface="Calibri" pitchFamily="34" charset="0"/>
                <a:ea typeface="Calibri" pitchFamily="34" charset="-122"/>
                <a:cs typeface="Calibri" pitchFamily="34" charset="-120"/>
              </a:rPr>
              <a:t>/b/ + /æ/ + /g/</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  bag</a:t>
            </a:r>
            <a:endParaRPr lang="en-US" sz="2550" dirty="0"/>
          </a:p>
          <a:p>
            <a:pPr indent="0" marL="0">
              <a:lnSpc>
                <a:spcPct val="102000"/>
              </a:lnSpc>
              <a:spcBef>
                <a:spcPts val="340"/>
              </a:spcBef>
              <a:buNone/>
            </a:pP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Say it slowly: b… a… g.</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Then faster: b-a-g.</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Then together: bag.</a:t>
            </a:r>
            <a:endParaRPr lang="en-US" sz="2550" dirty="0"/>
          </a:p>
        </p:txBody>
      </p:sp>
      <p:sp>
        <p:nvSpPr>
          <p:cNvPr id="15" name="Shape 11"/>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Text 12"/>
          <p:cNvSpPr/>
          <p:nvPr/>
        </p:nvSpPr>
        <p:spPr>
          <a:xfrm>
            <a:off x="8298485" y="2103120"/>
            <a:ext cx="3125114" cy="3657600"/>
          </a:xfrm>
          <a:prstGeom prst="rect">
            <a:avLst/>
          </a:prstGeom>
          <a:noFill/>
          <a:ln/>
        </p:spPr>
        <p:txBody>
          <a:bodyPr wrap="square" lIns="0" tIns="0" rIns="0" bIns="0" rtlCol="0" anchor="t"/>
          <a:lstStyle/>
          <a:p>
            <a:pPr indent="0" marL="0">
              <a:lnSpc>
                <a:spcPct val="102000"/>
              </a:lnSpc>
              <a:buNone/>
            </a:pPr>
            <a:r>
              <a:rPr lang="en-US" sz="2550" b="1" dirty="0">
                <a:solidFill>
                  <a:srgbClr val="12211B"/>
                </a:solidFill>
                <a:latin typeface="Calibri" pitchFamily="34" charset="0"/>
                <a:ea typeface="Calibri" pitchFamily="34" charset="-122"/>
                <a:cs typeface="Calibri" pitchFamily="34" charset="-120"/>
              </a:rPr>
              <a:t>/v/ + /æ/ + /n/</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  van</a:t>
            </a:r>
            <a:endParaRPr lang="en-US" sz="2550" dirty="0"/>
          </a:p>
          <a:p>
            <a:pPr indent="0" marL="0">
              <a:lnSpc>
                <a:spcPct val="102000"/>
              </a:lnSpc>
              <a:spcBef>
                <a:spcPts val="340"/>
              </a:spcBef>
              <a:buNone/>
            </a:pP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Say it slowly: v… a… n.</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Then faster: v-a-n.</a:t>
            </a:r>
            <a:endParaRPr lang="en-US" sz="2550" dirty="0"/>
          </a:p>
          <a:p>
            <a:pPr indent="0" marL="0">
              <a:lnSpc>
                <a:spcPct val="102000"/>
              </a:lnSpc>
              <a:spcBef>
                <a:spcPts val="340"/>
              </a:spcBef>
              <a:buNone/>
            </a:pPr>
            <a:r>
              <a:rPr lang="en-US" sz="1450" dirty="0">
                <a:solidFill>
                  <a:srgbClr val="3A473F"/>
                </a:solidFill>
                <a:latin typeface="Calibri" pitchFamily="34" charset="0"/>
                <a:ea typeface="Calibri" pitchFamily="34" charset="-122"/>
                <a:cs typeface="Calibri" pitchFamily="34" charset="-120"/>
              </a:rPr>
              <a:t>Then together: van.</a:t>
            </a:r>
            <a:endParaRPr lang="en-US" sz="2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pen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pen</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/pen/</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thing you write with.</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This is my pen. My pen is blue.</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Do not say “ben”. English /p/ needs a puff of air. Hold your hand in front of your mouth: on “pen” you feel the air, on “Ben” you do not.</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book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book</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/bʊk/</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thing with pages that you read.</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This is my English book.</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The vowel is short: /bʊk/, not “boook”. Say it quickly. Also check the /b/ — book, not “pook”.</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bag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bag</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/bæɡ/</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You carry things in it.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My book is in my bag.</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Say “bag”, not “beg”. Open your mouth wider for /æ/. “Beg” is a different word — it means to ask for money.</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van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van</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/væn/</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big car for carrying people or goods.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350" b="1" dirty="0">
                <a:solidFill>
                  <a:srgbClr val="12211B"/>
                </a:solidFill>
                <a:latin typeface="Calibri" pitchFamily="34" charset="0"/>
                <a:ea typeface="Calibri" pitchFamily="34" charset="-122"/>
                <a:cs typeface="Calibri" pitchFamily="34" charset="-120"/>
              </a:rPr>
              <a:t>The van is blue. The van goes to Merkato.</a:t>
            </a:r>
            <a:endParaRPr lang="en-US" sz="2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Do not say “ban”. For /v/, put your top teeth on your bottom lip and let the air out. Amharic has no /v/ sound — this needs practice.</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school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school</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/skuːl/</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place where you learn.</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go to school every day.</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Do not add a vowel at the start: not “isukul” or “sikul”. Start with s and k joined: s-kool. The vowel here is long: /uː/.</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Rule 1 — every sentence starts with a capital letter</a:t>
            </a:r>
            <a:endParaRPr lang="en-US" sz="32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exceptions. Every single sentence.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name is Sara.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This is my book.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a student.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name is Sara.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this is my book.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a student.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Look at the first letter of every sentence on this slide. It is always big.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750" b="1" dirty="0">
                <a:solidFill>
                  <a:srgbClr val="12211B"/>
                </a:solidFill>
                <a:latin typeface="Calibri" pitchFamily="34" charset="0"/>
                <a:ea typeface="Calibri" pitchFamily="34" charset="-122"/>
                <a:cs typeface="Calibri" pitchFamily="34" charset="-120"/>
              </a:rPr>
              <a:t>Rule 2 — capital letters for names, places, days and languages</a:t>
            </a:r>
            <a:endParaRPr lang="en-US" sz="2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If it is the name of ONE special person, place, day or language — capital.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4937760"/>
                <a:gridCol w="3230575"/>
              </a:tblGrid>
              <a:tr h="51206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Correct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Capital?</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Person's name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Sara · Dawit · Hana · Abel</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 always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City or town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Addis Ababa · Gondar · Adama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 always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Country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Ethiopia · Kenya · Sudan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 always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Day and month</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Monday · Friday · September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 always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Language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English · Amharic · Oromo</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 always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12064">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An ordinary thing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pen · book · bag · school</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No — small letter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Test yourself: “i live in gondar and i speak amharic.”  →  “I live in Gondar and I speak Amharic.”  Four capitals.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the full stop ( . )</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It tells the reader: this idea has finished.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3F5BD9"/>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 full stop ends a sentence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“This is my book.”  Without the full stop the reader does not know where to stop.</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3F5BD9"/>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One idea, one sentence, one full stop</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“This is my pen. It is blue.”  Two ideas → two sentences → two full stops.</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3F5BD9"/>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After a full stop, the next letter is a capital</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Full stop and capital always travel together. “I am a student. I am from Adama.”</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the question mark ( ? )</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When you ask, the sentence ends with ? and your voice goes up.</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2377440"/>
                <a:gridCol w="6339535"/>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Ends with</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65836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Statement — you tell</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  full stop</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My name is Sara.   ·   This is my bag.</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658368">
                <a:tc>
                  <a:txBody>
                    <a:bodyPr/>
                    <a:lstStyle/>
                    <a:p>
                      <a:pPr algn="l" indent="0" marL="0">
                        <a:buNone/>
                      </a:pPr>
                      <a:r>
                        <a:rPr lang="en-US" sz="1900" b="1" dirty="0">
                          <a:solidFill>
                            <a:srgbClr val="12211B"/>
                          </a:solidFill>
                          <a:latin typeface="Calibri" pitchFamily="34" charset="0"/>
                          <a:ea typeface="Calibri" pitchFamily="34" charset="-122"/>
                          <a:cs typeface="Calibri" pitchFamily="34" charset="-120"/>
                        </a:rPr>
                        <a:t>Question — you ask</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  question mark</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900" dirty="0">
                          <a:solidFill>
                            <a:srgbClr val="3A473F"/>
                          </a:solidFill>
                          <a:latin typeface="Calibri" pitchFamily="34" charset="0"/>
                          <a:ea typeface="Calibri" pitchFamily="34" charset="-122"/>
                          <a:cs typeface="Calibri" pitchFamily="34" charset="-120"/>
                        </a:rPr>
                        <a:t>What is your name?   ·   Is this your bag?</a:t>
                      </a:r>
                      <a:endParaRPr lang="en-US" sz="19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both aloud. “My name is Sara.” — your voice goes down ↘   “What is your name?” — your voice goes up ↗</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all three rules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Capital at the start · capital for names and places · the right mark at the end.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name is Dawit.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live in Bahir 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is your name?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name is dawit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live in bahir 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is your name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Every sentence you write from today must pass three checks:  1 · capital at the start   2 · capitals on names and places   3 · a full stop or a question mark at the end.</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capital letters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the question, look at the answer, then read WHY.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“my name is hana.”</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My name is Hana.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Two capitals are needed. “My” starts the sentence. “Hana” is a person's name. The full stop was already correct.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“i am from addis ababa.”</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am from Addis Ababa.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Three capitals. “I” is always a capital. “Addis” and “Ababa” are both parts of the place name, so both take a capital.</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Is this correct? “This is my Pen.”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 — it should be “This is my pen.”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“Pen” is an ordinary thing, not a name. Only special names take a capital in the middle of a sentence.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alphabetical order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Put the letters in the order they appear in the alphabet.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Put in order:  M, D, T, A, P</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 D, M, P, 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Go through the alphabet and take each letter as you reach it: A comes first, then D, then M, then P, then 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Which letter comes after 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order is P, Q, R, S, T. Saying the four letters around it out loud is faster than starting from A.</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Which letter comes before F?</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order is C, D, E, F. E is also a vowel — useful to notice.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name or sound?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Remember: the name is for spelling, the sound is for reading.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What is the NAME of the letter G?</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“jee”</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The name is what you say when you spell a word out loud: G–O–A–T is “jee–oh–ay–tee”.</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What is the SOUND of the letter 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/g/ — as in goat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sound is what you use to read. The name “jee” and the sound /g/ are completely different — this is the key idea of the module.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You spell your name aloud. Do you use names or sounds?</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Names.</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Spelling always uses letter names: “S–A–R–A”, not /s/ /æ/ /r/ /ə/. Reading uses sounds.</a:t>
            </a:r>
            <a:endParaRPr lang="en-US" sz="11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Guided examples 4 — blending sounds into words</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the sounds, speed up, then say the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Blend these sounds:  /b/ + /ʊ/ + /k/</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book</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Say each sound separately, then faster, then join them. Do not say the letter names — “bee-oh-oh-kay” is spelling, not reading.</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Blend these sounds:  /v/ + /æ/ + /n/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van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Start with your teeth on your lip for /v/. If you say “ban”, your lips touched each other instead of your teeth touching your lip.</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Change one sound: bag → b + /ɪ/ + 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big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Only the vowel changed, and the whole word changed with it. This is why the five vowel sounds matter so much.</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Guided examples 5 — full stops and question marks</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Decide what the sentence is doing, then choose the mark.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Add the correct mark: “This is my bag”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This is my bag.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speaker is telling you something, so it is a statement and takes a full stop. The voice goes down at the end.</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Add the correct mark: “What is your name”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What is your name?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begins with a question word, so it is a question and takes a question mark. The voice goes up at the end.</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Add the correct marks: “I am Abel I am a trader”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am Abel. I am a trader.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Two separate ideas, so two sentences. A full stop after the first, and the second must then start with a capital I.</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Meeting someone and spelling your name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meets Dawit outside the school gate in Bahir Dar.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Hello. What is your name?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My name is Sara.</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How do you spell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 – A – R – A.</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Thank you. My name is Dawit. D – A – W – I – 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Nice to meet you, Dawit.</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Listen first. Then repeat each line. Then read it in pairs — one learner is Sara, one is Dawit. Then change the names to your own.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When you do not understand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four phrases keep you in the conversation. Learn them by heart.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SHOPKEEPER</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Is this your bag?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I do not understand.</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SHOPKEEPER</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Your bag. Is this your bag?</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Please speak slowly.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SHOPKEEPER</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Is … this … your … bag?</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Ah — yes. It is my bag. Thank you.</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Four phrases to memorise:  “Sorry, I do not understand.”  ·  “Please speak slowly.”  ·  “Can you repeat, please?”  ·  “How do you spell it?”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you will use in every lesson from now 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is your name?”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Ask this first when you meet someone new.</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do you spell it?”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 most useful question in this whole module.</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“Can you repeat, please?”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Politer than “What?” — use this one.</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“Please speak slowly.”</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Say this instead of going silent.</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“Sorry, I do not understand.”</a:t>
            </a:r>
            <a:endParaRPr lang="en-US" sz="1650" dirty="0"/>
          </a:p>
          <a:p>
            <a:pPr indent="0" marL="0">
              <a:lnSpc>
                <a:spcPct val="102000"/>
              </a:lnSpc>
              <a:spcBef>
                <a:spcPts val="330"/>
              </a:spcBef>
              <a:buNone/>
            </a:pPr>
            <a:r>
              <a:rPr lang="en-US" sz="1240" dirty="0">
                <a:solidFill>
                  <a:srgbClr val="3A473F"/>
                </a:solidFill>
                <a:latin typeface="Calibri" pitchFamily="34" charset="0"/>
                <a:ea typeface="Calibri" pitchFamily="34" charset="-122"/>
                <a:cs typeface="Calibri" pitchFamily="34" charset="-120"/>
              </a:rPr>
              <a:t>Honest, polite, and it keeps you in English.</a:t>
            </a:r>
            <a:endParaRPr lang="en-US" sz="16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“Nice to meet you.”</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 reply is: “Nice to meet you too.”</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with the right phrase.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Hello. ______________________ ?</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My name is ______________.</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______________________ ?</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 ______ – ______ – ______.</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Thank you. Nice to meet you.</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______________________ .</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“What is your name?”  ·  “How do you spell it?”  ·  “Nice to meet you too.”  ·  your own name, letter by letter.</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how to run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Each round takes two minutes.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Read the script together</a:t>
            </a:r>
            <a:endParaRPr lang="en-US" sz="1700" dirty="0"/>
          </a:p>
          <a:p>
            <a:pPr indent="0" marL="0">
              <a:lnSpc>
                <a:spcPct val="102000"/>
              </a:lnSpc>
              <a:spcBef>
                <a:spcPts val="243"/>
              </a:spcBef>
              <a:buNone/>
            </a:pPr>
            <a:r>
              <a:rPr lang="en-US" sz="1300" dirty="0">
                <a:solidFill>
                  <a:srgbClr val="3A473F"/>
                </a:solidFill>
                <a:latin typeface="Calibri" pitchFamily="34" charset="0"/>
                <a:ea typeface="Calibri" pitchFamily="34" charset="-122"/>
                <a:cs typeface="Calibri" pitchFamily="34" charset="-120"/>
              </a:rPr>
              <a:t>Learner A is the first speaker, learner B is the second. Read it twice, then swap roles.</a:t>
            </a:r>
            <a:endParaRPr lang="en-US" sz="17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Close the book and try again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Say as much as you remember. Gaps are fine. Do not look at the script.</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Change the names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Use your own name and your own town. Everything else stays the same.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Meet a new partner</a:t>
            </a:r>
            <a:endParaRPr lang="en-US" sz="1900" dirty="0"/>
          </a:p>
          <a:p>
            <a:pPr indent="0" marL="0">
              <a:lnSpc>
                <a:spcPct val="102000"/>
              </a:lnSpc>
              <a:spcBef>
                <a:spcPts val="271"/>
              </a:spcBef>
              <a:buNone/>
            </a:pPr>
            <a:r>
              <a:rPr lang="en-US" sz="1450" dirty="0">
                <a:solidFill>
                  <a:srgbClr val="3A473F"/>
                </a:solidFill>
                <a:latin typeface="Calibri" pitchFamily="34" charset="0"/>
                <a:ea typeface="Calibri" pitchFamily="34" charset="-122"/>
                <a:cs typeface="Calibri" pitchFamily="34" charset="-120"/>
              </a:rPr>
              <a:t>Stand up, find a different partner, and do it once more. New face, same language.</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say the alphabet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ways. Each one is harder than the last.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In order, with the class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 to Z in chorus, twice. Slowly the first time, faster the second time.</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In order, alone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Each learner says five letters, then the next learner continues. Go around the class.</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Out of order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The teacher points at any letter on the chart. The learner says its name. This is the real test.</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spell it out loud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Speaker spells, partner writes.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Spell your first name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Slowly, with a small pause between letters. Your partner writes it down.</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Spell your town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Bahir Dar · Gondar · Adama · Hawassa · Jimma — or your own.</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Check the spelling together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Is it correct? If not, spell it again more slowly.</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Swap roles and repeat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Now your partner spells and you write.</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/p/ and /b/</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two sounds are made in almost the same place. The difference is air.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/p/ — with air</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pig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park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cap</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pot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/b/ — no air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big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bark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cab</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bot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Hold a small piece of paper in front of your mouth. On /p/ the paper moves. On /b/ it does not move. Try it now.</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/v/ and “th”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sounds that do not exist in Amharic. They need practice, not explanation.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/v/ — teeth on lip</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van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very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seven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TV</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video</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/θ/ /ð/ — tongue between teeth</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think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three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that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mother</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For /v/: top teeth touch bottom lip.   For “th”: the tip of your tongue comes out between your teeth. Look in a mirror.</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30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hello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“Hello.” or “Good morning.”</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your name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“My name is ______.”</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Spell your name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Letter by letter, slowly.</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your town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from ______.”</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Name three objects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Hold them up: “This is my pen. This is my book. This is my bag.”</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letters and sounds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letter you hear.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1.  “bee”</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2.  “ee”</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3.  “jee”</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4.  “eye”</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5.  “double-u”</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6.  “aitch”</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7.  the sound /v/</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8.  the sound /p/</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LETTER you hear for numbers 1 to 6.</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numbers 7 and 8, write a WORD that starts with that sound.</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each item twice, slowly.</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Do not look at your neighbour's paper — this is a check for you, not a test.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Check your answers. Read the reason for each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1" name="Shape 7"/>
          <p:cNvSpPr/>
          <p:nvPr/>
        </p:nvSpPr>
        <p:spPr>
          <a:xfrm>
            <a:off x="548640" y="1883664"/>
            <a:ext cx="5437480"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“bee”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“Bee” is the NAME of the letter B — not the insect.</a:t>
            </a:r>
            <a:endParaRPr lang="en-US" sz="1100" dirty="0"/>
          </a:p>
        </p:txBody>
      </p:sp>
      <p:sp>
        <p:nvSpPr>
          <p:cNvPr id="15" name="Shape 11"/>
          <p:cNvSpPr/>
          <p:nvPr/>
        </p:nvSpPr>
        <p:spPr>
          <a:xfrm>
            <a:off x="548640" y="2928366"/>
            <a:ext cx="5437480"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name of E is “ee”. Learners often write I — but I is called “eye”.</a:t>
            </a:r>
            <a:endParaRPr lang="en-US" sz="1100" dirty="0"/>
          </a:p>
        </p:txBody>
      </p:sp>
      <p:sp>
        <p:nvSpPr>
          <p:cNvPr id="19" name="Shape 15"/>
          <p:cNvSpPr/>
          <p:nvPr/>
        </p:nvSpPr>
        <p:spPr>
          <a:xfrm>
            <a:off x="548640" y="3973068"/>
            <a:ext cx="5437480"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“jee”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 is “jee” and J is “jay” — the most confused pair in the alphabet.</a:t>
            </a:r>
            <a:endParaRPr lang="en-US" sz="1100" dirty="0"/>
          </a:p>
        </p:txBody>
      </p:sp>
      <p:sp>
        <p:nvSpPr>
          <p:cNvPr id="23" name="Shape 19"/>
          <p:cNvSpPr/>
          <p:nvPr/>
        </p:nvSpPr>
        <p:spPr>
          <a:xfrm>
            <a:off x="548640" y="5017770"/>
            <a:ext cx="5437480"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“eye”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is called “eye”. It is also a word — and always a capital letter.</a:t>
            </a:r>
            <a:endParaRPr lang="en-US" sz="1100" dirty="0"/>
          </a:p>
        </p:txBody>
      </p:sp>
      <p:sp>
        <p:nvSpPr>
          <p:cNvPr id="27" name="Shape 23"/>
          <p:cNvSpPr/>
          <p:nvPr/>
        </p:nvSpPr>
        <p:spPr>
          <a:xfrm>
            <a:off x="6205576" y="1883664"/>
            <a:ext cx="5437480" cy="925830"/>
          </a:xfrm>
          <a:prstGeom prst="roundRect">
            <a:avLst>
              <a:gd name="adj" fmla="val 13827"/>
            </a:avLst>
          </a:prstGeom>
          <a:solidFill>
            <a:srgbClr val="E6F5EC"/>
          </a:solidFill>
          <a:ln w="12700">
            <a:solidFill>
              <a:srgbClr val="2E9E5B"/>
            </a:solidFill>
            <a:prstDash val="solid"/>
          </a:ln>
        </p:spPr>
      </p:sp>
      <p:sp>
        <p:nvSpPr>
          <p:cNvPr id="28" name="Shape 24"/>
          <p:cNvSpPr/>
          <p:nvPr/>
        </p:nvSpPr>
        <p:spPr>
          <a:xfrm>
            <a:off x="6388456" y="2154555"/>
            <a:ext cx="384048" cy="384048"/>
          </a:xfrm>
          <a:prstGeom prst="ellipse">
            <a:avLst/>
          </a:prstGeom>
          <a:solidFill>
            <a:srgbClr val="2E9E5B"/>
          </a:solidFill>
          <a:ln/>
        </p:spPr>
      </p:sp>
      <p:sp>
        <p:nvSpPr>
          <p:cNvPr id="29" name="Text 25"/>
          <p:cNvSpPr txBox="1"/>
          <p:nvPr/>
        </p:nvSpPr>
        <p:spPr>
          <a:xfrm>
            <a:off x="6388456"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6"/>
          <p:cNvSpPr/>
          <p:nvPr/>
        </p:nvSpPr>
        <p:spPr>
          <a:xfrm>
            <a:off x="6973672" y="1938528"/>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“double-u”</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 is “double-u”, not “double-v”, though it looks like two v shapes.</a:t>
            </a:r>
            <a:endParaRPr lang="en-US" sz="1100" dirty="0"/>
          </a:p>
        </p:txBody>
      </p:sp>
      <p:sp>
        <p:nvSpPr>
          <p:cNvPr id="31" name="Shape 27"/>
          <p:cNvSpPr/>
          <p:nvPr/>
        </p:nvSpPr>
        <p:spPr>
          <a:xfrm>
            <a:off x="6205576" y="2928366"/>
            <a:ext cx="5437480" cy="925830"/>
          </a:xfrm>
          <a:prstGeom prst="roundRect">
            <a:avLst>
              <a:gd name="adj" fmla="val 13827"/>
            </a:avLst>
          </a:prstGeom>
          <a:solidFill>
            <a:srgbClr val="E6F5EC"/>
          </a:solidFill>
          <a:ln w="12700">
            <a:solidFill>
              <a:srgbClr val="2E9E5B"/>
            </a:solidFill>
            <a:prstDash val="solid"/>
          </a:ln>
        </p:spPr>
      </p:sp>
      <p:sp>
        <p:nvSpPr>
          <p:cNvPr id="32" name="Shape 28"/>
          <p:cNvSpPr/>
          <p:nvPr/>
        </p:nvSpPr>
        <p:spPr>
          <a:xfrm>
            <a:off x="6388456" y="3199257"/>
            <a:ext cx="384048" cy="384048"/>
          </a:xfrm>
          <a:prstGeom prst="ellipse">
            <a:avLst/>
          </a:prstGeom>
          <a:solidFill>
            <a:srgbClr val="2E9E5B"/>
          </a:solidFill>
          <a:ln/>
        </p:spPr>
      </p:sp>
      <p:sp>
        <p:nvSpPr>
          <p:cNvPr id="33" name="Text 29"/>
          <p:cNvSpPr txBox="1"/>
          <p:nvPr/>
        </p:nvSpPr>
        <p:spPr>
          <a:xfrm>
            <a:off x="6388456"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0"/>
          <p:cNvSpPr/>
          <p:nvPr/>
        </p:nvSpPr>
        <p:spPr>
          <a:xfrm>
            <a:off x="6973672" y="2983230"/>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6 — “aitch”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 is “aitch”. There is no /h/ at the start of its name, so learners write A.</a:t>
            </a:r>
            <a:endParaRPr lang="en-US" sz="1100" dirty="0"/>
          </a:p>
        </p:txBody>
      </p:sp>
      <p:sp>
        <p:nvSpPr>
          <p:cNvPr id="35" name="Shape 31"/>
          <p:cNvSpPr/>
          <p:nvPr/>
        </p:nvSpPr>
        <p:spPr>
          <a:xfrm>
            <a:off x="6205576" y="3973068"/>
            <a:ext cx="5437480" cy="925830"/>
          </a:xfrm>
          <a:prstGeom prst="roundRect">
            <a:avLst>
              <a:gd name="adj" fmla="val 13827"/>
            </a:avLst>
          </a:prstGeom>
          <a:solidFill>
            <a:srgbClr val="E6F5EC"/>
          </a:solidFill>
          <a:ln w="12700">
            <a:solidFill>
              <a:srgbClr val="2E9E5B"/>
            </a:solidFill>
            <a:prstDash val="solid"/>
          </a:ln>
        </p:spPr>
      </p:sp>
      <p:sp>
        <p:nvSpPr>
          <p:cNvPr id="36" name="Shape 32"/>
          <p:cNvSpPr/>
          <p:nvPr/>
        </p:nvSpPr>
        <p:spPr>
          <a:xfrm>
            <a:off x="6388456" y="4243959"/>
            <a:ext cx="384048" cy="384048"/>
          </a:xfrm>
          <a:prstGeom prst="ellipse">
            <a:avLst/>
          </a:prstGeom>
          <a:solidFill>
            <a:srgbClr val="2E9E5B"/>
          </a:solidFill>
          <a:ln/>
        </p:spPr>
      </p:sp>
      <p:sp>
        <p:nvSpPr>
          <p:cNvPr id="37" name="Text 33"/>
          <p:cNvSpPr txBox="1"/>
          <p:nvPr/>
        </p:nvSpPr>
        <p:spPr>
          <a:xfrm>
            <a:off x="6388456"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8" name="Text 34"/>
          <p:cNvSpPr/>
          <p:nvPr/>
        </p:nvSpPr>
        <p:spPr>
          <a:xfrm>
            <a:off x="6973672" y="4027932"/>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7 — the sound /v/</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van · very · video · TV</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/v/ word is correct. Check it is not a /b/ word such as “ban”.</a:t>
            </a:r>
            <a:endParaRPr lang="en-US" sz="1100" dirty="0"/>
          </a:p>
        </p:txBody>
      </p:sp>
      <p:sp>
        <p:nvSpPr>
          <p:cNvPr id="39" name="Shape 35"/>
          <p:cNvSpPr/>
          <p:nvPr/>
        </p:nvSpPr>
        <p:spPr>
          <a:xfrm>
            <a:off x="6205576" y="5017770"/>
            <a:ext cx="5437480" cy="925830"/>
          </a:xfrm>
          <a:prstGeom prst="roundRect">
            <a:avLst>
              <a:gd name="adj" fmla="val 13827"/>
            </a:avLst>
          </a:prstGeom>
          <a:solidFill>
            <a:srgbClr val="E6F5EC"/>
          </a:solidFill>
          <a:ln w="12700">
            <a:solidFill>
              <a:srgbClr val="2E9E5B"/>
            </a:solidFill>
            <a:prstDash val="solid"/>
          </a:ln>
        </p:spPr>
      </p:sp>
      <p:sp>
        <p:nvSpPr>
          <p:cNvPr id="40" name="Shape 36"/>
          <p:cNvSpPr/>
          <p:nvPr/>
        </p:nvSpPr>
        <p:spPr>
          <a:xfrm>
            <a:off x="6388456" y="5288661"/>
            <a:ext cx="384048" cy="384048"/>
          </a:xfrm>
          <a:prstGeom prst="ellipse">
            <a:avLst/>
          </a:prstGeom>
          <a:solidFill>
            <a:srgbClr val="2E9E5B"/>
          </a:solidFill>
          <a:ln/>
        </p:spPr>
      </p:sp>
      <p:sp>
        <p:nvSpPr>
          <p:cNvPr id="41" name="Text 37"/>
          <p:cNvSpPr txBox="1"/>
          <p:nvPr/>
        </p:nvSpPr>
        <p:spPr>
          <a:xfrm>
            <a:off x="6388456"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38"/>
          <p:cNvSpPr/>
          <p:nvPr/>
        </p:nvSpPr>
        <p:spPr>
          <a:xfrm>
            <a:off x="6973672" y="5072634"/>
            <a:ext cx="4449928"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8 — the sound /p/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pen · pig · park · paper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/p/ word is correct. Check it is not a /b/ word like “book”.</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spelling names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and write the name. Each name is spelled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1.  “My name is S – A – R – A.”</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2.  “My name is D – A – W – I – T.”</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3.  “My name is H – A – N – A.”</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4.  “I am from G – O – N – D – A – R.”</a:t>
            </a:r>
            <a:endParaRPr lang="en-US" sz="1900" dirty="0"/>
          </a:p>
          <a:p>
            <a:pPr indent="0" marL="0">
              <a:lnSpc>
                <a:spcPct val="145000"/>
              </a:lnSpc>
              <a:buNone/>
            </a:pPr>
            <a:r>
              <a:rPr lang="en-US" sz="1900" dirty="0">
                <a:solidFill>
                  <a:srgbClr val="12211B"/>
                </a:solidFill>
                <a:latin typeface="Calibri" pitchFamily="34" charset="0"/>
                <a:ea typeface="Calibri" pitchFamily="34" charset="-122"/>
                <a:cs typeface="Calibri" pitchFamily="34" charset="-120"/>
              </a:rPr>
              <a:t>5.  “I am from A – D – A – M – A.”</a:t>
            </a:r>
            <a:endParaRPr lang="en-US" sz="19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each name or place on your paper.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Use a capital letter at the start — they are all names and places.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spells each one twice.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read your answers aloud to your partner.</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S–A–R–A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Sara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person's name, so it takes a capital S. Four letters, one capital.</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D–A–W–I–T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Dawit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person's name. Note the I in the middle stays small — only the first letter is capital.</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H–A–N–A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Hana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person's name. If you wrote “hana”, the spelling is right but the capital rule was missed.</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G–O–N–D–A–R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Gondar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place, so it takes a capital G. Places follow the same rule as people's names.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A–D–A–M–A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place. Three A's in one short word — a good test of careful listening.</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listen better</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habits that work from your very first week.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Listen before you look</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Close your book the first time. Looking at the words while you listen means you are reading, not listening.</a:t>
            </a:r>
            <a:endParaRPr lang="en-US" sz="158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Listen twice, always</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The first time is for the general idea. The second time is for the detail. Nobody catches everything on the first pass.</a:t>
            </a:r>
            <a:endParaRPr lang="en-US" sz="158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 not stop at one hard word</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If you miss a word, keep listening. Stopping to think about one word means missing the next five.</a:t>
            </a:r>
            <a:endParaRPr lang="en-US" sz="160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it after you hear it</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Repeating aloud what you just heard trains your ear and your mouth at the same time. Ten minutes a day changes everything.</a:t>
            </a:r>
            <a:endParaRPr lang="en-US" sz="15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your first English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word here uses only the letters and sounds you have learned.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60000"/>
              </a:lnSpc>
              <a:buNone/>
            </a:pPr>
            <a:r>
              <a:rPr lang="en-US" sz="2600" dirty="0">
                <a:solidFill>
                  <a:srgbClr val="12211B"/>
                </a:solidFill>
                <a:latin typeface="Calibri" pitchFamily="34" charset="0"/>
                <a:ea typeface="Calibri" pitchFamily="34" charset="-122"/>
                <a:cs typeface="Calibri" pitchFamily="34" charset="-120"/>
              </a:rPr>
              <a:t>This is Sara.</a:t>
            </a:r>
            <a:endParaRPr lang="en-US" sz="2600" dirty="0"/>
          </a:p>
          <a:p>
            <a:pPr indent="0" marL="0">
              <a:lnSpc>
                <a:spcPct val="160000"/>
              </a:lnSpc>
              <a:buNone/>
            </a:pPr>
            <a:r>
              <a:rPr lang="en-US" sz="2600" dirty="0">
                <a:solidFill>
                  <a:srgbClr val="12211B"/>
                </a:solidFill>
                <a:latin typeface="Calibri" pitchFamily="34" charset="0"/>
                <a:ea typeface="Calibri" pitchFamily="34" charset="-122"/>
                <a:cs typeface="Calibri" pitchFamily="34" charset="-120"/>
              </a:rPr>
              <a:t>Sara is a student.</a:t>
            </a:r>
            <a:endParaRPr lang="en-US" sz="2600" dirty="0"/>
          </a:p>
          <a:p>
            <a:pPr indent="0" marL="0">
              <a:lnSpc>
                <a:spcPct val="160000"/>
              </a:lnSpc>
              <a:buNone/>
            </a:pPr>
            <a:r>
              <a:rPr lang="en-US" sz="2600" dirty="0">
                <a:solidFill>
                  <a:srgbClr val="12211B"/>
                </a:solidFill>
                <a:latin typeface="Calibri" pitchFamily="34" charset="0"/>
                <a:ea typeface="Calibri" pitchFamily="34" charset="-122"/>
                <a:cs typeface="Calibri" pitchFamily="34" charset="-120"/>
              </a:rPr>
              <a:t>This is her bag.</a:t>
            </a:r>
            <a:endParaRPr lang="en-US" sz="2600" dirty="0"/>
          </a:p>
          <a:p>
            <a:pPr indent="0" marL="0">
              <a:lnSpc>
                <a:spcPct val="160000"/>
              </a:lnSpc>
              <a:buNone/>
            </a:pPr>
            <a:r>
              <a:rPr lang="en-US" sz="2600" dirty="0">
                <a:solidFill>
                  <a:srgbClr val="12211B"/>
                </a:solidFill>
                <a:latin typeface="Calibri" pitchFamily="34" charset="0"/>
                <a:ea typeface="Calibri" pitchFamily="34" charset="-122"/>
                <a:cs typeface="Calibri" pitchFamily="34" charset="-120"/>
              </a:rPr>
              <a:t>Her pen is in the bag.</a:t>
            </a:r>
            <a:endParaRPr lang="en-US" sz="2600" dirty="0"/>
          </a:p>
          <a:p>
            <a:pPr indent="0" marL="0">
              <a:lnSpc>
                <a:spcPct val="160000"/>
              </a:lnSpc>
              <a:buNone/>
            </a:pPr>
            <a:r>
              <a:rPr lang="en-US" sz="2600" dirty="0">
                <a:solidFill>
                  <a:srgbClr val="12211B"/>
                </a:solidFill>
                <a:latin typeface="Calibri" pitchFamily="34" charset="0"/>
                <a:ea typeface="Calibri" pitchFamily="34" charset="-122"/>
                <a:cs typeface="Calibri" pitchFamily="34" charset="-120"/>
              </a:rPr>
              <a:t>Her book is in the bag too.</a:t>
            </a:r>
            <a:endParaRPr lang="en-US" sz="26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five learners each read one line alone.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close the book and answer the questions on the next slide.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Not “student” — say “Sara is a student.”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Who is in the text?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Sara?</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her pen?</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else is in the bag?</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Is the bag Sara's or Dawit's?</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Who is in the text?</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Sara is in the text.</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A full sentence repeats part of the question. “Sara” alone is not yet an English answer.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is Sara?</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Sara is a student.</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Note the small word “a”. English needs it before a job: “a student”, not “student”.</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Where is her pen?</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Her pen is in the bag.</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The word “in” tells you the position. The text says “Her pen is in the bag”, so you can reuse those exact words.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else is in the bag?</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Her book is in the bag.</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“Too” at the end of the text tells you a second thing is in the bag — it means “also”.</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Is the bag Sara's or Dawit's?</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It is Sara's bag.</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The text says “her bag”, and the only person in the text is Sara. Dawit is not mentioned at all.</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longer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sentences. 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50000"/>
              </a:lnSpc>
              <a:buNone/>
            </a:pPr>
            <a:r>
              <a:rPr lang="en-US" sz="2300" dirty="0">
                <a:solidFill>
                  <a:srgbClr val="12211B"/>
                </a:solidFill>
                <a:latin typeface="Calibri" pitchFamily="34" charset="0"/>
                <a:ea typeface="Calibri" pitchFamily="34" charset="-122"/>
                <a:cs typeface="Calibri" pitchFamily="34" charset="-120"/>
              </a:rPr>
              <a:t>My name is Abel.</a:t>
            </a:r>
            <a:endParaRPr lang="en-US" sz="2300" dirty="0"/>
          </a:p>
          <a:p>
            <a:pPr indent="0" marL="0">
              <a:lnSpc>
                <a:spcPct val="150000"/>
              </a:lnSpc>
              <a:buNone/>
            </a:pPr>
            <a:r>
              <a:rPr lang="en-US" sz="2300" dirty="0">
                <a:solidFill>
                  <a:srgbClr val="12211B"/>
                </a:solidFill>
                <a:latin typeface="Calibri" pitchFamily="34" charset="0"/>
                <a:ea typeface="Calibri" pitchFamily="34" charset="-122"/>
                <a:cs typeface="Calibri" pitchFamily="34" charset="-120"/>
              </a:rPr>
              <a:t>I am from Addis Ababa.</a:t>
            </a:r>
            <a:endParaRPr lang="en-US" sz="2300" dirty="0"/>
          </a:p>
          <a:p>
            <a:pPr indent="0" marL="0">
              <a:lnSpc>
                <a:spcPct val="150000"/>
              </a:lnSpc>
              <a:buNone/>
            </a:pPr>
            <a:r>
              <a:rPr lang="en-US" sz="2300" dirty="0">
                <a:solidFill>
                  <a:srgbClr val="12211B"/>
                </a:solidFill>
                <a:latin typeface="Calibri" pitchFamily="34" charset="0"/>
                <a:ea typeface="Calibri" pitchFamily="34" charset="-122"/>
                <a:cs typeface="Calibri" pitchFamily="34" charset="-120"/>
              </a:rPr>
              <a:t>I am not a student.</a:t>
            </a:r>
            <a:endParaRPr lang="en-US" sz="2300" dirty="0"/>
          </a:p>
          <a:p>
            <a:pPr indent="0" marL="0">
              <a:lnSpc>
                <a:spcPct val="150000"/>
              </a:lnSpc>
              <a:buNone/>
            </a:pPr>
            <a:r>
              <a:rPr lang="en-US" sz="2300" dirty="0">
                <a:solidFill>
                  <a:srgbClr val="12211B"/>
                </a:solidFill>
                <a:latin typeface="Calibri" pitchFamily="34" charset="0"/>
                <a:ea typeface="Calibri" pitchFamily="34" charset="-122"/>
                <a:cs typeface="Calibri" pitchFamily="34" charset="-120"/>
              </a:rPr>
              <a:t>I work in Merkato.</a:t>
            </a:r>
            <a:endParaRPr lang="en-US" sz="2300" dirty="0"/>
          </a:p>
          <a:p>
            <a:pPr indent="0" marL="0">
              <a:lnSpc>
                <a:spcPct val="150000"/>
              </a:lnSpc>
              <a:buNone/>
            </a:pPr>
            <a:r>
              <a:rPr lang="en-US" sz="2300" dirty="0">
                <a:solidFill>
                  <a:srgbClr val="12211B"/>
                </a:solidFill>
                <a:latin typeface="Calibri" pitchFamily="34" charset="0"/>
                <a:ea typeface="Calibri" pitchFamily="34" charset="-122"/>
                <a:cs typeface="Calibri" pitchFamily="34" charset="-120"/>
              </a:rPr>
              <a:t>This is my van.</a:t>
            </a:r>
            <a:endParaRPr lang="en-US" sz="2300" dirty="0"/>
          </a:p>
          <a:p>
            <a:pPr indent="0" marL="0">
              <a:lnSpc>
                <a:spcPct val="150000"/>
              </a:lnSpc>
              <a:buNone/>
            </a:pPr>
            <a:r>
              <a:rPr lang="en-US" sz="2300" dirty="0">
                <a:solidFill>
                  <a:srgbClr val="12211B"/>
                </a:solidFill>
                <a:latin typeface="Calibri" pitchFamily="34" charset="0"/>
                <a:ea typeface="Calibri" pitchFamily="34" charset="-122"/>
                <a:cs typeface="Calibri" pitchFamily="34" charset="-120"/>
              </a:rPr>
              <a:t>My van is big and blue.</a:t>
            </a:r>
            <a:endParaRPr lang="en-US" sz="23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work — what you do for money</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big — not small</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blue — a colour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not — makes a sentence negative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Count the capital letters. There are five. Can you say why each one is capital?</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is his name?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His name is Abel.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text opens with “My name is Abel.” In your answer “my” becomes “his”, because you are talking about him.</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is he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from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words of the place name take a capital: Addis Ababa.</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Is Abel a student?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is not a student. He works in Merkato.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text says “I am not a student”. A good answer says no AND gives the real information.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colour is the van?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van is blue.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“Blue” is the colour word in the last line. Note the /v/ sound at the start of “van” — teeth on lip.</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pen · book · bag · van · school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Four of them are in these two reading texts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Writing 1 — forming the letters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Write each letter five times. Capital first, then small.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1" name="Shape 7"/>
          <p:cNvSpPr/>
          <p:nvPr/>
        </p:nvSpPr>
        <p:spPr>
          <a:xfrm>
            <a:off x="548640" y="1883664"/>
            <a:ext cx="2622728" cy="4059936"/>
          </a:xfrm>
          <a:prstGeom prst="roundRect">
            <a:avLst>
              <a:gd name="adj" fmla="val 4881"/>
            </a:avLst>
          </a:prstGeom>
          <a:solidFill>
            <a:srgbClr val="F2ECFA"/>
          </a:solidFill>
          <a:ln w="12700">
            <a:solidFill>
              <a:srgbClr val="DCCDF0"/>
            </a:solidFill>
            <a:prstDash val="solid"/>
          </a:ln>
        </p:spPr>
      </p:sp>
      <p:sp>
        <p:nvSpPr>
          <p:cNvPr id="12" name="Shape 8"/>
          <p:cNvSpPr/>
          <p:nvPr/>
        </p:nvSpPr>
        <p:spPr>
          <a:xfrm>
            <a:off x="768096" y="2103120"/>
            <a:ext cx="457200" cy="457200"/>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Start at the top</a:t>
            </a:r>
            <a:endParaRPr lang="en-US" sz="2100" dirty="0"/>
          </a:p>
          <a:p>
            <a:pPr indent="0" marL="0">
              <a:lnSpc>
                <a:spcPct val="102000"/>
              </a:lnSpc>
              <a:spcBef>
                <a:spcPts val="382"/>
              </a:spcBef>
              <a:buNone/>
            </a:pPr>
            <a:r>
              <a:rPr lang="en-US" sz="1430" dirty="0">
                <a:solidFill>
                  <a:srgbClr val="3A473F"/>
                </a:solidFill>
                <a:latin typeface="Calibri" pitchFamily="34" charset="0"/>
                <a:ea typeface="Calibri" pitchFamily="34" charset="-122"/>
                <a:cs typeface="Calibri" pitchFamily="34" charset="-120"/>
              </a:rPr>
              <a:t>Almost every English letter starts at the top and moves down. B, D, P, R all begin the same way.</a:t>
            </a:r>
            <a:endParaRPr lang="en-US" sz="2100" dirty="0"/>
          </a:p>
        </p:txBody>
      </p:sp>
      <p:sp>
        <p:nvSpPr>
          <p:cNvPr id="15" name="Shape 10"/>
          <p:cNvSpPr/>
          <p:nvPr/>
        </p:nvSpPr>
        <p:spPr>
          <a:xfrm>
            <a:off x="3372536" y="1883664"/>
            <a:ext cx="2622728" cy="4059936"/>
          </a:xfrm>
          <a:prstGeom prst="roundRect">
            <a:avLst>
              <a:gd name="adj" fmla="val 4881"/>
            </a:avLst>
          </a:prstGeom>
          <a:solidFill>
            <a:srgbClr val="F2ECFA"/>
          </a:solidFill>
          <a:ln w="12700">
            <a:solidFill>
              <a:srgbClr val="DCCDF0"/>
            </a:solidFill>
            <a:prstDash val="solid"/>
          </a:ln>
        </p:spPr>
      </p:sp>
      <p:sp>
        <p:nvSpPr>
          <p:cNvPr id="16" name="Shape 11"/>
          <p:cNvSpPr/>
          <p:nvPr/>
        </p:nvSpPr>
        <p:spPr>
          <a:xfrm>
            <a:off x="3591992" y="2103120"/>
            <a:ext cx="457200" cy="457200"/>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Left to right</a:t>
            </a:r>
            <a:endParaRPr lang="en-US" sz="22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English is written from left to right, like Amharic. The line of writing runs the same way.</a:t>
            </a:r>
            <a:endParaRPr lang="en-US" sz="2200" dirty="0"/>
          </a:p>
        </p:txBody>
      </p:sp>
      <p:sp>
        <p:nvSpPr>
          <p:cNvPr id="19" name="Shape 13"/>
          <p:cNvSpPr/>
          <p:nvPr/>
        </p:nvSpPr>
        <p:spPr>
          <a:xfrm>
            <a:off x="6196432" y="1883664"/>
            <a:ext cx="2622728" cy="4059936"/>
          </a:xfrm>
          <a:prstGeom prst="roundRect">
            <a:avLst>
              <a:gd name="adj" fmla="val 4881"/>
            </a:avLst>
          </a:prstGeom>
          <a:solidFill>
            <a:srgbClr val="F2ECFA"/>
          </a:solidFill>
          <a:ln w="12700">
            <a:solidFill>
              <a:srgbClr val="DCCDF0"/>
            </a:solidFill>
            <a:prstDash val="solid"/>
          </a:ln>
        </p:spPr>
      </p:sp>
      <p:sp>
        <p:nvSpPr>
          <p:cNvPr id="20" name="Shape 14"/>
          <p:cNvSpPr/>
          <p:nvPr/>
        </p:nvSpPr>
        <p:spPr>
          <a:xfrm>
            <a:off x="6415888" y="2103120"/>
            <a:ext cx="457200" cy="457200"/>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Watch the height</a:t>
            </a:r>
            <a:endParaRPr lang="en-US" sz="22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b, d, h, k, l are tall. a, c, e, o, s are short. g, p, q, y go below the line.</a:t>
            </a:r>
            <a:endParaRPr lang="en-US" sz="2200" dirty="0"/>
          </a:p>
        </p:txBody>
      </p:sp>
      <p:sp>
        <p:nvSpPr>
          <p:cNvPr id="23" name="Shape 16"/>
          <p:cNvSpPr/>
          <p:nvPr/>
        </p:nvSpPr>
        <p:spPr>
          <a:xfrm>
            <a:off x="9020327" y="1883664"/>
            <a:ext cx="2622728" cy="4059936"/>
          </a:xfrm>
          <a:prstGeom prst="roundRect">
            <a:avLst>
              <a:gd name="adj" fmla="val 4881"/>
            </a:avLst>
          </a:prstGeom>
          <a:solidFill>
            <a:srgbClr val="F2ECFA"/>
          </a:solidFill>
          <a:ln w="12700">
            <a:solidFill>
              <a:srgbClr val="DCCDF0"/>
            </a:solidFill>
            <a:prstDash val="solid"/>
          </a:ln>
        </p:spPr>
      </p:sp>
      <p:sp>
        <p:nvSpPr>
          <p:cNvPr id="24" name="Shape 17"/>
          <p:cNvSpPr/>
          <p:nvPr/>
        </p:nvSpPr>
        <p:spPr>
          <a:xfrm>
            <a:off x="9239783" y="2103120"/>
            <a:ext cx="457200" cy="457200"/>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Space between words</a:t>
            </a:r>
            <a:endParaRPr lang="en-US" sz="22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Leave the width of one finger between words. “mybook” is wrong. “my book” is right.</a:t>
            </a:r>
            <a:endParaRPr 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about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Copy the frame. Fill in your own information.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COPY THIS FRAME AND COMPLETE IT</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70000"/>
              </a:lnSpc>
              <a:buNone/>
            </a:pPr>
            <a:r>
              <a:rPr lang="en-US" sz="2400" dirty="0">
                <a:solidFill>
                  <a:srgbClr val="12211B"/>
                </a:solidFill>
                <a:latin typeface="Calibri" pitchFamily="34" charset="0"/>
                <a:ea typeface="Calibri" pitchFamily="34" charset="-122"/>
                <a:cs typeface="Calibri" pitchFamily="34" charset="-120"/>
              </a:rPr>
              <a:t>My name is ______________.</a:t>
            </a:r>
            <a:endParaRPr lang="en-US" sz="2400" dirty="0"/>
          </a:p>
          <a:p>
            <a:pPr indent="0" marL="0">
              <a:lnSpc>
                <a:spcPct val="170000"/>
              </a:lnSpc>
              <a:buNone/>
            </a:pPr>
            <a:r>
              <a:rPr lang="en-US" sz="2400" dirty="0">
                <a:solidFill>
                  <a:srgbClr val="12211B"/>
                </a:solidFill>
                <a:latin typeface="Calibri" pitchFamily="34" charset="0"/>
                <a:ea typeface="Calibri" pitchFamily="34" charset="-122"/>
                <a:cs typeface="Calibri" pitchFamily="34" charset="-120"/>
              </a:rPr>
              <a:t>I am from ______________.</a:t>
            </a:r>
            <a:endParaRPr lang="en-US" sz="2400" dirty="0"/>
          </a:p>
          <a:p>
            <a:pPr indent="0" marL="0">
              <a:lnSpc>
                <a:spcPct val="170000"/>
              </a:lnSpc>
              <a:buNone/>
            </a:pPr>
            <a:r>
              <a:rPr lang="en-US" sz="2400" dirty="0">
                <a:solidFill>
                  <a:srgbClr val="12211B"/>
                </a:solidFill>
                <a:latin typeface="Calibri" pitchFamily="34" charset="0"/>
                <a:ea typeface="Calibri" pitchFamily="34" charset="-122"/>
                <a:cs typeface="Calibri" pitchFamily="34" charset="-120"/>
              </a:rPr>
              <a:t>This is my ______________.</a:t>
            </a:r>
            <a:endParaRPr lang="en-US" sz="24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every sentence start with a capital letter?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your name have a capital letter?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your town have a capital letter?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every sentence end with a full stop?</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there a space between every word?</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full sentences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sentence for each. Capital at the start · capitals on names and places · full stop at the end.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sentence about your pen.</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sentence about your book.</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sentence about your bag.</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sentence with your own name in it.</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QUESTION asking someone their name.</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a sentence about your pen</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This is my pen.</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Capital T at the start, full stop at the end. “My” shows it belongs to you.</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a sentence about your book</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My book is in my bag.</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Two module words in one sentence. “In” tells you where the book is.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a sentence about your bag</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My bag is blue.</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Any colour is correct. The important part is the capital M and the full stop.</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a sentence with your name</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My name is Sara.</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TWO capitals: M because it starts the sentence, and S because Sara is a person's name.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 question</a:t>
            </a:r>
            <a:endParaRPr lang="en-US" sz="1100" dirty="0"/>
          </a:p>
          <a:p>
            <a:pPr indent="0" marL="0">
              <a:lnSpc>
                <a:spcPct val="102000"/>
              </a:lnSpc>
              <a:spcBef>
                <a:spcPts val="169"/>
              </a:spcBef>
              <a:buNone/>
            </a:pPr>
            <a:r>
              <a:rPr lang="en-US" sz="1520" b="1" dirty="0">
                <a:solidFill>
                  <a:srgbClr val="12211B"/>
                </a:solidFill>
                <a:latin typeface="Calibri" pitchFamily="34" charset="0"/>
                <a:ea typeface="Calibri" pitchFamily="34" charset="-122"/>
                <a:cs typeface="Calibri" pitchFamily="34" charset="-120"/>
              </a:rPr>
              <a:t>What is your name?</a:t>
            </a:r>
            <a:endParaRPr lang="en-US" sz="1100" dirty="0"/>
          </a:p>
          <a:p>
            <a:pPr indent="0" marL="0">
              <a:lnSpc>
                <a:spcPct val="102000"/>
              </a:lnSpc>
              <a:spcBef>
                <a:spcPts val="254"/>
              </a:spcBef>
              <a:buNone/>
            </a:pPr>
            <a:r>
              <a:rPr lang="en-US" sz="1180" dirty="0">
                <a:solidFill>
                  <a:srgbClr val="0A4634"/>
                </a:solidFill>
                <a:latin typeface="Calibri" pitchFamily="34" charset="0"/>
                <a:ea typeface="Calibri" pitchFamily="34" charset="-122"/>
                <a:cs typeface="Calibri" pitchFamily="34" charset="-120"/>
              </a:rPr>
              <a:t>WHY: A question ends with a question mark, never a full stop. When you say it, your voice goes up at the end.</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this on every piece of writing for the rest of Level 1.</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Capital letter at the start of every sentence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Look at the first letter of each line. Is it big?</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Capital letters on names and places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Sara, Dawit, Gondar, Ethiopia, English — all capital.</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 full stop or a question mark at the end</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Telling? Use a full stop. Asking? Use a question mark.</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 space between every word</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“my book” — not “mybook”.</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How many letters are in the English alphabet?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21     b) 26     c) 33</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Which of these is a vowel?</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B     b) K     c) E</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What is the NAME of the letter G?</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“jee”     b) “gee” as in goat     c) /g/</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word starts with the sound /v/?</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ban     b) van     c) pan</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sentence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my name is sara.     b) My name is Sara.     c) My Name Is Sara.</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item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 B, C, ___, E, F</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 five vowels are A, ___, I, O, U.</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My name ___ Sara.</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This is my p___ . I write with it.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go to s_____ every day.</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Match the letter to its name, and the word to its meaning.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Draw a line, or 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Part 1 — match the LETTER to its NAME</a:t>
            </a:r>
            <a:endParaRPr lang="en-US" sz="1600" dirty="0"/>
          </a:p>
          <a:p>
            <a:pPr indent="0" marL="0">
              <a:lnSpc>
                <a:spcPct val="102000"/>
              </a:lnSpc>
              <a:spcBef>
                <a:spcPts val="282"/>
              </a:spcBef>
              <a:buNone/>
            </a:pPr>
            <a:r>
              <a:rPr lang="en-US" sz="1220" dirty="0">
                <a:solidFill>
                  <a:srgbClr val="3A473F"/>
                </a:solidFill>
                <a:latin typeface="Calibri" pitchFamily="34" charset="0"/>
                <a:ea typeface="Calibri" pitchFamily="34" charset="-122"/>
                <a:cs typeface="Calibri" pitchFamily="34" charset="-120"/>
              </a:rPr>
              <a:t>1. H     2. W     3. G     4. J          a) “jay”     b) “aitch”     c) “double-u”     d) “jee”</a:t>
            </a:r>
            <a:endParaRPr lang="en-US" sz="16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2 — match the WORD to its MEANING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pen     2. bag     3. school     4. van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the place where you learn        b) a big car for goods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you write with it        d) you carry things in it</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Part 3 — match the SOUND to a WORD</a:t>
            </a:r>
            <a:endParaRPr lang="en-US" sz="1650" dirty="0"/>
          </a:p>
          <a:p>
            <a:pPr indent="0" marL="0">
              <a:lnSpc>
                <a:spcPct val="102000"/>
              </a:lnSpc>
              <a:spcBef>
                <a:spcPts val="291"/>
              </a:spcBef>
              <a:buNone/>
            </a:pPr>
            <a:r>
              <a:rPr lang="en-US" sz="1260" dirty="0">
                <a:solidFill>
                  <a:srgbClr val="3A473F"/>
                </a:solidFill>
                <a:latin typeface="Calibri" pitchFamily="34" charset="0"/>
                <a:ea typeface="Calibri" pitchFamily="34" charset="-122"/>
                <a:cs typeface="Calibri" pitchFamily="34" charset="-120"/>
              </a:rPr>
              <a:t>1. /p/     2. /b/     3. /v/     4. /s/          a) van     b) school     c) pen     d) book</a:t>
            </a:r>
            <a:endParaRPr lang="en-US" sz="16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put them in order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letters in alphabetical order.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C, A, D, B</a:t>
            </a:r>
            <a:endParaRPr lang="en-US" sz="19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M, K, P, L</a:t>
            </a:r>
            <a:endParaRPr lang="en-US" sz="19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Z, T, W, V</a:t>
            </a:r>
            <a:endParaRPr lang="en-US" sz="19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Put these names in alphabetical order:  Dawit, Abel, Sara, Hana</a:t>
            </a:r>
            <a:endParaRPr lang="en-US" sz="19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5.  Put these places in alphabetical order:  Gondar, Adama, Merkato, Bahir Dar</a:t>
            </a:r>
            <a:endParaRPr lang="en-US" sz="1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with the errors fixed.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my name is dawit</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am from gondar.</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This is my Bag.</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is your name.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speak amharic and english</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 version.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 English alphabet has 26 letters.</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 E, I, O, U are consonants.</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name of the letter H is “aitch”.</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You use letter SOUNDS when you spell your name aloud.</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 person's name always starts with a capital letter.</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“Van” and “ban” start with the same sound.</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is your name?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How do you spell your name?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Where are you from?</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is in your bag?</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Which letter comes after M?</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Each task takes one minute.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Say the alphabet from A to Z without stopping.</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Spell your full name, then your town.</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these five words clearly:  pen · book · bag · van · school</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Say this sentence three times, faster each time:  “My book is in my bag.”</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the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a sentence with exactly THREE capital letters in it.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Think: sentence start + a name + a place, or the word “I”.</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Blend these sounds and write the word:  /s/ + /k/ + /uː/ + /l/</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Say it aloud before you write it.</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Which two of these words have the SAME vowel sound?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bag · book · van · school</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Correct this and explain each change:  “i am abel i am from merkato”</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five things to fix.</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Your partner says a name too fast. Write TWO English sentences you could say.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the phrases from the Conversation section.</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questions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it a problem to learn only the alphabet song?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the song does and does not teach you.</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Your friend reads “bag” as “bee-ay-jee”. What is the mistake, and how would you help?</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Which two things has your friend confused?</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does English need capital letters if Amharic does not?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There is no logical reason — what does that tell you about learning rules?</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A shopkeeper says something you do not understand. Name three things you could do.</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Only one of them is “give up and speak Amharic”.</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1 · Letters and sounds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How many vowels are in the English alphabet?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3     b) 5     c) 7</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What is the NAME of the letter W?</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“double-v”     b) “double-u”     c) /w/</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What is the SOUND of the letter C in the word “cat”?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     b) /k/     c) “see”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letter comes between P and 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O     b) Q     c) S</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2 · Vocabulary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Which word means “the place where you learn”?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bag     b) school     c) van</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Complete: “My book is in my ______.”</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bag     b) pen     c) school</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Which word starts with the /v/ sound?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bag     b) book     c) van</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Which word has the same vowel sound as “bag”?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book     b) van     c) school</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000" b="1" dirty="0">
                <a:solidFill>
                  <a:srgbClr val="12211B"/>
                </a:solidFill>
                <a:latin typeface="Calibri" pitchFamily="34" charset="0"/>
                <a:ea typeface="Calibri" pitchFamily="34" charset="-122"/>
                <a:cs typeface="Calibri" pitchFamily="34" charset="-120"/>
              </a:rPr>
              <a:t>Module 1 quiz — Part 3 · Capital letters and punctuation</a:t>
            </a:r>
            <a:endParaRPr lang="en-US" sz="30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Which sentence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 am from adama.     b) I am from Adama.     c) I Am From Adama.</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Which word needs a capital letter?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pen     b) ethiopia     c) book</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Which mark ends a question?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     b) ?     c) no mark</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Correct this: “what is your name.”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whole sentence correctly.</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Module 1 quiz — Part 4 · Listening and reading</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Your teacher says “aitch”. Which letter is it?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     b) H     c) I</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Your teacher spells H–A–N–A. Write it correctly.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Remember the capital letter rule.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Read: “This is Sara. Her pen is in her bag.” Where is the pen?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Answer in a 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Read: “I am Abel. I am not a student.” Is Abel a student?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Answer in a full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1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one sentence about your bag.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Capital at the start, full stop at the end.</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a question asking someone how to spell their name.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Do not forget the question mark.</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Put in alphabetical order:  Sara, Abel, Hana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Look at the first letter only.</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say your name, spell it, and say your town.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How many vowels?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5</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E, I, O, U. The other 21 letters are consonants. Y is a consonant at this level.</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Name of W?</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“double-u”</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Even though W looks like two V shapes, its name is “double-u”. Option c) /w/ is its SOUND, not its name.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Sound of C in “cat”?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NAME of C is “see”, but its usual SOUND is /k/. This is the name-versus-sound distinction from Concept 2.</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Between P and 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Q</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order is P, Q, R. Saying the letters around it aloud is faster than starting from A.</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“the place where you learn”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school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Remember the pronunciation: s-kool, with no extra vowel at the start.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“My book is in my ______.”</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book goes in a bag. A pen is a thing you write with, and a school is a place — neither fits.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starts with /v/?</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van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For /v/ your top teeth touch your bottom lip. “Bag” and “book” both start with /b/, made with two lips together.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same vowel sound as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van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have the short /æ/ sound. “Book” has /ʊ/ and “school” has the long /uː/.</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which sentence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 am from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Capital I (always), capital A on the place name, full stop at the end. Option c) wrongly capitalises every word.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which word needs a capital?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ethiopia → Ethiopia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the name of a country. “Pen” and “book” are ordinary things and stay small.</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which mark ends a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question mark. Your voice also goes up at the end when you say it aloud.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correct “what is your name.”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What is your name?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changes: a capital W to start the sentence, and a question mark instead of a full stop, because it is a question.</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“aitch” is which letter?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There is no /h/ sound at the start of the name “aitch”, which is why learners often write A instead.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H–A–N–A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Hana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person's name, so a capital H. The remaining letters stay small — only the first letter is capital.</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Where is the pen?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Her pen is in her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full sentence is required. The text gives you the exact words to use — reuse them.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Is Abel a student?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is not a student.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text says “I am not a student”. A strong answer gives the negative clearly rather than just “no”.</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a sentence about your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“My bag is blue.” or “My book is in my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sentence is correct if it starts with a capital, ends with a full stop, and makes sense.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a question about spelling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do you spell it?  (or: How do you spell your name?)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must end with a question mark. This is the most useful question in the whole module.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alphabetical order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Abel, Hana, Sara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Compare only the first letters: A, H, S. That is their order in the alphabet.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Name said clearly · spelled letter by letter · town named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being understood, not on being perfect. A listener who has never met you should be able to write your name correctly.</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is better than one hour on Sunday.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alphabet out loud, twice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Once slowly, once fast. Out loud — not in your head.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the alphabet from memory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Capital letters on one line, small letters underneath.</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five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pen · book · bag · van · school — say each one five times.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hard sounds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 and /b/, then /v/. Use the paper test for /p/.</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Spell three names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Your own name, a family member's name, and your town.</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whole alphabet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Capital letters A–Z on one line. Small letters a–z underneath. Check the tall letters and the letters that go below the line.</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five sentences about yourself</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My name is… · I am from… · This is my… · I am a… · and one QUESTION. Check your four points before you hand it in.</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30-second introduction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Hello · your name · spell your name · your town · three objects. Send it to your teacher, or perform it live at the start of the next lesson.</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 Nothing is a surprise.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Alphabet — 5 marks</a:t>
            </a:r>
            <a:endParaRPr lang="en-US" sz="1650" dirty="0"/>
          </a:p>
          <a:p>
            <a:pPr indent="0" marL="0">
              <a:lnSpc>
                <a:spcPct val="102000"/>
              </a:lnSpc>
              <a:spcBef>
                <a:spcPts val="330"/>
              </a:spcBef>
              <a:buNone/>
            </a:pPr>
            <a:r>
              <a:rPr lang="en-US" sz="1320" dirty="0">
                <a:solidFill>
                  <a:srgbClr val="3A473F"/>
                </a:solidFill>
                <a:latin typeface="Calibri" pitchFamily="34" charset="0"/>
                <a:ea typeface="Calibri" pitchFamily="34" charset="-122"/>
                <a:cs typeface="Calibri" pitchFamily="34" charset="-120"/>
              </a:rPr>
              <a:t>All 26 capitals correct (2) · all 26 small letters correct (2) · letters formed clearly (1).</a:t>
            </a:r>
            <a:endParaRPr lang="en-US" sz="16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Five sentences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Five sentences written (5) · capital at the start of each (2) · capitals on names and places (2) · correct end mark including one question mark (1).</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steps present (5) · name spelled clearly enough to write down (3) · /p/, /v/ and “school” clear (2).</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26 letters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Names and shapes, capital and small, in order and out of order.</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Name vs sound</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name is for spelling. The sound is for reading. This is the key to everything.</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5 vowels, 21 consonants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E I O U — and every English word needs at least one of them.</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5 new words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pen · book · bag · van · school — with meanings, examples and the mistakes to avoid.</a:t>
            </a:r>
            <a:endParaRPr lang="en-US" sz="160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3 writing rules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Capital at the start · capitals on names and places · full stop or question mark at the end.</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6 useful phrases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Including the two most valuable: “How do you spell it?” and “Please speak slowly.”</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five words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pen  /pen/     ·     book  /bʊk/</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bag  /bæɡ/     ·     van  /væn/</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school  /skuːl/</a:t>
            </a:r>
            <a:endParaRPr lang="en-US" sz="16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six phrases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“What is your name?”  ·  “How do you spell it?”  ·  “Can you repeat, please?”  ·  “Please speak slowly.”  ·  “Sorry, I do not understand.”  ·  “Nice to meet you.”</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three writing rules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 Capital letter at the start of every sentence.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 Capital letters on names, places, days and languages.</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 A full stop, or a question mark for a question.</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three hard sounds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/p/ — with a puff of air (pen, not Ben)</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/v/ — teeth on lip (van, not ban)</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s + k joined — school, not “isukul”</a:t>
            </a:r>
            <a:endParaRPr lang="en-US" sz="16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Two weeks ago you could not read a single English word. Today you can.</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850" dirty="0">
                <a:solidFill>
                  <a:srgbClr val="B9CFC1"/>
                </a:solidFill>
                <a:latin typeface="Calibri" pitchFamily="34" charset="0"/>
                <a:ea typeface="Calibri" pitchFamily="34" charset="-122"/>
                <a:cs typeface="Calibri" pitchFamily="34" charset="-120"/>
              </a:rPr>
              <a:t>You know 26 letters, their sounds, five words, three writing rules and six phrases.</a:t>
            </a:r>
            <a:endParaRPr lang="en-US" sz="1850" dirty="0"/>
          </a:p>
          <a:p>
            <a:pPr indent="0" marL="0">
              <a:lnSpc>
                <a:spcPct val="120000"/>
              </a:lnSpc>
              <a:buNone/>
            </a:pPr>
            <a:r>
              <a:rPr lang="en-US" sz="1850" dirty="0">
                <a:solidFill>
                  <a:srgbClr val="B9CFC1"/>
                </a:solidFill>
                <a:latin typeface="Calibri" pitchFamily="34" charset="0"/>
                <a:ea typeface="Calibri" pitchFamily="34" charset="-122"/>
                <a:cs typeface="Calibri" pitchFamily="34" charset="-120"/>
              </a:rPr>
              <a:t>That is not a small thing — it is the foundation everything else is built on.</a:t>
            </a:r>
            <a:endParaRPr lang="en-US" sz="18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2</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Numbers, Time &amp; Money</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Count to 100 · tell the time · say a price in birr</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1 — The English Alphabet &amp; Sounds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 Module 1 — The English Alphabet &amp; Sounds</dc:title>
  <dc:subject>English course for Ethiopian learners — Level 1 Beginner</dc:subject>
  <dc:creator>English Learning Platform</dc:creator>
  <cp:lastModifiedBy>English Learning Platform</cp:lastModifiedBy>
  <cp:revision>1</cp:revision>
  <dcterms:created xsi:type="dcterms:W3CDTF">2026-07-27T18:38:27Z</dcterms:created>
  <dcterms:modified xsi:type="dcterms:W3CDTF">2026-07-27T18:38:27Z</dcterms:modified>
</cp:coreProperties>
</file>