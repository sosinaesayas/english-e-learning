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Lst>
  <p:notesMasterIdLst>
    <p:notesMasterId r:id="rId7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notesMaster" Target="notesMasters/notesMaster1.xml"/><Relationship Id="rId79" Type="http://schemas.openxmlformats.org/officeDocument/2006/relationships/presProps" Target="presProps.xml"/><Relationship Id="rId80" Type="http://schemas.openxmlformats.org/officeDocument/2006/relationships/viewProps" Target="viewProps.xml"/><Relationship Id="rId81" Type="http://schemas.openxmlformats.org/officeDocument/2006/relationships/theme" Target="theme/theme1.xml"/><Relationship Id="rId8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Whole module: four 60-minute lessons.
HOW TO TEACH: Open by asking one learner how much they paid for something today. Let them answer in Amharic. Then say: 'By Friday you will say that in English.' Numbers are the fastest-paying module in Level 1 because learners use them the same day.
TIP: Bring real birr notes and coins, a clock face, and a phone. Real objects beat pictures for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HOW TO TEACH: Read each objective and ask 'Can you do this now?' Objective 4 is the one adults care about most — say it with emphasis.
TIP: Return to this slide at the end of the module and ask again. The change is the proof the module worked.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minutes.
HOW TO TEACH: Run all three quickly. The third task will produce two different answers from different learners — that is exactly what you want, because it sets up the clock lesson later.
COMMON MISTAKES: Do not correct anything in the warm-up. Not the numbers, not the pronunciation.
TIP: Write the two different times learners give for task 3 on the board and leave them there. You will come back to them on the clock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HOW TO TEACH: Make the practical case plainly: a learner who knows numbers and five polite phrases can complete a real transaction in English today. That is a big motivator for adults who feel far from fluency.
TIP: Warn them once, now: 'One pair of numbers causes more trouble than anything else in English — thirteen and thirty. We will fix it in this module.' Naming it early makes learners listen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Count in chorus 1 to 10, three times: slowly, normally, then fast. Then count backwards from 10 — that proves they know the words, not just the sequence.
COMMON MISTAKES: Three said as “tree” or “sree”, and seven said as “seben”. Both are first-language sound gaps, drilled in Module 1. Do the tongue-between-teeth model again for three, and the teeth-on-lip model for seven.
EXTRA EXAMPLES: Count objects in the room: chairs, windows, learners, pens. Counting real things is far more memorable than reciting.
TIP: Silent counting on fingers while saying the words connects the sound to the quantity. Adults find it slightly silly and remember it anyway.
CLASSROOM ACTIVITY: Clap and count: the class claps and counts together, then the teacher stops clapping at a random number and points at a learner, who must say the next three numbers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Teach 11 and 12 first as two words to memorise. Then show that 13–19 follow one rule. Say each -teen number with an exaggerated stress on the second syllable and have the class copy the stress, not just the word.
COMMON MISTAKES: Learners often say “thir-teen” with equal stress on both syllables. English speakers hear that as ambiguous. The stress is what makes it clear, so drill the stress deliberately — it matters more than the vowel.
EXTRA EXAMPLES: Note the spelling changes: three → thirteen (not threeteen), five → fifteen (not fiveteen), eight → eighteen (one t, not two).
TIP: Clap on the stressed syllable while the class says the number: thir-CLAP. Physical marking of stress works better than telling learners about it.
CLASSROOM ACTIVITY: Count 11 to 20 around the class, then backwards from 20 to 11. Backwards is much harder and shows who has really learned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This is the most important slide in the module — do not rush it.
HOW TO TEACH: Say each pair twice with heavily exaggerated stress. Then say ONE of the pair and ask learners to point left or right. Hearing the difference must come before saying it. Only when most of the class can hear it, ask them to produce it.
COMMON MISTAKES: This is a stress problem, not a vowel problem — so it cannot be fixed by writing. It must be fixed with the voice and the ear. Learners who write it perfectly will still say it wrong.
EXTRA EXAMPLES: 18/80, 19/90 complete the set. Also practise in context: “It is fifteen birr.” “It is fifty birr.”
TIP: The real-world consequence makes this stick: fifteen birr and fifty birr are very different amounts. Say that out loud — adults remember rules that cost money.
CLASSROOM ACTIVITY: Price game: hold up a card with 15 or 50 and say one of them. Learners write the number they hear. Then reverse — a learner says it and the class writes. Ten rounds, two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Teach the nine tens first, then show the joining rule with three examples on the board: 21, 47, 99. Then ask learners for their own age, their house number, or a price they paid.
COMMON MISTAKES: “Fourty” instead of “forty” is the commonest spelling error in English for everyone, not just Ethiopian learners. Point at it and say it is a trap.
EXTRA EXAMPLES: Ages are the best practice because every learner has one: “I am twenty-three years old.”
TIP: For 100, British English says “one hundred” or “a hundred”. Both are correct. Teach “one hundred” and mention the other exists.
CLASSROOM ACTIVITY: Count in tens around the class, then in fives, then in twos from 2 to 30. Changing the step keeps it from becoming a chant.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Days first, months second, in two separate blocks. Chant the seven days in chorus until they are automatic. For months, teach in groups of four, not all twelve at once.
COMMON MISTAKES: Wednesday is spelled with a silent d and said /ˈwenzdeɪ/ — two syllables, not three. February is often mispronounced; /ˈfebruəri/ is the careful form and /ˈfebjuəri/ is also widely used. Accept both.
EXTRA EXAMPLES: Ask each learner for their birthday month. Personal information makes the month names stick.
TIP: The 13-month difference genuinely confuses learners. Say plainly: 'Do not try to match Ethiopian months to English months. They do not line up. Learn these twelve as new English words.' That instruction saves weeks of confusion.
CLASSROOM ACTIVITY: Birthday line-up: learners arrange themselves in a line by birthday month, speaking only English. Noisy, physical, and it drills all twelve months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14 minutes. Allow extra time for the Ethiopian clock comparison.
HOW TO TEACH: Draw two clock faces side by side on the board and label one ENGLISH TIME and one ETHIOPIAN TIME. Show the same moment on both. This visual does in thirty seconds what five minutes of explanation cannot.
COMMON MISTAKES: “Quarter to four” for 3:45 is counter-intuitive — learners say “quarter to three” because they see a three. Teach it as: you are looking forward to the next hour. Drill five examples.
EXTRA EXAMPLES: Digital form is always acceptable and easier: 3:45 can be said “three forty-five”. Teach both, and tell learners the digital form is safe when they are unsure.
TIP: In a mixed group, agree a class convention: whenever anyone says a time, they add “English time” or “Ethiopian time”. Keep it for the whole level — it prevents real missed appointments.
CLASSROOM ACTIVITY: Clock hands: use a paper clock with movable hands, or draw one. A learner sets a time, another says it. Then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minutes.
HOW TO TEACH: Point at a clock, ask “What time is it?”, and answer yourself. Then ask five learners in turn. The question and the answer must be drilled together — a learner who can only answer cannot start a conversation.
COMMON MISTAKES: The vowel /aɪ/ is a diphthong, two sounds joined: ah-ee. Say it slowly, then at speed.
EXTRA EXAMPLES: on time · in time · What time do you start work? · What time is the bus?
TIP: Ask the time at random moments for the rest of the module. Real repetition beats a drill.
CLASSROOM ACTIVITY: Every learner asks the person on their right “What time is it?” around the whole class. One minute, everyone speaks.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minutes.
HOW TO TEACH: Hold up a real birr note. Say the word, class repeats three times. Then teach the sentence “How much money?” which combines it with the next slide's grammar.
COMMON MISTAKES: The spelling has an “o” but the sound is /ʌ/. English spelling and sound do not match here — say so plainly rather than letting learners guess.
EXTRA EXAMPLES: Same /ʌ/ sound: cup, bus, sun, much, under. Group them and drill together.
TIP: Uncountable nouns are hard to explain at this level. Do not explain — just say “money” is always one word, never “moneys”, and move on.
CLASSROOM ACTIVITY: Show three real amounts of birr and ask “How much money?”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minutes.
HOW TO TEACH: Model the long vowel by holding it for two seconds: wiiiik. Then say “wick” with a short vowel. Ask the class which one is seven days.
COMMON MISTAKES: The long /iː/ and short /ɪ/ contrast is one of the six target sounds for Ethiopian learners. Drill the minimal pairs directly.
EXTRA EXAMPLES: week–wick, seat–sit, sheep–ship, feet–fit, green–grin.
TIP: This word gives you a natural chance to teach “weekend” — Saturday and Sunday — which learners will need immediately.
CLASSROOM ACTIVITY: Ask each learner: “How many days a week do you work or study?” Everyone answers in a full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Allow extra time for the ending.
HOW TO TEACH: Break it: /mʌn/ … then add /θ/ with the tongue visible. Join them slowly. Then add the plural /s/ — that three-consonant ending is one of the harder things in English, so practise it slowly and accept a good attempt.
COMMON MISTAKES: Final “th” is dropped or becomes /t/ or /s/. Because it is at the end of the word, learners often do not notice they have dropped it.
EXTRA EXAMPLES: Other final-th words: mouth, both, north, south, health. Drill three of them.
TIP: Tell the class the truth: “months” is hard for everyone learning English. Permission to find it difficult keeps people trying.
CLASSROOM ACTIVITY: Each learner says: “My birthday is in ______.” Twelve months practised through twelve personal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Build the cluster: /p/ … /r/ … pr … price. Forwards, never backwards. Use the paper test again to check the puff of air on /p/.
COMMON MISTAKES: An inserted vowel — “pirice” — is the same first-language pattern as “isukul” from Module 1. Drill the cluster in isolation first.
EXTRA EXAMPLES: Other pr- and br- clusters: print, promise, problem, bread, brother.
TIP: “What is the price?” and “How much is it?” mean the same thing. Teach both — learners will hear both in a shop.
CLASSROOM ACTIVITY: Price tags: put real or drawn price labels on classroom objects. Learners walk around asking “What is the price of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Hold up one pen, then three pens, and say both forms. The physical demonstration teaches the plural faster than the rule does. Then do the same with books and chairs.
COMMON MISTAKES: Dropping the plural -s is transfer error S7 and it persists for months. Correct it every single time from now on — it is cheap to fix now and expensive later.
EXTRA EXAMPLES: How many brothers do you have? How many days do you work? How many students are in this class?
TIP: The birr exception matters locally and learners get it wrong constantly. Drill five prices out loud: ten birr, twenty birr, fifty birr, one hundred birr.
CLASSROOM ACTIVITY: Count and report: in pairs, learners count things in the room and report: “There are twelve chairs.” “There are two windows.”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Write “How much  |  is  |  it?” in three separate boxes on the board and physically point to each as you say it. Then swap the last two boxes to make the wrong version and ask learners what changed.
COMMON MISTAKES: “How much it is?” is transfer error S4 — the auxiliary should come before the subject in a question. This is the same problem that produces “Where you are going?” later in the course, so fixing it now pays twice.
EXTRA EXAMPLES: How much is the ticket? How much are the tomatoes? How much is this phone?
TIP: Learners at a market need only ONE of these sentences to survive. Drill “How much is it?” until it is automatic before teaching the plural version.
CLASSROOM ACTIVITY: Shop role play: put five objects on a desk with price tags. Learners queue and ask “How much is it?” for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Drill the three questions and three answers as pairs. Then introduce the contraction and say both versions of each sentence so learners hear that they are the same thing.
COMMON MISTAKES: Learners drop “it is” entirely and answer with just the number — “nine o'clock”, “forty birr”. That is understandable but it is not yet a full English answer. Insist on the whole sentence for now.
EXTRA EXAMPLES: It is Tuesday. It is ten birr. It is half past six. It is January.
TIP: Learners who only ever hear the full form cannot understand natural speech, where “it's” is used almost always. Say the short form often from now on.
CLASSROOM ACTIVITY: Rapid answers: teacher points at a clock, a price tag or a calendar; learners answer in a full sentence within three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Teach the size idea — small to big — and draw three circles of increasing size on the board labelled AT, ON, IN. Learners remember the picture long after they forget the rule.
COMMON MISTAKES: This is transfer error S9. Amharic does not divide time prepositions the same way, so learners produce “in Monday” and “at January”. It needs repeated drilling, not one explanation.
EXTRA EXAMPLES: at seven o'clock · on Sunday · in December · on Tuesday morning · at night (an exception — teach it as a phrase).
TIP: Give a gap-fill of ten sentences every lesson for the next two weeks. Three prepositions cannot be learned in one sitting.
CLASSROOM ACTIVITY: Preposition corners: label three corners AT, ON, IN. Teacher says a time expression; learners walk to the correct corner.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Take each wrong sentence and ask the class to identify the single error before you fix it. Every sentence here has exactly one error, so tell them that.
COMMON MISTAKES: Sentence 4 is the local one. Learners write “birrs” because they have just learned the plural rule and are applying it everywhere.
EXTRA EXAMPLES: Two more for pairs: “I go to church in Sunday.” and “The shop opens on seven o'clock.”
TIP: These four checks become the marking standard for the rest of the module. Put them on the wall next to the three writing rules from Module 1.
CLASSROOM ACTIVITY: Error auction, as in Module 1: teams bid on how many errors they can find in a set of four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Four steps in order: listen with books closed, chorus repeat, pair reading, then pairs perform with different items and prices. Step four is where the language becomes theirs.
COMMON MISTAKES: Watch for “How much are the tomatoes” said as “How much the tomatoes are”. Also watch the thirty-five: learners often say thirteen-five.
EXTRA EXAMPLES: Change the item to onions, potatoes, bananas, or a phone card, and change the prices each time.
TIP: Bring real items and real notes if you can. A role play with actual objects and actual money produces far more language than a script read at a desk.
CLASSROOM ACTIVITY: Market day: half the class are sellers with price cards, half are buyers with paper money. Everyone buys three things. Ten minutes, very noisy, extremely effective.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After reading, ask learners to find every AT and every ON in the dialogue and say why each one is used. Finding the rule inside real language is far stronger than being told the rule.
COMMON MISTAKES: “What time does the class start?” contains “does”, which is not taught until Level 2. Do not explain it. Teach the whole question as one fixed phrase to memorise.
EXTRA EXAMPLES: What time does the shop open? What time does the bus leave? What time do you finish work?
TIP: Notice Hana says “English time”. Point at it. Make it the class habit for the rest of the level.
CLASSROOM ACTIVITY: Diary planning: in pairs, learners arrange three meetings, each with a day and a time. They write them down, then report one to the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Drill all six in chorus, then in pairs, then individually. Insist on the full phrase, including “Excuse me” before asking a stranger the time.
COMMON MISTAKES: Learners say “How much?” alone. It is understandable but abrupt. Teach the full question, then mention the short form exists.
EXTRA EXAMPLES: Add “Do you have change?” if the class is strong — very useful in real Ethiopian shops.
TIP: Phrase 5 is the practical solution to the teen/ty problem. A learner who cannot yet hear the difference can simply ask. Teach it as a survival strategy, not a failure.
CLASSROOM ACTIVITY: Phrase bingo: each learner takes three of the six and crosses them off when they use one naturally during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Give pairs three minutes to fill the gaps in writing, then have three pairs perform it aloud before you show the answers.
COMMON MISTAKES: Gap 1 often comes out as “How much the bag is”. Correct the word order every time.
TIP: The eighty/eighteen exchange in this dialogue is the real-life version of the stress problem. Point at it and say: this happens to everyone, and asking is the right response.
CLASSROOM ACTIVITY: Learners rewrite the dialogue with a different item and different prices, then perform their own version.
ANSWERS: Gap 1: How much is  ·  Gap 2: Can you write it  ·  Gap 3: expensive.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for all four rounds.
HOW TO TEACH: Announce each round change loudly and keep strictly to two minutes. Walk between pairs and listen for teen/ty errors — note them, correct at the end, do not interrupt.
COMMON MISTAKES: Do not let one confident learner do all the talking. If you see it, give the quiet learner the buyer role, which speaks first.
TIP: Round 3 is where you insist on new numbers. Repeating the same prices lets learners avoid the numbers they find hard.
CLASSROOM ACTIVITY: After round 4, ask three learners what they “bought” and for how much. That turns the drill into real reporting.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Always finish with part D. Counting in sequence is memory; saying a random number is knowledge. Only part D tells you who is ready.
COMMON MISTAKES: Hesitation on the teens and the tens. If a learner pauses to work it out, they will not manage it at a market counter — keep drilling until it is instant.
EXTRA EXAMPLES: Use real numbers: house numbers, ages, bus route numbers, prices from the market.
TIP: Sixty seconds of random-number practice at the start of every lesson for the rest of the level. It costs nothing to prepare.
CLASSROOM ACTIVITY: Number race: two learners at the board, teacher says a number, first to write it correctly wins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Model it once at the front with a strong learner so the pace and the grouping are clear. Write the digits on the board as they are spoken.
COMMON MISTAKES: Saying the number as whole numbers — “nine hundred and twelve” — instead of digit by digit. English says phone numbers one digit at a time.
EXTRA EXAMPLES: Zero is said “oh” in phone numbers but “zero” in maths and sport. Mention it once; do not dwell on it.
TIP: Learners who are shy about giving a real number can invent one. The point is the digits, not the data.
CLASSROOM ACTIVITY: Phone directory: learners collect three classmates' numbers by asking in English, then read one back to the class to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Hearing before speaking. First say one number from a pair and have learners point left or right — twenty rounds. Only when most of the class hears the difference, move to production.
COMMON MISTAKES: Learners who cannot yet hear the difference will not produce it, no matter how much they repeat. If pointing is still random after twenty rounds, slow down and exaggerate more.
EXTRA EXAMPLES: Put them in real sentences: “It is fifteen birr.” / “It is fifty birr.” The context makes the stakes obvious.
TIP: Clapping works because stress is rhythm, not sound. Learners who cannot hear the difference can often clap it correctly, and the voice follows the hand.
CLASSROOM ACTIVITY: Price dictation: teacher reads ten prices, learners write the figures. Mark it together. Any learner scoring under 8 needs this drill again tomorrow.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Give each pair a listening job: while A speaks, B listens for one specific thing — the preposition, or the teen/ty stress. Listening with a purpose is much more useful than listening in general.
COMMON MISTAKES: Task 4 is where the prepositions break down. Expect “I wake up in six o'clock” and correct it on the spot.
EXTRA EXAMPLES: Extend task 4 with “I have lunch at…” and “I go to bed at…”.
TIP: Task 4 produces genuine personal information, so learners remember it. Ask two learners to report their partner's times to the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including listening back.
HOW TO TEACH: Learners record on a phone. No phone means performing live to a partner who ticks the five steps. Everyone does it — forty seconds is short enough that nobody can refuse.
COMMON MISTAKES: Rushing step 3 and slurring the teens. Tell them to slow down; clarity is what is being marked, not speed.
TIP: Have them listen back once before submitting. Self-listening is the cheapest pronunciation fix available.
CLASSROOM ACTIVITY: Keep every recording. Play it back at the end of Level 1 next to the new one.
ANSWERS: SUCCESS CRITERIA: all five steps present · a listener can write down the phone number correctly · the price in step 5 is unambiguous between the -teen and -ty 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Read each item twice with a five-second pause. Use natural stress — do not over-exaggerate here, because this is the test of whether the drill worked.
COMMON MISTAKES: Items 1 and 2 are the whole point. If more than a third of the class confuses them, do the stress drill again before moving on.
TIP: Read the whole list once before learners write anything, so they know what is coming, then read again for answers.
ANSWERS: 1  15  ·  2  50  ·  3  19  ·  4  90  ·  5  62  ·  6  0911 234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Read each answer and reason. Ask learners to raise a hand for each one they got wrong — you are collecting data on what to re-teach, not judging. Say that out loud.
TIP: Count how many in the class got items 1 and 2 both right, and say the number. If it is under half, spend five minutes on the stress drill before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This exercise tests three things at once: the time, the day or month, and the preposition. Mark all three — the preposition is the one learners will get wrong.
COMMON MISTAKES: Item 3 requires converting “quarter past seven” to 7:15, which is a real comprehension step, not just transcription.
EXTRA EXAMPLES: Add two harder items if the class is strong: “The bus leaves at quarter to six” and “The exam is on Thursday in January.”
ANSWERS: 1  9:00, at  ·  2  4:30  ·  3  7:15, at  ·  4  Sunday, on  ·  5  November,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Have learners swap papers and mark each other's. They must check three things per item: the figure, the capital letter and the preposition. Peer marking makes the capital rule stick.
TIP: The prepositions are the real content here. Count how many learners got all four prepositions right and say the number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minutes.
HOW TO TEACH: Read each habit and ask which one learners already do. Most will admit they guess instead of asking. Make the point that asking is what confident speakers do, not what weak ones do.
COMMON MISTAKES: The commonest real-world failure is nodding and guessing. That is how people pay the wrong price. Say it plainly.
TIP: Habit 4 — repeating it back — is the most useful and the least used. Drill it: teacher says a price, learner repeats it back as a question.
CLASSROOM ACTIVITY: Confirm the price: teacher says a price quickly and unclearly on purpose. The learner must respond with “So, ______ birr?” Ten rounds.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Same routine as Module 1: teacher, chorus, individuals. Then the finding task — it turns reading into active noticing.
COMMON MISTAKES: “Seventeen” will be read with the wrong stress by some learners. Correct it in the moment; it is the module's target error.
EXTRA EXAMPLES: Ask learners to count: three days, two times, one month, three prepositions.
TIP: Point at each word as the class reads. Beginners lose their place, and following your finger keeps everyone together.
CLASSROOM ACTIVITY: Learners rewrite the text about themselves, changing the age, the days, the time and the month. Six sentences, entirely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7 minutes.
HOW TO TEACH: Insist on full sentences. One-word answers are the habit you are preventing, and it is far easier to prevent than to cure.
COMMON MISTAKES: Question 2 requires counting, not copying — the text lists three days but does not say “three”. That is an inference step.
TIP: Books closed. If the text is visible, learners copy and no comprehension happens.
ANSWERS: 1 Sara is seventeen years old. · 2 She goes to school three days a week. · 3 School starts at eight o'clock. · 4 She does not go to school on Sunday. · 5 Her birthday is in September.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Read each answer, then the reason. Question 2 is the important one — it is inference, meaning the answer is not written directly in the text. Point that out.
TIP: Praise learners specifically for using the right preposition, not just for being right. It signals what you are measuring.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Teacher, chorus, individuals. Teach the four new words with gesture — open and close your hands, point at the window for morning and evening. Do not translate.
COMMON MISTAKES: “Eighty” and “eighteen” both appear as risks here. Ask a learner to read the price line aloud and check the stress.
EXTRA EXAMPLES: The four numbers are seven, six, six and the two prices. Ask learners to find them and say them aloud.
TIP: This text is about an adult with a business, not a child at school. Adult beginners need to see people like themselves in the material.
CLASSROOM ACTIVITY: Learners write four sentences about a shop they know: when it opens, when it closes, which day it is closed, and one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Questions 2 and 4 need arithmetic as well as reading. That is deliberate — it is exactly what a real shop conversation demands. Allow thinking time.
TIP: End by having the class say all five vocabulary words in chorus, then five individuals each use one in a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Do the first pair together on the board, showing both spellings side by side, then let them work alone.
COMMON MISTAKES: “Fourty” for forty is the biggest trap — there is no “u”. Also “thirteen” has no “e” after thir, and “fifteen” is not “fiveteen”.
TIP: Item 3 is the trap: four has a u, forty does not. Circle it on the board and leave it there.
ANSWERS: 1 thirteen · thirty  ·  2 fifteen · fifty  ·  3 forty · four  ·  4 twenty-one · ninety-nine  ·  5 one hundred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Write your own completed example on the board first and leave it there. Beginners need a model in front of them.
COMMON MISTAKES: The three prepositions are the failure point. Expect “I work in Monday” and “I start on eight o'clock”. The checklist exists for exactly these.
EXTRA EXAMPLES: Fast finishers add: “I finish at ______ o'clock.” and “I do not work on ______.”
TIP: Collect these and keep them. Give them back at the end of Level 1 — the visible difference is powerful.
CLASSROOM ACTIVITY: Learners swap papers and use the five-point checklist to mark their partner's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Do the first one together on the board so the standard is clear, then let them work alone. Circulate and check prepositions as they write, not after.
COMMON MISTAKES: Item 5 is the one they get wrong — many write it as a statement with a full stop, or use the wrong word order.
TIP: Correct only prepositions, capitals, end marks and the module's numbers. Correcting everything discourages beginners into silence.
ANSWERS: MODEL ANSWERS: 1 I wake up at six o'clock. · 2 I do not work on Sunday. · 3 The bag was eighty birr. · 4 My birthday is in September. · 5 How much is this bag?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Make clear these are models, not the only right answers. Ask three learners to read their own sentence for item 3 — the variety shows the class that many answers are correct.
TIP: Mark against the four checks only. A learner who wrote “I wake up at five o'clock.” has succeeded completely.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HOW TO TEACH: Read the four points, then have learners check their own writing from the previous slide against all four. Self-checking is a skill and must be taught.
TIP: Add this card to the one from Module 1. Refer to both by name — 'Check your seven points' — from now on.
CLASSROOM ACTIVITY: Deliberate error hunt: write four sentences on the board containing exactly four errors, one of each type. Learners find all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Let learners answer alone, then compare with a partner before you take answers. Comparing in pairs raises accuracy and lowers fear.
TIP: Question 2 is the diagnostic. A learner who chooses c has not yet heard the stress difference and needs the drill again.
ANSWERS: 1 a (12) · 2 b (fifty) · 3 a (half past seven) · 4 c (at) · 5 b (It is fifty birr.)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Items 1 to 3 test the prepositions, items 4 and 5 test the module vocabulary. Do item 1 together, then leave them to it.
COMMON MISTAKES: Item 5 often comes back as “many”. Explain the difference quickly: HOW MANY for things you can count, HOW MUCH for money.
TIP: Items 1 to 3 are the whole preposition rule in three lines. If a learner gets all three right, they have understood it.
ANSWERS: 1 on · 2 at · 3 in · 4 week · 5 much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Three short matching tasks are better than one long one — learners get three chances to succeed. Let them work in pairs.
TIP: Part 1 is the teen/ty pair in written form. Learners who can do it on paper but not by ear need more listening, not more writing.
ANSWERS: Part 1: 1–b, 2–d, 3–c, 4–a.  ·  Part 2: 1–d, 2–b, 3–a, 4–c.  ·  Part 3: 1–b, 2–a, 3–c.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Item 4 is the hardest and the most useful — it makes learners think about what the time expressions actually mean rather than just translating them.
TIP: For item 4, draw a clock on the board and move the hand as learners call out the order. Seeing it move settles most arguments.
CLASSROOM ACTIVITY: Human clock: four learners hold cards with the four times and arrange themselves in order at the front.
ANSWERS: 1  13, 15, 30, 50  ·  2  Monday, Wednesday, Friday, Sunday  ·  3  January, March, June, September  ·  4  six o'clock, quarter past six, half past six, quarter to seven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Tell learners how many errors are in each sentence before they start. Sentences 1 and 3 have two each.
COMMON MISTAKES: Sentence 5 is the singular/plural agreement. Learners who have just learned “are” for plurals over-apply it.
TIP: Have learners count the errors before correcting. Counting forces careful reading.
ANSWERS: 1 I work on Monday. (preposition + capital) · 2 It is fifty birr. (no -s on birr) · 3 My birthday is in September. (preposition + capital) · 4 The class starts at eight o'clock. (preposition) · 5 How much is this bag? (is, not are — one bag)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The instruction to correct every false statement is what makes this teach rather than just test. Do not accept bare T or F.
TIP: Item 5 catches many learners because 3:45 shows a three. If several get it wrong, redraw the clock and count backwards from four.
ANSWERS: 1 T · 2 F — thirteen is 13 and thirty is 30 · 3 T · 4 F — we say “on Monday” · 5 T · 6 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Every answer will be different. Personal answers are remembered; invented ones are not.
COMMON MISTAKES: Question 1 often comes out as “I have twenty years” by translation. English uses the verb “to be” for age.
TIP: Ask three learners to read their answers aloud. Real classmates' answers are more useful than any model sentence.
ANSWERS: 1 I am ___ years old. · 2 I wake up at ___ o'clock. · 3 I work on ___ and ___. · 4 My birthday is in ___. · 5 It is ___ birr.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Give each pair a listening job: for task 2, the partner writes down the figures they hear and checks them against the slide. That makes the stress difference measurable, not just felt.
TIP: Task 2 is the module in miniature. A learner whose partner writes all five correctly has mastered the key skill.
ANSWERS: SUCCESS CRITERIA: 1 completed in under 20 seconds · 2 partner writes all five figures correctly · 3 all five times in full sentences · 4 three grammatically correct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This is the bridge to the quiz. Let learners work in pairs and expect it to be genuinely hard. Discuss the reasoning, not just the answers.
TIP: Question 2 needs real arithmetic across the half hour. Draw it on a clock if learners stall.
ANSWERS: 1 e.g. “I start work at eight o'clock on Monday and the bus costs ten birr.” 2 It is open for nine and a half hours. 3 Seventy-five birr. 4 “I work on Monday and my birthday is in June.” — capital I, “on” not “in” for the day, capital M on Monday, “in” not “on” for the month, capital J on June, plus a full stop. 5 “Fifteen or fifty?” and “Can you write it, please?”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This is discussion, not writing.
HOW TO TEACH: Take answers orally. Accept Amharic for the reasoning if a learner cannot yet express it in English — the thinking matters more than the language here. Then give them the English phrase for what they said.
TIP: Question 4 asks learners to teach, which is the strongest test of understanding there is. Give it real time.
ANSWERS: 1 Because it changes the amount of money, so the mistake has a real cost — most other errors are still understood from context. 2 “Ethiopian time or English time?” — the same words mean two different moments. 3 Because single digits are short, clear and hard to mishear, while large numbers are easily confused. 4 Any clear explanation is fine; the strongest is that currency stays singular after a number in English, like “fifty birr”, and giving three more examples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Questions 15 and 16 are read aloud by you — say them once each, at natural speed, with natural stress. Question 20 is spoken.
COMMON MISTAKES: Do not let learners mark their own paper before the answer key. Collect the papers or have them swap.
TIP: Pass mark is 16 out of 20. A learner below that should redo Exercises A to F, not repeat the whole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Questions 15 and 16 are read aloud by you — say them once each, at natural speed, with natural stress. Question 20 is spoken.
COMMON MISTAKES: Do not let learners mark their own paper before the answer key. Collect the papers or have them swap.
TIP: Pass mark is 16 out of 20. A learner below that should redo Exercises A to F, not repeat the whole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Questions 15 and 16 are read aloud by you — say them once each, at natural speed, with natural stress. Question 20 is spoken.
COMMON MISTAKES: Do not let learners mark their own paper before the answer key. Collect the papers or have them swap.
TIP: Pass mark is 16 out of 20. A learner below that should redo Exercises A to F, not repeat the whole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Questions 15 and 16 are read aloud by you — say them once each, at natural speed, with natural stress. Question 20 is spoken.
COMMON MISTAKES: Do not let learners mark their own paper before the answer key. Collect the papers or have them swap.
TIP: Pass mark is 16 out of 20. A learner below that should redo Exercises A to F, not repeat the whole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Questions 15 and 16 are read aloud by you — say them once each, at natural speed, with natural stress. Question 20 is spoken.
COMMON MISTAKES: Do not let learners mark their own paper before the answer key. Collect the papers or have them swap.
TIP: Pass mark is 16 out of 20. A learner below that should redo Exercises A to F, not repeat the whole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Say so.
COMMON MISTAKES: Do not simply read the answers and move on. A learner who hears only “b” learns nothing.
TIP: Q3, Q15 and Q16 are the diagnostic ones. If the class failed those, the stress drill needs another lesson before Module 3. Q7, Q10 and Q11 together tell you whether the prepositions have landed.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Say so.
COMMON MISTAKES: Do not simply read the answers and move on. A learner who hears only “b” learns nothing.
TIP: Q3, Q15 and Q16 are the diagnostic ones. If the class failed those, the stress drill needs another lesson before Module 3. Q7, Q10 and Q11 together tell you whether the prepositions have landed.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Say so.
COMMON MISTAKES: Do not simply read the answers and move on. A learner who hears only “b” learns nothing.
TIP: Q3, Q15 and Q16 are the diagnostic ones. If the class failed those, the stress drill needs another lesson before Module 3. Q7, Q10 and Q11 together tell you whether the prepositions have landed.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Say so.
COMMON MISTAKES: Do not simply read the answers and move on. A learner who hears only “b” learns nothing.
TIP: Q3, Q15 and Q16 are the diagnostic ones. If the class failed those, the stress drill needs another lesson before Module 3. Q7, Q10 and Q11 together tell you whether the prepositions have landed.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Say so.
COMMON MISTAKES: Do not simply read the answers and move on. A learner who hears only “b” learns nothing.
TIP: Q3, Q15 and Q16 are the diagnostic ones. If the class failed those, the stress drill needs another lesson before Module 3. Q7, Q10 and Q11 together tell you whether the prepositions have landed.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to set.
HOW TO TEACH: Write the homework on the board as well as on the slide, and say the due date. Beginners forget verbal instructions.
TIP: Friday's task takes the language outside the classroom. Ask about it at the start of the next lesson — learners who know you will ask are far more likely to do it.
CLASSROOM ACTIVITY: Ask learners to send one classmate a time or a price in English each evening by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to set.
HOW TO TEACH: Show your own completed example of task 2 so the standard is visible. Say clearly that task 3 is required — the recording is the main assessment of this module.
COMMON MISTAKES: Learners who cannot record must not be excluded. Offer the live option openly so nobody has to ask.
TIP: Reply to every recording personally, by voice, within two days. Listen specifically for the teen/ty numbers and name one thing they did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HOW TO TEACH: Show this before learners do the homework, not after. Learners who know what is measured produce better work and the marking becomes uncontroversial.
COMMON MISTAKES: Mark only what has been taught in Modules 1 and 2. Marking everything teaches learners that English is impossible.
TIP: Give the mark privately. Never read marks aloud to the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minutes.
HOW TO TEACH: Go back to slide 2, the objectives, and read them again. Ask the same question you asked at the start: 'Can you do this now?' The change in the room is the point of the slide.
TIP: Ask each learner to name the one thing they found hardest. That list is your plan for the first ten minutes of the next lesson.
CLASSROOM ACTIVITY: Quick-fire recap: point at each of the six cards and ask a different learner for one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HOW TO TEACH: Tell learners to copy this slide into the back of their exercise book, or photograph it. This is the reference page for numbers, time and money for the rest of the course.
TIP: Print this as an A4 poster next to the Module 1 poster. You will point at both for the next two months.
CLASSROOM ACTIVITY: Cover each box in turn and ask the class to say what was in it. Recall, not recognition.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HOW TO TEACH: Name the achievement specifically: they can complete a market transaction in English. That is a concrete, checkable, real-world skill, and specific praise is believable in a way that general praise is not.
TIP: Set the challenge out loud: everyone asks one real price in English before the next lesson, and reports back. Then actually ask about it — a challenge nobody follows up on is not a challenge.
CLASSROOM ACTIVITY: Ask each learner to say one number, one time or one price to the person next to them before leaving. Everyone ends the module speaking English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slideLayout" Target="../slideLayouts/slideLayout1.xml"/><Relationship Id="rId9"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slideLayout" Target="../slideLayouts/slideLayout1.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slideLayout" Target="../slideLayouts/slideLayout1.xml"/><Relationship Id="rId7"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image" Target="../media/image-50-3.png"/><Relationship Id="rId4" Type="http://schemas.openxmlformats.org/officeDocument/2006/relationships/image" Target="../media/image-50-4.png"/><Relationship Id="rId5" Type="http://schemas.openxmlformats.org/officeDocument/2006/relationships/image" Target="../media/image-50-5.png"/><Relationship Id="rId6" Type="http://schemas.openxmlformats.org/officeDocument/2006/relationships/slideLayout" Target="../slideLayouts/slideLayout1.xml"/><Relationship Id="rId7"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slideLayout" Target="../slideLayouts/slideLayout1.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slideLayout" Target="../slideLayouts/slideLayout1.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slideLayout" Target="../slideLayouts/slideLayout1.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slideLayout" Target="../slideLayouts/slideLayout1.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slideLayout" Target="../slideLayouts/slideLayout1.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slideLayout" Target="../slideLayouts/slideLayout1.xml"/><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slideLayout" Target="../slideLayouts/slideLayout1.xml"/><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slideLayout" Target="../slideLayouts/slideLayout1.xml"/><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slideLayout" Target="../slideLayouts/slideLayout1.xml"/><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slideLayout" Target="../slideLayouts/slideLayout1.xml"/><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slideLayout" Target="../slideLayouts/slideLayout1.xml"/><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image" Target="../media/image-73-2.png"/><Relationship Id="rId3" Type="http://schemas.openxmlformats.org/officeDocument/2006/relationships/image" Target="../media/image-73-3.png"/><Relationship Id="rId4" Type="http://schemas.openxmlformats.org/officeDocument/2006/relationships/image" Target="../media/image-73-4.png"/><Relationship Id="rId5" Type="http://schemas.openxmlformats.org/officeDocument/2006/relationships/image" Target="../media/image-73-5.png"/><Relationship Id="rId6" Type="http://schemas.openxmlformats.org/officeDocument/2006/relationships/slideLayout" Target="../slideLayouts/slideLayout1.xml"/><Relationship Id="rId7"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image" Target="../media/image-74-2.png"/><Relationship Id="rId3" Type="http://schemas.openxmlformats.org/officeDocument/2006/relationships/image" Target="../media/image-74-3.png"/><Relationship Id="rId4" Type="http://schemas.openxmlformats.org/officeDocument/2006/relationships/image" Target="../media/image-74-4.png"/><Relationship Id="rId5" Type="http://schemas.openxmlformats.org/officeDocument/2006/relationships/image" Target="../media/image-74-5.png"/><Relationship Id="rId6" Type="http://schemas.openxmlformats.org/officeDocument/2006/relationships/image" Target="../media/image-74-6.png"/><Relationship Id="rId7" Type="http://schemas.openxmlformats.org/officeDocument/2006/relationships/image" Target="../media/image-74-7.png"/><Relationship Id="rId8" Type="http://schemas.openxmlformats.org/officeDocument/2006/relationships/slideLayout" Target="../slideLayouts/slideLayout1.xml"/><Relationship Id="rId9"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image" Target="../media/image-75-2.png"/><Relationship Id="rId3" Type="http://schemas.openxmlformats.org/officeDocument/2006/relationships/image" Target="../media/image-75-3.png"/><Relationship Id="rId4" Type="http://schemas.openxmlformats.org/officeDocument/2006/relationships/image" Target="../media/image-75-4.png"/><Relationship Id="rId5" Type="http://schemas.openxmlformats.org/officeDocument/2006/relationships/image" Target="../media/image-75-5.png"/><Relationship Id="rId6" Type="http://schemas.openxmlformats.org/officeDocument/2006/relationships/slideLayout" Target="../slideLayouts/slideLayout1.xml"/><Relationship Id="rId7"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31C"/>
        </a:solidFill>
      </p:bgPr>
    </p:bg>
    <p:spTree>
      <p:nvGrpSpPr>
        <p:cNvPr id="1" name=""/>
        <p:cNvGrpSpPr/>
        <p:nvPr/>
      </p:nvGrpSpPr>
      <p:grpSpPr>
        <a:xfrm>
          <a:off x="0" y="0"/>
          <a:ext cx="0" cy="0"/>
          <a:chOff x="0" y="0"/>
          <a:chExt cx="0" cy="0"/>
        </a:xfrm>
      </p:grpSpPr>
      <p:sp>
        <p:nvSpPr>
          <p:cNvPr id="2" name="Shape 0"/>
          <p:cNvSpPr/>
          <p:nvPr/>
        </p:nvSpPr>
        <p:spPr>
          <a:xfrm>
            <a:off x="0" y="0"/>
            <a:ext cx="4663440" cy="6858000"/>
          </a:xfrm>
          <a:prstGeom prst="roundRect">
            <a:avLst/>
          </a:prstGeom>
          <a:solidFill>
            <a:srgbClr val="0E7C5A"/>
          </a:solidFill>
          <a:ln/>
        </p:spPr>
      </p:sp>
      <p:sp>
        <p:nvSpPr>
          <p:cNvPr id="3" name="Text 1"/>
          <p:cNvSpPr txBox="1"/>
          <p:nvPr/>
        </p:nvSpPr>
        <p:spPr>
          <a:xfrm>
            <a:off x="685800" y="1371600"/>
            <a:ext cx="3474720" cy="274320"/>
          </a:xfrm>
          <a:prstGeom prst="rect">
            <a:avLst/>
          </a:prstGeom>
          <a:noFill/>
          <a:ln/>
        </p:spPr>
        <p:txBody>
          <a:bodyPr wrap="square" lIns="0" tIns="0" rIns="0" bIns="0" rtlCol="0" anchor="ctr"/>
          <a:lstStyle/>
          <a:p>
            <a:pPr indent="0" marL="0">
              <a:buNone/>
            </a:pPr>
            <a:r>
              <a:rPr lang="en-US" sz="1300" b="1" spc="240" kern="0" dirty="0">
                <a:solidFill>
                  <a:srgbClr val="BFE6D5"/>
                </a:solidFill>
                <a:latin typeface="Calibri" pitchFamily="34" charset="0"/>
                <a:ea typeface="Calibri" pitchFamily="34" charset="-122"/>
                <a:cs typeface="Calibri" pitchFamily="34" charset="-120"/>
              </a:rPr>
              <a:t>LEVEL 1</a:t>
            </a:r>
            <a:endParaRPr lang="en-US" sz="1300" dirty="0"/>
          </a:p>
        </p:txBody>
      </p:sp>
      <p:sp>
        <p:nvSpPr>
          <p:cNvPr id="4" name="Text 2"/>
          <p:cNvSpPr txBox="1"/>
          <p:nvPr/>
        </p:nvSpPr>
        <p:spPr>
          <a:xfrm>
            <a:off x="685800" y="1664208"/>
            <a:ext cx="3474720" cy="2286000"/>
          </a:xfrm>
          <a:prstGeom prst="rect">
            <a:avLst/>
          </a:prstGeom>
          <a:noFill/>
          <a:ln/>
        </p:spPr>
        <p:txBody>
          <a:bodyPr wrap="square" lIns="0" tIns="0" rIns="0" bIns="0" rtlCol="0" anchor="ctr"/>
          <a:lstStyle/>
          <a:p>
            <a:pPr indent="0" marL="0">
              <a:buNone/>
            </a:pPr>
            <a:r>
              <a:rPr lang="en-US" sz="12800" b="1" dirty="0">
                <a:solidFill>
                  <a:srgbClr val="FFFFFF"/>
                </a:solidFill>
                <a:latin typeface="Calibri" pitchFamily="34" charset="0"/>
                <a:ea typeface="Calibri" pitchFamily="34" charset="-122"/>
                <a:cs typeface="Calibri" pitchFamily="34" charset="-120"/>
              </a:rPr>
              <a:t>1</a:t>
            </a:r>
            <a:endParaRPr lang="en-US" sz="12800" dirty="0"/>
          </a:p>
        </p:txBody>
      </p:sp>
      <p:sp>
        <p:nvSpPr>
          <p:cNvPr id="5" name="Text 3"/>
          <p:cNvSpPr txBox="1"/>
          <p:nvPr/>
        </p:nvSpPr>
        <p:spPr>
          <a:xfrm>
            <a:off x="685800" y="3794760"/>
            <a:ext cx="3474720" cy="822960"/>
          </a:xfrm>
          <a:prstGeom prst="rect">
            <a:avLst/>
          </a:prstGeom>
          <a:noFill/>
          <a:ln/>
        </p:spPr>
        <p:txBody>
          <a:bodyPr wrap="square" lIns="0" tIns="0" rIns="0" bIns="0" rtlCol="0" anchor="ctr"/>
          <a:lstStyle/>
          <a:p>
            <a:pPr indent="0" marL="0">
              <a:lnSpc>
                <a:spcPct val="100000"/>
              </a:lnSpc>
              <a:buNone/>
            </a:pPr>
            <a:r>
              <a:rPr lang="en-US" sz="2600" b="1" dirty="0">
                <a:solidFill>
                  <a:srgbClr val="FFFFFF"/>
                </a:solidFill>
                <a:latin typeface="Calibri" pitchFamily="34" charset="0"/>
                <a:ea typeface="Calibri" pitchFamily="34" charset="-122"/>
                <a:cs typeface="Calibri" pitchFamily="34" charset="-120"/>
              </a:rPr>
              <a:t>Beginner</a:t>
            </a:r>
            <a:endParaRPr lang="en-US" sz="2600" dirty="0"/>
          </a:p>
          <a:p>
            <a:pPr indent="0" marL="0">
              <a:lnSpc>
                <a:spcPct val="100000"/>
              </a:lnSpc>
              <a:buNone/>
            </a:pPr>
            <a:r>
              <a:rPr lang="en-US" sz="2600" b="1" dirty="0">
                <a:solidFill>
                  <a:srgbClr val="FFFFFF"/>
                </a:solidFill>
                <a:latin typeface="Calibri" pitchFamily="34" charset="0"/>
                <a:ea typeface="Calibri" pitchFamily="34" charset="-122"/>
                <a:cs typeface="Calibri" pitchFamily="34" charset="-120"/>
              </a:rPr>
              <a:t>English</a:t>
            </a:r>
            <a:endParaRPr lang="en-US" sz="2600" dirty="0"/>
          </a:p>
        </p:txBody>
      </p:sp>
      <p:sp>
        <p:nvSpPr>
          <p:cNvPr id="6" name="Text 4"/>
          <p:cNvSpPr txBox="1"/>
          <p:nvPr/>
        </p:nvSpPr>
        <p:spPr>
          <a:xfrm>
            <a:off x="685800" y="4709160"/>
            <a:ext cx="3474720" cy="310896"/>
          </a:xfrm>
          <a:prstGeom prst="rect">
            <a:avLst/>
          </a:prstGeom>
          <a:noFill/>
          <a:ln/>
        </p:spPr>
        <p:txBody>
          <a:bodyPr wrap="square" lIns="0" tIns="0" rIns="0" bIns="0" rtlCol="0" anchor="ctr"/>
          <a:lstStyle/>
          <a:p>
            <a:pPr indent="0" marL="0">
              <a:buNone/>
            </a:pPr>
            <a:r>
              <a:rPr lang="en-US" sz="1500" dirty="0">
                <a:solidFill>
                  <a:srgbClr val="BFE6D5"/>
                </a:solidFill>
                <a:latin typeface="Calibri" pitchFamily="34" charset="0"/>
                <a:ea typeface="Calibri" pitchFamily="34" charset="-122"/>
                <a:cs typeface="Calibri" pitchFamily="34" charset="-120"/>
              </a:rPr>
              <a:t>CEFR Pre-A1 → A1</a:t>
            </a:r>
            <a:endParaRPr lang="en-US" sz="1500" dirty="0"/>
          </a:p>
        </p:txBody>
      </p:sp>
      <p:sp>
        <p:nvSpPr>
          <p:cNvPr id="7" name="Text 5"/>
          <p:cNvSpPr txBox="1"/>
          <p:nvPr/>
        </p:nvSpPr>
        <p:spPr>
          <a:xfrm>
            <a:off x="5349240" y="1417320"/>
            <a:ext cx="6309360" cy="274320"/>
          </a:xfrm>
          <a:prstGeom prst="rect">
            <a:avLst/>
          </a:prstGeom>
          <a:noFill/>
          <a:ln/>
        </p:spPr>
        <p:txBody>
          <a:bodyPr wrap="square" lIns="0" tIns="0" rIns="0" bIns="0" rtlCol="0" anchor="ctr"/>
          <a:lstStyle/>
          <a:p>
            <a:pPr indent="0" marL="0">
              <a:buNone/>
            </a:pPr>
            <a:r>
              <a:rPr lang="en-US" sz="1300" b="1" spc="220" kern="0" dirty="0">
                <a:solidFill>
                  <a:srgbClr val="F2A93B"/>
                </a:solidFill>
                <a:latin typeface="Calibri" pitchFamily="34" charset="0"/>
                <a:ea typeface="Calibri" pitchFamily="34" charset="-122"/>
                <a:cs typeface="Calibri" pitchFamily="34" charset="-120"/>
              </a:rPr>
              <a:t>MODULE 2 OF 6</a:t>
            </a:r>
            <a:endParaRPr lang="en-US" sz="1300" dirty="0"/>
          </a:p>
        </p:txBody>
      </p:sp>
      <p:sp>
        <p:nvSpPr>
          <p:cNvPr id="8" name="Text 6"/>
          <p:cNvSpPr txBox="1"/>
          <p:nvPr/>
        </p:nvSpPr>
        <p:spPr>
          <a:xfrm>
            <a:off x="5349240" y="1783080"/>
            <a:ext cx="6309360" cy="1371600"/>
          </a:xfrm>
          <a:prstGeom prst="rect">
            <a:avLst/>
          </a:prstGeom>
          <a:noFill/>
          <a:ln/>
        </p:spPr>
        <p:txBody>
          <a:bodyPr wrap="square" lIns="0" tIns="0" rIns="0" bIns="0" rtlCol="0" anchor="ctr"/>
          <a:lstStyle/>
          <a:p>
            <a:pPr indent="0" marL="0">
              <a:lnSpc>
                <a:spcPct val="102000"/>
              </a:lnSpc>
              <a:buNone/>
            </a:pPr>
            <a:r>
              <a:rPr lang="en-US" sz="4600" b="1" dirty="0">
                <a:solidFill>
                  <a:srgbClr val="FFFFFF"/>
                </a:solidFill>
                <a:latin typeface="Calibri" pitchFamily="34" charset="0"/>
                <a:ea typeface="Calibri" pitchFamily="34" charset="-122"/>
                <a:cs typeface="Calibri" pitchFamily="34" charset="-120"/>
              </a:rPr>
              <a:t>Numbers, Time &amp; Money</a:t>
            </a:r>
            <a:endParaRPr lang="en-US" sz="4600" dirty="0"/>
          </a:p>
        </p:txBody>
      </p:sp>
      <p:sp>
        <p:nvSpPr>
          <p:cNvPr id="9" name="Text 7"/>
          <p:cNvSpPr txBox="1"/>
          <p:nvPr/>
        </p:nvSpPr>
        <p:spPr>
          <a:xfrm>
            <a:off x="5349240" y="3246120"/>
            <a:ext cx="6309360" cy="731520"/>
          </a:xfrm>
          <a:prstGeom prst="rect">
            <a:avLst/>
          </a:prstGeom>
          <a:noFill/>
          <a:ln/>
        </p:spPr>
        <p:txBody>
          <a:bodyPr wrap="square" lIns="0" tIns="0" rIns="0" bIns="0" rtlCol="0" anchor="ctr"/>
          <a:lstStyle/>
          <a:p>
            <a:pPr indent="0" marL="0">
              <a:lnSpc>
                <a:spcPct val="115000"/>
              </a:lnSpc>
              <a:buNone/>
            </a:pPr>
            <a:r>
              <a:rPr lang="en-US" sz="1450" dirty="0">
                <a:solidFill>
                  <a:srgbClr val="B9CFC1"/>
                </a:solidFill>
                <a:latin typeface="Calibri" pitchFamily="34" charset="0"/>
                <a:ea typeface="Calibri" pitchFamily="34" charset="-122"/>
                <a:cs typeface="Calibri" pitchFamily="34" charset="-120"/>
              </a:rPr>
              <a:t>Count to 100, tell the time, say a price in birr and give your phone number. The English you will use today, in a shop or on a bus.</a:t>
            </a:r>
            <a:endParaRPr lang="en-US" sz="1450" dirty="0"/>
          </a:p>
        </p:txBody>
      </p:sp>
      <p:sp>
        <p:nvSpPr>
          <p:cNvPr id="10" name="Shape 8"/>
          <p:cNvSpPr/>
          <p:nvPr/>
        </p:nvSpPr>
        <p:spPr>
          <a:xfrm>
            <a:off x="5349240" y="4206240"/>
            <a:ext cx="1956816" cy="841248"/>
          </a:xfrm>
          <a:prstGeom prst="roundRect">
            <a:avLst>
              <a:gd name="adj" fmla="val 15217"/>
            </a:avLst>
          </a:prstGeom>
          <a:solidFill>
            <a:srgbClr val="1C4E39"/>
          </a:solidFill>
          <a:ln w="12700">
            <a:solidFill>
              <a:srgbClr val="2A6249"/>
            </a:solidFill>
            <a:prstDash val="solid"/>
          </a:ln>
        </p:spPr>
      </p:sp>
      <p:sp>
        <p:nvSpPr>
          <p:cNvPr id="11" name="Text 9"/>
          <p:cNvSpPr txBox="1"/>
          <p:nvPr/>
        </p:nvSpPr>
        <p:spPr>
          <a:xfrm>
            <a:off x="5513832" y="4315968"/>
            <a:ext cx="1627632" cy="329184"/>
          </a:xfrm>
          <a:prstGeom prst="rect">
            <a:avLst/>
          </a:prstGeom>
          <a:noFill/>
          <a:ln/>
        </p:spPr>
        <p:txBody>
          <a:bodyPr wrap="square" lIns="0" tIns="0" rIns="0" bIns="0" rtlCol="0" anchor="ctr"/>
          <a:lstStyle/>
          <a:p>
            <a:pPr indent="0" marL="0">
              <a:buNone/>
            </a:pPr>
            <a:r>
              <a:rPr lang="en-US" sz="2100" b="1" dirty="0">
                <a:solidFill>
                  <a:srgbClr val="F2A93B"/>
                </a:solidFill>
                <a:latin typeface="Calibri" pitchFamily="34" charset="0"/>
                <a:ea typeface="Calibri" pitchFamily="34" charset="-122"/>
                <a:cs typeface="Calibri" pitchFamily="34" charset="-120"/>
              </a:rPr>
              <a:t>76</a:t>
            </a:r>
            <a:endParaRPr lang="en-US" sz="2100" dirty="0"/>
          </a:p>
        </p:txBody>
      </p:sp>
      <p:sp>
        <p:nvSpPr>
          <p:cNvPr id="12" name="Text 10"/>
          <p:cNvSpPr txBox="1"/>
          <p:nvPr/>
        </p:nvSpPr>
        <p:spPr>
          <a:xfrm>
            <a:off x="5513832" y="4663440"/>
            <a:ext cx="1627632" cy="274320"/>
          </a:xfrm>
          <a:prstGeom prst="rect">
            <a:avLst/>
          </a:prstGeom>
          <a:noFill/>
          <a:ln/>
        </p:spPr>
        <p:txBody>
          <a:bodyPr wrap="square" lIns="0" tIns="0" rIns="0" bIns="0" rtlCol="0" anchor="ctr"/>
          <a:lstStyle/>
          <a:p>
            <a:pPr indent="0" marL="0">
              <a:buNone/>
            </a:pPr>
            <a:r>
              <a:rPr lang="en-US" sz="1100" dirty="0">
                <a:solidFill>
                  <a:srgbClr val="9DB3A6"/>
                </a:solidFill>
                <a:latin typeface="Calibri" pitchFamily="34" charset="0"/>
                <a:ea typeface="Calibri" pitchFamily="34" charset="-122"/>
                <a:cs typeface="Calibri" pitchFamily="34" charset="-120"/>
              </a:rPr>
              <a:t>SLIDES</a:t>
            </a:r>
            <a:endParaRPr lang="en-US" sz="1100" dirty="0"/>
          </a:p>
        </p:txBody>
      </p:sp>
      <p:sp>
        <p:nvSpPr>
          <p:cNvPr id="13" name="Shape 11"/>
          <p:cNvSpPr/>
          <p:nvPr/>
        </p:nvSpPr>
        <p:spPr>
          <a:xfrm>
            <a:off x="7525512" y="4206240"/>
            <a:ext cx="1956816" cy="841248"/>
          </a:xfrm>
          <a:prstGeom prst="roundRect">
            <a:avLst>
              <a:gd name="adj" fmla="val 15217"/>
            </a:avLst>
          </a:prstGeom>
          <a:solidFill>
            <a:srgbClr val="1C4E39"/>
          </a:solidFill>
          <a:ln w="12700">
            <a:solidFill>
              <a:srgbClr val="2A6249"/>
            </a:solidFill>
            <a:prstDash val="solid"/>
          </a:ln>
        </p:spPr>
      </p:sp>
      <p:sp>
        <p:nvSpPr>
          <p:cNvPr id="14" name="Text 12"/>
          <p:cNvSpPr txBox="1"/>
          <p:nvPr/>
        </p:nvSpPr>
        <p:spPr>
          <a:xfrm>
            <a:off x="7690104" y="4315968"/>
            <a:ext cx="1627632" cy="329184"/>
          </a:xfrm>
          <a:prstGeom prst="rect">
            <a:avLst/>
          </a:prstGeom>
          <a:noFill/>
          <a:ln/>
        </p:spPr>
        <p:txBody>
          <a:bodyPr wrap="square" lIns="0" tIns="0" rIns="0" bIns="0" rtlCol="0" anchor="ctr"/>
          <a:lstStyle/>
          <a:p>
            <a:pPr indent="0" marL="0">
              <a:buNone/>
            </a:pPr>
            <a:r>
              <a:rPr lang="en-US" sz="2100" b="1" dirty="0">
                <a:solidFill>
                  <a:srgbClr val="F2A93B"/>
                </a:solidFill>
                <a:latin typeface="Calibri" pitchFamily="34" charset="0"/>
                <a:ea typeface="Calibri" pitchFamily="34" charset="-122"/>
                <a:cs typeface="Calibri" pitchFamily="34" charset="-120"/>
              </a:rPr>
              <a:t>4 × 60</a:t>
            </a:r>
            <a:endParaRPr lang="en-US" sz="2100" dirty="0"/>
          </a:p>
        </p:txBody>
      </p:sp>
      <p:sp>
        <p:nvSpPr>
          <p:cNvPr id="15" name="Text 13"/>
          <p:cNvSpPr txBox="1"/>
          <p:nvPr/>
        </p:nvSpPr>
        <p:spPr>
          <a:xfrm>
            <a:off x="7690104" y="4663440"/>
            <a:ext cx="1627632" cy="274320"/>
          </a:xfrm>
          <a:prstGeom prst="rect">
            <a:avLst/>
          </a:prstGeom>
          <a:noFill/>
          <a:ln/>
        </p:spPr>
        <p:txBody>
          <a:bodyPr wrap="square" lIns="0" tIns="0" rIns="0" bIns="0" rtlCol="0" anchor="ctr"/>
          <a:lstStyle/>
          <a:p>
            <a:pPr indent="0" marL="0">
              <a:buNone/>
            </a:pPr>
            <a:r>
              <a:rPr lang="en-US" sz="1100" dirty="0">
                <a:solidFill>
                  <a:srgbClr val="9DB3A6"/>
                </a:solidFill>
                <a:latin typeface="Calibri" pitchFamily="34" charset="0"/>
                <a:ea typeface="Calibri" pitchFamily="34" charset="-122"/>
                <a:cs typeface="Calibri" pitchFamily="34" charset="-120"/>
              </a:rPr>
              <a:t>MINUTES</a:t>
            </a:r>
            <a:endParaRPr lang="en-US" sz="1100" dirty="0"/>
          </a:p>
        </p:txBody>
      </p:sp>
      <p:sp>
        <p:nvSpPr>
          <p:cNvPr id="16" name="Shape 14"/>
          <p:cNvSpPr/>
          <p:nvPr/>
        </p:nvSpPr>
        <p:spPr>
          <a:xfrm>
            <a:off x="9701784" y="4206240"/>
            <a:ext cx="1956816" cy="841248"/>
          </a:xfrm>
          <a:prstGeom prst="roundRect">
            <a:avLst>
              <a:gd name="adj" fmla="val 15217"/>
            </a:avLst>
          </a:prstGeom>
          <a:solidFill>
            <a:srgbClr val="1C4E39"/>
          </a:solidFill>
          <a:ln w="12700">
            <a:solidFill>
              <a:srgbClr val="2A6249"/>
            </a:solidFill>
            <a:prstDash val="solid"/>
          </a:ln>
        </p:spPr>
      </p:sp>
      <p:sp>
        <p:nvSpPr>
          <p:cNvPr id="17" name="Text 15"/>
          <p:cNvSpPr txBox="1"/>
          <p:nvPr/>
        </p:nvSpPr>
        <p:spPr>
          <a:xfrm>
            <a:off x="9866376" y="4315968"/>
            <a:ext cx="1627632" cy="329184"/>
          </a:xfrm>
          <a:prstGeom prst="rect">
            <a:avLst/>
          </a:prstGeom>
          <a:noFill/>
          <a:ln/>
        </p:spPr>
        <p:txBody>
          <a:bodyPr wrap="square" lIns="0" tIns="0" rIns="0" bIns="0" rtlCol="0" anchor="ctr"/>
          <a:lstStyle/>
          <a:p>
            <a:pPr indent="0" marL="0">
              <a:buNone/>
            </a:pPr>
            <a:r>
              <a:rPr lang="en-US" sz="2100" b="1" dirty="0">
                <a:solidFill>
                  <a:srgbClr val="F2A93B"/>
                </a:solidFill>
                <a:latin typeface="Calibri" pitchFamily="34" charset="0"/>
                <a:ea typeface="Calibri" pitchFamily="34" charset="-122"/>
                <a:cs typeface="Calibri" pitchFamily="34" charset="-120"/>
              </a:rPr>
              <a:t>5</a:t>
            </a:r>
            <a:endParaRPr lang="en-US" sz="2100" dirty="0"/>
          </a:p>
        </p:txBody>
      </p:sp>
      <p:sp>
        <p:nvSpPr>
          <p:cNvPr id="18" name="Text 16"/>
          <p:cNvSpPr txBox="1"/>
          <p:nvPr/>
        </p:nvSpPr>
        <p:spPr>
          <a:xfrm>
            <a:off x="9866376" y="4663440"/>
            <a:ext cx="1627632" cy="274320"/>
          </a:xfrm>
          <a:prstGeom prst="rect">
            <a:avLst/>
          </a:prstGeom>
          <a:noFill/>
          <a:ln/>
        </p:spPr>
        <p:txBody>
          <a:bodyPr wrap="square" lIns="0" tIns="0" rIns="0" bIns="0" rtlCol="0" anchor="ctr"/>
          <a:lstStyle/>
          <a:p>
            <a:pPr indent="0" marL="0">
              <a:buNone/>
            </a:pPr>
            <a:r>
              <a:rPr lang="en-US" sz="1100" dirty="0">
                <a:solidFill>
                  <a:srgbClr val="9DB3A6"/>
                </a:solidFill>
                <a:latin typeface="Calibri" pitchFamily="34" charset="0"/>
                <a:ea typeface="Calibri" pitchFamily="34" charset="-122"/>
                <a:cs typeface="Calibri" pitchFamily="34" charset="-120"/>
              </a:rPr>
              <a:t>NEW WORDS</a:t>
            </a:r>
            <a:endParaRPr lang="en-US" sz="1100" dirty="0"/>
          </a:p>
        </p:txBody>
      </p:sp>
      <p:sp>
        <p:nvSpPr>
          <p:cNvPr id="19" name="Text 17"/>
          <p:cNvSpPr txBox="1"/>
          <p:nvPr/>
        </p:nvSpPr>
        <p:spPr>
          <a:xfrm>
            <a:off x="5349240" y="5349240"/>
            <a:ext cx="6309360" cy="365760"/>
          </a:xfrm>
          <a:prstGeom prst="rect">
            <a:avLst/>
          </a:prstGeom>
          <a:noFill/>
          <a:ln/>
        </p:spPr>
        <p:txBody>
          <a:bodyPr wrap="square" lIns="0" tIns="0" rIns="0" bIns="0" rtlCol="0" anchor="ctr"/>
          <a:lstStyle/>
          <a:p>
            <a:pPr indent="0" marL="0">
              <a:buNone/>
            </a:pPr>
            <a:r>
              <a:rPr lang="en-US" sz="1200" dirty="0">
                <a:solidFill>
                  <a:srgbClr val="7C9488"/>
                </a:solidFill>
                <a:latin typeface="Calibri" pitchFamily="34" charset="0"/>
                <a:ea typeface="Calibri" pitchFamily="34" charset="-122"/>
                <a:cs typeface="Calibri" pitchFamily="34" charset="-120"/>
              </a:rPr>
              <a:t>Teacher: ____________________   Class: ____________   Date: ____________</a:t>
            </a:r>
            <a:endParaRPr lang="en-US" sz="1200" dirty="0"/>
          </a:p>
        </p:txBody>
      </p:sp>
      <p:sp>
        <p:nvSpPr>
          <p:cNvPr id="20" name="Text 18"/>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7C9488"/>
                </a:solidFill>
                <a:latin typeface="Calibri" pitchFamily="34" charset="0"/>
                <a:ea typeface="Calibri" pitchFamily="34" charset="-122"/>
                <a:cs typeface="Calibri" pitchFamily="34" charset="-120"/>
              </a:rPr>
              <a:t>Level 1 · Beginner English · Module 2 — Numbers, Time &amp; Money</a:t>
            </a:r>
            <a:endParaRPr lang="en-US" sz="1000" dirty="0"/>
          </a:p>
        </p:txBody>
      </p:sp>
      <p:sp>
        <p:nvSpPr>
          <p:cNvPr id="21" name="Text 19"/>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F2A93B"/>
                </a:solidFill>
                <a:latin typeface="Calibri" pitchFamily="34" charset="0"/>
                <a:ea typeface="Calibri" pitchFamily="34" charset="-122"/>
                <a:cs typeface="Calibri" pitchFamily="34" charset="-120"/>
              </a:rPr>
              <a:t>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LEARNING OBJECTIVES</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What you will be able to do</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Five things you will use outside this classroom today.</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2 — Numbers, Time &amp; Money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29968"/>
            <a:ext cx="402336" cy="402336"/>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82945" y="2126529"/>
            <a:ext cx="209215" cy="209215"/>
          </a:xfrm>
          <a:prstGeom prst="rect">
            <a:avLst/>
          </a:prstGeom>
        </p:spPr>
      </p:pic>
      <p:sp>
        <p:nvSpPr>
          <p:cNvPr id="14" name="Text 9"/>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Count from 1 to 100 in English</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And hear the difference between 13 and 30 — the mistake that costs money.</a:t>
            </a:r>
            <a:endParaRPr lang="en-US" sz="1580" dirty="0"/>
          </a:p>
        </p:txBody>
      </p:sp>
      <p:sp>
        <p:nvSpPr>
          <p:cNvPr id="15" name="Shape 10"/>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1"/>
          <p:cNvSpPr/>
          <p:nvPr/>
        </p:nvSpPr>
        <p:spPr>
          <a:xfrm>
            <a:off x="786384" y="2871216"/>
            <a:ext cx="402336" cy="402336"/>
          </a:xfrm>
          <a:prstGeom prst="ellipse">
            <a:avLst/>
          </a:prstGeom>
          <a:solidFill>
            <a:srgbClr val="0E7C5A"/>
          </a:solidFill>
          <a:ln/>
        </p:spPr>
      </p:sp>
      <p:pic>
        <p:nvPicPr>
          <p:cNvPr id="17" name="Image 2" descr="preencoded.png">    </p:cNvPr>
          <p:cNvPicPr>
            <a:picLocks noChangeAspect="1"/>
          </p:cNvPicPr>
          <p:nvPr/>
        </p:nvPicPr>
        <p:blipFill>
          <a:blip r:embed="rId3"/>
          <a:stretch>
            <a:fillRect/>
          </a:stretch>
        </p:blipFill>
        <p:spPr>
          <a:xfrm>
            <a:off x="882945" y="2967777"/>
            <a:ext cx="209215" cy="209215"/>
          </a:xfrm>
          <a:prstGeom prst="rect">
            <a:avLst/>
          </a:prstGeom>
        </p:spPr>
      </p:pic>
      <p:sp>
        <p:nvSpPr>
          <p:cNvPr id="18" name="Text 12"/>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Say the days of the week and the months of the year</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The twelve English months, and how they relate to the Ethiopian calendar.</a:t>
            </a:r>
            <a:endParaRPr lang="en-US" sz="1580" dirty="0"/>
          </a:p>
        </p:txBody>
      </p:sp>
      <p:sp>
        <p:nvSpPr>
          <p:cNvPr id="19" name="Shape 13"/>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4"/>
          <p:cNvSpPr/>
          <p:nvPr/>
        </p:nvSpPr>
        <p:spPr>
          <a:xfrm>
            <a:off x="786384" y="3712464"/>
            <a:ext cx="402336" cy="402336"/>
          </a:xfrm>
          <a:prstGeom prst="ellipse">
            <a:avLst/>
          </a:prstGeom>
          <a:solidFill>
            <a:srgbClr val="0E7C5A"/>
          </a:solidFill>
          <a:ln/>
        </p:spPr>
      </p:sp>
      <p:pic>
        <p:nvPicPr>
          <p:cNvPr id="21" name="Image 3" descr="preencoded.png">    </p:cNvPr>
          <p:cNvPicPr>
            <a:picLocks noChangeAspect="1"/>
          </p:cNvPicPr>
          <p:nvPr/>
        </p:nvPicPr>
        <p:blipFill>
          <a:blip r:embed="rId4"/>
          <a:stretch>
            <a:fillRect/>
          </a:stretch>
        </p:blipFill>
        <p:spPr>
          <a:xfrm>
            <a:off x="882945" y="3809025"/>
            <a:ext cx="209215" cy="209215"/>
          </a:xfrm>
          <a:prstGeom prst="rect">
            <a:avLst/>
          </a:prstGeom>
        </p:spPr>
      </p:pic>
      <p:sp>
        <p:nvSpPr>
          <p:cNvPr id="22" name="Text 15"/>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Tell the time</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“It is half past eight.” — and know when someone means Ethiopian time.</a:t>
            </a:r>
            <a:endParaRPr lang="en-US" sz="1580" dirty="0"/>
          </a:p>
        </p:txBody>
      </p:sp>
      <p:sp>
        <p:nvSpPr>
          <p:cNvPr id="23" name="Shape 16"/>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17"/>
          <p:cNvSpPr/>
          <p:nvPr/>
        </p:nvSpPr>
        <p:spPr>
          <a:xfrm>
            <a:off x="786384" y="4553712"/>
            <a:ext cx="402336" cy="402336"/>
          </a:xfrm>
          <a:prstGeom prst="ellipse">
            <a:avLst/>
          </a:prstGeom>
          <a:solidFill>
            <a:srgbClr val="0E7C5A"/>
          </a:solidFill>
          <a:ln/>
        </p:spPr>
      </p:sp>
      <p:pic>
        <p:nvPicPr>
          <p:cNvPr id="25" name="Image 4" descr="preencoded.png">    </p:cNvPr>
          <p:cNvPicPr>
            <a:picLocks noChangeAspect="1"/>
          </p:cNvPicPr>
          <p:nvPr/>
        </p:nvPicPr>
        <p:blipFill>
          <a:blip r:embed="rId5"/>
          <a:stretch>
            <a:fillRect/>
          </a:stretch>
        </p:blipFill>
        <p:spPr>
          <a:xfrm>
            <a:off x="882945" y="4650273"/>
            <a:ext cx="209215" cy="209215"/>
          </a:xfrm>
          <a:prstGeom prst="rect">
            <a:avLst/>
          </a:prstGeom>
        </p:spPr>
      </p:pic>
      <p:sp>
        <p:nvSpPr>
          <p:cNvPr id="26" name="Text 18"/>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Ask and say a price in birr</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“How much is it?”  “It is forty birr.”</a:t>
            </a:r>
            <a:endParaRPr lang="en-US" sz="1580" dirty="0"/>
          </a:p>
        </p:txBody>
      </p:sp>
      <p:sp>
        <p:nvSpPr>
          <p:cNvPr id="27" name="Shape 19"/>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0"/>
          <p:cNvSpPr/>
          <p:nvPr/>
        </p:nvSpPr>
        <p:spPr>
          <a:xfrm>
            <a:off x="786384" y="5394960"/>
            <a:ext cx="402336" cy="402336"/>
          </a:xfrm>
          <a:prstGeom prst="ellipse">
            <a:avLst/>
          </a:prstGeom>
          <a:solidFill>
            <a:srgbClr val="0E7C5A"/>
          </a:solidFill>
          <a:ln/>
        </p:spPr>
      </p:sp>
      <p:pic>
        <p:nvPicPr>
          <p:cNvPr id="29" name="Image 5" descr="preencoded.png">    </p:cNvPr>
          <p:cNvPicPr>
            <a:picLocks noChangeAspect="1"/>
          </p:cNvPicPr>
          <p:nvPr/>
        </p:nvPicPr>
        <p:blipFill>
          <a:blip r:embed="rId6"/>
          <a:stretch>
            <a:fillRect/>
          </a:stretch>
        </p:blipFill>
        <p:spPr>
          <a:xfrm>
            <a:off x="882945" y="5491521"/>
            <a:ext cx="209215" cy="209215"/>
          </a:xfrm>
          <a:prstGeom prst="rect">
            <a:avLst/>
          </a:prstGeom>
        </p:spPr>
      </p:pic>
      <p:sp>
        <p:nvSpPr>
          <p:cNvPr id="30" name="Text 21"/>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Give your phone number in English</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Digit by digit, the way English speakers say it.</a:t>
            </a:r>
            <a:endParaRPr lang="en-US" sz="15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F2A93B"/>
          </a:solidFill>
          <a:ln/>
        </p:spPr>
      </p:sp>
      <p:sp>
        <p:nvSpPr>
          <p:cNvPr id="3" name="Shape 1"/>
          <p:cNvSpPr/>
          <p:nvPr/>
        </p:nvSpPr>
        <p:spPr>
          <a:xfrm>
            <a:off x="649224" y="539496"/>
            <a:ext cx="219456" cy="219456"/>
          </a:xfrm>
          <a:prstGeom prst="ellipse">
            <a:avLst/>
          </a:prstGeom>
          <a:solidFill>
            <a:srgbClr val="F2A93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WARM-UP</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Warm-up: numbers you already know</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No wrong answers. Nobody is corrected here.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2 — Numbers, Time &amp; Money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a:t>
            </a:r>
            <a:endParaRPr lang="en-US" sz="1100" dirty="0"/>
          </a:p>
        </p:txBody>
      </p:sp>
      <p:sp>
        <p:nvSpPr>
          <p:cNvPr id="11" name="Shape 7"/>
          <p:cNvSpPr/>
          <p:nvPr/>
        </p:nvSpPr>
        <p:spPr>
          <a:xfrm>
            <a:off x="548640" y="1883664"/>
            <a:ext cx="3564026" cy="4059936"/>
          </a:xfrm>
          <a:prstGeom prst="roundRect">
            <a:avLst>
              <a:gd name="adj" fmla="val 3592"/>
            </a:avLst>
          </a:prstGeom>
          <a:solidFill>
            <a:srgbClr val="FDF3E7"/>
          </a:solidFill>
          <a:ln w="12700">
            <a:solidFill>
              <a:srgbClr val="EFDCB2"/>
            </a:solidFill>
            <a:prstDash val="solid"/>
          </a:ln>
        </p:spPr>
      </p:sp>
      <p:sp>
        <p:nvSpPr>
          <p:cNvPr id="12" name="Shape 8"/>
          <p:cNvSpPr/>
          <p:nvPr/>
        </p:nvSpPr>
        <p:spPr>
          <a:xfrm>
            <a:off x="768096" y="2103120"/>
            <a:ext cx="457200" cy="457200"/>
          </a:xfrm>
          <a:prstGeom prst="ellipse">
            <a:avLst/>
          </a:prstGeom>
          <a:solidFill>
            <a:srgbClr val="F2A93B"/>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3125114" cy="3054096"/>
          </a:xfrm>
          <a:prstGeom prst="rect">
            <a:avLst/>
          </a:prstGeom>
          <a:noFill/>
          <a:ln/>
        </p:spPr>
        <p:txBody>
          <a:bodyPr wrap="square" lIns="0" tIns="0" rIns="0" bIns="0" rtlCol="0" anchor="t"/>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1 · Your phone number</a:t>
            </a:r>
            <a:endParaRPr lang="en-US" sz="21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Say your phone number out loud in any language. Count how many digits it has.</a:t>
            </a:r>
            <a:endParaRPr lang="en-US" sz="2100" dirty="0"/>
          </a:p>
        </p:txBody>
      </p:sp>
      <p:sp>
        <p:nvSpPr>
          <p:cNvPr id="15" name="Shape 10"/>
          <p:cNvSpPr/>
          <p:nvPr/>
        </p:nvSpPr>
        <p:spPr>
          <a:xfrm>
            <a:off x="4313834" y="1883664"/>
            <a:ext cx="3564026" cy="4059936"/>
          </a:xfrm>
          <a:prstGeom prst="roundRect">
            <a:avLst>
              <a:gd name="adj" fmla="val 3592"/>
            </a:avLst>
          </a:prstGeom>
          <a:solidFill>
            <a:srgbClr val="FDF3E7"/>
          </a:solidFill>
          <a:ln w="12700">
            <a:solidFill>
              <a:srgbClr val="EFDCB2"/>
            </a:solidFill>
            <a:prstDash val="solid"/>
          </a:ln>
        </p:spPr>
      </p:sp>
      <p:sp>
        <p:nvSpPr>
          <p:cNvPr id="16" name="Shape 11"/>
          <p:cNvSpPr/>
          <p:nvPr/>
        </p:nvSpPr>
        <p:spPr>
          <a:xfrm>
            <a:off x="4533290" y="2103120"/>
            <a:ext cx="457200" cy="457200"/>
          </a:xfrm>
          <a:prstGeom prst="ellipse">
            <a:avLst/>
          </a:prstGeom>
          <a:solidFill>
            <a:srgbClr val="F2A93B"/>
          </a:solidFill>
          <a:ln/>
        </p:spPr>
      </p:sp>
      <p:pic>
        <p:nvPicPr>
          <p:cNvPr id="17" name="Image 2" descr="preencoded.png">    </p:cNvPr>
          <p:cNvPicPr>
            <a:picLocks noChangeAspect="1"/>
          </p:cNvPicPr>
          <p:nvPr/>
        </p:nvPicPr>
        <p:blipFill>
          <a:blip r:embed="rId3"/>
          <a:stretch>
            <a:fillRect/>
          </a:stretch>
        </p:blipFill>
        <p:spPr>
          <a:xfrm>
            <a:off x="4647590" y="2217420"/>
            <a:ext cx="228600" cy="228600"/>
          </a:xfrm>
          <a:prstGeom prst="rect">
            <a:avLst/>
          </a:prstGeom>
        </p:spPr>
      </p:pic>
      <p:sp>
        <p:nvSpPr>
          <p:cNvPr id="18" name="Text 12"/>
          <p:cNvSpPr/>
          <p:nvPr/>
        </p:nvSpPr>
        <p:spPr>
          <a:xfrm>
            <a:off x="4533290" y="2706624"/>
            <a:ext cx="3125114" cy="3054096"/>
          </a:xfrm>
          <a:prstGeom prst="rect">
            <a:avLst/>
          </a:prstGeom>
          <a:noFill/>
          <a:ln/>
        </p:spPr>
        <p:txBody>
          <a:bodyPr wrap="square" lIns="0" tIns="0" rIns="0" bIns="0" rtlCol="0" anchor="t"/>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2 · What did you pay?</a:t>
            </a:r>
            <a:endParaRPr lang="en-US" sz="21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Think of one thing you bought this week. How much was it? Say the number in English if you can.</a:t>
            </a:r>
            <a:endParaRPr lang="en-US" sz="2100" dirty="0"/>
          </a:p>
        </p:txBody>
      </p:sp>
      <p:sp>
        <p:nvSpPr>
          <p:cNvPr id="19" name="Shape 13"/>
          <p:cNvSpPr/>
          <p:nvPr/>
        </p:nvSpPr>
        <p:spPr>
          <a:xfrm>
            <a:off x="8079029" y="1883664"/>
            <a:ext cx="3564026" cy="4059936"/>
          </a:xfrm>
          <a:prstGeom prst="roundRect">
            <a:avLst>
              <a:gd name="adj" fmla="val 3592"/>
            </a:avLst>
          </a:prstGeom>
          <a:solidFill>
            <a:srgbClr val="FDF3E7"/>
          </a:solidFill>
          <a:ln w="12700">
            <a:solidFill>
              <a:srgbClr val="EFDCB2"/>
            </a:solidFill>
            <a:prstDash val="solid"/>
          </a:ln>
        </p:spPr>
      </p:sp>
      <p:sp>
        <p:nvSpPr>
          <p:cNvPr id="20" name="Shape 14"/>
          <p:cNvSpPr/>
          <p:nvPr/>
        </p:nvSpPr>
        <p:spPr>
          <a:xfrm>
            <a:off x="8298485" y="2103120"/>
            <a:ext cx="457200" cy="457200"/>
          </a:xfrm>
          <a:prstGeom prst="ellipse">
            <a:avLst/>
          </a:prstGeom>
          <a:solidFill>
            <a:srgbClr val="F2A93B"/>
          </a:solidFill>
          <a:ln/>
        </p:spPr>
      </p:sp>
      <p:pic>
        <p:nvPicPr>
          <p:cNvPr id="21" name="Image 3" descr="preencoded.png">    </p:cNvPr>
          <p:cNvPicPr>
            <a:picLocks noChangeAspect="1"/>
          </p:cNvPicPr>
          <p:nvPr/>
        </p:nvPicPr>
        <p:blipFill>
          <a:blip r:embed="rId4"/>
          <a:stretch>
            <a:fillRect/>
          </a:stretch>
        </p:blipFill>
        <p:spPr>
          <a:xfrm>
            <a:off x="8412785" y="2217420"/>
            <a:ext cx="228600" cy="228600"/>
          </a:xfrm>
          <a:prstGeom prst="rect">
            <a:avLst/>
          </a:prstGeom>
        </p:spPr>
      </p:pic>
      <p:sp>
        <p:nvSpPr>
          <p:cNvPr id="22" name="Text 15"/>
          <p:cNvSpPr/>
          <p:nvPr/>
        </p:nvSpPr>
        <p:spPr>
          <a:xfrm>
            <a:off x="8298485" y="2706624"/>
            <a:ext cx="3125114" cy="3054096"/>
          </a:xfrm>
          <a:prstGeom prst="rect">
            <a:avLst/>
          </a:prstGeom>
          <a:noFill/>
          <a:ln/>
        </p:spPr>
        <p:txBody>
          <a:bodyPr wrap="square" lIns="0" tIns="0" rIns="0" bIns="0" rtlCol="0" anchor="t"/>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3 · What time is it?</a:t>
            </a:r>
            <a:endParaRPr lang="en-US" sz="21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Look at a clock or your phone. Say the time — Ethiopian time or English time, either is fine for now.</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231C"/>
        </a:solidFill>
      </p:bgPr>
    </p:bg>
    <p:spTree>
      <p:nvGrpSpPr>
        <p:cNvPr id="1" name=""/>
        <p:cNvGrpSpPr/>
        <p:nvPr/>
      </p:nvGrpSpPr>
      <p:grpSpPr>
        <a:xfrm>
          <a:off x="0" y="0"/>
          <a:ext cx="0" cy="0"/>
          <a:chOff x="0" y="0"/>
          <a:chExt cx="0" cy="0"/>
        </a:xfrm>
      </p:grpSpPr>
      <p:sp>
        <p:nvSpPr>
          <p:cNvPr id="2" name="Text 0"/>
          <p:cNvSpPr txBox="1"/>
          <p:nvPr/>
        </p:nvSpPr>
        <p:spPr>
          <a:xfrm>
            <a:off x="548640" y="1554480"/>
            <a:ext cx="10972800" cy="310896"/>
          </a:xfrm>
          <a:prstGeom prst="rect">
            <a:avLst/>
          </a:prstGeom>
          <a:noFill/>
          <a:ln/>
        </p:spPr>
        <p:txBody>
          <a:bodyPr wrap="square" lIns="0" tIns="0" rIns="0" bIns="0" rtlCol="0" anchor="ctr"/>
          <a:lstStyle/>
          <a:p>
            <a:pPr indent="0" marL="0">
              <a:buNone/>
            </a:pPr>
            <a:r>
              <a:rPr lang="en-US" sz="1400" b="1" spc="240" kern="0" dirty="0">
                <a:solidFill>
                  <a:srgbClr val="F2A93B"/>
                </a:solidFill>
                <a:latin typeface="Calibri" pitchFamily="34" charset="0"/>
                <a:ea typeface="Calibri" pitchFamily="34" charset="-122"/>
                <a:cs typeface="Calibri" pitchFamily="34" charset="-120"/>
              </a:rPr>
              <a:t>INTRODUCTION</a:t>
            </a:r>
            <a:endParaRPr lang="en-US" sz="1400" dirty="0"/>
          </a:p>
        </p:txBody>
      </p:sp>
      <p:sp>
        <p:nvSpPr>
          <p:cNvPr id="3" name="Text 1"/>
          <p:cNvSpPr txBox="1"/>
          <p:nvPr/>
        </p:nvSpPr>
        <p:spPr>
          <a:xfrm>
            <a:off x="548640" y="2011680"/>
            <a:ext cx="10972800" cy="2011680"/>
          </a:xfrm>
          <a:prstGeom prst="rect">
            <a:avLst/>
          </a:prstGeom>
          <a:noFill/>
          <a:ln/>
        </p:spPr>
        <p:txBody>
          <a:bodyPr wrap="square" lIns="0" tIns="0" rIns="0" bIns="0" rtlCol="0" anchor="ctr"/>
          <a:lstStyle/>
          <a:p>
            <a:pPr indent="0" marL="0">
              <a:lnSpc>
                <a:spcPct val="106000"/>
              </a:lnSpc>
              <a:buNone/>
            </a:pPr>
            <a:r>
              <a:rPr lang="en-US" sz="4400" b="1" dirty="0">
                <a:solidFill>
                  <a:srgbClr val="FFFFFF"/>
                </a:solidFill>
                <a:latin typeface="Calibri" pitchFamily="34" charset="0"/>
                <a:ea typeface="Calibri" pitchFamily="34" charset="-122"/>
                <a:cs typeface="Calibri" pitchFamily="34" charset="-120"/>
              </a:rPr>
              <a:t>Numbers are the English you will use first — and every day.</a:t>
            </a:r>
            <a:endParaRPr lang="en-US" sz="4400" dirty="0"/>
          </a:p>
        </p:txBody>
      </p:sp>
      <p:sp>
        <p:nvSpPr>
          <p:cNvPr id="4" name="Text 2"/>
          <p:cNvSpPr txBox="1"/>
          <p:nvPr/>
        </p:nvSpPr>
        <p:spPr>
          <a:xfrm>
            <a:off x="548640" y="4206240"/>
            <a:ext cx="10058400" cy="822960"/>
          </a:xfrm>
          <a:prstGeom prst="rect">
            <a:avLst/>
          </a:prstGeom>
          <a:noFill/>
          <a:ln/>
        </p:spPr>
        <p:txBody>
          <a:bodyPr wrap="square" lIns="0" tIns="0" rIns="0" bIns="0" rtlCol="0" anchor="ctr"/>
          <a:lstStyle/>
          <a:p>
            <a:pPr indent="0" marL="0">
              <a:lnSpc>
                <a:spcPct val="120000"/>
              </a:lnSpc>
              <a:buNone/>
            </a:pPr>
            <a:r>
              <a:rPr lang="en-US" sz="1850" dirty="0">
                <a:solidFill>
                  <a:srgbClr val="B9CFC1"/>
                </a:solidFill>
                <a:latin typeface="Calibri" pitchFamily="34" charset="0"/>
                <a:ea typeface="Calibri" pitchFamily="34" charset="-122"/>
                <a:cs typeface="Calibri" pitchFamily="34" charset="-120"/>
              </a:rPr>
              <a:t>A price at Merkato. A bus fare. A phone number. The time of a meeting.</a:t>
            </a:r>
            <a:endParaRPr lang="en-US" sz="1850" dirty="0"/>
          </a:p>
          <a:p>
            <a:pPr indent="0" marL="0">
              <a:lnSpc>
                <a:spcPct val="120000"/>
              </a:lnSpc>
              <a:buNone/>
            </a:pPr>
            <a:r>
              <a:rPr lang="en-US" sz="1850" dirty="0">
                <a:solidFill>
                  <a:srgbClr val="B9CFC1"/>
                </a:solidFill>
                <a:latin typeface="Calibri" pitchFamily="34" charset="0"/>
                <a:ea typeface="Calibri" pitchFamily="34" charset="-122"/>
                <a:cs typeface="Calibri" pitchFamily="34" charset="-120"/>
              </a:rPr>
              <a:t>You do not need perfect grammar to do these things. You need numbers, said clearly.</a:t>
            </a:r>
            <a:endParaRPr lang="en-US" sz="1850" dirty="0"/>
          </a:p>
        </p:txBody>
      </p:sp>
      <p:sp>
        <p:nvSpPr>
          <p:cNvPr id="5" name="Shape 3"/>
          <p:cNvSpPr/>
          <p:nvPr/>
        </p:nvSpPr>
        <p:spPr>
          <a:xfrm>
            <a:off x="548640" y="5120640"/>
            <a:ext cx="3511296" cy="713232"/>
          </a:xfrm>
          <a:prstGeom prst="roundRect">
            <a:avLst>
              <a:gd name="adj" fmla="val 17949"/>
            </a:avLst>
          </a:prstGeom>
          <a:solidFill>
            <a:srgbClr val="1C4E39"/>
          </a:solidFill>
          <a:ln w="12700">
            <a:solidFill>
              <a:srgbClr val="2A6249"/>
            </a:solidFill>
            <a:prstDash val="solid"/>
          </a:ln>
        </p:spPr>
      </p:sp>
      <p:sp>
        <p:nvSpPr>
          <p:cNvPr id="6" name="Text 4"/>
          <p:cNvSpPr txBox="1"/>
          <p:nvPr/>
        </p:nvSpPr>
        <p:spPr>
          <a:xfrm>
            <a:off x="731520"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1 to 100</a:t>
            </a:r>
            <a:endParaRPr lang="en-US" sz="1500" dirty="0"/>
          </a:p>
        </p:txBody>
      </p:sp>
      <p:sp>
        <p:nvSpPr>
          <p:cNvPr id="7" name="Shape 5"/>
          <p:cNvSpPr/>
          <p:nvPr/>
        </p:nvSpPr>
        <p:spPr>
          <a:xfrm>
            <a:off x="4279392" y="5120640"/>
            <a:ext cx="3511296" cy="713232"/>
          </a:xfrm>
          <a:prstGeom prst="roundRect">
            <a:avLst>
              <a:gd name="adj" fmla="val 17949"/>
            </a:avLst>
          </a:prstGeom>
          <a:solidFill>
            <a:srgbClr val="1C4E39"/>
          </a:solidFill>
          <a:ln w="12700">
            <a:solidFill>
              <a:srgbClr val="2A6249"/>
            </a:solidFill>
            <a:prstDash val="solid"/>
          </a:ln>
        </p:spPr>
      </p:sp>
      <p:sp>
        <p:nvSpPr>
          <p:cNvPr id="8" name="Text 6"/>
          <p:cNvSpPr txBox="1"/>
          <p:nvPr/>
        </p:nvSpPr>
        <p:spPr>
          <a:xfrm>
            <a:off x="4462272"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7 days · 12 months</a:t>
            </a:r>
            <a:endParaRPr lang="en-US" sz="1500" dirty="0"/>
          </a:p>
        </p:txBody>
      </p:sp>
      <p:sp>
        <p:nvSpPr>
          <p:cNvPr id="9" name="Shape 7"/>
          <p:cNvSpPr/>
          <p:nvPr/>
        </p:nvSpPr>
        <p:spPr>
          <a:xfrm>
            <a:off x="8010144" y="5120640"/>
            <a:ext cx="3511296" cy="713232"/>
          </a:xfrm>
          <a:prstGeom prst="roundRect">
            <a:avLst>
              <a:gd name="adj" fmla="val 17949"/>
            </a:avLst>
          </a:prstGeom>
          <a:solidFill>
            <a:srgbClr val="1C4E39"/>
          </a:solidFill>
          <a:ln w="12700">
            <a:solidFill>
              <a:srgbClr val="2A6249"/>
            </a:solidFill>
            <a:prstDash val="solid"/>
          </a:ln>
        </p:spPr>
      </p:sp>
      <p:sp>
        <p:nvSpPr>
          <p:cNvPr id="10" name="Text 8"/>
          <p:cNvSpPr txBox="1"/>
          <p:nvPr/>
        </p:nvSpPr>
        <p:spPr>
          <a:xfrm>
            <a:off x="8193024"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Time and money in birr</a:t>
            </a:r>
            <a:endParaRPr lang="en-US" sz="1500" dirty="0"/>
          </a:p>
        </p:txBody>
      </p:sp>
      <p:sp>
        <p:nvSpPr>
          <p:cNvPr id="11" name="Text 9"/>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7C9488"/>
                </a:solidFill>
                <a:latin typeface="Calibri" pitchFamily="34" charset="0"/>
                <a:ea typeface="Calibri" pitchFamily="34" charset="-122"/>
                <a:cs typeface="Calibri" pitchFamily="34" charset="-120"/>
              </a:rPr>
              <a:t>Level 1 · Beginner English · Module 2 — Numbers, Time &amp; Money</a:t>
            </a:r>
            <a:endParaRPr lang="en-US" sz="1000" dirty="0"/>
          </a:p>
        </p:txBody>
      </p:sp>
      <p:sp>
        <p:nvSpPr>
          <p:cNvPr id="12" name="Text 10"/>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F2A93B"/>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Numbers 1 to 10</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 foundation. Everything else is built from these ten words.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2 — Numbers, Time &amp; Money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a:t>
            </a:r>
            <a:endParaRPr lang="en-US" sz="1100" dirty="0"/>
          </a:p>
        </p:txBody>
      </p:sp>
      <p:sp>
        <p:nvSpPr>
          <p:cNvPr id="11" name="Shape 7"/>
          <p:cNvSpPr/>
          <p:nvPr/>
        </p:nvSpPr>
        <p:spPr>
          <a:xfrm>
            <a:off x="548640" y="1883664"/>
            <a:ext cx="2101840" cy="1051560"/>
          </a:xfrm>
          <a:prstGeom prst="roundRect">
            <a:avLst>
              <a:gd name="adj" fmla="val 12174"/>
            </a:avLst>
          </a:prstGeom>
          <a:solidFill>
            <a:srgbClr val="F6F9F7"/>
          </a:solidFill>
          <a:ln w="12700">
            <a:solidFill>
              <a:srgbClr val="E3E9E5"/>
            </a:solidFill>
            <a:prstDash val="solid"/>
          </a:ln>
        </p:spPr>
      </p:sp>
      <p:sp>
        <p:nvSpPr>
          <p:cNvPr id="12" name="Text 8"/>
          <p:cNvSpPr txBox="1"/>
          <p:nvPr/>
        </p:nvSpPr>
        <p:spPr>
          <a:xfrm>
            <a:off x="548640" y="1883664"/>
            <a:ext cx="2101840" cy="651967"/>
          </a:xfrm>
          <a:prstGeom prst="rect">
            <a:avLst/>
          </a:prstGeom>
          <a:noFill/>
          <a:ln/>
        </p:spPr>
        <p:txBody>
          <a:bodyPr wrap="square" lIns="0" tIns="0" rIns="0" bIns="0" rtlCol="0" anchor="ctr"/>
          <a:lstStyle/>
          <a:p>
            <a:pPr algn="ctr" indent="0" marL="0">
              <a:buNone/>
            </a:pPr>
            <a:r>
              <a:rPr lang="en-US" sz="4000" b="1" dirty="0">
                <a:solidFill>
                  <a:srgbClr val="12211B"/>
                </a:solidFill>
                <a:latin typeface="Calibri" pitchFamily="34" charset="0"/>
                <a:ea typeface="Calibri" pitchFamily="34" charset="-122"/>
                <a:cs typeface="Calibri" pitchFamily="34" charset="-120"/>
              </a:rPr>
              <a:t>1</a:t>
            </a:r>
            <a:endParaRPr lang="en-US" sz="4000" dirty="0"/>
          </a:p>
        </p:txBody>
      </p:sp>
      <p:sp>
        <p:nvSpPr>
          <p:cNvPr id="13" name="Text 9"/>
          <p:cNvSpPr txBox="1"/>
          <p:nvPr/>
        </p:nvSpPr>
        <p:spPr>
          <a:xfrm>
            <a:off x="548640" y="2493569"/>
            <a:ext cx="2101840" cy="357530"/>
          </a:xfrm>
          <a:prstGeom prst="rect">
            <a:avLst/>
          </a:prstGeom>
          <a:noFill/>
          <a:ln/>
        </p:spPr>
        <p:txBody>
          <a:bodyPr wrap="square" lIns="0" tIns="0" rIns="0" bIns="0" rtlCol="0" anchor="ctr"/>
          <a:lstStyle/>
          <a:p>
            <a:pPr algn="ctr" indent="0" marL="0">
              <a:buNone/>
            </a:pPr>
            <a:r>
              <a:rPr lang="en-US" sz="1100" dirty="0">
                <a:solidFill>
                  <a:srgbClr val="6B7C71"/>
                </a:solidFill>
                <a:latin typeface="Calibri" pitchFamily="34" charset="0"/>
                <a:ea typeface="Calibri" pitchFamily="34" charset="-122"/>
                <a:cs typeface="Calibri" pitchFamily="34" charset="-120"/>
              </a:rPr>
              <a:t>one /wʌn/</a:t>
            </a:r>
            <a:endParaRPr lang="en-US" sz="1100" dirty="0"/>
          </a:p>
        </p:txBody>
      </p:sp>
      <p:sp>
        <p:nvSpPr>
          <p:cNvPr id="14" name="Shape 10"/>
          <p:cNvSpPr/>
          <p:nvPr/>
        </p:nvSpPr>
        <p:spPr>
          <a:xfrm>
            <a:off x="2796784" y="1883664"/>
            <a:ext cx="2101840" cy="1051560"/>
          </a:xfrm>
          <a:prstGeom prst="roundRect">
            <a:avLst>
              <a:gd name="adj" fmla="val 12174"/>
            </a:avLst>
          </a:prstGeom>
          <a:solidFill>
            <a:srgbClr val="F6F9F7"/>
          </a:solidFill>
          <a:ln w="12700">
            <a:solidFill>
              <a:srgbClr val="E3E9E5"/>
            </a:solidFill>
            <a:prstDash val="solid"/>
          </a:ln>
        </p:spPr>
      </p:sp>
      <p:sp>
        <p:nvSpPr>
          <p:cNvPr id="15" name="Text 11"/>
          <p:cNvSpPr txBox="1"/>
          <p:nvPr/>
        </p:nvSpPr>
        <p:spPr>
          <a:xfrm>
            <a:off x="2796784" y="1883664"/>
            <a:ext cx="2101840" cy="651967"/>
          </a:xfrm>
          <a:prstGeom prst="rect">
            <a:avLst/>
          </a:prstGeom>
          <a:noFill/>
          <a:ln/>
        </p:spPr>
        <p:txBody>
          <a:bodyPr wrap="square" lIns="0" tIns="0" rIns="0" bIns="0" rtlCol="0" anchor="ctr"/>
          <a:lstStyle/>
          <a:p>
            <a:pPr algn="ctr" indent="0" marL="0">
              <a:buNone/>
            </a:pPr>
            <a:r>
              <a:rPr lang="en-US" sz="4000" b="1" dirty="0">
                <a:solidFill>
                  <a:srgbClr val="12211B"/>
                </a:solidFill>
                <a:latin typeface="Calibri" pitchFamily="34" charset="0"/>
                <a:ea typeface="Calibri" pitchFamily="34" charset="-122"/>
                <a:cs typeface="Calibri" pitchFamily="34" charset="-120"/>
              </a:rPr>
              <a:t>2</a:t>
            </a:r>
            <a:endParaRPr lang="en-US" sz="4000" dirty="0"/>
          </a:p>
        </p:txBody>
      </p:sp>
      <p:sp>
        <p:nvSpPr>
          <p:cNvPr id="16" name="Text 12"/>
          <p:cNvSpPr txBox="1"/>
          <p:nvPr/>
        </p:nvSpPr>
        <p:spPr>
          <a:xfrm>
            <a:off x="2796784" y="2493569"/>
            <a:ext cx="2101840" cy="357530"/>
          </a:xfrm>
          <a:prstGeom prst="rect">
            <a:avLst/>
          </a:prstGeom>
          <a:noFill/>
          <a:ln/>
        </p:spPr>
        <p:txBody>
          <a:bodyPr wrap="square" lIns="0" tIns="0" rIns="0" bIns="0" rtlCol="0" anchor="ctr"/>
          <a:lstStyle/>
          <a:p>
            <a:pPr algn="ctr" indent="0" marL="0">
              <a:buNone/>
            </a:pPr>
            <a:r>
              <a:rPr lang="en-US" sz="1100" dirty="0">
                <a:solidFill>
                  <a:srgbClr val="6B7C71"/>
                </a:solidFill>
                <a:latin typeface="Calibri" pitchFamily="34" charset="0"/>
                <a:ea typeface="Calibri" pitchFamily="34" charset="-122"/>
                <a:cs typeface="Calibri" pitchFamily="34" charset="-120"/>
              </a:rPr>
              <a:t>two /tuː/</a:t>
            </a:r>
            <a:endParaRPr lang="en-US" sz="1100" dirty="0"/>
          </a:p>
        </p:txBody>
      </p:sp>
      <p:sp>
        <p:nvSpPr>
          <p:cNvPr id="17" name="Shape 13"/>
          <p:cNvSpPr/>
          <p:nvPr/>
        </p:nvSpPr>
        <p:spPr>
          <a:xfrm>
            <a:off x="5044928" y="1883664"/>
            <a:ext cx="2101840" cy="1051560"/>
          </a:xfrm>
          <a:prstGeom prst="roundRect">
            <a:avLst>
              <a:gd name="adj" fmla="val 12174"/>
            </a:avLst>
          </a:prstGeom>
          <a:solidFill>
            <a:srgbClr val="F6F9F7"/>
          </a:solidFill>
          <a:ln w="12700">
            <a:solidFill>
              <a:srgbClr val="E3E9E5"/>
            </a:solidFill>
            <a:prstDash val="solid"/>
          </a:ln>
        </p:spPr>
      </p:sp>
      <p:sp>
        <p:nvSpPr>
          <p:cNvPr id="18" name="Text 14"/>
          <p:cNvSpPr txBox="1"/>
          <p:nvPr/>
        </p:nvSpPr>
        <p:spPr>
          <a:xfrm>
            <a:off x="5044928" y="1883664"/>
            <a:ext cx="2101840" cy="651967"/>
          </a:xfrm>
          <a:prstGeom prst="rect">
            <a:avLst/>
          </a:prstGeom>
          <a:noFill/>
          <a:ln/>
        </p:spPr>
        <p:txBody>
          <a:bodyPr wrap="square" lIns="0" tIns="0" rIns="0" bIns="0" rtlCol="0" anchor="ctr"/>
          <a:lstStyle/>
          <a:p>
            <a:pPr algn="ctr" indent="0" marL="0">
              <a:buNone/>
            </a:pPr>
            <a:r>
              <a:rPr lang="en-US" sz="4000" b="1" dirty="0">
                <a:solidFill>
                  <a:srgbClr val="12211B"/>
                </a:solidFill>
                <a:latin typeface="Calibri" pitchFamily="34" charset="0"/>
                <a:ea typeface="Calibri" pitchFamily="34" charset="-122"/>
                <a:cs typeface="Calibri" pitchFamily="34" charset="-120"/>
              </a:rPr>
              <a:t>3</a:t>
            </a:r>
            <a:endParaRPr lang="en-US" sz="4000" dirty="0"/>
          </a:p>
        </p:txBody>
      </p:sp>
      <p:sp>
        <p:nvSpPr>
          <p:cNvPr id="19" name="Text 15"/>
          <p:cNvSpPr txBox="1"/>
          <p:nvPr/>
        </p:nvSpPr>
        <p:spPr>
          <a:xfrm>
            <a:off x="5044928" y="2493569"/>
            <a:ext cx="2101840" cy="357530"/>
          </a:xfrm>
          <a:prstGeom prst="rect">
            <a:avLst/>
          </a:prstGeom>
          <a:noFill/>
          <a:ln/>
        </p:spPr>
        <p:txBody>
          <a:bodyPr wrap="square" lIns="0" tIns="0" rIns="0" bIns="0" rtlCol="0" anchor="ctr"/>
          <a:lstStyle/>
          <a:p>
            <a:pPr algn="ctr" indent="0" marL="0">
              <a:buNone/>
            </a:pPr>
            <a:r>
              <a:rPr lang="en-US" sz="1100" dirty="0">
                <a:solidFill>
                  <a:srgbClr val="6B7C71"/>
                </a:solidFill>
                <a:latin typeface="Calibri" pitchFamily="34" charset="0"/>
                <a:ea typeface="Calibri" pitchFamily="34" charset="-122"/>
                <a:cs typeface="Calibri" pitchFamily="34" charset="-120"/>
              </a:rPr>
              <a:t>three /θriː/</a:t>
            </a:r>
            <a:endParaRPr lang="en-US" sz="1100" dirty="0"/>
          </a:p>
        </p:txBody>
      </p:sp>
      <p:sp>
        <p:nvSpPr>
          <p:cNvPr id="20" name="Shape 16"/>
          <p:cNvSpPr/>
          <p:nvPr/>
        </p:nvSpPr>
        <p:spPr>
          <a:xfrm>
            <a:off x="7293072" y="1883664"/>
            <a:ext cx="2101840" cy="1051560"/>
          </a:xfrm>
          <a:prstGeom prst="roundRect">
            <a:avLst>
              <a:gd name="adj" fmla="val 12174"/>
            </a:avLst>
          </a:prstGeom>
          <a:solidFill>
            <a:srgbClr val="F6F9F7"/>
          </a:solidFill>
          <a:ln w="12700">
            <a:solidFill>
              <a:srgbClr val="E3E9E5"/>
            </a:solidFill>
            <a:prstDash val="solid"/>
          </a:ln>
        </p:spPr>
      </p:sp>
      <p:sp>
        <p:nvSpPr>
          <p:cNvPr id="21" name="Text 17"/>
          <p:cNvSpPr txBox="1"/>
          <p:nvPr/>
        </p:nvSpPr>
        <p:spPr>
          <a:xfrm>
            <a:off x="7293072" y="1883664"/>
            <a:ext cx="2101840" cy="651967"/>
          </a:xfrm>
          <a:prstGeom prst="rect">
            <a:avLst/>
          </a:prstGeom>
          <a:noFill/>
          <a:ln/>
        </p:spPr>
        <p:txBody>
          <a:bodyPr wrap="square" lIns="0" tIns="0" rIns="0" bIns="0" rtlCol="0" anchor="ctr"/>
          <a:lstStyle/>
          <a:p>
            <a:pPr algn="ctr" indent="0" marL="0">
              <a:buNone/>
            </a:pPr>
            <a:r>
              <a:rPr lang="en-US" sz="4000" b="1" dirty="0">
                <a:solidFill>
                  <a:srgbClr val="12211B"/>
                </a:solidFill>
                <a:latin typeface="Calibri" pitchFamily="34" charset="0"/>
                <a:ea typeface="Calibri" pitchFamily="34" charset="-122"/>
                <a:cs typeface="Calibri" pitchFamily="34" charset="-120"/>
              </a:rPr>
              <a:t>4</a:t>
            </a:r>
            <a:endParaRPr lang="en-US" sz="4000" dirty="0"/>
          </a:p>
        </p:txBody>
      </p:sp>
      <p:sp>
        <p:nvSpPr>
          <p:cNvPr id="22" name="Text 18"/>
          <p:cNvSpPr txBox="1"/>
          <p:nvPr/>
        </p:nvSpPr>
        <p:spPr>
          <a:xfrm>
            <a:off x="7293072" y="2493569"/>
            <a:ext cx="2101840" cy="357530"/>
          </a:xfrm>
          <a:prstGeom prst="rect">
            <a:avLst/>
          </a:prstGeom>
          <a:noFill/>
          <a:ln/>
        </p:spPr>
        <p:txBody>
          <a:bodyPr wrap="square" lIns="0" tIns="0" rIns="0" bIns="0" rtlCol="0" anchor="ctr"/>
          <a:lstStyle/>
          <a:p>
            <a:pPr algn="ctr" indent="0" marL="0">
              <a:buNone/>
            </a:pPr>
            <a:r>
              <a:rPr lang="en-US" sz="1100" dirty="0">
                <a:solidFill>
                  <a:srgbClr val="6B7C71"/>
                </a:solidFill>
                <a:latin typeface="Calibri" pitchFamily="34" charset="0"/>
                <a:ea typeface="Calibri" pitchFamily="34" charset="-122"/>
                <a:cs typeface="Calibri" pitchFamily="34" charset="-120"/>
              </a:rPr>
              <a:t>four /fɔː/</a:t>
            </a:r>
            <a:endParaRPr lang="en-US" sz="1100" dirty="0"/>
          </a:p>
        </p:txBody>
      </p:sp>
      <p:sp>
        <p:nvSpPr>
          <p:cNvPr id="23" name="Shape 19"/>
          <p:cNvSpPr/>
          <p:nvPr/>
        </p:nvSpPr>
        <p:spPr>
          <a:xfrm>
            <a:off x="9541215" y="1883664"/>
            <a:ext cx="2101840" cy="1051560"/>
          </a:xfrm>
          <a:prstGeom prst="roundRect">
            <a:avLst>
              <a:gd name="adj" fmla="val 12174"/>
            </a:avLst>
          </a:prstGeom>
          <a:solidFill>
            <a:srgbClr val="F6F9F7"/>
          </a:solidFill>
          <a:ln w="12700">
            <a:solidFill>
              <a:srgbClr val="E3E9E5"/>
            </a:solidFill>
            <a:prstDash val="solid"/>
          </a:ln>
        </p:spPr>
      </p:sp>
      <p:sp>
        <p:nvSpPr>
          <p:cNvPr id="24" name="Text 20"/>
          <p:cNvSpPr txBox="1"/>
          <p:nvPr/>
        </p:nvSpPr>
        <p:spPr>
          <a:xfrm>
            <a:off x="9541215" y="1883664"/>
            <a:ext cx="2101840" cy="651967"/>
          </a:xfrm>
          <a:prstGeom prst="rect">
            <a:avLst/>
          </a:prstGeom>
          <a:noFill/>
          <a:ln/>
        </p:spPr>
        <p:txBody>
          <a:bodyPr wrap="square" lIns="0" tIns="0" rIns="0" bIns="0" rtlCol="0" anchor="ctr"/>
          <a:lstStyle/>
          <a:p>
            <a:pPr algn="ctr" indent="0" marL="0">
              <a:buNone/>
            </a:pPr>
            <a:r>
              <a:rPr lang="en-US" sz="4000" b="1" dirty="0">
                <a:solidFill>
                  <a:srgbClr val="12211B"/>
                </a:solidFill>
                <a:latin typeface="Calibri" pitchFamily="34" charset="0"/>
                <a:ea typeface="Calibri" pitchFamily="34" charset="-122"/>
                <a:cs typeface="Calibri" pitchFamily="34" charset="-120"/>
              </a:rPr>
              <a:t>5</a:t>
            </a:r>
            <a:endParaRPr lang="en-US" sz="4000" dirty="0"/>
          </a:p>
        </p:txBody>
      </p:sp>
      <p:sp>
        <p:nvSpPr>
          <p:cNvPr id="25" name="Text 21"/>
          <p:cNvSpPr txBox="1"/>
          <p:nvPr/>
        </p:nvSpPr>
        <p:spPr>
          <a:xfrm>
            <a:off x="9541215" y="2493569"/>
            <a:ext cx="2101840" cy="357530"/>
          </a:xfrm>
          <a:prstGeom prst="rect">
            <a:avLst/>
          </a:prstGeom>
          <a:noFill/>
          <a:ln/>
        </p:spPr>
        <p:txBody>
          <a:bodyPr wrap="square" lIns="0" tIns="0" rIns="0" bIns="0" rtlCol="0" anchor="ctr"/>
          <a:lstStyle/>
          <a:p>
            <a:pPr algn="ctr" indent="0" marL="0">
              <a:buNone/>
            </a:pPr>
            <a:r>
              <a:rPr lang="en-US" sz="1100" dirty="0">
                <a:solidFill>
                  <a:srgbClr val="6B7C71"/>
                </a:solidFill>
                <a:latin typeface="Calibri" pitchFamily="34" charset="0"/>
                <a:ea typeface="Calibri" pitchFamily="34" charset="-122"/>
                <a:cs typeface="Calibri" pitchFamily="34" charset="-120"/>
              </a:rPr>
              <a:t>five /faɪv/</a:t>
            </a:r>
            <a:endParaRPr lang="en-US" sz="1100" dirty="0"/>
          </a:p>
        </p:txBody>
      </p:sp>
      <p:sp>
        <p:nvSpPr>
          <p:cNvPr id="26" name="Shape 22"/>
          <p:cNvSpPr/>
          <p:nvPr/>
        </p:nvSpPr>
        <p:spPr>
          <a:xfrm>
            <a:off x="548640" y="3081528"/>
            <a:ext cx="2101840" cy="1051560"/>
          </a:xfrm>
          <a:prstGeom prst="roundRect">
            <a:avLst>
              <a:gd name="adj" fmla="val 12174"/>
            </a:avLst>
          </a:prstGeom>
          <a:solidFill>
            <a:srgbClr val="F6F9F7"/>
          </a:solidFill>
          <a:ln w="12700">
            <a:solidFill>
              <a:srgbClr val="E3E9E5"/>
            </a:solidFill>
            <a:prstDash val="solid"/>
          </a:ln>
        </p:spPr>
      </p:sp>
      <p:sp>
        <p:nvSpPr>
          <p:cNvPr id="27" name="Text 23"/>
          <p:cNvSpPr txBox="1"/>
          <p:nvPr/>
        </p:nvSpPr>
        <p:spPr>
          <a:xfrm>
            <a:off x="548640" y="3081528"/>
            <a:ext cx="2101840" cy="651967"/>
          </a:xfrm>
          <a:prstGeom prst="rect">
            <a:avLst/>
          </a:prstGeom>
          <a:noFill/>
          <a:ln/>
        </p:spPr>
        <p:txBody>
          <a:bodyPr wrap="square" lIns="0" tIns="0" rIns="0" bIns="0" rtlCol="0" anchor="ctr"/>
          <a:lstStyle/>
          <a:p>
            <a:pPr algn="ctr" indent="0" marL="0">
              <a:buNone/>
            </a:pPr>
            <a:r>
              <a:rPr lang="en-US" sz="4000" b="1" dirty="0">
                <a:solidFill>
                  <a:srgbClr val="12211B"/>
                </a:solidFill>
                <a:latin typeface="Calibri" pitchFamily="34" charset="0"/>
                <a:ea typeface="Calibri" pitchFamily="34" charset="-122"/>
                <a:cs typeface="Calibri" pitchFamily="34" charset="-120"/>
              </a:rPr>
              <a:t>6</a:t>
            </a:r>
            <a:endParaRPr lang="en-US" sz="4000" dirty="0"/>
          </a:p>
        </p:txBody>
      </p:sp>
      <p:sp>
        <p:nvSpPr>
          <p:cNvPr id="28" name="Text 24"/>
          <p:cNvSpPr txBox="1"/>
          <p:nvPr/>
        </p:nvSpPr>
        <p:spPr>
          <a:xfrm>
            <a:off x="548640" y="3691433"/>
            <a:ext cx="2101840" cy="357530"/>
          </a:xfrm>
          <a:prstGeom prst="rect">
            <a:avLst/>
          </a:prstGeom>
          <a:noFill/>
          <a:ln/>
        </p:spPr>
        <p:txBody>
          <a:bodyPr wrap="square" lIns="0" tIns="0" rIns="0" bIns="0" rtlCol="0" anchor="ctr"/>
          <a:lstStyle/>
          <a:p>
            <a:pPr algn="ctr" indent="0" marL="0">
              <a:buNone/>
            </a:pPr>
            <a:r>
              <a:rPr lang="en-US" sz="1100" dirty="0">
                <a:solidFill>
                  <a:srgbClr val="6B7C71"/>
                </a:solidFill>
                <a:latin typeface="Calibri" pitchFamily="34" charset="0"/>
                <a:ea typeface="Calibri" pitchFamily="34" charset="-122"/>
                <a:cs typeface="Calibri" pitchFamily="34" charset="-120"/>
              </a:rPr>
              <a:t>six /sɪks/</a:t>
            </a:r>
            <a:endParaRPr lang="en-US" sz="1100" dirty="0"/>
          </a:p>
        </p:txBody>
      </p:sp>
      <p:sp>
        <p:nvSpPr>
          <p:cNvPr id="29" name="Shape 25"/>
          <p:cNvSpPr/>
          <p:nvPr/>
        </p:nvSpPr>
        <p:spPr>
          <a:xfrm>
            <a:off x="2796784" y="3081528"/>
            <a:ext cx="2101840" cy="1051560"/>
          </a:xfrm>
          <a:prstGeom prst="roundRect">
            <a:avLst>
              <a:gd name="adj" fmla="val 12174"/>
            </a:avLst>
          </a:prstGeom>
          <a:solidFill>
            <a:srgbClr val="F6F9F7"/>
          </a:solidFill>
          <a:ln w="12700">
            <a:solidFill>
              <a:srgbClr val="E3E9E5"/>
            </a:solidFill>
            <a:prstDash val="solid"/>
          </a:ln>
        </p:spPr>
      </p:sp>
      <p:sp>
        <p:nvSpPr>
          <p:cNvPr id="30" name="Text 26"/>
          <p:cNvSpPr txBox="1"/>
          <p:nvPr/>
        </p:nvSpPr>
        <p:spPr>
          <a:xfrm>
            <a:off x="2796784" y="3081528"/>
            <a:ext cx="2101840" cy="651967"/>
          </a:xfrm>
          <a:prstGeom prst="rect">
            <a:avLst/>
          </a:prstGeom>
          <a:noFill/>
          <a:ln/>
        </p:spPr>
        <p:txBody>
          <a:bodyPr wrap="square" lIns="0" tIns="0" rIns="0" bIns="0" rtlCol="0" anchor="ctr"/>
          <a:lstStyle/>
          <a:p>
            <a:pPr algn="ctr" indent="0" marL="0">
              <a:buNone/>
            </a:pPr>
            <a:r>
              <a:rPr lang="en-US" sz="4000" b="1" dirty="0">
                <a:solidFill>
                  <a:srgbClr val="12211B"/>
                </a:solidFill>
                <a:latin typeface="Calibri" pitchFamily="34" charset="0"/>
                <a:ea typeface="Calibri" pitchFamily="34" charset="-122"/>
                <a:cs typeface="Calibri" pitchFamily="34" charset="-120"/>
              </a:rPr>
              <a:t>7</a:t>
            </a:r>
            <a:endParaRPr lang="en-US" sz="4000" dirty="0"/>
          </a:p>
        </p:txBody>
      </p:sp>
      <p:sp>
        <p:nvSpPr>
          <p:cNvPr id="31" name="Text 27"/>
          <p:cNvSpPr txBox="1"/>
          <p:nvPr/>
        </p:nvSpPr>
        <p:spPr>
          <a:xfrm>
            <a:off x="2796784" y="3691433"/>
            <a:ext cx="2101840" cy="357530"/>
          </a:xfrm>
          <a:prstGeom prst="rect">
            <a:avLst/>
          </a:prstGeom>
          <a:noFill/>
          <a:ln/>
        </p:spPr>
        <p:txBody>
          <a:bodyPr wrap="square" lIns="0" tIns="0" rIns="0" bIns="0" rtlCol="0" anchor="ctr"/>
          <a:lstStyle/>
          <a:p>
            <a:pPr algn="ctr" indent="0" marL="0">
              <a:buNone/>
            </a:pPr>
            <a:r>
              <a:rPr lang="en-US" sz="1100" dirty="0">
                <a:solidFill>
                  <a:srgbClr val="6B7C71"/>
                </a:solidFill>
                <a:latin typeface="Calibri" pitchFamily="34" charset="0"/>
                <a:ea typeface="Calibri" pitchFamily="34" charset="-122"/>
                <a:cs typeface="Calibri" pitchFamily="34" charset="-120"/>
              </a:rPr>
              <a:t>seven /ˈsevən/</a:t>
            </a:r>
            <a:endParaRPr lang="en-US" sz="1100" dirty="0"/>
          </a:p>
        </p:txBody>
      </p:sp>
      <p:sp>
        <p:nvSpPr>
          <p:cNvPr id="32" name="Shape 28"/>
          <p:cNvSpPr/>
          <p:nvPr/>
        </p:nvSpPr>
        <p:spPr>
          <a:xfrm>
            <a:off x="5044928" y="3081528"/>
            <a:ext cx="2101840" cy="1051560"/>
          </a:xfrm>
          <a:prstGeom prst="roundRect">
            <a:avLst>
              <a:gd name="adj" fmla="val 12174"/>
            </a:avLst>
          </a:prstGeom>
          <a:solidFill>
            <a:srgbClr val="F6F9F7"/>
          </a:solidFill>
          <a:ln w="12700">
            <a:solidFill>
              <a:srgbClr val="E3E9E5"/>
            </a:solidFill>
            <a:prstDash val="solid"/>
          </a:ln>
        </p:spPr>
      </p:sp>
      <p:sp>
        <p:nvSpPr>
          <p:cNvPr id="33" name="Text 29"/>
          <p:cNvSpPr txBox="1"/>
          <p:nvPr/>
        </p:nvSpPr>
        <p:spPr>
          <a:xfrm>
            <a:off x="5044928" y="3081528"/>
            <a:ext cx="2101840" cy="651967"/>
          </a:xfrm>
          <a:prstGeom prst="rect">
            <a:avLst/>
          </a:prstGeom>
          <a:noFill/>
          <a:ln/>
        </p:spPr>
        <p:txBody>
          <a:bodyPr wrap="square" lIns="0" tIns="0" rIns="0" bIns="0" rtlCol="0" anchor="ctr"/>
          <a:lstStyle/>
          <a:p>
            <a:pPr algn="ctr" indent="0" marL="0">
              <a:buNone/>
            </a:pPr>
            <a:r>
              <a:rPr lang="en-US" sz="4000" b="1" dirty="0">
                <a:solidFill>
                  <a:srgbClr val="12211B"/>
                </a:solidFill>
                <a:latin typeface="Calibri" pitchFamily="34" charset="0"/>
                <a:ea typeface="Calibri" pitchFamily="34" charset="-122"/>
                <a:cs typeface="Calibri" pitchFamily="34" charset="-120"/>
              </a:rPr>
              <a:t>8</a:t>
            </a:r>
            <a:endParaRPr lang="en-US" sz="4000" dirty="0"/>
          </a:p>
        </p:txBody>
      </p:sp>
      <p:sp>
        <p:nvSpPr>
          <p:cNvPr id="34" name="Text 30"/>
          <p:cNvSpPr txBox="1"/>
          <p:nvPr/>
        </p:nvSpPr>
        <p:spPr>
          <a:xfrm>
            <a:off x="5044928" y="3691433"/>
            <a:ext cx="2101840" cy="357530"/>
          </a:xfrm>
          <a:prstGeom prst="rect">
            <a:avLst/>
          </a:prstGeom>
          <a:noFill/>
          <a:ln/>
        </p:spPr>
        <p:txBody>
          <a:bodyPr wrap="square" lIns="0" tIns="0" rIns="0" bIns="0" rtlCol="0" anchor="ctr"/>
          <a:lstStyle/>
          <a:p>
            <a:pPr algn="ctr" indent="0" marL="0">
              <a:buNone/>
            </a:pPr>
            <a:r>
              <a:rPr lang="en-US" sz="1100" dirty="0">
                <a:solidFill>
                  <a:srgbClr val="6B7C71"/>
                </a:solidFill>
                <a:latin typeface="Calibri" pitchFamily="34" charset="0"/>
                <a:ea typeface="Calibri" pitchFamily="34" charset="-122"/>
                <a:cs typeface="Calibri" pitchFamily="34" charset="-120"/>
              </a:rPr>
              <a:t>eight /eɪt/</a:t>
            </a:r>
            <a:endParaRPr lang="en-US" sz="1100" dirty="0"/>
          </a:p>
        </p:txBody>
      </p:sp>
      <p:sp>
        <p:nvSpPr>
          <p:cNvPr id="35" name="Shape 31"/>
          <p:cNvSpPr/>
          <p:nvPr/>
        </p:nvSpPr>
        <p:spPr>
          <a:xfrm>
            <a:off x="7293072" y="3081528"/>
            <a:ext cx="2101840" cy="1051560"/>
          </a:xfrm>
          <a:prstGeom prst="roundRect">
            <a:avLst>
              <a:gd name="adj" fmla="val 12174"/>
            </a:avLst>
          </a:prstGeom>
          <a:solidFill>
            <a:srgbClr val="F6F9F7"/>
          </a:solidFill>
          <a:ln w="12700">
            <a:solidFill>
              <a:srgbClr val="E3E9E5"/>
            </a:solidFill>
            <a:prstDash val="solid"/>
          </a:ln>
        </p:spPr>
      </p:sp>
      <p:sp>
        <p:nvSpPr>
          <p:cNvPr id="36" name="Text 32"/>
          <p:cNvSpPr txBox="1"/>
          <p:nvPr/>
        </p:nvSpPr>
        <p:spPr>
          <a:xfrm>
            <a:off x="7293072" y="3081528"/>
            <a:ext cx="2101840" cy="651967"/>
          </a:xfrm>
          <a:prstGeom prst="rect">
            <a:avLst/>
          </a:prstGeom>
          <a:noFill/>
          <a:ln/>
        </p:spPr>
        <p:txBody>
          <a:bodyPr wrap="square" lIns="0" tIns="0" rIns="0" bIns="0" rtlCol="0" anchor="ctr"/>
          <a:lstStyle/>
          <a:p>
            <a:pPr algn="ctr" indent="0" marL="0">
              <a:buNone/>
            </a:pPr>
            <a:r>
              <a:rPr lang="en-US" sz="4000" b="1" dirty="0">
                <a:solidFill>
                  <a:srgbClr val="12211B"/>
                </a:solidFill>
                <a:latin typeface="Calibri" pitchFamily="34" charset="0"/>
                <a:ea typeface="Calibri" pitchFamily="34" charset="-122"/>
                <a:cs typeface="Calibri" pitchFamily="34" charset="-120"/>
              </a:rPr>
              <a:t>9</a:t>
            </a:r>
            <a:endParaRPr lang="en-US" sz="4000" dirty="0"/>
          </a:p>
        </p:txBody>
      </p:sp>
      <p:sp>
        <p:nvSpPr>
          <p:cNvPr id="37" name="Text 33"/>
          <p:cNvSpPr txBox="1"/>
          <p:nvPr/>
        </p:nvSpPr>
        <p:spPr>
          <a:xfrm>
            <a:off x="7293072" y="3691433"/>
            <a:ext cx="2101840" cy="357530"/>
          </a:xfrm>
          <a:prstGeom prst="rect">
            <a:avLst/>
          </a:prstGeom>
          <a:noFill/>
          <a:ln/>
        </p:spPr>
        <p:txBody>
          <a:bodyPr wrap="square" lIns="0" tIns="0" rIns="0" bIns="0" rtlCol="0" anchor="ctr"/>
          <a:lstStyle/>
          <a:p>
            <a:pPr algn="ctr" indent="0" marL="0">
              <a:buNone/>
            </a:pPr>
            <a:r>
              <a:rPr lang="en-US" sz="1100" dirty="0">
                <a:solidFill>
                  <a:srgbClr val="6B7C71"/>
                </a:solidFill>
                <a:latin typeface="Calibri" pitchFamily="34" charset="0"/>
                <a:ea typeface="Calibri" pitchFamily="34" charset="-122"/>
                <a:cs typeface="Calibri" pitchFamily="34" charset="-120"/>
              </a:rPr>
              <a:t>nine /naɪn/</a:t>
            </a:r>
            <a:endParaRPr lang="en-US" sz="1100" dirty="0"/>
          </a:p>
        </p:txBody>
      </p:sp>
      <p:sp>
        <p:nvSpPr>
          <p:cNvPr id="38" name="Shape 34"/>
          <p:cNvSpPr/>
          <p:nvPr/>
        </p:nvSpPr>
        <p:spPr>
          <a:xfrm>
            <a:off x="9541215" y="3081528"/>
            <a:ext cx="2101840" cy="1051560"/>
          </a:xfrm>
          <a:prstGeom prst="roundRect">
            <a:avLst>
              <a:gd name="adj" fmla="val 12174"/>
            </a:avLst>
          </a:prstGeom>
          <a:solidFill>
            <a:srgbClr val="F6F9F7"/>
          </a:solidFill>
          <a:ln w="12700">
            <a:solidFill>
              <a:srgbClr val="E3E9E5"/>
            </a:solidFill>
            <a:prstDash val="solid"/>
          </a:ln>
        </p:spPr>
      </p:sp>
      <p:sp>
        <p:nvSpPr>
          <p:cNvPr id="39" name="Text 35"/>
          <p:cNvSpPr txBox="1"/>
          <p:nvPr/>
        </p:nvSpPr>
        <p:spPr>
          <a:xfrm>
            <a:off x="9541215" y="3081528"/>
            <a:ext cx="2101840" cy="651967"/>
          </a:xfrm>
          <a:prstGeom prst="rect">
            <a:avLst/>
          </a:prstGeom>
          <a:noFill/>
          <a:ln/>
        </p:spPr>
        <p:txBody>
          <a:bodyPr wrap="square" lIns="0" tIns="0" rIns="0" bIns="0" rtlCol="0" anchor="ctr"/>
          <a:lstStyle/>
          <a:p>
            <a:pPr algn="ctr" indent="0" marL="0">
              <a:buNone/>
            </a:pPr>
            <a:r>
              <a:rPr lang="en-US" sz="4000" b="1" dirty="0">
                <a:solidFill>
                  <a:srgbClr val="12211B"/>
                </a:solidFill>
                <a:latin typeface="Calibri" pitchFamily="34" charset="0"/>
                <a:ea typeface="Calibri" pitchFamily="34" charset="-122"/>
                <a:cs typeface="Calibri" pitchFamily="34" charset="-120"/>
              </a:rPr>
              <a:t>10</a:t>
            </a:r>
            <a:endParaRPr lang="en-US" sz="4000" dirty="0"/>
          </a:p>
        </p:txBody>
      </p:sp>
      <p:sp>
        <p:nvSpPr>
          <p:cNvPr id="40" name="Text 36"/>
          <p:cNvSpPr txBox="1"/>
          <p:nvPr/>
        </p:nvSpPr>
        <p:spPr>
          <a:xfrm>
            <a:off x="9541215" y="3691433"/>
            <a:ext cx="2101840" cy="357530"/>
          </a:xfrm>
          <a:prstGeom prst="rect">
            <a:avLst/>
          </a:prstGeom>
          <a:noFill/>
          <a:ln/>
        </p:spPr>
        <p:txBody>
          <a:bodyPr wrap="square" lIns="0" tIns="0" rIns="0" bIns="0" rtlCol="0" anchor="ctr"/>
          <a:lstStyle/>
          <a:p>
            <a:pPr algn="ctr" indent="0" marL="0">
              <a:buNone/>
            </a:pPr>
            <a:r>
              <a:rPr lang="en-US" sz="1100" dirty="0">
                <a:solidFill>
                  <a:srgbClr val="6B7C71"/>
                </a:solidFill>
                <a:latin typeface="Calibri" pitchFamily="34" charset="0"/>
                <a:ea typeface="Calibri" pitchFamily="34" charset="-122"/>
                <a:cs typeface="Calibri" pitchFamily="34" charset="-120"/>
              </a:rPr>
              <a:t>ten /ten/</a:t>
            </a:r>
            <a:endParaRPr lang="en-US" sz="1100" dirty="0"/>
          </a:p>
        </p:txBody>
      </p:sp>
      <p:sp>
        <p:nvSpPr>
          <p:cNvPr id="41" name="Shape 37"/>
          <p:cNvSpPr/>
          <p:nvPr/>
        </p:nvSpPr>
        <p:spPr>
          <a:xfrm>
            <a:off x="548640" y="5376672"/>
            <a:ext cx="11094415" cy="566928"/>
          </a:xfrm>
          <a:prstGeom prst="roundRect">
            <a:avLst>
              <a:gd name="adj" fmla="val 22581"/>
            </a:avLst>
          </a:prstGeom>
          <a:solidFill>
            <a:srgbClr val="FDF3E7"/>
          </a:solidFill>
          <a:ln w="12700">
            <a:solidFill>
              <a:srgbClr val="EFDCB2"/>
            </a:solidFill>
            <a:prstDash val="solid"/>
          </a:ln>
        </p:spPr>
      </p:sp>
      <p:sp>
        <p:nvSpPr>
          <p:cNvPr id="42" name="Text 38"/>
          <p:cNvSpPr txBox="1"/>
          <p:nvPr/>
        </p:nvSpPr>
        <p:spPr>
          <a:xfrm>
            <a:off x="768096" y="5376672"/>
            <a:ext cx="10655503" cy="56692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Two hard ones:  THREE starts with the “th” sound — tongue between the teeth.  ·  SEVEN has the /v/ sound — teeth on lip.</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Numbers 11 to 20</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Watch numbers 13 to 19 — they all end in -TEEN.</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2 — Numbers, Time &amp; Money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a:t>
            </a:r>
            <a:endParaRPr lang="en-US" sz="1100" dirty="0"/>
          </a:p>
        </p:txBody>
      </p:sp>
      <p:sp>
        <p:nvSpPr>
          <p:cNvPr id="11" name="Shape 7"/>
          <p:cNvSpPr/>
          <p:nvPr/>
        </p:nvSpPr>
        <p:spPr>
          <a:xfrm>
            <a:off x="548640" y="1883664"/>
            <a:ext cx="2101840" cy="1051560"/>
          </a:xfrm>
          <a:prstGeom prst="roundRect">
            <a:avLst>
              <a:gd name="adj" fmla="val 12174"/>
            </a:avLst>
          </a:prstGeom>
          <a:solidFill>
            <a:srgbClr val="F6F9F7"/>
          </a:solidFill>
          <a:ln w="12700">
            <a:solidFill>
              <a:srgbClr val="E3E9E5"/>
            </a:solidFill>
            <a:prstDash val="solid"/>
          </a:ln>
        </p:spPr>
      </p:sp>
      <p:sp>
        <p:nvSpPr>
          <p:cNvPr id="12" name="Text 8"/>
          <p:cNvSpPr txBox="1"/>
          <p:nvPr/>
        </p:nvSpPr>
        <p:spPr>
          <a:xfrm>
            <a:off x="548640" y="1883664"/>
            <a:ext cx="2101840" cy="651967"/>
          </a:xfrm>
          <a:prstGeom prst="rect">
            <a:avLst/>
          </a:prstGeom>
          <a:noFill/>
          <a:ln/>
        </p:spPr>
        <p:txBody>
          <a:bodyPr wrap="square" lIns="0" tIns="0" rIns="0" bIns="0" rtlCol="0" anchor="ctr"/>
          <a:lstStyle/>
          <a:p>
            <a:pPr algn="ctr" indent="0" marL="0">
              <a:buNone/>
            </a:pPr>
            <a:r>
              <a:rPr lang="en-US" sz="4000" b="1" dirty="0">
                <a:solidFill>
                  <a:srgbClr val="12211B"/>
                </a:solidFill>
                <a:latin typeface="Calibri" pitchFamily="34" charset="0"/>
                <a:ea typeface="Calibri" pitchFamily="34" charset="-122"/>
                <a:cs typeface="Calibri" pitchFamily="34" charset="-120"/>
              </a:rPr>
              <a:t>11</a:t>
            </a:r>
            <a:endParaRPr lang="en-US" sz="4000" dirty="0"/>
          </a:p>
        </p:txBody>
      </p:sp>
      <p:sp>
        <p:nvSpPr>
          <p:cNvPr id="13" name="Text 9"/>
          <p:cNvSpPr txBox="1"/>
          <p:nvPr/>
        </p:nvSpPr>
        <p:spPr>
          <a:xfrm>
            <a:off x="548640" y="2493569"/>
            <a:ext cx="2101840" cy="357530"/>
          </a:xfrm>
          <a:prstGeom prst="rect">
            <a:avLst/>
          </a:prstGeom>
          <a:noFill/>
          <a:ln/>
        </p:spPr>
        <p:txBody>
          <a:bodyPr wrap="square" lIns="0" tIns="0" rIns="0" bIns="0" rtlCol="0" anchor="ctr"/>
          <a:lstStyle/>
          <a:p>
            <a:pPr algn="ctr" indent="0" marL="0">
              <a:buNone/>
            </a:pPr>
            <a:r>
              <a:rPr lang="en-US" sz="1100" dirty="0">
                <a:solidFill>
                  <a:srgbClr val="6B7C71"/>
                </a:solidFill>
                <a:latin typeface="Calibri" pitchFamily="34" charset="0"/>
                <a:ea typeface="Calibri" pitchFamily="34" charset="-122"/>
                <a:cs typeface="Calibri" pitchFamily="34" charset="-120"/>
              </a:rPr>
              <a:t>eleven</a:t>
            </a:r>
            <a:endParaRPr lang="en-US" sz="1100" dirty="0"/>
          </a:p>
        </p:txBody>
      </p:sp>
      <p:sp>
        <p:nvSpPr>
          <p:cNvPr id="14" name="Shape 10"/>
          <p:cNvSpPr/>
          <p:nvPr/>
        </p:nvSpPr>
        <p:spPr>
          <a:xfrm>
            <a:off x="2796784" y="1883664"/>
            <a:ext cx="2101840" cy="1051560"/>
          </a:xfrm>
          <a:prstGeom prst="roundRect">
            <a:avLst>
              <a:gd name="adj" fmla="val 12174"/>
            </a:avLst>
          </a:prstGeom>
          <a:solidFill>
            <a:srgbClr val="F6F9F7"/>
          </a:solidFill>
          <a:ln w="12700">
            <a:solidFill>
              <a:srgbClr val="E3E9E5"/>
            </a:solidFill>
            <a:prstDash val="solid"/>
          </a:ln>
        </p:spPr>
      </p:sp>
      <p:sp>
        <p:nvSpPr>
          <p:cNvPr id="15" name="Text 11"/>
          <p:cNvSpPr txBox="1"/>
          <p:nvPr/>
        </p:nvSpPr>
        <p:spPr>
          <a:xfrm>
            <a:off x="2796784" y="1883664"/>
            <a:ext cx="2101840" cy="651967"/>
          </a:xfrm>
          <a:prstGeom prst="rect">
            <a:avLst/>
          </a:prstGeom>
          <a:noFill/>
          <a:ln/>
        </p:spPr>
        <p:txBody>
          <a:bodyPr wrap="square" lIns="0" tIns="0" rIns="0" bIns="0" rtlCol="0" anchor="ctr"/>
          <a:lstStyle/>
          <a:p>
            <a:pPr algn="ctr" indent="0" marL="0">
              <a:buNone/>
            </a:pPr>
            <a:r>
              <a:rPr lang="en-US" sz="4000" b="1" dirty="0">
                <a:solidFill>
                  <a:srgbClr val="12211B"/>
                </a:solidFill>
                <a:latin typeface="Calibri" pitchFamily="34" charset="0"/>
                <a:ea typeface="Calibri" pitchFamily="34" charset="-122"/>
                <a:cs typeface="Calibri" pitchFamily="34" charset="-120"/>
              </a:rPr>
              <a:t>12</a:t>
            </a:r>
            <a:endParaRPr lang="en-US" sz="4000" dirty="0"/>
          </a:p>
        </p:txBody>
      </p:sp>
      <p:sp>
        <p:nvSpPr>
          <p:cNvPr id="16" name="Text 12"/>
          <p:cNvSpPr txBox="1"/>
          <p:nvPr/>
        </p:nvSpPr>
        <p:spPr>
          <a:xfrm>
            <a:off x="2796784" y="2493569"/>
            <a:ext cx="2101840" cy="357530"/>
          </a:xfrm>
          <a:prstGeom prst="rect">
            <a:avLst/>
          </a:prstGeom>
          <a:noFill/>
          <a:ln/>
        </p:spPr>
        <p:txBody>
          <a:bodyPr wrap="square" lIns="0" tIns="0" rIns="0" bIns="0" rtlCol="0" anchor="ctr"/>
          <a:lstStyle/>
          <a:p>
            <a:pPr algn="ctr" indent="0" marL="0">
              <a:buNone/>
            </a:pPr>
            <a:r>
              <a:rPr lang="en-US" sz="1100" dirty="0">
                <a:solidFill>
                  <a:srgbClr val="6B7C71"/>
                </a:solidFill>
                <a:latin typeface="Calibri" pitchFamily="34" charset="0"/>
                <a:ea typeface="Calibri" pitchFamily="34" charset="-122"/>
                <a:cs typeface="Calibri" pitchFamily="34" charset="-120"/>
              </a:rPr>
              <a:t>twelve</a:t>
            </a:r>
            <a:endParaRPr lang="en-US" sz="1100" dirty="0"/>
          </a:p>
        </p:txBody>
      </p:sp>
      <p:sp>
        <p:nvSpPr>
          <p:cNvPr id="17" name="Shape 13"/>
          <p:cNvSpPr/>
          <p:nvPr/>
        </p:nvSpPr>
        <p:spPr>
          <a:xfrm>
            <a:off x="5044928" y="1883664"/>
            <a:ext cx="2101840" cy="1051560"/>
          </a:xfrm>
          <a:prstGeom prst="roundRect">
            <a:avLst>
              <a:gd name="adj" fmla="val 12174"/>
            </a:avLst>
          </a:prstGeom>
          <a:solidFill>
            <a:srgbClr val="F2A93B"/>
          </a:solidFill>
          <a:ln w="12700">
            <a:solidFill>
              <a:srgbClr val="F2A93B"/>
            </a:solidFill>
            <a:prstDash val="solid"/>
          </a:ln>
        </p:spPr>
      </p:sp>
      <p:sp>
        <p:nvSpPr>
          <p:cNvPr id="18" name="Text 14"/>
          <p:cNvSpPr txBox="1"/>
          <p:nvPr/>
        </p:nvSpPr>
        <p:spPr>
          <a:xfrm>
            <a:off x="5044928" y="1883664"/>
            <a:ext cx="2101840" cy="651967"/>
          </a:xfrm>
          <a:prstGeom prst="rect">
            <a:avLst/>
          </a:prstGeom>
          <a:noFill/>
          <a:ln/>
        </p:spPr>
        <p:txBody>
          <a:bodyPr wrap="square" lIns="0" tIns="0" rIns="0" bIns="0" rtlCol="0" anchor="ctr"/>
          <a:lstStyle/>
          <a:p>
            <a:pPr algn="ctr" indent="0" marL="0">
              <a:buNone/>
            </a:pPr>
            <a:r>
              <a:rPr lang="en-US" sz="4000" b="1" dirty="0">
                <a:solidFill>
                  <a:srgbClr val="0B231C"/>
                </a:solidFill>
                <a:latin typeface="Calibri" pitchFamily="34" charset="0"/>
                <a:ea typeface="Calibri" pitchFamily="34" charset="-122"/>
                <a:cs typeface="Calibri" pitchFamily="34" charset="-120"/>
              </a:rPr>
              <a:t>13</a:t>
            </a:r>
            <a:endParaRPr lang="en-US" sz="4000" dirty="0"/>
          </a:p>
        </p:txBody>
      </p:sp>
      <p:sp>
        <p:nvSpPr>
          <p:cNvPr id="19" name="Text 15"/>
          <p:cNvSpPr txBox="1"/>
          <p:nvPr/>
        </p:nvSpPr>
        <p:spPr>
          <a:xfrm>
            <a:off x="5044928" y="2493569"/>
            <a:ext cx="2101840" cy="357530"/>
          </a:xfrm>
          <a:prstGeom prst="rect">
            <a:avLst/>
          </a:prstGeom>
          <a:noFill/>
          <a:ln/>
        </p:spPr>
        <p:txBody>
          <a:bodyPr wrap="square" lIns="0" tIns="0" rIns="0" bIns="0" rtlCol="0" anchor="ctr"/>
          <a:lstStyle/>
          <a:p>
            <a:pPr algn="ctr" indent="0" marL="0">
              <a:buNone/>
            </a:pPr>
            <a:r>
              <a:rPr lang="en-US" sz="1100" dirty="0">
                <a:solidFill>
                  <a:srgbClr val="0B231C"/>
                </a:solidFill>
                <a:latin typeface="Calibri" pitchFamily="34" charset="0"/>
                <a:ea typeface="Calibri" pitchFamily="34" charset="-122"/>
                <a:cs typeface="Calibri" pitchFamily="34" charset="-120"/>
              </a:rPr>
              <a:t>thirteen</a:t>
            </a:r>
            <a:endParaRPr lang="en-US" sz="1100" dirty="0"/>
          </a:p>
        </p:txBody>
      </p:sp>
      <p:sp>
        <p:nvSpPr>
          <p:cNvPr id="20" name="Shape 16"/>
          <p:cNvSpPr/>
          <p:nvPr/>
        </p:nvSpPr>
        <p:spPr>
          <a:xfrm>
            <a:off x="7293072" y="1883664"/>
            <a:ext cx="2101840" cy="1051560"/>
          </a:xfrm>
          <a:prstGeom prst="roundRect">
            <a:avLst>
              <a:gd name="adj" fmla="val 12174"/>
            </a:avLst>
          </a:prstGeom>
          <a:solidFill>
            <a:srgbClr val="F2A93B"/>
          </a:solidFill>
          <a:ln w="12700">
            <a:solidFill>
              <a:srgbClr val="F2A93B"/>
            </a:solidFill>
            <a:prstDash val="solid"/>
          </a:ln>
        </p:spPr>
      </p:sp>
      <p:sp>
        <p:nvSpPr>
          <p:cNvPr id="21" name="Text 17"/>
          <p:cNvSpPr txBox="1"/>
          <p:nvPr/>
        </p:nvSpPr>
        <p:spPr>
          <a:xfrm>
            <a:off x="7293072" y="1883664"/>
            <a:ext cx="2101840" cy="651967"/>
          </a:xfrm>
          <a:prstGeom prst="rect">
            <a:avLst/>
          </a:prstGeom>
          <a:noFill/>
          <a:ln/>
        </p:spPr>
        <p:txBody>
          <a:bodyPr wrap="square" lIns="0" tIns="0" rIns="0" bIns="0" rtlCol="0" anchor="ctr"/>
          <a:lstStyle/>
          <a:p>
            <a:pPr algn="ctr" indent="0" marL="0">
              <a:buNone/>
            </a:pPr>
            <a:r>
              <a:rPr lang="en-US" sz="4000" b="1" dirty="0">
                <a:solidFill>
                  <a:srgbClr val="0B231C"/>
                </a:solidFill>
                <a:latin typeface="Calibri" pitchFamily="34" charset="0"/>
                <a:ea typeface="Calibri" pitchFamily="34" charset="-122"/>
                <a:cs typeface="Calibri" pitchFamily="34" charset="-120"/>
              </a:rPr>
              <a:t>14</a:t>
            </a:r>
            <a:endParaRPr lang="en-US" sz="4000" dirty="0"/>
          </a:p>
        </p:txBody>
      </p:sp>
      <p:sp>
        <p:nvSpPr>
          <p:cNvPr id="22" name="Text 18"/>
          <p:cNvSpPr txBox="1"/>
          <p:nvPr/>
        </p:nvSpPr>
        <p:spPr>
          <a:xfrm>
            <a:off x="7293072" y="2493569"/>
            <a:ext cx="2101840" cy="357530"/>
          </a:xfrm>
          <a:prstGeom prst="rect">
            <a:avLst/>
          </a:prstGeom>
          <a:noFill/>
          <a:ln/>
        </p:spPr>
        <p:txBody>
          <a:bodyPr wrap="square" lIns="0" tIns="0" rIns="0" bIns="0" rtlCol="0" anchor="ctr"/>
          <a:lstStyle/>
          <a:p>
            <a:pPr algn="ctr" indent="0" marL="0">
              <a:buNone/>
            </a:pPr>
            <a:r>
              <a:rPr lang="en-US" sz="1100" dirty="0">
                <a:solidFill>
                  <a:srgbClr val="0B231C"/>
                </a:solidFill>
                <a:latin typeface="Calibri" pitchFamily="34" charset="0"/>
                <a:ea typeface="Calibri" pitchFamily="34" charset="-122"/>
                <a:cs typeface="Calibri" pitchFamily="34" charset="-120"/>
              </a:rPr>
              <a:t>fourteen</a:t>
            </a:r>
            <a:endParaRPr lang="en-US" sz="1100" dirty="0"/>
          </a:p>
        </p:txBody>
      </p:sp>
      <p:sp>
        <p:nvSpPr>
          <p:cNvPr id="23" name="Shape 19"/>
          <p:cNvSpPr/>
          <p:nvPr/>
        </p:nvSpPr>
        <p:spPr>
          <a:xfrm>
            <a:off x="9541215" y="1883664"/>
            <a:ext cx="2101840" cy="1051560"/>
          </a:xfrm>
          <a:prstGeom prst="roundRect">
            <a:avLst>
              <a:gd name="adj" fmla="val 12174"/>
            </a:avLst>
          </a:prstGeom>
          <a:solidFill>
            <a:srgbClr val="F2A93B"/>
          </a:solidFill>
          <a:ln w="12700">
            <a:solidFill>
              <a:srgbClr val="F2A93B"/>
            </a:solidFill>
            <a:prstDash val="solid"/>
          </a:ln>
        </p:spPr>
      </p:sp>
      <p:sp>
        <p:nvSpPr>
          <p:cNvPr id="24" name="Text 20"/>
          <p:cNvSpPr txBox="1"/>
          <p:nvPr/>
        </p:nvSpPr>
        <p:spPr>
          <a:xfrm>
            <a:off x="9541215" y="1883664"/>
            <a:ext cx="2101840" cy="651967"/>
          </a:xfrm>
          <a:prstGeom prst="rect">
            <a:avLst/>
          </a:prstGeom>
          <a:noFill/>
          <a:ln/>
        </p:spPr>
        <p:txBody>
          <a:bodyPr wrap="square" lIns="0" tIns="0" rIns="0" bIns="0" rtlCol="0" anchor="ctr"/>
          <a:lstStyle/>
          <a:p>
            <a:pPr algn="ctr" indent="0" marL="0">
              <a:buNone/>
            </a:pPr>
            <a:r>
              <a:rPr lang="en-US" sz="4000" b="1" dirty="0">
                <a:solidFill>
                  <a:srgbClr val="0B231C"/>
                </a:solidFill>
                <a:latin typeface="Calibri" pitchFamily="34" charset="0"/>
                <a:ea typeface="Calibri" pitchFamily="34" charset="-122"/>
                <a:cs typeface="Calibri" pitchFamily="34" charset="-120"/>
              </a:rPr>
              <a:t>15</a:t>
            </a:r>
            <a:endParaRPr lang="en-US" sz="4000" dirty="0"/>
          </a:p>
        </p:txBody>
      </p:sp>
      <p:sp>
        <p:nvSpPr>
          <p:cNvPr id="25" name="Text 21"/>
          <p:cNvSpPr txBox="1"/>
          <p:nvPr/>
        </p:nvSpPr>
        <p:spPr>
          <a:xfrm>
            <a:off x="9541215" y="2493569"/>
            <a:ext cx="2101840" cy="357530"/>
          </a:xfrm>
          <a:prstGeom prst="rect">
            <a:avLst/>
          </a:prstGeom>
          <a:noFill/>
          <a:ln/>
        </p:spPr>
        <p:txBody>
          <a:bodyPr wrap="square" lIns="0" tIns="0" rIns="0" bIns="0" rtlCol="0" anchor="ctr"/>
          <a:lstStyle/>
          <a:p>
            <a:pPr algn="ctr" indent="0" marL="0">
              <a:buNone/>
            </a:pPr>
            <a:r>
              <a:rPr lang="en-US" sz="1100" dirty="0">
                <a:solidFill>
                  <a:srgbClr val="0B231C"/>
                </a:solidFill>
                <a:latin typeface="Calibri" pitchFamily="34" charset="0"/>
                <a:ea typeface="Calibri" pitchFamily="34" charset="-122"/>
                <a:cs typeface="Calibri" pitchFamily="34" charset="-120"/>
              </a:rPr>
              <a:t>fifteen</a:t>
            </a:r>
            <a:endParaRPr lang="en-US" sz="1100" dirty="0"/>
          </a:p>
        </p:txBody>
      </p:sp>
      <p:sp>
        <p:nvSpPr>
          <p:cNvPr id="26" name="Shape 22"/>
          <p:cNvSpPr/>
          <p:nvPr/>
        </p:nvSpPr>
        <p:spPr>
          <a:xfrm>
            <a:off x="548640" y="3081528"/>
            <a:ext cx="2101840" cy="1051560"/>
          </a:xfrm>
          <a:prstGeom prst="roundRect">
            <a:avLst>
              <a:gd name="adj" fmla="val 12174"/>
            </a:avLst>
          </a:prstGeom>
          <a:solidFill>
            <a:srgbClr val="F2A93B"/>
          </a:solidFill>
          <a:ln w="12700">
            <a:solidFill>
              <a:srgbClr val="F2A93B"/>
            </a:solidFill>
            <a:prstDash val="solid"/>
          </a:ln>
        </p:spPr>
      </p:sp>
      <p:sp>
        <p:nvSpPr>
          <p:cNvPr id="27" name="Text 23"/>
          <p:cNvSpPr txBox="1"/>
          <p:nvPr/>
        </p:nvSpPr>
        <p:spPr>
          <a:xfrm>
            <a:off x="548640" y="3081528"/>
            <a:ext cx="2101840" cy="651967"/>
          </a:xfrm>
          <a:prstGeom prst="rect">
            <a:avLst/>
          </a:prstGeom>
          <a:noFill/>
          <a:ln/>
        </p:spPr>
        <p:txBody>
          <a:bodyPr wrap="square" lIns="0" tIns="0" rIns="0" bIns="0" rtlCol="0" anchor="ctr"/>
          <a:lstStyle/>
          <a:p>
            <a:pPr algn="ctr" indent="0" marL="0">
              <a:buNone/>
            </a:pPr>
            <a:r>
              <a:rPr lang="en-US" sz="4000" b="1" dirty="0">
                <a:solidFill>
                  <a:srgbClr val="0B231C"/>
                </a:solidFill>
                <a:latin typeface="Calibri" pitchFamily="34" charset="0"/>
                <a:ea typeface="Calibri" pitchFamily="34" charset="-122"/>
                <a:cs typeface="Calibri" pitchFamily="34" charset="-120"/>
              </a:rPr>
              <a:t>16</a:t>
            </a:r>
            <a:endParaRPr lang="en-US" sz="4000" dirty="0"/>
          </a:p>
        </p:txBody>
      </p:sp>
      <p:sp>
        <p:nvSpPr>
          <p:cNvPr id="28" name="Text 24"/>
          <p:cNvSpPr txBox="1"/>
          <p:nvPr/>
        </p:nvSpPr>
        <p:spPr>
          <a:xfrm>
            <a:off x="548640" y="3691433"/>
            <a:ext cx="2101840" cy="357530"/>
          </a:xfrm>
          <a:prstGeom prst="rect">
            <a:avLst/>
          </a:prstGeom>
          <a:noFill/>
          <a:ln/>
        </p:spPr>
        <p:txBody>
          <a:bodyPr wrap="square" lIns="0" tIns="0" rIns="0" bIns="0" rtlCol="0" anchor="ctr"/>
          <a:lstStyle/>
          <a:p>
            <a:pPr algn="ctr" indent="0" marL="0">
              <a:buNone/>
            </a:pPr>
            <a:r>
              <a:rPr lang="en-US" sz="1100" dirty="0">
                <a:solidFill>
                  <a:srgbClr val="0B231C"/>
                </a:solidFill>
                <a:latin typeface="Calibri" pitchFamily="34" charset="0"/>
                <a:ea typeface="Calibri" pitchFamily="34" charset="-122"/>
                <a:cs typeface="Calibri" pitchFamily="34" charset="-120"/>
              </a:rPr>
              <a:t>sixteen</a:t>
            </a:r>
            <a:endParaRPr lang="en-US" sz="1100" dirty="0"/>
          </a:p>
        </p:txBody>
      </p:sp>
      <p:sp>
        <p:nvSpPr>
          <p:cNvPr id="29" name="Shape 25"/>
          <p:cNvSpPr/>
          <p:nvPr/>
        </p:nvSpPr>
        <p:spPr>
          <a:xfrm>
            <a:off x="2796784" y="3081528"/>
            <a:ext cx="2101840" cy="1051560"/>
          </a:xfrm>
          <a:prstGeom prst="roundRect">
            <a:avLst>
              <a:gd name="adj" fmla="val 12174"/>
            </a:avLst>
          </a:prstGeom>
          <a:solidFill>
            <a:srgbClr val="F2A93B"/>
          </a:solidFill>
          <a:ln w="12700">
            <a:solidFill>
              <a:srgbClr val="F2A93B"/>
            </a:solidFill>
            <a:prstDash val="solid"/>
          </a:ln>
        </p:spPr>
      </p:sp>
      <p:sp>
        <p:nvSpPr>
          <p:cNvPr id="30" name="Text 26"/>
          <p:cNvSpPr txBox="1"/>
          <p:nvPr/>
        </p:nvSpPr>
        <p:spPr>
          <a:xfrm>
            <a:off x="2796784" y="3081528"/>
            <a:ext cx="2101840" cy="651967"/>
          </a:xfrm>
          <a:prstGeom prst="rect">
            <a:avLst/>
          </a:prstGeom>
          <a:noFill/>
          <a:ln/>
        </p:spPr>
        <p:txBody>
          <a:bodyPr wrap="square" lIns="0" tIns="0" rIns="0" bIns="0" rtlCol="0" anchor="ctr"/>
          <a:lstStyle/>
          <a:p>
            <a:pPr algn="ctr" indent="0" marL="0">
              <a:buNone/>
            </a:pPr>
            <a:r>
              <a:rPr lang="en-US" sz="4000" b="1" dirty="0">
                <a:solidFill>
                  <a:srgbClr val="0B231C"/>
                </a:solidFill>
                <a:latin typeface="Calibri" pitchFamily="34" charset="0"/>
                <a:ea typeface="Calibri" pitchFamily="34" charset="-122"/>
                <a:cs typeface="Calibri" pitchFamily="34" charset="-120"/>
              </a:rPr>
              <a:t>17</a:t>
            </a:r>
            <a:endParaRPr lang="en-US" sz="4000" dirty="0"/>
          </a:p>
        </p:txBody>
      </p:sp>
      <p:sp>
        <p:nvSpPr>
          <p:cNvPr id="31" name="Text 27"/>
          <p:cNvSpPr txBox="1"/>
          <p:nvPr/>
        </p:nvSpPr>
        <p:spPr>
          <a:xfrm>
            <a:off x="2796784" y="3691433"/>
            <a:ext cx="2101840" cy="357530"/>
          </a:xfrm>
          <a:prstGeom prst="rect">
            <a:avLst/>
          </a:prstGeom>
          <a:noFill/>
          <a:ln/>
        </p:spPr>
        <p:txBody>
          <a:bodyPr wrap="square" lIns="0" tIns="0" rIns="0" bIns="0" rtlCol="0" anchor="ctr"/>
          <a:lstStyle/>
          <a:p>
            <a:pPr algn="ctr" indent="0" marL="0">
              <a:buNone/>
            </a:pPr>
            <a:r>
              <a:rPr lang="en-US" sz="1100" dirty="0">
                <a:solidFill>
                  <a:srgbClr val="0B231C"/>
                </a:solidFill>
                <a:latin typeface="Calibri" pitchFamily="34" charset="0"/>
                <a:ea typeface="Calibri" pitchFamily="34" charset="-122"/>
                <a:cs typeface="Calibri" pitchFamily="34" charset="-120"/>
              </a:rPr>
              <a:t>seventeen</a:t>
            </a:r>
            <a:endParaRPr lang="en-US" sz="1100" dirty="0"/>
          </a:p>
        </p:txBody>
      </p:sp>
      <p:sp>
        <p:nvSpPr>
          <p:cNvPr id="32" name="Shape 28"/>
          <p:cNvSpPr/>
          <p:nvPr/>
        </p:nvSpPr>
        <p:spPr>
          <a:xfrm>
            <a:off x="5044928" y="3081528"/>
            <a:ext cx="2101840" cy="1051560"/>
          </a:xfrm>
          <a:prstGeom prst="roundRect">
            <a:avLst>
              <a:gd name="adj" fmla="val 12174"/>
            </a:avLst>
          </a:prstGeom>
          <a:solidFill>
            <a:srgbClr val="F2A93B"/>
          </a:solidFill>
          <a:ln w="12700">
            <a:solidFill>
              <a:srgbClr val="F2A93B"/>
            </a:solidFill>
            <a:prstDash val="solid"/>
          </a:ln>
        </p:spPr>
      </p:sp>
      <p:sp>
        <p:nvSpPr>
          <p:cNvPr id="33" name="Text 29"/>
          <p:cNvSpPr txBox="1"/>
          <p:nvPr/>
        </p:nvSpPr>
        <p:spPr>
          <a:xfrm>
            <a:off x="5044928" y="3081528"/>
            <a:ext cx="2101840" cy="651967"/>
          </a:xfrm>
          <a:prstGeom prst="rect">
            <a:avLst/>
          </a:prstGeom>
          <a:noFill/>
          <a:ln/>
        </p:spPr>
        <p:txBody>
          <a:bodyPr wrap="square" lIns="0" tIns="0" rIns="0" bIns="0" rtlCol="0" anchor="ctr"/>
          <a:lstStyle/>
          <a:p>
            <a:pPr algn="ctr" indent="0" marL="0">
              <a:buNone/>
            </a:pPr>
            <a:r>
              <a:rPr lang="en-US" sz="4000" b="1" dirty="0">
                <a:solidFill>
                  <a:srgbClr val="0B231C"/>
                </a:solidFill>
                <a:latin typeface="Calibri" pitchFamily="34" charset="0"/>
                <a:ea typeface="Calibri" pitchFamily="34" charset="-122"/>
                <a:cs typeface="Calibri" pitchFamily="34" charset="-120"/>
              </a:rPr>
              <a:t>18</a:t>
            </a:r>
            <a:endParaRPr lang="en-US" sz="4000" dirty="0"/>
          </a:p>
        </p:txBody>
      </p:sp>
      <p:sp>
        <p:nvSpPr>
          <p:cNvPr id="34" name="Text 30"/>
          <p:cNvSpPr txBox="1"/>
          <p:nvPr/>
        </p:nvSpPr>
        <p:spPr>
          <a:xfrm>
            <a:off x="5044928" y="3691433"/>
            <a:ext cx="2101840" cy="357530"/>
          </a:xfrm>
          <a:prstGeom prst="rect">
            <a:avLst/>
          </a:prstGeom>
          <a:noFill/>
          <a:ln/>
        </p:spPr>
        <p:txBody>
          <a:bodyPr wrap="square" lIns="0" tIns="0" rIns="0" bIns="0" rtlCol="0" anchor="ctr"/>
          <a:lstStyle/>
          <a:p>
            <a:pPr algn="ctr" indent="0" marL="0">
              <a:buNone/>
            </a:pPr>
            <a:r>
              <a:rPr lang="en-US" sz="1100" dirty="0">
                <a:solidFill>
                  <a:srgbClr val="0B231C"/>
                </a:solidFill>
                <a:latin typeface="Calibri" pitchFamily="34" charset="0"/>
                <a:ea typeface="Calibri" pitchFamily="34" charset="-122"/>
                <a:cs typeface="Calibri" pitchFamily="34" charset="-120"/>
              </a:rPr>
              <a:t>eighteen</a:t>
            </a:r>
            <a:endParaRPr lang="en-US" sz="1100" dirty="0"/>
          </a:p>
        </p:txBody>
      </p:sp>
      <p:sp>
        <p:nvSpPr>
          <p:cNvPr id="35" name="Shape 31"/>
          <p:cNvSpPr/>
          <p:nvPr/>
        </p:nvSpPr>
        <p:spPr>
          <a:xfrm>
            <a:off x="7293072" y="3081528"/>
            <a:ext cx="2101840" cy="1051560"/>
          </a:xfrm>
          <a:prstGeom prst="roundRect">
            <a:avLst>
              <a:gd name="adj" fmla="val 12174"/>
            </a:avLst>
          </a:prstGeom>
          <a:solidFill>
            <a:srgbClr val="F2A93B"/>
          </a:solidFill>
          <a:ln w="12700">
            <a:solidFill>
              <a:srgbClr val="F2A93B"/>
            </a:solidFill>
            <a:prstDash val="solid"/>
          </a:ln>
        </p:spPr>
      </p:sp>
      <p:sp>
        <p:nvSpPr>
          <p:cNvPr id="36" name="Text 32"/>
          <p:cNvSpPr txBox="1"/>
          <p:nvPr/>
        </p:nvSpPr>
        <p:spPr>
          <a:xfrm>
            <a:off x="7293072" y="3081528"/>
            <a:ext cx="2101840" cy="651967"/>
          </a:xfrm>
          <a:prstGeom prst="rect">
            <a:avLst/>
          </a:prstGeom>
          <a:noFill/>
          <a:ln/>
        </p:spPr>
        <p:txBody>
          <a:bodyPr wrap="square" lIns="0" tIns="0" rIns="0" bIns="0" rtlCol="0" anchor="ctr"/>
          <a:lstStyle/>
          <a:p>
            <a:pPr algn="ctr" indent="0" marL="0">
              <a:buNone/>
            </a:pPr>
            <a:r>
              <a:rPr lang="en-US" sz="4000" b="1" dirty="0">
                <a:solidFill>
                  <a:srgbClr val="0B231C"/>
                </a:solidFill>
                <a:latin typeface="Calibri" pitchFamily="34" charset="0"/>
                <a:ea typeface="Calibri" pitchFamily="34" charset="-122"/>
                <a:cs typeface="Calibri" pitchFamily="34" charset="-120"/>
              </a:rPr>
              <a:t>19</a:t>
            </a:r>
            <a:endParaRPr lang="en-US" sz="4000" dirty="0"/>
          </a:p>
        </p:txBody>
      </p:sp>
      <p:sp>
        <p:nvSpPr>
          <p:cNvPr id="37" name="Text 33"/>
          <p:cNvSpPr txBox="1"/>
          <p:nvPr/>
        </p:nvSpPr>
        <p:spPr>
          <a:xfrm>
            <a:off x="7293072" y="3691433"/>
            <a:ext cx="2101840" cy="357530"/>
          </a:xfrm>
          <a:prstGeom prst="rect">
            <a:avLst/>
          </a:prstGeom>
          <a:noFill/>
          <a:ln/>
        </p:spPr>
        <p:txBody>
          <a:bodyPr wrap="square" lIns="0" tIns="0" rIns="0" bIns="0" rtlCol="0" anchor="ctr"/>
          <a:lstStyle/>
          <a:p>
            <a:pPr algn="ctr" indent="0" marL="0">
              <a:buNone/>
            </a:pPr>
            <a:r>
              <a:rPr lang="en-US" sz="1100" dirty="0">
                <a:solidFill>
                  <a:srgbClr val="0B231C"/>
                </a:solidFill>
                <a:latin typeface="Calibri" pitchFamily="34" charset="0"/>
                <a:ea typeface="Calibri" pitchFamily="34" charset="-122"/>
                <a:cs typeface="Calibri" pitchFamily="34" charset="-120"/>
              </a:rPr>
              <a:t>nineteen</a:t>
            </a:r>
            <a:endParaRPr lang="en-US" sz="1100" dirty="0"/>
          </a:p>
        </p:txBody>
      </p:sp>
      <p:sp>
        <p:nvSpPr>
          <p:cNvPr id="38" name="Shape 34"/>
          <p:cNvSpPr/>
          <p:nvPr/>
        </p:nvSpPr>
        <p:spPr>
          <a:xfrm>
            <a:off x="9541215" y="3081528"/>
            <a:ext cx="2101840" cy="1051560"/>
          </a:xfrm>
          <a:prstGeom prst="roundRect">
            <a:avLst>
              <a:gd name="adj" fmla="val 12174"/>
            </a:avLst>
          </a:prstGeom>
          <a:solidFill>
            <a:srgbClr val="F6F9F7"/>
          </a:solidFill>
          <a:ln w="12700">
            <a:solidFill>
              <a:srgbClr val="E3E9E5"/>
            </a:solidFill>
            <a:prstDash val="solid"/>
          </a:ln>
        </p:spPr>
      </p:sp>
      <p:sp>
        <p:nvSpPr>
          <p:cNvPr id="39" name="Text 35"/>
          <p:cNvSpPr txBox="1"/>
          <p:nvPr/>
        </p:nvSpPr>
        <p:spPr>
          <a:xfrm>
            <a:off x="9541215" y="3081528"/>
            <a:ext cx="2101840" cy="651967"/>
          </a:xfrm>
          <a:prstGeom prst="rect">
            <a:avLst/>
          </a:prstGeom>
          <a:noFill/>
          <a:ln/>
        </p:spPr>
        <p:txBody>
          <a:bodyPr wrap="square" lIns="0" tIns="0" rIns="0" bIns="0" rtlCol="0" anchor="ctr"/>
          <a:lstStyle/>
          <a:p>
            <a:pPr algn="ctr" indent="0" marL="0">
              <a:buNone/>
            </a:pPr>
            <a:r>
              <a:rPr lang="en-US" sz="4000" b="1" dirty="0">
                <a:solidFill>
                  <a:srgbClr val="12211B"/>
                </a:solidFill>
                <a:latin typeface="Calibri" pitchFamily="34" charset="0"/>
                <a:ea typeface="Calibri" pitchFamily="34" charset="-122"/>
                <a:cs typeface="Calibri" pitchFamily="34" charset="-120"/>
              </a:rPr>
              <a:t>20</a:t>
            </a:r>
            <a:endParaRPr lang="en-US" sz="4000" dirty="0"/>
          </a:p>
        </p:txBody>
      </p:sp>
      <p:sp>
        <p:nvSpPr>
          <p:cNvPr id="40" name="Text 36"/>
          <p:cNvSpPr txBox="1"/>
          <p:nvPr/>
        </p:nvSpPr>
        <p:spPr>
          <a:xfrm>
            <a:off x="9541215" y="3691433"/>
            <a:ext cx="2101840" cy="357530"/>
          </a:xfrm>
          <a:prstGeom prst="rect">
            <a:avLst/>
          </a:prstGeom>
          <a:noFill/>
          <a:ln/>
        </p:spPr>
        <p:txBody>
          <a:bodyPr wrap="square" lIns="0" tIns="0" rIns="0" bIns="0" rtlCol="0" anchor="ctr"/>
          <a:lstStyle/>
          <a:p>
            <a:pPr algn="ctr" indent="0" marL="0">
              <a:buNone/>
            </a:pPr>
            <a:r>
              <a:rPr lang="en-US" sz="1100" dirty="0">
                <a:solidFill>
                  <a:srgbClr val="6B7C71"/>
                </a:solidFill>
                <a:latin typeface="Calibri" pitchFamily="34" charset="0"/>
                <a:ea typeface="Calibri" pitchFamily="34" charset="-122"/>
                <a:cs typeface="Calibri" pitchFamily="34" charset="-120"/>
              </a:rPr>
              <a:t>twenty</a:t>
            </a:r>
            <a:endParaRPr lang="en-US" sz="1100" dirty="0"/>
          </a:p>
        </p:txBody>
      </p:sp>
      <p:sp>
        <p:nvSpPr>
          <p:cNvPr id="41" name="Shape 37"/>
          <p:cNvSpPr/>
          <p:nvPr/>
        </p:nvSpPr>
        <p:spPr>
          <a:xfrm>
            <a:off x="548640" y="5376672"/>
            <a:ext cx="11094415" cy="566928"/>
          </a:xfrm>
          <a:prstGeom prst="roundRect">
            <a:avLst>
              <a:gd name="adj" fmla="val 22581"/>
            </a:avLst>
          </a:prstGeom>
          <a:solidFill>
            <a:srgbClr val="FDF3E7"/>
          </a:solidFill>
          <a:ln w="12700">
            <a:solidFill>
              <a:srgbClr val="EFDCB2"/>
            </a:solidFill>
            <a:prstDash val="solid"/>
          </a:ln>
        </p:spPr>
      </p:sp>
      <p:sp>
        <p:nvSpPr>
          <p:cNvPr id="42" name="Text 38"/>
          <p:cNvSpPr txBox="1"/>
          <p:nvPr/>
        </p:nvSpPr>
        <p:spPr>
          <a:xfrm>
            <a:off x="768096" y="5376672"/>
            <a:ext cx="10655503" cy="56692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11 and 12 are special words — eleven, twelve. From 13 to 19, every number ends in -TEEN, and the stress is ON the -TEEN: thir-TEEN.</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200" b="1" dirty="0">
                <a:solidFill>
                  <a:srgbClr val="12211B"/>
                </a:solidFill>
                <a:latin typeface="Calibri" pitchFamily="34" charset="0"/>
                <a:ea typeface="Calibri" pitchFamily="34" charset="-122"/>
                <a:cs typeface="Calibri" pitchFamily="34" charset="-120"/>
              </a:rPr>
              <a:t>The most important pair in this module: -TEEN and -TY</a:t>
            </a:r>
            <a:endParaRPr lang="en-US" sz="32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Same letters at the start. Completely different numbers. The difference is the STRESS.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2 — Numbers, Time &amp; Money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a:t>
            </a:r>
            <a:endParaRPr lang="en-US" sz="1100" dirty="0"/>
          </a:p>
        </p:txBody>
      </p:sp>
      <p:sp>
        <p:nvSpPr>
          <p:cNvPr id="11" name="Shape 7"/>
          <p:cNvSpPr/>
          <p:nvPr/>
        </p:nvSpPr>
        <p:spPr>
          <a:xfrm>
            <a:off x="548640" y="1883664"/>
            <a:ext cx="5410048" cy="3273552"/>
          </a:xfrm>
          <a:prstGeom prst="roundRect">
            <a:avLst>
              <a:gd name="adj" fmla="val 3911"/>
            </a:avLst>
          </a:prstGeom>
          <a:solidFill>
            <a:srgbClr val="E6F5EC"/>
          </a:solidFill>
          <a:ln w="15875">
            <a:solidFill>
              <a:srgbClr val="2E9E5B"/>
            </a:solidFill>
            <a:prstDash val="solid"/>
          </a:ln>
        </p:spPr>
      </p:sp>
      <p:sp>
        <p:nvSpPr>
          <p:cNvPr id="12" name="Shape 8"/>
          <p:cNvSpPr/>
          <p:nvPr/>
        </p:nvSpPr>
        <p:spPr>
          <a:xfrm>
            <a:off x="786384" y="2103120"/>
            <a:ext cx="420624" cy="420624"/>
          </a:xfrm>
          <a:prstGeom prst="ellipse">
            <a:avLst/>
          </a:prstGeom>
          <a:solidFill>
            <a:srgbClr val="2E9E5B"/>
          </a:solidFill>
          <a:ln/>
        </p:spPr>
      </p:sp>
      <p:pic>
        <p:nvPicPr>
          <p:cNvPr id="13" name="Image 1" descr="preencoded.png">    </p:cNvPr>
          <p:cNvPicPr>
            <a:picLocks noChangeAspect="1"/>
          </p:cNvPicPr>
          <p:nvPr/>
        </p:nvPicPr>
        <p:blipFill>
          <a:blip r:embed="rId2"/>
          <a:stretch>
            <a:fillRect/>
          </a:stretch>
        </p:blipFill>
        <p:spPr>
          <a:xfrm>
            <a:off x="891540" y="2208276"/>
            <a:ext cx="210312" cy="210312"/>
          </a:xfrm>
          <a:prstGeom prst="rect">
            <a:avLst/>
          </a:prstGeom>
        </p:spPr>
      </p:pic>
      <p:sp>
        <p:nvSpPr>
          <p:cNvPr id="14" name="Text 9"/>
          <p:cNvSpPr txBox="1"/>
          <p:nvPr/>
        </p:nvSpPr>
        <p:spPr>
          <a:xfrm>
            <a:off x="1335024" y="2103120"/>
            <a:ext cx="4404208" cy="420624"/>
          </a:xfrm>
          <a:prstGeom prst="rect">
            <a:avLst/>
          </a:prstGeom>
          <a:noFill/>
          <a:ln/>
        </p:spPr>
        <p:txBody>
          <a:bodyPr wrap="square" lIns="0" tIns="0" rIns="0" bIns="0" rtlCol="0" anchor="ctr"/>
          <a:lstStyle/>
          <a:p>
            <a:pPr indent="0" marL="0">
              <a:buNone/>
            </a:pPr>
            <a:r>
              <a:rPr lang="en-US" sz="2000" b="1" dirty="0">
                <a:solidFill>
                  <a:srgbClr val="2E9E5B"/>
                </a:solidFill>
                <a:latin typeface="Calibri" pitchFamily="34" charset="0"/>
                <a:ea typeface="Calibri" pitchFamily="34" charset="-122"/>
                <a:cs typeface="Calibri" pitchFamily="34" charset="-120"/>
              </a:rPr>
              <a:t>-TEEN — stress at the END</a:t>
            </a:r>
            <a:endParaRPr lang="en-US" sz="2000" dirty="0"/>
          </a:p>
        </p:txBody>
      </p:sp>
      <p:sp>
        <p:nvSpPr>
          <p:cNvPr id="15" name="Text 10"/>
          <p:cNvSpPr/>
          <p:nvPr/>
        </p:nvSpPr>
        <p:spPr>
          <a:xfrm>
            <a:off x="822960"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13  thir-TEEN</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14  four-TEEN</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15  fif-TEEN</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16  six-TEEN</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17  seven-TEEN</a:t>
            </a:r>
            <a:endParaRPr lang="en-US" sz="1900" dirty="0"/>
          </a:p>
        </p:txBody>
      </p:sp>
      <p:sp>
        <p:nvSpPr>
          <p:cNvPr id="16" name="Shape 11"/>
          <p:cNvSpPr/>
          <p:nvPr/>
        </p:nvSpPr>
        <p:spPr>
          <a:xfrm>
            <a:off x="6233008" y="1883664"/>
            <a:ext cx="5410048" cy="3273552"/>
          </a:xfrm>
          <a:prstGeom prst="roundRect">
            <a:avLst>
              <a:gd name="adj" fmla="val 3911"/>
            </a:avLst>
          </a:prstGeom>
          <a:solidFill>
            <a:srgbClr val="FBEAEA"/>
          </a:solidFill>
          <a:ln w="15875">
            <a:solidFill>
              <a:srgbClr val="D64545"/>
            </a:solidFill>
            <a:prstDash val="solid"/>
          </a:ln>
        </p:spPr>
      </p:sp>
      <p:sp>
        <p:nvSpPr>
          <p:cNvPr id="17" name="Shape 12"/>
          <p:cNvSpPr/>
          <p:nvPr/>
        </p:nvSpPr>
        <p:spPr>
          <a:xfrm>
            <a:off x="6470752" y="2103120"/>
            <a:ext cx="420624" cy="420624"/>
          </a:xfrm>
          <a:prstGeom prst="ellipse">
            <a:avLst/>
          </a:prstGeom>
          <a:solidFill>
            <a:srgbClr val="D64545"/>
          </a:solidFill>
          <a:ln/>
        </p:spPr>
      </p:sp>
      <p:pic>
        <p:nvPicPr>
          <p:cNvPr id="18" name="Image 2" descr="preencoded.png">    </p:cNvPr>
          <p:cNvPicPr>
            <a:picLocks noChangeAspect="1"/>
          </p:cNvPicPr>
          <p:nvPr/>
        </p:nvPicPr>
        <p:blipFill>
          <a:blip r:embed="rId3"/>
          <a:stretch>
            <a:fillRect/>
          </a:stretch>
        </p:blipFill>
        <p:spPr>
          <a:xfrm>
            <a:off x="6575908" y="2208276"/>
            <a:ext cx="210312" cy="210312"/>
          </a:xfrm>
          <a:prstGeom prst="rect">
            <a:avLst/>
          </a:prstGeom>
        </p:spPr>
      </p:pic>
      <p:sp>
        <p:nvSpPr>
          <p:cNvPr id="19" name="Text 13"/>
          <p:cNvSpPr txBox="1"/>
          <p:nvPr/>
        </p:nvSpPr>
        <p:spPr>
          <a:xfrm>
            <a:off x="7019392" y="2103120"/>
            <a:ext cx="4404208" cy="420624"/>
          </a:xfrm>
          <a:prstGeom prst="rect">
            <a:avLst/>
          </a:prstGeom>
          <a:noFill/>
          <a:ln/>
        </p:spPr>
        <p:txBody>
          <a:bodyPr wrap="square" lIns="0" tIns="0" rIns="0" bIns="0" rtlCol="0" anchor="ctr"/>
          <a:lstStyle/>
          <a:p>
            <a:pPr indent="0" marL="0">
              <a:buNone/>
            </a:pPr>
            <a:r>
              <a:rPr lang="en-US" sz="2000" b="1" dirty="0">
                <a:solidFill>
                  <a:srgbClr val="D64545"/>
                </a:solidFill>
                <a:latin typeface="Calibri" pitchFamily="34" charset="0"/>
                <a:ea typeface="Calibri" pitchFamily="34" charset="-122"/>
                <a:cs typeface="Calibri" pitchFamily="34" charset="-120"/>
              </a:rPr>
              <a:t>-TY — stress at the START</a:t>
            </a:r>
            <a:endParaRPr lang="en-US" sz="2000" dirty="0"/>
          </a:p>
        </p:txBody>
      </p:sp>
      <p:sp>
        <p:nvSpPr>
          <p:cNvPr id="20" name="Text 14"/>
          <p:cNvSpPr/>
          <p:nvPr/>
        </p:nvSpPr>
        <p:spPr>
          <a:xfrm>
            <a:off x="6507328"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30  THIR-ty</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40  FOR-ty</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50  FIF-ty</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60  SIX-ty</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70  SEVEN-ty</a:t>
            </a:r>
            <a:endParaRPr lang="en-US" sz="1900" dirty="0"/>
          </a:p>
        </p:txBody>
      </p:sp>
      <p:sp>
        <p:nvSpPr>
          <p:cNvPr id="21" name="Shape 15"/>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22" name="Text 16"/>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Say them out loud now:  “thirTEEN … THIRty.”   If you get this wrong at Merkato, you will pay the wrong price. This is the number-one number mistake in English.</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Counting in tens to 100</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Learn these nine words and you can say every number up to 100.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2 — Numbers, Time &amp; Money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8</a:t>
            </a:r>
            <a:endParaRPr lang="en-US" sz="1100" dirty="0"/>
          </a:p>
        </p:txBody>
      </p:sp>
      <p:sp>
        <p:nvSpPr>
          <p:cNvPr id="11" name="Shape 7"/>
          <p:cNvSpPr/>
          <p:nvPr/>
        </p:nvSpPr>
        <p:spPr>
          <a:xfrm>
            <a:off x="548640" y="1883664"/>
            <a:ext cx="2101840" cy="1051560"/>
          </a:xfrm>
          <a:prstGeom prst="roundRect">
            <a:avLst>
              <a:gd name="adj" fmla="val 12174"/>
            </a:avLst>
          </a:prstGeom>
          <a:solidFill>
            <a:srgbClr val="F6F9F7"/>
          </a:solidFill>
          <a:ln w="12700">
            <a:solidFill>
              <a:srgbClr val="E3E9E5"/>
            </a:solidFill>
            <a:prstDash val="solid"/>
          </a:ln>
        </p:spPr>
      </p:sp>
      <p:sp>
        <p:nvSpPr>
          <p:cNvPr id="12" name="Text 8"/>
          <p:cNvSpPr txBox="1"/>
          <p:nvPr/>
        </p:nvSpPr>
        <p:spPr>
          <a:xfrm>
            <a:off x="548640" y="1883664"/>
            <a:ext cx="2101840" cy="651967"/>
          </a:xfrm>
          <a:prstGeom prst="rect">
            <a:avLst/>
          </a:prstGeom>
          <a:noFill/>
          <a:ln/>
        </p:spPr>
        <p:txBody>
          <a:bodyPr wrap="square" lIns="0" tIns="0" rIns="0" bIns="0" rtlCol="0" anchor="ctr"/>
          <a:lstStyle/>
          <a:p>
            <a:pPr algn="ctr" indent="0" marL="0">
              <a:buNone/>
            </a:pPr>
            <a:r>
              <a:rPr lang="en-US" sz="3800" b="1" dirty="0">
                <a:solidFill>
                  <a:srgbClr val="12211B"/>
                </a:solidFill>
                <a:latin typeface="Calibri" pitchFamily="34" charset="0"/>
                <a:ea typeface="Calibri" pitchFamily="34" charset="-122"/>
                <a:cs typeface="Calibri" pitchFamily="34" charset="-120"/>
              </a:rPr>
              <a:t>20</a:t>
            </a:r>
            <a:endParaRPr lang="en-US" sz="3800" dirty="0"/>
          </a:p>
        </p:txBody>
      </p:sp>
      <p:sp>
        <p:nvSpPr>
          <p:cNvPr id="13" name="Text 9"/>
          <p:cNvSpPr txBox="1"/>
          <p:nvPr/>
        </p:nvSpPr>
        <p:spPr>
          <a:xfrm>
            <a:off x="548640" y="2493569"/>
            <a:ext cx="2101840" cy="357530"/>
          </a:xfrm>
          <a:prstGeom prst="rect">
            <a:avLst/>
          </a:prstGeom>
          <a:noFill/>
          <a:ln/>
        </p:spPr>
        <p:txBody>
          <a:bodyPr wrap="square" lIns="0" tIns="0" rIns="0" bIns="0" rtlCol="0" anchor="ctr"/>
          <a:lstStyle/>
          <a:p>
            <a:pPr algn="ctr" indent="0" marL="0">
              <a:buNone/>
            </a:pPr>
            <a:r>
              <a:rPr lang="en-US" sz="1100" dirty="0">
                <a:solidFill>
                  <a:srgbClr val="6B7C71"/>
                </a:solidFill>
                <a:latin typeface="Calibri" pitchFamily="34" charset="0"/>
                <a:ea typeface="Calibri" pitchFamily="34" charset="-122"/>
                <a:cs typeface="Calibri" pitchFamily="34" charset="-120"/>
              </a:rPr>
              <a:t>twenty</a:t>
            </a:r>
            <a:endParaRPr lang="en-US" sz="1100" dirty="0"/>
          </a:p>
        </p:txBody>
      </p:sp>
      <p:sp>
        <p:nvSpPr>
          <p:cNvPr id="14" name="Shape 10"/>
          <p:cNvSpPr/>
          <p:nvPr/>
        </p:nvSpPr>
        <p:spPr>
          <a:xfrm>
            <a:off x="2796784" y="1883664"/>
            <a:ext cx="2101840" cy="1051560"/>
          </a:xfrm>
          <a:prstGeom prst="roundRect">
            <a:avLst>
              <a:gd name="adj" fmla="val 12174"/>
            </a:avLst>
          </a:prstGeom>
          <a:solidFill>
            <a:srgbClr val="F6F9F7"/>
          </a:solidFill>
          <a:ln w="12700">
            <a:solidFill>
              <a:srgbClr val="E3E9E5"/>
            </a:solidFill>
            <a:prstDash val="solid"/>
          </a:ln>
        </p:spPr>
      </p:sp>
      <p:sp>
        <p:nvSpPr>
          <p:cNvPr id="15" name="Text 11"/>
          <p:cNvSpPr txBox="1"/>
          <p:nvPr/>
        </p:nvSpPr>
        <p:spPr>
          <a:xfrm>
            <a:off x="2796784" y="1883664"/>
            <a:ext cx="2101840" cy="651967"/>
          </a:xfrm>
          <a:prstGeom prst="rect">
            <a:avLst/>
          </a:prstGeom>
          <a:noFill/>
          <a:ln/>
        </p:spPr>
        <p:txBody>
          <a:bodyPr wrap="square" lIns="0" tIns="0" rIns="0" bIns="0" rtlCol="0" anchor="ctr"/>
          <a:lstStyle/>
          <a:p>
            <a:pPr algn="ctr" indent="0" marL="0">
              <a:buNone/>
            </a:pPr>
            <a:r>
              <a:rPr lang="en-US" sz="3800" b="1" dirty="0">
                <a:solidFill>
                  <a:srgbClr val="12211B"/>
                </a:solidFill>
                <a:latin typeface="Calibri" pitchFamily="34" charset="0"/>
                <a:ea typeface="Calibri" pitchFamily="34" charset="-122"/>
                <a:cs typeface="Calibri" pitchFamily="34" charset="-120"/>
              </a:rPr>
              <a:t>30</a:t>
            </a:r>
            <a:endParaRPr lang="en-US" sz="3800" dirty="0"/>
          </a:p>
        </p:txBody>
      </p:sp>
      <p:sp>
        <p:nvSpPr>
          <p:cNvPr id="16" name="Text 12"/>
          <p:cNvSpPr txBox="1"/>
          <p:nvPr/>
        </p:nvSpPr>
        <p:spPr>
          <a:xfrm>
            <a:off x="2796784" y="2493569"/>
            <a:ext cx="2101840" cy="357530"/>
          </a:xfrm>
          <a:prstGeom prst="rect">
            <a:avLst/>
          </a:prstGeom>
          <a:noFill/>
          <a:ln/>
        </p:spPr>
        <p:txBody>
          <a:bodyPr wrap="square" lIns="0" tIns="0" rIns="0" bIns="0" rtlCol="0" anchor="ctr"/>
          <a:lstStyle/>
          <a:p>
            <a:pPr algn="ctr" indent="0" marL="0">
              <a:buNone/>
            </a:pPr>
            <a:r>
              <a:rPr lang="en-US" sz="1100" dirty="0">
                <a:solidFill>
                  <a:srgbClr val="6B7C71"/>
                </a:solidFill>
                <a:latin typeface="Calibri" pitchFamily="34" charset="0"/>
                <a:ea typeface="Calibri" pitchFamily="34" charset="-122"/>
                <a:cs typeface="Calibri" pitchFamily="34" charset="-120"/>
              </a:rPr>
              <a:t>thirty</a:t>
            </a:r>
            <a:endParaRPr lang="en-US" sz="1100" dirty="0"/>
          </a:p>
        </p:txBody>
      </p:sp>
      <p:sp>
        <p:nvSpPr>
          <p:cNvPr id="17" name="Shape 13"/>
          <p:cNvSpPr/>
          <p:nvPr/>
        </p:nvSpPr>
        <p:spPr>
          <a:xfrm>
            <a:off x="5044928" y="1883664"/>
            <a:ext cx="2101840" cy="1051560"/>
          </a:xfrm>
          <a:prstGeom prst="roundRect">
            <a:avLst>
              <a:gd name="adj" fmla="val 12174"/>
            </a:avLst>
          </a:prstGeom>
          <a:solidFill>
            <a:srgbClr val="F6F9F7"/>
          </a:solidFill>
          <a:ln w="12700">
            <a:solidFill>
              <a:srgbClr val="E3E9E5"/>
            </a:solidFill>
            <a:prstDash val="solid"/>
          </a:ln>
        </p:spPr>
      </p:sp>
      <p:sp>
        <p:nvSpPr>
          <p:cNvPr id="18" name="Text 14"/>
          <p:cNvSpPr txBox="1"/>
          <p:nvPr/>
        </p:nvSpPr>
        <p:spPr>
          <a:xfrm>
            <a:off x="5044928" y="1883664"/>
            <a:ext cx="2101840" cy="651967"/>
          </a:xfrm>
          <a:prstGeom prst="rect">
            <a:avLst/>
          </a:prstGeom>
          <a:noFill/>
          <a:ln/>
        </p:spPr>
        <p:txBody>
          <a:bodyPr wrap="square" lIns="0" tIns="0" rIns="0" bIns="0" rtlCol="0" anchor="ctr"/>
          <a:lstStyle/>
          <a:p>
            <a:pPr algn="ctr" indent="0" marL="0">
              <a:buNone/>
            </a:pPr>
            <a:r>
              <a:rPr lang="en-US" sz="3800" b="1" dirty="0">
                <a:solidFill>
                  <a:srgbClr val="12211B"/>
                </a:solidFill>
                <a:latin typeface="Calibri" pitchFamily="34" charset="0"/>
                <a:ea typeface="Calibri" pitchFamily="34" charset="-122"/>
                <a:cs typeface="Calibri" pitchFamily="34" charset="-120"/>
              </a:rPr>
              <a:t>40</a:t>
            </a:r>
            <a:endParaRPr lang="en-US" sz="3800" dirty="0"/>
          </a:p>
        </p:txBody>
      </p:sp>
      <p:sp>
        <p:nvSpPr>
          <p:cNvPr id="19" name="Text 15"/>
          <p:cNvSpPr txBox="1"/>
          <p:nvPr/>
        </p:nvSpPr>
        <p:spPr>
          <a:xfrm>
            <a:off x="5044928" y="2493569"/>
            <a:ext cx="2101840" cy="357530"/>
          </a:xfrm>
          <a:prstGeom prst="rect">
            <a:avLst/>
          </a:prstGeom>
          <a:noFill/>
          <a:ln/>
        </p:spPr>
        <p:txBody>
          <a:bodyPr wrap="square" lIns="0" tIns="0" rIns="0" bIns="0" rtlCol="0" anchor="ctr"/>
          <a:lstStyle/>
          <a:p>
            <a:pPr algn="ctr" indent="0" marL="0">
              <a:buNone/>
            </a:pPr>
            <a:r>
              <a:rPr lang="en-US" sz="1100" dirty="0">
                <a:solidFill>
                  <a:srgbClr val="6B7C71"/>
                </a:solidFill>
                <a:latin typeface="Calibri" pitchFamily="34" charset="0"/>
                <a:ea typeface="Calibri" pitchFamily="34" charset="-122"/>
                <a:cs typeface="Calibri" pitchFamily="34" charset="-120"/>
              </a:rPr>
              <a:t>forty</a:t>
            </a:r>
            <a:endParaRPr lang="en-US" sz="1100" dirty="0"/>
          </a:p>
        </p:txBody>
      </p:sp>
      <p:sp>
        <p:nvSpPr>
          <p:cNvPr id="20" name="Shape 16"/>
          <p:cNvSpPr/>
          <p:nvPr/>
        </p:nvSpPr>
        <p:spPr>
          <a:xfrm>
            <a:off x="7293072" y="1883664"/>
            <a:ext cx="2101840" cy="1051560"/>
          </a:xfrm>
          <a:prstGeom prst="roundRect">
            <a:avLst>
              <a:gd name="adj" fmla="val 12174"/>
            </a:avLst>
          </a:prstGeom>
          <a:solidFill>
            <a:srgbClr val="F6F9F7"/>
          </a:solidFill>
          <a:ln w="12700">
            <a:solidFill>
              <a:srgbClr val="E3E9E5"/>
            </a:solidFill>
            <a:prstDash val="solid"/>
          </a:ln>
        </p:spPr>
      </p:sp>
      <p:sp>
        <p:nvSpPr>
          <p:cNvPr id="21" name="Text 17"/>
          <p:cNvSpPr txBox="1"/>
          <p:nvPr/>
        </p:nvSpPr>
        <p:spPr>
          <a:xfrm>
            <a:off x="7293072" y="1883664"/>
            <a:ext cx="2101840" cy="651967"/>
          </a:xfrm>
          <a:prstGeom prst="rect">
            <a:avLst/>
          </a:prstGeom>
          <a:noFill/>
          <a:ln/>
        </p:spPr>
        <p:txBody>
          <a:bodyPr wrap="square" lIns="0" tIns="0" rIns="0" bIns="0" rtlCol="0" anchor="ctr"/>
          <a:lstStyle/>
          <a:p>
            <a:pPr algn="ctr" indent="0" marL="0">
              <a:buNone/>
            </a:pPr>
            <a:r>
              <a:rPr lang="en-US" sz="3800" b="1" dirty="0">
                <a:solidFill>
                  <a:srgbClr val="12211B"/>
                </a:solidFill>
                <a:latin typeface="Calibri" pitchFamily="34" charset="0"/>
                <a:ea typeface="Calibri" pitchFamily="34" charset="-122"/>
                <a:cs typeface="Calibri" pitchFamily="34" charset="-120"/>
              </a:rPr>
              <a:t>50</a:t>
            </a:r>
            <a:endParaRPr lang="en-US" sz="3800" dirty="0"/>
          </a:p>
        </p:txBody>
      </p:sp>
      <p:sp>
        <p:nvSpPr>
          <p:cNvPr id="22" name="Text 18"/>
          <p:cNvSpPr txBox="1"/>
          <p:nvPr/>
        </p:nvSpPr>
        <p:spPr>
          <a:xfrm>
            <a:off x="7293072" y="2493569"/>
            <a:ext cx="2101840" cy="357530"/>
          </a:xfrm>
          <a:prstGeom prst="rect">
            <a:avLst/>
          </a:prstGeom>
          <a:noFill/>
          <a:ln/>
        </p:spPr>
        <p:txBody>
          <a:bodyPr wrap="square" lIns="0" tIns="0" rIns="0" bIns="0" rtlCol="0" anchor="ctr"/>
          <a:lstStyle/>
          <a:p>
            <a:pPr algn="ctr" indent="0" marL="0">
              <a:buNone/>
            </a:pPr>
            <a:r>
              <a:rPr lang="en-US" sz="1100" dirty="0">
                <a:solidFill>
                  <a:srgbClr val="6B7C71"/>
                </a:solidFill>
                <a:latin typeface="Calibri" pitchFamily="34" charset="0"/>
                <a:ea typeface="Calibri" pitchFamily="34" charset="-122"/>
                <a:cs typeface="Calibri" pitchFamily="34" charset="-120"/>
              </a:rPr>
              <a:t>fifty</a:t>
            </a:r>
            <a:endParaRPr lang="en-US" sz="1100" dirty="0"/>
          </a:p>
        </p:txBody>
      </p:sp>
      <p:sp>
        <p:nvSpPr>
          <p:cNvPr id="23" name="Shape 19"/>
          <p:cNvSpPr/>
          <p:nvPr/>
        </p:nvSpPr>
        <p:spPr>
          <a:xfrm>
            <a:off x="9541215" y="1883664"/>
            <a:ext cx="2101840" cy="1051560"/>
          </a:xfrm>
          <a:prstGeom prst="roundRect">
            <a:avLst>
              <a:gd name="adj" fmla="val 12174"/>
            </a:avLst>
          </a:prstGeom>
          <a:solidFill>
            <a:srgbClr val="F6F9F7"/>
          </a:solidFill>
          <a:ln w="12700">
            <a:solidFill>
              <a:srgbClr val="E3E9E5"/>
            </a:solidFill>
            <a:prstDash val="solid"/>
          </a:ln>
        </p:spPr>
      </p:sp>
      <p:sp>
        <p:nvSpPr>
          <p:cNvPr id="24" name="Text 20"/>
          <p:cNvSpPr txBox="1"/>
          <p:nvPr/>
        </p:nvSpPr>
        <p:spPr>
          <a:xfrm>
            <a:off x="9541215" y="1883664"/>
            <a:ext cx="2101840" cy="651967"/>
          </a:xfrm>
          <a:prstGeom prst="rect">
            <a:avLst/>
          </a:prstGeom>
          <a:noFill/>
          <a:ln/>
        </p:spPr>
        <p:txBody>
          <a:bodyPr wrap="square" lIns="0" tIns="0" rIns="0" bIns="0" rtlCol="0" anchor="ctr"/>
          <a:lstStyle/>
          <a:p>
            <a:pPr algn="ctr" indent="0" marL="0">
              <a:buNone/>
            </a:pPr>
            <a:r>
              <a:rPr lang="en-US" sz="3800" b="1" dirty="0">
                <a:solidFill>
                  <a:srgbClr val="12211B"/>
                </a:solidFill>
                <a:latin typeface="Calibri" pitchFamily="34" charset="0"/>
                <a:ea typeface="Calibri" pitchFamily="34" charset="-122"/>
                <a:cs typeface="Calibri" pitchFamily="34" charset="-120"/>
              </a:rPr>
              <a:t>60</a:t>
            </a:r>
            <a:endParaRPr lang="en-US" sz="3800" dirty="0"/>
          </a:p>
        </p:txBody>
      </p:sp>
      <p:sp>
        <p:nvSpPr>
          <p:cNvPr id="25" name="Text 21"/>
          <p:cNvSpPr txBox="1"/>
          <p:nvPr/>
        </p:nvSpPr>
        <p:spPr>
          <a:xfrm>
            <a:off x="9541215" y="2493569"/>
            <a:ext cx="2101840" cy="357530"/>
          </a:xfrm>
          <a:prstGeom prst="rect">
            <a:avLst/>
          </a:prstGeom>
          <a:noFill/>
          <a:ln/>
        </p:spPr>
        <p:txBody>
          <a:bodyPr wrap="square" lIns="0" tIns="0" rIns="0" bIns="0" rtlCol="0" anchor="ctr"/>
          <a:lstStyle/>
          <a:p>
            <a:pPr algn="ctr" indent="0" marL="0">
              <a:buNone/>
            </a:pPr>
            <a:r>
              <a:rPr lang="en-US" sz="1100" dirty="0">
                <a:solidFill>
                  <a:srgbClr val="6B7C71"/>
                </a:solidFill>
                <a:latin typeface="Calibri" pitchFamily="34" charset="0"/>
                <a:ea typeface="Calibri" pitchFamily="34" charset="-122"/>
                <a:cs typeface="Calibri" pitchFamily="34" charset="-120"/>
              </a:rPr>
              <a:t>sixty</a:t>
            </a:r>
            <a:endParaRPr lang="en-US" sz="1100" dirty="0"/>
          </a:p>
        </p:txBody>
      </p:sp>
      <p:sp>
        <p:nvSpPr>
          <p:cNvPr id="26" name="Shape 22"/>
          <p:cNvSpPr/>
          <p:nvPr/>
        </p:nvSpPr>
        <p:spPr>
          <a:xfrm>
            <a:off x="548640" y="3081528"/>
            <a:ext cx="2101840" cy="1051560"/>
          </a:xfrm>
          <a:prstGeom prst="roundRect">
            <a:avLst>
              <a:gd name="adj" fmla="val 12174"/>
            </a:avLst>
          </a:prstGeom>
          <a:solidFill>
            <a:srgbClr val="F6F9F7"/>
          </a:solidFill>
          <a:ln w="12700">
            <a:solidFill>
              <a:srgbClr val="E3E9E5"/>
            </a:solidFill>
            <a:prstDash val="solid"/>
          </a:ln>
        </p:spPr>
      </p:sp>
      <p:sp>
        <p:nvSpPr>
          <p:cNvPr id="27" name="Text 23"/>
          <p:cNvSpPr txBox="1"/>
          <p:nvPr/>
        </p:nvSpPr>
        <p:spPr>
          <a:xfrm>
            <a:off x="548640" y="3081528"/>
            <a:ext cx="2101840" cy="651967"/>
          </a:xfrm>
          <a:prstGeom prst="rect">
            <a:avLst/>
          </a:prstGeom>
          <a:noFill/>
          <a:ln/>
        </p:spPr>
        <p:txBody>
          <a:bodyPr wrap="square" lIns="0" tIns="0" rIns="0" bIns="0" rtlCol="0" anchor="ctr"/>
          <a:lstStyle/>
          <a:p>
            <a:pPr algn="ctr" indent="0" marL="0">
              <a:buNone/>
            </a:pPr>
            <a:r>
              <a:rPr lang="en-US" sz="3800" b="1" dirty="0">
                <a:solidFill>
                  <a:srgbClr val="12211B"/>
                </a:solidFill>
                <a:latin typeface="Calibri" pitchFamily="34" charset="0"/>
                <a:ea typeface="Calibri" pitchFamily="34" charset="-122"/>
                <a:cs typeface="Calibri" pitchFamily="34" charset="-120"/>
              </a:rPr>
              <a:t>70</a:t>
            </a:r>
            <a:endParaRPr lang="en-US" sz="3800" dirty="0"/>
          </a:p>
        </p:txBody>
      </p:sp>
      <p:sp>
        <p:nvSpPr>
          <p:cNvPr id="28" name="Text 24"/>
          <p:cNvSpPr txBox="1"/>
          <p:nvPr/>
        </p:nvSpPr>
        <p:spPr>
          <a:xfrm>
            <a:off x="548640" y="3691433"/>
            <a:ext cx="2101840" cy="357530"/>
          </a:xfrm>
          <a:prstGeom prst="rect">
            <a:avLst/>
          </a:prstGeom>
          <a:noFill/>
          <a:ln/>
        </p:spPr>
        <p:txBody>
          <a:bodyPr wrap="square" lIns="0" tIns="0" rIns="0" bIns="0" rtlCol="0" anchor="ctr"/>
          <a:lstStyle/>
          <a:p>
            <a:pPr algn="ctr" indent="0" marL="0">
              <a:buNone/>
            </a:pPr>
            <a:r>
              <a:rPr lang="en-US" sz="1100" dirty="0">
                <a:solidFill>
                  <a:srgbClr val="6B7C71"/>
                </a:solidFill>
                <a:latin typeface="Calibri" pitchFamily="34" charset="0"/>
                <a:ea typeface="Calibri" pitchFamily="34" charset="-122"/>
                <a:cs typeface="Calibri" pitchFamily="34" charset="-120"/>
              </a:rPr>
              <a:t>seventy</a:t>
            </a:r>
            <a:endParaRPr lang="en-US" sz="1100" dirty="0"/>
          </a:p>
        </p:txBody>
      </p:sp>
      <p:sp>
        <p:nvSpPr>
          <p:cNvPr id="29" name="Shape 25"/>
          <p:cNvSpPr/>
          <p:nvPr/>
        </p:nvSpPr>
        <p:spPr>
          <a:xfrm>
            <a:off x="2796784" y="3081528"/>
            <a:ext cx="2101840" cy="1051560"/>
          </a:xfrm>
          <a:prstGeom prst="roundRect">
            <a:avLst>
              <a:gd name="adj" fmla="val 12174"/>
            </a:avLst>
          </a:prstGeom>
          <a:solidFill>
            <a:srgbClr val="F6F9F7"/>
          </a:solidFill>
          <a:ln w="12700">
            <a:solidFill>
              <a:srgbClr val="E3E9E5"/>
            </a:solidFill>
            <a:prstDash val="solid"/>
          </a:ln>
        </p:spPr>
      </p:sp>
      <p:sp>
        <p:nvSpPr>
          <p:cNvPr id="30" name="Text 26"/>
          <p:cNvSpPr txBox="1"/>
          <p:nvPr/>
        </p:nvSpPr>
        <p:spPr>
          <a:xfrm>
            <a:off x="2796784" y="3081528"/>
            <a:ext cx="2101840" cy="651967"/>
          </a:xfrm>
          <a:prstGeom prst="rect">
            <a:avLst/>
          </a:prstGeom>
          <a:noFill/>
          <a:ln/>
        </p:spPr>
        <p:txBody>
          <a:bodyPr wrap="square" lIns="0" tIns="0" rIns="0" bIns="0" rtlCol="0" anchor="ctr"/>
          <a:lstStyle/>
          <a:p>
            <a:pPr algn="ctr" indent="0" marL="0">
              <a:buNone/>
            </a:pPr>
            <a:r>
              <a:rPr lang="en-US" sz="3800" b="1" dirty="0">
                <a:solidFill>
                  <a:srgbClr val="12211B"/>
                </a:solidFill>
                <a:latin typeface="Calibri" pitchFamily="34" charset="0"/>
                <a:ea typeface="Calibri" pitchFamily="34" charset="-122"/>
                <a:cs typeface="Calibri" pitchFamily="34" charset="-120"/>
              </a:rPr>
              <a:t>80</a:t>
            </a:r>
            <a:endParaRPr lang="en-US" sz="3800" dirty="0"/>
          </a:p>
        </p:txBody>
      </p:sp>
      <p:sp>
        <p:nvSpPr>
          <p:cNvPr id="31" name="Text 27"/>
          <p:cNvSpPr txBox="1"/>
          <p:nvPr/>
        </p:nvSpPr>
        <p:spPr>
          <a:xfrm>
            <a:off x="2796784" y="3691433"/>
            <a:ext cx="2101840" cy="357530"/>
          </a:xfrm>
          <a:prstGeom prst="rect">
            <a:avLst/>
          </a:prstGeom>
          <a:noFill/>
          <a:ln/>
        </p:spPr>
        <p:txBody>
          <a:bodyPr wrap="square" lIns="0" tIns="0" rIns="0" bIns="0" rtlCol="0" anchor="ctr"/>
          <a:lstStyle/>
          <a:p>
            <a:pPr algn="ctr" indent="0" marL="0">
              <a:buNone/>
            </a:pPr>
            <a:r>
              <a:rPr lang="en-US" sz="1100" dirty="0">
                <a:solidFill>
                  <a:srgbClr val="6B7C71"/>
                </a:solidFill>
                <a:latin typeface="Calibri" pitchFamily="34" charset="0"/>
                <a:ea typeface="Calibri" pitchFamily="34" charset="-122"/>
                <a:cs typeface="Calibri" pitchFamily="34" charset="-120"/>
              </a:rPr>
              <a:t>eighty</a:t>
            </a:r>
            <a:endParaRPr lang="en-US" sz="1100" dirty="0"/>
          </a:p>
        </p:txBody>
      </p:sp>
      <p:sp>
        <p:nvSpPr>
          <p:cNvPr id="32" name="Shape 28"/>
          <p:cNvSpPr/>
          <p:nvPr/>
        </p:nvSpPr>
        <p:spPr>
          <a:xfrm>
            <a:off x="5044928" y="3081528"/>
            <a:ext cx="2101840" cy="1051560"/>
          </a:xfrm>
          <a:prstGeom prst="roundRect">
            <a:avLst>
              <a:gd name="adj" fmla="val 12174"/>
            </a:avLst>
          </a:prstGeom>
          <a:solidFill>
            <a:srgbClr val="F6F9F7"/>
          </a:solidFill>
          <a:ln w="12700">
            <a:solidFill>
              <a:srgbClr val="E3E9E5"/>
            </a:solidFill>
            <a:prstDash val="solid"/>
          </a:ln>
        </p:spPr>
      </p:sp>
      <p:sp>
        <p:nvSpPr>
          <p:cNvPr id="33" name="Text 29"/>
          <p:cNvSpPr txBox="1"/>
          <p:nvPr/>
        </p:nvSpPr>
        <p:spPr>
          <a:xfrm>
            <a:off x="5044928" y="3081528"/>
            <a:ext cx="2101840" cy="651967"/>
          </a:xfrm>
          <a:prstGeom prst="rect">
            <a:avLst/>
          </a:prstGeom>
          <a:noFill/>
          <a:ln/>
        </p:spPr>
        <p:txBody>
          <a:bodyPr wrap="square" lIns="0" tIns="0" rIns="0" bIns="0" rtlCol="0" anchor="ctr"/>
          <a:lstStyle/>
          <a:p>
            <a:pPr algn="ctr" indent="0" marL="0">
              <a:buNone/>
            </a:pPr>
            <a:r>
              <a:rPr lang="en-US" sz="3800" b="1" dirty="0">
                <a:solidFill>
                  <a:srgbClr val="12211B"/>
                </a:solidFill>
                <a:latin typeface="Calibri" pitchFamily="34" charset="0"/>
                <a:ea typeface="Calibri" pitchFamily="34" charset="-122"/>
                <a:cs typeface="Calibri" pitchFamily="34" charset="-120"/>
              </a:rPr>
              <a:t>90</a:t>
            </a:r>
            <a:endParaRPr lang="en-US" sz="3800" dirty="0"/>
          </a:p>
        </p:txBody>
      </p:sp>
      <p:sp>
        <p:nvSpPr>
          <p:cNvPr id="34" name="Text 30"/>
          <p:cNvSpPr txBox="1"/>
          <p:nvPr/>
        </p:nvSpPr>
        <p:spPr>
          <a:xfrm>
            <a:off x="5044928" y="3691433"/>
            <a:ext cx="2101840" cy="357530"/>
          </a:xfrm>
          <a:prstGeom prst="rect">
            <a:avLst/>
          </a:prstGeom>
          <a:noFill/>
          <a:ln/>
        </p:spPr>
        <p:txBody>
          <a:bodyPr wrap="square" lIns="0" tIns="0" rIns="0" bIns="0" rtlCol="0" anchor="ctr"/>
          <a:lstStyle/>
          <a:p>
            <a:pPr algn="ctr" indent="0" marL="0">
              <a:buNone/>
            </a:pPr>
            <a:r>
              <a:rPr lang="en-US" sz="1100" dirty="0">
                <a:solidFill>
                  <a:srgbClr val="6B7C71"/>
                </a:solidFill>
                <a:latin typeface="Calibri" pitchFamily="34" charset="0"/>
                <a:ea typeface="Calibri" pitchFamily="34" charset="-122"/>
                <a:cs typeface="Calibri" pitchFamily="34" charset="-120"/>
              </a:rPr>
              <a:t>ninety</a:t>
            </a:r>
            <a:endParaRPr lang="en-US" sz="1100" dirty="0"/>
          </a:p>
        </p:txBody>
      </p:sp>
      <p:sp>
        <p:nvSpPr>
          <p:cNvPr id="35" name="Shape 31"/>
          <p:cNvSpPr/>
          <p:nvPr/>
        </p:nvSpPr>
        <p:spPr>
          <a:xfrm>
            <a:off x="7293072" y="3081528"/>
            <a:ext cx="2101840" cy="1051560"/>
          </a:xfrm>
          <a:prstGeom prst="roundRect">
            <a:avLst>
              <a:gd name="adj" fmla="val 12174"/>
            </a:avLst>
          </a:prstGeom>
          <a:solidFill>
            <a:srgbClr val="F2A93B"/>
          </a:solidFill>
          <a:ln w="12700">
            <a:solidFill>
              <a:srgbClr val="F2A93B"/>
            </a:solidFill>
            <a:prstDash val="solid"/>
          </a:ln>
        </p:spPr>
      </p:sp>
      <p:sp>
        <p:nvSpPr>
          <p:cNvPr id="36" name="Text 32"/>
          <p:cNvSpPr txBox="1"/>
          <p:nvPr/>
        </p:nvSpPr>
        <p:spPr>
          <a:xfrm>
            <a:off x="7293072" y="3081528"/>
            <a:ext cx="2101840" cy="651967"/>
          </a:xfrm>
          <a:prstGeom prst="rect">
            <a:avLst/>
          </a:prstGeom>
          <a:noFill/>
          <a:ln/>
        </p:spPr>
        <p:txBody>
          <a:bodyPr wrap="square" lIns="0" tIns="0" rIns="0" bIns="0" rtlCol="0" anchor="ctr"/>
          <a:lstStyle/>
          <a:p>
            <a:pPr algn="ctr" indent="0" marL="0">
              <a:buNone/>
            </a:pPr>
            <a:r>
              <a:rPr lang="en-US" sz="3800" b="1" dirty="0">
                <a:solidFill>
                  <a:srgbClr val="0B231C"/>
                </a:solidFill>
                <a:latin typeface="Calibri" pitchFamily="34" charset="0"/>
                <a:ea typeface="Calibri" pitchFamily="34" charset="-122"/>
                <a:cs typeface="Calibri" pitchFamily="34" charset="-120"/>
              </a:rPr>
              <a:t>100</a:t>
            </a:r>
            <a:endParaRPr lang="en-US" sz="3800" dirty="0"/>
          </a:p>
        </p:txBody>
      </p:sp>
      <p:sp>
        <p:nvSpPr>
          <p:cNvPr id="37" name="Text 33"/>
          <p:cNvSpPr txBox="1"/>
          <p:nvPr/>
        </p:nvSpPr>
        <p:spPr>
          <a:xfrm>
            <a:off x="7293072" y="3691433"/>
            <a:ext cx="2101840" cy="357530"/>
          </a:xfrm>
          <a:prstGeom prst="rect">
            <a:avLst/>
          </a:prstGeom>
          <a:noFill/>
          <a:ln/>
        </p:spPr>
        <p:txBody>
          <a:bodyPr wrap="square" lIns="0" tIns="0" rIns="0" bIns="0" rtlCol="0" anchor="ctr"/>
          <a:lstStyle/>
          <a:p>
            <a:pPr algn="ctr" indent="0" marL="0">
              <a:buNone/>
            </a:pPr>
            <a:r>
              <a:rPr lang="en-US" sz="1100" dirty="0">
                <a:solidFill>
                  <a:srgbClr val="0B231C"/>
                </a:solidFill>
                <a:latin typeface="Calibri" pitchFamily="34" charset="0"/>
                <a:ea typeface="Calibri" pitchFamily="34" charset="-122"/>
                <a:cs typeface="Calibri" pitchFamily="34" charset="-120"/>
              </a:rPr>
              <a:t>one hundred</a:t>
            </a:r>
            <a:endParaRPr lang="en-US" sz="1100" dirty="0"/>
          </a:p>
        </p:txBody>
      </p:sp>
      <p:sp>
        <p:nvSpPr>
          <p:cNvPr id="38" name="Shape 34"/>
          <p:cNvSpPr/>
          <p:nvPr/>
        </p:nvSpPr>
        <p:spPr>
          <a:xfrm>
            <a:off x="548640" y="5376672"/>
            <a:ext cx="11094415" cy="566928"/>
          </a:xfrm>
          <a:prstGeom prst="roundRect">
            <a:avLst>
              <a:gd name="adj" fmla="val 22581"/>
            </a:avLst>
          </a:prstGeom>
          <a:solidFill>
            <a:srgbClr val="FDF3E7"/>
          </a:solidFill>
          <a:ln w="12700">
            <a:solidFill>
              <a:srgbClr val="EFDCB2"/>
            </a:solidFill>
            <a:prstDash val="solid"/>
          </a:ln>
        </p:spPr>
      </p:sp>
      <p:sp>
        <p:nvSpPr>
          <p:cNvPr id="39" name="Text 35"/>
          <p:cNvSpPr txBox="1"/>
          <p:nvPr/>
        </p:nvSpPr>
        <p:spPr>
          <a:xfrm>
            <a:off x="768096" y="5376672"/>
            <a:ext cx="10655503" cy="56692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In between, join with a hyphen:  21 = twenty-one  ·  47 = forty-seven  ·  99 = ninety-nine.   Careful with the spelling of FORTY — there is no “u”, unlike four.</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Days of the week and months of the year</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Seven days, twelve months. All take a capital letter.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2 — Numbers, Time &amp; Money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9</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2286000"/>
                <a:gridCol w="4389120"/>
                <a:gridCol w="4419295"/>
              </a:tblGrid>
              <a:tr h="457200">
                <a:tc>
                  <a:txBody>
                    <a:bodyPr/>
                    <a:lstStyle/>
                    <a:p>
                      <a:pPr indent="0" marL="0">
                        <a:buNone/>
                      </a:pPr>
                      <a:endParaRPr lang="en-US" sz="15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The 7 days</a:t>
                      </a:r>
                      <a:endParaRPr lang="en-US" sz="15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The 12 months</a:t>
                      </a:r>
                      <a:endParaRPr lang="en-US" sz="15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r>
              <a:tr h="457200">
                <a:tc>
                  <a:txBody>
                    <a:bodyPr/>
                    <a:lstStyle/>
                    <a:p>
                      <a:pPr algn="l" indent="0" marL="0">
                        <a:buNone/>
                      </a:pPr>
                      <a:r>
                        <a:rPr lang="en-US" sz="1550" b="1" dirty="0">
                          <a:solidFill>
                            <a:srgbClr val="12211B"/>
                          </a:solidFill>
                          <a:latin typeface="Calibri" pitchFamily="34" charset="0"/>
                          <a:ea typeface="Calibri" pitchFamily="34" charset="-122"/>
                          <a:cs typeface="Calibri" pitchFamily="34" charset="-120"/>
                        </a:rPr>
                        <a:t>First four</a:t>
                      </a:r>
                      <a:endParaRPr lang="en-US" sz="15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550" dirty="0">
                          <a:solidFill>
                            <a:srgbClr val="3A473F"/>
                          </a:solidFill>
                          <a:latin typeface="Calibri" pitchFamily="34" charset="0"/>
                          <a:ea typeface="Calibri" pitchFamily="34" charset="-122"/>
                          <a:cs typeface="Calibri" pitchFamily="34" charset="-120"/>
                        </a:rPr>
                        <a:t>Monday · Tuesday · Wednesday · Thursday</a:t>
                      </a:r>
                      <a:endParaRPr lang="en-US" sz="15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550" dirty="0">
                          <a:solidFill>
                            <a:srgbClr val="3A473F"/>
                          </a:solidFill>
                          <a:latin typeface="Calibri" pitchFamily="34" charset="0"/>
                          <a:ea typeface="Calibri" pitchFamily="34" charset="-122"/>
                          <a:cs typeface="Calibri" pitchFamily="34" charset="-120"/>
                        </a:rPr>
                        <a:t>January · February · March · April</a:t>
                      </a:r>
                      <a:endParaRPr lang="en-US" sz="15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57200">
                <a:tc>
                  <a:txBody>
                    <a:bodyPr/>
                    <a:lstStyle/>
                    <a:p>
                      <a:pPr algn="l" indent="0" marL="0">
                        <a:buNone/>
                      </a:pPr>
                      <a:r>
                        <a:rPr lang="en-US" sz="1550" b="1" dirty="0">
                          <a:solidFill>
                            <a:srgbClr val="12211B"/>
                          </a:solidFill>
                          <a:latin typeface="Calibri" pitchFamily="34" charset="0"/>
                          <a:ea typeface="Calibri" pitchFamily="34" charset="-122"/>
                          <a:cs typeface="Calibri" pitchFamily="34" charset="-120"/>
                        </a:rPr>
                        <a:t>Next four</a:t>
                      </a:r>
                      <a:endParaRPr lang="en-US" sz="15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550" dirty="0">
                          <a:solidFill>
                            <a:srgbClr val="3A473F"/>
                          </a:solidFill>
                          <a:latin typeface="Calibri" pitchFamily="34" charset="0"/>
                          <a:ea typeface="Calibri" pitchFamily="34" charset="-122"/>
                          <a:cs typeface="Calibri" pitchFamily="34" charset="-120"/>
                        </a:rPr>
                        <a:t>Friday · Saturday · Sunday</a:t>
                      </a:r>
                      <a:endParaRPr lang="en-US" sz="15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550" dirty="0">
                          <a:solidFill>
                            <a:srgbClr val="3A473F"/>
                          </a:solidFill>
                          <a:latin typeface="Calibri" pitchFamily="34" charset="0"/>
                          <a:ea typeface="Calibri" pitchFamily="34" charset="-122"/>
                          <a:cs typeface="Calibri" pitchFamily="34" charset="-120"/>
                        </a:rPr>
                        <a:t>May · June · July · August</a:t>
                      </a:r>
                      <a:endParaRPr lang="en-US" sz="15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57200">
                <a:tc>
                  <a:txBody>
                    <a:bodyPr/>
                    <a:lstStyle/>
                    <a:p>
                      <a:pPr algn="l" indent="0" marL="0">
                        <a:buNone/>
                      </a:pPr>
                      <a:r>
                        <a:rPr lang="en-US" sz="1550" b="1" dirty="0">
                          <a:solidFill>
                            <a:srgbClr val="12211B"/>
                          </a:solidFill>
                          <a:latin typeface="Calibri" pitchFamily="34" charset="0"/>
                          <a:ea typeface="Calibri" pitchFamily="34" charset="-122"/>
                          <a:cs typeface="Calibri" pitchFamily="34" charset="-120"/>
                        </a:rPr>
                        <a:t>Last four</a:t>
                      </a:r>
                      <a:endParaRPr lang="en-US" sz="15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550" dirty="0">
                          <a:solidFill>
                            <a:srgbClr val="3A473F"/>
                          </a:solidFill>
                          <a:latin typeface="Calibri" pitchFamily="34" charset="0"/>
                          <a:ea typeface="Calibri" pitchFamily="34" charset="-122"/>
                          <a:cs typeface="Calibri" pitchFamily="34" charset="-120"/>
                        </a:rPr>
                        <a:t>The weekend = Saturday and Sunday</a:t>
                      </a:r>
                      <a:endParaRPr lang="en-US" sz="15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550" dirty="0">
                          <a:solidFill>
                            <a:srgbClr val="3A473F"/>
                          </a:solidFill>
                          <a:latin typeface="Calibri" pitchFamily="34" charset="0"/>
                          <a:ea typeface="Calibri" pitchFamily="34" charset="-122"/>
                          <a:cs typeface="Calibri" pitchFamily="34" charset="-120"/>
                        </a:rPr>
                        <a:t>September · October · November · December</a:t>
                      </a:r>
                      <a:endParaRPr lang="en-US" sz="15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57200">
                <a:tc>
                  <a:txBody>
                    <a:bodyPr/>
                    <a:lstStyle/>
                    <a:p>
                      <a:pPr algn="l" indent="0" marL="0">
                        <a:buNone/>
                      </a:pPr>
                      <a:r>
                        <a:rPr lang="en-US" sz="1550" b="1" dirty="0">
                          <a:solidFill>
                            <a:srgbClr val="12211B"/>
                          </a:solidFill>
                          <a:latin typeface="Calibri" pitchFamily="34" charset="0"/>
                          <a:ea typeface="Calibri" pitchFamily="34" charset="-122"/>
                          <a:cs typeface="Calibri" pitchFamily="34" charset="-120"/>
                        </a:rPr>
                        <a:t>Capital letter?</a:t>
                      </a:r>
                      <a:endParaRPr lang="en-US" sz="15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550" dirty="0">
                          <a:solidFill>
                            <a:srgbClr val="3A473F"/>
                          </a:solidFill>
                          <a:latin typeface="Calibri" pitchFamily="34" charset="0"/>
                          <a:ea typeface="Calibri" pitchFamily="34" charset="-122"/>
                          <a:cs typeface="Calibri" pitchFamily="34" charset="-120"/>
                        </a:rPr>
                        <a:t>Yes — always</a:t>
                      </a:r>
                      <a:endParaRPr lang="en-US" sz="15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550" dirty="0">
                          <a:solidFill>
                            <a:srgbClr val="3A473F"/>
                          </a:solidFill>
                          <a:latin typeface="Calibri" pitchFamily="34" charset="0"/>
                          <a:ea typeface="Calibri" pitchFamily="34" charset="-122"/>
                          <a:cs typeface="Calibri" pitchFamily="34" charset="-120"/>
                        </a:rPr>
                        <a:t>Yes — always</a:t>
                      </a:r>
                      <a:endParaRPr lang="en-US" sz="15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57200">
                <a:tc>
                  <a:txBody>
                    <a:bodyPr/>
                    <a:lstStyle/>
                    <a:p>
                      <a:pPr algn="l" indent="0" marL="0">
                        <a:buNone/>
                      </a:pPr>
                      <a:r>
                        <a:rPr lang="en-US" sz="1550" b="1" dirty="0">
                          <a:solidFill>
                            <a:srgbClr val="12211B"/>
                          </a:solidFill>
                          <a:latin typeface="Calibri" pitchFamily="34" charset="0"/>
                          <a:ea typeface="Calibri" pitchFamily="34" charset="-122"/>
                          <a:cs typeface="Calibri" pitchFamily="34" charset="-120"/>
                        </a:rPr>
                        <a:t>Short forms</a:t>
                      </a:r>
                      <a:endParaRPr lang="en-US" sz="15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550" dirty="0">
                          <a:solidFill>
                            <a:srgbClr val="3A473F"/>
                          </a:solidFill>
                          <a:latin typeface="Calibri" pitchFamily="34" charset="0"/>
                          <a:ea typeface="Calibri" pitchFamily="34" charset="-122"/>
                          <a:cs typeface="Calibri" pitchFamily="34" charset="-120"/>
                        </a:rPr>
                        <a:t>Mon · Tue · Wed · Thu · Fri · Sat · Sun</a:t>
                      </a:r>
                      <a:endParaRPr lang="en-US" sz="15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550" dirty="0">
                          <a:solidFill>
                            <a:srgbClr val="3A473F"/>
                          </a:solidFill>
                          <a:latin typeface="Calibri" pitchFamily="34" charset="0"/>
                          <a:ea typeface="Calibri" pitchFamily="34" charset="-122"/>
                          <a:cs typeface="Calibri" pitchFamily="34" charset="-120"/>
                        </a:rPr>
                        <a:t>Jan · Feb · Mar · Apr · … · Dec</a:t>
                      </a:r>
                      <a:endParaRPr lang="en-US" sz="15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The Ethiopian calendar has 13 months. The English calendar has 12. These twelve English months are a separate list — learn them as new words, not as translations.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Telling the time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Four patterns cover almost every time you will need to say.</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2 — Numbers, Time &amp; Money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10</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2194560"/>
                <a:gridCol w="3291840"/>
                <a:gridCol w="5608015"/>
              </a:tblGrid>
              <a:tr h="566928">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Clock</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You say</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Example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r>
              <a:tr h="566928">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3:00</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 o'clock</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It is three o'clock.</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566928">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3:30</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half past …</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It is half past three.</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566928">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3:15</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quarter past …</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It is quarter past three.</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566928">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3:45</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quarter to …</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It is quarter to four.  ← note: FOUR, not three</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IMPORTANT: 3 o'clock in English is NOT 3 o'clock on the Ethiopian clock. Ethiopian 3 o'clock is 9 in the morning in English. Always say which one you mean.</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word: time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2 — Numbers, Time &amp; Money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11</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time</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/taɪm/</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noun</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850" dirty="0">
                <a:solidFill>
                  <a:srgbClr val="12211B"/>
                </a:solidFill>
                <a:latin typeface="Calibri" pitchFamily="34" charset="0"/>
                <a:ea typeface="Calibri" pitchFamily="34" charset="-122"/>
                <a:cs typeface="Calibri" pitchFamily="34" charset="-120"/>
              </a:rPr>
              <a:t>The hours and minutes of the day.</a:t>
            </a:r>
            <a:endParaRPr lang="en-US" sz="18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2400" b="1" dirty="0">
                <a:solidFill>
                  <a:srgbClr val="12211B"/>
                </a:solidFill>
                <a:latin typeface="Calibri" pitchFamily="34" charset="0"/>
                <a:ea typeface="Calibri" pitchFamily="34" charset="-122"/>
                <a:cs typeface="Calibri" pitchFamily="34" charset="-120"/>
              </a:rPr>
              <a:t>What time is it?  It is nine o'clock.</a:t>
            </a:r>
            <a:endParaRPr lang="en-US" sz="240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1500" dirty="0">
                <a:solidFill>
                  <a:srgbClr val="12211B"/>
                </a:solidFill>
                <a:latin typeface="Calibri" pitchFamily="34" charset="0"/>
                <a:ea typeface="Calibri" pitchFamily="34" charset="-122"/>
                <a:cs typeface="Calibri" pitchFamily="34" charset="-120"/>
              </a:rPr>
              <a:t>Say /taɪm/ with the “eye” sound, like in “five” and “nine”. Not “teem”. And the question is “What time is it?” — not “What is the time?” (though both are correct, the first is far more common).</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word: money</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2 — Numbers, Time &amp; Money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12</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money</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/ˈmʌni/</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noun</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850" dirty="0">
                <a:solidFill>
                  <a:srgbClr val="12211B"/>
                </a:solidFill>
                <a:latin typeface="Calibri" pitchFamily="34" charset="0"/>
                <a:ea typeface="Calibri" pitchFamily="34" charset="-122"/>
                <a:cs typeface="Calibri" pitchFamily="34" charset="-120"/>
              </a:rPr>
              <a:t>What you use to buy things. In Ethiopia: birr.</a:t>
            </a:r>
            <a:endParaRPr lang="en-US" sz="18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2400" b="1" dirty="0">
                <a:solidFill>
                  <a:srgbClr val="12211B"/>
                </a:solidFill>
                <a:latin typeface="Calibri" pitchFamily="34" charset="0"/>
                <a:ea typeface="Calibri" pitchFamily="34" charset="-122"/>
                <a:cs typeface="Calibri" pitchFamily="34" charset="-120"/>
              </a:rPr>
              <a:t>I do not have money today.</a:t>
            </a:r>
            <a:endParaRPr lang="en-US" sz="240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1950" dirty="0">
                <a:solidFill>
                  <a:srgbClr val="12211B"/>
                </a:solidFill>
                <a:latin typeface="Calibri" pitchFamily="34" charset="0"/>
                <a:ea typeface="Calibri" pitchFamily="34" charset="-122"/>
                <a:cs typeface="Calibri" pitchFamily="34" charset="-120"/>
              </a:rPr>
              <a:t>The first sound is /ʌ/ as in “cup”, not “oh”. Say “MUH-nee”, not “moh-nee”. Also: money is uncountable — never say “moneys”.</a:t>
            </a:r>
            <a:endParaRPr lang="en-US" sz="1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word: week</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2 — Numbers, Time &amp; Money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13</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week</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/wiːk/</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noun</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850" dirty="0">
                <a:solidFill>
                  <a:srgbClr val="12211B"/>
                </a:solidFill>
                <a:latin typeface="Calibri" pitchFamily="34" charset="0"/>
                <a:ea typeface="Calibri" pitchFamily="34" charset="-122"/>
                <a:cs typeface="Calibri" pitchFamily="34" charset="-120"/>
              </a:rPr>
              <a:t>Seven days, from Monday to Sunday.</a:t>
            </a:r>
            <a:endParaRPr lang="en-US" sz="18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2400" b="1" dirty="0">
                <a:solidFill>
                  <a:srgbClr val="12211B"/>
                </a:solidFill>
                <a:latin typeface="Calibri" pitchFamily="34" charset="0"/>
                <a:ea typeface="Calibri" pitchFamily="34" charset="-122"/>
                <a:cs typeface="Calibri" pitchFamily="34" charset="-120"/>
              </a:rPr>
              <a:t>I work six days a week.</a:t>
            </a:r>
            <a:endParaRPr lang="en-US" sz="240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1950" dirty="0">
                <a:solidFill>
                  <a:srgbClr val="12211B"/>
                </a:solidFill>
                <a:latin typeface="Calibri" pitchFamily="34" charset="0"/>
                <a:ea typeface="Calibri" pitchFamily="34" charset="-122"/>
                <a:cs typeface="Calibri" pitchFamily="34" charset="-120"/>
              </a:rPr>
              <a:t>The vowel is long: /wiːk/. Keep it short and it becomes “wick” — a different word. Compare: week and wick, seat and sit, sheep and ship.</a:t>
            </a:r>
            <a:endParaRPr lang="en-US" sz="1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word: month</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2 — Numbers, Time &amp; Money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14</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month</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/mʌnθ/</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noun</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850" dirty="0">
                <a:solidFill>
                  <a:srgbClr val="12211B"/>
                </a:solidFill>
                <a:latin typeface="Calibri" pitchFamily="34" charset="0"/>
                <a:ea typeface="Calibri" pitchFamily="34" charset="-122"/>
                <a:cs typeface="Calibri" pitchFamily="34" charset="-120"/>
              </a:rPr>
              <a:t>About thirty days. January, February, March …</a:t>
            </a:r>
            <a:endParaRPr lang="en-US" sz="18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2200" b="1" dirty="0">
                <a:solidFill>
                  <a:srgbClr val="12211B"/>
                </a:solidFill>
                <a:latin typeface="Calibri" pitchFamily="34" charset="0"/>
                <a:ea typeface="Calibri" pitchFamily="34" charset="-122"/>
                <a:cs typeface="Calibri" pitchFamily="34" charset="-120"/>
              </a:rPr>
              <a:t>There are twelve months in the English year.</a:t>
            </a:r>
            <a:endParaRPr lang="en-US" sz="220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1700" dirty="0">
                <a:solidFill>
                  <a:srgbClr val="12211B"/>
                </a:solidFill>
                <a:latin typeface="Calibri" pitchFamily="34" charset="0"/>
                <a:ea typeface="Calibri" pitchFamily="34" charset="-122"/>
                <a:cs typeface="Calibri" pitchFamily="34" charset="-120"/>
              </a:rPr>
              <a:t>The word ends with the “th” sound — tongue between the teeth. Do not say “mont” or “mons”. The plural is “months” /mʌnθs/, which is genuinely difficult — say it slowly.</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word: price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2 — Numbers, Time &amp; Money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15</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price</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/praɪs/</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noun</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850" dirty="0">
                <a:solidFill>
                  <a:srgbClr val="12211B"/>
                </a:solidFill>
                <a:latin typeface="Calibri" pitchFamily="34" charset="0"/>
                <a:ea typeface="Calibri" pitchFamily="34" charset="-122"/>
                <a:cs typeface="Calibri" pitchFamily="34" charset="-120"/>
              </a:rPr>
              <a:t>How much money something costs.</a:t>
            </a:r>
            <a:endParaRPr lang="en-US" sz="18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1900" b="1" dirty="0">
                <a:solidFill>
                  <a:srgbClr val="12211B"/>
                </a:solidFill>
                <a:latin typeface="Calibri" pitchFamily="34" charset="0"/>
                <a:ea typeface="Calibri" pitchFamily="34" charset="-122"/>
                <a:cs typeface="Calibri" pitchFamily="34" charset="-120"/>
              </a:rPr>
              <a:t>What is the price of this bag?  It is eighty birr.</a:t>
            </a:r>
            <a:endParaRPr lang="en-US" sz="190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1950" dirty="0">
                <a:solidFill>
                  <a:srgbClr val="12211B"/>
                </a:solidFill>
                <a:latin typeface="Calibri" pitchFamily="34" charset="0"/>
                <a:ea typeface="Calibri" pitchFamily="34" charset="-122"/>
                <a:cs typeface="Calibri" pitchFamily="34" charset="-120"/>
              </a:rPr>
              <a:t>Two things to watch: the /p/ needs a puff of air (not “brice”), and pr- is a consonant cluster — say p and r joined, with no vowel between them.</a:t>
            </a:r>
            <a:endParaRPr lang="en-US" sz="1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GRAMMAR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Rule 1 — “How many …?” and the plural -s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When you can count something, add -s for more than one.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2 — Numbers, Time &amp; Money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16</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2743200"/>
                <a:gridCol w="4023360"/>
                <a:gridCol w="4327855"/>
              </a:tblGrid>
              <a:tr h="512064">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One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More than one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In a question</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r>
              <a:tr h="512064">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one pen</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two pens</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How many pens do you have?</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512064">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one book</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ten books</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How many books are there?</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512064">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one birr</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fifty birr  ← no -s</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How much is it?</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512064">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one day</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seven days</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How many days in a week?</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Careful: currency does not take -s after a number. Say “fifty birr”, never “fifty birrs”. The same happens in English with some words.</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GRAMMAR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300" b="1" dirty="0">
                <a:solidFill>
                  <a:srgbClr val="12211B"/>
                </a:solidFill>
                <a:latin typeface="Calibri" pitchFamily="34" charset="0"/>
                <a:ea typeface="Calibri" pitchFamily="34" charset="-122"/>
                <a:cs typeface="Calibri" pitchFamily="34" charset="-120"/>
              </a:rPr>
              <a:t>Rule 2 — “How much is it?” and “How much are they?”</a:t>
            </a:r>
            <a:endParaRPr lang="en-US" sz="33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One thing → is. More than one thing → are.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2 — Numbers, Time &amp; Money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17</a:t>
            </a:r>
            <a:endParaRPr lang="en-US" sz="1100" dirty="0"/>
          </a:p>
        </p:txBody>
      </p:sp>
      <p:sp>
        <p:nvSpPr>
          <p:cNvPr id="11" name="Shape 7"/>
          <p:cNvSpPr/>
          <p:nvPr/>
        </p:nvSpPr>
        <p:spPr>
          <a:xfrm>
            <a:off x="548640" y="1883664"/>
            <a:ext cx="5410048" cy="3273552"/>
          </a:xfrm>
          <a:prstGeom prst="roundRect">
            <a:avLst>
              <a:gd name="adj" fmla="val 3911"/>
            </a:avLst>
          </a:prstGeom>
          <a:solidFill>
            <a:srgbClr val="E6F5EC"/>
          </a:solidFill>
          <a:ln w="15875">
            <a:solidFill>
              <a:srgbClr val="2E9E5B"/>
            </a:solidFill>
            <a:prstDash val="solid"/>
          </a:ln>
        </p:spPr>
      </p:sp>
      <p:sp>
        <p:nvSpPr>
          <p:cNvPr id="12" name="Shape 8"/>
          <p:cNvSpPr/>
          <p:nvPr/>
        </p:nvSpPr>
        <p:spPr>
          <a:xfrm>
            <a:off x="786384" y="2103120"/>
            <a:ext cx="420624" cy="420624"/>
          </a:xfrm>
          <a:prstGeom prst="ellipse">
            <a:avLst/>
          </a:prstGeom>
          <a:solidFill>
            <a:srgbClr val="2E9E5B"/>
          </a:solidFill>
          <a:ln/>
        </p:spPr>
      </p:sp>
      <p:pic>
        <p:nvPicPr>
          <p:cNvPr id="13" name="Image 1" descr="preencoded.png">    </p:cNvPr>
          <p:cNvPicPr>
            <a:picLocks noChangeAspect="1"/>
          </p:cNvPicPr>
          <p:nvPr/>
        </p:nvPicPr>
        <p:blipFill>
          <a:blip r:embed="rId2"/>
          <a:stretch>
            <a:fillRect/>
          </a:stretch>
        </p:blipFill>
        <p:spPr>
          <a:xfrm>
            <a:off x="891540" y="2208276"/>
            <a:ext cx="210312" cy="210312"/>
          </a:xfrm>
          <a:prstGeom prst="rect">
            <a:avLst/>
          </a:prstGeom>
        </p:spPr>
      </p:pic>
      <p:sp>
        <p:nvSpPr>
          <p:cNvPr id="14" name="Text 9"/>
          <p:cNvSpPr txBox="1"/>
          <p:nvPr/>
        </p:nvSpPr>
        <p:spPr>
          <a:xfrm>
            <a:off x="1335024" y="2103120"/>
            <a:ext cx="4404208" cy="420624"/>
          </a:xfrm>
          <a:prstGeom prst="rect">
            <a:avLst/>
          </a:prstGeom>
          <a:noFill/>
          <a:ln/>
        </p:spPr>
        <p:txBody>
          <a:bodyPr wrap="square" lIns="0" tIns="0" rIns="0" bIns="0" rtlCol="0" anchor="ctr"/>
          <a:lstStyle/>
          <a:p>
            <a:pPr indent="0" marL="0">
              <a:buNone/>
            </a:pPr>
            <a:r>
              <a:rPr lang="en-US" sz="2000" b="1" dirty="0">
                <a:solidFill>
                  <a:srgbClr val="2E9E5B"/>
                </a:solidFill>
                <a:latin typeface="Calibri" pitchFamily="34" charset="0"/>
                <a:ea typeface="Calibri" pitchFamily="34" charset="-122"/>
                <a:cs typeface="Calibri" pitchFamily="34" charset="-120"/>
              </a:rPr>
              <a:t>Correct</a:t>
            </a:r>
            <a:endParaRPr lang="en-US" sz="2000" dirty="0"/>
          </a:p>
        </p:txBody>
      </p:sp>
      <p:sp>
        <p:nvSpPr>
          <p:cNvPr id="15" name="Text 10"/>
          <p:cNvSpPr/>
          <p:nvPr/>
        </p:nvSpPr>
        <p:spPr>
          <a:xfrm>
            <a:off x="822960"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How much is it?</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How much is this bag?</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How much are they?</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How much are these books?</a:t>
            </a:r>
            <a:endParaRPr lang="en-US" sz="1900" dirty="0"/>
          </a:p>
        </p:txBody>
      </p:sp>
      <p:sp>
        <p:nvSpPr>
          <p:cNvPr id="16" name="Shape 11"/>
          <p:cNvSpPr/>
          <p:nvPr/>
        </p:nvSpPr>
        <p:spPr>
          <a:xfrm>
            <a:off x="6233008" y="1883664"/>
            <a:ext cx="5410048" cy="3273552"/>
          </a:xfrm>
          <a:prstGeom prst="roundRect">
            <a:avLst>
              <a:gd name="adj" fmla="val 3911"/>
            </a:avLst>
          </a:prstGeom>
          <a:solidFill>
            <a:srgbClr val="FBEAEA"/>
          </a:solidFill>
          <a:ln w="15875">
            <a:solidFill>
              <a:srgbClr val="D64545"/>
            </a:solidFill>
            <a:prstDash val="solid"/>
          </a:ln>
        </p:spPr>
      </p:sp>
      <p:sp>
        <p:nvSpPr>
          <p:cNvPr id="17" name="Shape 12"/>
          <p:cNvSpPr/>
          <p:nvPr/>
        </p:nvSpPr>
        <p:spPr>
          <a:xfrm>
            <a:off x="6470752" y="2103120"/>
            <a:ext cx="420624" cy="420624"/>
          </a:xfrm>
          <a:prstGeom prst="ellipse">
            <a:avLst/>
          </a:prstGeom>
          <a:solidFill>
            <a:srgbClr val="D64545"/>
          </a:solidFill>
          <a:ln/>
        </p:spPr>
      </p:sp>
      <p:pic>
        <p:nvPicPr>
          <p:cNvPr id="18" name="Image 2" descr="preencoded.png">    </p:cNvPr>
          <p:cNvPicPr>
            <a:picLocks noChangeAspect="1"/>
          </p:cNvPicPr>
          <p:nvPr/>
        </p:nvPicPr>
        <p:blipFill>
          <a:blip r:embed="rId3"/>
          <a:stretch>
            <a:fillRect/>
          </a:stretch>
        </p:blipFill>
        <p:spPr>
          <a:xfrm>
            <a:off x="6575908" y="2208276"/>
            <a:ext cx="210312" cy="210312"/>
          </a:xfrm>
          <a:prstGeom prst="rect">
            <a:avLst/>
          </a:prstGeom>
        </p:spPr>
      </p:pic>
      <p:sp>
        <p:nvSpPr>
          <p:cNvPr id="19" name="Text 13"/>
          <p:cNvSpPr txBox="1"/>
          <p:nvPr/>
        </p:nvSpPr>
        <p:spPr>
          <a:xfrm>
            <a:off x="7019392" y="2103120"/>
            <a:ext cx="4404208" cy="420624"/>
          </a:xfrm>
          <a:prstGeom prst="rect">
            <a:avLst/>
          </a:prstGeom>
          <a:noFill/>
          <a:ln/>
        </p:spPr>
        <p:txBody>
          <a:bodyPr wrap="square" lIns="0" tIns="0" rIns="0" bIns="0" rtlCol="0" anchor="ctr"/>
          <a:lstStyle/>
          <a:p>
            <a:pPr indent="0" marL="0">
              <a:buNone/>
            </a:pPr>
            <a:r>
              <a:rPr lang="en-US" sz="2000" b="1" dirty="0">
                <a:solidFill>
                  <a:srgbClr val="D64545"/>
                </a:solidFill>
                <a:latin typeface="Calibri" pitchFamily="34" charset="0"/>
                <a:ea typeface="Calibri" pitchFamily="34" charset="-122"/>
                <a:cs typeface="Calibri" pitchFamily="34" charset="-120"/>
              </a:rPr>
              <a:t>Wrong</a:t>
            </a:r>
            <a:endParaRPr lang="en-US" sz="2000" dirty="0"/>
          </a:p>
        </p:txBody>
      </p:sp>
      <p:sp>
        <p:nvSpPr>
          <p:cNvPr id="20" name="Text 14"/>
          <p:cNvSpPr/>
          <p:nvPr/>
        </p:nvSpPr>
        <p:spPr>
          <a:xfrm>
            <a:off x="6507328"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How much it is?</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How much is these books?</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How much they are?</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How much are this bag?</a:t>
            </a:r>
            <a:endParaRPr lang="en-US" sz="1900" dirty="0"/>
          </a:p>
        </p:txBody>
      </p:sp>
      <p:sp>
        <p:nvSpPr>
          <p:cNvPr id="21" name="Shape 15"/>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22" name="Text 16"/>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The word order is fixed: How much + is/are + the thing?  The verb comes BEFORE the thing, not after it.</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GRAMMAR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Rule 3 — “It is …” for time, price and day</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One small phrase answers three different questions.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2 — Numbers, Time &amp; Money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18</a:t>
            </a:r>
            <a:endParaRPr lang="en-US" sz="11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3657600"/>
                <a:gridCol w="3657600"/>
                <a:gridCol w="3779215"/>
              </a:tblGrid>
              <a:tr h="566928">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Question</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Answer</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Short form</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r>
              <a:tr h="566928">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What time is it?</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It is nine o'clock.</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It's nine o'clock.</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566928">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How much is it?</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It is forty birr.</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It's forty birr.</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566928">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What day is it?</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It is Monday.</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It's Monday.</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“It's” is the short form of “it is”. Both are correct. Speakers use the short form almost all the time, so you must be able to hear it.</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GRAMMAR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Rule 4 — at, on, in for time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Three small words. One rule each. Learn them together.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2 — Numbers, Time &amp; Money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19</a:t>
            </a:r>
            <a:endParaRPr lang="en-US" sz="1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1828800"/>
                <a:gridCol w="4023360"/>
                <a:gridCol w="5242255"/>
              </a:tblGrid>
              <a:tr h="603504">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Word</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Use it for</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Examples</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r>
              <a:tr h="603504">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AT</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a clock time</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at three o'clock · at half past eight · at 6:15</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603504">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ON</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a day or a date</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on Monday · on Friday · on 12 September</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603504">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IN</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a month or a year</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in January · in September · in 2026</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Remember it by size: AT is the smallest (a moment) · ON is bigger (a day) · IN is the biggest (a month or a year).</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GRAMMAR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Rule 5 — put it all together</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Numbers, prices, times and prepositions in one sentence.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2 — Numbers, Time &amp; Money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20</a:t>
            </a:r>
            <a:endParaRPr lang="en-US" sz="1100" dirty="0"/>
          </a:p>
        </p:txBody>
      </p:sp>
      <p:sp>
        <p:nvSpPr>
          <p:cNvPr id="11" name="Shape 7"/>
          <p:cNvSpPr/>
          <p:nvPr/>
        </p:nvSpPr>
        <p:spPr>
          <a:xfrm>
            <a:off x="548640" y="1883664"/>
            <a:ext cx="5410048" cy="3273552"/>
          </a:xfrm>
          <a:prstGeom prst="roundRect">
            <a:avLst>
              <a:gd name="adj" fmla="val 3911"/>
            </a:avLst>
          </a:prstGeom>
          <a:solidFill>
            <a:srgbClr val="E6F5EC"/>
          </a:solidFill>
          <a:ln w="15875">
            <a:solidFill>
              <a:srgbClr val="2E9E5B"/>
            </a:solidFill>
            <a:prstDash val="solid"/>
          </a:ln>
        </p:spPr>
      </p:sp>
      <p:sp>
        <p:nvSpPr>
          <p:cNvPr id="12" name="Shape 8"/>
          <p:cNvSpPr/>
          <p:nvPr/>
        </p:nvSpPr>
        <p:spPr>
          <a:xfrm>
            <a:off x="786384" y="2103120"/>
            <a:ext cx="420624" cy="420624"/>
          </a:xfrm>
          <a:prstGeom prst="ellipse">
            <a:avLst/>
          </a:prstGeom>
          <a:solidFill>
            <a:srgbClr val="2E9E5B"/>
          </a:solidFill>
          <a:ln/>
        </p:spPr>
      </p:sp>
      <p:pic>
        <p:nvPicPr>
          <p:cNvPr id="13" name="Image 1" descr="preencoded.png">    </p:cNvPr>
          <p:cNvPicPr>
            <a:picLocks noChangeAspect="1"/>
          </p:cNvPicPr>
          <p:nvPr/>
        </p:nvPicPr>
        <p:blipFill>
          <a:blip r:embed="rId2"/>
          <a:stretch>
            <a:fillRect/>
          </a:stretch>
        </p:blipFill>
        <p:spPr>
          <a:xfrm>
            <a:off x="891540" y="2208276"/>
            <a:ext cx="210312" cy="210312"/>
          </a:xfrm>
          <a:prstGeom prst="rect">
            <a:avLst/>
          </a:prstGeom>
        </p:spPr>
      </p:pic>
      <p:sp>
        <p:nvSpPr>
          <p:cNvPr id="14" name="Text 9"/>
          <p:cNvSpPr txBox="1"/>
          <p:nvPr/>
        </p:nvSpPr>
        <p:spPr>
          <a:xfrm>
            <a:off x="1335024" y="2103120"/>
            <a:ext cx="4404208" cy="420624"/>
          </a:xfrm>
          <a:prstGeom prst="rect">
            <a:avLst/>
          </a:prstGeom>
          <a:noFill/>
          <a:ln/>
        </p:spPr>
        <p:txBody>
          <a:bodyPr wrap="square" lIns="0" tIns="0" rIns="0" bIns="0" rtlCol="0" anchor="ctr"/>
          <a:lstStyle/>
          <a:p>
            <a:pPr indent="0" marL="0">
              <a:buNone/>
            </a:pPr>
            <a:r>
              <a:rPr lang="en-US" sz="2000" b="1" dirty="0">
                <a:solidFill>
                  <a:srgbClr val="2E9E5B"/>
                </a:solidFill>
                <a:latin typeface="Calibri" pitchFamily="34" charset="0"/>
                <a:ea typeface="Calibri" pitchFamily="34" charset="-122"/>
                <a:cs typeface="Calibri" pitchFamily="34" charset="-120"/>
              </a:rPr>
              <a:t>Correct</a:t>
            </a:r>
            <a:endParaRPr lang="en-US" sz="2000" dirty="0"/>
          </a:p>
        </p:txBody>
      </p:sp>
      <p:sp>
        <p:nvSpPr>
          <p:cNvPr id="15" name="Text 10"/>
          <p:cNvSpPr/>
          <p:nvPr/>
        </p:nvSpPr>
        <p:spPr>
          <a:xfrm>
            <a:off x="822960"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The class starts at eight o'clock.</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 work on Monday and Tuesday.</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My birthday is in September.</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It is fifty birr.</a:t>
            </a:r>
            <a:endParaRPr lang="en-US" sz="1900" dirty="0"/>
          </a:p>
        </p:txBody>
      </p:sp>
      <p:sp>
        <p:nvSpPr>
          <p:cNvPr id="16" name="Shape 11"/>
          <p:cNvSpPr/>
          <p:nvPr/>
        </p:nvSpPr>
        <p:spPr>
          <a:xfrm>
            <a:off x="6233008" y="1883664"/>
            <a:ext cx="5410048" cy="3273552"/>
          </a:xfrm>
          <a:prstGeom prst="roundRect">
            <a:avLst>
              <a:gd name="adj" fmla="val 3911"/>
            </a:avLst>
          </a:prstGeom>
          <a:solidFill>
            <a:srgbClr val="FBEAEA"/>
          </a:solidFill>
          <a:ln w="15875">
            <a:solidFill>
              <a:srgbClr val="D64545"/>
            </a:solidFill>
            <a:prstDash val="solid"/>
          </a:ln>
        </p:spPr>
      </p:sp>
      <p:sp>
        <p:nvSpPr>
          <p:cNvPr id="17" name="Shape 12"/>
          <p:cNvSpPr/>
          <p:nvPr/>
        </p:nvSpPr>
        <p:spPr>
          <a:xfrm>
            <a:off x="6470752" y="2103120"/>
            <a:ext cx="420624" cy="420624"/>
          </a:xfrm>
          <a:prstGeom prst="ellipse">
            <a:avLst/>
          </a:prstGeom>
          <a:solidFill>
            <a:srgbClr val="D64545"/>
          </a:solidFill>
          <a:ln/>
        </p:spPr>
      </p:sp>
      <p:pic>
        <p:nvPicPr>
          <p:cNvPr id="18" name="Image 2" descr="preencoded.png">    </p:cNvPr>
          <p:cNvPicPr>
            <a:picLocks noChangeAspect="1"/>
          </p:cNvPicPr>
          <p:nvPr/>
        </p:nvPicPr>
        <p:blipFill>
          <a:blip r:embed="rId3"/>
          <a:stretch>
            <a:fillRect/>
          </a:stretch>
        </p:blipFill>
        <p:spPr>
          <a:xfrm>
            <a:off x="6575908" y="2208276"/>
            <a:ext cx="210312" cy="210312"/>
          </a:xfrm>
          <a:prstGeom prst="rect">
            <a:avLst/>
          </a:prstGeom>
        </p:spPr>
      </p:pic>
      <p:sp>
        <p:nvSpPr>
          <p:cNvPr id="19" name="Text 13"/>
          <p:cNvSpPr txBox="1"/>
          <p:nvPr/>
        </p:nvSpPr>
        <p:spPr>
          <a:xfrm>
            <a:off x="7019392" y="2103120"/>
            <a:ext cx="4404208" cy="420624"/>
          </a:xfrm>
          <a:prstGeom prst="rect">
            <a:avLst/>
          </a:prstGeom>
          <a:noFill/>
          <a:ln/>
        </p:spPr>
        <p:txBody>
          <a:bodyPr wrap="square" lIns="0" tIns="0" rIns="0" bIns="0" rtlCol="0" anchor="ctr"/>
          <a:lstStyle/>
          <a:p>
            <a:pPr indent="0" marL="0">
              <a:buNone/>
            </a:pPr>
            <a:r>
              <a:rPr lang="en-US" sz="2000" b="1" dirty="0">
                <a:solidFill>
                  <a:srgbClr val="D64545"/>
                </a:solidFill>
                <a:latin typeface="Calibri" pitchFamily="34" charset="0"/>
                <a:ea typeface="Calibri" pitchFamily="34" charset="-122"/>
                <a:cs typeface="Calibri" pitchFamily="34" charset="-120"/>
              </a:rPr>
              <a:t>Wrong</a:t>
            </a:r>
            <a:endParaRPr lang="en-US" sz="2000" dirty="0"/>
          </a:p>
        </p:txBody>
      </p:sp>
      <p:sp>
        <p:nvSpPr>
          <p:cNvPr id="20" name="Text 14"/>
          <p:cNvSpPr/>
          <p:nvPr/>
        </p:nvSpPr>
        <p:spPr>
          <a:xfrm>
            <a:off x="6507328"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The class starts in eight o'clock.</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 work in Monday and Tuesday.</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My birthday is on September.</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It is fifty birrs.</a:t>
            </a:r>
            <a:endParaRPr lang="en-US" sz="1900" dirty="0"/>
          </a:p>
        </p:txBody>
      </p:sp>
      <p:sp>
        <p:nvSpPr>
          <p:cNvPr id="21" name="Shape 15"/>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22" name="Text 16"/>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Four checks for every sentence:  1 · the right preposition   2 · plural -s where it belongs   3 · no -s after birr   4 · capital letters on days and months.</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1 — saying numbers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Read the question, look at the answer, then read WHY.</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2 — Numbers, Time &amp; Money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21</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Write in words:  47</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forty-seven</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Say the tens first, then the units, joined with a hyphen. Careful with the spelling of “forty” — there is no “u” in it.</a:t>
            </a:r>
            <a:endParaRPr lang="en-US" sz="110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Which is bigger:  13 or 30?</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30 is bigger.</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13 is thir-TEEN with the stress at the end. 30 is THIR-ty with the stress at the start. The stress is the only difference when you hear them.</a:t>
            </a:r>
            <a:endParaRPr lang="en-US" sz="110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Say this phone number:  0912 345 678</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“oh nine one two, three four five, six seven eight”</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English says phone numbers digit by digit, not as whole numbers. Zero is usually said as “oh” in phone numbers.</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2 — telling the time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Look at the clock, choose the pattern.</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2 — Numbers, Time &amp; Money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22</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130" i="1" dirty="0">
                <a:solidFill>
                  <a:srgbClr val="6B7C71"/>
                </a:solidFill>
                <a:latin typeface="Calibri" pitchFamily="34" charset="0"/>
                <a:ea typeface="Calibri" pitchFamily="34" charset="-122"/>
                <a:cs typeface="Calibri" pitchFamily="34" charset="-120"/>
              </a:rPr>
              <a:t>What time is it?  7:00</a:t>
            </a:r>
            <a:endParaRPr lang="en-US" sz="1130" dirty="0"/>
          </a:p>
          <a:p>
            <a:pPr indent="0" marL="0">
              <a:lnSpc>
                <a:spcPct val="102000"/>
              </a:lnSpc>
              <a:spcBef>
                <a:spcPts val="174"/>
              </a:spcBef>
              <a:buNone/>
            </a:pPr>
            <a:r>
              <a:rPr lang="en-US" sz="1650" b="1" dirty="0">
                <a:solidFill>
                  <a:srgbClr val="12211B"/>
                </a:solidFill>
                <a:latin typeface="Calibri" pitchFamily="34" charset="0"/>
                <a:ea typeface="Calibri" pitchFamily="34" charset="-122"/>
                <a:cs typeface="Calibri" pitchFamily="34" charset="-120"/>
              </a:rPr>
              <a:t>It is seven o'clock.</a:t>
            </a:r>
            <a:endParaRPr lang="en-US" sz="1130" dirty="0"/>
          </a:p>
          <a:p>
            <a:pPr indent="0" marL="0">
              <a:lnSpc>
                <a:spcPct val="102000"/>
              </a:lnSpc>
              <a:spcBef>
                <a:spcPts val="261"/>
              </a:spcBef>
              <a:buNone/>
            </a:pPr>
            <a:r>
              <a:rPr lang="en-US" sz="1300" dirty="0">
                <a:solidFill>
                  <a:srgbClr val="0A4634"/>
                </a:solidFill>
                <a:latin typeface="Calibri" pitchFamily="34" charset="0"/>
                <a:ea typeface="Calibri" pitchFamily="34" charset="-122"/>
                <a:cs typeface="Calibri" pitchFamily="34" charset="-120"/>
              </a:rPr>
              <a:t>WHY: Use “o'clock” only for an exact hour with no minutes. Never say “seven o'clock fifteen”.</a:t>
            </a:r>
            <a:endParaRPr lang="en-US" sz="113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What time is it?  7:30</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It is half past seven.</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Half past means thirty minutes after the hour. The hour you name is the one that has already passed.</a:t>
            </a:r>
            <a:endParaRPr lang="en-US" sz="110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What time is it?  7:45</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It is quarter to eight.</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After half past, you look forward to the NEXT hour. 7:45 is fifteen minutes before eight, so it is “quarter to eight” — not seven.</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3 — money and prices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Asking, answering and getting the plural right.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2 — Numbers, Time &amp; Money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23</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160" i="1" dirty="0">
                <a:solidFill>
                  <a:srgbClr val="6B7C71"/>
                </a:solidFill>
                <a:latin typeface="Calibri" pitchFamily="34" charset="0"/>
                <a:ea typeface="Calibri" pitchFamily="34" charset="-122"/>
                <a:cs typeface="Calibri" pitchFamily="34" charset="-120"/>
              </a:rPr>
              <a:t>You want to know the cost of a bag. What do you ask?</a:t>
            </a:r>
            <a:endParaRPr lang="en-US" sz="1160" dirty="0"/>
          </a:p>
          <a:p>
            <a:pPr indent="0" marL="0">
              <a:lnSpc>
                <a:spcPct val="102000"/>
              </a:lnSpc>
              <a:spcBef>
                <a:spcPts val="179"/>
              </a:spcBef>
              <a:buNone/>
            </a:pPr>
            <a:r>
              <a:rPr lang="en-US" sz="1700" b="1" dirty="0">
                <a:solidFill>
                  <a:srgbClr val="12211B"/>
                </a:solidFill>
                <a:latin typeface="Calibri" pitchFamily="34" charset="0"/>
                <a:ea typeface="Calibri" pitchFamily="34" charset="-122"/>
                <a:cs typeface="Calibri" pitchFamily="34" charset="-120"/>
              </a:rPr>
              <a:t>How much is it?  (or: How much is this bag?)</a:t>
            </a:r>
            <a:endParaRPr lang="en-US" sz="1160" dirty="0"/>
          </a:p>
          <a:p>
            <a:pPr indent="0" marL="0">
              <a:lnSpc>
                <a:spcPct val="102000"/>
              </a:lnSpc>
              <a:spcBef>
                <a:spcPts val="268"/>
              </a:spcBef>
              <a:buNone/>
            </a:pPr>
            <a:r>
              <a:rPr lang="en-US" sz="1340" dirty="0">
                <a:solidFill>
                  <a:srgbClr val="0A4634"/>
                </a:solidFill>
                <a:latin typeface="Calibri" pitchFamily="34" charset="0"/>
                <a:ea typeface="Calibri" pitchFamily="34" charset="-122"/>
                <a:cs typeface="Calibri" pitchFamily="34" charset="-120"/>
              </a:rPr>
              <a:t>WHY: The verb “is” comes before “it”. “How much it is?” puts the words in the wrong order.</a:t>
            </a:r>
            <a:endParaRPr lang="en-US" sz="116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200" i="1" dirty="0">
                <a:solidFill>
                  <a:srgbClr val="6B7C71"/>
                </a:solidFill>
                <a:latin typeface="Calibri" pitchFamily="34" charset="0"/>
                <a:ea typeface="Calibri" pitchFamily="34" charset="-122"/>
                <a:cs typeface="Calibri" pitchFamily="34" charset="-120"/>
              </a:rPr>
              <a:t>The answer is 50 birr. Write the full sentence.</a:t>
            </a:r>
            <a:endParaRPr lang="en-US" sz="1200" dirty="0"/>
          </a:p>
          <a:p>
            <a:pPr indent="0" marL="0">
              <a:lnSpc>
                <a:spcPct val="102000"/>
              </a:lnSpc>
              <a:spcBef>
                <a:spcPts val="184"/>
              </a:spcBef>
              <a:buNone/>
            </a:pPr>
            <a:r>
              <a:rPr lang="en-US" sz="1750" b="1" dirty="0">
                <a:solidFill>
                  <a:srgbClr val="12211B"/>
                </a:solidFill>
                <a:latin typeface="Calibri" pitchFamily="34" charset="0"/>
                <a:ea typeface="Calibri" pitchFamily="34" charset="-122"/>
                <a:cs typeface="Calibri" pitchFamily="34" charset="-120"/>
              </a:rPr>
              <a:t>It is fifty birr.</a:t>
            </a:r>
            <a:endParaRPr lang="en-US" sz="1200" dirty="0"/>
          </a:p>
          <a:p>
            <a:pPr indent="0" marL="0">
              <a:lnSpc>
                <a:spcPct val="102000"/>
              </a:lnSpc>
              <a:spcBef>
                <a:spcPts val="276"/>
              </a:spcBef>
              <a:buNone/>
            </a:pPr>
            <a:r>
              <a:rPr lang="en-US" sz="1380" dirty="0">
                <a:solidFill>
                  <a:srgbClr val="0A4634"/>
                </a:solidFill>
                <a:latin typeface="Calibri" pitchFamily="34" charset="0"/>
                <a:ea typeface="Calibri" pitchFamily="34" charset="-122"/>
                <a:cs typeface="Calibri" pitchFamily="34" charset="-120"/>
              </a:rPr>
              <a:t>WHY: Two things: use the full sentence “It is…”, and never add -s to birr after a number.</a:t>
            </a:r>
            <a:endParaRPr lang="en-US" sz="120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Correct this:  “How much are this book?”</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How much is this book?</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“This book” is one thing, so the verb must be “is”. Use “are” only for more than one: “How much are these books?”</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4 — at, on, in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Think: is it a moment, a day, or a month?</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2 — Numbers, Time &amp; Money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24</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160" i="1" dirty="0">
                <a:solidFill>
                  <a:srgbClr val="6B7C71"/>
                </a:solidFill>
                <a:latin typeface="Calibri" pitchFamily="34" charset="0"/>
                <a:ea typeface="Calibri" pitchFamily="34" charset="-122"/>
                <a:cs typeface="Calibri" pitchFamily="34" charset="-120"/>
              </a:rPr>
              <a:t>Fill the gap:  “The bus leaves ___ six o'clock.”</a:t>
            </a:r>
            <a:endParaRPr lang="en-US" sz="1160" dirty="0"/>
          </a:p>
          <a:p>
            <a:pPr indent="0" marL="0">
              <a:lnSpc>
                <a:spcPct val="102000"/>
              </a:lnSpc>
              <a:spcBef>
                <a:spcPts val="179"/>
              </a:spcBef>
              <a:buNone/>
            </a:pPr>
            <a:r>
              <a:rPr lang="en-US" sz="1700" b="1" dirty="0">
                <a:solidFill>
                  <a:srgbClr val="12211B"/>
                </a:solidFill>
                <a:latin typeface="Calibri" pitchFamily="34" charset="0"/>
                <a:ea typeface="Calibri" pitchFamily="34" charset="-122"/>
                <a:cs typeface="Calibri" pitchFamily="34" charset="-120"/>
              </a:rPr>
              <a:t>at</a:t>
            </a:r>
            <a:endParaRPr lang="en-US" sz="1160" dirty="0"/>
          </a:p>
          <a:p>
            <a:pPr indent="0" marL="0">
              <a:lnSpc>
                <a:spcPct val="102000"/>
              </a:lnSpc>
              <a:spcBef>
                <a:spcPts val="268"/>
              </a:spcBef>
              <a:buNone/>
            </a:pPr>
            <a:r>
              <a:rPr lang="en-US" sz="1340" dirty="0">
                <a:solidFill>
                  <a:srgbClr val="0A4634"/>
                </a:solidFill>
                <a:latin typeface="Calibri" pitchFamily="34" charset="0"/>
                <a:ea typeface="Calibri" pitchFamily="34" charset="-122"/>
                <a:cs typeface="Calibri" pitchFamily="34" charset="-120"/>
              </a:rPr>
              <a:t>WHY: A clock time always takes AT. Think small: AT is the smallest of the three time words.</a:t>
            </a:r>
            <a:endParaRPr lang="en-US" sz="116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300" i="1" dirty="0">
                <a:solidFill>
                  <a:srgbClr val="6B7C71"/>
                </a:solidFill>
                <a:latin typeface="Calibri" pitchFamily="34" charset="0"/>
                <a:ea typeface="Calibri" pitchFamily="34" charset="-122"/>
                <a:cs typeface="Calibri" pitchFamily="34" charset="-120"/>
              </a:rPr>
              <a:t>Fill the gap:  “I do not work ___ Sunday.”</a:t>
            </a:r>
            <a:endParaRPr lang="en-US" sz="1300" dirty="0"/>
          </a:p>
          <a:p>
            <a:pPr indent="0" marL="0">
              <a:lnSpc>
                <a:spcPct val="102000"/>
              </a:lnSpc>
              <a:spcBef>
                <a:spcPts val="200"/>
              </a:spcBef>
              <a:buNone/>
            </a:pPr>
            <a:r>
              <a:rPr lang="en-US" sz="1900" b="1" dirty="0">
                <a:solidFill>
                  <a:srgbClr val="12211B"/>
                </a:solidFill>
                <a:latin typeface="Calibri" pitchFamily="34" charset="0"/>
                <a:ea typeface="Calibri" pitchFamily="34" charset="-122"/>
                <a:cs typeface="Calibri" pitchFamily="34" charset="-120"/>
              </a:rPr>
              <a:t>on</a:t>
            </a:r>
            <a:endParaRPr lang="en-US" sz="1300" dirty="0"/>
          </a:p>
          <a:p>
            <a:pPr indent="0" marL="0">
              <a:lnSpc>
                <a:spcPct val="102000"/>
              </a:lnSpc>
              <a:spcBef>
                <a:spcPts val="300"/>
              </a:spcBef>
              <a:buNone/>
            </a:pPr>
            <a:r>
              <a:rPr lang="en-US" sz="1500" dirty="0">
                <a:solidFill>
                  <a:srgbClr val="0A4634"/>
                </a:solidFill>
                <a:latin typeface="Calibri" pitchFamily="34" charset="0"/>
                <a:ea typeface="Calibri" pitchFamily="34" charset="-122"/>
                <a:cs typeface="Calibri" pitchFamily="34" charset="-120"/>
              </a:rPr>
              <a:t>WHY: A day of the week always takes ON. Note the capital S on Sunday.</a:t>
            </a:r>
            <a:endParaRPr lang="en-US" sz="130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270" i="1" dirty="0">
                <a:solidFill>
                  <a:srgbClr val="6B7C71"/>
                </a:solidFill>
                <a:latin typeface="Calibri" pitchFamily="34" charset="0"/>
                <a:ea typeface="Calibri" pitchFamily="34" charset="-122"/>
                <a:cs typeface="Calibri" pitchFamily="34" charset="-120"/>
              </a:rPr>
              <a:t>Fill the gap:  “My birthday is ___ March.”</a:t>
            </a:r>
            <a:endParaRPr lang="en-US" sz="1270" dirty="0"/>
          </a:p>
          <a:p>
            <a:pPr indent="0" marL="0">
              <a:lnSpc>
                <a:spcPct val="102000"/>
              </a:lnSpc>
              <a:spcBef>
                <a:spcPts val="195"/>
              </a:spcBef>
              <a:buNone/>
            </a:pPr>
            <a:r>
              <a:rPr lang="en-US" sz="1850" b="1" dirty="0">
                <a:solidFill>
                  <a:srgbClr val="12211B"/>
                </a:solidFill>
                <a:latin typeface="Calibri" pitchFamily="34" charset="0"/>
                <a:ea typeface="Calibri" pitchFamily="34" charset="-122"/>
                <a:cs typeface="Calibri" pitchFamily="34" charset="-120"/>
              </a:rPr>
              <a:t>in</a:t>
            </a:r>
            <a:endParaRPr lang="en-US" sz="1270" dirty="0"/>
          </a:p>
          <a:p>
            <a:pPr indent="0" marL="0">
              <a:lnSpc>
                <a:spcPct val="102000"/>
              </a:lnSpc>
              <a:spcBef>
                <a:spcPts val="292"/>
              </a:spcBef>
              <a:buNone/>
            </a:pPr>
            <a:r>
              <a:rPr lang="en-US" sz="1460" dirty="0">
                <a:solidFill>
                  <a:srgbClr val="0A4634"/>
                </a:solidFill>
                <a:latin typeface="Calibri" pitchFamily="34" charset="0"/>
                <a:ea typeface="Calibri" pitchFamily="34" charset="-122"/>
                <a:cs typeface="Calibri" pitchFamily="34" charset="-120"/>
              </a:rPr>
              <a:t>WHY: A month always takes IN. Think big: IN covers the largest period of the three.</a:t>
            </a:r>
            <a:endParaRPr lang="en-US" sz="127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750" b="1" dirty="0">
                <a:solidFill>
                  <a:srgbClr val="12211B"/>
                </a:solidFill>
                <a:latin typeface="Calibri" pitchFamily="34" charset="0"/>
                <a:ea typeface="Calibri" pitchFamily="34" charset="-122"/>
                <a:cs typeface="Calibri" pitchFamily="34" charset="-120"/>
              </a:rPr>
              <a:t>Guided examples 5 — days, months and capitals</a:t>
            </a:r>
            <a:endParaRPr lang="en-US" sz="375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day and every month takes a capital letter.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2 — Numbers, Time &amp; Money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25</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160" i="1" dirty="0">
                <a:solidFill>
                  <a:srgbClr val="6B7C71"/>
                </a:solidFill>
                <a:latin typeface="Calibri" pitchFamily="34" charset="0"/>
                <a:ea typeface="Calibri" pitchFamily="34" charset="-122"/>
                <a:cs typeface="Calibri" pitchFamily="34" charset="-120"/>
              </a:rPr>
              <a:t>Correct this:  “i work on monday and friday.”</a:t>
            </a:r>
            <a:endParaRPr lang="en-US" sz="1160" dirty="0"/>
          </a:p>
          <a:p>
            <a:pPr indent="0" marL="0">
              <a:lnSpc>
                <a:spcPct val="102000"/>
              </a:lnSpc>
              <a:spcBef>
                <a:spcPts val="179"/>
              </a:spcBef>
              <a:buNone/>
            </a:pPr>
            <a:r>
              <a:rPr lang="en-US" sz="1700" b="1" dirty="0">
                <a:solidFill>
                  <a:srgbClr val="12211B"/>
                </a:solidFill>
                <a:latin typeface="Calibri" pitchFamily="34" charset="0"/>
                <a:ea typeface="Calibri" pitchFamily="34" charset="-122"/>
                <a:cs typeface="Calibri" pitchFamily="34" charset="-120"/>
              </a:rPr>
              <a:t>I work on Monday and Friday.</a:t>
            </a:r>
            <a:endParaRPr lang="en-US" sz="1160" dirty="0"/>
          </a:p>
          <a:p>
            <a:pPr indent="0" marL="0">
              <a:lnSpc>
                <a:spcPct val="102000"/>
              </a:lnSpc>
              <a:spcBef>
                <a:spcPts val="268"/>
              </a:spcBef>
              <a:buNone/>
            </a:pPr>
            <a:r>
              <a:rPr lang="en-US" sz="1340" dirty="0">
                <a:solidFill>
                  <a:srgbClr val="0A4634"/>
                </a:solidFill>
                <a:latin typeface="Calibri" pitchFamily="34" charset="0"/>
                <a:ea typeface="Calibri" pitchFamily="34" charset="-122"/>
                <a:cs typeface="Calibri" pitchFamily="34" charset="-120"/>
              </a:rPr>
              <a:t>WHY: Three capitals: I is always capital, and both Monday and Friday are days of the week.</a:t>
            </a:r>
            <a:endParaRPr lang="en-US" sz="116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How many months are in the English year?</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Twelve.</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The Ethiopian calendar has thirteen months. The English calendar has twelve. Do not try to match them — learn the twelve English names separately.</a:t>
            </a:r>
            <a:endParaRPr lang="en-US" sz="110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Which comes first:  September or November?</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September.</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The order is September, October, November, December — the last four months of the year. Learning them in groups of four is easier than all twelve at once.</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Buying something at the shop</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Abel buys tomatoes at Merkato.</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2 — Numbers, Time &amp; Money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26</a:t>
            </a:r>
            <a:endParaRPr lang="en-US" sz="1100" dirty="0"/>
          </a:p>
        </p:txBody>
      </p:sp>
      <p:sp>
        <p:nvSpPr>
          <p:cNvPr id="11" name="Shape 7"/>
          <p:cNvSpPr/>
          <p:nvPr/>
        </p:nvSpPr>
        <p:spPr>
          <a:xfrm>
            <a:off x="548640" y="1883664"/>
            <a:ext cx="11094415" cy="455676"/>
          </a:xfrm>
          <a:prstGeom prst="roundRect">
            <a:avLst>
              <a:gd name="adj" fmla="val 28094"/>
            </a:avLst>
          </a:prstGeom>
          <a:solidFill>
            <a:srgbClr val="EDF3EF"/>
          </a:solidFill>
          <a:ln w="12700">
            <a:solidFill>
              <a:srgbClr val="E3E9E5"/>
            </a:solidFill>
            <a:prstDash val="solid"/>
          </a:ln>
        </p:spPr>
      </p:sp>
      <p:sp>
        <p:nvSpPr>
          <p:cNvPr id="12" name="Shape 8"/>
          <p:cNvSpPr/>
          <p:nvPr/>
        </p:nvSpPr>
        <p:spPr>
          <a:xfrm>
            <a:off x="694944" y="1975104"/>
            <a:ext cx="1417320" cy="272796"/>
          </a:xfrm>
          <a:prstGeom prst="roundRect">
            <a:avLst>
              <a:gd name="adj" fmla="val 33520"/>
            </a:avLst>
          </a:prstGeom>
          <a:solidFill>
            <a:srgbClr val="6B7C71"/>
          </a:solidFill>
          <a:ln/>
        </p:spPr>
      </p:sp>
      <p:sp>
        <p:nvSpPr>
          <p:cNvPr id="13" name="Text 9"/>
          <p:cNvSpPr txBox="1"/>
          <p:nvPr/>
        </p:nvSpPr>
        <p:spPr>
          <a:xfrm>
            <a:off x="731520" y="19751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ABEL</a:t>
            </a:r>
            <a:endParaRPr lang="en-US" sz="1200" dirty="0"/>
          </a:p>
        </p:txBody>
      </p:sp>
      <p:sp>
        <p:nvSpPr>
          <p:cNvPr id="14" name="Text 10"/>
          <p:cNvSpPr txBox="1"/>
          <p:nvPr/>
        </p:nvSpPr>
        <p:spPr>
          <a:xfrm>
            <a:off x="2276856" y="19385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Good morning. How much are the tomatoes?</a:t>
            </a:r>
            <a:endParaRPr lang="en-US" sz="2000" dirty="0"/>
          </a:p>
        </p:txBody>
      </p:sp>
      <p:sp>
        <p:nvSpPr>
          <p:cNvPr id="15" name="Shape 11"/>
          <p:cNvSpPr/>
          <p:nvPr/>
        </p:nvSpPr>
        <p:spPr>
          <a:xfrm>
            <a:off x="548640" y="2439924"/>
            <a:ext cx="11094415" cy="455676"/>
          </a:xfrm>
          <a:prstGeom prst="roundRect">
            <a:avLst>
              <a:gd name="adj" fmla="val 28094"/>
            </a:avLst>
          </a:prstGeom>
          <a:solidFill>
            <a:srgbClr val="E7F3EF"/>
          </a:solidFill>
          <a:ln w="12700">
            <a:solidFill>
              <a:srgbClr val="C4E0D5"/>
            </a:solidFill>
            <a:prstDash val="solid"/>
          </a:ln>
        </p:spPr>
      </p:sp>
      <p:sp>
        <p:nvSpPr>
          <p:cNvPr id="16" name="Shape 12"/>
          <p:cNvSpPr/>
          <p:nvPr/>
        </p:nvSpPr>
        <p:spPr>
          <a:xfrm>
            <a:off x="694944" y="2531364"/>
            <a:ext cx="1417320" cy="272796"/>
          </a:xfrm>
          <a:prstGeom prst="roundRect">
            <a:avLst>
              <a:gd name="adj" fmla="val 33520"/>
            </a:avLst>
          </a:prstGeom>
          <a:solidFill>
            <a:srgbClr val="0E7C5A"/>
          </a:solidFill>
          <a:ln/>
        </p:spPr>
      </p:sp>
      <p:sp>
        <p:nvSpPr>
          <p:cNvPr id="17" name="Text 13"/>
          <p:cNvSpPr txBox="1"/>
          <p:nvPr/>
        </p:nvSpPr>
        <p:spPr>
          <a:xfrm>
            <a:off x="731520" y="253136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SELLER</a:t>
            </a:r>
            <a:endParaRPr lang="en-US" sz="1200" dirty="0"/>
          </a:p>
        </p:txBody>
      </p:sp>
      <p:sp>
        <p:nvSpPr>
          <p:cNvPr id="18" name="Text 14"/>
          <p:cNvSpPr txBox="1"/>
          <p:nvPr/>
        </p:nvSpPr>
        <p:spPr>
          <a:xfrm>
            <a:off x="2276856" y="249478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Forty birr a kilo.</a:t>
            </a:r>
            <a:endParaRPr lang="en-US" sz="2000" dirty="0"/>
          </a:p>
        </p:txBody>
      </p:sp>
      <p:sp>
        <p:nvSpPr>
          <p:cNvPr id="19" name="Shape 15"/>
          <p:cNvSpPr/>
          <p:nvPr/>
        </p:nvSpPr>
        <p:spPr>
          <a:xfrm>
            <a:off x="548640" y="2996184"/>
            <a:ext cx="11094415" cy="455676"/>
          </a:xfrm>
          <a:prstGeom prst="roundRect">
            <a:avLst>
              <a:gd name="adj" fmla="val 28094"/>
            </a:avLst>
          </a:prstGeom>
          <a:solidFill>
            <a:srgbClr val="EDF3EF"/>
          </a:solidFill>
          <a:ln w="12700">
            <a:solidFill>
              <a:srgbClr val="E3E9E5"/>
            </a:solidFill>
            <a:prstDash val="solid"/>
          </a:ln>
        </p:spPr>
      </p:sp>
      <p:sp>
        <p:nvSpPr>
          <p:cNvPr id="20" name="Shape 16"/>
          <p:cNvSpPr/>
          <p:nvPr/>
        </p:nvSpPr>
        <p:spPr>
          <a:xfrm>
            <a:off x="694944" y="3087624"/>
            <a:ext cx="1417320" cy="272796"/>
          </a:xfrm>
          <a:prstGeom prst="roundRect">
            <a:avLst>
              <a:gd name="adj" fmla="val 33520"/>
            </a:avLst>
          </a:prstGeom>
          <a:solidFill>
            <a:srgbClr val="6B7C71"/>
          </a:solidFill>
          <a:ln/>
        </p:spPr>
      </p:sp>
      <p:sp>
        <p:nvSpPr>
          <p:cNvPr id="21" name="Text 17"/>
          <p:cNvSpPr txBox="1"/>
          <p:nvPr/>
        </p:nvSpPr>
        <p:spPr>
          <a:xfrm>
            <a:off x="731520" y="308762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ABEL</a:t>
            </a:r>
            <a:endParaRPr lang="en-US" sz="1200" dirty="0"/>
          </a:p>
        </p:txBody>
      </p:sp>
      <p:sp>
        <p:nvSpPr>
          <p:cNvPr id="22" name="Text 18"/>
          <p:cNvSpPr txBox="1"/>
          <p:nvPr/>
        </p:nvSpPr>
        <p:spPr>
          <a:xfrm>
            <a:off x="2276856" y="305104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Forty? That is expensive.</a:t>
            </a:r>
            <a:endParaRPr lang="en-US" sz="2000" dirty="0"/>
          </a:p>
        </p:txBody>
      </p:sp>
      <p:sp>
        <p:nvSpPr>
          <p:cNvPr id="23" name="Shape 19"/>
          <p:cNvSpPr/>
          <p:nvPr/>
        </p:nvSpPr>
        <p:spPr>
          <a:xfrm>
            <a:off x="548640" y="3552444"/>
            <a:ext cx="11094415" cy="455676"/>
          </a:xfrm>
          <a:prstGeom prst="roundRect">
            <a:avLst>
              <a:gd name="adj" fmla="val 28094"/>
            </a:avLst>
          </a:prstGeom>
          <a:solidFill>
            <a:srgbClr val="E7F3EF"/>
          </a:solidFill>
          <a:ln w="12700">
            <a:solidFill>
              <a:srgbClr val="C4E0D5"/>
            </a:solidFill>
            <a:prstDash val="solid"/>
          </a:ln>
        </p:spPr>
      </p:sp>
      <p:sp>
        <p:nvSpPr>
          <p:cNvPr id="24" name="Shape 20"/>
          <p:cNvSpPr/>
          <p:nvPr/>
        </p:nvSpPr>
        <p:spPr>
          <a:xfrm>
            <a:off x="694944" y="3643884"/>
            <a:ext cx="1417320" cy="272796"/>
          </a:xfrm>
          <a:prstGeom prst="roundRect">
            <a:avLst>
              <a:gd name="adj" fmla="val 33520"/>
            </a:avLst>
          </a:prstGeom>
          <a:solidFill>
            <a:srgbClr val="0E7C5A"/>
          </a:solidFill>
          <a:ln/>
        </p:spPr>
      </p:sp>
      <p:sp>
        <p:nvSpPr>
          <p:cNvPr id="25" name="Text 21"/>
          <p:cNvSpPr txBox="1"/>
          <p:nvPr/>
        </p:nvSpPr>
        <p:spPr>
          <a:xfrm>
            <a:off x="731520" y="364388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SELLER</a:t>
            </a:r>
            <a:endParaRPr lang="en-US" sz="1200" dirty="0"/>
          </a:p>
        </p:txBody>
      </p:sp>
      <p:sp>
        <p:nvSpPr>
          <p:cNvPr id="26" name="Text 22"/>
          <p:cNvSpPr txBox="1"/>
          <p:nvPr/>
        </p:nvSpPr>
        <p:spPr>
          <a:xfrm>
            <a:off x="2276856" y="360730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Thirty-five birr. How many kilos?</a:t>
            </a:r>
            <a:endParaRPr lang="en-US" sz="2000" dirty="0"/>
          </a:p>
        </p:txBody>
      </p:sp>
      <p:sp>
        <p:nvSpPr>
          <p:cNvPr id="27" name="Shape 23"/>
          <p:cNvSpPr/>
          <p:nvPr/>
        </p:nvSpPr>
        <p:spPr>
          <a:xfrm>
            <a:off x="548640" y="4108704"/>
            <a:ext cx="11094415" cy="455676"/>
          </a:xfrm>
          <a:prstGeom prst="roundRect">
            <a:avLst>
              <a:gd name="adj" fmla="val 28094"/>
            </a:avLst>
          </a:prstGeom>
          <a:solidFill>
            <a:srgbClr val="EDF3EF"/>
          </a:solidFill>
          <a:ln w="12700">
            <a:solidFill>
              <a:srgbClr val="E3E9E5"/>
            </a:solidFill>
            <a:prstDash val="solid"/>
          </a:ln>
        </p:spPr>
      </p:sp>
      <p:sp>
        <p:nvSpPr>
          <p:cNvPr id="28" name="Shape 24"/>
          <p:cNvSpPr/>
          <p:nvPr/>
        </p:nvSpPr>
        <p:spPr>
          <a:xfrm>
            <a:off x="694944" y="4200144"/>
            <a:ext cx="1417320" cy="272796"/>
          </a:xfrm>
          <a:prstGeom prst="roundRect">
            <a:avLst>
              <a:gd name="adj" fmla="val 33520"/>
            </a:avLst>
          </a:prstGeom>
          <a:solidFill>
            <a:srgbClr val="6B7C71"/>
          </a:solidFill>
          <a:ln/>
        </p:spPr>
      </p:sp>
      <p:sp>
        <p:nvSpPr>
          <p:cNvPr id="29" name="Text 25"/>
          <p:cNvSpPr txBox="1"/>
          <p:nvPr/>
        </p:nvSpPr>
        <p:spPr>
          <a:xfrm>
            <a:off x="731520" y="420014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ABEL</a:t>
            </a:r>
            <a:endParaRPr lang="en-US" sz="1200" dirty="0"/>
          </a:p>
        </p:txBody>
      </p:sp>
      <p:sp>
        <p:nvSpPr>
          <p:cNvPr id="30" name="Text 26"/>
          <p:cNvSpPr txBox="1"/>
          <p:nvPr/>
        </p:nvSpPr>
        <p:spPr>
          <a:xfrm>
            <a:off x="2276856" y="416356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Two kilos, please. Here is seventy birr.</a:t>
            </a:r>
            <a:endParaRPr lang="en-US" sz="2000" dirty="0"/>
          </a:p>
        </p:txBody>
      </p:sp>
      <p:sp>
        <p:nvSpPr>
          <p:cNvPr id="31" name="Shape 27"/>
          <p:cNvSpPr/>
          <p:nvPr/>
        </p:nvSpPr>
        <p:spPr>
          <a:xfrm>
            <a:off x="548640" y="4664964"/>
            <a:ext cx="11094415" cy="455676"/>
          </a:xfrm>
          <a:prstGeom prst="roundRect">
            <a:avLst>
              <a:gd name="adj" fmla="val 28094"/>
            </a:avLst>
          </a:prstGeom>
          <a:solidFill>
            <a:srgbClr val="E7F3EF"/>
          </a:solidFill>
          <a:ln w="12700">
            <a:solidFill>
              <a:srgbClr val="C4E0D5"/>
            </a:solidFill>
            <a:prstDash val="solid"/>
          </a:ln>
        </p:spPr>
      </p:sp>
      <p:sp>
        <p:nvSpPr>
          <p:cNvPr id="32" name="Shape 28"/>
          <p:cNvSpPr/>
          <p:nvPr/>
        </p:nvSpPr>
        <p:spPr>
          <a:xfrm>
            <a:off x="694944" y="4756404"/>
            <a:ext cx="1417320" cy="272796"/>
          </a:xfrm>
          <a:prstGeom prst="roundRect">
            <a:avLst>
              <a:gd name="adj" fmla="val 33520"/>
            </a:avLst>
          </a:prstGeom>
          <a:solidFill>
            <a:srgbClr val="0E7C5A"/>
          </a:solidFill>
          <a:ln/>
        </p:spPr>
      </p:sp>
      <p:sp>
        <p:nvSpPr>
          <p:cNvPr id="33" name="Text 29"/>
          <p:cNvSpPr txBox="1"/>
          <p:nvPr/>
        </p:nvSpPr>
        <p:spPr>
          <a:xfrm>
            <a:off x="731520" y="47564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SELLER</a:t>
            </a:r>
            <a:endParaRPr lang="en-US" sz="1200" dirty="0"/>
          </a:p>
        </p:txBody>
      </p:sp>
      <p:sp>
        <p:nvSpPr>
          <p:cNvPr id="34" name="Text 30"/>
          <p:cNvSpPr txBox="1"/>
          <p:nvPr/>
        </p:nvSpPr>
        <p:spPr>
          <a:xfrm>
            <a:off x="2276856" y="47198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Thank you. Have a good day.</a:t>
            </a:r>
            <a:endParaRPr lang="en-US" sz="2000" dirty="0"/>
          </a:p>
        </p:txBody>
      </p:sp>
      <p:sp>
        <p:nvSpPr>
          <p:cNvPr id="35" name="Shape 31"/>
          <p:cNvSpPr/>
          <p:nvPr/>
        </p:nvSpPr>
        <p:spPr>
          <a:xfrm>
            <a:off x="548640" y="5266944"/>
            <a:ext cx="11094415" cy="676656"/>
          </a:xfrm>
          <a:prstGeom prst="roundRect">
            <a:avLst>
              <a:gd name="adj" fmla="val 18919"/>
            </a:avLst>
          </a:prstGeom>
          <a:solidFill>
            <a:srgbClr val="FDF3E7"/>
          </a:solidFill>
          <a:ln w="12700">
            <a:solidFill>
              <a:srgbClr val="EFDCB2"/>
            </a:solidFill>
            <a:prstDash val="solid"/>
          </a:ln>
        </p:spPr>
      </p:sp>
      <p:sp>
        <p:nvSpPr>
          <p:cNvPr id="36" name="Text 32"/>
          <p:cNvSpPr txBox="1"/>
          <p:nvPr/>
        </p:nvSpPr>
        <p:spPr>
          <a:xfrm>
            <a:off x="786384" y="5266944"/>
            <a:ext cx="10618927" cy="676656"/>
          </a:xfrm>
          <a:prstGeom prst="rect">
            <a:avLst/>
          </a:prstGeom>
          <a:noFill/>
          <a:ln/>
        </p:spPr>
        <p:txBody>
          <a:bodyPr wrap="square" lIns="0" tIns="0" rIns="0" bIns="0" rtlCol="0" anchor="ctr"/>
          <a:lstStyle/>
          <a:p>
            <a:pPr indent="0" marL="0">
              <a:buNone/>
            </a:pPr>
            <a:r>
              <a:rPr lang="en-US" sz="1500" dirty="0">
                <a:solidFill>
                  <a:srgbClr val="12211B"/>
                </a:solidFill>
                <a:latin typeface="Calibri" pitchFamily="34" charset="0"/>
                <a:ea typeface="Calibri" pitchFamily="34" charset="-122"/>
                <a:cs typeface="Calibri" pitchFamily="34" charset="-120"/>
              </a:rPr>
              <a:t>Listen first. Then repeat each line. Then read it in pairs. Then change the item and the prices to your own.</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Asking the time and making a plan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Sara and Hana arrange to meet.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2 — Numbers, Time &amp; Money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27</a:t>
            </a:r>
            <a:endParaRPr lang="en-US" sz="1100" dirty="0"/>
          </a:p>
        </p:txBody>
      </p:sp>
      <p:sp>
        <p:nvSpPr>
          <p:cNvPr id="11" name="Shape 7"/>
          <p:cNvSpPr/>
          <p:nvPr/>
        </p:nvSpPr>
        <p:spPr>
          <a:xfrm>
            <a:off x="548640" y="1883664"/>
            <a:ext cx="11094415" cy="455676"/>
          </a:xfrm>
          <a:prstGeom prst="roundRect">
            <a:avLst>
              <a:gd name="adj" fmla="val 28094"/>
            </a:avLst>
          </a:prstGeom>
          <a:solidFill>
            <a:srgbClr val="EDF3EF"/>
          </a:solidFill>
          <a:ln w="12700">
            <a:solidFill>
              <a:srgbClr val="E3E9E5"/>
            </a:solidFill>
            <a:prstDash val="solid"/>
          </a:ln>
        </p:spPr>
      </p:sp>
      <p:sp>
        <p:nvSpPr>
          <p:cNvPr id="12" name="Shape 8"/>
          <p:cNvSpPr/>
          <p:nvPr/>
        </p:nvSpPr>
        <p:spPr>
          <a:xfrm>
            <a:off x="694944" y="1975104"/>
            <a:ext cx="1417320" cy="272796"/>
          </a:xfrm>
          <a:prstGeom prst="roundRect">
            <a:avLst>
              <a:gd name="adj" fmla="val 33520"/>
            </a:avLst>
          </a:prstGeom>
          <a:solidFill>
            <a:srgbClr val="6B7C71"/>
          </a:solidFill>
          <a:ln/>
        </p:spPr>
      </p:sp>
      <p:sp>
        <p:nvSpPr>
          <p:cNvPr id="13" name="Text 9"/>
          <p:cNvSpPr txBox="1"/>
          <p:nvPr/>
        </p:nvSpPr>
        <p:spPr>
          <a:xfrm>
            <a:off x="731520" y="19751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SARA</a:t>
            </a:r>
            <a:endParaRPr lang="en-US" sz="1200" dirty="0"/>
          </a:p>
        </p:txBody>
      </p:sp>
      <p:sp>
        <p:nvSpPr>
          <p:cNvPr id="14" name="Text 10"/>
          <p:cNvSpPr txBox="1"/>
          <p:nvPr/>
        </p:nvSpPr>
        <p:spPr>
          <a:xfrm>
            <a:off x="2276856" y="19385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Excuse me, what time is it?</a:t>
            </a:r>
            <a:endParaRPr lang="en-US" sz="2000" dirty="0"/>
          </a:p>
        </p:txBody>
      </p:sp>
      <p:sp>
        <p:nvSpPr>
          <p:cNvPr id="15" name="Shape 11"/>
          <p:cNvSpPr/>
          <p:nvPr/>
        </p:nvSpPr>
        <p:spPr>
          <a:xfrm>
            <a:off x="548640" y="2439924"/>
            <a:ext cx="11094415" cy="455676"/>
          </a:xfrm>
          <a:prstGeom prst="roundRect">
            <a:avLst>
              <a:gd name="adj" fmla="val 28094"/>
            </a:avLst>
          </a:prstGeom>
          <a:solidFill>
            <a:srgbClr val="E7F3EF"/>
          </a:solidFill>
          <a:ln w="12700">
            <a:solidFill>
              <a:srgbClr val="C4E0D5"/>
            </a:solidFill>
            <a:prstDash val="solid"/>
          </a:ln>
        </p:spPr>
      </p:sp>
      <p:sp>
        <p:nvSpPr>
          <p:cNvPr id="16" name="Shape 12"/>
          <p:cNvSpPr/>
          <p:nvPr/>
        </p:nvSpPr>
        <p:spPr>
          <a:xfrm>
            <a:off x="694944" y="2531364"/>
            <a:ext cx="1417320" cy="272796"/>
          </a:xfrm>
          <a:prstGeom prst="roundRect">
            <a:avLst>
              <a:gd name="adj" fmla="val 33520"/>
            </a:avLst>
          </a:prstGeom>
          <a:solidFill>
            <a:srgbClr val="0E7C5A"/>
          </a:solidFill>
          <a:ln/>
        </p:spPr>
      </p:sp>
      <p:sp>
        <p:nvSpPr>
          <p:cNvPr id="17" name="Text 13"/>
          <p:cNvSpPr txBox="1"/>
          <p:nvPr/>
        </p:nvSpPr>
        <p:spPr>
          <a:xfrm>
            <a:off x="731520" y="253136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HANA</a:t>
            </a:r>
            <a:endParaRPr lang="en-US" sz="1200" dirty="0"/>
          </a:p>
        </p:txBody>
      </p:sp>
      <p:sp>
        <p:nvSpPr>
          <p:cNvPr id="18" name="Text 14"/>
          <p:cNvSpPr txBox="1"/>
          <p:nvPr/>
        </p:nvSpPr>
        <p:spPr>
          <a:xfrm>
            <a:off x="2276856" y="249478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It is half past two.</a:t>
            </a:r>
            <a:endParaRPr lang="en-US" sz="2000" dirty="0"/>
          </a:p>
        </p:txBody>
      </p:sp>
      <p:sp>
        <p:nvSpPr>
          <p:cNvPr id="19" name="Shape 15"/>
          <p:cNvSpPr/>
          <p:nvPr/>
        </p:nvSpPr>
        <p:spPr>
          <a:xfrm>
            <a:off x="548640" y="2996184"/>
            <a:ext cx="11094415" cy="455676"/>
          </a:xfrm>
          <a:prstGeom prst="roundRect">
            <a:avLst>
              <a:gd name="adj" fmla="val 28094"/>
            </a:avLst>
          </a:prstGeom>
          <a:solidFill>
            <a:srgbClr val="EDF3EF"/>
          </a:solidFill>
          <a:ln w="12700">
            <a:solidFill>
              <a:srgbClr val="E3E9E5"/>
            </a:solidFill>
            <a:prstDash val="solid"/>
          </a:ln>
        </p:spPr>
      </p:sp>
      <p:sp>
        <p:nvSpPr>
          <p:cNvPr id="20" name="Shape 16"/>
          <p:cNvSpPr/>
          <p:nvPr/>
        </p:nvSpPr>
        <p:spPr>
          <a:xfrm>
            <a:off x="694944" y="3087624"/>
            <a:ext cx="1417320" cy="272796"/>
          </a:xfrm>
          <a:prstGeom prst="roundRect">
            <a:avLst>
              <a:gd name="adj" fmla="val 33520"/>
            </a:avLst>
          </a:prstGeom>
          <a:solidFill>
            <a:srgbClr val="6B7C71"/>
          </a:solidFill>
          <a:ln/>
        </p:spPr>
      </p:sp>
      <p:sp>
        <p:nvSpPr>
          <p:cNvPr id="21" name="Text 17"/>
          <p:cNvSpPr txBox="1"/>
          <p:nvPr/>
        </p:nvSpPr>
        <p:spPr>
          <a:xfrm>
            <a:off x="731520" y="308762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SARA</a:t>
            </a:r>
            <a:endParaRPr lang="en-US" sz="1200" dirty="0"/>
          </a:p>
        </p:txBody>
      </p:sp>
      <p:sp>
        <p:nvSpPr>
          <p:cNvPr id="22" name="Text 18"/>
          <p:cNvSpPr txBox="1"/>
          <p:nvPr/>
        </p:nvSpPr>
        <p:spPr>
          <a:xfrm>
            <a:off x="2276856" y="305104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Thank you. What time does the class start?</a:t>
            </a:r>
            <a:endParaRPr lang="en-US" sz="2000" dirty="0"/>
          </a:p>
        </p:txBody>
      </p:sp>
      <p:sp>
        <p:nvSpPr>
          <p:cNvPr id="23" name="Shape 19"/>
          <p:cNvSpPr/>
          <p:nvPr/>
        </p:nvSpPr>
        <p:spPr>
          <a:xfrm>
            <a:off x="548640" y="3552444"/>
            <a:ext cx="11094415" cy="455676"/>
          </a:xfrm>
          <a:prstGeom prst="roundRect">
            <a:avLst>
              <a:gd name="adj" fmla="val 28094"/>
            </a:avLst>
          </a:prstGeom>
          <a:solidFill>
            <a:srgbClr val="E7F3EF"/>
          </a:solidFill>
          <a:ln w="12700">
            <a:solidFill>
              <a:srgbClr val="C4E0D5"/>
            </a:solidFill>
            <a:prstDash val="solid"/>
          </a:ln>
        </p:spPr>
      </p:sp>
      <p:sp>
        <p:nvSpPr>
          <p:cNvPr id="24" name="Shape 20"/>
          <p:cNvSpPr/>
          <p:nvPr/>
        </p:nvSpPr>
        <p:spPr>
          <a:xfrm>
            <a:off x="694944" y="3643884"/>
            <a:ext cx="1417320" cy="272796"/>
          </a:xfrm>
          <a:prstGeom prst="roundRect">
            <a:avLst>
              <a:gd name="adj" fmla="val 33520"/>
            </a:avLst>
          </a:prstGeom>
          <a:solidFill>
            <a:srgbClr val="0E7C5A"/>
          </a:solidFill>
          <a:ln/>
        </p:spPr>
      </p:sp>
      <p:sp>
        <p:nvSpPr>
          <p:cNvPr id="25" name="Text 21"/>
          <p:cNvSpPr txBox="1"/>
          <p:nvPr/>
        </p:nvSpPr>
        <p:spPr>
          <a:xfrm>
            <a:off x="731520" y="364388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HANA</a:t>
            </a:r>
            <a:endParaRPr lang="en-US" sz="1200" dirty="0"/>
          </a:p>
        </p:txBody>
      </p:sp>
      <p:sp>
        <p:nvSpPr>
          <p:cNvPr id="26" name="Text 22"/>
          <p:cNvSpPr txBox="1"/>
          <p:nvPr/>
        </p:nvSpPr>
        <p:spPr>
          <a:xfrm>
            <a:off x="2276856" y="360730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At three o'clock. English time.</a:t>
            </a:r>
            <a:endParaRPr lang="en-US" sz="2000" dirty="0"/>
          </a:p>
        </p:txBody>
      </p:sp>
      <p:sp>
        <p:nvSpPr>
          <p:cNvPr id="27" name="Shape 23"/>
          <p:cNvSpPr/>
          <p:nvPr/>
        </p:nvSpPr>
        <p:spPr>
          <a:xfrm>
            <a:off x="548640" y="4108704"/>
            <a:ext cx="11094415" cy="455676"/>
          </a:xfrm>
          <a:prstGeom prst="roundRect">
            <a:avLst>
              <a:gd name="adj" fmla="val 28094"/>
            </a:avLst>
          </a:prstGeom>
          <a:solidFill>
            <a:srgbClr val="EDF3EF"/>
          </a:solidFill>
          <a:ln w="12700">
            <a:solidFill>
              <a:srgbClr val="E3E9E5"/>
            </a:solidFill>
            <a:prstDash val="solid"/>
          </a:ln>
        </p:spPr>
      </p:sp>
      <p:sp>
        <p:nvSpPr>
          <p:cNvPr id="28" name="Shape 24"/>
          <p:cNvSpPr/>
          <p:nvPr/>
        </p:nvSpPr>
        <p:spPr>
          <a:xfrm>
            <a:off x="694944" y="4200144"/>
            <a:ext cx="1417320" cy="272796"/>
          </a:xfrm>
          <a:prstGeom prst="roundRect">
            <a:avLst>
              <a:gd name="adj" fmla="val 33520"/>
            </a:avLst>
          </a:prstGeom>
          <a:solidFill>
            <a:srgbClr val="6B7C71"/>
          </a:solidFill>
          <a:ln/>
        </p:spPr>
      </p:sp>
      <p:sp>
        <p:nvSpPr>
          <p:cNvPr id="29" name="Text 25"/>
          <p:cNvSpPr txBox="1"/>
          <p:nvPr/>
        </p:nvSpPr>
        <p:spPr>
          <a:xfrm>
            <a:off x="731520" y="420014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SARA</a:t>
            </a:r>
            <a:endParaRPr lang="en-US" sz="1200" dirty="0"/>
          </a:p>
        </p:txBody>
      </p:sp>
      <p:sp>
        <p:nvSpPr>
          <p:cNvPr id="30" name="Text 26"/>
          <p:cNvSpPr txBox="1"/>
          <p:nvPr/>
        </p:nvSpPr>
        <p:spPr>
          <a:xfrm>
            <a:off x="2276856" y="416356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Good. See you on Monday.</a:t>
            </a:r>
            <a:endParaRPr lang="en-US" sz="2000" dirty="0"/>
          </a:p>
        </p:txBody>
      </p:sp>
      <p:sp>
        <p:nvSpPr>
          <p:cNvPr id="31" name="Shape 27"/>
          <p:cNvSpPr/>
          <p:nvPr/>
        </p:nvSpPr>
        <p:spPr>
          <a:xfrm>
            <a:off x="548640" y="4664964"/>
            <a:ext cx="11094415" cy="455676"/>
          </a:xfrm>
          <a:prstGeom prst="roundRect">
            <a:avLst>
              <a:gd name="adj" fmla="val 28094"/>
            </a:avLst>
          </a:prstGeom>
          <a:solidFill>
            <a:srgbClr val="E7F3EF"/>
          </a:solidFill>
          <a:ln w="12700">
            <a:solidFill>
              <a:srgbClr val="C4E0D5"/>
            </a:solidFill>
            <a:prstDash val="solid"/>
          </a:ln>
        </p:spPr>
      </p:sp>
      <p:sp>
        <p:nvSpPr>
          <p:cNvPr id="32" name="Shape 28"/>
          <p:cNvSpPr/>
          <p:nvPr/>
        </p:nvSpPr>
        <p:spPr>
          <a:xfrm>
            <a:off x="694944" y="4756404"/>
            <a:ext cx="1417320" cy="272796"/>
          </a:xfrm>
          <a:prstGeom prst="roundRect">
            <a:avLst>
              <a:gd name="adj" fmla="val 33520"/>
            </a:avLst>
          </a:prstGeom>
          <a:solidFill>
            <a:srgbClr val="0E7C5A"/>
          </a:solidFill>
          <a:ln/>
        </p:spPr>
      </p:sp>
      <p:sp>
        <p:nvSpPr>
          <p:cNvPr id="33" name="Text 29"/>
          <p:cNvSpPr txBox="1"/>
          <p:nvPr/>
        </p:nvSpPr>
        <p:spPr>
          <a:xfrm>
            <a:off x="731520" y="47564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HANA</a:t>
            </a:r>
            <a:endParaRPr lang="en-US" sz="1200" dirty="0"/>
          </a:p>
        </p:txBody>
      </p:sp>
      <p:sp>
        <p:nvSpPr>
          <p:cNvPr id="34" name="Text 30"/>
          <p:cNvSpPr txBox="1"/>
          <p:nvPr/>
        </p:nvSpPr>
        <p:spPr>
          <a:xfrm>
            <a:off x="2276856" y="47198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Yes — on Monday at nine. Goodbye.</a:t>
            </a:r>
            <a:endParaRPr lang="en-US" sz="2000" dirty="0"/>
          </a:p>
        </p:txBody>
      </p:sp>
      <p:sp>
        <p:nvSpPr>
          <p:cNvPr id="35" name="Shape 31"/>
          <p:cNvSpPr/>
          <p:nvPr/>
        </p:nvSpPr>
        <p:spPr>
          <a:xfrm>
            <a:off x="548640" y="5266944"/>
            <a:ext cx="11094415" cy="676656"/>
          </a:xfrm>
          <a:prstGeom prst="roundRect">
            <a:avLst>
              <a:gd name="adj" fmla="val 18919"/>
            </a:avLst>
          </a:prstGeom>
          <a:solidFill>
            <a:srgbClr val="FDF3E7"/>
          </a:solidFill>
          <a:ln w="12700">
            <a:solidFill>
              <a:srgbClr val="EFDCB2"/>
            </a:solidFill>
            <a:prstDash val="solid"/>
          </a:ln>
        </p:spPr>
      </p:sp>
      <p:sp>
        <p:nvSpPr>
          <p:cNvPr id="36" name="Text 32"/>
          <p:cNvSpPr txBox="1"/>
          <p:nvPr/>
        </p:nvSpPr>
        <p:spPr>
          <a:xfrm>
            <a:off x="786384" y="5266944"/>
            <a:ext cx="10618927" cy="676656"/>
          </a:xfrm>
          <a:prstGeom prst="rect">
            <a:avLst/>
          </a:prstGeom>
          <a:noFill/>
          <a:ln/>
        </p:spPr>
        <p:txBody>
          <a:bodyPr wrap="square" lIns="0" tIns="0" rIns="0" bIns="0" rtlCol="0" anchor="ctr"/>
          <a:lstStyle/>
          <a:p>
            <a:pPr indent="0" marL="0">
              <a:buNone/>
            </a:pPr>
            <a:r>
              <a:rPr lang="en-US" sz="1500" dirty="0">
                <a:solidFill>
                  <a:srgbClr val="12211B"/>
                </a:solidFill>
                <a:latin typeface="Calibri" pitchFamily="34" charset="0"/>
                <a:ea typeface="Calibri" pitchFamily="34" charset="-122"/>
                <a:cs typeface="Calibri" pitchFamily="34" charset="-120"/>
              </a:rPr>
              <a:t>Notice the prepositions:  AT three o'clock  ·  ON Monday  ·  AT nine. Time takes AT. Days take ON.</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Useful phrases for numbers, time and money</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Six phrases you will use in a shop, on a bus, or at work.</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2 — Numbers, Time &amp; Money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28</a:t>
            </a:r>
            <a:endParaRPr lang="en-US" sz="1100" dirty="0"/>
          </a:p>
        </p:txBody>
      </p:sp>
      <p:sp>
        <p:nvSpPr>
          <p:cNvPr id="11" name="Shape 7"/>
          <p:cNvSpPr/>
          <p:nvPr/>
        </p:nvSpPr>
        <p:spPr>
          <a:xfrm>
            <a:off x="548640" y="1883664"/>
            <a:ext cx="3564026" cy="1929384"/>
          </a:xfrm>
          <a:prstGeom prst="roundRect">
            <a:avLst>
              <a:gd name="adj" fmla="val 6635"/>
            </a:avLst>
          </a:prstGeom>
          <a:solidFill>
            <a:srgbClr val="FDEDE8"/>
          </a:solidFill>
          <a:ln w="12700">
            <a:solidFill>
              <a:srgbClr val="F3C9BB"/>
            </a:solidFill>
            <a:prstDash val="solid"/>
          </a:ln>
        </p:spPr>
      </p:sp>
      <p:sp>
        <p:nvSpPr>
          <p:cNvPr id="12" name="Shape 8"/>
          <p:cNvSpPr/>
          <p:nvPr/>
        </p:nvSpPr>
        <p:spPr>
          <a:xfrm>
            <a:off x="768096" y="2103120"/>
            <a:ext cx="457200" cy="457200"/>
          </a:xfrm>
          <a:prstGeom prst="ellipse">
            <a:avLst/>
          </a:prstGeom>
          <a:solidFill>
            <a:srgbClr val="E4572E"/>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“How much is it?”</a:t>
            </a:r>
            <a:endParaRPr lang="en-US" sz="1750" dirty="0"/>
          </a:p>
          <a:p>
            <a:pPr indent="0" marL="0">
              <a:lnSpc>
                <a:spcPct val="102000"/>
              </a:lnSpc>
              <a:spcBef>
                <a:spcPts val="350"/>
              </a:spcBef>
              <a:buNone/>
            </a:pPr>
            <a:r>
              <a:rPr lang="en-US" sz="1310" dirty="0">
                <a:solidFill>
                  <a:srgbClr val="3A473F"/>
                </a:solidFill>
                <a:latin typeface="Calibri" pitchFamily="34" charset="0"/>
                <a:ea typeface="Calibri" pitchFamily="34" charset="-122"/>
                <a:cs typeface="Calibri" pitchFamily="34" charset="-120"/>
              </a:rPr>
              <a:t>The single most useful question in this module.</a:t>
            </a:r>
            <a:endParaRPr lang="en-US" sz="1750" dirty="0"/>
          </a:p>
        </p:txBody>
      </p:sp>
      <p:sp>
        <p:nvSpPr>
          <p:cNvPr id="15" name="Shape 10"/>
          <p:cNvSpPr/>
          <p:nvPr/>
        </p:nvSpPr>
        <p:spPr>
          <a:xfrm>
            <a:off x="4313834" y="1883664"/>
            <a:ext cx="3564026" cy="1929384"/>
          </a:xfrm>
          <a:prstGeom prst="roundRect">
            <a:avLst>
              <a:gd name="adj" fmla="val 6635"/>
            </a:avLst>
          </a:prstGeom>
          <a:solidFill>
            <a:srgbClr val="FDEDE8"/>
          </a:solidFill>
          <a:ln w="12700">
            <a:solidFill>
              <a:srgbClr val="F3C9BB"/>
            </a:solidFill>
            <a:prstDash val="solid"/>
          </a:ln>
        </p:spPr>
      </p:sp>
      <p:sp>
        <p:nvSpPr>
          <p:cNvPr id="16" name="Shape 11"/>
          <p:cNvSpPr/>
          <p:nvPr/>
        </p:nvSpPr>
        <p:spPr>
          <a:xfrm>
            <a:off x="4533290" y="2103120"/>
            <a:ext cx="457200" cy="457200"/>
          </a:xfrm>
          <a:prstGeom prst="ellipse">
            <a:avLst/>
          </a:prstGeom>
          <a:solidFill>
            <a:srgbClr val="E4572E"/>
          </a:solidFill>
          <a:ln/>
        </p:spPr>
      </p:sp>
      <p:pic>
        <p:nvPicPr>
          <p:cNvPr id="17" name="Image 2" descr="preencoded.png">    </p:cNvPr>
          <p:cNvPicPr>
            <a:picLocks noChangeAspect="1"/>
          </p:cNvPicPr>
          <p:nvPr/>
        </p:nvPicPr>
        <p:blipFill>
          <a:blip r:embed="rId3"/>
          <a:stretch>
            <a:fillRect/>
          </a:stretch>
        </p:blipFill>
        <p:spPr>
          <a:xfrm>
            <a:off x="4647590" y="2217420"/>
            <a:ext cx="228600" cy="228600"/>
          </a:xfrm>
          <a:prstGeom prst="rect">
            <a:avLst/>
          </a:prstGeom>
        </p:spPr>
      </p:pic>
      <p:sp>
        <p:nvSpPr>
          <p:cNvPr id="18" name="Text 12"/>
          <p:cNvSpPr/>
          <p:nvPr/>
        </p:nvSpPr>
        <p:spPr>
          <a:xfrm>
            <a:off x="4533290" y="2706624"/>
            <a:ext cx="3125114"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“What time is it?”</a:t>
            </a:r>
            <a:endParaRPr lang="en-US" sz="160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Ask anyone, anywhere. Always polite with “Excuse me” first.</a:t>
            </a:r>
            <a:endParaRPr lang="en-US" sz="1600" dirty="0"/>
          </a:p>
        </p:txBody>
      </p:sp>
      <p:sp>
        <p:nvSpPr>
          <p:cNvPr id="19" name="Shape 13"/>
          <p:cNvSpPr/>
          <p:nvPr/>
        </p:nvSpPr>
        <p:spPr>
          <a:xfrm>
            <a:off x="8079029" y="1883664"/>
            <a:ext cx="3564026" cy="1929384"/>
          </a:xfrm>
          <a:prstGeom prst="roundRect">
            <a:avLst>
              <a:gd name="adj" fmla="val 6635"/>
            </a:avLst>
          </a:prstGeom>
          <a:solidFill>
            <a:srgbClr val="FDEDE8"/>
          </a:solidFill>
          <a:ln w="12700">
            <a:solidFill>
              <a:srgbClr val="F3C9BB"/>
            </a:solidFill>
            <a:prstDash val="solid"/>
          </a:ln>
        </p:spPr>
      </p:sp>
      <p:sp>
        <p:nvSpPr>
          <p:cNvPr id="20" name="Shape 14"/>
          <p:cNvSpPr/>
          <p:nvPr/>
        </p:nvSpPr>
        <p:spPr>
          <a:xfrm>
            <a:off x="8298485" y="2103120"/>
            <a:ext cx="457200" cy="457200"/>
          </a:xfrm>
          <a:prstGeom prst="ellipse">
            <a:avLst/>
          </a:prstGeom>
          <a:solidFill>
            <a:srgbClr val="E4572E"/>
          </a:solidFill>
          <a:ln/>
        </p:spPr>
      </p:sp>
      <p:pic>
        <p:nvPicPr>
          <p:cNvPr id="21" name="Image 3" descr="preencoded.png">    </p:cNvPr>
          <p:cNvPicPr>
            <a:picLocks noChangeAspect="1"/>
          </p:cNvPicPr>
          <p:nvPr/>
        </p:nvPicPr>
        <p:blipFill>
          <a:blip r:embed="rId4"/>
          <a:stretch>
            <a:fillRect/>
          </a:stretch>
        </p:blipFill>
        <p:spPr>
          <a:xfrm>
            <a:off x="8412785" y="2217420"/>
            <a:ext cx="228600" cy="228600"/>
          </a:xfrm>
          <a:prstGeom prst="rect">
            <a:avLst/>
          </a:prstGeom>
        </p:spPr>
      </p:pic>
      <p:sp>
        <p:nvSpPr>
          <p:cNvPr id="22" name="Text 15"/>
          <p:cNvSpPr/>
          <p:nvPr/>
        </p:nvSpPr>
        <p:spPr>
          <a:xfrm>
            <a:off x="8298485" y="2706624"/>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“That is expensive.”</a:t>
            </a:r>
            <a:endParaRPr lang="en-US" sz="1750" dirty="0"/>
          </a:p>
          <a:p>
            <a:pPr indent="0" marL="0">
              <a:lnSpc>
                <a:spcPct val="102000"/>
              </a:lnSpc>
              <a:spcBef>
                <a:spcPts val="350"/>
              </a:spcBef>
              <a:buNone/>
            </a:pPr>
            <a:r>
              <a:rPr lang="en-US" sz="1310" dirty="0">
                <a:solidFill>
                  <a:srgbClr val="3A473F"/>
                </a:solidFill>
                <a:latin typeface="Calibri" pitchFamily="34" charset="0"/>
                <a:ea typeface="Calibri" pitchFamily="34" charset="-122"/>
                <a:cs typeface="Calibri" pitchFamily="34" charset="-120"/>
              </a:rPr>
              <a:t>Polite way to begin bargaining at the market.</a:t>
            </a:r>
            <a:endParaRPr lang="en-US" sz="1750" dirty="0"/>
          </a:p>
        </p:txBody>
      </p:sp>
      <p:sp>
        <p:nvSpPr>
          <p:cNvPr id="23" name="Shape 16"/>
          <p:cNvSpPr/>
          <p:nvPr/>
        </p:nvSpPr>
        <p:spPr>
          <a:xfrm>
            <a:off x="548640" y="4014216"/>
            <a:ext cx="3564026" cy="1929384"/>
          </a:xfrm>
          <a:prstGeom prst="roundRect">
            <a:avLst>
              <a:gd name="adj" fmla="val 6635"/>
            </a:avLst>
          </a:prstGeom>
          <a:solidFill>
            <a:srgbClr val="FDEDE8"/>
          </a:solidFill>
          <a:ln w="12700">
            <a:solidFill>
              <a:srgbClr val="F3C9BB"/>
            </a:solidFill>
            <a:prstDash val="solid"/>
          </a:ln>
        </p:spPr>
      </p:sp>
      <p:sp>
        <p:nvSpPr>
          <p:cNvPr id="24" name="Shape 17"/>
          <p:cNvSpPr/>
          <p:nvPr/>
        </p:nvSpPr>
        <p:spPr>
          <a:xfrm>
            <a:off x="768096" y="4233672"/>
            <a:ext cx="457200" cy="457200"/>
          </a:xfrm>
          <a:prstGeom prst="ellipse">
            <a:avLst/>
          </a:prstGeom>
          <a:solidFill>
            <a:srgbClr val="E4572E"/>
          </a:solidFill>
          <a:ln/>
        </p:spPr>
      </p:sp>
      <p:pic>
        <p:nvPicPr>
          <p:cNvPr id="25" name="Image 4" descr="preencoded.png">    </p:cNvPr>
          <p:cNvPicPr>
            <a:picLocks noChangeAspect="1"/>
          </p:cNvPicPr>
          <p:nvPr/>
        </p:nvPicPr>
        <p:blipFill>
          <a:blip r:embed="rId5"/>
          <a:stretch>
            <a:fillRect/>
          </a:stretch>
        </p:blipFill>
        <p:spPr>
          <a:xfrm>
            <a:off x="882396" y="4347972"/>
            <a:ext cx="228600" cy="228600"/>
          </a:xfrm>
          <a:prstGeom prst="rect">
            <a:avLst/>
          </a:prstGeom>
        </p:spPr>
      </p:pic>
      <p:sp>
        <p:nvSpPr>
          <p:cNvPr id="26" name="Text 18"/>
          <p:cNvSpPr/>
          <p:nvPr/>
        </p:nvSpPr>
        <p:spPr>
          <a:xfrm>
            <a:off x="768096" y="4837176"/>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“Can you write it, please?”</a:t>
            </a:r>
            <a:endParaRPr lang="en-US" sz="1750" dirty="0"/>
          </a:p>
          <a:p>
            <a:pPr indent="0" marL="0">
              <a:lnSpc>
                <a:spcPct val="102000"/>
              </a:lnSpc>
              <a:spcBef>
                <a:spcPts val="350"/>
              </a:spcBef>
              <a:buNone/>
            </a:pPr>
            <a:r>
              <a:rPr lang="en-US" sz="1310" dirty="0">
                <a:solidFill>
                  <a:srgbClr val="3A473F"/>
                </a:solidFill>
                <a:latin typeface="Calibri" pitchFamily="34" charset="0"/>
                <a:ea typeface="Calibri" pitchFamily="34" charset="-122"/>
                <a:cs typeface="Calibri" pitchFamily="34" charset="-120"/>
              </a:rPr>
              <a:t>When you cannot catch a number, ask for it in writing.</a:t>
            </a:r>
            <a:endParaRPr lang="en-US" sz="1750" dirty="0"/>
          </a:p>
        </p:txBody>
      </p:sp>
      <p:sp>
        <p:nvSpPr>
          <p:cNvPr id="27" name="Shape 19"/>
          <p:cNvSpPr/>
          <p:nvPr/>
        </p:nvSpPr>
        <p:spPr>
          <a:xfrm>
            <a:off x="4313834" y="4014216"/>
            <a:ext cx="3564026" cy="1929384"/>
          </a:xfrm>
          <a:prstGeom prst="roundRect">
            <a:avLst>
              <a:gd name="adj" fmla="val 6635"/>
            </a:avLst>
          </a:prstGeom>
          <a:solidFill>
            <a:srgbClr val="FDEDE8"/>
          </a:solidFill>
          <a:ln w="12700">
            <a:solidFill>
              <a:srgbClr val="F3C9BB"/>
            </a:solidFill>
            <a:prstDash val="solid"/>
          </a:ln>
        </p:spPr>
      </p:sp>
      <p:sp>
        <p:nvSpPr>
          <p:cNvPr id="28" name="Shape 20"/>
          <p:cNvSpPr/>
          <p:nvPr/>
        </p:nvSpPr>
        <p:spPr>
          <a:xfrm>
            <a:off x="4533290" y="4233672"/>
            <a:ext cx="457200" cy="457200"/>
          </a:xfrm>
          <a:prstGeom prst="ellipse">
            <a:avLst/>
          </a:prstGeom>
          <a:solidFill>
            <a:srgbClr val="E4572E"/>
          </a:solidFill>
          <a:ln/>
        </p:spPr>
      </p:sp>
      <p:pic>
        <p:nvPicPr>
          <p:cNvPr id="29" name="Image 5" descr="preencoded.png">    </p:cNvPr>
          <p:cNvPicPr>
            <a:picLocks noChangeAspect="1"/>
          </p:cNvPicPr>
          <p:nvPr/>
        </p:nvPicPr>
        <p:blipFill>
          <a:blip r:embed="rId6"/>
          <a:stretch>
            <a:fillRect/>
          </a:stretch>
        </p:blipFill>
        <p:spPr>
          <a:xfrm>
            <a:off x="4647590" y="4347972"/>
            <a:ext cx="228600" cy="228600"/>
          </a:xfrm>
          <a:prstGeom prst="rect">
            <a:avLst/>
          </a:prstGeom>
        </p:spPr>
      </p:pic>
      <p:sp>
        <p:nvSpPr>
          <p:cNvPr id="30" name="Text 21"/>
          <p:cNvSpPr/>
          <p:nvPr/>
        </p:nvSpPr>
        <p:spPr>
          <a:xfrm>
            <a:off x="4533290" y="4837176"/>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“Thirteen or thirty?”</a:t>
            </a:r>
            <a:endParaRPr lang="en-US" sz="1750" dirty="0"/>
          </a:p>
          <a:p>
            <a:pPr indent="0" marL="0">
              <a:lnSpc>
                <a:spcPct val="102000"/>
              </a:lnSpc>
              <a:spcBef>
                <a:spcPts val="350"/>
              </a:spcBef>
              <a:buNone/>
            </a:pPr>
            <a:r>
              <a:rPr lang="en-US" sz="1310" dirty="0">
                <a:solidFill>
                  <a:srgbClr val="3A473F"/>
                </a:solidFill>
                <a:latin typeface="Calibri" pitchFamily="34" charset="0"/>
                <a:ea typeface="Calibri" pitchFamily="34" charset="-122"/>
                <a:cs typeface="Calibri" pitchFamily="34" charset="-120"/>
              </a:rPr>
              <a:t>Ask directly when you are not sure which one you heard.</a:t>
            </a:r>
            <a:endParaRPr lang="en-US" sz="1750" dirty="0"/>
          </a:p>
        </p:txBody>
      </p:sp>
      <p:sp>
        <p:nvSpPr>
          <p:cNvPr id="31" name="Shape 22"/>
          <p:cNvSpPr/>
          <p:nvPr/>
        </p:nvSpPr>
        <p:spPr>
          <a:xfrm>
            <a:off x="8079029" y="4014216"/>
            <a:ext cx="3564026" cy="1929384"/>
          </a:xfrm>
          <a:prstGeom prst="roundRect">
            <a:avLst>
              <a:gd name="adj" fmla="val 6635"/>
            </a:avLst>
          </a:prstGeom>
          <a:solidFill>
            <a:srgbClr val="FDEDE8"/>
          </a:solidFill>
          <a:ln w="12700">
            <a:solidFill>
              <a:srgbClr val="F3C9BB"/>
            </a:solidFill>
            <a:prstDash val="solid"/>
          </a:ln>
        </p:spPr>
      </p:sp>
      <p:sp>
        <p:nvSpPr>
          <p:cNvPr id="32" name="Shape 23"/>
          <p:cNvSpPr/>
          <p:nvPr/>
        </p:nvSpPr>
        <p:spPr>
          <a:xfrm>
            <a:off x="8298485" y="4233672"/>
            <a:ext cx="457200" cy="457200"/>
          </a:xfrm>
          <a:prstGeom prst="ellipse">
            <a:avLst/>
          </a:prstGeom>
          <a:solidFill>
            <a:srgbClr val="E4572E"/>
          </a:solidFill>
          <a:ln/>
        </p:spPr>
      </p:sp>
      <p:pic>
        <p:nvPicPr>
          <p:cNvPr id="33" name="Image 6" descr="preencoded.png">    </p:cNvPr>
          <p:cNvPicPr>
            <a:picLocks noChangeAspect="1"/>
          </p:cNvPicPr>
          <p:nvPr/>
        </p:nvPicPr>
        <p:blipFill>
          <a:blip r:embed="rId7"/>
          <a:stretch>
            <a:fillRect/>
          </a:stretch>
        </p:blipFill>
        <p:spPr>
          <a:xfrm>
            <a:off x="8412785" y="4347972"/>
            <a:ext cx="228600" cy="228600"/>
          </a:xfrm>
          <a:prstGeom prst="rect">
            <a:avLst/>
          </a:prstGeom>
        </p:spPr>
      </p:pic>
      <p:sp>
        <p:nvSpPr>
          <p:cNvPr id="34" name="Text 24"/>
          <p:cNvSpPr/>
          <p:nvPr/>
        </p:nvSpPr>
        <p:spPr>
          <a:xfrm>
            <a:off x="8298485" y="4837176"/>
            <a:ext cx="3125114" cy="923544"/>
          </a:xfrm>
          <a:prstGeom prst="rect">
            <a:avLst/>
          </a:prstGeom>
          <a:noFill/>
          <a:ln/>
        </p:spPr>
        <p:txBody>
          <a:bodyPr wrap="square" lIns="0" tIns="0" rIns="0" bIns="0" rtlCol="0" anchor="t"/>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“What is your phone number?”</a:t>
            </a:r>
            <a:endParaRPr lang="en-US" sz="1700" dirty="0"/>
          </a:p>
          <a:p>
            <a:pPr indent="0" marL="0">
              <a:lnSpc>
                <a:spcPct val="102000"/>
              </a:lnSpc>
              <a:spcBef>
                <a:spcPts val="340"/>
              </a:spcBef>
              <a:buNone/>
            </a:pPr>
            <a:r>
              <a:rPr lang="en-US" sz="1280" dirty="0">
                <a:solidFill>
                  <a:srgbClr val="3A473F"/>
                </a:solidFill>
                <a:latin typeface="Calibri" pitchFamily="34" charset="0"/>
                <a:ea typeface="Calibri" pitchFamily="34" charset="-122"/>
                <a:cs typeface="Calibri" pitchFamily="34" charset="-120"/>
              </a:rPr>
              <a:t>The answer comes digit by digit — be ready to write.</a:t>
            </a:r>
            <a:endParaRPr lang="en-US" sz="17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Complete the conversation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Work in pairs. Fill each gap. Answers are in the Answer Key.</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2 — Numbers, Time &amp; Money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29</a:t>
            </a:r>
            <a:endParaRPr lang="en-US" sz="1100" dirty="0"/>
          </a:p>
        </p:txBody>
      </p:sp>
      <p:sp>
        <p:nvSpPr>
          <p:cNvPr id="11" name="Shape 7"/>
          <p:cNvSpPr/>
          <p:nvPr/>
        </p:nvSpPr>
        <p:spPr>
          <a:xfrm>
            <a:off x="548640" y="1883664"/>
            <a:ext cx="11094415" cy="455676"/>
          </a:xfrm>
          <a:prstGeom prst="roundRect">
            <a:avLst>
              <a:gd name="adj" fmla="val 28094"/>
            </a:avLst>
          </a:prstGeom>
          <a:solidFill>
            <a:srgbClr val="EDF3EF"/>
          </a:solidFill>
          <a:ln w="12700">
            <a:solidFill>
              <a:srgbClr val="E3E9E5"/>
            </a:solidFill>
            <a:prstDash val="solid"/>
          </a:ln>
        </p:spPr>
      </p:sp>
      <p:sp>
        <p:nvSpPr>
          <p:cNvPr id="12" name="Shape 8"/>
          <p:cNvSpPr/>
          <p:nvPr/>
        </p:nvSpPr>
        <p:spPr>
          <a:xfrm>
            <a:off x="694944" y="1975104"/>
            <a:ext cx="1417320" cy="272796"/>
          </a:xfrm>
          <a:prstGeom prst="roundRect">
            <a:avLst>
              <a:gd name="adj" fmla="val 33520"/>
            </a:avLst>
          </a:prstGeom>
          <a:solidFill>
            <a:srgbClr val="6B7C71"/>
          </a:solidFill>
          <a:ln/>
        </p:spPr>
      </p:sp>
      <p:sp>
        <p:nvSpPr>
          <p:cNvPr id="13" name="Text 9"/>
          <p:cNvSpPr txBox="1"/>
          <p:nvPr/>
        </p:nvSpPr>
        <p:spPr>
          <a:xfrm>
            <a:off x="731520" y="19751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YOU</a:t>
            </a:r>
            <a:endParaRPr lang="en-US" sz="1200" dirty="0"/>
          </a:p>
        </p:txBody>
      </p:sp>
      <p:sp>
        <p:nvSpPr>
          <p:cNvPr id="14" name="Text 10"/>
          <p:cNvSpPr txBox="1"/>
          <p:nvPr/>
        </p:nvSpPr>
        <p:spPr>
          <a:xfrm>
            <a:off x="2276856" y="19385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Good morning. ______________________ the bag?</a:t>
            </a:r>
            <a:endParaRPr lang="en-US" sz="2000" dirty="0"/>
          </a:p>
        </p:txBody>
      </p:sp>
      <p:sp>
        <p:nvSpPr>
          <p:cNvPr id="15" name="Shape 11"/>
          <p:cNvSpPr/>
          <p:nvPr/>
        </p:nvSpPr>
        <p:spPr>
          <a:xfrm>
            <a:off x="548640" y="2439924"/>
            <a:ext cx="11094415" cy="455676"/>
          </a:xfrm>
          <a:prstGeom prst="roundRect">
            <a:avLst>
              <a:gd name="adj" fmla="val 28094"/>
            </a:avLst>
          </a:prstGeom>
          <a:solidFill>
            <a:srgbClr val="E7F3EF"/>
          </a:solidFill>
          <a:ln w="12700">
            <a:solidFill>
              <a:srgbClr val="C4E0D5"/>
            </a:solidFill>
            <a:prstDash val="solid"/>
          </a:ln>
        </p:spPr>
      </p:sp>
      <p:sp>
        <p:nvSpPr>
          <p:cNvPr id="16" name="Shape 12"/>
          <p:cNvSpPr/>
          <p:nvPr/>
        </p:nvSpPr>
        <p:spPr>
          <a:xfrm>
            <a:off x="694944" y="2531364"/>
            <a:ext cx="1417320" cy="272796"/>
          </a:xfrm>
          <a:prstGeom prst="roundRect">
            <a:avLst>
              <a:gd name="adj" fmla="val 33520"/>
            </a:avLst>
          </a:prstGeom>
          <a:solidFill>
            <a:srgbClr val="0E7C5A"/>
          </a:solidFill>
          <a:ln/>
        </p:spPr>
      </p:sp>
      <p:sp>
        <p:nvSpPr>
          <p:cNvPr id="17" name="Text 13"/>
          <p:cNvSpPr txBox="1"/>
          <p:nvPr/>
        </p:nvSpPr>
        <p:spPr>
          <a:xfrm>
            <a:off x="731520" y="253136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SELLER</a:t>
            </a:r>
            <a:endParaRPr lang="en-US" sz="1200" dirty="0"/>
          </a:p>
        </p:txBody>
      </p:sp>
      <p:sp>
        <p:nvSpPr>
          <p:cNvPr id="18" name="Text 14"/>
          <p:cNvSpPr txBox="1"/>
          <p:nvPr/>
        </p:nvSpPr>
        <p:spPr>
          <a:xfrm>
            <a:off x="2276856" y="249478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It is eighty birr.</a:t>
            </a:r>
            <a:endParaRPr lang="en-US" sz="2000" dirty="0"/>
          </a:p>
        </p:txBody>
      </p:sp>
      <p:sp>
        <p:nvSpPr>
          <p:cNvPr id="19" name="Shape 15"/>
          <p:cNvSpPr/>
          <p:nvPr/>
        </p:nvSpPr>
        <p:spPr>
          <a:xfrm>
            <a:off x="548640" y="2996184"/>
            <a:ext cx="11094415" cy="455676"/>
          </a:xfrm>
          <a:prstGeom prst="roundRect">
            <a:avLst>
              <a:gd name="adj" fmla="val 28094"/>
            </a:avLst>
          </a:prstGeom>
          <a:solidFill>
            <a:srgbClr val="EDF3EF"/>
          </a:solidFill>
          <a:ln w="12700">
            <a:solidFill>
              <a:srgbClr val="E3E9E5"/>
            </a:solidFill>
            <a:prstDash val="solid"/>
          </a:ln>
        </p:spPr>
      </p:sp>
      <p:sp>
        <p:nvSpPr>
          <p:cNvPr id="20" name="Shape 16"/>
          <p:cNvSpPr/>
          <p:nvPr/>
        </p:nvSpPr>
        <p:spPr>
          <a:xfrm>
            <a:off x="694944" y="3087624"/>
            <a:ext cx="1417320" cy="272796"/>
          </a:xfrm>
          <a:prstGeom prst="roundRect">
            <a:avLst>
              <a:gd name="adj" fmla="val 33520"/>
            </a:avLst>
          </a:prstGeom>
          <a:solidFill>
            <a:srgbClr val="6B7C71"/>
          </a:solidFill>
          <a:ln/>
        </p:spPr>
      </p:sp>
      <p:sp>
        <p:nvSpPr>
          <p:cNvPr id="21" name="Text 17"/>
          <p:cNvSpPr txBox="1"/>
          <p:nvPr/>
        </p:nvSpPr>
        <p:spPr>
          <a:xfrm>
            <a:off x="731520" y="308762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YOU</a:t>
            </a:r>
            <a:endParaRPr lang="en-US" sz="1200" dirty="0"/>
          </a:p>
        </p:txBody>
      </p:sp>
      <p:sp>
        <p:nvSpPr>
          <p:cNvPr id="22" name="Text 18"/>
          <p:cNvSpPr txBox="1"/>
          <p:nvPr/>
        </p:nvSpPr>
        <p:spPr>
          <a:xfrm>
            <a:off x="2276856" y="305104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Eighty or eighteen? ______________________ , please.</a:t>
            </a:r>
            <a:endParaRPr lang="en-US" sz="2000" dirty="0"/>
          </a:p>
        </p:txBody>
      </p:sp>
      <p:sp>
        <p:nvSpPr>
          <p:cNvPr id="23" name="Shape 19"/>
          <p:cNvSpPr/>
          <p:nvPr/>
        </p:nvSpPr>
        <p:spPr>
          <a:xfrm>
            <a:off x="548640" y="3552444"/>
            <a:ext cx="11094415" cy="455676"/>
          </a:xfrm>
          <a:prstGeom prst="roundRect">
            <a:avLst>
              <a:gd name="adj" fmla="val 28094"/>
            </a:avLst>
          </a:prstGeom>
          <a:solidFill>
            <a:srgbClr val="E7F3EF"/>
          </a:solidFill>
          <a:ln w="12700">
            <a:solidFill>
              <a:srgbClr val="C4E0D5"/>
            </a:solidFill>
            <a:prstDash val="solid"/>
          </a:ln>
        </p:spPr>
      </p:sp>
      <p:sp>
        <p:nvSpPr>
          <p:cNvPr id="24" name="Shape 20"/>
          <p:cNvSpPr/>
          <p:nvPr/>
        </p:nvSpPr>
        <p:spPr>
          <a:xfrm>
            <a:off x="694944" y="3643884"/>
            <a:ext cx="1417320" cy="272796"/>
          </a:xfrm>
          <a:prstGeom prst="roundRect">
            <a:avLst>
              <a:gd name="adj" fmla="val 33520"/>
            </a:avLst>
          </a:prstGeom>
          <a:solidFill>
            <a:srgbClr val="0E7C5A"/>
          </a:solidFill>
          <a:ln/>
        </p:spPr>
      </p:sp>
      <p:sp>
        <p:nvSpPr>
          <p:cNvPr id="25" name="Text 21"/>
          <p:cNvSpPr txBox="1"/>
          <p:nvPr/>
        </p:nvSpPr>
        <p:spPr>
          <a:xfrm>
            <a:off x="731520" y="364388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SELLER</a:t>
            </a:r>
            <a:endParaRPr lang="en-US" sz="1200" dirty="0"/>
          </a:p>
        </p:txBody>
      </p:sp>
      <p:sp>
        <p:nvSpPr>
          <p:cNvPr id="26" name="Text 22"/>
          <p:cNvSpPr txBox="1"/>
          <p:nvPr/>
        </p:nvSpPr>
        <p:spPr>
          <a:xfrm>
            <a:off x="2276856" y="360730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Eight-zero. Eighty birr.</a:t>
            </a:r>
            <a:endParaRPr lang="en-US" sz="2000" dirty="0"/>
          </a:p>
        </p:txBody>
      </p:sp>
      <p:sp>
        <p:nvSpPr>
          <p:cNvPr id="27" name="Shape 23"/>
          <p:cNvSpPr/>
          <p:nvPr/>
        </p:nvSpPr>
        <p:spPr>
          <a:xfrm>
            <a:off x="548640" y="4108704"/>
            <a:ext cx="11094415" cy="455676"/>
          </a:xfrm>
          <a:prstGeom prst="roundRect">
            <a:avLst>
              <a:gd name="adj" fmla="val 28094"/>
            </a:avLst>
          </a:prstGeom>
          <a:solidFill>
            <a:srgbClr val="EDF3EF"/>
          </a:solidFill>
          <a:ln w="12700">
            <a:solidFill>
              <a:srgbClr val="E3E9E5"/>
            </a:solidFill>
            <a:prstDash val="solid"/>
          </a:ln>
        </p:spPr>
      </p:sp>
      <p:sp>
        <p:nvSpPr>
          <p:cNvPr id="28" name="Shape 24"/>
          <p:cNvSpPr/>
          <p:nvPr/>
        </p:nvSpPr>
        <p:spPr>
          <a:xfrm>
            <a:off x="694944" y="4200144"/>
            <a:ext cx="1417320" cy="272796"/>
          </a:xfrm>
          <a:prstGeom prst="roundRect">
            <a:avLst>
              <a:gd name="adj" fmla="val 33520"/>
            </a:avLst>
          </a:prstGeom>
          <a:solidFill>
            <a:srgbClr val="6B7C71"/>
          </a:solidFill>
          <a:ln/>
        </p:spPr>
      </p:sp>
      <p:sp>
        <p:nvSpPr>
          <p:cNvPr id="29" name="Text 25"/>
          <p:cNvSpPr txBox="1"/>
          <p:nvPr/>
        </p:nvSpPr>
        <p:spPr>
          <a:xfrm>
            <a:off x="731520" y="420014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YOU</a:t>
            </a:r>
            <a:endParaRPr lang="en-US" sz="1200" dirty="0"/>
          </a:p>
        </p:txBody>
      </p:sp>
      <p:sp>
        <p:nvSpPr>
          <p:cNvPr id="30" name="Text 26"/>
          <p:cNvSpPr txBox="1"/>
          <p:nvPr/>
        </p:nvSpPr>
        <p:spPr>
          <a:xfrm>
            <a:off x="2276856" y="416356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That is ______________. Can you reduce it?</a:t>
            </a:r>
            <a:endParaRPr lang="en-US" sz="2000" dirty="0"/>
          </a:p>
        </p:txBody>
      </p:sp>
      <p:sp>
        <p:nvSpPr>
          <p:cNvPr id="31" name="Shape 27"/>
          <p:cNvSpPr/>
          <p:nvPr/>
        </p:nvSpPr>
        <p:spPr>
          <a:xfrm>
            <a:off x="548640" y="4664964"/>
            <a:ext cx="11094415" cy="455676"/>
          </a:xfrm>
          <a:prstGeom prst="roundRect">
            <a:avLst>
              <a:gd name="adj" fmla="val 28094"/>
            </a:avLst>
          </a:prstGeom>
          <a:solidFill>
            <a:srgbClr val="E7F3EF"/>
          </a:solidFill>
          <a:ln w="12700">
            <a:solidFill>
              <a:srgbClr val="C4E0D5"/>
            </a:solidFill>
            <a:prstDash val="solid"/>
          </a:ln>
        </p:spPr>
      </p:sp>
      <p:sp>
        <p:nvSpPr>
          <p:cNvPr id="32" name="Shape 28"/>
          <p:cNvSpPr/>
          <p:nvPr/>
        </p:nvSpPr>
        <p:spPr>
          <a:xfrm>
            <a:off x="694944" y="4756404"/>
            <a:ext cx="1417320" cy="272796"/>
          </a:xfrm>
          <a:prstGeom prst="roundRect">
            <a:avLst>
              <a:gd name="adj" fmla="val 33520"/>
            </a:avLst>
          </a:prstGeom>
          <a:solidFill>
            <a:srgbClr val="0E7C5A"/>
          </a:solidFill>
          <a:ln/>
        </p:spPr>
      </p:sp>
      <p:sp>
        <p:nvSpPr>
          <p:cNvPr id="33" name="Text 29"/>
          <p:cNvSpPr txBox="1"/>
          <p:nvPr/>
        </p:nvSpPr>
        <p:spPr>
          <a:xfrm>
            <a:off x="731520" y="47564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SELLER</a:t>
            </a:r>
            <a:endParaRPr lang="en-US" sz="1200" dirty="0"/>
          </a:p>
        </p:txBody>
      </p:sp>
      <p:sp>
        <p:nvSpPr>
          <p:cNvPr id="34" name="Text 30"/>
          <p:cNvSpPr txBox="1"/>
          <p:nvPr/>
        </p:nvSpPr>
        <p:spPr>
          <a:xfrm>
            <a:off x="2276856" y="47198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Seventy birr. That is my last price.</a:t>
            </a:r>
            <a:endParaRPr lang="en-US" sz="2000" dirty="0"/>
          </a:p>
        </p:txBody>
      </p:sp>
      <p:sp>
        <p:nvSpPr>
          <p:cNvPr id="35" name="Shape 31"/>
          <p:cNvSpPr/>
          <p:nvPr/>
        </p:nvSpPr>
        <p:spPr>
          <a:xfrm>
            <a:off x="548640" y="5266944"/>
            <a:ext cx="11094415" cy="676656"/>
          </a:xfrm>
          <a:prstGeom prst="roundRect">
            <a:avLst>
              <a:gd name="adj" fmla="val 18919"/>
            </a:avLst>
          </a:prstGeom>
          <a:solidFill>
            <a:srgbClr val="FDF3E7"/>
          </a:solidFill>
          <a:ln w="12700">
            <a:solidFill>
              <a:srgbClr val="EFDCB2"/>
            </a:solidFill>
            <a:prstDash val="solid"/>
          </a:ln>
        </p:spPr>
      </p:sp>
      <p:sp>
        <p:nvSpPr>
          <p:cNvPr id="36" name="Text 32"/>
          <p:cNvSpPr txBox="1"/>
          <p:nvPr/>
        </p:nvSpPr>
        <p:spPr>
          <a:xfrm>
            <a:off x="786384" y="5266944"/>
            <a:ext cx="10618927" cy="676656"/>
          </a:xfrm>
          <a:prstGeom prst="rect">
            <a:avLst/>
          </a:prstGeom>
          <a:noFill/>
          <a:ln/>
        </p:spPr>
        <p:txBody>
          <a:bodyPr wrap="square" lIns="0" tIns="0" rIns="0" bIns="0" rtlCol="0" anchor="ctr"/>
          <a:lstStyle/>
          <a:p>
            <a:pPr indent="0" marL="0">
              <a:buNone/>
            </a:pPr>
            <a:r>
              <a:rPr lang="en-US" sz="1500" dirty="0">
                <a:solidFill>
                  <a:srgbClr val="12211B"/>
                </a:solidFill>
                <a:latin typeface="Calibri" pitchFamily="34" charset="0"/>
                <a:ea typeface="Calibri" pitchFamily="34" charset="-122"/>
                <a:cs typeface="Calibri" pitchFamily="34" charset="-120"/>
              </a:rPr>
              <a:t>Use these:  “How much is …”  ·  “Can you write it”  ·  “expensive”</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Pair practice — how to run it</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Four rounds. Two minutes each.</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2 — Numbers, Time &amp; Money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30</a:t>
            </a:r>
            <a:endParaRPr lang="en-US" sz="1100" dirty="0"/>
          </a:p>
        </p:txBody>
      </p:sp>
      <p:sp>
        <p:nvSpPr>
          <p:cNvPr id="11" name="Shape 7"/>
          <p:cNvSpPr/>
          <p:nvPr/>
        </p:nvSpPr>
        <p:spPr>
          <a:xfrm>
            <a:off x="548640" y="1883664"/>
            <a:ext cx="11094415" cy="905256"/>
          </a:xfrm>
          <a:prstGeom prst="roundRect">
            <a:avLst>
              <a:gd name="adj" fmla="val 14141"/>
            </a:avLst>
          </a:prstGeom>
          <a:solidFill>
            <a:srgbClr val="F6F9F7"/>
          </a:solidFill>
          <a:ln w="12700">
            <a:solidFill>
              <a:srgbClr val="E3E9E5"/>
            </a:solidFill>
            <a:prstDash val="solid"/>
          </a:ln>
        </p:spPr>
      </p:sp>
      <p:sp>
        <p:nvSpPr>
          <p:cNvPr id="12" name="Shape 8"/>
          <p:cNvSpPr/>
          <p:nvPr/>
        </p:nvSpPr>
        <p:spPr>
          <a:xfrm>
            <a:off x="786384" y="2107692"/>
            <a:ext cx="457200" cy="457200"/>
          </a:xfrm>
          <a:prstGeom prst="ellipse">
            <a:avLst/>
          </a:prstGeom>
          <a:solidFill>
            <a:srgbClr val="E4572E"/>
          </a:solidFill>
          <a:ln/>
        </p:spPr>
      </p:sp>
      <p:sp>
        <p:nvSpPr>
          <p:cNvPr id="13" name="Text 9"/>
          <p:cNvSpPr txBox="1"/>
          <p:nvPr/>
        </p:nvSpPr>
        <p:spPr>
          <a:xfrm>
            <a:off x="786384" y="210769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758952"/>
          </a:xfrm>
          <a:prstGeom prst="rect">
            <a:avLst/>
          </a:prstGeom>
          <a:noFill/>
          <a:ln/>
        </p:spPr>
        <p:txBody>
          <a:bodyPr wrap="square" lIns="0" tIns="0" rIns="0" bIns="0" rtlCol="0" anchor="ctr"/>
          <a:lstStyle/>
          <a:p>
            <a:pPr indent="0" marL="0">
              <a:lnSpc>
                <a:spcPct val="102000"/>
              </a:lnSpc>
              <a:buNone/>
            </a:pPr>
            <a:r>
              <a:rPr lang="en-US" sz="1950" b="1" dirty="0">
                <a:solidFill>
                  <a:srgbClr val="12211B"/>
                </a:solidFill>
                <a:latin typeface="Calibri" pitchFamily="34" charset="0"/>
                <a:ea typeface="Calibri" pitchFamily="34" charset="-122"/>
                <a:cs typeface="Calibri" pitchFamily="34" charset="-120"/>
              </a:rPr>
              <a:t>Read the shop dialogue together</a:t>
            </a:r>
            <a:endParaRPr lang="en-US" sz="1950" dirty="0"/>
          </a:p>
          <a:p>
            <a:pPr indent="0" marL="0">
              <a:lnSpc>
                <a:spcPct val="102000"/>
              </a:lnSpc>
              <a:spcBef>
                <a:spcPts val="279"/>
              </a:spcBef>
              <a:buNone/>
            </a:pPr>
            <a:r>
              <a:rPr lang="en-US" sz="1490" dirty="0">
                <a:solidFill>
                  <a:srgbClr val="3A473F"/>
                </a:solidFill>
                <a:latin typeface="Calibri" pitchFamily="34" charset="0"/>
                <a:ea typeface="Calibri" pitchFamily="34" charset="-122"/>
                <a:cs typeface="Calibri" pitchFamily="34" charset="-120"/>
              </a:rPr>
              <a:t>Learner A is the buyer, learner B is the seller. Read twice, then swap roles.</a:t>
            </a:r>
            <a:endParaRPr lang="en-US" sz="1950" dirty="0"/>
          </a:p>
        </p:txBody>
      </p:sp>
      <p:sp>
        <p:nvSpPr>
          <p:cNvPr id="15" name="Shape 11"/>
          <p:cNvSpPr/>
          <p:nvPr/>
        </p:nvSpPr>
        <p:spPr>
          <a:xfrm>
            <a:off x="548640" y="2935224"/>
            <a:ext cx="11094415" cy="905256"/>
          </a:xfrm>
          <a:prstGeom prst="roundRect">
            <a:avLst>
              <a:gd name="adj" fmla="val 14141"/>
            </a:avLst>
          </a:prstGeom>
          <a:solidFill>
            <a:srgbClr val="F6F9F7"/>
          </a:solidFill>
          <a:ln w="12700">
            <a:solidFill>
              <a:srgbClr val="E3E9E5"/>
            </a:solidFill>
            <a:prstDash val="solid"/>
          </a:ln>
        </p:spPr>
      </p:sp>
      <p:sp>
        <p:nvSpPr>
          <p:cNvPr id="16" name="Shape 12"/>
          <p:cNvSpPr/>
          <p:nvPr/>
        </p:nvSpPr>
        <p:spPr>
          <a:xfrm>
            <a:off x="786384" y="3159252"/>
            <a:ext cx="457200" cy="457200"/>
          </a:xfrm>
          <a:prstGeom prst="ellipse">
            <a:avLst/>
          </a:prstGeom>
          <a:solidFill>
            <a:srgbClr val="E4572E"/>
          </a:solidFill>
          <a:ln/>
        </p:spPr>
      </p:sp>
      <p:sp>
        <p:nvSpPr>
          <p:cNvPr id="17" name="Text 13"/>
          <p:cNvSpPr txBox="1"/>
          <p:nvPr/>
        </p:nvSpPr>
        <p:spPr>
          <a:xfrm>
            <a:off x="786384" y="315925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300837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Close the book and try again</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Say as much as you remember. Gaps are fine.</a:t>
            </a:r>
            <a:endParaRPr lang="en-US" sz="2100" dirty="0"/>
          </a:p>
        </p:txBody>
      </p:sp>
      <p:sp>
        <p:nvSpPr>
          <p:cNvPr id="19" name="Shape 15"/>
          <p:cNvSpPr/>
          <p:nvPr/>
        </p:nvSpPr>
        <p:spPr>
          <a:xfrm>
            <a:off x="548640" y="3986784"/>
            <a:ext cx="11094415" cy="905256"/>
          </a:xfrm>
          <a:prstGeom prst="roundRect">
            <a:avLst>
              <a:gd name="adj" fmla="val 14141"/>
            </a:avLst>
          </a:prstGeom>
          <a:solidFill>
            <a:srgbClr val="F6F9F7"/>
          </a:solidFill>
          <a:ln w="12700">
            <a:solidFill>
              <a:srgbClr val="E3E9E5"/>
            </a:solidFill>
            <a:prstDash val="solid"/>
          </a:ln>
        </p:spPr>
      </p:sp>
      <p:sp>
        <p:nvSpPr>
          <p:cNvPr id="20" name="Shape 16"/>
          <p:cNvSpPr/>
          <p:nvPr/>
        </p:nvSpPr>
        <p:spPr>
          <a:xfrm>
            <a:off x="786384" y="4210812"/>
            <a:ext cx="457200" cy="457200"/>
          </a:xfrm>
          <a:prstGeom prst="ellipse">
            <a:avLst/>
          </a:prstGeom>
          <a:solidFill>
            <a:srgbClr val="E4572E"/>
          </a:solidFill>
          <a:ln/>
        </p:spPr>
      </p:sp>
      <p:sp>
        <p:nvSpPr>
          <p:cNvPr id="21" name="Text 17"/>
          <p:cNvSpPr txBox="1"/>
          <p:nvPr/>
        </p:nvSpPr>
        <p:spPr>
          <a:xfrm>
            <a:off x="786384" y="421081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405993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Change the item and the price</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Sell a phone, a shoe, a kilo of onions. Use different numbers each time.</a:t>
            </a:r>
            <a:endParaRPr lang="en-US" sz="2100" dirty="0"/>
          </a:p>
        </p:txBody>
      </p:sp>
      <p:sp>
        <p:nvSpPr>
          <p:cNvPr id="23" name="Shape 19"/>
          <p:cNvSpPr/>
          <p:nvPr/>
        </p:nvSpPr>
        <p:spPr>
          <a:xfrm>
            <a:off x="548640" y="5038344"/>
            <a:ext cx="11094415" cy="905256"/>
          </a:xfrm>
          <a:prstGeom prst="roundRect">
            <a:avLst>
              <a:gd name="adj" fmla="val 14141"/>
            </a:avLst>
          </a:prstGeom>
          <a:solidFill>
            <a:srgbClr val="F6F9F7"/>
          </a:solidFill>
          <a:ln w="12700">
            <a:solidFill>
              <a:srgbClr val="E3E9E5"/>
            </a:solidFill>
            <a:prstDash val="solid"/>
          </a:ln>
        </p:spPr>
      </p:sp>
      <p:sp>
        <p:nvSpPr>
          <p:cNvPr id="24" name="Shape 20"/>
          <p:cNvSpPr/>
          <p:nvPr/>
        </p:nvSpPr>
        <p:spPr>
          <a:xfrm>
            <a:off x="786384" y="5262372"/>
            <a:ext cx="457200" cy="457200"/>
          </a:xfrm>
          <a:prstGeom prst="ellipse">
            <a:avLst/>
          </a:prstGeom>
          <a:solidFill>
            <a:srgbClr val="E4572E"/>
          </a:solidFill>
          <a:ln/>
        </p:spPr>
      </p:sp>
      <p:sp>
        <p:nvSpPr>
          <p:cNvPr id="25" name="Text 21"/>
          <p:cNvSpPr txBox="1"/>
          <p:nvPr/>
        </p:nvSpPr>
        <p:spPr>
          <a:xfrm>
            <a:off x="786384" y="526237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511149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Find a new partner and do it once more</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New face, same language. This is the closest to real life.</a:t>
            </a:r>
            <a:endParaRPr lang="en-US" sz="2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Activity 1 — count out loud</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Four ways. Each one is harder than the last.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2 — Numbers, Time &amp; Money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31</a:t>
            </a:r>
            <a:endParaRPr lang="en-US" sz="1100" dirty="0"/>
          </a:p>
        </p:txBody>
      </p:sp>
      <p:sp>
        <p:nvSpPr>
          <p:cNvPr id="11" name="Shape 7"/>
          <p:cNvSpPr/>
          <p:nvPr/>
        </p:nvSpPr>
        <p:spPr>
          <a:xfrm>
            <a:off x="548640" y="1883664"/>
            <a:ext cx="11094415" cy="905256"/>
          </a:xfrm>
          <a:prstGeom prst="roundRect">
            <a:avLst>
              <a:gd name="adj" fmla="val 14141"/>
            </a:avLst>
          </a:prstGeom>
          <a:solidFill>
            <a:srgbClr val="F6F9F7"/>
          </a:solidFill>
          <a:ln w="12700">
            <a:solidFill>
              <a:srgbClr val="E3E9E5"/>
            </a:solidFill>
            <a:prstDash val="solid"/>
          </a:ln>
        </p:spPr>
      </p:sp>
      <p:sp>
        <p:nvSpPr>
          <p:cNvPr id="12" name="Shape 8"/>
          <p:cNvSpPr/>
          <p:nvPr/>
        </p:nvSpPr>
        <p:spPr>
          <a:xfrm>
            <a:off x="786384" y="2107692"/>
            <a:ext cx="457200" cy="457200"/>
          </a:xfrm>
          <a:prstGeom prst="ellipse">
            <a:avLst/>
          </a:prstGeom>
          <a:solidFill>
            <a:srgbClr val="E4572E"/>
          </a:solidFill>
          <a:ln/>
        </p:spPr>
      </p:sp>
      <p:sp>
        <p:nvSpPr>
          <p:cNvPr id="13" name="Text 9"/>
          <p:cNvSpPr txBox="1"/>
          <p:nvPr/>
        </p:nvSpPr>
        <p:spPr>
          <a:xfrm>
            <a:off x="786384" y="210769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14" name="Text 10"/>
          <p:cNvSpPr/>
          <p:nvPr/>
        </p:nvSpPr>
        <p:spPr>
          <a:xfrm>
            <a:off x="1463040" y="195681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1 to 20, with the class</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In chorus, twice. Slowly first, then fast.</a:t>
            </a:r>
            <a:endParaRPr lang="en-US" sz="2100" dirty="0"/>
          </a:p>
        </p:txBody>
      </p:sp>
      <p:sp>
        <p:nvSpPr>
          <p:cNvPr id="15" name="Shape 11"/>
          <p:cNvSpPr/>
          <p:nvPr/>
        </p:nvSpPr>
        <p:spPr>
          <a:xfrm>
            <a:off x="548640" y="2935224"/>
            <a:ext cx="11094415" cy="905256"/>
          </a:xfrm>
          <a:prstGeom prst="roundRect">
            <a:avLst>
              <a:gd name="adj" fmla="val 14141"/>
            </a:avLst>
          </a:prstGeom>
          <a:solidFill>
            <a:srgbClr val="F6F9F7"/>
          </a:solidFill>
          <a:ln w="12700">
            <a:solidFill>
              <a:srgbClr val="E3E9E5"/>
            </a:solidFill>
            <a:prstDash val="solid"/>
          </a:ln>
        </p:spPr>
      </p:sp>
      <p:sp>
        <p:nvSpPr>
          <p:cNvPr id="16" name="Shape 12"/>
          <p:cNvSpPr/>
          <p:nvPr/>
        </p:nvSpPr>
        <p:spPr>
          <a:xfrm>
            <a:off x="786384" y="3159252"/>
            <a:ext cx="457200" cy="457200"/>
          </a:xfrm>
          <a:prstGeom prst="ellipse">
            <a:avLst/>
          </a:prstGeom>
          <a:solidFill>
            <a:srgbClr val="E4572E"/>
          </a:solidFill>
          <a:ln/>
        </p:spPr>
      </p:sp>
      <p:sp>
        <p:nvSpPr>
          <p:cNvPr id="17" name="Text 13"/>
          <p:cNvSpPr txBox="1"/>
          <p:nvPr/>
        </p:nvSpPr>
        <p:spPr>
          <a:xfrm>
            <a:off x="786384" y="315925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8" name="Text 14"/>
          <p:cNvSpPr/>
          <p:nvPr/>
        </p:nvSpPr>
        <p:spPr>
          <a:xfrm>
            <a:off x="1463040" y="300837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In tens to 100</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Twenty, thirty, forty… around the class, one learner per number.</a:t>
            </a:r>
            <a:endParaRPr lang="en-US" sz="2100" dirty="0"/>
          </a:p>
        </p:txBody>
      </p:sp>
      <p:sp>
        <p:nvSpPr>
          <p:cNvPr id="19" name="Shape 15"/>
          <p:cNvSpPr/>
          <p:nvPr/>
        </p:nvSpPr>
        <p:spPr>
          <a:xfrm>
            <a:off x="548640" y="3986784"/>
            <a:ext cx="11094415" cy="905256"/>
          </a:xfrm>
          <a:prstGeom prst="roundRect">
            <a:avLst>
              <a:gd name="adj" fmla="val 14141"/>
            </a:avLst>
          </a:prstGeom>
          <a:solidFill>
            <a:srgbClr val="F6F9F7"/>
          </a:solidFill>
          <a:ln w="12700">
            <a:solidFill>
              <a:srgbClr val="E3E9E5"/>
            </a:solidFill>
            <a:prstDash val="solid"/>
          </a:ln>
        </p:spPr>
      </p:sp>
      <p:sp>
        <p:nvSpPr>
          <p:cNvPr id="20" name="Shape 16"/>
          <p:cNvSpPr/>
          <p:nvPr/>
        </p:nvSpPr>
        <p:spPr>
          <a:xfrm>
            <a:off x="786384" y="4210812"/>
            <a:ext cx="457200" cy="457200"/>
          </a:xfrm>
          <a:prstGeom prst="ellipse">
            <a:avLst/>
          </a:prstGeom>
          <a:solidFill>
            <a:srgbClr val="E4572E"/>
          </a:solidFill>
          <a:ln/>
        </p:spPr>
      </p:sp>
      <p:sp>
        <p:nvSpPr>
          <p:cNvPr id="21" name="Text 17"/>
          <p:cNvSpPr txBox="1"/>
          <p:nvPr/>
        </p:nvSpPr>
        <p:spPr>
          <a:xfrm>
            <a:off x="786384" y="421081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2" name="Text 18"/>
          <p:cNvSpPr/>
          <p:nvPr/>
        </p:nvSpPr>
        <p:spPr>
          <a:xfrm>
            <a:off x="1463040" y="405993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Backwards from 20</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Much harder. This proves you know the words, not just the order.</a:t>
            </a:r>
            <a:endParaRPr lang="en-US" sz="2100" dirty="0"/>
          </a:p>
        </p:txBody>
      </p:sp>
      <p:sp>
        <p:nvSpPr>
          <p:cNvPr id="23" name="Shape 19"/>
          <p:cNvSpPr/>
          <p:nvPr/>
        </p:nvSpPr>
        <p:spPr>
          <a:xfrm>
            <a:off x="548640" y="5038344"/>
            <a:ext cx="11094415" cy="905256"/>
          </a:xfrm>
          <a:prstGeom prst="roundRect">
            <a:avLst>
              <a:gd name="adj" fmla="val 14141"/>
            </a:avLst>
          </a:prstGeom>
          <a:solidFill>
            <a:srgbClr val="F6F9F7"/>
          </a:solidFill>
          <a:ln w="12700">
            <a:solidFill>
              <a:srgbClr val="E3E9E5"/>
            </a:solidFill>
            <a:prstDash val="solid"/>
          </a:ln>
        </p:spPr>
      </p:sp>
      <p:sp>
        <p:nvSpPr>
          <p:cNvPr id="24" name="Shape 20"/>
          <p:cNvSpPr/>
          <p:nvPr/>
        </p:nvSpPr>
        <p:spPr>
          <a:xfrm>
            <a:off x="786384" y="5262372"/>
            <a:ext cx="457200" cy="457200"/>
          </a:xfrm>
          <a:prstGeom prst="ellipse">
            <a:avLst/>
          </a:prstGeom>
          <a:solidFill>
            <a:srgbClr val="E4572E"/>
          </a:solidFill>
          <a:ln/>
        </p:spPr>
      </p:sp>
      <p:sp>
        <p:nvSpPr>
          <p:cNvPr id="25" name="Text 21"/>
          <p:cNvSpPr txBox="1"/>
          <p:nvPr/>
        </p:nvSpPr>
        <p:spPr>
          <a:xfrm>
            <a:off x="786384" y="526237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t>
            </a:r>
            <a:endParaRPr lang="en-US" sz="1300" dirty="0"/>
          </a:p>
        </p:txBody>
      </p:sp>
      <p:sp>
        <p:nvSpPr>
          <p:cNvPr id="26" name="Text 22"/>
          <p:cNvSpPr/>
          <p:nvPr/>
        </p:nvSpPr>
        <p:spPr>
          <a:xfrm>
            <a:off x="1463040" y="511149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Random numbers</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The teacher writes a number on the board. You say it. No thinking time.</a:t>
            </a:r>
            <a:endParaRPr lang="en-US" sz="2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Activity 2 — say your phone number</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In pairs. Speaker says, partner writes.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2 — Numbers, Time &amp; Money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32</a:t>
            </a:r>
            <a:endParaRPr lang="en-US" sz="1100" dirty="0"/>
          </a:p>
        </p:txBody>
      </p:sp>
      <p:sp>
        <p:nvSpPr>
          <p:cNvPr id="11" name="Shape 7"/>
          <p:cNvSpPr/>
          <p:nvPr/>
        </p:nvSpPr>
        <p:spPr>
          <a:xfrm>
            <a:off x="548640" y="1883664"/>
            <a:ext cx="11094415" cy="905256"/>
          </a:xfrm>
          <a:prstGeom prst="roundRect">
            <a:avLst>
              <a:gd name="adj" fmla="val 14141"/>
            </a:avLst>
          </a:prstGeom>
          <a:solidFill>
            <a:srgbClr val="F6F9F7"/>
          </a:solidFill>
          <a:ln w="12700">
            <a:solidFill>
              <a:srgbClr val="E3E9E5"/>
            </a:solidFill>
            <a:prstDash val="solid"/>
          </a:ln>
        </p:spPr>
      </p:sp>
      <p:sp>
        <p:nvSpPr>
          <p:cNvPr id="12" name="Shape 8"/>
          <p:cNvSpPr/>
          <p:nvPr/>
        </p:nvSpPr>
        <p:spPr>
          <a:xfrm>
            <a:off x="786384" y="2107692"/>
            <a:ext cx="457200" cy="457200"/>
          </a:xfrm>
          <a:prstGeom prst="ellipse">
            <a:avLst/>
          </a:prstGeom>
          <a:solidFill>
            <a:srgbClr val="E4572E"/>
          </a:solidFill>
          <a:ln/>
        </p:spPr>
      </p:sp>
      <p:sp>
        <p:nvSpPr>
          <p:cNvPr id="13" name="Text 9"/>
          <p:cNvSpPr txBox="1"/>
          <p:nvPr/>
        </p:nvSpPr>
        <p:spPr>
          <a:xfrm>
            <a:off x="786384" y="210769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Say each digit separately</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0912 345 678 → “oh nine one two, three four five, six seven eight.”</a:t>
            </a:r>
            <a:endParaRPr lang="en-US" sz="2100" dirty="0"/>
          </a:p>
        </p:txBody>
      </p:sp>
      <p:sp>
        <p:nvSpPr>
          <p:cNvPr id="15" name="Shape 11"/>
          <p:cNvSpPr/>
          <p:nvPr/>
        </p:nvSpPr>
        <p:spPr>
          <a:xfrm>
            <a:off x="548640" y="2935224"/>
            <a:ext cx="11094415" cy="905256"/>
          </a:xfrm>
          <a:prstGeom prst="roundRect">
            <a:avLst>
              <a:gd name="adj" fmla="val 14141"/>
            </a:avLst>
          </a:prstGeom>
          <a:solidFill>
            <a:srgbClr val="F6F9F7"/>
          </a:solidFill>
          <a:ln w="12700">
            <a:solidFill>
              <a:srgbClr val="E3E9E5"/>
            </a:solidFill>
            <a:prstDash val="solid"/>
          </a:ln>
        </p:spPr>
      </p:sp>
      <p:sp>
        <p:nvSpPr>
          <p:cNvPr id="16" name="Shape 12"/>
          <p:cNvSpPr/>
          <p:nvPr/>
        </p:nvSpPr>
        <p:spPr>
          <a:xfrm>
            <a:off x="786384" y="3159252"/>
            <a:ext cx="457200" cy="457200"/>
          </a:xfrm>
          <a:prstGeom prst="ellipse">
            <a:avLst/>
          </a:prstGeom>
          <a:solidFill>
            <a:srgbClr val="E4572E"/>
          </a:solidFill>
          <a:ln/>
        </p:spPr>
      </p:sp>
      <p:sp>
        <p:nvSpPr>
          <p:cNvPr id="17" name="Text 13"/>
          <p:cNvSpPr txBox="1"/>
          <p:nvPr/>
        </p:nvSpPr>
        <p:spPr>
          <a:xfrm>
            <a:off x="786384" y="315925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300837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Pause in groups</a:t>
            </a:r>
            <a:endParaRPr lang="en-US" sz="2000" dirty="0"/>
          </a:p>
          <a:p>
            <a:pPr indent="0" marL="0">
              <a:lnSpc>
                <a:spcPct val="102000"/>
              </a:lnSpc>
              <a:spcBef>
                <a:spcPts val="286"/>
              </a:spcBef>
              <a:buNone/>
            </a:pPr>
            <a:r>
              <a:rPr lang="en-US" sz="1520" dirty="0">
                <a:solidFill>
                  <a:srgbClr val="3A473F"/>
                </a:solidFill>
                <a:latin typeface="Calibri" pitchFamily="34" charset="0"/>
                <a:ea typeface="Calibri" pitchFamily="34" charset="-122"/>
                <a:cs typeface="Calibri" pitchFamily="34" charset="-120"/>
              </a:rPr>
              <a:t>Group the digits and pause between groups. It helps the listener enormously.</a:t>
            </a:r>
            <a:endParaRPr lang="en-US" sz="2000" dirty="0"/>
          </a:p>
        </p:txBody>
      </p:sp>
      <p:sp>
        <p:nvSpPr>
          <p:cNvPr id="19" name="Shape 15"/>
          <p:cNvSpPr/>
          <p:nvPr/>
        </p:nvSpPr>
        <p:spPr>
          <a:xfrm>
            <a:off x="548640" y="3986784"/>
            <a:ext cx="11094415" cy="905256"/>
          </a:xfrm>
          <a:prstGeom prst="roundRect">
            <a:avLst>
              <a:gd name="adj" fmla="val 14141"/>
            </a:avLst>
          </a:prstGeom>
          <a:solidFill>
            <a:srgbClr val="F6F9F7"/>
          </a:solidFill>
          <a:ln w="12700">
            <a:solidFill>
              <a:srgbClr val="E3E9E5"/>
            </a:solidFill>
            <a:prstDash val="solid"/>
          </a:ln>
        </p:spPr>
      </p:sp>
      <p:sp>
        <p:nvSpPr>
          <p:cNvPr id="20" name="Shape 16"/>
          <p:cNvSpPr/>
          <p:nvPr/>
        </p:nvSpPr>
        <p:spPr>
          <a:xfrm>
            <a:off x="786384" y="4210812"/>
            <a:ext cx="457200" cy="457200"/>
          </a:xfrm>
          <a:prstGeom prst="ellipse">
            <a:avLst/>
          </a:prstGeom>
          <a:solidFill>
            <a:srgbClr val="E4572E"/>
          </a:solidFill>
          <a:ln/>
        </p:spPr>
      </p:sp>
      <p:sp>
        <p:nvSpPr>
          <p:cNvPr id="21" name="Text 17"/>
          <p:cNvSpPr txBox="1"/>
          <p:nvPr/>
        </p:nvSpPr>
        <p:spPr>
          <a:xfrm>
            <a:off x="786384" y="421081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405993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Your partner writes it down</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Then they read it back to you. Is it correct?</a:t>
            </a:r>
            <a:endParaRPr lang="en-US" sz="2100" dirty="0"/>
          </a:p>
        </p:txBody>
      </p:sp>
      <p:sp>
        <p:nvSpPr>
          <p:cNvPr id="23" name="Shape 19"/>
          <p:cNvSpPr/>
          <p:nvPr/>
        </p:nvSpPr>
        <p:spPr>
          <a:xfrm>
            <a:off x="548640" y="5038344"/>
            <a:ext cx="11094415" cy="905256"/>
          </a:xfrm>
          <a:prstGeom prst="roundRect">
            <a:avLst>
              <a:gd name="adj" fmla="val 14141"/>
            </a:avLst>
          </a:prstGeom>
          <a:solidFill>
            <a:srgbClr val="F6F9F7"/>
          </a:solidFill>
          <a:ln w="12700">
            <a:solidFill>
              <a:srgbClr val="E3E9E5"/>
            </a:solidFill>
            <a:prstDash val="solid"/>
          </a:ln>
        </p:spPr>
      </p:sp>
      <p:sp>
        <p:nvSpPr>
          <p:cNvPr id="24" name="Shape 20"/>
          <p:cNvSpPr/>
          <p:nvPr/>
        </p:nvSpPr>
        <p:spPr>
          <a:xfrm>
            <a:off x="786384" y="5262372"/>
            <a:ext cx="457200" cy="457200"/>
          </a:xfrm>
          <a:prstGeom prst="ellipse">
            <a:avLst/>
          </a:prstGeom>
          <a:solidFill>
            <a:srgbClr val="E4572E"/>
          </a:solidFill>
          <a:ln/>
        </p:spPr>
      </p:sp>
      <p:sp>
        <p:nvSpPr>
          <p:cNvPr id="25" name="Text 21"/>
          <p:cNvSpPr txBox="1"/>
          <p:nvPr/>
        </p:nvSpPr>
        <p:spPr>
          <a:xfrm>
            <a:off x="786384" y="526237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511149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Swap roles and repeat</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Now you write and your partner speaks.</a:t>
            </a:r>
            <a:endParaRPr lang="en-US" sz="2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Stress drill — the teen/ty pair</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 most valuable two minutes in this whole module. Say each pair five times.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2 — Numbers, Time &amp; Money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33</a:t>
            </a:r>
            <a:endParaRPr lang="en-US" sz="1100" dirty="0"/>
          </a:p>
        </p:txBody>
      </p:sp>
      <p:sp>
        <p:nvSpPr>
          <p:cNvPr id="11" name="Shape 7"/>
          <p:cNvSpPr/>
          <p:nvPr/>
        </p:nvSpPr>
        <p:spPr>
          <a:xfrm>
            <a:off x="548640" y="1883664"/>
            <a:ext cx="5410048" cy="3273552"/>
          </a:xfrm>
          <a:prstGeom prst="roundRect">
            <a:avLst>
              <a:gd name="adj" fmla="val 3911"/>
            </a:avLst>
          </a:prstGeom>
          <a:solidFill>
            <a:srgbClr val="E6F5EC"/>
          </a:solidFill>
          <a:ln w="15875">
            <a:solidFill>
              <a:srgbClr val="2E9E5B"/>
            </a:solidFill>
            <a:prstDash val="solid"/>
          </a:ln>
        </p:spPr>
      </p:sp>
      <p:sp>
        <p:nvSpPr>
          <p:cNvPr id="12" name="Shape 8"/>
          <p:cNvSpPr/>
          <p:nvPr/>
        </p:nvSpPr>
        <p:spPr>
          <a:xfrm>
            <a:off x="786384" y="2103120"/>
            <a:ext cx="420624" cy="420624"/>
          </a:xfrm>
          <a:prstGeom prst="ellipse">
            <a:avLst/>
          </a:prstGeom>
          <a:solidFill>
            <a:srgbClr val="2E9E5B"/>
          </a:solidFill>
          <a:ln/>
        </p:spPr>
      </p:sp>
      <p:pic>
        <p:nvPicPr>
          <p:cNvPr id="13" name="Image 1" descr="preencoded.png">    </p:cNvPr>
          <p:cNvPicPr>
            <a:picLocks noChangeAspect="1"/>
          </p:cNvPicPr>
          <p:nvPr/>
        </p:nvPicPr>
        <p:blipFill>
          <a:blip r:embed="rId2"/>
          <a:stretch>
            <a:fillRect/>
          </a:stretch>
        </p:blipFill>
        <p:spPr>
          <a:xfrm>
            <a:off x="891540" y="2208276"/>
            <a:ext cx="210312" cy="210312"/>
          </a:xfrm>
          <a:prstGeom prst="rect">
            <a:avLst/>
          </a:prstGeom>
        </p:spPr>
      </p:pic>
      <p:sp>
        <p:nvSpPr>
          <p:cNvPr id="14" name="Text 9"/>
          <p:cNvSpPr txBox="1"/>
          <p:nvPr/>
        </p:nvSpPr>
        <p:spPr>
          <a:xfrm>
            <a:off x="1335024" y="2103120"/>
            <a:ext cx="4404208" cy="420624"/>
          </a:xfrm>
          <a:prstGeom prst="rect">
            <a:avLst/>
          </a:prstGeom>
          <a:noFill/>
          <a:ln/>
        </p:spPr>
        <p:txBody>
          <a:bodyPr wrap="square" lIns="0" tIns="0" rIns="0" bIns="0" rtlCol="0" anchor="ctr"/>
          <a:lstStyle/>
          <a:p>
            <a:pPr indent="0" marL="0">
              <a:buNone/>
            </a:pPr>
            <a:r>
              <a:rPr lang="en-US" sz="2000" b="1" dirty="0">
                <a:solidFill>
                  <a:srgbClr val="2E9E5B"/>
                </a:solidFill>
                <a:latin typeface="Calibri" pitchFamily="34" charset="0"/>
                <a:ea typeface="Calibri" pitchFamily="34" charset="-122"/>
                <a:cs typeface="Calibri" pitchFamily="34" charset="-120"/>
              </a:rPr>
              <a:t>-TEEN — stress at the END</a:t>
            </a:r>
            <a:endParaRPr lang="en-US" sz="2000" dirty="0"/>
          </a:p>
        </p:txBody>
      </p:sp>
      <p:sp>
        <p:nvSpPr>
          <p:cNvPr id="15" name="Text 10"/>
          <p:cNvSpPr/>
          <p:nvPr/>
        </p:nvSpPr>
        <p:spPr>
          <a:xfrm>
            <a:off x="822960"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thir-TEEN  (13)</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four-TEEN  (14)</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fif-TEEN  (15)</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eigh-TEEN  (18)</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nine-TEEN  (19)</a:t>
            </a:r>
            <a:endParaRPr lang="en-US" sz="1900" dirty="0"/>
          </a:p>
        </p:txBody>
      </p:sp>
      <p:sp>
        <p:nvSpPr>
          <p:cNvPr id="16" name="Shape 11"/>
          <p:cNvSpPr/>
          <p:nvPr/>
        </p:nvSpPr>
        <p:spPr>
          <a:xfrm>
            <a:off x="6233008" y="1883664"/>
            <a:ext cx="5410048" cy="3273552"/>
          </a:xfrm>
          <a:prstGeom prst="roundRect">
            <a:avLst>
              <a:gd name="adj" fmla="val 3911"/>
            </a:avLst>
          </a:prstGeom>
          <a:solidFill>
            <a:srgbClr val="FBEAEA"/>
          </a:solidFill>
          <a:ln w="15875">
            <a:solidFill>
              <a:srgbClr val="D64545"/>
            </a:solidFill>
            <a:prstDash val="solid"/>
          </a:ln>
        </p:spPr>
      </p:sp>
      <p:sp>
        <p:nvSpPr>
          <p:cNvPr id="17" name="Shape 12"/>
          <p:cNvSpPr/>
          <p:nvPr/>
        </p:nvSpPr>
        <p:spPr>
          <a:xfrm>
            <a:off x="6470752" y="2103120"/>
            <a:ext cx="420624" cy="420624"/>
          </a:xfrm>
          <a:prstGeom prst="ellipse">
            <a:avLst/>
          </a:prstGeom>
          <a:solidFill>
            <a:srgbClr val="D64545"/>
          </a:solidFill>
          <a:ln/>
        </p:spPr>
      </p:sp>
      <p:pic>
        <p:nvPicPr>
          <p:cNvPr id="18" name="Image 2" descr="preencoded.png">    </p:cNvPr>
          <p:cNvPicPr>
            <a:picLocks noChangeAspect="1"/>
          </p:cNvPicPr>
          <p:nvPr/>
        </p:nvPicPr>
        <p:blipFill>
          <a:blip r:embed="rId3"/>
          <a:stretch>
            <a:fillRect/>
          </a:stretch>
        </p:blipFill>
        <p:spPr>
          <a:xfrm>
            <a:off x="6575908" y="2208276"/>
            <a:ext cx="210312" cy="210312"/>
          </a:xfrm>
          <a:prstGeom prst="rect">
            <a:avLst/>
          </a:prstGeom>
        </p:spPr>
      </p:pic>
      <p:sp>
        <p:nvSpPr>
          <p:cNvPr id="19" name="Text 13"/>
          <p:cNvSpPr txBox="1"/>
          <p:nvPr/>
        </p:nvSpPr>
        <p:spPr>
          <a:xfrm>
            <a:off x="7019392" y="2103120"/>
            <a:ext cx="4404208" cy="420624"/>
          </a:xfrm>
          <a:prstGeom prst="rect">
            <a:avLst/>
          </a:prstGeom>
          <a:noFill/>
          <a:ln/>
        </p:spPr>
        <p:txBody>
          <a:bodyPr wrap="square" lIns="0" tIns="0" rIns="0" bIns="0" rtlCol="0" anchor="ctr"/>
          <a:lstStyle/>
          <a:p>
            <a:pPr indent="0" marL="0">
              <a:buNone/>
            </a:pPr>
            <a:r>
              <a:rPr lang="en-US" sz="2000" b="1" dirty="0">
                <a:solidFill>
                  <a:srgbClr val="D64545"/>
                </a:solidFill>
                <a:latin typeface="Calibri" pitchFamily="34" charset="0"/>
                <a:ea typeface="Calibri" pitchFamily="34" charset="-122"/>
                <a:cs typeface="Calibri" pitchFamily="34" charset="-120"/>
              </a:rPr>
              <a:t>-TY — stress at the START</a:t>
            </a:r>
            <a:endParaRPr lang="en-US" sz="2000" dirty="0"/>
          </a:p>
        </p:txBody>
      </p:sp>
      <p:sp>
        <p:nvSpPr>
          <p:cNvPr id="20" name="Text 14"/>
          <p:cNvSpPr/>
          <p:nvPr/>
        </p:nvSpPr>
        <p:spPr>
          <a:xfrm>
            <a:off x="6507328"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THIR-ty  (30)</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FOR-ty  (40)</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FIF-ty  (50)</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EIGH-ty  (80)</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NINE-ty  (90)</a:t>
            </a:r>
            <a:endParaRPr lang="en-US" sz="1900" dirty="0"/>
          </a:p>
        </p:txBody>
      </p:sp>
      <p:sp>
        <p:nvSpPr>
          <p:cNvPr id="21" name="Shape 15"/>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22" name="Text 16"/>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Clap on the stressed part. “thir-CLAP-teen”  ·  “CLAP-thir-ty”. Your hand teaches your mouth.</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Activity 4 — times and prices out loud</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Work in pairs. One minute per task.</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2 — Numbers, Time &amp; Money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34</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02536"/>
            <a:ext cx="457200" cy="457200"/>
          </a:xfrm>
          <a:prstGeom prst="ellipse">
            <a:avLst/>
          </a:prstGeom>
          <a:solidFill>
            <a:srgbClr val="E4572E"/>
          </a:solidFill>
          <a:ln/>
        </p:spPr>
      </p:sp>
      <p:sp>
        <p:nvSpPr>
          <p:cNvPr id="13" name="Text 9"/>
          <p:cNvSpPr txBox="1"/>
          <p:nvPr/>
        </p:nvSpPr>
        <p:spPr>
          <a:xfrm>
            <a:off x="786384" y="200253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Say five times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6:00 · 8:30 · 10:15 · 2:45 · 12:00 — in full sentences: “It is six o'clock.”</a:t>
            </a:r>
            <a:endParaRPr lang="en-US" sz="1600" dirty="0"/>
          </a:p>
        </p:txBody>
      </p:sp>
      <p:sp>
        <p:nvSpPr>
          <p:cNvPr id="15" name="Shape 11"/>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2"/>
          <p:cNvSpPr/>
          <p:nvPr/>
        </p:nvSpPr>
        <p:spPr>
          <a:xfrm>
            <a:off x="786384" y="2843784"/>
            <a:ext cx="457200" cy="457200"/>
          </a:xfrm>
          <a:prstGeom prst="ellipse">
            <a:avLst/>
          </a:prstGeom>
          <a:solidFill>
            <a:srgbClr val="E4572E"/>
          </a:solidFill>
          <a:ln/>
        </p:spPr>
      </p:sp>
      <p:sp>
        <p:nvSpPr>
          <p:cNvPr id="17" name="Text 13"/>
          <p:cNvSpPr txBox="1"/>
          <p:nvPr/>
        </p:nvSpPr>
        <p:spPr>
          <a:xfrm>
            <a:off x="786384" y="284378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Say five prices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15 birr · 50 birr · 13 birr · 30 birr · 100 birr. Check your stress.</a:t>
            </a:r>
            <a:endParaRPr lang="en-US" sz="1600" dirty="0"/>
          </a:p>
        </p:txBody>
      </p:sp>
      <p:sp>
        <p:nvSpPr>
          <p:cNvPr id="19" name="Shape 15"/>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6"/>
          <p:cNvSpPr/>
          <p:nvPr/>
        </p:nvSpPr>
        <p:spPr>
          <a:xfrm>
            <a:off x="786384" y="3685032"/>
            <a:ext cx="457200" cy="457200"/>
          </a:xfrm>
          <a:prstGeom prst="ellipse">
            <a:avLst/>
          </a:prstGeom>
          <a:solidFill>
            <a:srgbClr val="E4572E"/>
          </a:solidFill>
          <a:ln/>
        </p:spPr>
      </p:sp>
      <p:sp>
        <p:nvSpPr>
          <p:cNvPr id="21" name="Text 17"/>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Ask your partner three questions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“What time is it?”  “How much is your bag?”  “What day is it today?”</a:t>
            </a:r>
            <a:endParaRPr lang="en-US" sz="1600" dirty="0"/>
          </a:p>
        </p:txBody>
      </p:sp>
      <p:sp>
        <p:nvSpPr>
          <p:cNvPr id="23" name="Shape 19"/>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20"/>
          <p:cNvSpPr/>
          <p:nvPr/>
        </p:nvSpPr>
        <p:spPr>
          <a:xfrm>
            <a:off x="786384" y="4526280"/>
            <a:ext cx="457200" cy="457200"/>
          </a:xfrm>
          <a:prstGeom prst="ellipse">
            <a:avLst/>
          </a:prstGeom>
          <a:solidFill>
            <a:srgbClr val="E4572E"/>
          </a:solidFill>
          <a:ln/>
        </p:spPr>
      </p:sp>
      <p:sp>
        <p:nvSpPr>
          <p:cNvPr id="25" name="Text 21"/>
          <p:cNvSpPr txBox="1"/>
          <p:nvPr/>
        </p:nvSpPr>
        <p:spPr>
          <a:xfrm>
            <a:off x="786384" y="45262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Say your daily times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“I wake up at ______. I start work at ______. I go home at ______.”</a:t>
            </a:r>
            <a:endParaRPr lang="en-US" sz="1600" dirty="0"/>
          </a:p>
        </p:txBody>
      </p:sp>
      <p:sp>
        <p:nvSpPr>
          <p:cNvPr id="27" name="Shape 23"/>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4"/>
          <p:cNvSpPr/>
          <p:nvPr/>
        </p:nvSpPr>
        <p:spPr>
          <a:xfrm>
            <a:off x="786384" y="5367528"/>
            <a:ext cx="457200" cy="457200"/>
          </a:xfrm>
          <a:prstGeom prst="ellipse">
            <a:avLst/>
          </a:prstGeom>
          <a:solidFill>
            <a:srgbClr val="E4572E"/>
          </a:solidFill>
          <a:ln/>
        </p:spPr>
      </p:sp>
      <p:sp>
        <p:nvSpPr>
          <p:cNvPr id="29" name="Text 25"/>
          <p:cNvSpPr txBox="1"/>
          <p:nvPr/>
        </p:nvSpPr>
        <p:spPr>
          <a:xfrm>
            <a:off x="786384" y="53675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0" name="Text 26"/>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Say three dates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“My birthday is in ______.”  “The exam is on ______.”</a:t>
            </a:r>
            <a:endParaRPr lang="en-US" sz="1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Speaking challenge — record yourself</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40 seconds. Everyone does this. It is the main speaking task of the module.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2 — Numbers, Time &amp; Money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35</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02536"/>
            <a:ext cx="457200" cy="457200"/>
          </a:xfrm>
          <a:prstGeom prst="ellipse">
            <a:avLst/>
          </a:prstGeom>
          <a:solidFill>
            <a:srgbClr val="E4572E"/>
          </a:solidFill>
          <a:ln/>
        </p:spPr>
      </p:sp>
      <p:sp>
        <p:nvSpPr>
          <p:cNvPr id="13" name="Text 9"/>
          <p:cNvSpPr txBox="1"/>
          <p:nvPr/>
        </p:nvSpPr>
        <p:spPr>
          <a:xfrm>
            <a:off x="786384" y="200253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Say the time now</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“It is ______ o'clock.” or “It is half past ______.”</a:t>
            </a:r>
            <a:endParaRPr lang="en-US" sz="1600" dirty="0"/>
          </a:p>
        </p:txBody>
      </p:sp>
      <p:sp>
        <p:nvSpPr>
          <p:cNvPr id="15" name="Shape 11"/>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2"/>
          <p:cNvSpPr/>
          <p:nvPr/>
        </p:nvSpPr>
        <p:spPr>
          <a:xfrm>
            <a:off x="786384" y="2843784"/>
            <a:ext cx="457200" cy="457200"/>
          </a:xfrm>
          <a:prstGeom prst="ellipse">
            <a:avLst/>
          </a:prstGeom>
          <a:solidFill>
            <a:srgbClr val="E4572E"/>
          </a:solidFill>
          <a:ln/>
        </p:spPr>
      </p:sp>
      <p:sp>
        <p:nvSpPr>
          <p:cNvPr id="17" name="Text 13"/>
          <p:cNvSpPr txBox="1"/>
          <p:nvPr/>
        </p:nvSpPr>
        <p:spPr>
          <a:xfrm>
            <a:off x="786384" y="284378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Say today's day and month</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“Today is ______. It is ______.”</a:t>
            </a:r>
            <a:endParaRPr lang="en-US" sz="1600" dirty="0"/>
          </a:p>
        </p:txBody>
      </p:sp>
      <p:sp>
        <p:nvSpPr>
          <p:cNvPr id="19" name="Shape 15"/>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6"/>
          <p:cNvSpPr/>
          <p:nvPr/>
        </p:nvSpPr>
        <p:spPr>
          <a:xfrm>
            <a:off x="786384" y="3685032"/>
            <a:ext cx="457200" cy="457200"/>
          </a:xfrm>
          <a:prstGeom prst="ellipse">
            <a:avLst/>
          </a:prstGeom>
          <a:solidFill>
            <a:srgbClr val="E4572E"/>
          </a:solidFill>
          <a:ln/>
        </p:spPr>
      </p:sp>
      <p:sp>
        <p:nvSpPr>
          <p:cNvPr id="21" name="Text 17"/>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Count from 10 to 20</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Clearly, without stopping.</a:t>
            </a:r>
            <a:endParaRPr lang="en-US" sz="1600" dirty="0"/>
          </a:p>
        </p:txBody>
      </p:sp>
      <p:sp>
        <p:nvSpPr>
          <p:cNvPr id="23" name="Shape 19"/>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20"/>
          <p:cNvSpPr/>
          <p:nvPr/>
        </p:nvSpPr>
        <p:spPr>
          <a:xfrm>
            <a:off x="786384" y="4526280"/>
            <a:ext cx="457200" cy="457200"/>
          </a:xfrm>
          <a:prstGeom prst="ellipse">
            <a:avLst/>
          </a:prstGeom>
          <a:solidFill>
            <a:srgbClr val="E4572E"/>
          </a:solidFill>
          <a:ln/>
        </p:spPr>
      </p:sp>
      <p:sp>
        <p:nvSpPr>
          <p:cNvPr id="25" name="Text 21"/>
          <p:cNvSpPr txBox="1"/>
          <p:nvPr/>
        </p:nvSpPr>
        <p:spPr>
          <a:xfrm>
            <a:off x="786384" y="45262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Say your phone number</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Digit by digit, with pauses between groups.</a:t>
            </a:r>
            <a:endParaRPr lang="en-US" sz="1600" dirty="0"/>
          </a:p>
        </p:txBody>
      </p:sp>
      <p:sp>
        <p:nvSpPr>
          <p:cNvPr id="27" name="Shape 23"/>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4"/>
          <p:cNvSpPr/>
          <p:nvPr/>
        </p:nvSpPr>
        <p:spPr>
          <a:xfrm>
            <a:off x="786384" y="5367528"/>
            <a:ext cx="457200" cy="457200"/>
          </a:xfrm>
          <a:prstGeom prst="ellipse">
            <a:avLst/>
          </a:prstGeom>
          <a:solidFill>
            <a:srgbClr val="E4572E"/>
          </a:solidFill>
          <a:ln/>
        </p:spPr>
      </p:sp>
      <p:sp>
        <p:nvSpPr>
          <p:cNvPr id="29" name="Text 25"/>
          <p:cNvSpPr txBox="1"/>
          <p:nvPr/>
        </p:nvSpPr>
        <p:spPr>
          <a:xfrm>
            <a:off x="786384" y="53675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0" name="Text 26"/>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Say a price</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“This bag is ______ birr.”  Choose a number between 13 and 90.</a:t>
            </a:r>
            <a:endParaRPr lang="en-US" sz="1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0312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60934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Listening 1 — numbers and prices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Listen twice. Write the number you hear.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2 — Numbers, Time &amp; Money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36</a:t>
            </a:r>
            <a:endParaRPr lang="en-US" sz="1100" dirty="0"/>
          </a:p>
        </p:txBody>
      </p:sp>
      <p:sp>
        <p:nvSpPr>
          <p:cNvPr id="11" name="Shape 7"/>
          <p:cNvSpPr/>
          <p:nvPr/>
        </p:nvSpPr>
        <p:spPr>
          <a:xfrm>
            <a:off x="548640" y="1883664"/>
            <a:ext cx="6766560" cy="4059936"/>
          </a:xfrm>
          <a:prstGeom prst="roundRect">
            <a:avLst>
              <a:gd name="adj" fmla="val 3153"/>
            </a:avLst>
          </a:prstGeom>
          <a:solidFill>
            <a:srgbClr val="E8F6F6"/>
          </a:solidFill>
          <a:ln w="15875">
            <a:solidFill>
              <a:srgbClr val="1FA3A3"/>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217920" cy="274320"/>
          </a:xfrm>
          <a:prstGeom prst="rect">
            <a:avLst/>
          </a:prstGeom>
          <a:noFill/>
          <a:ln/>
        </p:spPr>
        <p:txBody>
          <a:bodyPr wrap="square" lIns="0" tIns="0" rIns="0" bIns="0" rtlCol="0" anchor="ctr"/>
          <a:lstStyle/>
          <a:p>
            <a:pPr indent="0" marL="0">
              <a:buNone/>
            </a:pPr>
            <a:r>
              <a:rPr lang="en-US" sz="1200" b="1" spc="120" kern="0" dirty="0">
                <a:solidFill>
                  <a:srgbClr val="1FA3A3"/>
                </a:solidFill>
                <a:latin typeface="Calibri" pitchFamily="34" charset="0"/>
                <a:ea typeface="Calibri" pitchFamily="34" charset="-122"/>
                <a:cs typeface="Calibri" pitchFamily="34" charset="-120"/>
              </a:rPr>
              <a:t>AUDIO SCRIPT — TEACHER READS ALOUD</a:t>
            </a:r>
            <a:endParaRPr lang="en-US" sz="1200" dirty="0"/>
          </a:p>
        </p:txBody>
      </p:sp>
      <p:sp>
        <p:nvSpPr>
          <p:cNvPr id="13" name="Text 9"/>
          <p:cNvSpPr txBox="1"/>
          <p:nvPr/>
        </p:nvSpPr>
        <p:spPr>
          <a:xfrm>
            <a:off x="822960" y="2487168"/>
            <a:ext cx="6217920" cy="3218688"/>
          </a:xfrm>
          <a:prstGeom prst="rect">
            <a:avLst/>
          </a:prstGeom>
          <a:noFill/>
          <a:ln/>
        </p:spPr>
        <p:txBody>
          <a:bodyPr wrap="square" lIns="0" tIns="0" rIns="0" bIns="0" rtlCol="0" anchor="ctr"/>
          <a:lstStyle/>
          <a:p>
            <a:pPr indent="0" marL="0">
              <a:lnSpc>
                <a:spcPct val="140000"/>
              </a:lnSpc>
              <a:buNone/>
            </a:pPr>
            <a:r>
              <a:rPr lang="en-US" sz="1900" dirty="0">
                <a:solidFill>
                  <a:srgbClr val="12211B"/>
                </a:solidFill>
                <a:latin typeface="Calibri" pitchFamily="34" charset="0"/>
                <a:ea typeface="Calibri" pitchFamily="34" charset="-122"/>
                <a:cs typeface="Calibri" pitchFamily="34" charset="-120"/>
              </a:rPr>
              <a:t>1.  “It is fifteen birr.”</a:t>
            </a:r>
            <a:endParaRPr lang="en-US" sz="1900" dirty="0"/>
          </a:p>
          <a:p>
            <a:pPr indent="0" marL="0">
              <a:lnSpc>
                <a:spcPct val="140000"/>
              </a:lnSpc>
              <a:buNone/>
            </a:pPr>
            <a:r>
              <a:rPr lang="en-US" sz="1900" dirty="0">
                <a:solidFill>
                  <a:srgbClr val="12211B"/>
                </a:solidFill>
                <a:latin typeface="Calibri" pitchFamily="34" charset="0"/>
                <a:ea typeface="Calibri" pitchFamily="34" charset="-122"/>
                <a:cs typeface="Calibri" pitchFamily="34" charset="-120"/>
              </a:rPr>
              <a:t>2.  “It is fifty birr.”</a:t>
            </a:r>
            <a:endParaRPr lang="en-US" sz="1900" dirty="0"/>
          </a:p>
          <a:p>
            <a:pPr indent="0" marL="0">
              <a:lnSpc>
                <a:spcPct val="140000"/>
              </a:lnSpc>
              <a:buNone/>
            </a:pPr>
            <a:r>
              <a:rPr lang="en-US" sz="1900" dirty="0">
                <a:solidFill>
                  <a:srgbClr val="12211B"/>
                </a:solidFill>
                <a:latin typeface="Calibri" pitchFamily="34" charset="0"/>
                <a:ea typeface="Calibri" pitchFamily="34" charset="-122"/>
                <a:cs typeface="Calibri" pitchFamily="34" charset="-120"/>
              </a:rPr>
              <a:t>3.  “I am nineteen years old.”</a:t>
            </a:r>
            <a:endParaRPr lang="en-US" sz="1900" dirty="0"/>
          </a:p>
          <a:p>
            <a:pPr indent="0" marL="0">
              <a:lnSpc>
                <a:spcPct val="140000"/>
              </a:lnSpc>
              <a:buNone/>
            </a:pPr>
            <a:r>
              <a:rPr lang="en-US" sz="1900" dirty="0">
                <a:solidFill>
                  <a:srgbClr val="12211B"/>
                </a:solidFill>
                <a:latin typeface="Calibri" pitchFamily="34" charset="0"/>
                <a:ea typeface="Calibri" pitchFamily="34" charset="-122"/>
                <a:cs typeface="Calibri" pitchFamily="34" charset="-120"/>
              </a:rPr>
              <a:t>4.  “There are ninety students.”</a:t>
            </a:r>
            <a:endParaRPr lang="en-US" sz="1900" dirty="0"/>
          </a:p>
          <a:p>
            <a:pPr indent="0" marL="0">
              <a:lnSpc>
                <a:spcPct val="140000"/>
              </a:lnSpc>
              <a:buNone/>
            </a:pPr>
            <a:r>
              <a:rPr lang="en-US" sz="1900" dirty="0">
                <a:solidFill>
                  <a:srgbClr val="12211B"/>
                </a:solidFill>
                <a:latin typeface="Calibri" pitchFamily="34" charset="0"/>
                <a:ea typeface="Calibri" pitchFamily="34" charset="-122"/>
                <a:cs typeface="Calibri" pitchFamily="34" charset="-120"/>
              </a:rPr>
              <a:t>5.  “The bus is number sixty-two.”</a:t>
            </a:r>
            <a:endParaRPr lang="en-US" sz="1900" dirty="0"/>
          </a:p>
          <a:p>
            <a:pPr indent="0" marL="0">
              <a:lnSpc>
                <a:spcPct val="140000"/>
              </a:lnSpc>
              <a:buNone/>
            </a:pPr>
            <a:r>
              <a:rPr lang="en-US" sz="1900" dirty="0">
                <a:solidFill>
                  <a:srgbClr val="12211B"/>
                </a:solidFill>
                <a:latin typeface="Calibri" pitchFamily="34" charset="0"/>
                <a:ea typeface="Calibri" pitchFamily="34" charset="-122"/>
                <a:cs typeface="Calibri" pitchFamily="34" charset="-120"/>
              </a:rPr>
              <a:t>6.  “My phone number is oh nine one one, two three four.”</a:t>
            </a:r>
            <a:endParaRPr lang="en-US" sz="1900" dirty="0"/>
          </a:p>
        </p:txBody>
      </p:sp>
      <p:sp>
        <p:nvSpPr>
          <p:cNvPr id="14" name="Shape 10"/>
          <p:cNvSpPr/>
          <p:nvPr/>
        </p:nvSpPr>
        <p:spPr>
          <a:xfrm>
            <a:off x="7589520" y="1883664"/>
            <a:ext cx="4053535" cy="4059936"/>
          </a:xfrm>
          <a:prstGeom prst="roundRect">
            <a:avLst>
              <a:gd name="adj" fmla="val 3158"/>
            </a:avLst>
          </a:prstGeom>
          <a:solidFill>
            <a:srgbClr val="F6F9F7"/>
          </a:solidFill>
          <a:ln w="12700">
            <a:solidFill>
              <a:srgbClr val="E3E9E5"/>
            </a:solidFill>
            <a:prstDash val="solid"/>
          </a:ln>
        </p:spPr>
      </p:sp>
      <p:sp>
        <p:nvSpPr>
          <p:cNvPr id="15" name="Text 11"/>
          <p:cNvSpPr txBox="1"/>
          <p:nvPr/>
        </p:nvSpPr>
        <p:spPr>
          <a:xfrm>
            <a:off x="7827264" y="2103120"/>
            <a:ext cx="3578047" cy="274320"/>
          </a:xfrm>
          <a:prstGeom prst="rect">
            <a:avLst/>
          </a:prstGeom>
          <a:noFill/>
          <a:ln/>
        </p:spPr>
        <p:txBody>
          <a:bodyPr wrap="square" lIns="0" tIns="0" rIns="0" bIns="0" rtlCol="0" anchor="ctr"/>
          <a:lstStyle/>
          <a:p>
            <a:pPr indent="0" marL="0">
              <a:buNone/>
            </a:pPr>
            <a:r>
              <a:rPr lang="en-US" sz="1200" b="1" spc="120" kern="0" dirty="0">
                <a:solidFill>
                  <a:srgbClr val="1FA3A3"/>
                </a:solidFill>
                <a:latin typeface="Calibri" pitchFamily="34" charset="0"/>
                <a:ea typeface="Calibri" pitchFamily="34" charset="-122"/>
                <a:cs typeface="Calibri" pitchFamily="34" charset="-120"/>
              </a:rPr>
              <a:t>YOUR TASK</a:t>
            </a:r>
            <a:endParaRPr lang="en-US" sz="1200" dirty="0"/>
          </a:p>
        </p:txBody>
      </p:sp>
      <p:sp>
        <p:nvSpPr>
          <p:cNvPr id="16" name="Text 12"/>
          <p:cNvSpPr/>
          <p:nvPr/>
        </p:nvSpPr>
        <p:spPr>
          <a:xfrm>
            <a:off x="7863840" y="2505456"/>
            <a:ext cx="350489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Write the number in figures, not in words.</a:t>
            </a:r>
            <a:endParaRPr lang="en-US" sz="1700" dirty="0"/>
          </a:p>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For number 6, write all the digits.</a:t>
            </a:r>
            <a:endParaRPr lang="en-US" sz="1700" dirty="0"/>
          </a:p>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The teacher reads each item twice, at normal speed.</a:t>
            </a:r>
            <a:endParaRPr lang="en-US" sz="1700" dirty="0"/>
          </a:p>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Listen for the STRESS in items 1 to 4 — that is what tells you which number it is.</a:t>
            </a:r>
            <a:endParaRPr lang="en-US" sz="17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58318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08940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1 · ANSWERS</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Listening 1 — answers and why</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Check your answers. Read the reason for each one.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2 — Numbers, Time &amp; Money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37</a:t>
            </a:r>
            <a:endParaRPr lang="en-US" sz="1100" dirty="0"/>
          </a:p>
        </p:txBody>
      </p:sp>
      <p:sp>
        <p:nvSpPr>
          <p:cNvPr id="11" name="Shape 7"/>
          <p:cNvSpPr/>
          <p:nvPr/>
        </p:nvSpPr>
        <p:spPr>
          <a:xfrm>
            <a:off x="548640" y="1883664"/>
            <a:ext cx="5437480"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4449928"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1 — “fifteen birr”</a:t>
            </a:r>
            <a:endParaRPr lang="en-US" sz="1100" dirty="0"/>
          </a:p>
          <a:p>
            <a:pPr indent="0" marL="0">
              <a:lnSpc>
                <a:spcPct val="102000"/>
              </a:lnSpc>
              <a:spcBef>
                <a:spcPts val="169"/>
              </a:spcBef>
              <a:buNone/>
            </a:pPr>
            <a:r>
              <a:rPr lang="en-US" sz="1520" b="1" dirty="0">
                <a:solidFill>
                  <a:srgbClr val="12211B"/>
                </a:solidFill>
                <a:latin typeface="Calibri" pitchFamily="34" charset="0"/>
                <a:ea typeface="Calibri" pitchFamily="34" charset="-122"/>
                <a:cs typeface="Calibri" pitchFamily="34" charset="-120"/>
              </a:rPr>
              <a:t>15</a:t>
            </a:r>
            <a:endParaRPr lang="en-US" sz="1100" dirty="0"/>
          </a:p>
          <a:p>
            <a:pPr indent="0" marL="0">
              <a:lnSpc>
                <a:spcPct val="102000"/>
              </a:lnSpc>
              <a:spcBef>
                <a:spcPts val="254"/>
              </a:spcBef>
              <a:buNone/>
            </a:pPr>
            <a:r>
              <a:rPr lang="en-US" sz="1180" dirty="0">
                <a:solidFill>
                  <a:srgbClr val="0A4634"/>
                </a:solidFill>
                <a:latin typeface="Calibri" pitchFamily="34" charset="0"/>
                <a:ea typeface="Calibri" pitchFamily="34" charset="-122"/>
                <a:cs typeface="Calibri" pitchFamily="34" charset="-120"/>
              </a:rPr>
              <a:t>WHY: Stress at the end: fif-TEEN. If you wrote 50 you heard the stress in the wrong place.</a:t>
            </a:r>
            <a:endParaRPr lang="en-US" sz="1100" dirty="0"/>
          </a:p>
        </p:txBody>
      </p:sp>
      <p:sp>
        <p:nvSpPr>
          <p:cNvPr id="15" name="Shape 11"/>
          <p:cNvSpPr/>
          <p:nvPr/>
        </p:nvSpPr>
        <p:spPr>
          <a:xfrm>
            <a:off x="548640" y="3276600"/>
            <a:ext cx="5437480"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4449928" cy="1164336"/>
          </a:xfrm>
          <a:prstGeom prst="rect">
            <a:avLst/>
          </a:prstGeom>
          <a:noFill/>
          <a:ln/>
        </p:spPr>
        <p:txBody>
          <a:bodyPr wrap="square" lIns="0" tIns="0" rIns="0" bIns="0" rtlCol="0" anchor="ctr"/>
          <a:lstStyle/>
          <a:p>
            <a:pPr indent="0" marL="0">
              <a:lnSpc>
                <a:spcPct val="102000"/>
              </a:lnSpc>
              <a:buNone/>
            </a:pPr>
            <a:r>
              <a:rPr lang="en-US" sz="1160" i="1" dirty="0">
                <a:solidFill>
                  <a:srgbClr val="6B7C71"/>
                </a:solidFill>
                <a:latin typeface="Calibri" pitchFamily="34" charset="0"/>
                <a:ea typeface="Calibri" pitchFamily="34" charset="-122"/>
                <a:cs typeface="Calibri" pitchFamily="34" charset="-120"/>
              </a:rPr>
              <a:t>2 — “fifty birr”</a:t>
            </a:r>
            <a:endParaRPr lang="en-US" sz="1160" dirty="0"/>
          </a:p>
          <a:p>
            <a:pPr indent="0" marL="0">
              <a:lnSpc>
                <a:spcPct val="102000"/>
              </a:lnSpc>
              <a:spcBef>
                <a:spcPts val="178"/>
              </a:spcBef>
              <a:buNone/>
            </a:pPr>
            <a:r>
              <a:rPr lang="en-US" sz="1600" b="1" dirty="0">
                <a:solidFill>
                  <a:srgbClr val="12211B"/>
                </a:solidFill>
                <a:latin typeface="Calibri" pitchFamily="34" charset="0"/>
                <a:ea typeface="Calibri" pitchFamily="34" charset="-122"/>
                <a:cs typeface="Calibri" pitchFamily="34" charset="-120"/>
              </a:rPr>
              <a:t>50</a:t>
            </a:r>
            <a:endParaRPr lang="en-US" sz="1160" dirty="0"/>
          </a:p>
          <a:p>
            <a:pPr indent="0" marL="0">
              <a:lnSpc>
                <a:spcPct val="102000"/>
              </a:lnSpc>
              <a:spcBef>
                <a:spcPts val="267"/>
              </a:spcBef>
              <a:buNone/>
            </a:pPr>
            <a:r>
              <a:rPr lang="en-US" sz="1240" dirty="0">
                <a:solidFill>
                  <a:srgbClr val="0A4634"/>
                </a:solidFill>
                <a:latin typeface="Calibri" pitchFamily="34" charset="0"/>
                <a:ea typeface="Calibri" pitchFamily="34" charset="-122"/>
                <a:cs typeface="Calibri" pitchFamily="34" charset="-120"/>
              </a:rPr>
              <a:t>WHY: Stress at the start: FIF-ty. Same first syllable as 15 — only the stress differs.</a:t>
            </a:r>
            <a:endParaRPr lang="en-US" sz="1160" dirty="0"/>
          </a:p>
        </p:txBody>
      </p:sp>
      <p:sp>
        <p:nvSpPr>
          <p:cNvPr id="19" name="Shape 15"/>
          <p:cNvSpPr/>
          <p:nvPr/>
        </p:nvSpPr>
        <p:spPr>
          <a:xfrm>
            <a:off x="548640" y="4669536"/>
            <a:ext cx="5437480"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4449928" cy="1164336"/>
          </a:xfrm>
          <a:prstGeom prst="rect">
            <a:avLst/>
          </a:prstGeom>
          <a:noFill/>
          <a:ln/>
        </p:spPr>
        <p:txBody>
          <a:bodyPr wrap="square" lIns="0" tIns="0" rIns="0" bIns="0" rtlCol="0" anchor="ctr"/>
          <a:lstStyle/>
          <a:p>
            <a:pPr indent="0" marL="0">
              <a:lnSpc>
                <a:spcPct val="102000"/>
              </a:lnSpc>
              <a:buNone/>
            </a:pPr>
            <a:r>
              <a:rPr lang="en-US" sz="1160" i="1" dirty="0">
                <a:solidFill>
                  <a:srgbClr val="6B7C71"/>
                </a:solidFill>
                <a:latin typeface="Calibri" pitchFamily="34" charset="0"/>
                <a:ea typeface="Calibri" pitchFamily="34" charset="-122"/>
                <a:cs typeface="Calibri" pitchFamily="34" charset="-120"/>
              </a:rPr>
              <a:t>3 — “nineteen years old”</a:t>
            </a:r>
            <a:endParaRPr lang="en-US" sz="1160" dirty="0"/>
          </a:p>
          <a:p>
            <a:pPr indent="0" marL="0">
              <a:lnSpc>
                <a:spcPct val="102000"/>
              </a:lnSpc>
              <a:spcBef>
                <a:spcPts val="178"/>
              </a:spcBef>
              <a:buNone/>
            </a:pPr>
            <a:r>
              <a:rPr lang="en-US" sz="1600" b="1" dirty="0">
                <a:solidFill>
                  <a:srgbClr val="12211B"/>
                </a:solidFill>
                <a:latin typeface="Calibri" pitchFamily="34" charset="0"/>
                <a:ea typeface="Calibri" pitchFamily="34" charset="-122"/>
                <a:cs typeface="Calibri" pitchFamily="34" charset="-120"/>
              </a:rPr>
              <a:t>19</a:t>
            </a:r>
            <a:endParaRPr lang="en-US" sz="1160" dirty="0"/>
          </a:p>
          <a:p>
            <a:pPr indent="0" marL="0">
              <a:lnSpc>
                <a:spcPct val="102000"/>
              </a:lnSpc>
              <a:spcBef>
                <a:spcPts val="267"/>
              </a:spcBef>
              <a:buNone/>
            </a:pPr>
            <a:r>
              <a:rPr lang="en-US" sz="1240" dirty="0">
                <a:solidFill>
                  <a:srgbClr val="0A4634"/>
                </a:solidFill>
                <a:latin typeface="Calibri" pitchFamily="34" charset="0"/>
                <a:ea typeface="Calibri" pitchFamily="34" charset="-122"/>
                <a:cs typeface="Calibri" pitchFamily="34" charset="-120"/>
              </a:rPr>
              <a:t>WHY: nine-TEEN. Ages are a common place to hear this pair.</a:t>
            </a:r>
            <a:endParaRPr lang="en-US" sz="1160" dirty="0"/>
          </a:p>
        </p:txBody>
      </p:sp>
      <p:sp>
        <p:nvSpPr>
          <p:cNvPr id="23" name="Shape 19"/>
          <p:cNvSpPr/>
          <p:nvPr/>
        </p:nvSpPr>
        <p:spPr>
          <a:xfrm>
            <a:off x="6205576" y="1883664"/>
            <a:ext cx="5437480" cy="1274064"/>
          </a:xfrm>
          <a:prstGeom prst="roundRect">
            <a:avLst>
              <a:gd name="adj" fmla="val 10048"/>
            </a:avLst>
          </a:prstGeom>
          <a:solidFill>
            <a:srgbClr val="E6F5EC"/>
          </a:solidFill>
          <a:ln w="12700">
            <a:solidFill>
              <a:srgbClr val="2E9E5B"/>
            </a:solidFill>
            <a:prstDash val="solid"/>
          </a:ln>
        </p:spPr>
      </p:sp>
      <p:sp>
        <p:nvSpPr>
          <p:cNvPr id="24" name="Shape 20"/>
          <p:cNvSpPr/>
          <p:nvPr/>
        </p:nvSpPr>
        <p:spPr>
          <a:xfrm>
            <a:off x="6388456" y="2328672"/>
            <a:ext cx="384048" cy="384048"/>
          </a:xfrm>
          <a:prstGeom prst="ellipse">
            <a:avLst/>
          </a:prstGeom>
          <a:solidFill>
            <a:srgbClr val="2E9E5B"/>
          </a:solidFill>
          <a:ln/>
        </p:spPr>
      </p:sp>
      <p:sp>
        <p:nvSpPr>
          <p:cNvPr id="25" name="Text 21"/>
          <p:cNvSpPr txBox="1"/>
          <p:nvPr/>
        </p:nvSpPr>
        <p:spPr>
          <a:xfrm>
            <a:off x="6388456"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6" name="Text 22"/>
          <p:cNvSpPr/>
          <p:nvPr/>
        </p:nvSpPr>
        <p:spPr>
          <a:xfrm>
            <a:off x="6973672" y="1938528"/>
            <a:ext cx="4449928" cy="1164336"/>
          </a:xfrm>
          <a:prstGeom prst="rect">
            <a:avLst/>
          </a:prstGeom>
          <a:noFill/>
          <a:ln/>
        </p:spPr>
        <p:txBody>
          <a:bodyPr wrap="square" lIns="0" tIns="0" rIns="0" bIns="0" rtlCol="0" anchor="ctr"/>
          <a:lstStyle/>
          <a:p>
            <a:pPr indent="0" marL="0">
              <a:lnSpc>
                <a:spcPct val="102000"/>
              </a:lnSpc>
              <a:buNone/>
            </a:pPr>
            <a:r>
              <a:rPr lang="en-US" sz="1160" i="1" dirty="0">
                <a:solidFill>
                  <a:srgbClr val="6B7C71"/>
                </a:solidFill>
                <a:latin typeface="Calibri" pitchFamily="34" charset="0"/>
                <a:ea typeface="Calibri" pitchFamily="34" charset="-122"/>
                <a:cs typeface="Calibri" pitchFamily="34" charset="-120"/>
              </a:rPr>
              <a:t>4 — “ninety students”</a:t>
            </a:r>
            <a:endParaRPr lang="en-US" sz="1160" dirty="0"/>
          </a:p>
          <a:p>
            <a:pPr indent="0" marL="0">
              <a:lnSpc>
                <a:spcPct val="102000"/>
              </a:lnSpc>
              <a:spcBef>
                <a:spcPts val="178"/>
              </a:spcBef>
              <a:buNone/>
            </a:pPr>
            <a:r>
              <a:rPr lang="en-US" sz="1600" b="1" dirty="0">
                <a:solidFill>
                  <a:srgbClr val="12211B"/>
                </a:solidFill>
                <a:latin typeface="Calibri" pitchFamily="34" charset="0"/>
                <a:ea typeface="Calibri" pitchFamily="34" charset="-122"/>
                <a:cs typeface="Calibri" pitchFamily="34" charset="-120"/>
              </a:rPr>
              <a:t>90</a:t>
            </a:r>
            <a:endParaRPr lang="en-US" sz="1160" dirty="0"/>
          </a:p>
          <a:p>
            <a:pPr indent="0" marL="0">
              <a:lnSpc>
                <a:spcPct val="102000"/>
              </a:lnSpc>
              <a:spcBef>
                <a:spcPts val="267"/>
              </a:spcBef>
              <a:buNone/>
            </a:pPr>
            <a:r>
              <a:rPr lang="en-US" sz="1240" dirty="0">
                <a:solidFill>
                  <a:srgbClr val="0A4634"/>
                </a:solidFill>
                <a:latin typeface="Calibri" pitchFamily="34" charset="0"/>
                <a:ea typeface="Calibri" pitchFamily="34" charset="-122"/>
                <a:cs typeface="Calibri" pitchFamily="34" charset="-120"/>
              </a:rPr>
              <a:t>WHY: NINE-ty. A big difference from 19 — this is why the stress matters.</a:t>
            </a:r>
            <a:endParaRPr lang="en-US" sz="1160" dirty="0"/>
          </a:p>
        </p:txBody>
      </p:sp>
      <p:sp>
        <p:nvSpPr>
          <p:cNvPr id="27" name="Shape 23"/>
          <p:cNvSpPr/>
          <p:nvPr/>
        </p:nvSpPr>
        <p:spPr>
          <a:xfrm>
            <a:off x="6205576" y="3276600"/>
            <a:ext cx="5437480" cy="1274064"/>
          </a:xfrm>
          <a:prstGeom prst="roundRect">
            <a:avLst>
              <a:gd name="adj" fmla="val 10048"/>
            </a:avLst>
          </a:prstGeom>
          <a:solidFill>
            <a:srgbClr val="E6F5EC"/>
          </a:solidFill>
          <a:ln w="12700">
            <a:solidFill>
              <a:srgbClr val="2E9E5B"/>
            </a:solidFill>
            <a:prstDash val="solid"/>
          </a:ln>
        </p:spPr>
      </p:sp>
      <p:sp>
        <p:nvSpPr>
          <p:cNvPr id="28" name="Shape 24"/>
          <p:cNvSpPr/>
          <p:nvPr/>
        </p:nvSpPr>
        <p:spPr>
          <a:xfrm>
            <a:off x="6388456" y="3721608"/>
            <a:ext cx="384048" cy="384048"/>
          </a:xfrm>
          <a:prstGeom prst="ellipse">
            <a:avLst/>
          </a:prstGeom>
          <a:solidFill>
            <a:srgbClr val="2E9E5B"/>
          </a:solidFill>
          <a:ln/>
        </p:spPr>
      </p:sp>
      <p:sp>
        <p:nvSpPr>
          <p:cNvPr id="29" name="Text 25"/>
          <p:cNvSpPr txBox="1"/>
          <p:nvPr/>
        </p:nvSpPr>
        <p:spPr>
          <a:xfrm>
            <a:off x="6388456"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0" name="Text 26"/>
          <p:cNvSpPr/>
          <p:nvPr/>
        </p:nvSpPr>
        <p:spPr>
          <a:xfrm>
            <a:off x="6973672" y="3331464"/>
            <a:ext cx="4449928" cy="1164336"/>
          </a:xfrm>
          <a:prstGeom prst="rect">
            <a:avLst/>
          </a:prstGeom>
          <a:noFill/>
          <a:ln/>
        </p:spPr>
        <p:txBody>
          <a:bodyPr wrap="square" lIns="0" tIns="0" rIns="0" bIns="0" rtlCol="0" anchor="ctr"/>
          <a:lstStyle/>
          <a:p>
            <a:pPr indent="0" marL="0">
              <a:lnSpc>
                <a:spcPct val="102000"/>
              </a:lnSpc>
              <a:buNone/>
            </a:pPr>
            <a:r>
              <a:rPr lang="en-US" sz="1160" i="1" dirty="0">
                <a:solidFill>
                  <a:srgbClr val="6B7C71"/>
                </a:solidFill>
                <a:latin typeface="Calibri" pitchFamily="34" charset="0"/>
                <a:ea typeface="Calibri" pitchFamily="34" charset="-122"/>
                <a:cs typeface="Calibri" pitchFamily="34" charset="-120"/>
              </a:rPr>
              <a:t>5 — “number sixty-two”</a:t>
            </a:r>
            <a:endParaRPr lang="en-US" sz="1160" dirty="0"/>
          </a:p>
          <a:p>
            <a:pPr indent="0" marL="0">
              <a:lnSpc>
                <a:spcPct val="102000"/>
              </a:lnSpc>
              <a:spcBef>
                <a:spcPts val="178"/>
              </a:spcBef>
              <a:buNone/>
            </a:pPr>
            <a:r>
              <a:rPr lang="en-US" sz="1600" b="1" dirty="0">
                <a:solidFill>
                  <a:srgbClr val="12211B"/>
                </a:solidFill>
                <a:latin typeface="Calibri" pitchFamily="34" charset="0"/>
                <a:ea typeface="Calibri" pitchFamily="34" charset="-122"/>
                <a:cs typeface="Calibri" pitchFamily="34" charset="-120"/>
              </a:rPr>
              <a:t>62</a:t>
            </a:r>
            <a:endParaRPr lang="en-US" sz="1160" dirty="0"/>
          </a:p>
          <a:p>
            <a:pPr indent="0" marL="0">
              <a:lnSpc>
                <a:spcPct val="102000"/>
              </a:lnSpc>
              <a:spcBef>
                <a:spcPts val="267"/>
              </a:spcBef>
              <a:buNone/>
            </a:pPr>
            <a:r>
              <a:rPr lang="en-US" sz="1240" dirty="0">
                <a:solidFill>
                  <a:srgbClr val="0A4634"/>
                </a:solidFill>
                <a:latin typeface="Calibri" pitchFamily="34" charset="0"/>
                <a:ea typeface="Calibri" pitchFamily="34" charset="-122"/>
                <a:cs typeface="Calibri" pitchFamily="34" charset="-120"/>
              </a:rPr>
              <a:t>WHY: Tens first, then units, joined with a hyphen when written.</a:t>
            </a:r>
            <a:endParaRPr lang="en-US" sz="1160" dirty="0"/>
          </a:p>
        </p:txBody>
      </p:sp>
      <p:sp>
        <p:nvSpPr>
          <p:cNvPr id="31" name="Shape 27"/>
          <p:cNvSpPr/>
          <p:nvPr/>
        </p:nvSpPr>
        <p:spPr>
          <a:xfrm>
            <a:off x="6205576" y="4669536"/>
            <a:ext cx="5437480" cy="1274064"/>
          </a:xfrm>
          <a:prstGeom prst="roundRect">
            <a:avLst>
              <a:gd name="adj" fmla="val 10048"/>
            </a:avLst>
          </a:prstGeom>
          <a:solidFill>
            <a:srgbClr val="E6F5EC"/>
          </a:solidFill>
          <a:ln w="12700">
            <a:solidFill>
              <a:srgbClr val="2E9E5B"/>
            </a:solidFill>
            <a:prstDash val="solid"/>
          </a:ln>
        </p:spPr>
      </p:sp>
      <p:sp>
        <p:nvSpPr>
          <p:cNvPr id="32" name="Shape 28"/>
          <p:cNvSpPr/>
          <p:nvPr/>
        </p:nvSpPr>
        <p:spPr>
          <a:xfrm>
            <a:off x="6388456" y="5114544"/>
            <a:ext cx="384048" cy="384048"/>
          </a:xfrm>
          <a:prstGeom prst="ellipse">
            <a:avLst/>
          </a:prstGeom>
          <a:solidFill>
            <a:srgbClr val="2E9E5B"/>
          </a:solidFill>
          <a:ln/>
        </p:spPr>
      </p:sp>
      <p:sp>
        <p:nvSpPr>
          <p:cNvPr id="33" name="Text 29"/>
          <p:cNvSpPr txBox="1"/>
          <p:nvPr/>
        </p:nvSpPr>
        <p:spPr>
          <a:xfrm>
            <a:off x="6388456"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4" name="Text 30"/>
          <p:cNvSpPr/>
          <p:nvPr/>
        </p:nvSpPr>
        <p:spPr>
          <a:xfrm>
            <a:off x="6973672" y="4724400"/>
            <a:ext cx="4449928" cy="1164336"/>
          </a:xfrm>
          <a:prstGeom prst="rect">
            <a:avLst/>
          </a:prstGeom>
          <a:noFill/>
          <a:ln/>
        </p:spPr>
        <p:txBody>
          <a:bodyPr wrap="square" lIns="0" tIns="0" rIns="0" bIns="0" rtlCol="0" anchor="ctr"/>
          <a:lstStyle/>
          <a:p>
            <a:pPr indent="0" marL="0">
              <a:lnSpc>
                <a:spcPct val="102000"/>
              </a:lnSpc>
              <a:buNone/>
            </a:pPr>
            <a:r>
              <a:rPr lang="en-US" sz="1160" i="1" dirty="0">
                <a:solidFill>
                  <a:srgbClr val="6B7C71"/>
                </a:solidFill>
                <a:latin typeface="Calibri" pitchFamily="34" charset="0"/>
                <a:ea typeface="Calibri" pitchFamily="34" charset="-122"/>
                <a:cs typeface="Calibri" pitchFamily="34" charset="-120"/>
              </a:rPr>
              <a:t>6 — the phone number</a:t>
            </a:r>
            <a:endParaRPr lang="en-US" sz="1160" dirty="0"/>
          </a:p>
          <a:p>
            <a:pPr indent="0" marL="0">
              <a:lnSpc>
                <a:spcPct val="102000"/>
              </a:lnSpc>
              <a:spcBef>
                <a:spcPts val="178"/>
              </a:spcBef>
              <a:buNone/>
            </a:pPr>
            <a:r>
              <a:rPr lang="en-US" sz="1600" b="1" dirty="0">
                <a:solidFill>
                  <a:srgbClr val="12211B"/>
                </a:solidFill>
                <a:latin typeface="Calibri" pitchFamily="34" charset="0"/>
                <a:ea typeface="Calibri" pitchFamily="34" charset="-122"/>
                <a:cs typeface="Calibri" pitchFamily="34" charset="-120"/>
              </a:rPr>
              <a:t>0911 234</a:t>
            </a:r>
            <a:endParaRPr lang="en-US" sz="1160" dirty="0"/>
          </a:p>
          <a:p>
            <a:pPr indent="0" marL="0">
              <a:lnSpc>
                <a:spcPct val="102000"/>
              </a:lnSpc>
              <a:spcBef>
                <a:spcPts val="267"/>
              </a:spcBef>
              <a:buNone/>
            </a:pPr>
            <a:r>
              <a:rPr lang="en-US" sz="1240" dirty="0">
                <a:solidFill>
                  <a:srgbClr val="0A4634"/>
                </a:solidFill>
                <a:latin typeface="Calibri" pitchFamily="34" charset="0"/>
                <a:ea typeface="Calibri" pitchFamily="34" charset="-122"/>
                <a:cs typeface="Calibri" pitchFamily="34" charset="-120"/>
              </a:rPr>
              <a:t>WHY: Said digit by digit, with “oh” for zero. Never as whole numbers.</a:t>
            </a:r>
            <a:endParaRPr lang="en-US" sz="116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0312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60934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Listening 2 — times and days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Listen and write the time or the day.</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2 — Numbers, Time &amp; Money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38</a:t>
            </a:r>
            <a:endParaRPr lang="en-US" sz="1100" dirty="0"/>
          </a:p>
        </p:txBody>
      </p:sp>
      <p:sp>
        <p:nvSpPr>
          <p:cNvPr id="11" name="Shape 7"/>
          <p:cNvSpPr/>
          <p:nvPr/>
        </p:nvSpPr>
        <p:spPr>
          <a:xfrm>
            <a:off x="548640" y="1883664"/>
            <a:ext cx="6766560" cy="4059936"/>
          </a:xfrm>
          <a:prstGeom prst="roundRect">
            <a:avLst>
              <a:gd name="adj" fmla="val 3153"/>
            </a:avLst>
          </a:prstGeom>
          <a:solidFill>
            <a:srgbClr val="E8F6F6"/>
          </a:solidFill>
          <a:ln w="15875">
            <a:solidFill>
              <a:srgbClr val="1FA3A3"/>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217920" cy="274320"/>
          </a:xfrm>
          <a:prstGeom prst="rect">
            <a:avLst/>
          </a:prstGeom>
          <a:noFill/>
          <a:ln/>
        </p:spPr>
        <p:txBody>
          <a:bodyPr wrap="square" lIns="0" tIns="0" rIns="0" bIns="0" rtlCol="0" anchor="ctr"/>
          <a:lstStyle/>
          <a:p>
            <a:pPr indent="0" marL="0">
              <a:buNone/>
            </a:pPr>
            <a:r>
              <a:rPr lang="en-US" sz="1200" b="1" spc="120" kern="0" dirty="0">
                <a:solidFill>
                  <a:srgbClr val="1FA3A3"/>
                </a:solidFill>
                <a:latin typeface="Calibri" pitchFamily="34" charset="0"/>
                <a:ea typeface="Calibri" pitchFamily="34" charset="-122"/>
                <a:cs typeface="Calibri" pitchFamily="34" charset="-120"/>
              </a:rPr>
              <a:t>AUDIO SCRIPT — TEACHER READS ALOUD</a:t>
            </a:r>
            <a:endParaRPr lang="en-US" sz="1200" dirty="0"/>
          </a:p>
        </p:txBody>
      </p:sp>
      <p:sp>
        <p:nvSpPr>
          <p:cNvPr id="13" name="Text 9"/>
          <p:cNvSpPr txBox="1"/>
          <p:nvPr/>
        </p:nvSpPr>
        <p:spPr>
          <a:xfrm>
            <a:off x="822960" y="2487168"/>
            <a:ext cx="6217920" cy="3218688"/>
          </a:xfrm>
          <a:prstGeom prst="rect">
            <a:avLst/>
          </a:prstGeom>
          <a:noFill/>
          <a:ln/>
        </p:spPr>
        <p:txBody>
          <a:bodyPr wrap="square" lIns="0" tIns="0" rIns="0" bIns="0" rtlCol="0" anchor="ctr"/>
          <a:lstStyle/>
          <a:p>
            <a:pPr indent="0" marL="0">
              <a:lnSpc>
                <a:spcPct val="145000"/>
              </a:lnSpc>
              <a:buNone/>
            </a:pPr>
            <a:r>
              <a:rPr lang="en-US" sz="1900" dirty="0">
                <a:solidFill>
                  <a:srgbClr val="12211B"/>
                </a:solidFill>
                <a:latin typeface="Calibri" pitchFamily="34" charset="0"/>
                <a:ea typeface="Calibri" pitchFamily="34" charset="-122"/>
                <a:cs typeface="Calibri" pitchFamily="34" charset="-120"/>
              </a:rPr>
              <a:t>1.  “The class starts at nine o'clock.”</a:t>
            </a:r>
            <a:endParaRPr lang="en-US" sz="1900" dirty="0"/>
          </a:p>
          <a:p>
            <a:pPr indent="0" marL="0">
              <a:lnSpc>
                <a:spcPct val="145000"/>
              </a:lnSpc>
              <a:buNone/>
            </a:pPr>
            <a:r>
              <a:rPr lang="en-US" sz="1900" dirty="0">
                <a:solidFill>
                  <a:srgbClr val="12211B"/>
                </a:solidFill>
                <a:latin typeface="Calibri" pitchFamily="34" charset="0"/>
                <a:ea typeface="Calibri" pitchFamily="34" charset="-122"/>
                <a:cs typeface="Calibri" pitchFamily="34" charset="-120"/>
              </a:rPr>
              <a:t>2.  “It is half past four.”</a:t>
            </a:r>
            <a:endParaRPr lang="en-US" sz="1900" dirty="0"/>
          </a:p>
          <a:p>
            <a:pPr indent="0" marL="0">
              <a:lnSpc>
                <a:spcPct val="145000"/>
              </a:lnSpc>
              <a:buNone/>
            </a:pPr>
            <a:r>
              <a:rPr lang="en-US" sz="1900" dirty="0">
                <a:solidFill>
                  <a:srgbClr val="12211B"/>
                </a:solidFill>
                <a:latin typeface="Calibri" pitchFamily="34" charset="0"/>
                <a:ea typeface="Calibri" pitchFamily="34" charset="-122"/>
                <a:cs typeface="Calibri" pitchFamily="34" charset="-120"/>
              </a:rPr>
              <a:t>3.  “The shop opens at quarter past seven.”</a:t>
            </a:r>
            <a:endParaRPr lang="en-US" sz="1900" dirty="0"/>
          </a:p>
          <a:p>
            <a:pPr indent="0" marL="0">
              <a:lnSpc>
                <a:spcPct val="145000"/>
              </a:lnSpc>
              <a:buNone/>
            </a:pPr>
            <a:r>
              <a:rPr lang="en-US" sz="1900" dirty="0">
                <a:solidFill>
                  <a:srgbClr val="12211B"/>
                </a:solidFill>
                <a:latin typeface="Calibri" pitchFamily="34" charset="0"/>
                <a:ea typeface="Calibri" pitchFamily="34" charset="-122"/>
                <a:cs typeface="Calibri" pitchFamily="34" charset="-120"/>
              </a:rPr>
              <a:t>4.  “I do not work on Sunday.”</a:t>
            </a:r>
            <a:endParaRPr lang="en-US" sz="1900" dirty="0"/>
          </a:p>
          <a:p>
            <a:pPr indent="0" marL="0">
              <a:lnSpc>
                <a:spcPct val="145000"/>
              </a:lnSpc>
              <a:buNone/>
            </a:pPr>
            <a:r>
              <a:rPr lang="en-US" sz="1900" dirty="0">
                <a:solidFill>
                  <a:srgbClr val="12211B"/>
                </a:solidFill>
                <a:latin typeface="Calibri" pitchFamily="34" charset="0"/>
                <a:ea typeface="Calibri" pitchFamily="34" charset="-122"/>
                <a:cs typeface="Calibri" pitchFamily="34" charset="-120"/>
              </a:rPr>
              <a:t>5.  “My birthday is in November.”</a:t>
            </a:r>
            <a:endParaRPr lang="en-US" sz="1900" dirty="0"/>
          </a:p>
        </p:txBody>
      </p:sp>
      <p:sp>
        <p:nvSpPr>
          <p:cNvPr id="14" name="Shape 10"/>
          <p:cNvSpPr/>
          <p:nvPr/>
        </p:nvSpPr>
        <p:spPr>
          <a:xfrm>
            <a:off x="7589520" y="1883664"/>
            <a:ext cx="4053535" cy="4059936"/>
          </a:xfrm>
          <a:prstGeom prst="roundRect">
            <a:avLst>
              <a:gd name="adj" fmla="val 3158"/>
            </a:avLst>
          </a:prstGeom>
          <a:solidFill>
            <a:srgbClr val="F6F9F7"/>
          </a:solidFill>
          <a:ln w="12700">
            <a:solidFill>
              <a:srgbClr val="E3E9E5"/>
            </a:solidFill>
            <a:prstDash val="solid"/>
          </a:ln>
        </p:spPr>
      </p:sp>
      <p:sp>
        <p:nvSpPr>
          <p:cNvPr id="15" name="Text 11"/>
          <p:cNvSpPr txBox="1"/>
          <p:nvPr/>
        </p:nvSpPr>
        <p:spPr>
          <a:xfrm>
            <a:off x="7827264" y="2103120"/>
            <a:ext cx="3578047" cy="274320"/>
          </a:xfrm>
          <a:prstGeom prst="rect">
            <a:avLst/>
          </a:prstGeom>
          <a:noFill/>
          <a:ln/>
        </p:spPr>
        <p:txBody>
          <a:bodyPr wrap="square" lIns="0" tIns="0" rIns="0" bIns="0" rtlCol="0" anchor="ctr"/>
          <a:lstStyle/>
          <a:p>
            <a:pPr indent="0" marL="0">
              <a:buNone/>
            </a:pPr>
            <a:r>
              <a:rPr lang="en-US" sz="1200" b="1" spc="120" kern="0" dirty="0">
                <a:solidFill>
                  <a:srgbClr val="1FA3A3"/>
                </a:solidFill>
                <a:latin typeface="Calibri" pitchFamily="34" charset="0"/>
                <a:ea typeface="Calibri" pitchFamily="34" charset="-122"/>
                <a:cs typeface="Calibri" pitchFamily="34" charset="-120"/>
              </a:rPr>
              <a:t>YOUR TASK</a:t>
            </a:r>
            <a:endParaRPr lang="en-US" sz="1200" dirty="0"/>
          </a:p>
        </p:txBody>
      </p:sp>
      <p:sp>
        <p:nvSpPr>
          <p:cNvPr id="16" name="Text 12"/>
          <p:cNvSpPr/>
          <p:nvPr/>
        </p:nvSpPr>
        <p:spPr>
          <a:xfrm>
            <a:off x="7863840" y="2505456"/>
            <a:ext cx="350489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For 1 to 3, write the time in figures: 9:00, and so on.</a:t>
            </a:r>
            <a:endParaRPr lang="en-US" sz="1700" dirty="0"/>
          </a:p>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For 4 and 5, write the day or the month with a CAPITAL letter.</a:t>
            </a:r>
            <a:endParaRPr lang="en-US" sz="1700" dirty="0"/>
          </a:p>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Also write the preposition you hear: at, on or in.</a:t>
            </a:r>
            <a:endParaRPr lang="en-US" sz="1700" dirty="0"/>
          </a:p>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The teacher reads each item twice.</a:t>
            </a:r>
            <a:endParaRPr lang="en-US" sz="17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58318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08940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2 · ANSWERS</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Listening 2 — answers and why</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2 — Numbers, Time &amp; Money</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39</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1 — “The class starts at nine o'clock.”</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9:00  ·  preposition: at</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 clock time always takes AT. “O'clock” means an exact hour with no minutes.</a:t>
            </a:r>
            <a:endParaRPr lang="en-US" sz="110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2 — “It is half past four.”</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4:30</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Half past means thirty minutes after the hour that has already passed — so four, not five.</a:t>
            </a:r>
            <a:endParaRPr lang="en-US" sz="110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3 — “The shop opens at quarter past seven.”</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7:15  ·  preposition: at</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Quarter past means fifteen minutes after the hour. Quarter TO would mean fifteen minutes before the next one.</a:t>
            </a:r>
            <a:endParaRPr lang="en-US" sz="110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4 — “I do not work on Sunday.”</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Sunday  ·  preposition: on</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Days take ON, and every day of the week takes a capital letter.</a:t>
            </a:r>
            <a:endParaRPr lang="en-US" sz="110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5 — “My birthday is in November.”</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November  ·  preposition: in</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Months take IN, and every month takes a capital letter.</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0312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60934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How to catch numbers when people speak fast</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Four practical habits for real life.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2 — Numbers, Time &amp; Money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40</a:t>
            </a:r>
            <a:endParaRPr lang="en-US" sz="1100" dirty="0"/>
          </a:p>
        </p:txBody>
      </p:sp>
      <p:sp>
        <p:nvSpPr>
          <p:cNvPr id="11" name="Shape 7"/>
          <p:cNvSpPr/>
          <p:nvPr/>
        </p:nvSpPr>
        <p:spPr>
          <a:xfrm>
            <a:off x="548640" y="1883664"/>
            <a:ext cx="5446624" cy="1929384"/>
          </a:xfrm>
          <a:prstGeom prst="roundRect">
            <a:avLst>
              <a:gd name="adj" fmla="val 6635"/>
            </a:avLst>
          </a:prstGeom>
          <a:solidFill>
            <a:srgbClr val="E8F6F6"/>
          </a:solidFill>
          <a:ln w="12700">
            <a:solidFill>
              <a:srgbClr val="BEE2E2"/>
            </a:solidFill>
            <a:prstDash val="solid"/>
          </a:ln>
        </p:spPr>
      </p:sp>
      <p:sp>
        <p:nvSpPr>
          <p:cNvPr id="12" name="Shape 8"/>
          <p:cNvSpPr/>
          <p:nvPr/>
        </p:nvSpPr>
        <p:spPr>
          <a:xfrm>
            <a:off x="768096" y="2103120"/>
            <a:ext cx="457200" cy="457200"/>
          </a:xfrm>
          <a:prstGeom prst="ellipse">
            <a:avLst/>
          </a:prstGeom>
          <a:solidFill>
            <a:srgbClr val="1FA3A3"/>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5007712" cy="923544"/>
          </a:xfrm>
          <a:prstGeom prst="rect">
            <a:avLst/>
          </a:prstGeom>
          <a:noFill/>
          <a:ln/>
        </p:spPr>
        <p:txBody>
          <a:bodyPr wrap="square" lIns="0" tIns="0" rIns="0" bIns="0" rtlCol="0" anchor="t"/>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Listen for the stress, not the vowel</a:t>
            </a:r>
            <a:endParaRPr lang="en-US" sz="1580" dirty="0"/>
          </a:p>
          <a:p>
            <a:pPr indent="0" marL="0">
              <a:lnSpc>
                <a:spcPct val="102000"/>
              </a:lnSpc>
              <a:spcBef>
                <a:spcPts val="300"/>
              </a:spcBef>
              <a:buNone/>
            </a:pPr>
            <a:r>
              <a:rPr lang="en-US" sz="1200" dirty="0">
                <a:solidFill>
                  <a:srgbClr val="3A473F"/>
                </a:solidFill>
                <a:latin typeface="Calibri" pitchFamily="34" charset="0"/>
                <a:ea typeface="Calibri" pitchFamily="34" charset="-122"/>
                <a:cs typeface="Calibri" pitchFamily="34" charset="-120"/>
              </a:rPr>
              <a:t>13 and 30 have almost the same sounds. The only reliable difference is which part is louder and longer.</a:t>
            </a:r>
            <a:endParaRPr lang="en-US" sz="1580" dirty="0"/>
          </a:p>
        </p:txBody>
      </p:sp>
      <p:sp>
        <p:nvSpPr>
          <p:cNvPr id="15" name="Shape 10"/>
          <p:cNvSpPr/>
          <p:nvPr/>
        </p:nvSpPr>
        <p:spPr>
          <a:xfrm>
            <a:off x="6196432" y="1883664"/>
            <a:ext cx="5446624" cy="1929384"/>
          </a:xfrm>
          <a:prstGeom prst="roundRect">
            <a:avLst>
              <a:gd name="adj" fmla="val 6635"/>
            </a:avLst>
          </a:prstGeom>
          <a:solidFill>
            <a:srgbClr val="E8F6F6"/>
          </a:solidFill>
          <a:ln w="12700">
            <a:solidFill>
              <a:srgbClr val="BEE2E2"/>
            </a:solidFill>
            <a:prstDash val="solid"/>
          </a:ln>
        </p:spPr>
      </p:sp>
      <p:sp>
        <p:nvSpPr>
          <p:cNvPr id="16" name="Shape 11"/>
          <p:cNvSpPr/>
          <p:nvPr/>
        </p:nvSpPr>
        <p:spPr>
          <a:xfrm>
            <a:off x="6415888" y="2103120"/>
            <a:ext cx="457200" cy="457200"/>
          </a:xfrm>
          <a:prstGeom prst="ellipse">
            <a:avLst/>
          </a:prstGeom>
          <a:solidFill>
            <a:srgbClr val="1FA3A3"/>
          </a:solidFill>
          <a:ln/>
        </p:spPr>
      </p:sp>
      <p:pic>
        <p:nvPicPr>
          <p:cNvPr id="17" name="Image 2" descr="preencoded.png">    </p:cNvPr>
          <p:cNvPicPr>
            <a:picLocks noChangeAspect="1"/>
          </p:cNvPicPr>
          <p:nvPr/>
        </p:nvPicPr>
        <p:blipFill>
          <a:blip r:embed="rId3"/>
          <a:stretch>
            <a:fillRect/>
          </a:stretch>
        </p:blipFill>
        <p:spPr>
          <a:xfrm>
            <a:off x="6530188" y="2217420"/>
            <a:ext cx="228600" cy="228600"/>
          </a:xfrm>
          <a:prstGeom prst="rect">
            <a:avLst/>
          </a:prstGeom>
        </p:spPr>
      </p:pic>
      <p:sp>
        <p:nvSpPr>
          <p:cNvPr id="18" name="Text 12"/>
          <p:cNvSpPr/>
          <p:nvPr/>
        </p:nvSpPr>
        <p:spPr>
          <a:xfrm>
            <a:off x="6415888" y="2706624"/>
            <a:ext cx="5007712"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Just ask</a:t>
            </a:r>
            <a:endParaRPr lang="en-US" sz="1600" dirty="0"/>
          </a:p>
          <a:p>
            <a:pPr indent="0" marL="0">
              <a:lnSpc>
                <a:spcPct val="102000"/>
              </a:lnSpc>
              <a:spcBef>
                <a:spcPts val="305"/>
              </a:spcBef>
              <a:buNone/>
            </a:pPr>
            <a:r>
              <a:rPr lang="en-US" sz="1220" dirty="0">
                <a:solidFill>
                  <a:srgbClr val="3A473F"/>
                </a:solidFill>
                <a:latin typeface="Calibri" pitchFamily="34" charset="0"/>
                <a:ea typeface="Calibri" pitchFamily="34" charset="-122"/>
                <a:cs typeface="Calibri" pitchFamily="34" charset="-120"/>
              </a:rPr>
              <a:t>“Thirteen or thirty?” is a completely normal question. Native speakers ask each other this too.</a:t>
            </a:r>
            <a:endParaRPr lang="en-US" sz="1600" dirty="0"/>
          </a:p>
        </p:txBody>
      </p:sp>
      <p:sp>
        <p:nvSpPr>
          <p:cNvPr id="19" name="Shape 13"/>
          <p:cNvSpPr/>
          <p:nvPr/>
        </p:nvSpPr>
        <p:spPr>
          <a:xfrm>
            <a:off x="548640" y="4014216"/>
            <a:ext cx="5446624" cy="1929384"/>
          </a:xfrm>
          <a:prstGeom prst="roundRect">
            <a:avLst>
              <a:gd name="adj" fmla="val 6635"/>
            </a:avLst>
          </a:prstGeom>
          <a:solidFill>
            <a:srgbClr val="E8F6F6"/>
          </a:solidFill>
          <a:ln w="12700">
            <a:solidFill>
              <a:srgbClr val="BEE2E2"/>
            </a:solidFill>
            <a:prstDash val="solid"/>
          </a:ln>
        </p:spPr>
      </p:sp>
      <p:sp>
        <p:nvSpPr>
          <p:cNvPr id="20" name="Shape 14"/>
          <p:cNvSpPr/>
          <p:nvPr/>
        </p:nvSpPr>
        <p:spPr>
          <a:xfrm>
            <a:off x="768096" y="4233672"/>
            <a:ext cx="457200" cy="457200"/>
          </a:xfrm>
          <a:prstGeom prst="ellipse">
            <a:avLst/>
          </a:prstGeom>
          <a:solidFill>
            <a:srgbClr val="1FA3A3"/>
          </a:solidFill>
          <a:ln/>
        </p:spPr>
      </p:sp>
      <p:pic>
        <p:nvPicPr>
          <p:cNvPr id="21" name="Image 3" descr="preencoded.png">    </p:cNvPr>
          <p:cNvPicPr>
            <a:picLocks noChangeAspect="1"/>
          </p:cNvPicPr>
          <p:nvPr/>
        </p:nvPicPr>
        <p:blipFill>
          <a:blip r:embed="rId4"/>
          <a:stretch>
            <a:fillRect/>
          </a:stretch>
        </p:blipFill>
        <p:spPr>
          <a:xfrm>
            <a:off x="882396" y="4347972"/>
            <a:ext cx="228600" cy="228600"/>
          </a:xfrm>
          <a:prstGeom prst="rect">
            <a:avLst/>
          </a:prstGeom>
        </p:spPr>
      </p:pic>
      <p:sp>
        <p:nvSpPr>
          <p:cNvPr id="22" name="Text 15"/>
          <p:cNvSpPr/>
          <p:nvPr/>
        </p:nvSpPr>
        <p:spPr>
          <a:xfrm>
            <a:off x="768096" y="4837176"/>
            <a:ext cx="5007712" cy="923544"/>
          </a:xfrm>
          <a:prstGeom prst="rect">
            <a:avLst/>
          </a:prstGeom>
          <a:noFill/>
          <a:ln/>
        </p:spPr>
        <p:txBody>
          <a:bodyPr wrap="square" lIns="0" tIns="0" rIns="0" bIns="0" rtlCol="0" anchor="t"/>
          <a:lstStyle/>
          <a:p>
            <a:pPr indent="0" marL="0">
              <a:lnSpc>
                <a:spcPct val="102000"/>
              </a:lnSpc>
              <a:buNone/>
            </a:pPr>
            <a:r>
              <a:rPr lang="en-US" sz="1650" b="1" dirty="0">
                <a:solidFill>
                  <a:srgbClr val="12211B"/>
                </a:solidFill>
                <a:latin typeface="Calibri" pitchFamily="34" charset="0"/>
                <a:ea typeface="Calibri" pitchFamily="34" charset="-122"/>
                <a:cs typeface="Calibri" pitchFamily="34" charset="-120"/>
              </a:rPr>
              <a:t>Ask them to write it</a:t>
            </a:r>
            <a:endParaRPr lang="en-US" sz="1650" dirty="0"/>
          </a:p>
          <a:p>
            <a:pPr indent="0" marL="0">
              <a:lnSpc>
                <a:spcPct val="102000"/>
              </a:lnSpc>
              <a:spcBef>
                <a:spcPts val="314"/>
              </a:spcBef>
              <a:buNone/>
            </a:pPr>
            <a:r>
              <a:rPr lang="en-US" sz="1260" dirty="0">
                <a:solidFill>
                  <a:srgbClr val="3A473F"/>
                </a:solidFill>
                <a:latin typeface="Calibri" pitchFamily="34" charset="0"/>
                <a:ea typeface="Calibri" pitchFamily="34" charset="-122"/>
                <a:cs typeface="Calibri" pitchFamily="34" charset="-120"/>
              </a:rPr>
              <a:t>“Can you write it, please?” For money and phone numbers, this is the safest thing you can do.</a:t>
            </a:r>
            <a:endParaRPr lang="en-US" sz="1650" dirty="0"/>
          </a:p>
        </p:txBody>
      </p:sp>
      <p:sp>
        <p:nvSpPr>
          <p:cNvPr id="23" name="Shape 16"/>
          <p:cNvSpPr/>
          <p:nvPr/>
        </p:nvSpPr>
        <p:spPr>
          <a:xfrm>
            <a:off x="6196432" y="4014216"/>
            <a:ext cx="5446624" cy="1929384"/>
          </a:xfrm>
          <a:prstGeom prst="roundRect">
            <a:avLst>
              <a:gd name="adj" fmla="val 6635"/>
            </a:avLst>
          </a:prstGeom>
          <a:solidFill>
            <a:srgbClr val="E8F6F6"/>
          </a:solidFill>
          <a:ln w="12700">
            <a:solidFill>
              <a:srgbClr val="BEE2E2"/>
            </a:solidFill>
            <a:prstDash val="solid"/>
          </a:ln>
        </p:spPr>
      </p:sp>
      <p:sp>
        <p:nvSpPr>
          <p:cNvPr id="24" name="Shape 17"/>
          <p:cNvSpPr/>
          <p:nvPr/>
        </p:nvSpPr>
        <p:spPr>
          <a:xfrm>
            <a:off x="6415888" y="4233672"/>
            <a:ext cx="457200" cy="457200"/>
          </a:xfrm>
          <a:prstGeom prst="ellipse">
            <a:avLst/>
          </a:prstGeom>
          <a:solidFill>
            <a:srgbClr val="1FA3A3"/>
          </a:solidFill>
          <a:ln/>
        </p:spPr>
      </p:sp>
      <p:pic>
        <p:nvPicPr>
          <p:cNvPr id="25" name="Image 4" descr="preencoded.png">    </p:cNvPr>
          <p:cNvPicPr>
            <a:picLocks noChangeAspect="1"/>
          </p:cNvPicPr>
          <p:nvPr/>
        </p:nvPicPr>
        <p:blipFill>
          <a:blip r:embed="rId5"/>
          <a:stretch>
            <a:fillRect/>
          </a:stretch>
        </p:blipFill>
        <p:spPr>
          <a:xfrm>
            <a:off x="6530188" y="4347972"/>
            <a:ext cx="228600" cy="228600"/>
          </a:xfrm>
          <a:prstGeom prst="rect">
            <a:avLst/>
          </a:prstGeom>
        </p:spPr>
      </p:pic>
      <p:sp>
        <p:nvSpPr>
          <p:cNvPr id="26" name="Text 18"/>
          <p:cNvSpPr/>
          <p:nvPr/>
        </p:nvSpPr>
        <p:spPr>
          <a:xfrm>
            <a:off x="6415888" y="4837176"/>
            <a:ext cx="5007712" cy="923544"/>
          </a:xfrm>
          <a:prstGeom prst="rect">
            <a:avLst/>
          </a:prstGeom>
          <a:noFill/>
          <a:ln/>
        </p:spPr>
        <p:txBody>
          <a:bodyPr wrap="square" lIns="0" tIns="0" rIns="0" bIns="0" rtlCol="0" anchor="t"/>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Repeat it back</a:t>
            </a:r>
            <a:endParaRPr lang="en-US" sz="1700" dirty="0"/>
          </a:p>
          <a:p>
            <a:pPr indent="0" marL="0">
              <a:lnSpc>
                <a:spcPct val="102000"/>
              </a:lnSpc>
              <a:spcBef>
                <a:spcPts val="324"/>
              </a:spcBef>
              <a:buNone/>
            </a:pPr>
            <a:r>
              <a:rPr lang="en-US" sz="1300" dirty="0">
                <a:solidFill>
                  <a:srgbClr val="3A473F"/>
                </a:solidFill>
                <a:latin typeface="Calibri" pitchFamily="34" charset="0"/>
                <a:ea typeface="Calibri" pitchFamily="34" charset="-122"/>
                <a:cs typeface="Calibri" pitchFamily="34" charset="-120"/>
              </a:rPr>
              <a:t>“So, fifty birr?” Repeating what you heard gives the other person a chance to correct you.</a:t>
            </a:r>
            <a:endParaRPr lang="en-US" sz="17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1 — Sara's week</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Read it aloud twice before you answer the questions.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2 — Numbers, Time &amp; Money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41</a:t>
            </a:r>
            <a:endParaRPr lang="en-US" sz="1100" dirty="0"/>
          </a:p>
        </p:txBody>
      </p:sp>
      <p:sp>
        <p:nvSpPr>
          <p:cNvPr id="11" name="Shape 7"/>
          <p:cNvSpPr/>
          <p:nvPr/>
        </p:nvSpPr>
        <p:spPr>
          <a:xfrm>
            <a:off x="548640" y="1883664"/>
            <a:ext cx="6766560" cy="4059936"/>
          </a:xfrm>
          <a:prstGeom prst="roundRect">
            <a:avLst>
              <a:gd name="adj" fmla="val 3153"/>
            </a:avLst>
          </a:prstGeom>
          <a:solidFill>
            <a:srgbClr val="E7F3EF"/>
          </a:solidFill>
          <a:ln w="15875">
            <a:solidFill>
              <a:srgbClr val="0E7C5A"/>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217920"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READ ALOUD</a:t>
            </a:r>
            <a:endParaRPr lang="en-US" sz="1200" dirty="0"/>
          </a:p>
        </p:txBody>
      </p:sp>
      <p:sp>
        <p:nvSpPr>
          <p:cNvPr id="13" name="Text 9"/>
          <p:cNvSpPr txBox="1"/>
          <p:nvPr/>
        </p:nvSpPr>
        <p:spPr>
          <a:xfrm>
            <a:off x="822960" y="2487168"/>
            <a:ext cx="6217920" cy="3218688"/>
          </a:xfrm>
          <a:prstGeom prst="rect">
            <a:avLst/>
          </a:prstGeom>
          <a:noFill/>
          <a:ln/>
        </p:spPr>
        <p:txBody>
          <a:bodyPr wrap="square" lIns="0" tIns="0" rIns="0" bIns="0" rtlCol="0" anchor="ctr"/>
          <a:lstStyle/>
          <a:p>
            <a:pPr indent="0" marL="0">
              <a:lnSpc>
                <a:spcPct val="145000"/>
              </a:lnSpc>
              <a:buNone/>
            </a:pPr>
            <a:r>
              <a:rPr lang="en-US" sz="2050" dirty="0">
                <a:solidFill>
                  <a:srgbClr val="12211B"/>
                </a:solidFill>
                <a:latin typeface="Calibri" pitchFamily="34" charset="0"/>
                <a:ea typeface="Calibri" pitchFamily="34" charset="-122"/>
                <a:cs typeface="Calibri" pitchFamily="34" charset="-120"/>
              </a:rPr>
              <a:t>My name is Sara.</a:t>
            </a:r>
            <a:endParaRPr lang="en-US" sz="2050" dirty="0"/>
          </a:p>
          <a:p>
            <a:pPr indent="0" marL="0">
              <a:lnSpc>
                <a:spcPct val="145000"/>
              </a:lnSpc>
              <a:buNone/>
            </a:pPr>
            <a:r>
              <a:rPr lang="en-US" sz="2050" dirty="0">
                <a:solidFill>
                  <a:srgbClr val="12211B"/>
                </a:solidFill>
                <a:latin typeface="Calibri" pitchFamily="34" charset="0"/>
                <a:ea typeface="Calibri" pitchFamily="34" charset="-122"/>
                <a:cs typeface="Calibri" pitchFamily="34" charset="-120"/>
              </a:rPr>
              <a:t>I am seventeen years old.</a:t>
            </a:r>
            <a:endParaRPr lang="en-US" sz="2050" dirty="0"/>
          </a:p>
          <a:p>
            <a:pPr indent="0" marL="0">
              <a:lnSpc>
                <a:spcPct val="145000"/>
              </a:lnSpc>
              <a:buNone/>
            </a:pPr>
            <a:r>
              <a:rPr lang="en-US" sz="2050" dirty="0">
                <a:solidFill>
                  <a:srgbClr val="12211B"/>
                </a:solidFill>
                <a:latin typeface="Calibri" pitchFamily="34" charset="0"/>
                <a:ea typeface="Calibri" pitchFamily="34" charset="-122"/>
                <a:cs typeface="Calibri" pitchFamily="34" charset="-120"/>
              </a:rPr>
              <a:t>I go to school on Monday, Tuesday and Wednesday.</a:t>
            </a:r>
            <a:endParaRPr lang="en-US" sz="2050" dirty="0"/>
          </a:p>
          <a:p>
            <a:pPr indent="0" marL="0">
              <a:lnSpc>
                <a:spcPct val="145000"/>
              </a:lnSpc>
              <a:buNone/>
            </a:pPr>
            <a:r>
              <a:rPr lang="en-US" sz="2050" dirty="0">
                <a:solidFill>
                  <a:srgbClr val="12211B"/>
                </a:solidFill>
                <a:latin typeface="Calibri" pitchFamily="34" charset="0"/>
                <a:ea typeface="Calibri" pitchFamily="34" charset="-122"/>
                <a:cs typeface="Calibri" pitchFamily="34" charset="-120"/>
              </a:rPr>
              <a:t>School starts at eight o'clock.</a:t>
            </a:r>
            <a:endParaRPr lang="en-US" sz="2050" dirty="0"/>
          </a:p>
          <a:p>
            <a:pPr indent="0" marL="0">
              <a:lnSpc>
                <a:spcPct val="145000"/>
              </a:lnSpc>
              <a:buNone/>
            </a:pPr>
            <a:r>
              <a:rPr lang="en-US" sz="2050" dirty="0">
                <a:solidFill>
                  <a:srgbClr val="12211B"/>
                </a:solidFill>
                <a:latin typeface="Calibri" pitchFamily="34" charset="0"/>
                <a:ea typeface="Calibri" pitchFamily="34" charset="-122"/>
                <a:cs typeface="Calibri" pitchFamily="34" charset="-120"/>
              </a:rPr>
              <a:t>I do not go to school on Sunday.</a:t>
            </a:r>
            <a:endParaRPr lang="en-US" sz="2050" dirty="0"/>
          </a:p>
          <a:p>
            <a:pPr indent="0" marL="0">
              <a:lnSpc>
                <a:spcPct val="145000"/>
              </a:lnSpc>
              <a:buNone/>
            </a:pPr>
            <a:r>
              <a:rPr lang="en-US" sz="2050" dirty="0">
                <a:solidFill>
                  <a:srgbClr val="12211B"/>
                </a:solidFill>
                <a:latin typeface="Calibri" pitchFamily="34" charset="0"/>
                <a:ea typeface="Calibri" pitchFamily="34" charset="-122"/>
                <a:cs typeface="Calibri" pitchFamily="34" charset="-120"/>
              </a:rPr>
              <a:t>My birthday is in September.</a:t>
            </a:r>
            <a:endParaRPr lang="en-US" sz="2050" dirty="0"/>
          </a:p>
        </p:txBody>
      </p:sp>
      <p:sp>
        <p:nvSpPr>
          <p:cNvPr id="14" name="Shape 10"/>
          <p:cNvSpPr/>
          <p:nvPr/>
        </p:nvSpPr>
        <p:spPr>
          <a:xfrm>
            <a:off x="7589520" y="1883664"/>
            <a:ext cx="4053535" cy="4059936"/>
          </a:xfrm>
          <a:prstGeom prst="roundRect">
            <a:avLst>
              <a:gd name="adj" fmla="val 3158"/>
            </a:avLst>
          </a:prstGeom>
          <a:solidFill>
            <a:srgbClr val="F6F9F7"/>
          </a:solidFill>
          <a:ln w="12700">
            <a:solidFill>
              <a:srgbClr val="E3E9E5"/>
            </a:solidFill>
            <a:prstDash val="solid"/>
          </a:ln>
        </p:spPr>
      </p:sp>
      <p:sp>
        <p:nvSpPr>
          <p:cNvPr id="15" name="Text 11"/>
          <p:cNvSpPr txBox="1"/>
          <p:nvPr/>
        </p:nvSpPr>
        <p:spPr>
          <a:xfrm>
            <a:off x="7827264" y="2103120"/>
            <a:ext cx="3578047"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HOW TO READ IT</a:t>
            </a:r>
            <a:endParaRPr lang="en-US" sz="1200" dirty="0"/>
          </a:p>
        </p:txBody>
      </p:sp>
      <p:sp>
        <p:nvSpPr>
          <p:cNvPr id="16" name="Text 12"/>
          <p:cNvSpPr/>
          <p:nvPr/>
        </p:nvSpPr>
        <p:spPr>
          <a:xfrm>
            <a:off x="7863840" y="2505456"/>
            <a:ext cx="350489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The teacher reads the whole text once.</a:t>
            </a:r>
            <a:endParaRPr lang="en-US" sz="1700" dirty="0"/>
          </a:p>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The class reads it together, in chorus.</a:t>
            </a:r>
            <a:endParaRPr lang="en-US" sz="1700" dirty="0"/>
          </a:p>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Then six learners read one line each.</a:t>
            </a:r>
            <a:endParaRPr lang="en-US" sz="1700" dirty="0"/>
          </a:p>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Find every number, every day, every month and every preposition.</a:t>
            </a:r>
            <a:endParaRPr lang="en-US" sz="17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1 — questions</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2 — Numbers, Time &amp; Money</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42</a:t>
            </a:r>
            <a:endParaRPr lang="en-US" sz="1100" dirty="0"/>
          </a:p>
        </p:txBody>
      </p:sp>
      <p:sp>
        <p:nvSpPr>
          <p:cNvPr id="10" name="Shape 6"/>
          <p:cNvSpPr/>
          <p:nvPr/>
        </p:nvSpPr>
        <p:spPr>
          <a:xfrm>
            <a:off x="548640" y="1700784"/>
            <a:ext cx="11094415" cy="566928"/>
          </a:xfrm>
          <a:prstGeom prst="roundRect">
            <a:avLst>
              <a:gd name="adj" fmla="val 22581"/>
            </a:avLst>
          </a:prstGeom>
          <a:solidFill>
            <a:srgbClr val="E7F3EF"/>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Answer in a FULL SENTENCE. Not “seventeen” — say “Sara is seventeen years old.”</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How old is Sara?</a:t>
            </a:r>
            <a:endParaRPr lang="en-US" sz="20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How many days a week does she go to school?</a:t>
            </a:r>
            <a:endParaRPr lang="en-US" sz="20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What time does school start?</a:t>
            </a:r>
            <a:endParaRPr lang="en-US" sz="20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Which day does she NOT go to school?</a:t>
            </a:r>
            <a:endParaRPr lang="en-US" sz="20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When is her birthday?</a:t>
            </a:r>
            <a:endParaRPr lang="en-US" sz="2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1 — answers and why</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2 — Numbers, Time &amp; Money</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43</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1 — How old is Sara?</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Sara is seventeen years old.</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English says “I am seventeen years old”, using the verb “to be” — not “I have seventeen years”.</a:t>
            </a:r>
            <a:endParaRPr lang="en-US" sz="110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2 — How many days a week?</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She goes to school three days a week.</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text lists Monday, Tuesday and Wednesday but never says “three”. You have to count them yourself.</a:t>
            </a:r>
            <a:endParaRPr lang="en-US" sz="110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3 — What time does school start?</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School starts at eight o'clock.</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 clock time takes AT. Copy the preposition from the text — it is already correct there.</a:t>
            </a:r>
            <a:endParaRPr lang="en-US" sz="110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4 — Which day does she not go?</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She does not go to school on Sunday.</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 day takes ON, and Sunday takes a capital letter.</a:t>
            </a:r>
            <a:endParaRPr lang="en-US" sz="110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5 — When is her birthday?</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Her birthday is in September.</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 month takes IN, and September takes a capital letter.</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2 — at the shop</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A longer text. Read it aloud twice.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2 — Numbers, Time &amp; Money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44</a:t>
            </a:r>
            <a:endParaRPr lang="en-US" sz="1100" dirty="0"/>
          </a:p>
        </p:txBody>
      </p:sp>
      <p:sp>
        <p:nvSpPr>
          <p:cNvPr id="11" name="Shape 7"/>
          <p:cNvSpPr/>
          <p:nvPr/>
        </p:nvSpPr>
        <p:spPr>
          <a:xfrm>
            <a:off x="548640" y="1883664"/>
            <a:ext cx="6766560" cy="4059936"/>
          </a:xfrm>
          <a:prstGeom prst="roundRect">
            <a:avLst>
              <a:gd name="adj" fmla="val 3153"/>
            </a:avLst>
          </a:prstGeom>
          <a:solidFill>
            <a:srgbClr val="E7F3EF"/>
          </a:solidFill>
          <a:ln w="15875">
            <a:solidFill>
              <a:srgbClr val="0E7C5A"/>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217920"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READ ALOUD</a:t>
            </a:r>
            <a:endParaRPr lang="en-US" sz="1200" dirty="0"/>
          </a:p>
        </p:txBody>
      </p:sp>
      <p:sp>
        <p:nvSpPr>
          <p:cNvPr id="13" name="Text 9"/>
          <p:cNvSpPr txBox="1"/>
          <p:nvPr/>
        </p:nvSpPr>
        <p:spPr>
          <a:xfrm>
            <a:off x="822960" y="2487168"/>
            <a:ext cx="6217920" cy="3218688"/>
          </a:xfrm>
          <a:prstGeom prst="rect">
            <a:avLst/>
          </a:prstGeom>
          <a:noFill/>
          <a:ln/>
        </p:spPr>
        <p:txBody>
          <a:bodyPr wrap="square" lIns="0" tIns="0" rIns="0" bIns="0" rtlCol="0" anchor="ctr"/>
          <a:lstStyle/>
          <a:p>
            <a:pPr indent="0" marL="0">
              <a:lnSpc>
                <a:spcPct val="140000"/>
              </a:lnSpc>
              <a:buNone/>
            </a:pPr>
            <a:r>
              <a:rPr lang="en-US" sz="1850" dirty="0">
                <a:solidFill>
                  <a:srgbClr val="12211B"/>
                </a:solidFill>
                <a:latin typeface="Calibri" pitchFamily="34" charset="0"/>
                <a:ea typeface="Calibri" pitchFamily="34" charset="-122"/>
                <a:cs typeface="Calibri" pitchFamily="34" charset="-120"/>
              </a:rPr>
              <a:t>Abel has a shop in Merkato.</a:t>
            </a:r>
            <a:endParaRPr lang="en-US" sz="1850" dirty="0"/>
          </a:p>
          <a:p>
            <a:pPr indent="0" marL="0">
              <a:lnSpc>
                <a:spcPct val="140000"/>
              </a:lnSpc>
              <a:buNone/>
            </a:pPr>
            <a:r>
              <a:rPr lang="en-US" sz="1850" dirty="0">
                <a:solidFill>
                  <a:srgbClr val="12211B"/>
                </a:solidFill>
                <a:latin typeface="Calibri" pitchFamily="34" charset="0"/>
                <a:ea typeface="Calibri" pitchFamily="34" charset="-122"/>
                <a:cs typeface="Calibri" pitchFamily="34" charset="-120"/>
              </a:rPr>
              <a:t>The shop opens at seven o'clock in the morning.</a:t>
            </a:r>
            <a:endParaRPr lang="en-US" sz="1850" dirty="0"/>
          </a:p>
          <a:p>
            <a:pPr indent="0" marL="0">
              <a:lnSpc>
                <a:spcPct val="140000"/>
              </a:lnSpc>
              <a:buNone/>
            </a:pPr>
            <a:r>
              <a:rPr lang="en-US" sz="1850" dirty="0">
                <a:solidFill>
                  <a:srgbClr val="12211B"/>
                </a:solidFill>
                <a:latin typeface="Calibri" pitchFamily="34" charset="0"/>
                <a:ea typeface="Calibri" pitchFamily="34" charset="-122"/>
                <a:cs typeface="Calibri" pitchFamily="34" charset="-120"/>
              </a:rPr>
              <a:t>It closes at six o'clock in the evening.</a:t>
            </a:r>
            <a:endParaRPr lang="en-US" sz="1850" dirty="0"/>
          </a:p>
          <a:p>
            <a:pPr indent="0" marL="0">
              <a:lnSpc>
                <a:spcPct val="140000"/>
              </a:lnSpc>
              <a:buNone/>
            </a:pPr>
            <a:r>
              <a:rPr lang="en-US" sz="1850" dirty="0">
                <a:solidFill>
                  <a:srgbClr val="12211B"/>
                </a:solidFill>
                <a:latin typeface="Calibri" pitchFamily="34" charset="0"/>
                <a:ea typeface="Calibri" pitchFamily="34" charset="-122"/>
                <a:cs typeface="Calibri" pitchFamily="34" charset="-120"/>
              </a:rPr>
              <a:t>He works six days a week.</a:t>
            </a:r>
            <a:endParaRPr lang="en-US" sz="1850" dirty="0"/>
          </a:p>
          <a:p>
            <a:pPr indent="0" marL="0">
              <a:lnSpc>
                <a:spcPct val="140000"/>
              </a:lnSpc>
              <a:buNone/>
            </a:pPr>
            <a:r>
              <a:rPr lang="en-US" sz="1850" dirty="0">
                <a:solidFill>
                  <a:srgbClr val="12211B"/>
                </a:solidFill>
                <a:latin typeface="Calibri" pitchFamily="34" charset="0"/>
                <a:ea typeface="Calibri" pitchFamily="34" charset="-122"/>
                <a:cs typeface="Calibri" pitchFamily="34" charset="-120"/>
              </a:rPr>
              <a:t>He does not work on Sunday.</a:t>
            </a:r>
            <a:endParaRPr lang="en-US" sz="1850" dirty="0"/>
          </a:p>
          <a:p>
            <a:pPr indent="0" marL="0">
              <a:lnSpc>
                <a:spcPct val="140000"/>
              </a:lnSpc>
              <a:buNone/>
            </a:pPr>
            <a:r>
              <a:rPr lang="en-US" sz="1850" dirty="0">
                <a:solidFill>
                  <a:srgbClr val="12211B"/>
                </a:solidFill>
                <a:latin typeface="Calibri" pitchFamily="34" charset="0"/>
                <a:ea typeface="Calibri" pitchFamily="34" charset="-122"/>
                <a:cs typeface="Calibri" pitchFamily="34" charset="-120"/>
              </a:rPr>
              <a:t>Today a bag is eighty birr and a pen is fifteen birr.</a:t>
            </a:r>
            <a:endParaRPr lang="en-US" sz="1850" dirty="0"/>
          </a:p>
          <a:p>
            <a:pPr indent="0" marL="0">
              <a:lnSpc>
                <a:spcPct val="140000"/>
              </a:lnSpc>
              <a:buNone/>
            </a:pPr>
            <a:r>
              <a:rPr lang="en-US" sz="1850" dirty="0">
                <a:solidFill>
                  <a:srgbClr val="12211B"/>
                </a:solidFill>
                <a:latin typeface="Calibri" pitchFamily="34" charset="0"/>
                <a:ea typeface="Calibri" pitchFamily="34" charset="-122"/>
                <a:cs typeface="Calibri" pitchFamily="34" charset="-120"/>
              </a:rPr>
              <a:t>Abel says, “That is a good price.”</a:t>
            </a:r>
            <a:endParaRPr lang="en-US" sz="1850" dirty="0"/>
          </a:p>
        </p:txBody>
      </p:sp>
      <p:sp>
        <p:nvSpPr>
          <p:cNvPr id="14" name="Shape 10"/>
          <p:cNvSpPr/>
          <p:nvPr/>
        </p:nvSpPr>
        <p:spPr>
          <a:xfrm>
            <a:off x="7589520" y="1883664"/>
            <a:ext cx="4053535" cy="4059936"/>
          </a:xfrm>
          <a:prstGeom prst="roundRect">
            <a:avLst>
              <a:gd name="adj" fmla="val 3158"/>
            </a:avLst>
          </a:prstGeom>
          <a:solidFill>
            <a:srgbClr val="F6F9F7"/>
          </a:solidFill>
          <a:ln w="12700">
            <a:solidFill>
              <a:srgbClr val="E3E9E5"/>
            </a:solidFill>
            <a:prstDash val="solid"/>
          </a:ln>
        </p:spPr>
      </p:sp>
      <p:sp>
        <p:nvSpPr>
          <p:cNvPr id="15" name="Text 11"/>
          <p:cNvSpPr txBox="1"/>
          <p:nvPr/>
        </p:nvSpPr>
        <p:spPr>
          <a:xfrm>
            <a:off x="7827264" y="2103120"/>
            <a:ext cx="3578047"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NEW WORDS HERE</a:t>
            </a:r>
            <a:endParaRPr lang="en-US" sz="1200" dirty="0"/>
          </a:p>
        </p:txBody>
      </p:sp>
      <p:sp>
        <p:nvSpPr>
          <p:cNvPr id="16" name="Text 12"/>
          <p:cNvSpPr/>
          <p:nvPr/>
        </p:nvSpPr>
        <p:spPr>
          <a:xfrm>
            <a:off x="7863840" y="2505456"/>
            <a:ext cx="350489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opens — starts the day</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closes — finishes the day</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morning — before midday</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evening — the end of the day</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Find the four numbers. Find the two prices. Find every preposition of time.</a:t>
            </a:r>
            <a:endParaRPr lang="en-US" sz="16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250" b="1" dirty="0">
                <a:solidFill>
                  <a:srgbClr val="12211B"/>
                </a:solidFill>
                <a:latin typeface="Calibri" pitchFamily="34" charset="0"/>
                <a:ea typeface="Calibri" pitchFamily="34" charset="-122"/>
                <a:cs typeface="Calibri" pitchFamily="34" charset="-120"/>
              </a:rPr>
              <a:t>Reading 2 — questions, answers and vocabulary review</a:t>
            </a:r>
            <a:endParaRPr lang="en-US" sz="325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2 — Numbers, Time &amp; Money</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45</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1 — What time does the shop open?</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It opens at seven o'clock in the morning.</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AT for the clock time, IN for the part of the day. Two different prepositions in one sentence.</a:t>
            </a:r>
            <a:endParaRPr lang="en-US" sz="110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2 — How many hours is the shop open?</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Eleven hours.</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From seven in the morning to six in the evening. You have to work this out — it is not written in the text.</a:t>
            </a:r>
            <a:endParaRPr lang="en-US" sz="110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3 — Which day is the shop closed?</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It is closed on Sunday.</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ON for a day, and Sunday takes a capital letter.</a:t>
            </a:r>
            <a:endParaRPr lang="en-US" sz="110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4 — How much are a bag and a pen together?</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Ninety-five birr.</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Eighty plus fifteen. Note: birr never takes an -s after a number.</a:t>
            </a:r>
            <a:endParaRPr lang="en-US" sz="110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5 — Vocabulary check: name the five words from this module.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time · money · week · month · price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All five appeared in this module. Three of them are in these two reading texts — find them again.</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Writing 1 — numbers in words</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2 — Numbers, Time &amp; Money</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46</a:t>
            </a:r>
            <a:endParaRPr lang="en-US" sz="1100" dirty="0"/>
          </a:p>
        </p:txBody>
      </p:sp>
      <p:sp>
        <p:nvSpPr>
          <p:cNvPr id="10" name="Shape 6"/>
          <p:cNvSpPr/>
          <p:nvPr/>
        </p:nvSpPr>
        <p:spPr>
          <a:xfrm>
            <a:off x="548640" y="1700784"/>
            <a:ext cx="11094415" cy="566928"/>
          </a:xfrm>
          <a:prstGeom prst="roundRect">
            <a:avLst>
              <a:gd name="adj" fmla="val 22581"/>
            </a:avLst>
          </a:prstGeom>
          <a:solidFill>
            <a:srgbClr val="F2ECFA"/>
          </a:solidFill>
          <a:ln w="12700">
            <a:solidFill>
              <a:srgbClr val="7A4FBF"/>
            </a:solidFill>
            <a:prstDash val="solid"/>
          </a:ln>
        </p:spPr>
      </p:sp>
      <p:sp>
        <p:nvSpPr>
          <p:cNvPr id="11" name="Shape 7"/>
          <p:cNvSpPr/>
          <p:nvPr/>
        </p:nvSpPr>
        <p:spPr>
          <a:xfrm>
            <a:off x="749808" y="1810512"/>
            <a:ext cx="347472" cy="347472"/>
          </a:xfrm>
          <a:prstGeom prst="ellipse">
            <a:avLst/>
          </a:prstGeom>
          <a:solidFill>
            <a:srgbClr val="7A4FBF"/>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the word, not the figure. Check the hyphen and the spelling.</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7A4FBF"/>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1.  13   ·   30</a:t>
            </a:r>
            <a:endParaRPr lang="en-US" sz="20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7A4FBF"/>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2.  15   ·   50</a:t>
            </a:r>
            <a:endParaRPr lang="en-US" sz="20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7A4FBF"/>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3.  40   ·   4</a:t>
            </a:r>
            <a:endParaRPr lang="en-US" sz="20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7A4FBF"/>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4.  21   ·   99</a:t>
            </a:r>
            <a:endParaRPr lang="en-US" sz="20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7A4FBF"/>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5.  100</a:t>
            </a:r>
            <a:endParaRPr lang="en-US" sz="2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Writing 2 — write about your week</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Copy the frame. Fill in your own information.</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2 — Numbers, Time &amp; Money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47</a:t>
            </a:r>
            <a:endParaRPr lang="en-US" sz="1100" dirty="0"/>
          </a:p>
        </p:txBody>
      </p:sp>
      <p:sp>
        <p:nvSpPr>
          <p:cNvPr id="11" name="Shape 7"/>
          <p:cNvSpPr/>
          <p:nvPr/>
        </p:nvSpPr>
        <p:spPr>
          <a:xfrm>
            <a:off x="548640" y="1883664"/>
            <a:ext cx="6949440" cy="4059936"/>
          </a:xfrm>
          <a:prstGeom prst="roundRect">
            <a:avLst>
              <a:gd name="adj" fmla="val 3153"/>
            </a:avLst>
          </a:prstGeom>
          <a:solidFill>
            <a:srgbClr val="F2ECFA"/>
          </a:solidFill>
          <a:ln w="15875">
            <a:solidFill>
              <a:srgbClr val="7A4FBF"/>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400800" cy="274320"/>
          </a:xfrm>
          <a:prstGeom prst="rect">
            <a:avLst/>
          </a:prstGeom>
          <a:noFill/>
          <a:ln/>
        </p:spPr>
        <p:txBody>
          <a:bodyPr wrap="square" lIns="0" tIns="0" rIns="0" bIns="0" rtlCol="0" anchor="ctr"/>
          <a:lstStyle/>
          <a:p>
            <a:pPr indent="0" marL="0">
              <a:buNone/>
            </a:pPr>
            <a:r>
              <a:rPr lang="en-US" sz="1200" b="1" spc="120" kern="0" dirty="0">
                <a:solidFill>
                  <a:srgbClr val="7A4FBF"/>
                </a:solidFill>
                <a:latin typeface="Calibri" pitchFamily="34" charset="0"/>
                <a:ea typeface="Calibri" pitchFamily="34" charset="-122"/>
                <a:cs typeface="Calibri" pitchFamily="34" charset="-120"/>
              </a:rPr>
              <a:t>COPY THIS FRAME AND COMPLETE IT</a:t>
            </a:r>
            <a:endParaRPr lang="en-US" sz="1200" dirty="0"/>
          </a:p>
        </p:txBody>
      </p:sp>
      <p:sp>
        <p:nvSpPr>
          <p:cNvPr id="13" name="Text 9"/>
          <p:cNvSpPr txBox="1"/>
          <p:nvPr/>
        </p:nvSpPr>
        <p:spPr>
          <a:xfrm>
            <a:off x="822960" y="2487168"/>
            <a:ext cx="6400800" cy="3218688"/>
          </a:xfrm>
          <a:prstGeom prst="rect">
            <a:avLst/>
          </a:prstGeom>
          <a:noFill/>
          <a:ln/>
        </p:spPr>
        <p:txBody>
          <a:bodyPr wrap="square" lIns="0" tIns="0" rIns="0" bIns="0" rtlCol="0" anchor="ctr"/>
          <a:lstStyle/>
          <a:p>
            <a:pPr indent="0" marL="0">
              <a:lnSpc>
                <a:spcPct val="160000"/>
              </a:lnSpc>
              <a:buNone/>
            </a:pPr>
            <a:r>
              <a:rPr lang="en-US" sz="2100" dirty="0">
                <a:solidFill>
                  <a:srgbClr val="12211B"/>
                </a:solidFill>
                <a:latin typeface="Calibri" pitchFamily="34" charset="0"/>
                <a:ea typeface="Calibri" pitchFamily="34" charset="-122"/>
                <a:cs typeface="Calibri" pitchFamily="34" charset="-120"/>
              </a:rPr>
              <a:t>My name is ______________.</a:t>
            </a:r>
            <a:endParaRPr lang="en-US" sz="2100" dirty="0"/>
          </a:p>
          <a:p>
            <a:pPr indent="0" marL="0">
              <a:lnSpc>
                <a:spcPct val="160000"/>
              </a:lnSpc>
              <a:buNone/>
            </a:pPr>
            <a:r>
              <a:rPr lang="en-US" sz="2100" dirty="0">
                <a:solidFill>
                  <a:srgbClr val="12211B"/>
                </a:solidFill>
                <a:latin typeface="Calibri" pitchFamily="34" charset="0"/>
                <a:ea typeface="Calibri" pitchFamily="34" charset="-122"/>
                <a:cs typeface="Calibri" pitchFamily="34" charset="-120"/>
              </a:rPr>
              <a:t>I am ______ years old.</a:t>
            </a:r>
            <a:endParaRPr lang="en-US" sz="2100" dirty="0"/>
          </a:p>
          <a:p>
            <a:pPr indent="0" marL="0">
              <a:lnSpc>
                <a:spcPct val="160000"/>
              </a:lnSpc>
              <a:buNone/>
            </a:pPr>
            <a:r>
              <a:rPr lang="en-US" sz="2100" dirty="0">
                <a:solidFill>
                  <a:srgbClr val="12211B"/>
                </a:solidFill>
                <a:latin typeface="Calibri" pitchFamily="34" charset="0"/>
                <a:ea typeface="Calibri" pitchFamily="34" charset="-122"/>
                <a:cs typeface="Calibri" pitchFamily="34" charset="-120"/>
              </a:rPr>
              <a:t>I work on ______________.</a:t>
            </a:r>
            <a:endParaRPr lang="en-US" sz="2100" dirty="0"/>
          </a:p>
          <a:p>
            <a:pPr indent="0" marL="0">
              <a:lnSpc>
                <a:spcPct val="160000"/>
              </a:lnSpc>
              <a:buNone/>
            </a:pPr>
            <a:r>
              <a:rPr lang="en-US" sz="2100" dirty="0">
                <a:solidFill>
                  <a:srgbClr val="12211B"/>
                </a:solidFill>
                <a:latin typeface="Calibri" pitchFamily="34" charset="0"/>
                <a:ea typeface="Calibri" pitchFamily="34" charset="-122"/>
                <a:cs typeface="Calibri" pitchFamily="34" charset="-120"/>
              </a:rPr>
              <a:t>I start at ______ o'clock.</a:t>
            </a:r>
            <a:endParaRPr lang="en-US" sz="2100" dirty="0"/>
          </a:p>
          <a:p>
            <a:pPr indent="0" marL="0">
              <a:lnSpc>
                <a:spcPct val="160000"/>
              </a:lnSpc>
              <a:buNone/>
            </a:pPr>
            <a:r>
              <a:rPr lang="en-US" sz="2100" dirty="0">
                <a:solidFill>
                  <a:srgbClr val="12211B"/>
                </a:solidFill>
                <a:latin typeface="Calibri" pitchFamily="34" charset="0"/>
                <a:ea typeface="Calibri" pitchFamily="34" charset="-122"/>
                <a:cs typeface="Calibri" pitchFamily="34" charset="-120"/>
              </a:rPr>
              <a:t>My birthday is in ______________.</a:t>
            </a:r>
            <a:endParaRPr lang="en-US" sz="2100" dirty="0"/>
          </a:p>
        </p:txBody>
      </p:sp>
      <p:sp>
        <p:nvSpPr>
          <p:cNvPr id="14" name="Shape 10"/>
          <p:cNvSpPr/>
          <p:nvPr/>
        </p:nvSpPr>
        <p:spPr>
          <a:xfrm>
            <a:off x="7772400" y="1883664"/>
            <a:ext cx="3870655" cy="4059936"/>
          </a:xfrm>
          <a:prstGeom prst="roundRect">
            <a:avLst>
              <a:gd name="adj" fmla="val 3307"/>
            </a:avLst>
          </a:prstGeom>
          <a:solidFill>
            <a:srgbClr val="F6F9F7"/>
          </a:solidFill>
          <a:ln w="12700">
            <a:solidFill>
              <a:srgbClr val="E3E9E5"/>
            </a:solidFill>
            <a:prstDash val="solid"/>
          </a:ln>
        </p:spPr>
      </p:sp>
      <p:sp>
        <p:nvSpPr>
          <p:cNvPr id="15" name="Text 11"/>
          <p:cNvSpPr txBox="1"/>
          <p:nvPr/>
        </p:nvSpPr>
        <p:spPr>
          <a:xfrm>
            <a:off x="8010144" y="2103120"/>
            <a:ext cx="3395167" cy="274320"/>
          </a:xfrm>
          <a:prstGeom prst="rect">
            <a:avLst/>
          </a:prstGeom>
          <a:noFill/>
          <a:ln/>
        </p:spPr>
        <p:txBody>
          <a:bodyPr wrap="square" lIns="0" tIns="0" rIns="0" bIns="0" rtlCol="0" anchor="ctr"/>
          <a:lstStyle/>
          <a:p>
            <a:pPr indent="0" marL="0">
              <a:buNone/>
            </a:pPr>
            <a:r>
              <a:rPr lang="en-US" sz="1200" b="1" spc="120" kern="0" dirty="0">
                <a:solidFill>
                  <a:srgbClr val="7A4FBF"/>
                </a:solidFill>
                <a:latin typeface="Calibri" pitchFamily="34" charset="0"/>
                <a:ea typeface="Calibri" pitchFamily="34" charset="-122"/>
                <a:cs typeface="Calibri" pitchFamily="34" charset="-120"/>
              </a:rPr>
              <a:t>BEFORE YOU WRITE, CHECK</a:t>
            </a:r>
            <a:endParaRPr lang="en-US" sz="1200" dirty="0"/>
          </a:p>
        </p:txBody>
      </p:sp>
      <p:sp>
        <p:nvSpPr>
          <p:cNvPr id="16" name="Text 12"/>
          <p:cNvSpPr/>
          <p:nvPr/>
        </p:nvSpPr>
        <p:spPr>
          <a:xfrm>
            <a:off x="8046720" y="2505456"/>
            <a:ext cx="332201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Capital letter at the start of every sentence?</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Capital letters on days and months?</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The right preposition: on a day, at a time, in a month?</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A full stop at the end of every sentence?</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Numbers spelled correctly?</a:t>
            </a:r>
            <a:endParaRPr lang="en-US" sz="16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Writing 3 — write full sentences</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2 — Numbers, Time &amp; Money</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48</a:t>
            </a:r>
            <a:endParaRPr lang="en-US" sz="1100" dirty="0"/>
          </a:p>
        </p:txBody>
      </p:sp>
      <p:sp>
        <p:nvSpPr>
          <p:cNvPr id="10" name="Shape 6"/>
          <p:cNvSpPr/>
          <p:nvPr/>
        </p:nvSpPr>
        <p:spPr>
          <a:xfrm>
            <a:off x="548640" y="1700784"/>
            <a:ext cx="11094415" cy="566928"/>
          </a:xfrm>
          <a:prstGeom prst="roundRect">
            <a:avLst>
              <a:gd name="adj" fmla="val 22581"/>
            </a:avLst>
          </a:prstGeom>
          <a:solidFill>
            <a:srgbClr val="F2ECFA"/>
          </a:solidFill>
          <a:ln w="12700">
            <a:solidFill>
              <a:srgbClr val="7A4FBF"/>
            </a:solidFill>
            <a:prstDash val="solid"/>
          </a:ln>
        </p:spPr>
      </p:sp>
      <p:sp>
        <p:nvSpPr>
          <p:cNvPr id="11" name="Shape 7"/>
          <p:cNvSpPr/>
          <p:nvPr/>
        </p:nvSpPr>
        <p:spPr>
          <a:xfrm>
            <a:off x="749808" y="1810512"/>
            <a:ext cx="347472" cy="347472"/>
          </a:xfrm>
          <a:prstGeom prst="ellipse">
            <a:avLst/>
          </a:prstGeom>
          <a:solidFill>
            <a:srgbClr val="7A4FBF"/>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ONE full sentence for each. Check the preposition and the capital letters.</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7A4FBF"/>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1.  Write a sentence about what time you wake up.</a:t>
            </a:r>
            <a:endParaRPr lang="en-US" sz="20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7A4FBF"/>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2.  Write a sentence about which day you do not work or study.</a:t>
            </a:r>
            <a:endParaRPr lang="en-US" sz="20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7A4FBF"/>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3.  Write a sentence with the price of something you bought.</a:t>
            </a:r>
            <a:endParaRPr lang="en-US" sz="20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7A4FBF"/>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4.  Write a sentence about the month of your birthday.</a:t>
            </a:r>
            <a:endParaRPr lang="en-US" sz="20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7A4FBF"/>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5.  Write a QUESTION asking someone the price of a bag.</a:t>
            </a:r>
            <a:endParaRPr lang="en-US" sz="2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Writing 3 — model answers and why</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2 — Numbers, Time &amp; Money</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49</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1 — what time you wake up</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I wake up at six o'clock.</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AT for a clock time. Any hour is correct as long as the preposition is right.</a:t>
            </a:r>
            <a:endParaRPr lang="en-US" sz="110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2 — the day you do not work</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I do not work on Sunday.</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ON for a day, plus a capital S on Sunday. Two rules in one short sentence.</a:t>
            </a:r>
            <a:endParaRPr lang="en-US" sz="110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3 — the price of something</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The bag was eighty birr.</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No -s on birr after a number. “Was” is past — “is” is also acceptable at this level.</a:t>
            </a:r>
            <a:endParaRPr lang="en-US" sz="110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4 — your birthday month</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My birthday is in September.</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IN for a month, plus a capital S on September.</a:t>
            </a:r>
            <a:endParaRPr lang="en-US" sz="110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5 — a question about a price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How much is this bag?</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verb “is” comes before “this bag”, and the sentence ends with a question mark, never a full stop.</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Your writing checklist for this module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Use this with the three rules from Module 1.</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2 — Numbers, Time &amp; Money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50</a:t>
            </a:r>
            <a:endParaRPr lang="en-US" sz="1100" dirty="0"/>
          </a:p>
        </p:txBody>
      </p:sp>
      <p:sp>
        <p:nvSpPr>
          <p:cNvPr id="11" name="Shape 7"/>
          <p:cNvSpPr/>
          <p:nvPr/>
        </p:nvSpPr>
        <p:spPr>
          <a:xfrm>
            <a:off x="548640" y="1883664"/>
            <a:ext cx="11094415" cy="905256"/>
          </a:xfrm>
          <a:prstGeom prst="roundRect">
            <a:avLst>
              <a:gd name="adj" fmla="val 14141"/>
            </a:avLst>
          </a:prstGeom>
          <a:solidFill>
            <a:srgbClr val="F6F9F7"/>
          </a:solidFill>
          <a:ln w="12700">
            <a:solidFill>
              <a:srgbClr val="E3E9E5"/>
            </a:solidFill>
            <a:prstDash val="solid"/>
          </a:ln>
        </p:spPr>
      </p:sp>
      <p:sp>
        <p:nvSpPr>
          <p:cNvPr id="12" name="Shape 8"/>
          <p:cNvSpPr/>
          <p:nvPr/>
        </p:nvSpPr>
        <p:spPr>
          <a:xfrm>
            <a:off x="786384" y="2135124"/>
            <a:ext cx="402336" cy="402336"/>
          </a:xfrm>
          <a:prstGeom prst="ellipse">
            <a:avLst/>
          </a:prstGeom>
          <a:solidFill>
            <a:srgbClr val="7A4FBF"/>
          </a:solidFill>
          <a:ln/>
        </p:spPr>
      </p:sp>
      <p:pic>
        <p:nvPicPr>
          <p:cNvPr id="13" name="Image 1" descr="preencoded.png">    </p:cNvPr>
          <p:cNvPicPr>
            <a:picLocks noChangeAspect="1"/>
          </p:cNvPicPr>
          <p:nvPr/>
        </p:nvPicPr>
        <p:blipFill>
          <a:blip r:embed="rId2"/>
          <a:stretch>
            <a:fillRect/>
          </a:stretch>
        </p:blipFill>
        <p:spPr>
          <a:xfrm>
            <a:off x="882945" y="2231685"/>
            <a:ext cx="209215" cy="209215"/>
          </a:xfrm>
          <a:prstGeom prst="rect">
            <a:avLst/>
          </a:prstGeom>
        </p:spPr>
      </p:pic>
      <p:sp>
        <p:nvSpPr>
          <p:cNvPr id="14" name="Text 9"/>
          <p:cNvSpPr/>
          <p:nvPr/>
        </p:nvSpPr>
        <p:spPr>
          <a:xfrm>
            <a:off x="1463040" y="195681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The right preposition of time</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AT a clock time · ON a day · IN a month. Check every one.</a:t>
            </a:r>
            <a:endParaRPr lang="en-US" sz="2100" dirty="0"/>
          </a:p>
        </p:txBody>
      </p:sp>
      <p:sp>
        <p:nvSpPr>
          <p:cNvPr id="15" name="Shape 10"/>
          <p:cNvSpPr/>
          <p:nvPr/>
        </p:nvSpPr>
        <p:spPr>
          <a:xfrm>
            <a:off x="548640" y="2935224"/>
            <a:ext cx="11094415" cy="905256"/>
          </a:xfrm>
          <a:prstGeom prst="roundRect">
            <a:avLst>
              <a:gd name="adj" fmla="val 14141"/>
            </a:avLst>
          </a:prstGeom>
          <a:solidFill>
            <a:srgbClr val="F6F9F7"/>
          </a:solidFill>
          <a:ln w="12700">
            <a:solidFill>
              <a:srgbClr val="E3E9E5"/>
            </a:solidFill>
            <a:prstDash val="solid"/>
          </a:ln>
        </p:spPr>
      </p:sp>
      <p:sp>
        <p:nvSpPr>
          <p:cNvPr id="16" name="Shape 11"/>
          <p:cNvSpPr/>
          <p:nvPr/>
        </p:nvSpPr>
        <p:spPr>
          <a:xfrm>
            <a:off x="786384" y="3186684"/>
            <a:ext cx="402336" cy="402336"/>
          </a:xfrm>
          <a:prstGeom prst="ellipse">
            <a:avLst/>
          </a:prstGeom>
          <a:solidFill>
            <a:srgbClr val="7A4FBF"/>
          </a:solidFill>
          <a:ln/>
        </p:spPr>
      </p:sp>
      <p:pic>
        <p:nvPicPr>
          <p:cNvPr id="17" name="Image 2" descr="preencoded.png">    </p:cNvPr>
          <p:cNvPicPr>
            <a:picLocks noChangeAspect="1"/>
          </p:cNvPicPr>
          <p:nvPr/>
        </p:nvPicPr>
        <p:blipFill>
          <a:blip r:embed="rId3"/>
          <a:stretch>
            <a:fillRect/>
          </a:stretch>
        </p:blipFill>
        <p:spPr>
          <a:xfrm>
            <a:off x="882945" y="3283245"/>
            <a:ext cx="209215" cy="209215"/>
          </a:xfrm>
          <a:prstGeom prst="rect">
            <a:avLst/>
          </a:prstGeom>
        </p:spPr>
      </p:pic>
      <p:sp>
        <p:nvSpPr>
          <p:cNvPr id="18" name="Text 12"/>
          <p:cNvSpPr/>
          <p:nvPr/>
        </p:nvSpPr>
        <p:spPr>
          <a:xfrm>
            <a:off x="1463040" y="300837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Capital letters on days and months</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Monday, Sunday, January, September — all capital.</a:t>
            </a:r>
            <a:endParaRPr lang="en-US" sz="2100" dirty="0"/>
          </a:p>
        </p:txBody>
      </p:sp>
      <p:sp>
        <p:nvSpPr>
          <p:cNvPr id="19" name="Shape 13"/>
          <p:cNvSpPr/>
          <p:nvPr/>
        </p:nvSpPr>
        <p:spPr>
          <a:xfrm>
            <a:off x="548640" y="3986784"/>
            <a:ext cx="11094415" cy="905256"/>
          </a:xfrm>
          <a:prstGeom prst="roundRect">
            <a:avLst>
              <a:gd name="adj" fmla="val 14141"/>
            </a:avLst>
          </a:prstGeom>
          <a:solidFill>
            <a:srgbClr val="F6F9F7"/>
          </a:solidFill>
          <a:ln w="12700">
            <a:solidFill>
              <a:srgbClr val="E3E9E5"/>
            </a:solidFill>
            <a:prstDash val="solid"/>
          </a:ln>
        </p:spPr>
      </p:sp>
      <p:sp>
        <p:nvSpPr>
          <p:cNvPr id="20" name="Shape 14"/>
          <p:cNvSpPr/>
          <p:nvPr/>
        </p:nvSpPr>
        <p:spPr>
          <a:xfrm>
            <a:off x="786384" y="4238244"/>
            <a:ext cx="402336" cy="402336"/>
          </a:xfrm>
          <a:prstGeom prst="ellipse">
            <a:avLst/>
          </a:prstGeom>
          <a:solidFill>
            <a:srgbClr val="7A4FBF"/>
          </a:solidFill>
          <a:ln/>
        </p:spPr>
      </p:sp>
      <p:pic>
        <p:nvPicPr>
          <p:cNvPr id="21" name="Image 3" descr="preencoded.png">    </p:cNvPr>
          <p:cNvPicPr>
            <a:picLocks noChangeAspect="1"/>
          </p:cNvPicPr>
          <p:nvPr/>
        </p:nvPicPr>
        <p:blipFill>
          <a:blip r:embed="rId4"/>
          <a:stretch>
            <a:fillRect/>
          </a:stretch>
        </p:blipFill>
        <p:spPr>
          <a:xfrm>
            <a:off x="882945" y="4334805"/>
            <a:ext cx="209215" cy="209215"/>
          </a:xfrm>
          <a:prstGeom prst="rect">
            <a:avLst/>
          </a:prstGeom>
        </p:spPr>
      </p:pic>
      <p:sp>
        <p:nvSpPr>
          <p:cNvPr id="22" name="Text 15"/>
          <p:cNvSpPr/>
          <p:nvPr/>
        </p:nvSpPr>
        <p:spPr>
          <a:xfrm>
            <a:off x="1463040" y="405993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Plural -s where it belongs — but never on birr</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“three books” yes. “fifty birrs” no.</a:t>
            </a:r>
            <a:endParaRPr lang="en-US" sz="2100" dirty="0"/>
          </a:p>
        </p:txBody>
      </p:sp>
      <p:sp>
        <p:nvSpPr>
          <p:cNvPr id="23" name="Shape 16"/>
          <p:cNvSpPr/>
          <p:nvPr/>
        </p:nvSpPr>
        <p:spPr>
          <a:xfrm>
            <a:off x="548640" y="5038344"/>
            <a:ext cx="11094415" cy="905256"/>
          </a:xfrm>
          <a:prstGeom prst="roundRect">
            <a:avLst>
              <a:gd name="adj" fmla="val 14141"/>
            </a:avLst>
          </a:prstGeom>
          <a:solidFill>
            <a:srgbClr val="F6F9F7"/>
          </a:solidFill>
          <a:ln w="12700">
            <a:solidFill>
              <a:srgbClr val="E3E9E5"/>
            </a:solidFill>
            <a:prstDash val="solid"/>
          </a:ln>
        </p:spPr>
      </p:sp>
      <p:sp>
        <p:nvSpPr>
          <p:cNvPr id="24" name="Shape 17"/>
          <p:cNvSpPr/>
          <p:nvPr/>
        </p:nvSpPr>
        <p:spPr>
          <a:xfrm>
            <a:off x="786384" y="5289804"/>
            <a:ext cx="402336" cy="402336"/>
          </a:xfrm>
          <a:prstGeom prst="ellipse">
            <a:avLst/>
          </a:prstGeom>
          <a:solidFill>
            <a:srgbClr val="7A4FBF"/>
          </a:solidFill>
          <a:ln/>
        </p:spPr>
      </p:sp>
      <p:pic>
        <p:nvPicPr>
          <p:cNvPr id="25" name="Image 4" descr="preencoded.png">    </p:cNvPr>
          <p:cNvPicPr>
            <a:picLocks noChangeAspect="1"/>
          </p:cNvPicPr>
          <p:nvPr/>
        </p:nvPicPr>
        <p:blipFill>
          <a:blip r:embed="rId5"/>
          <a:stretch>
            <a:fillRect/>
          </a:stretch>
        </p:blipFill>
        <p:spPr>
          <a:xfrm>
            <a:off x="882945" y="5386365"/>
            <a:ext cx="209215" cy="209215"/>
          </a:xfrm>
          <a:prstGeom prst="rect">
            <a:avLst/>
          </a:prstGeom>
        </p:spPr>
      </p:pic>
      <p:sp>
        <p:nvSpPr>
          <p:cNvPr id="26" name="Text 18"/>
          <p:cNvSpPr/>
          <p:nvPr/>
        </p:nvSpPr>
        <p:spPr>
          <a:xfrm>
            <a:off x="1463040" y="511149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Numbers spelled correctly</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forty (no u) · fifteen (not fiveteen) · thirteen (not threeteen).</a:t>
            </a:r>
            <a:endParaRPr lang="en-US" sz="2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A · EASY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A — multiple choice</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2 — Numbers, Time &amp; Money</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51</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a, b or c for each question.</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1. How many months are in the English year?</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12     b) 13     c) 7</a:t>
            </a:r>
            <a:endParaRPr lang="en-US" sz="148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2. Which number is bigger?</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fifteen     b) fifty     c) they are the same</a:t>
            </a:r>
            <a:endParaRPr lang="en-US" sz="148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3. 7:30 in words is …</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half past seven     b) half past eight     c) quarter past seven</a:t>
            </a:r>
            <a:endParaRPr lang="en-US" sz="148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4. Complete: “The class starts ___ nine o'clock.”</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in     b) on     c) at</a:t>
            </a:r>
            <a:endParaRPr lang="en-US" sz="148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5. Which is correct?</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It is fifty birrs.     b) It is fifty birr.     c) It is fiftys birr.</a:t>
            </a:r>
            <a:endParaRPr lang="en-US" sz="148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B · EASY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B — fill in the blank</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2 — Numbers, Time &amp; Money</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52</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Copy each sentence and fill the gap.</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  I go to work ___ Monday.</a:t>
            </a:r>
            <a:endParaRPr lang="en-US" sz="18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  The shop opens ___ seven o'clock.</a:t>
            </a:r>
            <a:endParaRPr lang="en-US" sz="18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3.  My birthday is ___ July.</a:t>
            </a:r>
            <a:endParaRPr lang="en-US" sz="18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4.  There are seven days in a ______.</a:t>
            </a:r>
            <a:endParaRPr lang="en-US" sz="18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How ______ is this bag?  —  It is forty birr.</a:t>
            </a:r>
            <a:endParaRPr lang="en-US" sz="18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C · EASY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C — matching</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Match the figure to the word, and the question to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2 — Numbers, Time &amp; Money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53</a:t>
            </a:r>
            <a:endParaRPr lang="en-US" sz="1100" dirty="0"/>
          </a:p>
        </p:txBody>
      </p:sp>
      <p:sp>
        <p:nvSpPr>
          <p:cNvPr id="11" name="Shape 7"/>
          <p:cNvSpPr/>
          <p:nvPr/>
        </p:nvSpPr>
        <p:spPr>
          <a:xfrm>
            <a:off x="548640" y="1883664"/>
            <a:ext cx="11094415" cy="566928"/>
          </a:xfrm>
          <a:prstGeom prst="roundRect">
            <a:avLst>
              <a:gd name="adj" fmla="val 22581"/>
            </a:avLst>
          </a:prstGeom>
          <a:solidFill>
            <a:srgbClr val="EDF0FD"/>
          </a:solidFill>
          <a:ln w="12700">
            <a:solidFill>
              <a:srgbClr val="0E7C5A"/>
            </a:solidFill>
            <a:prstDash val="solid"/>
          </a:ln>
        </p:spPr>
      </p:sp>
      <p:sp>
        <p:nvSpPr>
          <p:cNvPr id="12" name="Shape 8"/>
          <p:cNvSpPr/>
          <p:nvPr/>
        </p:nvSpPr>
        <p:spPr>
          <a:xfrm>
            <a:off x="749808" y="1993392"/>
            <a:ext cx="347472" cy="347472"/>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36676" y="2080260"/>
            <a:ext cx="173736" cy="173736"/>
          </a:xfrm>
          <a:prstGeom prst="rect">
            <a:avLst/>
          </a:prstGeom>
        </p:spPr>
      </p:pic>
      <p:sp>
        <p:nvSpPr>
          <p:cNvPr id="14" name="Text 9"/>
          <p:cNvSpPr txBox="1"/>
          <p:nvPr/>
        </p:nvSpPr>
        <p:spPr>
          <a:xfrm>
            <a:off x="1207008" y="188366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the pairs: 1–c, 2–a, and so on.</a:t>
            </a:r>
            <a:endParaRPr lang="en-US" sz="1700" dirty="0"/>
          </a:p>
        </p:txBody>
      </p:sp>
      <p:sp>
        <p:nvSpPr>
          <p:cNvPr id="15" name="Shape 10"/>
          <p:cNvSpPr/>
          <p:nvPr/>
        </p:nvSpPr>
        <p:spPr>
          <a:xfrm>
            <a:off x="548640" y="2596896"/>
            <a:ext cx="11094415" cy="747522"/>
          </a:xfrm>
          <a:prstGeom prst="roundRect">
            <a:avLst>
              <a:gd name="adj" fmla="val 17125"/>
            </a:avLst>
          </a:prstGeom>
          <a:solidFill>
            <a:srgbClr val="F6F9F7"/>
          </a:solidFill>
          <a:ln w="12700">
            <a:solidFill>
              <a:srgbClr val="E3E9E5"/>
            </a:solidFill>
            <a:prstDash val="solid"/>
          </a:ln>
        </p:spPr>
      </p:sp>
      <p:sp>
        <p:nvSpPr>
          <p:cNvPr id="16" name="Shape 11"/>
          <p:cNvSpPr/>
          <p:nvPr/>
        </p:nvSpPr>
        <p:spPr>
          <a:xfrm>
            <a:off x="749808" y="2769489"/>
            <a:ext cx="402336" cy="402336"/>
          </a:xfrm>
          <a:prstGeom prst="ellipse">
            <a:avLst/>
          </a:prstGeom>
          <a:solidFill>
            <a:srgbClr val="0E7C5A"/>
          </a:solidFill>
          <a:ln/>
        </p:spPr>
      </p:sp>
      <p:sp>
        <p:nvSpPr>
          <p:cNvPr id="17" name="Text 12"/>
          <p:cNvSpPr txBox="1"/>
          <p:nvPr/>
        </p:nvSpPr>
        <p:spPr>
          <a:xfrm>
            <a:off x="749808" y="27694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3"/>
          <p:cNvSpPr/>
          <p:nvPr/>
        </p:nvSpPr>
        <p:spPr>
          <a:xfrm>
            <a:off x="1353312" y="2651760"/>
            <a:ext cx="10033711" cy="637794"/>
          </a:xfrm>
          <a:prstGeom prst="rect">
            <a:avLst/>
          </a:prstGeom>
          <a:noFill/>
          <a:ln/>
        </p:spPr>
        <p:txBody>
          <a:bodyPr wrap="square" lIns="0" tIns="0" rIns="0" bIns="0" rtlCol="0" anchor="ctr"/>
          <a:lstStyle/>
          <a:p>
            <a:pPr indent="0" marL="0">
              <a:lnSpc>
                <a:spcPct val="102000"/>
              </a:lnSpc>
              <a:buNone/>
            </a:pPr>
            <a:r>
              <a:rPr lang="en-US" sz="1550" b="1" dirty="0">
                <a:solidFill>
                  <a:srgbClr val="12211B"/>
                </a:solidFill>
                <a:latin typeface="Calibri" pitchFamily="34" charset="0"/>
                <a:ea typeface="Calibri" pitchFamily="34" charset="-122"/>
                <a:cs typeface="Calibri" pitchFamily="34" charset="-120"/>
              </a:rPr>
              <a:t>Part 1 — match the FIGURE to the WORD</a:t>
            </a:r>
            <a:endParaRPr lang="en-US" sz="1550" dirty="0"/>
          </a:p>
          <a:p>
            <a:pPr indent="0" marL="0">
              <a:lnSpc>
                <a:spcPct val="102000"/>
              </a:lnSpc>
              <a:spcBef>
                <a:spcPts val="274"/>
              </a:spcBef>
              <a:buNone/>
            </a:pPr>
            <a:r>
              <a:rPr lang="en-US" sz="1190" dirty="0">
                <a:solidFill>
                  <a:srgbClr val="3A473F"/>
                </a:solidFill>
                <a:latin typeface="Calibri" pitchFamily="34" charset="0"/>
                <a:ea typeface="Calibri" pitchFamily="34" charset="-122"/>
                <a:cs typeface="Calibri" pitchFamily="34" charset="-120"/>
              </a:rPr>
              <a:t>1. 14     2. 40     3. 19     4. 90          a) ninety     b) fourteen     c) nineteen     d) forty</a:t>
            </a:r>
            <a:endParaRPr lang="en-US" sz="1550" dirty="0"/>
          </a:p>
        </p:txBody>
      </p:sp>
      <p:sp>
        <p:nvSpPr>
          <p:cNvPr id="19" name="Shape 14"/>
          <p:cNvSpPr/>
          <p:nvPr/>
        </p:nvSpPr>
        <p:spPr>
          <a:xfrm>
            <a:off x="548640" y="3463290"/>
            <a:ext cx="11094415" cy="747522"/>
          </a:xfrm>
          <a:prstGeom prst="roundRect">
            <a:avLst>
              <a:gd name="adj" fmla="val 17125"/>
            </a:avLst>
          </a:prstGeom>
          <a:solidFill>
            <a:srgbClr val="F6F9F7"/>
          </a:solidFill>
          <a:ln w="12700">
            <a:solidFill>
              <a:srgbClr val="E3E9E5"/>
            </a:solidFill>
            <a:prstDash val="solid"/>
          </a:ln>
        </p:spPr>
      </p:sp>
      <p:sp>
        <p:nvSpPr>
          <p:cNvPr id="20" name="Shape 15"/>
          <p:cNvSpPr/>
          <p:nvPr/>
        </p:nvSpPr>
        <p:spPr>
          <a:xfrm>
            <a:off x="749808" y="3635883"/>
            <a:ext cx="402336" cy="402336"/>
          </a:xfrm>
          <a:prstGeom prst="ellipse">
            <a:avLst/>
          </a:prstGeom>
          <a:solidFill>
            <a:srgbClr val="0E7C5A"/>
          </a:solidFill>
          <a:ln/>
        </p:spPr>
      </p:sp>
      <p:sp>
        <p:nvSpPr>
          <p:cNvPr id="21" name="Text 16"/>
          <p:cNvSpPr txBox="1"/>
          <p:nvPr/>
        </p:nvSpPr>
        <p:spPr>
          <a:xfrm>
            <a:off x="749808" y="363588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7"/>
          <p:cNvSpPr/>
          <p:nvPr/>
        </p:nvSpPr>
        <p:spPr>
          <a:xfrm>
            <a:off x="1353312" y="3518154"/>
            <a:ext cx="10033711" cy="637794"/>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Part 2 — match the QUESTION to the ANSWER</a:t>
            </a:r>
            <a:endParaRPr lang="en-US" sz="1600" dirty="0"/>
          </a:p>
          <a:p>
            <a:pPr indent="0" marL="0">
              <a:lnSpc>
                <a:spcPct val="102000"/>
              </a:lnSpc>
              <a:spcBef>
                <a:spcPts val="282"/>
              </a:spcBef>
              <a:buNone/>
            </a:pPr>
            <a:r>
              <a:rPr lang="en-US" sz="1220" dirty="0">
                <a:solidFill>
                  <a:srgbClr val="3A473F"/>
                </a:solidFill>
                <a:latin typeface="Calibri" pitchFamily="34" charset="0"/>
                <a:ea typeface="Calibri" pitchFamily="34" charset="-122"/>
                <a:cs typeface="Calibri" pitchFamily="34" charset="-120"/>
              </a:rPr>
              <a:t>1. What time is it?     2. How much is it?     3. What day is it?     4. How many days in a week?</a:t>
            </a:r>
            <a:endParaRPr lang="en-US" sz="1600" dirty="0"/>
          </a:p>
        </p:txBody>
      </p:sp>
      <p:sp>
        <p:nvSpPr>
          <p:cNvPr id="23" name="Shape 18"/>
          <p:cNvSpPr/>
          <p:nvPr/>
        </p:nvSpPr>
        <p:spPr>
          <a:xfrm>
            <a:off x="548640" y="4329684"/>
            <a:ext cx="11094415" cy="747522"/>
          </a:xfrm>
          <a:prstGeom prst="roundRect">
            <a:avLst>
              <a:gd name="adj" fmla="val 17125"/>
            </a:avLst>
          </a:prstGeom>
          <a:solidFill>
            <a:srgbClr val="F6F9F7"/>
          </a:solidFill>
          <a:ln w="12700">
            <a:solidFill>
              <a:srgbClr val="E3E9E5"/>
            </a:solidFill>
            <a:prstDash val="solid"/>
          </a:ln>
        </p:spPr>
      </p:sp>
      <p:sp>
        <p:nvSpPr>
          <p:cNvPr id="24" name="Shape 19"/>
          <p:cNvSpPr/>
          <p:nvPr/>
        </p:nvSpPr>
        <p:spPr>
          <a:xfrm>
            <a:off x="749808" y="4502277"/>
            <a:ext cx="402336" cy="402336"/>
          </a:xfrm>
          <a:prstGeom prst="ellipse">
            <a:avLst/>
          </a:prstGeom>
          <a:solidFill>
            <a:srgbClr val="0E7C5A"/>
          </a:solidFill>
          <a:ln/>
        </p:spPr>
      </p:sp>
      <p:sp>
        <p:nvSpPr>
          <p:cNvPr id="25" name="Text 20"/>
          <p:cNvSpPr txBox="1"/>
          <p:nvPr/>
        </p:nvSpPr>
        <p:spPr>
          <a:xfrm>
            <a:off x="749808" y="450227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1"/>
          <p:cNvSpPr/>
          <p:nvPr/>
        </p:nvSpPr>
        <p:spPr>
          <a:xfrm>
            <a:off x="1353312" y="4384548"/>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a) It is Monday.        b) It is eighty birr.</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c) There are seven.        d) It is half past three.</a:t>
            </a:r>
            <a:endParaRPr lang="en-US" sz="1700" dirty="0"/>
          </a:p>
        </p:txBody>
      </p:sp>
      <p:sp>
        <p:nvSpPr>
          <p:cNvPr id="27" name="Shape 22"/>
          <p:cNvSpPr/>
          <p:nvPr/>
        </p:nvSpPr>
        <p:spPr>
          <a:xfrm>
            <a:off x="548640" y="5196078"/>
            <a:ext cx="11094415" cy="747522"/>
          </a:xfrm>
          <a:prstGeom prst="roundRect">
            <a:avLst>
              <a:gd name="adj" fmla="val 17125"/>
            </a:avLst>
          </a:prstGeom>
          <a:solidFill>
            <a:srgbClr val="F6F9F7"/>
          </a:solidFill>
          <a:ln w="12700">
            <a:solidFill>
              <a:srgbClr val="E3E9E5"/>
            </a:solidFill>
            <a:prstDash val="solid"/>
          </a:ln>
        </p:spPr>
      </p:sp>
      <p:sp>
        <p:nvSpPr>
          <p:cNvPr id="28" name="Shape 23"/>
          <p:cNvSpPr/>
          <p:nvPr/>
        </p:nvSpPr>
        <p:spPr>
          <a:xfrm>
            <a:off x="749808" y="5368671"/>
            <a:ext cx="402336" cy="402336"/>
          </a:xfrm>
          <a:prstGeom prst="ellipse">
            <a:avLst/>
          </a:prstGeom>
          <a:solidFill>
            <a:srgbClr val="0E7C5A"/>
          </a:solidFill>
          <a:ln/>
        </p:spPr>
      </p:sp>
      <p:sp>
        <p:nvSpPr>
          <p:cNvPr id="29" name="Text 24"/>
          <p:cNvSpPr txBox="1"/>
          <p:nvPr/>
        </p:nvSpPr>
        <p:spPr>
          <a:xfrm>
            <a:off x="749808" y="536867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5"/>
          <p:cNvSpPr/>
          <p:nvPr/>
        </p:nvSpPr>
        <p:spPr>
          <a:xfrm>
            <a:off x="1353312" y="5250942"/>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Part 3 — match the PREPOSITION to the time expression</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1. at     2. on     3. in          a) Friday     b) six o'clock     c) December</a:t>
            </a:r>
            <a:endParaRPr lang="en-US" sz="17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D · EASY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D — put them in order</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Order by size, by day and by month.</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2 — Numbers, Time &amp; Money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54</a:t>
            </a:r>
            <a:endParaRPr lang="en-US" sz="1100" dirty="0"/>
          </a:p>
        </p:txBody>
      </p:sp>
      <p:sp>
        <p:nvSpPr>
          <p:cNvPr id="11" name="Shape 7"/>
          <p:cNvSpPr/>
          <p:nvPr/>
        </p:nvSpPr>
        <p:spPr>
          <a:xfrm>
            <a:off x="548640" y="1883664"/>
            <a:ext cx="11094415" cy="566928"/>
          </a:xfrm>
          <a:prstGeom prst="roundRect">
            <a:avLst>
              <a:gd name="adj" fmla="val 22581"/>
            </a:avLst>
          </a:prstGeom>
          <a:solidFill>
            <a:srgbClr val="EDF0FD"/>
          </a:solidFill>
          <a:ln w="12700">
            <a:solidFill>
              <a:srgbClr val="0E7C5A"/>
            </a:solidFill>
            <a:prstDash val="solid"/>
          </a:ln>
        </p:spPr>
      </p:sp>
      <p:sp>
        <p:nvSpPr>
          <p:cNvPr id="12" name="Shape 8"/>
          <p:cNvSpPr/>
          <p:nvPr/>
        </p:nvSpPr>
        <p:spPr>
          <a:xfrm>
            <a:off x="749808" y="1993392"/>
            <a:ext cx="347472" cy="347472"/>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36676" y="2080260"/>
            <a:ext cx="173736" cy="173736"/>
          </a:xfrm>
          <a:prstGeom prst="rect">
            <a:avLst/>
          </a:prstGeom>
        </p:spPr>
      </p:pic>
      <p:sp>
        <p:nvSpPr>
          <p:cNvPr id="14" name="Text 9"/>
          <p:cNvSpPr txBox="1"/>
          <p:nvPr/>
        </p:nvSpPr>
        <p:spPr>
          <a:xfrm>
            <a:off x="1207008" y="188366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each list in the correct order.</a:t>
            </a:r>
            <a:endParaRPr lang="en-US" sz="1700" dirty="0"/>
          </a:p>
        </p:txBody>
      </p:sp>
      <p:sp>
        <p:nvSpPr>
          <p:cNvPr id="15" name="Shape 10"/>
          <p:cNvSpPr/>
          <p:nvPr/>
        </p:nvSpPr>
        <p:spPr>
          <a:xfrm>
            <a:off x="548640" y="2596896"/>
            <a:ext cx="11094415" cy="747522"/>
          </a:xfrm>
          <a:prstGeom prst="roundRect">
            <a:avLst>
              <a:gd name="adj" fmla="val 17125"/>
            </a:avLst>
          </a:prstGeom>
          <a:solidFill>
            <a:srgbClr val="F6F9F7"/>
          </a:solidFill>
          <a:ln w="12700">
            <a:solidFill>
              <a:srgbClr val="E3E9E5"/>
            </a:solidFill>
            <a:prstDash val="solid"/>
          </a:ln>
        </p:spPr>
      </p:sp>
      <p:sp>
        <p:nvSpPr>
          <p:cNvPr id="16" name="Shape 11"/>
          <p:cNvSpPr/>
          <p:nvPr/>
        </p:nvSpPr>
        <p:spPr>
          <a:xfrm>
            <a:off x="749808" y="2769489"/>
            <a:ext cx="402336" cy="402336"/>
          </a:xfrm>
          <a:prstGeom prst="ellipse">
            <a:avLst/>
          </a:prstGeom>
          <a:solidFill>
            <a:srgbClr val="0E7C5A"/>
          </a:solidFill>
          <a:ln/>
        </p:spPr>
      </p:sp>
      <p:sp>
        <p:nvSpPr>
          <p:cNvPr id="17" name="Text 12"/>
          <p:cNvSpPr txBox="1"/>
          <p:nvPr/>
        </p:nvSpPr>
        <p:spPr>
          <a:xfrm>
            <a:off x="749808" y="27694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3"/>
          <p:cNvSpPr/>
          <p:nvPr/>
        </p:nvSpPr>
        <p:spPr>
          <a:xfrm>
            <a:off x="1353312" y="2651760"/>
            <a:ext cx="10033711" cy="637794"/>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1.  Smallest to biggest:  30, 13, 50, 15</a:t>
            </a:r>
            <a:endParaRPr lang="en-US" sz="1900" dirty="0"/>
          </a:p>
        </p:txBody>
      </p:sp>
      <p:sp>
        <p:nvSpPr>
          <p:cNvPr id="19" name="Shape 14"/>
          <p:cNvSpPr/>
          <p:nvPr/>
        </p:nvSpPr>
        <p:spPr>
          <a:xfrm>
            <a:off x="548640" y="3463290"/>
            <a:ext cx="11094415" cy="747522"/>
          </a:xfrm>
          <a:prstGeom prst="roundRect">
            <a:avLst>
              <a:gd name="adj" fmla="val 17125"/>
            </a:avLst>
          </a:prstGeom>
          <a:solidFill>
            <a:srgbClr val="F6F9F7"/>
          </a:solidFill>
          <a:ln w="12700">
            <a:solidFill>
              <a:srgbClr val="E3E9E5"/>
            </a:solidFill>
            <a:prstDash val="solid"/>
          </a:ln>
        </p:spPr>
      </p:sp>
      <p:sp>
        <p:nvSpPr>
          <p:cNvPr id="20" name="Shape 15"/>
          <p:cNvSpPr/>
          <p:nvPr/>
        </p:nvSpPr>
        <p:spPr>
          <a:xfrm>
            <a:off x="749808" y="3635883"/>
            <a:ext cx="402336" cy="402336"/>
          </a:xfrm>
          <a:prstGeom prst="ellipse">
            <a:avLst/>
          </a:prstGeom>
          <a:solidFill>
            <a:srgbClr val="0E7C5A"/>
          </a:solidFill>
          <a:ln/>
        </p:spPr>
      </p:sp>
      <p:sp>
        <p:nvSpPr>
          <p:cNvPr id="21" name="Text 16"/>
          <p:cNvSpPr txBox="1"/>
          <p:nvPr/>
        </p:nvSpPr>
        <p:spPr>
          <a:xfrm>
            <a:off x="749808" y="363588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7"/>
          <p:cNvSpPr/>
          <p:nvPr/>
        </p:nvSpPr>
        <p:spPr>
          <a:xfrm>
            <a:off x="1353312" y="3518154"/>
            <a:ext cx="10033711" cy="637794"/>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2.  Order the days:  Friday, Monday, Wednesday, Sunday</a:t>
            </a:r>
            <a:endParaRPr lang="en-US" sz="1900" dirty="0"/>
          </a:p>
        </p:txBody>
      </p:sp>
      <p:sp>
        <p:nvSpPr>
          <p:cNvPr id="23" name="Shape 18"/>
          <p:cNvSpPr/>
          <p:nvPr/>
        </p:nvSpPr>
        <p:spPr>
          <a:xfrm>
            <a:off x="548640" y="4329684"/>
            <a:ext cx="11094415" cy="747522"/>
          </a:xfrm>
          <a:prstGeom prst="roundRect">
            <a:avLst>
              <a:gd name="adj" fmla="val 17125"/>
            </a:avLst>
          </a:prstGeom>
          <a:solidFill>
            <a:srgbClr val="F6F9F7"/>
          </a:solidFill>
          <a:ln w="12700">
            <a:solidFill>
              <a:srgbClr val="E3E9E5"/>
            </a:solidFill>
            <a:prstDash val="solid"/>
          </a:ln>
        </p:spPr>
      </p:sp>
      <p:sp>
        <p:nvSpPr>
          <p:cNvPr id="24" name="Shape 19"/>
          <p:cNvSpPr/>
          <p:nvPr/>
        </p:nvSpPr>
        <p:spPr>
          <a:xfrm>
            <a:off x="749808" y="4502277"/>
            <a:ext cx="402336" cy="402336"/>
          </a:xfrm>
          <a:prstGeom prst="ellipse">
            <a:avLst/>
          </a:prstGeom>
          <a:solidFill>
            <a:srgbClr val="0E7C5A"/>
          </a:solidFill>
          <a:ln/>
        </p:spPr>
      </p:sp>
      <p:sp>
        <p:nvSpPr>
          <p:cNvPr id="25" name="Text 20"/>
          <p:cNvSpPr txBox="1"/>
          <p:nvPr/>
        </p:nvSpPr>
        <p:spPr>
          <a:xfrm>
            <a:off x="749808" y="450227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1"/>
          <p:cNvSpPr/>
          <p:nvPr/>
        </p:nvSpPr>
        <p:spPr>
          <a:xfrm>
            <a:off x="1353312" y="4384548"/>
            <a:ext cx="10033711" cy="637794"/>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3.  Order the months:  March, January, September, June</a:t>
            </a:r>
            <a:endParaRPr lang="en-US" sz="1900" dirty="0"/>
          </a:p>
        </p:txBody>
      </p:sp>
      <p:sp>
        <p:nvSpPr>
          <p:cNvPr id="27" name="Shape 22"/>
          <p:cNvSpPr/>
          <p:nvPr/>
        </p:nvSpPr>
        <p:spPr>
          <a:xfrm>
            <a:off x="548640" y="5196078"/>
            <a:ext cx="11094415" cy="747522"/>
          </a:xfrm>
          <a:prstGeom prst="roundRect">
            <a:avLst>
              <a:gd name="adj" fmla="val 17125"/>
            </a:avLst>
          </a:prstGeom>
          <a:solidFill>
            <a:srgbClr val="F6F9F7"/>
          </a:solidFill>
          <a:ln w="12700">
            <a:solidFill>
              <a:srgbClr val="E3E9E5"/>
            </a:solidFill>
            <a:prstDash val="solid"/>
          </a:ln>
        </p:spPr>
      </p:sp>
      <p:sp>
        <p:nvSpPr>
          <p:cNvPr id="28" name="Shape 23"/>
          <p:cNvSpPr/>
          <p:nvPr/>
        </p:nvSpPr>
        <p:spPr>
          <a:xfrm>
            <a:off x="749808" y="5368671"/>
            <a:ext cx="402336" cy="402336"/>
          </a:xfrm>
          <a:prstGeom prst="ellipse">
            <a:avLst/>
          </a:prstGeom>
          <a:solidFill>
            <a:srgbClr val="0E7C5A"/>
          </a:solidFill>
          <a:ln/>
        </p:spPr>
      </p:sp>
      <p:sp>
        <p:nvSpPr>
          <p:cNvPr id="29" name="Text 24"/>
          <p:cNvSpPr txBox="1"/>
          <p:nvPr/>
        </p:nvSpPr>
        <p:spPr>
          <a:xfrm>
            <a:off x="749808" y="536867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5"/>
          <p:cNvSpPr/>
          <p:nvPr/>
        </p:nvSpPr>
        <p:spPr>
          <a:xfrm>
            <a:off x="1353312" y="5250942"/>
            <a:ext cx="10033711" cy="637794"/>
          </a:xfrm>
          <a:prstGeom prst="rect">
            <a:avLst/>
          </a:prstGeom>
          <a:noFill/>
          <a:ln/>
        </p:spPr>
        <p:txBody>
          <a:bodyPr wrap="square" lIns="0" tIns="0" rIns="0" bIns="0" rtlCol="0" anchor="ctr"/>
          <a:lstStyle/>
          <a:p>
            <a:pPr indent="0" marL="0">
              <a:lnSpc>
                <a:spcPct val="102000"/>
              </a:lnSpc>
              <a:buNone/>
            </a:pPr>
            <a:r>
              <a:rPr lang="en-US" sz="1850" b="1" dirty="0">
                <a:solidFill>
                  <a:srgbClr val="12211B"/>
                </a:solidFill>
                <a:latin typeface="Calibri" pitchFamily="34" charset="0"/>
                <a:ea typeface="Calibri" pitchFamily="34" charset="-122"/>
                <a:cs typeface="Calibri" pitchFamily="34" charset="-120"/>
              </a:rPr>
              <a:t>4.  Order the times:  half past six, quarter past six, six o'clock, quarter to seven</a:t>
            </a:r>
            <a:endParaRPr lang="en-US" sz="18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E · MEDIUM</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E — find and correct the mistake</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2 — Numbers, Time &amp; Money</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55</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Rewrite each sentence correctly.</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  I work in monday.</a:t>
            </a:r>
            <a:endParaRPr lang="en-US" sz="18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  It is fifty birrs.</a:t>
            </a:r>
            <a:endParaRPr lang="en-US" sz="18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3.  My birthday is on september.</a:t>
            </a:r>
            <a:endParaRPr lang="en-US" sz="18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4.  The class starts on eight o'clock.</a:t>
            </a:r>
            <a:endParaRPr lang="en-US" sz="18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How much are this bag?</a:t>
            </a:r>
            <a:endParaRPr lang="en-US" sz="18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F · MEDIUM</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F — true or false</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2 — Numbers, Time &amp; Money</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56</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T or F. For every F, write the correction.</a:t>
            </a:r>
            <a:endParaRPr lang="en-US" sz="1700" dirty="0"/>
          </a:p>
        </p:txBody>
      </p:sp>
      <p:sp>
        <p:nvSpPr>
          <p:cNvPr id="14" name="Shape 9"/>
          <p:cNvSpPr/>
          <p:nvPr/>
        </p:nvSpPr>
        <p:spPr>
          <a:xfrm>
            <a:off x="548640" y="2414016"/>
            <a:ext cx="11094415" cy="489204"/>
          </a:xfrm>
          <a:prstGeom prst="roundRect">
            <a:avLst>
              <a:gd name="adj" fmla="val 26168"/>
            </a:avLst>
          </a:prstGeom>
          <a:solidFill>
            <a:srgbClr val="F6F9F7"/>
          </a:solidFill>
          <a:ln w="12700">
            <a:solidFill>
              <a:srgbClr val="E3E9E5"/>
            </a:solidFill>
            <a:prstDash val="solid"/>
          </a:ln>
        </p:spPr>
      </p:sp>
      <p:sp>
        <p:nvSpPr>
          <p:cNvPr id="15" name="Shape 10"/>
          <p:cNvSpPr/>
          <p:nvPr/>
        </p:nvSpPr>
        <p:spPr>
          <a:xfrm>
            <a:off x="749808" y="2457450"/>
            <a:ext cx="402336" cy="402336"/>
          </a:xfrm>
          <a:prstGeom prst="ellipse">
            <a:avLst/>
          </a:prstGeom>
          <a:solidFill>
            <a:srgbClr val="0E7C5A"/>
          </a:solidFill>
          <a:ln/>
        </p:spPr>
      </p:sp>
      <p:sp>
        <p:nvSpPr>
          <p:cNvPr id="16" name="Text 11"/>
          <p:cNvSpPr txBox="1"/>
          <p:nvPr/>
        </p:nvSpPr>
        <p:spPr>
          <a:xfrm>
            <a:off x="749808" y="245745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  There are seven days in a week.</a:t>
            </a:r>
            <a:endParaRPr lang="en-US" sz="1800" dirty="0"/>
          </a:p>
        </p:txBody>
      </p:sp>
      <p:sp>
        <p:nvSpPr>
          <p:cNvPr id="18" name="Shape 13"/>
          <p:cNvSpPr/>
          <p:nvPr/>
        </p:nvSpPr>
        <p:spPr>
          <a:xfrm>
            <a:off x="548640" y="3022092"/>
            <a:ext cx="11094415" cy="489204"/>
          </a:xfrm>
          <a:prstGeom prst="roundRect">
            <a:avLst>
              <a:gd name="adj" fmla="val 26168"/>
            </a:avLst>
          </a:prstGeom>
          <a:solidFill>
            <a:srgbClr val="F6F9F7"/>
          </a:solidFill>
          <a:ln w="12700">
            <a:solidFill>
              <a:srgbClr val="E3E9E5"/>
            </a:solidFill>
            <a:prstDash val="solid"/>
          </a:ln>
        </p:spPr>
      </p:sp>
      <p:sp>
        <p:nvSpPr>
          <p:cNvPr id="19" name="Shape 14"/>
          <p:cNvSpPr/>
          <p:nvPr/>
        </p:nvSpPr>
        <p:spPr>
          <a:xfrm>
            <a:off x="749808" y="3065526"/>
            <a:ext cx="402336" cy="402336"/>
          </a:xfrm>
          <a:prstGeom prst="ellipse">
            <a:avLst/>
          </a:prstGeom>
          <a:solidFill>
            <a:srgbClr val="0E7C5A"/>
          </a:solidFill>
          <a:ln/>
        </p:spPr>
      </p:sp>
      <p:sp>
        <p:nvSpPr>
          <p:cNvPr id="20" name="Text 15"/>
          <p:cNvSpPr txBox="1"/>
          <p:nvPr/>
        </p:nvSpPr>
        <p:spPr>
          <a:xfrm>
            <a:off x="749808" y="306552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076956"/>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  “Thirteen” and “thirty” are the same number.</a:t>
            </a:r>
            <a:endParaRPr lang="en-US" sz="1800" dirty="0"/>
          </a:p>
        </p:txBody>
      </p:sp>
      <p:sp>
        <p:nvSpPr>
          <p:cNvPr id="22" name="Shape 17"/>
          <p:cNvSpPr/>
          <p:nvPr/>
        </p:nvSpPr>
        <p:spPr>
          <a:xfrm>
            <a:off x="548640" y="3630168"/>
            <a:ext cx="11094415" cy="489204"/>
          </a:xfrm>
          <a:prstGeom prst="roundRect">
            <a:avLst>
              <a:gd name="adj" fmla="val 26168"/>
            </a:avLst>
          </a:prstGeom>
          <a:solidFill>
            <a:srgbClr val="F6F9F7"/>
          </a:solidFill>
          <a:ln w="12700">
            <a:solidFill>
              <a:srgbClr val="E3E9E5"/>
            </a:solidFill>
            <a:prstDash val="solid"/>
          </a:ln>
        </p:spPr>
      </p:sp>
      <p:sp>
        <p:nvSpPr>
          <p:cNvPr id="23" name="Shape 18"/>
          <p:cNvSpPr/>
          <p:nvPr/>
        </p:nvSpPr>
        <p:spPr>
          <a:xfrm>
            <a:off x="749808" y="3673602"/>
            <a:ext cx="402336" cy="402336"/>
          </a:xfrm>
          <a:prstGeom prst="ellipse">
            <a:avLst/>
          </a:prstGeom>
          <a:solidFill>
            <a:srgbClr val="0E7C5A"/>
          </a:solidFill>
          <a:ln/>
        </p:spPr>
      </p:sp>
      <p:sp>
        <p:nvSpPr>
          <p:cNvPr id="24" name="Text 19"/>
          <p:cNvSpPr txBox="1"/>
          <p:nvPr/>
        </p:nvSpPr>
        <p:spPr>
          <a:xfrm>
            <a:off x="749808" y="367360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685032"/>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3.  The English calendar has twelve months.</a:t>
            </a:r>
            <a:endParaRPr lang="en-US" sz="1800" dirty="0"/>
          </a:p>
        </p:txBody>
      </p:sp>
      <p:sp>
        <p:nvSpPr>
          <p:cNvPr id="26" name="Shape 21"/>
          <p:cNvSpPr/>
          <p:nvPr/>
        </p:nvSpPr>
        <p:spPr>
          <a:xfrm>
            <a:off x="548640" y="4238244"/>
            <a:ext cx="11094415" cy="489204"/>
          </a:xfrm>
          <a:prstGeom prst="roundRect">
            <a:avLst>
              <a:gd name="adj" fmla="val 26168"/>
            </a:avLst>
          </a:prstGeom>
          <a:solidFill>
            <a:srgbClr val="F6F9F7"/>
          </a:solidFill>
          <a:ln w="12700">
            <a:solidFill>
              <a:srgbClr val="E3E9E5"/>
            </a:solidFill>
            <a:prstDash val="solid"/>
          </a:ln>
        </p:spPr>
      </p:sp>
      <p:sp>
        <p:nvSpPr>
          <p:cNvPr id="27" name="Shape 22"/>
          <p:cNvSpPr/>
          <p:nvPr/>
        </p:nvSpPr>
        <p:spPr>
          <a:xfrm>
            <a:off x="749808" y="4281678"/>
            <a:ext cx="402336" cy="402336"/>
          </a:xfrm>
          <a:prstGeom prst="ellipse">
            <a:avLst/>
          </a:prstGeom>
          <a:solidFill>
            <a:srgbClr val="0E7C5A"/>
          </a:solidFill>
          <a:ln/>
        </p:spPr>
      </p:sp>
      <p:sp>
        <p:nvSpPr>
          <p:cNvPr id="28" name="Text 23"/>
          <p:cNvSpPr txBox="1"/>
          <p:nvPr/>
        </p:nvSpPr>
        <p:spPr>
          <a:xfrm>
            <a:off x="749808" y="428167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293108"/>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4.  We say “at Monday”.</a:t>
            </a:r>
            <a:endParaRPr lang="en-US" sz="1800" dirty="0"/>
          </a:p>
        </p:txBody>
      </p:sp>
      <p:sp>
        <p:nvSpPr>
          <p:cNvPr id="30" name="Shape 25"/>
          <p:cNvSpPr/>
          <p:nvPr/>
        </p:nvSpPr>
        <p:spPr>
          <a:xfrm>
            <a:off x="548640" y="4846320"/>
            <a:ext cx="11094415" cy="489204"/>
          </a:xfrm>
          <a:prstGeom prst="roundRect">
            <a:avLst>
              <a:gd name="adj" fmla="val 26168"/>
            </a:avLst>
          </a:prstGeom>
          <a:solidFill>
            <a:srgbClr val="F6F9F7"/>
          </a:solidFill>
          <a:ln w="12700">
            <a:solidFill>
              <a:srgbClr val="E3E9E5"/>
            </a:solidFill>
            <a:prstDash val="solid"/>
          </a:ln>
        </p:spPr>
      </p:sp>
      <p:sp>
        <p:nvSpPr>
          <p:cNvPr id="31" name="Shape 26"/>
          <p:cNvSpPr/>
          <p:nvPr/>
        </p:nvSpPr>
        <p:spPr>
          <a:xfrm>
            <a:off x="749808" y="4889754"/>
            <a:ext cx="402336" cy="402336"/>
          </a:xfrm>
          <a:prstGeom prst="ellipse">
            <a:avLst/>
          </a:prstGeom>
          <a:solidFill>
            <a:srgbClr val="0E7C5A"/>
          </a:solidFill>
          <a:ln/>
        </p:spPr>
      </p:sp>
      <p:sp>
        <p:nvSpPr>
          <p:cNvPr id="32" name="Text 27"/>
          <p:cNvSpPr txBox="1"/>
          <p:nvPr/>
        </p:nvSpPr>
        <p:spPr>
          <a:xfrm>
            <a:off x="749808" y="488975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4901184"/>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3:45 is “quarter to four”.</a:t>
            </a:r>
            <a:endParaRPr lang="en-US" sz="1800" dirty="0"/>
          </a:p>
        </p:txBody>
      </p:sp>
      <p:sp>
        <p:nvSpPr>
          <p:cNvPr id="34" name="Shape 29"/>
          <p:cNvSpPr/>
          <p:nvPr/>
        </p:nvSpPr>
        <p:spPr>
          <a:xfrm>
            <a:off x="548640" y="5454396"/>
            <a:ext cx="11094415" cy="489204"/>
          </a:xfrm>
          <a:prstGeom prst="roundRect">
            <a:avLst>
              <a:gd name="adj" fmla="val 26168"/>
            </a:avLst>
          </a:prstGeom>
          <a:solidFill>
            <a:srgbClr val="F6F9F7"/>
          </a:solidFill>
          <a:ln w="12700">
            <a:solidFill>
              <a:srgbClr val="E3E9E5"/>
            </a:solidFill>
            <a:prstDash val="solid"/>
          </a:ln>
        </p:spPr>
      </p:sp>
      <p:sp>
        <p:nvSpPr>
          <p:cNvPr id="35" name="Shape 30"/>
          <p:cNvSpPr/>
          <p:nvPr/>
        </p:nvSpPr>
        <p:spPr>
          <a:xfrm>
            <a:off x="749808" y="5497830"/>
            <a:ext cx="402336" cy="402336"/>
          </a:xfrm>
          <a:prstGeom prst="ellipse">
            <a:avLst/>
          </a:prstGeom>
          <a:solidFill>
            <a:srgbClr val="0E7C5A"/>
          </a:solidFill>
          <a:ln/>
        </p:spPr>
      </p:sp>
      <p:sp>
        <p:nvSpPr>
          <p:cNvPr id="36" name="Text 31"/>
          <p:cNvSpPr txBox="1"/>
          <p:nvPr/>
        </p:nvSpPr>
        <p:spPr>
          <a:xfrm>
            <a:off x="749808" y="549783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7" name="Text 32"/>
          <p:cNvSpPr/>
          <p:nvPr/>
        </p:nvSpPr>
        <p:spPr>
          <a:xfrm>
            <a:off x="1353312" y="5509260"/>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6.  English phone numbers are said digit by digit.</a:t>
            </a:r>
            <a:endParaRPr lang="en-US" sz="18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G · MEDIUM</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G — short answer</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2 — Numbers, Time &amp; Money</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57</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a complete sentence for each question.</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  How old are you?</a:t>
            </a:r>
            <a:endParaRPr lang="en-US" sz="18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  What time do you wake up?</a:t>
            </a:r>
            <a:endParaRPr lang="en-US" sz="18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3.  Which days do you work or study?</a:t>
            </a:r>
            <a:endParaRPr lang="en-US" sz="18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4.  When is your birthday?</a:t>
            </a:r>
            <a:endParaRPr lang="en-US" sz="18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How much is a bottle of water where you live?</a:t>
            </a:r>
            <a:endParaRPr lang="en-US" sz="18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H · MEDIUM</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H — speaking tasks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Work in pairs. One minute per task.</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2 — Numbers, Time &amp; Money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58</a:t>
            </a:r>
            <a:endParaRPr lang="en-US" sz="1100" dirty="0"/>
          </a:p>
        </p:txBody>
      </p:sp>
      <p:sp>
        <p:nvSpPr>
          <p:cNvPr id="11" name="Shape 7"/>
          <p:cNvSpPr/>
          <p:nvPr/>
        </p:nvSpPr>
        <p:spPr>
          <a:xfrm>
            <a:off x="548640" y="1883664"/>
            <a:ext cx="11094415" cy="566928"/>
          </a:xfrm>
          <a:prstGeom prst="roundRect">
            <a:avLst>
              <a:gd name="adj" fmla="val 22581"/>
            </a:avLst>
          </a:prstGeom>
          <a:solidFill>
            <a:srgbClr val="FDEDE8"/>
          </a:solidFill>
          <a:ln w="12700">
            <a:solidFill>
              <a:srgbClr val="E4572E"/>
            </a:solidFill>
            <a:prstDash val="solid"/>
          </a:ln>
        </p:spPr>
      </p:sp>
      <p:sp>
        <p:nvSpPr>
          <p:cNvPr id="12" name="Shape 8"/>
          <p:cNvSpPr/>
          <p:nvPr/>
        </p:nvSpPr>
        <p:spPr>
          <a:xfrm>
            <a:off x="749808" y="1993392"/>
            <a:ext cx="347472" cy="347472"/>
          </a:xfrm>
          <a:prstGeom prst="ellipse">
            <a:avLst/>
          </a:prstGeom>
          <a:solidFill>
            <a:srgbClr val="E4572E"/>
          </a:solidFill>
          <a:ln/>
        </p:spPr>
      </p:sp>
      <p:pic>
        <p:nvPicPr>
          <p:cNvPr id="13" name="Image 1" descr="preencoded.png">    </p:cNvPr>
          <p:cNvPicPr>
            <a:picLocks noChangeAspect="1"/>
          </p:cNvPicPr>
          <p:nvPr/>
        </p:nvPicPr>
        <p:blipFill>
          <a:blip r:embed="rId2"/>
          <a:stretch>
            <a:fillRect/>
          </a:stretch>
        </p:blipFill>
        <p:spPr>
          <a:xfrm>
            <a:off x="836676" y="2080260"/>
            <a:ext cx="173736" cy="173736"/>
          </a:xfrm>
          <a:prstGeom prst="rect">
            <a:avLst/>
          </a:prstGeom>
        </p:spPr>
      </p:pic>
      <p:sp>
        <p:nvSpPr>
          <p:cNvPr id="14" name="Text 9"/>
          <p:cNvSpPr txBox="1"/>
          <p:nvPr/>
        </p:nvSpPr>
        <p:spPr>
          <a:xfrm>
            <a:off x="1207008" y="188366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Speak, do not write. Your partner listens and checks.</a:t>
            </a:r>
            <a:endParaRPr lang="en-US" sz="1700" dirty="0"/>
          </a:p>
        </p:txBody>
      </p:sp>
      <p:sp>
        <p:nvSpPr>
          <p:cNvPr id="15" name="Shape 10"/>
          <p:cNvSpPr/>
          <p:nvPr/>
        </p:nvSpPr>
        <p:spPr>
          <a:xfrm>
            <a:off x="548640" y="2596896"/>
            <a:ext cx="11094415" cy="747522"/>
          </a:xfrm>
          <a:prstGeom prst="roundRect">
            <a:avLst>
              <a:gd name="adj" fmla="val 17125"/>
            </a:avLst>
          </a:prstGeom>
          <a:solidFill>
            <a:srgbClr val="F6F9F7"/>
          </a:solidFill>
          <a:ln w="12700">
            <a:solidFill>
              <a:srgbClr val="E3E9E5"/>
            </a:solidFill>
            <a:prstDash val="solid"/>
          </a:ln>
        </p:spPr>
      </p:sp>
      <p:sp>
        <p:nvSpPr>
          <p:cNvPr id="16" name="Shape 11"/>
          <p:cNvSpPr/>
          <p:nvPr/>
        </p:nvSpPr>
        <p:spPr>
          <a:xfrm>
            <a:off x="749808" y="2769489"/>
            <a:ext cx="402336" cy="402336"/>
          </a:xfrm>
          <a:prstGeom prst="ellipse">
            <a:avLst/>
          </a:prstGeom>
          <a:solidFill>
            <a:srgbClr val="E4572E"/>
          </a:solidFill>
          <a:ln/>
        </p:spPr>
      </p:sp>
      <p:sp>
        <p:nvSpPr>
          <p:cNvPr id="17" name="Text 12"/>
          <p:cNvSpPr txBox="1"/>
          <p:nvPr/>
        </p:nvSpPr>
        <p:spPr>
          <a:xfrm>
            <a:off x="749808" y="27694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3"/>
          <p:cNvSpPr/>
          <p:nvPr/>
        </p:nvSpPr>
        <p:spPr>
          <a:xfrm>
            <a:off x="1353312" y="2651760"/>
            <a:ext cx="10033711" cy="637794"/>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1.  Count from 1 to 20 without stopping.</a:t>
            </a:r>
            <a:endParaRPr lang="en-US" sz="1900" dirty="0"/>
          </a:p>
        </p:txBody>
      </p:sp>
      <p:sp>
        <p:nvSpPr>
          <p:cNvPr id="19" name="Shape 14"/>
          <p:cNvSpPr/>
          <p:nvPr/>
        </p:nvSpPr>
        <p:spPr>
          <a:xfrm>
            <a:off x="548640" y="3463290"/>
            <a:ext cx="11094415" cy="747522"/>
          </a:xfrm>
          <a:prstGeom prst="roundRect">
            <a:avLst>
              <a:gd name="adj" fmla="val 17125"/>
            </a:avLst>
          </a:prstGeom>
          <a:solidFill>
            <a:srgbClr val="F6F9F7"/>
          </a:solidFill>
          <a:ln w="12700">
            <a:solidFill>
              <a:srgbClr val="E3E9E5"/>
            </a:solidFill>
            <a:prstDash val="solid"/>
          </a:ln>
        </p:spPr>
      </p:sp>
      <p:sp>
        <p:nvSpPr>
          <p:cNvPr id="20" name="Shape 15"/>
          <p:cNvSpPr/>
          <p:nvPr/>
        </p:nvSpPr>
        <p:spPr>
          <a:xfrm>
            <a:off x="749808" y="3635883"/>
            <a:ext cx="402336" cy="402336"/>
          </a:xfrm>
          <a:prstGeom prst="ellipse">
            <a:avLst/>
          </a:prstGeom>
          <a:solidFill>
            <a:srgbClr val="E4572E"/>
          </a:solidFill>
          <a:ln/>
        </p:spPr>
      </p:sp>
      <p:sp>
        <p:nvSpPr>
          <p:cNvPr id="21" name="Text 16"/>
          <p:cNvSpPr txBox="1"/>
          <p:nvPr/>
        </p:nvSpPr>
        <p:spPr>
          <a:xfrm>
            <a:off x="749808" y="363588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7"/>
          <p:cNvSpPr/>
          <p:nvPr/>
        </p:nvSpPr>
        <p:spPr>
          <a:xfrm>
            <a:off x="1353312" y="3518154"/>
            <a:ext cx="10033711" cy="637794"/>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2.  Say these five numbers clearly:  13 · 30 · 15 · 50 · 19</a:t>
            </a:r>
            <a:endParaRPr lang="en-US" sz="1900" dirty="0"/>
          </a:p>
        </p:txBody>
      </p:sp>
      <p:sp>
        <p:nvSpPr>
          <p:cNvPr id="23" name="Shape 18"/>
          <p:cNvSpPr/>
          <p:nvPr/>
        </p:nvSpPr>
        <p:spPr>
          <a:xfrm>
            <a:off x="548640" y="4329684"/>
            <a:ext cx="11094415" cy="747522"/>
          </a:xfrm>
          <a:prstGeom prst="roundRect">
            <a:avLst>
              <a:gd name="adj" fmla="val 17125"/>
            </a:avLst>
          </a:prstGeom>
          <a:solidFill>
            <a:srgbClr val="F6F9F7"/>
          </a:solidFill>
          <a:ln w="12700">
            <a:solidFill>
              <a:srgbClr val="E3E9E5"/>
            </a:solidFill>
            <a:prstDash val="solid"/>
          </a:ln>
        </p:spPr>
      </p:sp>
      <p:sp>
        <p:nvSpPr>
          <p:cNvPr id="24" name="Shape 19"/>
          <p:cNvSpPr/>
          <p:nvPr/>
        </p:nvSpPr>
        <p:spPr>
          <a:xfrm>
            <a:off x="749808" y="4502277"/>
            <a:ext cx="402336" cy="402336"/>
          </a:xfrm>
          <a:prstGeom prst="ellipse">
            <a:avLst/>
          </a:prstGeom>
          <a:solidFill>
            <a:srgbClr val="E4572E"/>
          </a:solidFill>
          <a:ln/>
        </p:spPr>
      </p:sp>
      <p:sp>
        <p:nvSpPr>
          <p:cNvPr id="25" name="Text 20"/>
          <p:cNvSpPr txBox="1"/>
          <p:nvPr/>
        </p:nvSpPr>
        <p:spPr>
          <a:xfrm>
            <a:off x="749808" y="450227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1"/>
          <p:cNvSpPr/>
          <p:nvPr/>
        </p:nvSpPr>
        <p:spPr>
          <a:xfrm>
            <a:off x="1353312" y="4384548"/>
            <a:ext cx="10033711" cy="637794"/>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3.  Say five times:  7:00 · 9:30 · 11:15 · 4:45 · 12:00</a:t>
            </a:r>
            <a:endParaRPr lang="en-US" sz="1900" dirty="0"/>
          </a:p>
        </p:txBody>
      </p:sp>
      <p:sp>
        <p:nvSpPr>
          <p:cNvPr id="27" name="Shape 22"/>
          <p:cNvSpPr/>
          <p:nvPr/>
        </p:nvSpPr>
        <p:spPr>
          <a:xfrm>
            <a:off x="548640" y="5196078"/>
            <a:ext cx="11094415" cy="747522"/>
          </a:xfrm>
          <a:prstGeom prst="roundRect">
            <a:avLst>
              <a:gd name="adj" fmla="val 17125"/>
            </a:avLst>
          </a:prstGeom>
          <a:solidFill>
            <a:srgbClr val="F6F9F7"/>
          </a:solidFill>
          <a:ln w="12700">
            <a:solidFill>
              <a:srgbClr val="E3E9E5"/>
            </a:solidFill>
            <a:prstDash val="solid"/>
          </a:ln>
        </p:spPr>
      </p:sp>
      <p:sp>
        <p:nvSpPr>
          <p:cNvPr id="28" name="Shape 23"/>
          <p:cNvSpPr/>
          <p:nvPr/>
        </p:nvSpPr>
        <p:spPr>
          <a:xfrm>
            <a:off x="749808" y="5368671"/>
            <a:ext cx="402336" cy="402336"/>
          </a:xfrm>
          <a:prstGeom prst="ellipse">
            <a:avLst/>
          </a:prstGeom>
          <a:solidFill>
            <a:srgbClr val="E4572E"/>
          </a:solidFill>
          <a:ln/>
        </p:spPr>
      </p:sp>
      <p:sp>
        <p:nvSpPr>
          <p:cNvPr id="29" name="Text 24"/>
          <p:cNvSpPr txBox="1"/>
          <p:nvPr/>
        </p:nvSpPr>
        <p:spPr>
          <a:xfrm>
            <a:off x="749808" y="536867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5"/>
          <p:cNvSpPr/>
          <p:nvPr/>
        </p:nvSpPr>
        <p:spPr>
          <a:xfrm>
            <a:off x="1353312" y="5250942"/>
            <a:ext cx="10033711" cy="637794"/>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4.  Ask your partner three questions using “How much”, “What time” and “What day”.</a:t>
            </a:r>
            <a:endParaRPr lang="en-US" sz="1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I · DIFFICULT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I — mixed challenge</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2 — Numbers, Time &amp; Money</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59</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Take your time. Look back at earlier slides if you need to.</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1. Write a sentence with a time, a day AND a price in it.</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Three prepositions to think about.</a:t>
            </a:r>
            <a:endParaRPr lang="en-US" sz="15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2. The shop opens at 8:00 and closes at 5:30. How long is it open?</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Answer in a full sentence.</a:t>
            </a:r>
            <a:endParaRPr lang="en-US" sz="15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3. You buy two things: 45 birr and 30 birr. How much is that?</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Say the total in words.</a:t>
            </a:r>
            <a:endParaRPr lang="en-US" sz="15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4. Correct this and explain each change:  “i work in monday and my birthday is on june”</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There are five things to fix.</a:t>
            </a:r>
            <a:endParaRPr lang="en-US" sz="15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5. Someone says a price and you are not sure if it was 15 or 50. Write TWO things you could say.</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Use the phrases from the Conversation section.</a:t>
            </a:r>
            <a:endParaRPr lang="en-US" sz="15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J · DIFFICULT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J — think and explain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There is no single right answer. Explain your thinking.</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2 — Numbers, Time &amp; Money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60</a:t>
            </a:r>
            <a:endParaRPr lang="en-US" sz="1100" dirty="0"/>
          </a:p>
        </p:txBody>
      </p:sp>
      <p:sp>
        <p:nvSpPr>
          <p:cNvPr id="11" name="Shape 7"/>
          <p:cNvSpPr/>
          <p:nvPr/>
        </p:nvSpPr>
        <p:spPr>
          <a:xfrm>
            <a:off x="548640" y="1883664"/>
            <a:ext cx="11094415" cy="566928"/>
          </a:xfrm>
          <a:prstGeom prst="roundRect">
            <a:avLst>
              <a:gd name="adj" fmla="val 22581"/>
            </a:avLst>
          </a:prstGeom>
          <a:solidFill>
            <a:srgbClr val="EDF0FD"/>
          </a:solidFill>
          <a:ln w="12700">
            <a:solidFill>
              <a:srgbClr val="0E7C5A"/>
            </a:solidFill>
            <a:prstDash val="solid"/>
          </a:ln>
        </p:spPr>
      </p:sp>
      <p:sp>
        <p:nvSpPr>
          <p:cNvPr id="12" name="Shape 8"/>
          <p:cNvSpPr/>
          <p:nvPr/>
        </p:nvSpPr>
        <p:spPr>
          <a:xfrm>
            <a:off x="749808" y="1993392"/>
            <a:ext cx="347472" cy="347472"/>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36676" y="2080260"/>
            <a:ext cx="173736" cy="173736"/>
          </a:xfrm>
          <a:prstGeom prst="rect">
            <a:avLst/>
          </a:prstGeom>
        </p:spPr>
      </p:pic>
      <p:sp>
        <p:nvSpPr>
          <p:cNvPr id="14" name="Text 9"/>
          <p:cNvSpPr txBox="1"/>
          <p:nvPr/>
        </p:nvSpPr>
        <p:spPr>
          <a:xfrm>
            <a:off x="1207008" y="188366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Answer in English if you can. These test understanding, not memory.</a:t>
            </a:r>
            <a:endParaRPr lang="en-US" sz="1700" dirty="0"/>
          </a:p>
        </p:txBody>
      </p:sp>
      <p:sp>
        <p:nvSpPr>
          <p:cNvPr id="15" name="Shape 10"/>
          <p:cNvSpPr/>
          <p:nvPr/>
        </p:nvSpPr>
        <p:spPr>
          <a:xfrm>
            <a:off x="548640" y="2596896"/>
            <a:ext cx="11094415" cy="747522"/>
          </a:xfrm>
          <a:prstGeom prst="roundRect">
            <a:avLst>
              <a:gd name="adj" fmla="val 17125"/>
            </a:avLst>
          </a:prstGeom>
          <a:solidFill>
            <a:srgbClr val="F6F9F7"/>
          </a:solidFill>
          <a:ln w="12700">
            <a:solidFill>
              <a:srgbClr val="E3E9E5"/>
            </a:solidFill>
            <a:prstDash val="solid"/>
          </a:ln>
        </p:spPr>
      </p:sp>
      <p:sp>
        <p:nvSpPr>
          <p:cNvPr id="16" name="Shape 11"/>
          <p:cNvSpPr/>
          <p:nvPr/>
        </p:nvSpPr>
        <p:spPr>
          <a:xfrm>
            <a:off x="749808" y="2769489"/>
            <a:ext cx="402336" cy="402336"/>
          </a:xfrm>
          <a:prstGeom prst="ellipse">
            <a:avLst/>
          </a:prstGeom>
          <a:solidFill>
            <a:srgbClr val="0E7C5A"/>
          </a:solidFill>
          <a:ln/>
        </p:spPr>
      </p:sp>
      <p:sp>
        <p:nvSpPr>
          <p:cNvPr id="17" name="Text 12"/>
          <p:cNvSpPr txBox="1"/>
          <p:nvPr/>
        </p:nvSpPr>
        <p:spPr>
          <a:xfrm>
            <a:off x="749808" y="27694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3"/>
          <p:cNvSpPr/>
          <p:nvPr/>
        </p:nvSpPr>
        <p:spPr>
          <a:xfrm>
            <a:off x="1353312" y="2651760"/>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1. Why is the difference between 13 and 30 more important than most pronunciation mistakes?</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Think about what happens in a shop.</a:t>
            </a:r>
            <a:endParaRPr lang="en-US" sz="1700" dirty="0"/>
          </a:p>
        </p:txBody>
      </p:sp>
      <p:sp>
        <p:nvSpPr>
          <p:cNvPr id="19" name="Shape 14"/>
          <p:cNvSpPr/>
          <p:nvPr/>
        </p:nvSpPr>
        <p:spPr>
          <a:xfrm>
            <a:off x="548640" y="3463290"/>
            <a:ext cx="11094415" cy="747522"/>
          </a:xfrm>
          <a:prstGeom prst="roundRect">
            <a:avLst>
              <a:gd name="adj" fmla="val 17125"/>
            </a:avLst>
          </a:prstGeom>
          <a:solidFill>
            <a:srgbClr val="F6F9F7"/>
          </a:solidFill>
          <a:ln w="12700">
            <a:solidFill>
              <a:srgbClr val="E3E9E5"/>
            </a:solidFill>
            <a:prstDash val="solid"/>
          </a:ln>
        </p:spPr>
      </p:sp>
      <p:sp>
        <p:nvSpPr>
          <p:cNvPr id="20" name="Shape 15"/>
          <p:cNvSpPr/>
          <p:nvPr/>
        </p:nvSpPr>
        <p:spPr>
          <a:xfrm>
            <a:off x="749808" y="3635883"/>
            <a:ext cx="402336" cy="402336"/>
          </a:xfrm>
          <a:prstGeom prst="ellipse">
            <a:avLst/>
          </a:prstGeom>
          <a:solidFill>
            <a:srgbClr val="0E7C5A"/>
          </a:solidFill>
          <a:ln/>
        </p:spPr>
      </p:sp>
      <p:sp>
        <p:nvSpPr>
          <p:cNvPr id="21" name="Text 16"/>
          <p:cNvSpPr txBox="1"/>
          <p:nvPr/>
        </p:nvSpPr>
        <p:spPr>
          <a:xfrm>
            <a:off x="749808" y="363588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7"/>
          <p:cNvSpPr/>
          <p:nvPr/>
        </p:nvSpPr>
        <p:spPr>
          <a:xfrm>
            <a:off x="1353312" y="3518154"/>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2. Someone says “Meet me at three o'clock.” What should you ask before you agree?</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Think about the two clocks.</a:t>
            </a:r>
            <a:endParaRPr lang="en-US" sz="1700" dirty="0"/>
          </a:p>
        </p:txBody>
      </p:sp>
      <p:sp>
        <p:nvSpPr>
          <p:cNvPr id="23" name="Shape 18"/>
          <p:cNvSpPr/>
          <p:nvPr/>
        </p:nvSpPr>
        <p:spPr>
          <a:xfrm>
            <a:off x="548640" y="4329684"/>
            <a:ext cx="11094415" cy="747522"/>
          </a:xfrm>
          <a:prstGeom prst="roundRect">
            <a:avLst>
              <a:gd name="adj" fmla="val 17125"/>
            </a:avLst>
          </a:prstGeom>
          <a:solidFill>
            <a:srgbClr val="F6F9F7"/>
          </a:solidFill>
          <a:ln w="12700">
            <a:solidFill>
              <a:srgbClr val="E3E9E5"/>
            </a:solidFill>
            <a:prstDash val="solid"/>
          </a:ln>
        </p:spPr>
      </p:sp>
      <p:sp>
        <p:nvSpPr>
          <p:cNvPr id="24" name="Shape 19"/>
          <p:cNvSpPr/>
          <p:nvPr/>
        </p:nvSpPr>
        <p:spPr>
          <a:xfrm>
            <a:off x="749808" y="4502277"/>
            <a:ext cx="402336" cy="402336"/>
          </a:xfrm>
          <a:prstGeom prst="ellipse">
            <a:avLst/>
          </a:prstGeom>
          <a:solidFill>
            <a:srgbClr val="0E7C5A"/>
          </a:solidFill>
          <a:ln/>
        </p:spPr>
      </p:sp>
      <p:sp>
        <p:nvSpPr>
          <p:cNvPr id="25" name="Text 20"/>
          <p:cNvSpPr txBox="1"/>
          <p:nvPr/>
        </p:nvSpPr>
        <p:spPr>
          <a:xfrm>
            <a:off x="749808" y="450227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1"/>
          <p:cNvSpPr/>
          <p:nvPr/>
        </p:nvSpPr>
        <p:spPr>
          <a:xfrm>
            <a:off x="1353312" y="4384548"/>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3. Why do you think English says phone numbers digit by digit?</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Compare “oh nine one two” with “nine hundred and twelve”.</a:t>
            </a:r>
            <a:endParaRPr lang="en-US" sz="1700" dirty="0"/>
          </a:p>
        </p:txBody>
      </p:sp>
      <p:sp>
        <p:nvSpPr>
          <p:cNvPr id="27" name="Shape 22"/>
          <p:cNvSpPr/>
          <p:nvPr/>
        </p:nvSpPr>
        <p:spPr>
          <a:xfrm>
            <a:off x="548640" y="5196078"/>
            <a:ext cx="11094415" cy="747522"/>
          </a:xfrm>
          <a:prstGeom prst="roundRect">
            <a:avLst>
              <a:gd name="adj" fmla="val 17125"/>
            </a:avLst>
          </a:prstGeom>
          <a:solidFill>
            <a:srgbClr val="F6F9F7"/>
          </a:solidFill>
          <a:ln w="12700">
            <a:solidFill>
              <a:srgbClr val="E3E9E5"/>
            </a:solidFill>
            <a:prstDash val="solid"/>
          </a:ln>
        </p:spPr>
      </p:sp>
      <p:sp>
        <p:nvSpPr>
          <p:cNvPr id="28" name="Shape 23"/>
          <p:cNvSpPr/>
          <p:nvPr/>
        </p:nvSpPr>
        <p:spPr>
          <a:xfrm>
            <a:off x="749808" y="5368671"/>
            <a:ext cx="402336" cy="402336"/>
          </a:xfrm>
          <a:prstGeom prst="ellipse">
            <a:avLst/>
          </a:prstGeom>
          <a:solidFill>
            <a:srgbClr val="0E7C5A"/>
          </a:solidFill>
          <a:ln/>
        </p:spPr>
      </p:sp>
      <p:sp>
        <p:nvSpPr>
          <p:cNvPr id="29" name="Text 24"/>
          <p:cNvSpPr txBox="1"/>
          <p:nvPr/>
        </p:nvSpPr>
        <p:spPr>
          <a:xfrm>
            <a:off x="749808" y="536867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5"/>
          <p:cNvSpPr/>
          <p:nvPr/>
        </p:nvSpPr>
        <p:spPr>
          <a:xfrm>
            <a:off x="1353312" y="5250942"/>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4. Your friend writes “fifty birrs”. Explain the mistake in a way they will remember.</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How would you teach it?</a:t>
            </a:r>
            <a:endParaRPr lang="en-US" sz="17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Module 2 quiz — Part 1 · Numbers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2 — Numbers, Time &amp; Money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61</a:t>
            </a:r>
            <a:endParaRPr lang="en-US" sz="1100" dirty="0"/>
          </a:p>
        </p:txBody>
      </p:sp>
      <p:sp>
        <p:nvSpPr>
          <p:cNvPr id="11" name="Shape 7"/>
          <p:cNvSpPr/>
          <p:nvPr/>
        </p:nvSpPr>
        <p:spPr>
          <a:xfrm>
            <a:off x="548640" y="1883664"/>
            <a:ext cx="11094415" cy="566928"/>
          </a:xfrm>
          <a:prstGeom prst="roundRect">
            <a:avLst>
              <a:gd name="adj" fmla="val 22581"/>
            </a:avLst>
          </a:prstGeom>
          <a:solidFill>
            <a:srgbClr val="EDF3EF"/>
          </a:solidFill>
          <a:ln w="12700">
            <a:solidFill>
              <a:srgbClr val="0A5D43"/>
            </a:solidFill>
            <a:prstDash val="solid"/>
          </a:ln>
        </p:spPr>
      </p:sp>
      <p:sp>
        <p:nvSpPr>
          <p:cNvPr id="12" name="Shape 8"/>
          <p:cNvSpPr/>
          <p:nvPr/>
        </p:nvSpPr>
        <p:spPr>
          <a:xfrm>
            <a:off x="749808" y="1993392"/>
            <a:ext cx="347472" cy="347472"/>
          </a:xfrm>
          <a:prstGeom prst="ellipse">
            <a:avLst/>
          </a:prstGeom>
          <a:solidFill>
            <a:srgbClr val="0A5D43"/>
          </a:solidFill>
          <a:ln/>
        </p:spPr>
      </p:sp>
      <p:pic>
        <p:nvPicPr>
          <p:cNvPr id="13" name="Image 1" descr="preencoded.png">    </p:cNvPr>
          <p:cNvPicPr>
            <a:picLocks noChangeAspect="1"/>
          </p:cNvPicPr>
          <p:nvPr/>
        </p:nvPicPr>
        <p:blipFill>
          <a:blip r:embed="rId2"/>
          <a:stretch>
            <a:fillRect/>
          </a:stretch>
        </p:blipFill>
        <p:spPr>
          <a:xfrm>
            <a:off x="836676" y="2080260"/>
            <a:ext cx="173736" cy="173736"/>
          </a:xfrm>
          <a:prstGeom prst="rect">
            <a:avLst/>
          </a:prstGeom>
        </p:spPr>
      </p:pic>
      <p:sp>
        <p:nvSpPr>
          <p:cNvPr id="14" name="Text 9"/>
          <p:cNvSpPr txBox="1"/>
          <p:nvPr/>
        </p:nvSpPr>
        <p:spPr>
          <a:xfrm>
            <a:off x="1207008" y="188366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your answers on paper. Do not look back at the earlier slides.</a:t>
            </a:r>
            <a:endParaRPr lang="en-US" sz="1700" dirty="0"/>
          </a:p>
        </p:txBody>
      </p:sp>
      <p:sp>
        <p:nvSpPr>
          <p:cNvPr id="15" name="Shape 10"/>
          <p:cNvSpPr/>
          <p:nvPr/>
        </p:nvSpPr>
        <p:spPr>
          <a:xfrm>
            <a:off x="548640" y="2596896"/>
            <a:ext cx="11094415" cy="747522"/>
          </a:xfrm>
          <a:prstGeom prst="roundRect">
            <a:avLst>
              <a:gd name="adj" fmla="val 17125"/>
            </a:avLst>
          </a:prstGeom>
          <a:solidFill>
            <a:srgbClr val="F6F9F7"/>
          </a:solidFill>
          <a:ln w="12700">
            <a:solidFill>
              <a:srgbClr val="E3E9E5"/>
            </a:solidFill>
            <a:prstDash val="solid"/>
          </a:ln>
        </p:spPr>
      </p:sp>
      <p:sp>
        <p:nvSpPr>
          <p:cNvPr id="16" name="Shape 11"/>
          <p:cNvSpPr/>
          <p:nvPr/>
        </p:nvSpPr>
        <p:spPr>
          <a:xfrm>
            <a:off x="749808" y="2769489"/>
            <a:ext cx="402336" cy="402336"/>
          </a:xfrm>
          <a:prstGeom prst="ellipse">
            <a:avLst/>
          </a:prstGeom>
          <a:solidFill>
            <a:srgbClr val="0A5D43"/>
          </a:solidFill>
          <a:ln/>
        </p:spPr>
      </p:sp>
      <p:sp>
        <p:nvSpPr>
          <p:cNvPr id="17" name="Text 12"/>
          <p:cNvSpPr txBox="1"/>
          <p:nvPr/>
        </p:nvSpPr>
        <p:spPr>
          <a:xfrm>
            <a:off x="749808" y="27694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3"/>
          <p:cNvSpPr/>
          <p:nvPr/>
        </p:nvSpPr>
        <p:spPr>
          <a:xfrm>
            <a:off x="1353312" y="2651760"/>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1. Write 47 in words.</a:t>
            </a:r>
            <a:endParaRPr lang="en-US" sz="1700" dirty="0"/>
          </a:p>
          <a:p>
            <a:pPr indent="0" marL="0">
              <a:lnSpc>
                <a:spcPct val="102000"/>
              </a:lnSpc>
              <a:spcBef>
                <a:spcPts val="283"/>
              </a:spcBef>
              <a:buNone/>
            </a:pPr>
            <a:r>
              <a:rPr lang="en-US" sz="1320" dirty="0">
                <a:solidFill>
                  <a:srgbClr val="3A473F"/>
                </a:solidFill>
                <a:latin typeface="Calibri" pitchFamily="34" charset="0"/>
                <a:ea typeface="Calibri" pitchFamily="34" charset="-122"/>
                <a:cs typeface="Calibri" pitchFamily="34" charset="-120"/>
              </a:rPr>
              <a:t>Careful with the spelling.</a:t>
            </a:r>
            <a:endParaRPr lang="en-US" sz="1700" dirty="0"/>
          </a:p>
        </p:txBody>
      </p:sp>
      <p:sp>
        <p:nvSpPr>
          <p:cNvPr id="19" name="Shape 14"/>
          <p:cNvSpPr/>
          <p:nvPr/>
        </p:nvSpPr>
        <p:spPr>
          <a:xfrm>
            <a:off x="548640" y="3463290"/>
            <a:ext cx="11094415" cy="747522"/>
          </a:xfrm>
          <a:prstGeom prst="roundRect">
            <a:avLst>
              <a:gd name="adj" fmla="val 17125"/>
            </a:avLst>
          </a:prstGeom>
          <a:solidFill>
            <a:srgbClr val="F6F9F7"/>
          </a:solidFill>
          <a:ln w="12700">
            <a:solidFill>
              <a:srgbClr val="E3E9E5"/>
            </a:solidFill>
            <a:prstDash val="solid"/>
          </a:ln>
        </p:spPr>
      </p:sp>
      <p:sp>
        <p:nvSpPr>
          <p:cNvPr id="20" name="Shape 15"/>
          <p:cNvSpPr/>
          <p:nvPr/>
        </p:nvSpPr>
        <p:spPr>
          <a:xfrm>
            <a:off x="749808" y="3635883"/>
            <a:ext cx="402336" cy="402336"/>
          </a:xfrm>
          <a:prstGeom prst="ellipse">
            <a:avLst/>
          </a:prstGeom>
          <a:solidFill>
            <a:srgbClr val="0A5D43"/>
          </a:solidFill>
          <a:ln/>
        </p:spPr>
      </p:sp>
      <p:sp>
        <p:nvSpPr>
          <p:cNvPr id="21" name="Text 16"/>
          <p:cNvSpPr txBox="1"/>
          <p:nvPr/>
        </p:nvSpPr>
        <p:spPr>
          <a:xfrm>
            <a:off x="749808" y="363588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7"/>
          <p:cNvSpPr/>
          <p:nvPr/>
        </p:nvSpPr>
        <p:spPr>
          <a:xfrm>
            <a:off x="1353312" y="3518154"/>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2. Which is 50?</a:t>
            </a:r>
            <a:endParaRPr lang="en-US" sz="1700" dirty="0"/>
          </a:p>
          <a:p>
            <a:pPr indent="0" marL="0">
              <a:lnSpc>
                <a:spcPct val="102000"/>
              </a:lnSpc>
              <a:spcBef>
                <a:spcPts val="283"/>
              </a:spcBef>
              <a:buNone/>
            </a:pPr>
            <a:r>
              <a:rPr lang="en-US" sz="1320" dirty="0">
                <a:solidFill>
                  <a:srgbClr val="3A473F"/>
                </a:solidFill>
                <a:latin typeface="Calibri" pitchFamily="34" charset="0"/>
                <a:ea typeface="Calibri" pitchFamily="34" charset="-122"/>
                <a:cs typeface="Calibri" pitchFamily="34" charset="-120"/>
              </a:rPr>
              <a:t>a) fifteen     b) fifty     c) five</a:t>
            </a:r>
            <a:endParaRPr lang="en-US" sz="1700" dirty="0"/>
          </a:p>
        </p:txBody>
      </p:sp>
      <p:sp>
        <p:nvSpPr>
          <p:cNvPr id="23" name="Shape 18"/>
          <p:cNvSpPr/>
          <p:nvPr/>
        </p:nvSpPr>
        <p:spPr>
          <a:xfrm>
            <a:off x="548640" y="4329684"/>
            <a:ext cx="11094415" cy="747522"/>
          </a:xfrm>
          <a:prstGeom prst="roundRect">
            <a:avLst>
              <a:gd name="adj" fmla="val 17125"/>
            </a:avLst>
          </a:prstGeom>
          <a:solidFill>
            <a:srgbClr val="F6F9F7"/>
          </a:solidFill>
          <a:ln w="12700">
            <a:solidFill>
              <a:srgbClr val="E3E9E5"/>
            </a:solidFill>
            <a:prstDash val="solid"/>
          </a:ln>
        </p:spPr>
      </p:sp>
      <p:sp>
        <p:nvSpPr>
          <p:cNvPr id="24" name="Shape 19"/>
          <p:cNvSpPr/>
          <p:nvPr/>
        </p:nvSpPr>
        <p:spPr>
          <a:xfrm>
            <a:off x="749808" y="4502277"/>
            <a:ext cx="402336" cy="402336"/>
          </a:xfrm>
          <a:prstGeom prst="ellipse">
            <a:avLst/>
          </a:prstGeom>
          <a:solidFill>
            <a:srgbClr val="0A5D43"/>
          </a:solidFill>
          <a:ln/>
        </p:spPr>
      </p:sp>
      <p:sp>
        <p:nvSpPr>
          <p:cNvPr id="25" name="Text 20"/>
          <p:cNvSpPr txBox="1"/>
          <p:nvPr/>
        </p:nvSpPr>
        <p:spPr>
          <a:xfrm>
            <a:off x="749808" y="450227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1"/>
          <p:cNvSpPr/>
          <p:nvPr/>
        </p:nvSpPr>
        <p:spPr>
          <a:xfrm>
            <a:off x="1353312" y="4384548"/>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3. Which number has the stress at the END?</a:t>
            </a:r>
            <a:endParaRPr lang="en-US" sz="1700" dirty="0"/>
          </a:p>
          <a:p>
            <a:pPr indent="0" marL="0">
              <a:lnSpc>
                <a:spcPct val="102000"/>
              </a:lnSpc>
              <a:spcBef>
                <a:spcPts val="283"/>
              </a:spcBef>
              <a:buNone/>
            </a:pPr>
            <a:r>
              <a:rPr lang="en-US" sz="1320" dirty="0">
                <a:solidFill>
                  <a:srgbClr val="3A473F"/>
                </a:solidFill>
                <a:latin typeface="Calibri" pitchFamily="34" charset="0"/>
                <a:ea typeface="Calibri" pitchFamily="34" charset="-122"/>
                <a:cs typeface="Calibri" pitchFamily="34" charset="-120"/>
              </a:rPr>
              <a:t>a) THIR-ty     b) thir-TEEN     c) both</a:t>
            </a:r>
            <a:endParaRPr lang="en-US" sz="1700" dirty="0"/>
          </a:p>
        </p:txBody>
      </p:sp>
      <p:sp>
        <p:nvSpPr>
          <p:cNvPr id="27" name="Shape 22"/>
          <p:cNvSpPr/>
          <p:nvPr/>
        </p:nvSpPr>
        <p:spPr>
          <a:xfrm>
            <a:off x="548640" y="5196078"/>
            <a:ext cx="11094415" cy="747522"/>
          </a:xfrm>
          <a:prstGeom prst="roundRect">
            <a:avLst>
              <a:gd name="adj" fmla="val 17125"/>
            </a:avLst>
          </a:prstGeom>
          <a:solidFill>
            <a:srgbClr val="F6F9F7"/>
          </a:solidFill>
          <a:ln w="12700">
            <a:solidFill>
              <a:srgbClr val="E3E9E5"/>
            </a:solidFill>
            <a:prstDash val="solid"/>
          </a:ln>
        </p:spPr>
      </p:sp>
      <p:sp>
        <p:nvSpPr>
          <p:cNvPr id="28" name="Shape 23"/>
          <p:cNvSpPr/>
          <p:nvPr/>
        </p:nvSpPr>
        <p:spPr>
          <a:xfrm>
            <a:off x="749808" y="5368671"/>
            <a:ext cx="402336" cy="402336"/>
          </a:xfrm>
          <a:prstGeom prst="ellipse">
            <a:avLst/>
          </a:prstGeom>
          <a:solidFill>
            <a:srgbClr val="0A5D43"/>
          </a:solidFill>
          <a:ln/>
        </p:spPr>
      </p:sp>
      <p:sp>
        <p:nvSpPr>
          <p:cNvPr id="29" name="Text 24"/>
          <p:cNvSpPr txBox="1"/>
          <p:nvPr/>
        </p:nvSpPr>
        <p:spPr>
          <a:xfrm>
            <a:off x="749808" y="536867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5"/>
          <p:cNvSpPr/>
          <p:nvPr/>
        </p:nvSpPr>
        <p:spPr>
          <a:xfrm>
            <a:off x="1353312" y="5250942"/>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4. Say this phone number in English:  0911 234 567</a:t>
            </a:r>
            <a:endParaRPr lang="en-US" sz="1700" dirty="0"/>
          </a:p>
          <a:p>
            <a:pPr indent="0" marL="0">
              <a:lnSpc>
                <a:spcPct val="102000"/>
              </a:lnSpc>
              <a:spcBef>
                <a:spcPts val="283"/>
              </a:spcBef>
              <a:buNone/>
            </a:pPr>
            <a:r>
              <a:rPr lang="en-US" sz="1320" dirty="0">
                <a:solidFill>
                  <a:srgbClr val="3A473F"/>
                </a:solidFill>
                <a:latin typeface="Calibri" pitchFamily="34" charset="0"/>
                <a:ea typeface="Calibri" pitchFamily="34" charset="-122"/>
                <a:cs typeface="Calibri" pitchFamily="34" charset="-120"/>
              </a:rPr>
              <a:t>Write how you would say it.</a:t>
            </a:r>
            <a:endParaRPr lang="en-US" sz="17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Module 2 quiz — Part 2 · Time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2 — Numbers, Time &amp; Money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62</a:t>
            </a:r>
            <a:endParaRPr lang="en-US" sz="1100" dirty="0"/>
          </a:p>
        </p:txBody>
      </p:sp>
      <p:sp>
        <p:nvSpPr>
          <p:cNvPr id="11" name="Shape 7"/>
          <p:cNvSpPr/>
          <p:nvPr/>
        </p:nvSpPr>
        <p:spPr>
          <a:xfrm>
            <a:off x="548640" y="1883664"/>
            <a:ext cx="11094415" cy="925830"/>
          </a:xfrm>
          <a:prstGeom prst="roundRect">
            <a:avLst>
              <a:gd name="adj" fmla="val 13827"/>
            </a:avLst>
          </a:prstGeom>
          <a:solidFill>
            <a:srgbClr val="F6F9F7"/>
          </a:solidFill>
          <a:ln w="12700">
            <a:solidFill>
              <a:srgbClr val="E3E9E5"/>
            </a:solidFill>
            <a:prstDash val="solid"/>
          </a:ln>
        </p:spPr>
      </p:sp>
      <p:sp>
        <p:nvSpPr>
          <p:cNvPr id="12" name="Shape 8"/>
          <p:cNvSpPr/>
          <p:nvPr/>
        </p:nvSpPr>
        <p:spPr>
          <a:xfrm>
            <a:off x="749808" y="2145411"/>
            <a:ext cx="402336" cy="402336"/>
          </a:xfrm>
          <a:prstGeom prst="ellipse">
            <a:avLst/>
          </a:prstGeom>
          <a:solidFill>
            <a:srgbClr val="0A5D43"/>
          </a:solidFill>
          <a:ln/>
        </p:spPr>
      </p:sp>
      <p:sp>
        <p:nvSpPr>
          <p:cNvPr id="13" name="Text 9"/>
          <p:cNvSpPr txBox="1"/>
          <p:nvPr/>
        </p:nvSpPr>
        <p:spPr>
          <a:xfrm>
            <a:off x="749808" y="214541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4" name="Text 10"/>
          <p:cNvSpPr/>
          <p:nvPr/>
        </p:nvSpPr>
        <p:spPr>
          <a:xfrm>
            <a:off x="1353312" y="1938528"/>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Write 4:30 in words.</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Use the “half past” pattern.</a:t>
            </a:r>
            <a:endParaRPr lang="en-US" sz="1800" dirty="0"/>
          </a:p>
        </p:txBody>
      </p:sp>
      <p:sp>
        <p:nvSpPr>
          <p:cNvPr id="15" name="Shape 11"/>
          <p:cNvSpPr/>
          <p:nvPr/>
        </p:nvSpPr>
        <p:spPr>
          <a:xfrm>
            <a:off x="548640" y="2928366"/>
            <a:ext cx="11094415" cy="925830"/>
          </a:xfrm>
          <a:prstGeom prst="roundRect">
            <a:avLst>
              <a:gd name="adj" fmla="val 13827"/>
            </a:avLst>
          </a:prstGeom>
          <a:solidFill>
            <a:srgbClr val="F6F9F7"/>
          </a:solidFill>
          <a:ln w="12700">
            <a:solidFill>
              <a:srgbClr val="E3E9E5"/>
            </a:solidFill>
            <a:prstDash val="solid"/>
          </a:ln>
        </p:spPr>
      </p:sp>
      <p:sp>
        <p:nvSpPr>
          <p:cNvPr id="16" name="Shape 12"/>
          <p:cNvSpPr/>
          <p:nvPr/>
        </p:nvSpPr>
        <p:spPr>
          <a:xfrm>
            <a:off x="749808" y="3190113"/>
            <a:ext cx="402336" cy="402336"/>
          </a:xfrm>
          <a:prstGeom prst="ellipse">
            <a:avLst/>
          </a:prstGeom>
          <a:solidFill>
            <a:srgbClr val="0A5D43"/>
          </a:solidFill>
          <a:ln/>
        </p:spPr>
      </p:sp>
      <p:sp>
        <p:nvSpPr>
          <p:cNvPr id="17" name="Text 13"/>
          <p:cNvSpPr txBox="1"/>
          <p:nvPr/>
        </p:nvSpPr>
        <p:spPr>
          <a:xfrm>
            <a:off x="749808" y="319011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18" name="Text 14"/>
          <p:cNvSpPr/>
          <p:nvPr/>
        </p:nvSpPr>
        <p:spPr>
          <a:xfrm>
            <a:off x="1353312" y="2983230"/>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6. Write 9:45 in words.</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Careful — which hour do you name?</a:t>
            </a:r>
            <a:endParaRPr lang="en-US" sz="1800" dirty="0"/>
          </a:p>
        </p:txBody>
      </p:sp>
      <p:sp>
        <p:nvSpPr>
          <p:cNvPr id="19" name="Shape 15"/>
          <p:cNvSpPr/>
          <p:nvPr/>
        </p:nvSpPr>
        <p:spPr>
          <a:xfrm>
            <a:off x="548640" y="3973068"/>
            <a:ext cx="11094415" cy="925830"/>
          </a:xfrm>
          <a:prstGeom prst="roundRect">
            <a:avLst>
              <a:gd name="adj" fmla="val 13827"/>
            </a:avLst>
          </a:prstGeom>
          <a:solidFill>
            <a:srgbClr val="F6F9F7"/>
          </a:solidFill>
          <a:ln w="12700">
            <a:solidFill>
              <a:srgbClr val="E3E9E5"/>
            </a:solidFill>
            <a:prstDash val="solid"/>
          </a:ln>
        </p:spPr>
      </p:sp>
      <p:sp>
        <p:nvSpPr>
          <p:cNvPr id="20" name="Shape 16"/>
          <p:cNvSpPr/>
          <p:nvPr/>
        </p:nvSpPr>
        <p:spPr>
          <a:xfrm>
            <a:off x="749808" y="4234815"/>
            <a:ext cx="402336" cy="402336"/>
          </a:xfrm>
          <a:prstGeom prst="ellipse">
            <a:avLst/>
          </a:prstGeom>
          <a:solidFill>
            <a:srgbClr val="0A5D43"/>
          </a:solidFill>
          <a:ln/>
        </p:spPr>
      </p:sp>
      <p:sp>
        <p:nvSpPr>
          <p:cNvPr id="21" name="Text 17"/>
          <p:cNvSpPr txBox="1"/>
          <p:nvPr/>
        </p:nvSpPr>
        <p:spPr>
          <a:xfrm>
            <a:off x="749808" y="423481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22" name="Text 18"/>
          <p:cNvSpPr/>
          <p:nvPr/>
        </p:nvSpPr>
        <p:spPr>
          <a:xfrm>
            <a:off x="1353312" y="4027932"/>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7. Complete: “The bus leaves ___ six o'clock.”</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in     b) on     c) at</a:t>
            </a:r>
            <a:endParaRPr lang="en-US" sz="1800" dirty="0"/>
          </a:p>
        </p:txBody>
      </p:sp>
      <p:sp>
        <p:nvSpPr>
          <p:cNvPr id="23" name="Shape 19"/>
          <p:cNvSpPr/>
          <p:nvPr/>
        </p:nvSpPr>
        <p:spPr>
          <a:xfrm>
            <a:off x="548640" y="5017770"/>
            <a:ext cx="11094415" cy="925830"/>
          </a:xfrm>
          <a:prstGeom prst="roundRect">
            <a:avLst>
              <a:gd name="adj" fmla="val 13827"/>
            </a:avLst>
          </a:prstGeom>
          <a:solidFill>
            <a:srgbClr val="F6F9F7"/>
          </a:solidFill>
          <a:ln w="12700">
            <a:solidFill>
              <a:srgbClr val="E3E9E5"/>
            </a:solidFill>
            <a:prstDash val="solid"/>
          </a:ln>
        </p:spPr>
      </p:sp>
      <p:sp>
        <p:nvSpPr>
          <p:cNvPr id="24" name="Shape 20"/>
          <p:cNvSpPr/>
          <p:nvPr/>
        </p:nvSpPr>
        <p:spPr>
          <a:xfrm>
            <a:off x="749808" y="5279517"/>
            <a:ext cx="402336" cy="402336"/>
          </a:xfrm>
          <a:prstGeom prst="ellipse">
            <a:avLst/>
          </a:prstGeom>
          <a:solidFill>
            <a:srgbClr val="0A5D43"/>
          </a:solidFill>
          <a:ln/>
        </p:spPr>
      </p:sp>
      <p:sp>
        <p:nvSpPr>
          <p:cNvPr id="25" name="Text 21"/>
          <p:cNvSpPr txBox="1"/>
          <p:nvPr/>
        </p:nvSpPr>
        <p:spPr>
          <a:xfrm>
            <a:off x="749808" y="527951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8</a:t>
            </a:r>
            <a:endParaRPr lang="en-US" sz="1500" dirty="0"/>
          </a:p>
        </p:txBody>
      </p:sp>
      <p:sp>
        <p:nvSpPr>
          <p:cNvPr id="26" name="Text 22"/>
          <p:cNvSpPr/>
          <p:nvPr/>
        </p:nvSpPr>
        <p:spPr>
          <a:xfrm>
            <a:off x="1353312" y="5072634"/>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8. Ethiopian 3 o'clock is what time in English?</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3 in the afternoon     b) 9 in the morning     c) the same</a:t>
            </a:r>
            <a:endParaRPr lang="en-US" sz="18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150" b="1" dirty="0">
                <a:solidFill>
                  <a:srgbClr val="12211B"/>
                </a:solidFill>
                <a:latin typeface="Calibri" pitchFamily="34" charset="0"/>
                <a:ea typeface="Calibri" pitchFamily="34" charset="-122"/>
                <a:cs typeface="Calibri" pitchFamily="34" charset="-120"/>
              </a:rPr>
              <a:t>Module 2 quiz — Part 3 · Days, months and prepositions</a:t>
            </a:r>
            <a:endParaRPr lang="en-US" sz="315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2 — Numbers, Time &amp; Money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63</a:t>
            </a:r>
            <a:endParaRPr lang="en-US" sz="1100" dirty="0"/>
          </a:p>
        </p:txBody>
      </p:sp>
      <p:sp>
        <p:nvSpPr>
          <p:cNvPr id="11" name="Shape 7"/>
          <p:cNvSpPr/>
          <p:nvPr/>
        </p:nvSpPr>
        <p:spPr>
          <a:xfrm>
            <a:off x="548640" y="1883664"/>
            <a:ext cx="11094415" cy="925830"/>
          </a:xfrm>
          <a:prstGeom prst="roundRect">
            <a:avLst>
              <a:gd name="adj" fmla="val 13827"/>
            </a:avLst>
          </a:prstGeom>
          <a:solidFill>
            <a:srgbClr val="F6F9F7"/>
          </a:solidFill>
          <a:ln w="12700">
            <a:solidFill>
              <a:srgbClr val="E3E9E5"/>
            </a:solidFill>
            <a:prstDash val="solid"/>
          </a:ln>
        </p:spPr>
      </p:sp>
      <p:sp>
        <p:nvSpPr>
          <p:cNvPr id="12" name="Shape 8"/>
          <p:cNvSpPr/>
          <p:nvPr/>
        </p:nvSpPr>
        <p:spPr>
          <a:xfrm>
            <a:off x="749808" y="2145411"/>
            <a:ext cx="402336" cy="402336"/>
          </a:xfrm>
          <a:prstGeom prst="ellipse">
            <a:avLst/>
          </a:prstGeom>
          <a:solidFill>
            <a:srgbClr val="0A5D43"/>
          </a:solidFill>
          <a:ln/>
        </p:spPr>
      </p:sp>
      <p:sp>
        <p:nvSpPr>
          <p:cNvPr id="13" name="Text 9"/>
          <p:cNvSpPr txBox="1"/>
          <p:nvPr/>
        </p:nvSpPr>
        <p:spPr>
          <a:xfrm>
            <a:off x="749808" y="214541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9</a:t>
            </a:r>
            <a:endParaRPr lang="en-US" sz="1500" dirty="0"/>
          </a:p>
        </p:txBody>
      </p:sp>
      <p:sp>
        <p:nvSpPr>
          <p:cNvPr id="14" name="Text 10"/>
          <p:cNvSpPr/>
          <p:nvPr/>
        </p:nvSpPr>
        <p:spPr>
          <a:xfrm>
            <a:off x="1353312" y="1938528"/>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9. How many months are in the English year?</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12     b) 13     c) 7</a:t>
            </a:r>
            <a:endParaRPr lang="en-US" sz="1800" dirty="0"/>
          </a:p>
        </p:txBody>
      </p:sp>
      <p:sp>
        <p:nvSpPr>
          <p:cNvPr id="15" name="Shape 11"/>
          <p:cNvSpPr/>
          <p:nvPr/>
        </p:nvSpPr>
        <p:spPr>
          <a:xfrm>
            <a:off x="548640" y="2928366"/>
            <a:ext cx="11094415" cy="925830"/>
          </a:xfrm>
          <a:prstGeom prst="roundRect">
            <a:avLst>
              <a:gd name="adj" fmla="val 13827"/>
            </a:avLst>
          </a:prstGeom>
          <a:solidFill>
            <a:srgbClr val="F6F9F7"/>
          </a:solidFill>
          <a:ln w="12700">
            <a:solidFill>
              <a:srgbClr val="E3E9E5"/>
            </a:solidFill>
            <a:prstDash val="solid"/>
          </a:ln>
        </p:spPr>
      </p:sp>
      <p:sp>
        <p:nvSpPr>
          <p:cNvPr id="16" name="Shape 12"/>
          <p:cNvSpPr/>
          <p:nvPr/>
        </p:nvSpPr>
        <p:spPr>
          <a:xfrm>
            <a:off x="749808" y="3190113"/>
            <a:ext cx="402336" cy="402336"/>
          </a:xfrm>
          <a:prstGeom prst="ellipse">
            <a:avLst/>
          </a:prstGeom>
          <a:solidFill>
            <a:srgbClr val="0A5D43"/>
          </a:solidFill>
          <a:ln/>
        </p:spPr>
      </p:sp>
      <p:sp>
        <p:nvSpPr>
          <p:cNvPr id="17" name="Text 13"/>
          <p:cNvSpPr txBox="1"/>
          <p:nvPr/>
        </p:nvSpPr>
        <p:spPr>
          <a:xfrm>
            <a:off x="749808" y="319011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10</a:t>
            </a:r>
            <a:endParaRPr lang="en-US" sz="1500" dirty="0"/>
          </a:p>
        </p:txBody>
      </p:sp>
      <p:sp>
        <p:nvSpPr>
          <p:cNvPr id="18" name="Text 14"/>
          <p:cNvSpPr/>
          <p:nvPr/>
        </p:nvSpPr>
        <p:spPr>
          <a:xfrm>
            <a:off x="1353312" y="2983230"/>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10. Complete: “I do not work ___ Sunday.”</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in     b) on     c) at</a:t>
            </a:r>
            <a:endParaRPr lang="en-US" sz="1800" dirty="0"/>
          </a:p>
        </p:txBody>
      </p:sp>
      <p:sp>
        <p:nvSpPr>
          <p:cNvPr id="19" name="Shape 15"/>
          <p:cNvSpPr/>
          <p:nvPr/>
        </p:nvSpPr>
        <p:spPr>
          <a:xfrm>
            <a:off x="548640" y="3973068"/>
            <a:ext cx="11094415" cy="925830"/>
          </a:xfrm>
          <a:prstGeom prst="roundRect">
            <a:avLst>
              <a:gd name="adj" fmla="val 13827"/>
            </a:avLst>
          </a:prstGeom>
          <a:solidFill>
            <a:srgbClr val="F6F9F7"/>
          </a:solidFill>
          <a:ln w="12700">
            <a:solidFill>
              <a:srgbClr val="E3E9E5"/>
            </a:solidFill>
            <a:prstDash val="solid"/>
          </a:ln>
        </p:spPr>
      </p:sp>
      <p:sp>
        <p:nvSpPr>
          <p:cNvPr id="20" name="Shape 16"/>
          <p:cNvSpPr/>
          <p:nvPr/>
        </p:nvSpPr>
        <p:spPr>
          <a:xfrm>
            <a:off x="749808" y="4234815"/>
            <a:ext cx="402336" cy="402336"/>
          </a:xfrm>
          <a:prstGeom prst="ellipse">
            <a:avLst/>
          </a:prstGeom>
          <a:solidFill>
            <a:srgbClr val="0A5D43"/>
          </a:solidFill>
          <a:ln/>
        </p:spPr>
      </p:sp>
      <p:sp>
        <p:nvSpPr>
          <p:cNvPr id="21" name="Text 17"/>
          <p:cNvSpPr txBox="1"/>
          <p:nvPr/>
        </p:nvSpPr>
        <p:spPr>
          <a:xfrm>
            <a:off x="749808" y="423481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11</a:t>
            </a:r>
            <a:endParaRPr lang="en-US" sz="1500" dirty="0"/>
          </a:p>
        </p:txBody>
      </p:sp>
      <p:sp>
        <p:nvSpPr>
          <p:cNvPr id="22" name="Text 18"/>
          <p:cNvSpPr/>
          <p:nvPr/>
        </p:nvSpPr>
        <p:spPr>
          <a:xfrm>
            <a:off x="1353312" y="4027932"/>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11. Complete: “My birthday is ___ August.”</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in     b) on     c) at</a:t>
            </a:r>
            <a:endParaRPr lang="en-US" sz="1800" dirty="0"/>
          </a:p>
        </p:txBody>
      </p:sp>
      <p:sp>
        <p:nvSpPr>
          <p:cNvPr id="23" name="Shape 19"/>
          <p:cNvSpPr/>
          <p:nvPr/>
        </p:nvSpPr>
        <p:spPr>
          <a:xfrm>
            <a:off x="548640" y="5017770"/>
            <a:ext cx="11094415" cy="925830"/>
          </a:xfrm>
          <a:prstGeom prst="roundRect">
            <a:avLst>
              <a:gd name="adj" fmla="val 13827"/>
            </a:avLst>
          </a:prstGeom>
          <a:solidFill>
            <a:srgbClr val="F6F9F7"/>
          </a:solidFill>
          <a:ln w="12700">
            <a:solidFill>
              <a:srgbClr val="E3E9E5"/>
            </a:solidFill>
            <a:prstDash val="solid"/>
          </a:ln>
        </p:spPr>
      </p:sp>
      <p:sp>
        <p:nvSpPr>
          <p:cNvPr id="24" name="Shape 20"/>
          <p:cNvSpPr/>
          <p:nvPr/>
        </p:nvSpPr>
        <p:spPr>
          <a:xfrm>
            <a:off x="749808" y="5279517"/>
            <a:ext cx="402336" cy="402336"/>
          </a:xfrm>
          <a:prstGeom prst="ellipse">
            <a:avLst/>
          </a:prstGeom>
          <a:solidFill>
            <a:srgbClr val="0A5D43"/>
          </a:solidFill>
          <a:ln/>
        </p:spPr>
      </p:sp>
      <p:sp>
        <p:nvSpPr>
          <p:cNvPr id="25" name="Text 21"/>
          <p:cNvSpPr txBox="1"/>
          <p:nvPr/>
        </p:nvSpPr>
        <p:spPr>
          <a:xfrm>
            <a:off x="749808" y="527951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12</a:t>
            </a:r>
            <a:endParaRPr lang="en-US" sz="1500" dirty="0"/>
          </a:p>
        </p:txBody>
      </p:sp>
      <p:sp>
        <p:nvSpPr>
          <p:cNvPr id="26" name="Text 22"/>
          <p:cNvSpPr/>
          <p:nvPr/>
        </p:nvSpPr>
        <p:spPr>
          <a:xfrm>
            <a:off x="1353312" y="5072634"/>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12. Correct this: “i work on monday.”</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Write the whole sentence correctly.</a:t>
            </a:r>
            <a:endParaRPr lang="en-US" sz="18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Module 2 quiz — Part 4 · Money and listening</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2 — Numbers, Time &amp; Money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64</a:t>
            </a:r>
            <a:endParaRPr lang="en-US" sz="1100" dirty="0"/>
          </a:p>
        </p:txBody>
      </p:sp>
      <p:sp>
        <p:nvSpPr>
          <p:cNvPr id="11" name="Shape 7"/>
          <p:cNvSpPr/>
          <p:nvPr/>
        </p:nvSpPr>
        <p:spPr>
          <a:xfrm>
            <a:off x="548640" y="1883664"/>
            <a:ext cx="11094415" cy="925830"/>
          </a:xfrm>
          <a:prstGeom prst="roundRect">
            <a:avLst>
              <a:gd name="adj" fmla="val 13827"/>
            </a:avLst>
          </a:prstGeom>
          <a:solidFill>
            <a:srgbClr val="F6F9F7"/>
          </a:solidFill>
          <a:ln w="12700">
            <a:solidFill>
              <a:srgbClr val="E3E9E5"/>
            </a:solidFill>
            <a:prstDash val="solid"/>
          </a:ln>
        </p:spPr>
      </p:sp>
      <p:sp>
        <p:nvSpPr>
          <p:cNvPr id="12" name="Shape 8"/>
          <p:cNvSpPr/>
          <p:nvPr/>
        </p:nvSpPr>
        <p:spPr>
          <a:xfrm>
            <a:off x="749808" y="2145411"/>
            <a:ext cx="402336" cy="402336"/>
          </a:xfrm>
          <a:prstGeom prst="ellipse">
            <a:avLst/>
          </a:prstGeom>
          <a:solidFill>
            <a:srgbClr val="0A5D43"/>
          </a:solidFill>
          <a:ln/>
        </p:spPr>
      </p:sp>
      <p:sp>
        <p:nvSpPr>
          <p:cNvPr id="13" name="Text 9"/>
          <p:cNvSpPr txBox="1"/>
          <p:nvPr/>
        </p:nvSpPr>
        <p:spPr>
          <a:xfrm>
            <a:off x="749808" y="214541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13</a:t>
            </a:r>
            <a:endParaRPr lang="en-US" sz="1500" dirty="0"/>
          </a:p>
        </p:txBody>
      </p:sp>
      <p:sp>
        <p:nvSpPr>
          <p:cNvPr id="14" name="Text 10"/>
          <p:cNvSpPr/>
          <p:nvPr/>
        </p:nvSpPr>
        <p:spPr>
          <a:xfrm>
            <a:off x="1353312" y="1938528"/>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13. Which is correct?</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It is thirty birrs.     b) It is thirty birr.     c) It is thirtys birr.</a:t>
            </a:r>
            <a:endParaRPr lang="en-US" sz="1800" dirty="0"/>
          </a:p>
        </p:txBody>
      </p:sp>
      <p:sp>
        <p:nvSpPr>
          <p:cNvPr id="15" name="Shape 11"/>
          <p:cNvSpPr/>
          <p:nvPr/>
        </p:nvSpPr>
        <p:spPr>
          <a:xfrm>
            <a:off x="548640" y="2928366"/>
            <a:ext cx="11094415" cy="925830"/>
          </a:xfrm>
          <a:prstGeom prst="roundRect">
            <a:avLst>
              <a:gd name="adj" fmla="val 13827"/>
            </a:avLst>
          </a:prstGeom>
          <a:solidFill>
            <a:srgbClr val="F6F9F7"/>
          </a:solidFill>
          <a:ln w="12700">
            <a:solidFill>
              <a:srgbClr val="E3E9E5"/>
            </a:solidFill>
            <a:prstDash val="solid"/>
          </a:ln>
        </p:spPr>
      </p:sp>
      <p:sp>
        <p:nvSpPr>
          <p:cNvPr id="16" name="Shape 12"/>
          <p:cNvSpPr/>
          <p:nvPr/>
        </p:nvSpPr>
        <p:spPr>
          <a:xfrm>
            <a:off x="749808" y="3190113"/>
            <a:ext cx="402336" cy="402336"/>
          </a:xfrm>
          <a:prstGeom prst="ellipse">
            <a:avLst/>
          </a:prstGeom>
          <a:solidFill>
            <a:srgbClr val="0A5D43"/>
          </a:solidFill>
          <a:ln/>
        </p:spPr>
      </p:sp>
      <p:sp>
        <p:nvSpPr>
          <p:cNvPr id="17" name="Text 13"/>
          <p:cNvSpPr txBox="1"/>
          <p:nvPr/>
        </p:nvSpPr>
        <p:spPr>
          <a:xfrm>
            <a:off x="749808" y="319011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14</a:t>
            </a:r>
            <a:endParaRPr lang="en-US" sz="1500" dirty="0"/>
          </a:p>
        </p:txBody>
      </p:sp>
      <p:sp>
        <p:nvSpPr>
          <p:cNvPr id="18" name="Text 14"/>
          <p:cNvSpPr/>
          <p:nvPr/>
        </p:nvSpPr>
        <p:spPr>
          <a:xfrm>
            <a:off x="1353312" y="2983230"/>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14. How do you ask the price of one bag?</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Write the full question.</a:t>
            </a:r>
            <a:endParaRPr lang="en-US" sz="1800" dirty="0"/>
          </a:p>
        </p:txBody>
      </p:sp>
      <p:sp>
        <p:nvSpPr>
          <p:cNvPr id="19" name="Shape 15"/>
          <p:cNvSpPr/>
          <p:nvPr/>
        </p:nvSpPr>
        <p:spPr>
          <a:xfrm>
            <a:off x="548640" y="3973068"/>
            <a:ext cx="11094415" cy="925830"/>
          </a:xfrm>
          <a:prstGeom prst="roundRect">
            <a:avLst>
              <a:gd name="adj" fmla="val 13827"/>
            </a:avLst>
          </a:prstGeom>
          <a:solidFill>
            <a:srgbClr val="F6F9F7"/>
          </a:solidFill>
          <a:ln w="12700">
            <a:solidFill>
              <a:srgbClr val="E3E9E5"/>
            </a:solidFill>
            <a:prstDash val="solid"/>
          </a:ln>
        </p:spPr>
      </p:sp>
      <p:sp>
        <p:nvSpPr>
          <p:cNvPr id="20" name="Shape 16"/>
          <p:cNvSpPr/>
          <p:nvPr/>
        </p:nvSpPr>
        <p:spPr>
          <a:xfrm>
            <a:off x="749808" y="4234815"/>
            <a:ext cx="402336" cy="402336"/>
          </a:xfrm>
          <a:prstGeom prst="ellipse">
            <a:avLst/>
          </a:prstGeom>
          <a:solidFill>
            <a:srgbClr val="0A5D43"/>
          </a:solidFill>
          <a:ln/>
        </p:spPr>
      </p:sp>
      <p:sp>
        <p:nvSpPr>
          <p:cNvPr id="21" name="Text 17"/>
          <p:cNvSpPr txBox="1"/>
          <p:nvPr/>
        </p:nvSpPr>
        <p:spPr>
          <a:xfrm>
            <a:off x="749808" y="423481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15</a:t>
            </a:r>
            <a:endParaRPr lang="en-US" sz="1500" dirty="0"/>
          </a:p>
        </p:txBody>
      </p:sp>
      <p:sp>
        <p:nvSpPr>
          <p:cNvPr id="22" name="Text 18"/>
          <p:cNvSpPr/>
          <p:nvPr/>
        </p:nvSpPr>
        <p:spPr>
          <a:xfrm>
            <a:off x="1353312" y="4027932"/>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15. Your teacher says “fifteen”. Write the figure.</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Listen for the stress.</a:t>
            </a:r>
            <a:endParaRPr lang="en-US" sz="1800" dirty="0"/>
          </a:p>
        </p:txBody>
      </p:sp>
      <p:sp>
        <p:nvSpPr>
          <p:cNvPr id="23" name="Shape 19"/>
          <p:cNvSpPr/>
          <p:nvPr/>
        </p:nvSpPr>
        <p:spPr>
          <a:xfrm>
            <a:off x="548640" y="5017770"/>
            <a:ext cx="11094415" cy="925830"/>
          </a:xfrm>
          <a:prstGeom prst="roundRect">
            <a:avLst>
              <a:gd name="adj" fmla="val 13827"/>
            </a:avLst>
          </a:prstGeom>
          <a:solidFill>
            <a:srgbClr val="F6F9F7"/>
          </a:solidFill>
          <a:ln w="12700">
            <a:solidFill>
              <a:srgbClr val="E3E9E5"/>
            </a:solidFill>
            <a:prstDash val="solid"/>
          </a:ln>
        </p:spPr>
      </p:sp>
      <p:sp>
        <p:nvSpPr>
          <p:cNvPr id="24" name="Shape 20"/>
          <p:cNvSpPr/>
          <p:nvPr/>
        </p:nvSpPr>
        <p:spPr>
          <a:xfrm>
            <a:off x="749808" y="5279517"/>
            <a:ext cx="402336" cy="402336"/>
          </a:xfrm>
          <a:prstGeom prst="ellipse">
            <a:avLst/>
          </a:prstGeom>
          <a:solidFill>
            <a:srgbClr val="0A5D43"/>
          </a:solidFill>
          <a:ln/>
        </p:spPr>
      </p:sp>
      <p:sp>
        <p:nvSpPr>
          <p:cNvPr id="25" name="Text 21"/>
          <p:cNvSpPr txBox="1"/>
          <p:nvPr/>
        </p:nvSpPr>
        <p:spPr>
          <a:xfrm>
            <a:off x="749808" y="527951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16</a:t>
            </a:r>
            <a:endParaRPr lang="en-US" sz="1500" dirty="0"/>
          </a:p>
        </p:txBody>
      </p:sp>
      <p:sp>
        <p:nvSpPr>
          <p:cNvPr id="26" name="Text 22"/>
          <p:cNvSpPr/>
          <p:nvPr/>
        </p:nvSpPr>
        <p:spPr>
          <a:xfrm>
            <a:off x="1353312" y="5072634"/>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16. Your teacher says “ninety”. Write the figure.</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Listen for the stress.</a:t>
            </a:r>
            <a:endParaRPr lang="en-US" sz="18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750" b="1" dirty="0">
                <a:solidFill>
                  <a:srgbClr val="12211B"/>
                </a:solidFill>
                <a:latin typeface="Calibri" pitchFamily="34" charset="0"/>
                <a:ea typeface="Calibri" pitchFamily="34" charset="-122"/>
                <a:cs typeface="Calibri" pitchFamily="34" charset="-120"/>
              </a:rPr>
              <a:t>Module 2 quiz — Part 5 · Writing and speaking</a:t>
            </a:r>
            <a:endParaRPr lang="en-US" sz="375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2 — Numbers, Time &amp; Money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65</a:t>
            </a:r>
            <a:endParaRPr lang="en-US" sz="1100" dirty="0"/>
          </a:p>
        </p:txBody>
      </p:sp>
      <p:sp>
        <p:nvSpPr>
          <p:cNvPr id="11" name="Shape 7"/>
          <p:cNvSpPr/>
          <p:nvPr/>
        </p:nvSpPr>
        <p:spPr>
          <a:xfrm>
            <a:off x="548640" y="1883664"/>
            <a:ext cx="11094415" cy="925830"/>
          </a:xfrm>
          <a:prstGeom prst="roundRect">
            <a:avLst>
              <a:gd name="adj" fmla="val 13827"/>
            </a:avLst>
          </a:prstGeom>
          <a:solidFill>
            <a:srgbClr val="F6F9F7"/>
          </a:solidFill>
          <a:ln w="12700">
            <a:solidFill>
              <a:srgbClr val="E3E9E5"/>
            </a:solidFill>
            <a:prstDash val="solid"/>
          </a:ln>
        </p:spPr>
      </p:sp>
      <p:sp>
        <p:nvSpPr>
          <p:cNvPr id="12" name="Shape 8"/>
          <p:cNvSpPr/>
          <p:nvPr/>
        </p:nvSpPr>
        <p:spPr>
          <a:xfrm>
            <a:off x="749808" y="2145411"/>
            <a:ext cx="402336" cy="402336"/>
          </a:xfrm>
          <a:prstGeom prst="ellipse">
            <a:avLst/>
          </a:prstGeom>
          <a:solidFill>
            <a:srgbClr val="0A5D43"/>
          </a:solidFill>
          <a:ln/>
        </p:spPr>
      </p:sp>
      <p:sp>
        <p:nvSpPr>
          <p:cNvPr id="13" name="Text 9"/>
          <p:cNvSpPr txBox="1"/>
          <p:nvPr/>
        </p:nvSpPr>
        <p:spPr>
          <a:xfrm>
            <a:off x="749808" y="214541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17</a:t>
            </a:r>
            <a:endParaRPr lang="en-US" sz="1500" dirty="0"/>
          </a:p>
        </p:txBody>
      </p:sp>
      <p:sp>
        <p:nvSpPr>
          <p:cNvPr id="14" name="Text 10"/>
          <p:cNvSpPr/>
          <p:nvPr/>
        </p:nvSpPr>
        <p:spPr>
          <a:xfrm>
            <a:off x="1353312" y="1938528"/>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17. Write a sentence about what time you start work or school.</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Check the preposition.</a:t>
            </a:r>
            <a:endParaRPr lang="en-US" sz="1800" dirty="0"/>
          </a:p>
        </p:txBody>
      </p:sp>
      <p:sp>
        <p:nvSpPr>
          <p:cNvPr id="15" name="Shape 11"/>
          <p:cNvSpPr/>
          <p:nvPr/>
        </p:nvSpPr>
        <p:spPr>
          <a:xfrm>
            <a:off x="548640" y="2928366"/>
            <a:ext cx="11094415" cy="925830"/>
          </a:xfrm>
          <a:prstGeom prst="roundRect">
            <a:avLst>
              <a:gd name="adj" fmla="val 13827"/>
            </a:avLst>
          </a:prstGeom>
          <a:solidFill>
            <a:srgbClr val="F6F9F7"/>
          </a:solidFill>
          <a:ln w="12700">
            <a:solidFill>
              <a:srgbClr val="E3E9E5"/>
            </a:solidFill>
            <a:prstDash val="solid"/>
          </a:ln>
        </p:spPr>
      </p:sp>
      <p:sp>
        <p:nvSpPr>
          <p:cNvPr id="16" name="Shape 12"/>
          <p:cNvSpPr/>
          <p:nvPr/>
        </p:nvSpPr>
        <p:spPr>
          <a:xfrm>
            <a:off x="749808" y="3190113"/>
            <a:ext cx="402336" cy="402336"/>
          </a:xfrm>
          <a:prstGeom prst="ellipse">
            <a:avLst/>
          </a:prstGeom>
          <a:solidFill>
            <a:srgbClr val="0A5D43"/>
          </a:solidFill>
          <a:ln/>
        </p:spPr>
      </p:sp>
      <p:sp>
        <p:nvSpPr>
          <p:cNvPr id="17" name="Text 13"/>
          <p:cNvSpPr txBox="1"/>
          <p:nvPr/>
        </p:nvSpPr>
        <p:spPr>
          <a:xfrm>
            <a:off x="749808" y="319011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18</a:t>
            </a:r>
            <a:endParaRPr lang="en-US" sz="1500" dirty="0"/>
          </a:p>
        </p:txBody>
      </p:sp>
      <p:sp>
        <p:nvSpPr>
          <p:cNvPr id="18" name="Text 14"/>
          <p:cNvSpPr/>
          <p:nvPr/>
        </p:nvSpPr>
        <p:spPr>
          <a:xfrm>
            <a:off x="1353312" y="2983230"/>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18. Write a sentence about the month of your birthday.</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Check the preposition and the capital letter.</a:t>
            </a:r>
            <a:endParaRPr lang="en-US" sz="1800" dirty="0"/>
          </a:p>
        </p:txBody>
      </p:sp>
      <p:sp>
        <p:nvSpPr>
          <p:cNvPr id="19" name="Shape 15"/>
          <p:cNvSpPr/>
          <p:nvPr/>
        </p:nvSpPr>
        <p:spPr>
          <a:xfrm>
            <a:off x="548640" y="3973068"/>
            <a:ext cx="11094415" cy="925830"/>
          </a:xfrm>
          <a:prstGeom prst="roundRect">
            <a:avLst>
              <a:gd name="adj" fmla="val 13827"/>
            </a:avLst>
          </a:prstGeom>
          <a:solidFill>
            <a:srgbClr val="F6F9F7"/>
          </a:solidFill>
          <a:ln w="12700">
            <a:solidFill>
              <a:srgbClr val="E3E9E5"/>
            </a:solidFill>
            <a:prstDash val="solid"/>
          </a:ln>
        </p:spPr>
      </p:sp>
      <p:sp>
        <p:nvSpPr>
          <p:cNvPr id="20" name="Shape 16"/>
          <p:cNvSpPr/>
          <p:nvPr/>
        </p:nvSpPr>
        <p:spPr>
          <a:xfrm>
            <a:off x="749808" y="4234815"/>
            <a:ext cx="402336" cy="402336"/>
          </a:xfrm>
          <a:prstGeom prst="ellipse">
            <a:avLst/>
          </a:prstGeom>
          <a:solidFill>
            <a:srgbClr val="0A5D43"/>
          </a:solidFill>
          <a:ln/>
        </p:spPr>
      </p:sp>
      <p:sp>
        <p:nvSpPr>
          <p:cNvPr id="21" name="Text 17"/>
          <p:cNvSpPr txBox="1"/>
          <p:nvPr/>
        </p:nvSpPr>
        <p:spPr>
          <a:xfrm>
            <a:off x="749808" y="423481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19</a:t>
            </a:r>
            <a:endParaRPr lang="en-US" sz="1500" dirty="0"/>
          </a:p>
        </p:txBody>
      </p:sp>
      <p:sp>
        <p:nvSpPr>
          <p:cNvPr id="22" name="Text 18"/>
          <p:cNvSpPr/>
          <p:nvPr/>
        </p:nvSpPr>
        <p:spPr>
          <a:xfrm>
            <a:off x="1353312" y="4027932"/>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19. Add up: 45 birr + 30 birr. Write the answer in words.</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Then say it aloud.</a:t>
            </a:r>
            <a:endParaRPr lang="en-US" sz="1800" dirty="0"/>
          </a:p>
        </p:txBody>
      </p:sp>
      <p:sp>
        <p:nvSpPr>
          <p:cNvPr id="23" name="Shape 19"/>
          <p:cNvSpPr/>
          <p:nvPr/>
        </p:nvSpPr>
        <p:spPr>
          <a:xfrm>
            <a:off x="548640" y="5017770"/>
            <a:ext cx="11094415" cy="925830"/>
          </a:xfrm>
          <a:prstGeom prst="roundRect">
            <a:avLst>
              <a:gd name="adj" fmla="val 13827"/>
            </a:avLst>
          </a:prstGeom>
          <a:solidFill>
            <a:srgbClr val="F6F9F7"/>
          </a:solidFill>
          <a:ln w="12700">
            <a:solidFill>
              <a:srgbClr val="E3E9E5"/>
            </a:solidFill>
            <a:prstDash val="solid"/>
          </a:ln>
        </p:spPr>
      </p:sp>
      <p:sp>
        <p:nvSpPr>
          <p:cNvPr id="24" name="Shape 20"/>
          <p:cNvSpPr/>
          <p:nvPr/>
        </p:nvSpPr>
        <p:spPr>
          <a:xfrm>
            <a:off x="749808" y="5279517"/>
            <a:ext cx="402336" cy="402336"/>
          </a:xfrm>
          <a:prstGeom prst="ellipse">
            <a:avLst/>
          </a:prstGeom>
          <a:solidFill>
            <a:srgbClr val="0A5D43"/>
          </a:solidFill>
          <a:ln/>
        </p:spPr>
      </p:sp>
      <p:sp>
        <p:nvSpPr>
          <p:cNvPr id="25" name="Text 21"/>
          <p:cNvSpPr txBox="1"/>
          <p:nvPr/>
        </p:nvSpPr>
        <p:spPr>
          <a:xfrm>
            <a:off x="749808" y="527951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20</a:t>
            </a:r>
            <a:endParaRPr lang="en-US" sz="1500" dirty="0"/>
          </a:p>
        </p:txBody>
      </p:sp>
      <p:sp>
        <p:nvSpPr>
          <p:cNvPr id="26" name="Text 22"/>
          <p:cNvSpPr/>
          <p:nvPr/>
        </p:nvSpPr>
        <p:spPr>
          <a:xfrm>
            <a:off x="1353312" y="5072634"/>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20. SPEAKING: say the time now, today's day, and one price.</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Your teacher or partner listens and checks.</a:t>
            </a:r>
            <a:endParaRPr lang="en-US" sz="18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1 to 4</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2 — Numbers, Time &amp; Money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66</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 — 47 in words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forty-seven</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Tens first, then units, joined with a hyphen. “Forty” has no “u” — unlike “four”.</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Q2 — which is 50?</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fifty</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FIF-ty has the stress at the start. “Fifteen” is 15 and “five” is 5.</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Q3 — stress at the end?</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thir-TEEN</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-teen numbers stress the second syllable; the -ty numbers stress the first. This is the only reliable difference.</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Q4 — the phone number</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“oh nine one one, two three four, five six seven”</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Digit by digit, with “oh” for zero and a pause between groups. Never as whole numbers.</a:t>
            </a:r>
            <a:endParaRPr lang="en-US" sz="11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5 to 8</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2 — Numbers, Time &amp; Money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67</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Q5 — 4:30 in words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half past four</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Half past means thirty minutes after the hour that has already passed — four, not five.</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Q6 — 9:45 in words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quarter to ten</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After half past you look forward to the NEXT hour. 9:45 is fifteen minutes before ten.</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Q7 — “The bus leaves ___ six o'clock.”</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c) at</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 clock time always takes AT. Think small: AT is the smallest of the three time words.</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Q8 — Ethiopian 3 o'clock</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9 in the morning</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Ethiopian clock starts at dawn, so it runs six hours ahead of the English clock. Always say which system you mean.</a:t>
            </a:r>
            <a:endParaRPr lang="en-US" sz="11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9 to 12</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2 — Numbers, Time &amp; Money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68</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9</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Q9 — months in the English year</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a) 12</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Ethiopian calendar has thirteen months. The English calendar has twelve. Learn the English months as separate words.</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10</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Q10 — “I do not work ___ Sunday.”</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on</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Days of the week always take ON. Sunday also takes a capital letter.</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11</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Q11 — “My birthday is ___ August.”</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a) in</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Months always take IN. Think big: IN covers the largest period of the three.</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12</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Q12 — correct “i work on monday.”</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I work on Monday.</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Two capitals: I is always capital, and Monday is a day of the week.</a:t>
            </a:r>
            <a:endParaRPr lang="en-US" sz="11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13 to 16</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2 — Numbers, Time &amp; Money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69</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13</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Q13 — which is correct?</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It is thirty birr.</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Currency does not take -s after a number. Never “birrs”.</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14</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Q14 — asking the price of one bag</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How much is this bag?  (or: How much is it?)</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“Is” comes before “this bag”, and the sentence ends with a question mark.</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15</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Q15 — “fifteen”</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15</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Stress at the end: fif-TEEN. If you wrote 50 you placed the stress wrongly.</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16</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Q16 — “ninety”</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90</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Stress at the start: NINE-ty. If you wrote 19 you placed the stress wrongly.</a:t>
            </a:r>
            <a:endParaRPr lang="en-US" sz="11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17 to 20</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2 — Numbers, Time &amp; Money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70</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17</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Q17 — what time you start</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e.g. “I start work at eight o'clock.”</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Any time is correct if the preposition is AT and the sentence has a capital and a full stop.</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18</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Q18 — your birthday month</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e.g. “My birthday is in April.”</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IN for a month, plus a capital letter on the month name.</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19</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Q19 — 45 + 30</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seventy-five birr</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Add the figures, then write the word with a hyphen. No -s on birr.</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20</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Q20 — speaking task</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Time · day · price, all said clearly</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Marked on being understood. The price must be unmistakably a -teen or a -ty number.</a:t>
            </a:r>
            <a:endParaRPr lang="en-US" sz="11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F2A93B"/>
          </a:solidFill>
          <a:ln/>
        </p:spPr>
      </p:sp>
      <p:sp>
        <p:nvSpPr>
          <p:cNvPr id="3" name="Shape 1"/>
          <p:cNvSpPr/>
          <p:nvPr/>
        </p:nvSpPr>
        <p:spPr>
          <a:xfrm>
            <a:off x="649224" y="539496"/>
            <a:ext cx="219456" cy="219456"/>
          </a:xfrm>
          <a:prstGeom prst="ellipse">
            <a:avLst/>
          </a:prstGeom>
          <a:solidFill>
            <a:srgbClr val="F2A93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HOMEWORK</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Homework 1 — every day this week</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Ten minutes a day is better than one hour on Sunday.</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2 — Numbers, Time &amp; Money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71</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02536"/>
            <a:ext cx="457200" cy="457200"/>
          </a:xfrm>
          <a:prstGeom prst="ellipse">
            <a:avLst/>
          </a:prstGeom>
          <a:solidFill>
            <a:srgbClr val="F2A93B"/>
          </a:solidFill>
          <a:ln/>
        </p:spPr>
      </p:sp>
      <p:sp>
        <p:nvSpPr>
          <p:cNvPr id="13" name="Text 9"/>
          <p:cNvSpPr txBox="1"/>
          <p:nvPr/>
        </p:nvSpPr>
        <p:spPr>
          <a:xfrm>
            <a:off x="786384" y="2002536"/>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MON</a:t>
            </a:r>
            <a:endParaRPr lang="en-US" sz="1300" dirty="0"/>
          </a:p>
        </p:txBody>
      </p:sp>
      <p:sp>
        <p:nvSpPr>
          <p:cNvPr id="14" name="Text 10"/>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Count 1 to 100 out loud</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In tens first, then every number from 1 to 30.</a:t>
            </a:r>
            <a:endParaRPr lang="en-US" sz="1600" dirty="0"/>
          </a:p>
        </p:txBody>
      </p:sp>
      <p:sp>
        <p:nvSpPr>
          <p:cNvPr id="15" name="Shape 11"/>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2"/>
          <p:cNvSpPr/>
          <p:nvPr/>
        </p:nvSpPr>
        <p:spPr>
          <a:xfrm>
            <a:off x="786384" y="2843784"/>
            <a:ext cx="457200" cy="457200"/>
          </a:xfrm>
          <a:prstGeom prst="ellipse">
            <a:avLst/>
          </a:prstGeom>
          <a:solidFill>
            <a:srgbClr val="F2A93B"/>
          </a:solidFill>
          <a:ln/>
        </p:spPr>
      </p:sp>
      <p:sp>
        <p:nvSpPr>
          <p:cNvPr id="17" name="Text 13"/>
          <p:cNvSpPr txBox="1"/>
          <p:nvPr/>
        </p:nvSpPr>
        <p:spPr>
          <a:xfrm>
            <a:off x="786384" y="2843784"/>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TUE</a:t>
            </a:r>
            <a:endParaRPr lang="en-US" sz="1300" dirty="0"/>
          </a:p>
        </p:txBody>
      </p:sp>
      <p:sp>
        <p:nvSpPr>
          <p:cNvPr id="18" name="Text 14"/>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Say the days and months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Seven days in order, twelve months in order. Out loud.</a:t>
            </a:r>
            <a:endParaRPr lang="en-US" sz="1600" dirty="0"/>
          </a:p>
        </p:txBody>
      </p:sp>
      <p:sp>
        <p:nvSpPr>
          <p:cNvPr id="19" name="Shape 15"/>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6"/>
          <p:cNvSpPr/>
          <p:nvPr/>
        </p:nvSpPr>
        <p:spPr>
          <a:xfrm>
            <a:off x="786384" y="3685032"/>
            <a:ext cx="457200" cy="457200"/>
          </a:xfrm>
          <a:prstGeom prst="ellipse">
            <a:avLst/>
          </a:prstGeom>
          <a:solidFill>
            <a:srgbClr val="F2A93B"/>
          </a:solidFill>
          <a:ln/>
        </p:spPr>
      </p:sp>
      <p:sp>
        <p:nvSpPr>
          <p:cNvPr id="21" name="Text 17"/>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WED</a:t>
            </a:r>
            <a:endParaRPr lang="en-US" sz="1300" dirty="0"/>
          </a:p>
        </p:txBody>
      </p:sp>
      <p:sp>
        <p:nvSpPr>
          <p:cNvPr id="22" name="Text 18"/>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Practise the teen/ty pairs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13/30 · 14/40 · 15/50 · 16/60. Five times each, clapping the stress.</a:t>
            </a:r>
            <a:endParaRPr lang="en-US" sz="1600" dirty="0"/>
          </a:p>
        </p:txBody>
      </p:sp>
      <p:sp>
        <p:nvSpPr>
          <p:cNvPr id="23" name="Shape 19"/>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20"/>
          <p:cNvSpPr/>
          <p:nvPr/>
        </p:nvSpPr>
        <p:spPr>
          <a:xfrm>
            <a:off x="786384" y="4526280"/>
            <a:ext cx="457200" cy="457200"/>
          </a:xfrm>
          <a:prstGeom prst="ellipse">
            <a:avLst/>
          </a:prstGeom>
          <a:solidFill>
            <a:srgbClr val="F2A93B"/>
          </a:solidFill>
          <a:ln/>
        </p:spPr>
      </p:sp>
      <p:sp>
        <p:nvSpPr>
          <p:cNvPr id="25" name="Text 21"/>
          <p:cNvSpPr txBox="1"/>
          <p:nvPr/>
        </p:nvSpPr>
        <p:spPr>
          <a:xfrm>
            <a:off x="786384" y="4526280"/>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THU</a:t>
            </a:r>
            <a:endParaRPr lang="en-US" sz="1300" dirty="0"/>
          </a:p>
        </p:txBody>
      </p:sp>
      <p:sp>
        <p:nvSpPr>
          <p:cNvPr id="26" name="Text 22"/>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Say the time five times during the day</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Every time you look at a clock, say the time in English.</a:t>
            </a:r>
            <a:endParaRPr lang="en-US" sz="1600" dirty="0"/>
          </a:p>
        </p:txBody>
      </p:sp>
      <p:sp>
        <p:nvSpPr>
          <p:cNvPr id="27" name="Shape 23"/>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4"/>
          <p:cNvSpPr/>
          <p:nvPr/>
        </p:nvSpPr>
        <p:spPr>
          <a:xfrm>
            <a:off x="786384" y="5367528"/>
            <a:ext cx="457200" cy="457200"/>
          </a:xfrm>
          <a:prstGeom prst="ellipse">
            <a:avLst/>
          </a:prstGeom>
          <a:solidFill>
            <a:srgbClr val="F2A93B"/>
          </a:solidFill>
          <a:ln/>
        </p:spPr>
      </p:sp>
      <p:sp>
        <p:nvSpPr>
          <p:cNvPr id="29" name="Text 25"/>
          <p:cNvSpPr txBox="1"/>
          <p:nvPr/>
        </p:nvSpPr>
        <p:spPr>
          <a:xfrm>
            <a:off x="786384" y="5367528"/>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FRI</a:t>
            </a:r>
            <a:endParaRPr lang="en-US" sz="1300" dirty="0"/>
          </a:p>
        </p:txBody>
      </p:sp>
      <p:sp>
        <p:nvSpPr>
          <p:cNvPr id="30" name="Text 26"/>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Ask one real price in English</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In a shop, at a kiosk, anywhere. Then write down what you paid.</a:t>
            </a:r>
            <a:endParaRPr lang="en-US" sz="16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F2A93B"/>
          </a:solidFill>
          <a:ln/>
        </p:spPr>
      </p:sp>
      <p:sp>
        <p:nvSpPr>
          <p:cNvPr id="3" name="Shape 1"/>
          <p:cNvSpPr/>
          <p:nvPr/>
        </p:nvSpPr>
        <p:spPr>
          <a:xfrm>
            <a:off x="649224" y="539496"/>
            <a:ext cx="219456" cy="219456"/>
          </a:xfrm>
          <a:prstGeom prst="ellipse">
            <a:avLst/>
          </a:prstGeom>
          <a:solidFill>
            <a:srgbClr val="F2A93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HOMEWORK</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Homework 2 — to hand in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Bring these to the next lesson.</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2 — Numbers, Time &amp; Money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72</a:t>
            </a:r>
            <a:endParaRPr lang="en-US" sz="1100" dirty="0"/>
          </a:p>
        </p:txBody>
      </p:sp>
      <p:sp>
        <p:nvSpPr>
          <p:cNvPr id="11" name="Shape 7"/>
          <p:cNvSpPr/>
          <p:nvPr/>
        </p:nvSpPr>
        <p:spPr>
          <a:xfrm>
            <a:off x="548640" y="1883664"/>
            <a:ext cx="11094415" cy="1255776"/>
          </a:xfrm>
          <a:prstGeom prst="roundRect">
            <a:avLst>
              <a:gd name="adj" fmla="val 10194"/>
            </a:avLst>
          </a:prstGeom>
          <a:solidFill>
            <a:srgbClr val="F6F9F7"/>
          </a:solidFill>
          <a:ln w="12700">
            <a:solidFill>
              <a:srgbClr val="E3E9E5"/>
            </a:solidFill>
            <a:prstDash val="solid"/>
          </a:ln>
        </p:spPr>
      </p:sp>
      <p:sp>
        <p:nvSpPr>
          <p:cNvPr id="12" name="Shape 8"/>
          <p:cNvSpPr/>
          <p:nvPr/>
        </p:nvSpPr>
        <p:spPr>
          <a:xfrm>
            <a:off x="786384" y="2282952"/>
            <a:ext cx="457200" cy="457200"/>
          </a:xfrm>
          <a:prstGeom prst="ellipse">
            <a:avLst/>
          </a:prstGeom>
          <a:solidFill>
            <a:srgbClr val="F2A93B"/>
          </a:solidFill>
          <a:ln/>
        </p:spPr>
      </p:sp>
      <p:sp>
        <p:nvSpPr>
          <p:cNvPr id="13" name="Text 9"/>
          <p:cNvSpPr txBox="1"/>
          <p:nvPr/>
        </p:nvSpPr>
        <p:spPr>
          <a:xfrm>
            <a:off x="786384" y="2282952"/>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110947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Write the numbers 1 to 20 in words</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Then write the tens: 20, 30, 40 … 100. Check the spelling of forty and fifteen.</a:t>
            </a:r>
            <a:endParaRPr lang="en-US" sz="2000" dirty="0"/>
          </a:p>
        </p:txBody>
      </p:sp>
      <p:sp>
        <p:nvSpPr>
          <p:cNvPr id="15" name="Shape 11"/>
          <p:cNvSpPr/>
          <p:nvPr/>
        </p:nvSpPr>
        <p:spPr>
          <a:xfrm>
            <a:off x="548640" y="3285744"/>
            <a:ext cx="11094415" cy="1255776"/>
          </a:xfrm>
          <a:prstGeom prst="roundRect">
            <a:avLst>
              <a:gd name="adj" fmla="val 10194"/>
            </a:avLst>
          </a:prstGeom>
          <a:solidFill>
            <a:srgbClr val="F6F9F7"/>
          </a:solidFill>
          <a:ln w="12700">
            <a:solidFill>
              <a:srgbClr val="E3E9E5"/>
            </a:solidFill>
            <a:prstDash val="solid"/>
          </a:ln>
        </p:spPr>
      </p:sp>
      <p:sp>
        <p:nvSpPr>
          <p:cNvPr id="16" name="Shape 12"/>
          <p:cNvSpPr/>
          <p:nvPr/>
        </p:nvSpPr>
        <p:spPr>
          <a:xfrm>
            <a:off x="786384" y="3685032"/>
            <a:ext cx="457200" cy="457200"/>
          </a:xfrm>
          <a:prstGeom prst="ellipse">
            <a:avLst/>
          </a:prstGeom>
          <a:solidFill>
            <a:srgbClr val="F2A93B"/>
          </a:solidFill>
          <a:ln/>
        </p:spPr>
      </p:sp>
      <p:sp>
        <p:nvSpPr>
          <p:cNvPr id="17" name="Text 13"/>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3358896"/>
            <a:ext cx="9905695" cy="110947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Write six sentences about your week</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Use: I am ___ years old · I work on ___ · I start at ___ · My birthday is in ___ · plus two of your own. Check your seven points before handing it in.</a:t>
            </a:r>
            <a:endParaRPr lang="en-US" sz="2000" dirty="0"/>
          </a:p>
        </p:txBody>
      </p:sp>
      <p:sp>
        <p:nvSpPr>
          <p:cNvPr id="19" name="Shape 15"/>
          <p:cNvSpPr/>
          <p:nvPr/>
        </p:nvSpPr>
        <p:spPr>
          <a:xfrm>
            <a:off x="548640" y="4687824"/>
            <a:ext cx="11094415" cy="1255776"/>
          </a:xfrm>
          <a:prstGeom prst="roundRect">
            <a:avLst>
              <a:gd name="adj" fmla="val 10194"/>
            </a:avLst>
          </a:prstGeom>
          <a:solidFill>
            <a:srgbClr val="F6F9F7"/>
          </a:solidFill>
          <a:ln w="12700">
            <a:solidFill>
              <a:srgbClr val="E3E9E5"/>
            </a:solidFill>
            <a:prstDash val="solid"/>
          </a:ln>
        </p:spPr>
      </p:sp>
      <p:sp>
        <p:nvSpPr>
          <p:cNvPr id="20" name="Shape 16"/>
          <p:cNvSpPr/>
          <p:nvPr/>
        </p:nvSpPr>
        <p:spPr>
          <a:xfrm>
            <a:off x="786384" y="5087112"/>
            <a:ext cx="457200" cy="457200"/>
          </a:xfrm>
          <a:prstGeom prst="ellipse">
            <a:avLst/>
          </a:prstGeom>
          <a:solidFill>
            <a:srgbClr val="F2A93B"/>
          </a:solidFill>
          <a:ln/>
        </p:spPr>
      </p:sp>
      <p:sp>
        <p:nvSpPr>
          <p:cNvPr id="21" name="Text 17"/>
          <p:cNvSpPr txBox="1"/>
          <p:nvPr/>
        </p:nvSpPr>
        <p:spPr>
          <a:xfrm>
            <a:off x="786384" y="5087112"/>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4760976"/>
            <a:ext cx="9905695" cy="110947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Record your 40-second speaking challenge</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Time · day and month · count 10 to 20 · your phone number · one price. Send it to your teacher, or perform it live.</a:t>
            </a:r>
            <a:endParaRPr lang="en-US" sz="20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F2A93B"/>
          </a:solidFill>
          <a:ln/>
        </p:spPr>
      </p:sp>
      <p:sp>
        <p:nvSpPr>
          <p:cNvPr id="3" name="Shape 1"/>
          <p:cNvSpPr/>
          <p:nvPr/>
        </p:nvSpPr>
        <p:spPr>
          <a:xfrm>
            <a:off x="649224" y="539496"/>
            <a:ext cx="219456" cy="219456"/>
          </a:xfrm>
          <a:prstGeom prst="ellipse">
            <a:avLst/>
          </a:prstGeom>
          <a:solidFill>
            <a:srgbClr val="F2A93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HOMEWORK</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How your homework will be marked</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You know the standard before you start.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2 — Numbers, Time &amp; Money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73</a:t>
            </a:r>
            <a:endParaRPr lang="en-US" sz="1100" dirty="0"/>
          </a:p>
        </p:txBody>
      </p:sp>
      <p:sp>
        <p:nvSpPr>
          <p:cNvPr id="11" name="Shape 7"/>
          <p:cNvSpPr/>
          <p:nvPr/>
        </p:nvSpPr>
        <p:spPr>
          <a:xfrm>
            <a:off x="548640" y="1883664"/>
            <a:ext cx="5446624" cy="1929384"/>
          </a:xfrm>
          <a:prstGeom prst="roundRect">
            <a:avLst>
              <a:gd name="adj" fmla="val 6635"/>
            </a:avLst>
          </a:prstGeom>
          <a:solidFill>
            <a:srgbClr val="FDF3E7"/>
          </a:solidFill>
          <a:ln w="12700">
            <a:solidFill>
              <a:srgbClr val="EFDCB2"/>
            </a:solidFill>
            <a:prstDash val="solid"/>
          </a:ln>
        </p:spPr>
      </p:sp>
      <p:sp>
        <p:nvSpPr>
          <p:cNvPr id="12" name="Shape 8"/>
          <p:cNvSpPr/>
          <p:nvPr/>
        </p:nvSpPr>
        <p:spPr>
          <a:xfrm>
            <a:off x="768096" y="2103120"/>
            <a:ext cx="457200" cy="457200"/>
          </a:xfrm>
          <a:prstGeom prst="ellipse">
            <a:avLst/>
          </a:prstGeom>
          <a:solidFill>
            <a:srgbClr val="F2A93B"/>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5007712" cy="923544"/>
          </a:xfrm>
          <a:prstGeom prst="rect">
            <a:avLst/>
          </a:prstGeom>
          <a:noFill/>
          <a:ln/>
        </p:spPr>
        <p:txBody>
          <a:bodyPr wrap="square" lIns="0" tIns="0" rIns="0" bIns="0" rtlCol="0" anchor="t"/>
          <a:lstStyle/>
          <a:p>
            <a:pPr indent="0" marL="0">
              <a:lnSpc>
                <a:spcPct val="102000"/>
              </a:lnSpc>
              <a:buNone/>
            </a:pPr>
            <a:r>
              <a:rPr lang="en-US" sz="1650" b="1" dirty="0">
                <a:solidFill>
                  <a:srgbClr val="12211B"/>
                </a:solidFill>
                <a:latin typeface="Calibri" pitchFamily="34" charset="0"/>
                <a:ea typeface="Calibri" pitchFamily="34" charset="-122"/>
                <a:cs typeface="Calibri" pitchFamily="34" charset="-120"/>
              </a:rPr>
              <a:t>Numbers in words — 5 marks</a:t>
            </a:r>
            <a:endParaRPr lang="en-US" sz="1650" dirty="0"/>
          </a:p>
          <a:p>
            <a:pPr indent="0" marL="0">
              <a:lnSpc>
                <a:spcPct val="102000"/>
              </a:lnSpc>
              <a:spcBef>
                <a:spcPts val="330"/>
              </a:spcBef>
              <a:buNone/>
            </a:pPr>
            <a:r>
              <a:rPr lang="en-US" sz="1320" dirty="0">
                <a:solidFill>
                  <a:srgbClr val="3A473F"/>
                </a:solidFill>
                <a:latin typeface="Calibri" pitchFamily="34" charset="0"/>
                <a:ea typeface="Calibri" pitchFamily="34" charset="-122"/>
                <a:cs typeface="Calibri" pitchFamily="34" charset="-120"/>
              </a:rPr>
              <a:t>1 to 20 correct (3) · the tens to 100 correct (1) · forty and fifteen spelled correctly (1).</a:t>
            </a:r>
            <a:endParaRPr lang="en-US" sz="1650" dirty="0"/>
          </a:p>
        </p:txBody>
      </p:sp>
      <p:sp>
        <p:nvSpPr>
          <p:cNvPr id="15" name="Shape 10"/>
          <p:cNvSpPr/>
          <p:nvPr/>
        </p:nvSpPr>
        <p:spPr>
          <a:xfrm>
            <a:off x="6196432" y="1883664"/>
            <a:ext cx="5446624" cy="1929384"/>
          </a:xfrm>
          <a:prstGeom prst="roundRect">
            <a:avLst>
              <a:gd name="adj" fmla="val 6635"/>
            </a:avLst>
          </a:prstGeom>
          <a:solidFill>
            <a:srgbClr val="FDF3E7"/>
          </a:solidFill>
          <a:ln w="12700">
            <a:solidFill>
              <a:srgbClr val="EFDCB2"/>
            </a:solidFill>
            <a:prstDash val="solid"/>
          </a:ln>
        </p:spPr>
      </p:sp>
      <p:sp>
        <p:nvSpPr>
          <p:cNvPr id="16" name="Shape 11"/>
          <p:cNvSpPr/>
          <p:nvPr/>
        </p:nvSpPr>
        <p:spPr>
          <a:xfrm>
            <a:off x="6415888" y="2103120"/>
            <a:ext cx="457200" cy="457200"/>
          </a:xfrm>
          <a:prstGeom prst="ellipse">
            <a:avLst/>
          </a:prstGeom>
          <a:solidFill>
            <a:srgbClr val="F2A93B"/>
          </a:solidFill>
          <a:ln/>
        </p:spPr>
      </p:sp>
      <p:pic>
        <p:nvPicPr>
          <p:cNvPr id="17" name="Image 2" descr="preencoded.png">    </p:cNvPr>
          <p:cNvPicPr>
            <a:picLocks noChangeAspect="1"/>
          </p:cNvPicPr>
          <p:nvPr/>
        </p:nvPicPr>
        <p:blipFill>
          <a:blip r:embed="rId3"/>
          <a:stretch>
            <a:fillRect/>
          </a:stretch>
        </p:blipFill>
        <p:spPr>
          <a:xfrm>
            <a:off x="6530188" y="2217420"/>
            <a:ext cx="228600" cy="228600"/>
          </a:xfrm>
          <a:prstGeom prst="rect">
            <a:avLst/>
          </a:prstGeom>
        </p:spPr>
      </p:pic>
      <p:sp>
        <p:nvSpPr>
          <p:cNvPr id="18" name="Text 12"/>
          <p:cNvSpPr/>
          <p:nvPr/>
        </p:nvSpPr>
        <p:spPr>
          <a:xfrm>
            <a:off x="6415888" y="2706624"/>
            <a:ext cx="5007712" cy="923544"/>
          </a:xfrm>
          <a:prstGeom prst="rect">
            <a:avLst/>
          </a:prstGeom>
          <a:noFill/>
          <a:ln/>
        </p:spPr>
        <p:txBody>
          <a:bodyPr wrap="square" lIns="0" tIns="0" rIns="0" bIns="0" rtlCol="0" anchor="t"/>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Six sentences — 10 marks</a:t>
            </a:r>
            <a:endParaRPr lang="en-US" sz="1500" dirty="0"/>
          </a:p>
          <a:p>
            <a:pPr indent="0" marL="0">
              <a:lnSpc>
                <a:spcPct val="102000"/>
              </a:lnSpc>
              <a:spcBef>
                <a:spcPts val="300"/>
              </a:spcBef>
              <a:buNone/>
            </a:pPr>
            <a:r>
              <a:rPr lang="en-US" sz="1200" dirty="0">
                <a:solidFill>
                  <a:srgbClr val="3A473F"/>
                </a:solidFill>
                <a:latin typeface="Calibri" pitchFamily="34" charset="0"/>
                <a:ea typeface="Calibri" pitchFamily="34" charset="-122"/>
                <a:cs typeface="Calibri" pitchFamily="34" charset="-120"/>
              </a:rPr>
              <a:t>Six sentences written (4) · correct preposition each time (3) · capitals on days and months (2) · full stops (1).</a:t>
            </a:r>
            <a:endParaRPr lang="en-US" sz="1500" dirty="0"/>
          </a:p>
        </p:txBody>
      </p:sp>
      <p:sp>
        <p:nvSpPr>
          <p:cNvPr id="19" name="Shape 13"/>
          <p:cNvSpPr/>
          <p:nvPr/>
        </p:nvSpPr>
        <p:spPr>
          <a:xfrm>
            <a:off x="548640" y="4014216"/>
            <a:ext cx="5446624" cy="1929384"/>
          </a:xfrm>
          <a:prstGeom prst="roundRect">
            <a:avLst>
              <a:gd name="adj" fmla="val 6635"/>
            </a:avLst>
          </a:prstGeom>
          <a:solidFill>
            <a:srgbClr val="FDF3E7"/>
          </a:solidFill>
          <a:ln w="12700">
            <a:solidFill>
              <a:srgbClr val="EFDCB2"/>
            </a:solidFill>
            <a:prstDash val="solid"/>
          </a:ln>
        </p:spPr>
      </p:sp>
      <p:sp>
        <p:nvSpPr>
          <p:cNvPr id="20" name="Shape 14"/>
          <p:cNvSpPr/>
          <p:nvPr/>
        </p:nvSpPr>
        <p:spPr>
          <a:xfrm>
            <a:off x="768096" y="4233672"/>
            <a:ext cx="457200" cy="457200"/>
          </a:xfrm>
          <a:prstGeom prst="ellipse">
            <a:avLst/>
          </a:prstGeom>
          <a:solidFill>
            <a:srgbClr val="F2A93B"/>
          </a:solidFill>
          <a:ln/>
        </p:spPr>
      </p:sp>
      <p:pic>
        <p:nvPicPr>
          <p:cNvPr id="21" name="Image 3" descr="preencoded.png">    </p:cNvPr>
          <p:cNvPicPr>
            <a:picLocks noChangeAspect="1"/>
          </p:cNvPicPr>
          <p:nvPr/>
        </p:nvPicPr>
        <p:blipFill>
          <a:blip r:embed="rId4"/>
          <a:stretch>
            <a:fillRect/>
          </a:stretch>
        </p:blipFill>
        <p:spPr>
          <a:xfrm>
            <a:off x="882396" y="4347972"/>
            <a:ext cx="228600" cy="228600"/>
          </a:xfrm>
          <a:prstGeom prst="rect">
            <a:avLst/>
          </a:prstGeom>
        </p:spPr>
      </p:pic>
      <p:sp>
        <p:nvSpPr>
          <p:cNvPr id="22" name="Text 15"/>
          <p:cNvSpPr/>
          <p:nvPr/>
        </p:nvSpPr>
        <p:spPr>
          <a:xfrm>
            <a:off x="768096" y="4837176"/>
            <a:ext cx="5007712" cy="923544"/>
          </a:xfrm>
          <a:prstGeom prst="rect">
            <a:avLst/>
          </a:prstGeom>
          <a:noFill/>
          <a:ln/>
        </p:spPr>
        <p:txBody>
          <a:bodyPr wrap="square" lIns="0" tIns="0" rIns="0" bIns="0" rtlCol="0" anchor="t"/>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Recording — 10 marks</a:t>
            </a:r>
            <a:endParaRPr lang="en-US" sz="1500" dirty="0"/>
          </a:p>
          <a:p>
            <a:pPr indent="0" marL="0">
              <a:lnSpc>
                <a:spcPct val="102000"/>
              </a:lnSpc>
              <a:spcBef>
                <a:spcPts val="300"/>
              </a:spcBef>
              <a:buNone/>
            </a:pPr>
            <a:r>
              <a:rPr lang="en-US" sz="1200" dirty="0">
                <a:solidFill>
                  <a:srgbClr val="3A473F"/>
                </a:solidFill>
                <a:latin typeface="Calibri" pitchFamily="34" charset="0"/>
                <a:ea typeface="Calibri" pitchFamily="34" charset="-122"/>
                <a:cs typeface="Calibri" pitchFamily="34" charset="-120"/>
              </a:rPr>
              <a:t>All five steps present (4) · phone number written correctly by the listener (3) · the price unmistakably -teen or -ty (3).</a:t>
            </a:r>
            <a:endParaRPr lang="en-US" sz="1500" dirty="0"/>
          </a:p>
        </p:txBody>
      </p:sp>
      <p:sp>
        <p:nvSpPr>
          <p:cNvPr id="23" name="Shape 16"/>
          <p:cNvSpPr/>
          <p:nvPr/>
        </p:nvSpPr>
        <p:spPr>
          <a:xfrm>
            <a:off x="6196432" y="4014216"/>
            <a:ext cx="5446624" cy="1929384"/>
          </a:xfrm>
          <a:prstGeom prst="roundRect">
            <a:avLst>
              <a:gd name="adj" fmla="val 6635"/>
            </a:avLst>
          </a:prstGeom>
          <a:solidFill>
            <a:srgbClr val="FDF3E7"/>
          </a:solidFill>
          <a:ln w="12700">
            <a:solidFill>
              <a:srgbClr val="EFDCB2"/>
            </a:solidFill>
            <a:prstDash val="solid"/>
          </a:ln>
        </p:spPr>
      </p:sp>
      <p:sp>
        <p:nvSpPr>
          <p:cNvPr id="24" name="Shape 17"/>
          <p:cNvSpPr/>
          <p:nvPr/>
        </p:nvSpPr>
        <p:spPr>
          <a:xfrm>
            <a:off x="6415888" y="4233672"/>
            <a:ext cx="457200" cy="457200"/>
          </a:xfrm>
          <a:prstGeom prst="ellipse">
            <a:avLst/>
          </a:prstGeom>
          <a:solidFill>
            <a:srgbClr val="F2A93B"/>
          </a:solidFill>
          <a:ln/>
        </p:spPr>
      </p:sp>
      <p:pic>
        <p:nvPicPr>
          <p:cNvPr id="25" name="Image 4" descr="preencoded.png">    </p:cNvPr>
          <p:cNvPicPr>
            <a:picLocks noChangeAspect="1"/>
          </p:cNvPicPr>
          <p:nvPr/>
        </p:nvPicPr>
        <p:blipFill>
          <a:blip r:embed="rId5"/>
          <a:stretch>
            <a:fillRect/>
          </a:stretch>
        </p:blipFill>
        <p:spPr>
          <a:xfrm>
            <a:off x="6530188" y="4347972"/>
            <a:ext cx="228600" cy="228600"/>
          </a:xfrm>
          <a:prstGeom prst="rect">
            <a:avLst/>
          </a:prstGeom>
        </p:spPr>
      </p:pic>
      <p:sp>
        <p:nvSpPr>
          <p:cNvPr id="26" name="Text 18"/>
          <p:cNvSpPr/>
          <p:nvPr/>
        </p:nvSpPr>
        <p:spPr>
          <a:xfrm>
            <a:off x="6415888" y="4837176"/>
            <a:ext cx="5007712" cy="923544"/>
          </a:xfrm>
          <a:prstGeom prst="rect">
            <a:avLst/>
          </a:prstGeom>
          <a:noFill/>
          <a:ln/>
        </p:spPr>
        <p:txBody>
          <a:bodyPr wrap="square" lIns="0" tIns="0" rIns="0" bIns="0" rtlCol="0" anchor="t"/>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Total — 25 marks</a:t>
            </a:r>
            <a:endParaRPr lang="en-US" sz="1500" dirty="0"/>
          </a:p>
          <a:p>
            <a:pPr indent="0" marL="0">
              <a:lnSpc>
                <a:spcPct val="102000"/>
              </a:lnSpc>
              <a:spcBef>
                <a:spcPts val="300"/>
              </a:spcBef>
              <a:buNone/>
            </a:pPr>
            <a:r>
              <a:rPr lang="en-US" sz="1200" dirty="0">
                <a:solidFill>
                  <a:srgbClr val="3A473F"/>
                </a:solidFill>
                <a:latin typeface="Calibri" pitchFamily="34" charset="0"/>
                <a:ea typeface="Calibri" pitchFamily="34" charset="-122"/>
                <a:cs typeface="Calibri" pitchFamily="34" charset="-120"/>
              </a:rPr>
              <a:t>20+ excellent · 15–19 good · 10–14 keep practising · below 10 → repeat Exercises A–F with your teacher.</a:t>
            </a:r>
            <a:endParaRPr lang="en-US" sz="15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SUMMARY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What you learned in this module</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Six things. Check each one — can you do it?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2 — Numbers, Time &amp; Money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74</a:t>
            </a:r>
            <a:endParaRPr lang="en-US" sz="1100" dirty="0"/>
          </a:p>
        </p:txBody>
      </p:sp>
      <p:sp>
        <p:nvSpPr>
          <p:cNvPr id="11" name="Shape 7"/>
          <p:cNvSpPr/>
          <p:nvPr/>
        </p:nvSpPr>
        <p:spPr>
          <a:xfrm>
            <a:off x="548640" y="1883664"/>
            <a:ext cx="3564026" cy="1929384"/>
          </a:xfrm>
          <a:prstGeom prst="roundRect">
            <a:avLst>
              <a:gd name="adj" fmla="val 6635"/>
            </a:avLst>
          </a:prstGeom>
          <a:solidFill>
            <a:srgbClr val="F6F9F7"/>
          </a:solidFill>
          <a:ln w="12700">
            <a:solidFill>
              <a:srgbClr val="E3E9E5"/>
            </a:solidFill>
            <a:prstDash val="solid"/>
          </a:ln>
        </p:spPr>
      </p:sp>
      <p:sp>
        <p:nvSpPr>
          <p:cNvPr id="12" name="Shape 8"/>
          <p:cNvSpPr/>
          <p:nvPr/>
        </p:nvSpPr>
        <p:spPr>
          <a:xfrm>
            <a:off x="768096" y="2103120"/>
            <a:ext cx="457200" cy="457200"/>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3125114"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Numbers 1 to 100</a:t>
            </a:r>
            <a:endParaRPr lang="en-US" sz="160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Ones, teens, tens, and how to join them: twenty-one, forty-seven, ninety-nine.</a:t>
            </a:r>
            <a:endParaRPr lang="en-US" sz="1600" dirty="0"/>
          </a:p>
        </p:txBody>
      </p:sp>
      <p:sp>
        <p:nvSpPr>
          <p:cNvPr id="15" name="Shape 10"/>
          <p:cNvSpPr/>
          <p:nvPr/>
        </p:nvSpPr>
        <p:spPr>
          <a:xfrm>
            <a:off x="4313834" y="1883664"/>
            <a:ext cx="3564026" cy="1929384"/>
          </a:xfrm>
          <a:prstGeom prst="roundRect">
            <a:avLst>
              <a:gd name="adj" fmla="val 6635"/>
            </a:avLst>
          </a:prstGeom>
          <a:solidFill>
            <a:srgbClr val="F6F9F7"/>
          </a:solidFill>
          <a:ln w="12700">
            <a:solidFill>
              <a:srgbClr val="E3E9E5"/>
            </a:solidFill>
            <a:prstDash val="solid"/>
          </a:ln>
        </p:spPr>
      </p:sp>
      <p:sp>
        <p:nvSpPr>
          <p:cNvPr id="16" name="Shape 11"/>
          <p:cNvSpPr/>
          <p:nvPr/>
        </p:nvSpPr>
        <p:spPr>
          <a:xfrm>
            <a:off x="4533290" y="2103120"/>
            <a:ext cx="457200" cy="457200"/>
          </a:xfrm>
          <a:prstGeom prst="ellipse">
            <a:avLst/>
          </a:prstGeom>
          <a:solidFill>
            <a:srgbClr val="0E7C5A"/>
          </a:solidFill>
          <a:ln/>
        </p:spPr>
      </p:sp>
      <p:pic>
        <p:nvPicPr>
          <p:cNvPr id="17" name="Image 2" descr="preencoded.png">    </p:cNvPr>
          <p:cNvPicPr>
            <a:picLocks noChangeAspect="1"/>
          </p:cNvPicPr>
          <p:nvPr/>
        </p:nvPicPr>
        <p:blipFill>
          <a:blip r:embed="rId3"/>
          <a:stretch>
            <a:fillRect/>
          </a:stretch>
        </p:blipFill>
        <p:spPr>
          <a:xfrm>
            <a:off x="4647590" y="2217420"/>
            <a:ext cx="228600" cy="228600"/>
          </a:xfrm>
          <a:prstGeom prst="rect">
            <a:avLst/>
          </a:prstGeom>
        </p:spPr>
      </p:pic>
      <p:sp>
        <p:nvSpPr>
          <p:cNvPr id="18" name="Text 12"/>
          <p:cNvSpPr/>
          <p:nvPr/>
        </p:nvSpPr>
        <p:spPr>
          <a:xfrm>
            <a:off x="4533290" y="2706624"/>
            <a:ext cx="3125114"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The teen/ty stress</a:t>
            </a:r>
            <a:endParaRPr lang="en-US" sz="160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thirTEEN and THIRty. The most valuable sound difference in this module.</a:t>
            </a:r>
            <a:endParaRPr lang="en-US" sz="1600" dirty="0"/>
          </a:p>
        </p:txBody>
      </p:sp>
      <p:sp>
        <p:nvSpPr>
          <p:cNvPr id="19" name="Shape 13"/>
          <p:cNvSpPr/>
          <p:nvPr/>
        </p:nvSpPr>
        <p:spPr>
          <a:xfrm>
            <a:off x="8079029" y="1883664"/>
            <a:ext cx="3564026" cy="1929384"/>
          </a:xfrm>
          <a:prstGeom prst="roundRect">
            <a:avLst>
              <a:gd name="adj" fmla="val 6635"/>
            </a:avLst>
          </a:prstGeom>
          <a:solidFill>
            <a:srgbClr val="F6F9F7"/>
          </a:solidFill>
          <a:ln w="12700">
            <a:solidFill>
              <a:srgbClr val="E3E9E5"/>
            </a:solidFill>
            <a:prstDash val="solid"/>
          </a:ln>
        </p:spPr>
      </p:sp>
      <p:sp>
        <p:nvSpPr>
          <p:cNvPr id="20" name="Shape 14"/>
          <p:cNvSpPr/>
          <p:nvPr/>
        </p:nvSpPr>
        <p:spPr>
          <a:xfrm>
            <a:off x="8298485" y="2103120"/>
            <a:ext cx="457200" cy="457200"/>
          </a:xfrm>
          <a:prstGeom prst="ellipse">
            <a:avLst/>
          </a:prstGeom>
          <a:solidFill>
            <a:srgbClr val="0E7C5A"/>
          </a:solidFill>
          <a:ln/>
        </p:spPr>
      </p:sp>
      <p:pic>
        <p:nvPicPr>
          <p:cNvPr id="21" name="Image 3" descr="preencoded.png">    </p:cNvPr>
          <p:cNvPicPr>
            <a:picLocks noChangeAspect="1"/>
          </p:cNvPicPr>
          <p:nvPr/>
        </p:nvPicPr>
        <p:blipFill>
          <a:blip r:embed="rId4"/>
          <a:stretch>
            <a:fillRect/>
          </a:stretch>
        </p:blipFill>
        <p:spPr>
          <a:xfrm>
            <a:off x="8412785" y="2217420"/>
            <a:ext cx="228600" cy="228600"/>
          </a:xfrm>
          <a:prstGeom prst="rect">
            <a:avLst/>
          </a:prstGeom>
        </p:spPr>
      </p:pic>
      <p:sp>
        <p:nvSpPr>
          <p:cNvPr id="22" name="Text 15"/>
          <p:cNvSpPr/>
          <p:nvPr/>
        </p:nvSpPr>
        <p:spPr>
          <a:xfrm>
            <a:off x="8298485" y="2706624"/>
            <a:ext cx="3125114"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7 days · 12 months</a:t>
            </a:r>
            <a:endParaRPr lang="en-US" sz="160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All with capital letters. The English year has twelve months, not thirteen.</a:t>
            </a:r>
            <a:endParaRPr lang="en-US" sz="1600" dirty="0"/>
          </a:p>
        </p:txBody>
      </p:sp>
      <p:sp>
        <p:nvSpPr>
          <p:cNvPr id="23" name="Shape 16"/>
          <p:cNvSpPr/>
          <p:nvPr/>
        </p:nvSpPr>
        <p:spPr>
          <a:xfrm>
            <a:off x="548640" y="4014216"/>
            <a:ext cx="3564026" cy="1929384"/>
          </a:xfrm>
          <a:prstGeom prst="roundRect">
            <a:avLst>
              <a:gd name="adj" fmla="val 6635"/>
            </a:avLst>
          </a:prstGeom>
          <a:solidFill>
            <a:srgbClr val="F6F9F7"/>
          </a:solidFill>
          <a:ln w="12700">
            <a:solidFill>
              <a:srgbClr val="E3E9E5"/>
            </a:solidFill>
            <a:prstDash val="solid"/>
          </a:ln>
        </p:spPr>
      </p:sp>
      <p:sp>
        <p:nvSpPr>
          <p:cNvPr id="24" name="Shape 17"/>
          <p:cNvSpPr/>
          <p:nvPr/>
        </p:nvSpPr>
        <p:spPr>
          <a:xfrm>
            <a:off x="768096" y="4233672"/>
            <a:ext cx="457200" cy="457200"/>
          </a:xfrm>
          <a:prstGeom prst="ellipse">
            <a:avLst/>
          </a:prstGeom>
          <a:solidFill>
            <a:srgbClr val="0E7C5A"/>
          </a:solidFill>
          <a:ln/>
        </p:spPr>
      </p:sp>
      <p:pic>
        <p:nvPicPr>
          <p:cNvPr id="25" name="Image 4" descr="preencoded.png">    </p:cNvPr>
          <p:cNvPicPr>
            <a:picLocks noChangeAspect="1"/>
          </p:cNvPicPr>
          <p:nvPr/>
        </p:nvPicPr>
        <p:blipFill>
          <a:blip r:embed="rId5"/>
          <a:stretch>
            <a:fillRect/>
          </a:stretch>
        </p:blipFill>
        <p:spPr>
          <a:xfrm>
            <a:off x="882396" y="4347972"/>
            <a:ext cx="228600" cy="228600"/>
          </a:xfrm>
          <a:prstGeom prst="rect">
            <a:avLst/>
          </a:prstGeom>
        </p:spPr>
      </p:pic>
      <p:sp>
        <p:nvSpPr>
          <p:cNvPr id="26" name="Text 18"/>
          <p:cNvSpPr/>
          <p:nvPr/>
        </p:nvSpPr>
        <p:spPr>
          <a:xfrm>
            <a:off x="768096" y="4837176"/>
            <a:ext cx="3125114"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Telling the time</a:t>
            </a:r>
            <a:endParaRPr lang="en-US" sz="160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o'clock · half past · quarter past · quarter to — plus the Ethiopian clock difference.</a:t>
            </a:r>
            <a:endParaRPr lang="en-US" sz="1600" dirty="0"/>
          </a:p>
        </p:txBody>
      </p:sp>
      <p:sp>
        <p:nvSpPr>
          <p:cNvPr id="27" name="Shape 19"/>
          <p:cNvSpPr/>
          <p:nvPr/>
        </p:nvSpPr>
        <p:spPr>
          <a:xfrm>
            <a:off x="4313834" y="4014216"/>
            <a:ext cx="3564026" cy="1929384"/>
          </a:xfrm>
          <a:prstGeom prst="roundRect">
            <a:avLst>
              <a:gd name="adj" fmla="val 6635"/>
            </a:avLst>
          </a:prstGeom>
          <a:solidFill>
            <a:srgbClr val="F6F9F7"/>
          </a:solidFill>
          <a:ln w="12700">
            <a:solidFill>
              <a:srgbClr val="E3E9E5"/>
            </a:solidFill>
            <a:prstDash val="solid"/>
          </a:ln>
        </p:spPr>
      </p:sp>
      <p:sp>
        <p:nvSpPr>
          <p:cNvPr id="28" name="Shape 20"/>
          <p:cNvSpPr/>
          <p:nvPr/>
        </p:nvSpPr>
        <p:spPr>
          <a:xfrm>
            <a:off x="4533290" y="4233672"/>
            <a:ext cx="457200" cy="457200"/>
          </a:xfrm>
          <a:prstGeom prst="ellipse">
            <a:avLst/>
          </a:prstGeom>
          <a:solidFill>
            <a:srgbClr val="0E7C5A"/>
          </a:solidFill>
          <a:ln/>
        </p:spPr>
      </p:sp>
      <p:pic>
        <p:nvPicPr>
          <p:cNvPr id="29" name="Image 5" descr="preencoded.png">    </p:cNvPr>
          <p:cNvPicPr>
            <a:picLocks noChangeAspect="1"/>
          </p:cNvPicPr>
          <p:nvPr/>
        </p:nvPicPr>
        <p:blipFill>
          <a:blip r:embed="rId6"/>
          <a:stretch>
            <a:fillRect/>
          </a:stretch>
        </p:blipFill>
        <p:spPr>
          <a:xfrm>
            <a:off x="4647590" y="4347972"/>
            <a:ext cx="228600" cy="228600"/>
          </a:xfrm>
          <a:prstGeom prst="rect">
            <a:avLst/>
          </a:prstGeom>
        </p:spPr>
      </p:pic>
      <p:sp>
        <p:nvSpPr>
          <p:cNvPr id="30" name="Text 21"/>
          <p:cNvSpPr/>
          <p:nvPr/>
        </p:nvSpPr>
        <p:spPr>
          <a:xfrm>
            <a:off x="4533290" y="4837176"/>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Money and prices</a:t>
            </a:r>
            <a:endParaRPr lang="en-US" sz="1750" dirty="0"/>
          </a:p>
          <a:p>
            <a:pPr indent="0" marL="0">
              <a:lnSpc>
                <a:spcPct val="102000"/>
              </a:lnSpc>
              <a:spcBef>
                <a:spcPts val="350"/>
              </a:spcBef>
              <a:buNone/>
            </a:pPr>
            <a:r>
              <a:rPr lang="en-US" sz="1310" dirty="0">
                <a:solidFill>
                  <a:srgbClr val="3A473F"/>
                </a:solidFill>
                <a:latin typeface="Calibri" pitchFamily="34" charset="0"/>
                <a:ea typeface="Calibri" pitchFamily="34" charset="-122"/>
                <a:cs typeface="Calibri" pitchFamily="34" charset="-120"/>
              </a:rPr>
              <a:t>“How much is it?”  “It is forty birr.”  Never “birrs”.</a:t>
            </a:r>
            <a:endParaRPr lang="en-US" sz="1750" dirty="0"/>
          </a:p>
        </p:txBody>
      </p:sp>
      <p:sp>
        <p:nvSpPr>
          <p:cNvPr id="31" name="Shape 22"/>
          <p:cNvSpPr/>
          <p:nvPr/>
        </p:nvSpPr>
        <p:spPr>
          <a:xfrm>
            <a:off x="8079029" y="4014216"/>
            <a:ext cx="3564026" cy="1929384"/>
          </a:xfrm>
          <a:prstGeom prst="roundRect">
            <a:avLst>
              <a:gd name="adj" fmla="val 6635"/>
            </a:avLst>
          </a:prstGeom>
          <a:solidFill>
            <a:srgbClr val="F6F9F7"/>
          </a:solidFill>
          <a:ln w="12700">
            <a:solidFill>
              <a:srgbClr val="E3E9E5"/>
            </a:solidFill>
            <a:prstDash val="solid"/>
          </a:ln>
        </p:spPr>
      </p:sp>
      <p:sp>
        <p:nvSpPr>
          <p:cNvPr id="32" name="Shape 23"/>
          <p:cNvSpPr/>
          <p:nvPr/>
        </p:nvSpPr>
        <p:spPr>
          <a:xfrm>
            <a:off x="8298485" y="4233672"/>
            <a:ext cx="457200" cy="457200"/>
          </a:xfrm>
          <a:prstGeom prst="ellipse">
            <a:avLst/>
          </a:prstGeom>
          <a:solidFill>
            <a:srgbClr val="0E7C5A"/>
          </a:solidFill>
          <a:ln/>
        </p:spPr>
      </p:sp>
      <p:pic>
        <p:nvPicPr>
          <p:cNvPr id="33" name="Image 6" descr="preencoded.png">    </p:cNvPr>
          <p:cNvPicPr>
            <a:picLocks noChangeAspect="1"/>
          </p:cNvPicPr>
          <p:nvPr/>
        </p:nvPicPr>
        <p:blipFill>
          <a:blip r:embed="rId7"/>
          <a:stretch>
            <a:fillRect/>
          </a:stretch>
        </p:blipFill>
        <p:spPr>
          <a:xfrm>
            <a:off x="8412785" y="4347972"/>
            <a:ext cx="228600" cy="228600"/>
          </a:xfrm>
          <a:prstGeom prst="rect">
            <a:avLst/>
          </a:prstGeom>
        </p:spPr>
      </p:pic>
      <p:sp>
        <p:nvSpPr>
          <p:cNvPr id="34" name="Text 24"/>
          <p:cNvSpPr/>
          <p:nvPr/>
        </p:nvSpPr>
        <p:spPr>
          <a:xfrm>
            <a:off x="8298485" y="4837176"/>
            <a:ext cx="3125114"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at · on · in</a:t>
            </a:r>
            <a:endParaRPr lang="en-US" sz="160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AT a clock time · ON a day · IN a month. Small, bigger, biggest.</a:t>
            </a:r>
            <a:endParaRPr lang="en-US" sz="16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SUMMARY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Keep these where you can see them</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 language you must be able to produce, not just recognise.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2 — Numbers, Time &amp; Money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75</a:t>
            </a:r>
            <a:endParaRPr lang="en-US" sz="1100" dirty="0"/>
          </a:p>
        </p:txBody>
      </p:sp>
      <p:sp>
        <p:nvSpPr>
          <p:cNvPr id="11" name="Shape 7"/>
          <p:cNvSpPr/>
          <p:nvPr/>
        </p:nvSpPr>
        <p:spPr>
          <a:xfrm>
            <a:off x="548640" y="1883664"/>
            <a:ext cx="5446624" cy="1929384"/>
          </a:xfrm>
          <a:prstGeom prst="roundRect">
            <a:avLst>
              <a:gd name="adj" fmla="val 6635"/>
            </a:avLst>
          </a:prstGeom>
          <a:solidFill>
            <a:srgbClr val="E7F3EF"/>
          </a:solidFill>
          <a:ln w="12700">
            <a:solidFill>
              <a:srgbClr val="C4E0D5"/>
            </a:solidFill>
            <a:prstDash val="solid"/>
          </a:ln>
        </p:spPr>
      </p:sp>
      <p:sp>
        <p:nvSpPr>
          <p:cNvPr id="12" name="Shape 8"/>
          <p:cNvSpPr/>
          <p:nvPr/>
        </p:nvSpPr>
        <p:spPr>
          <a:xfrm>
            <a:off x="768096" y="2121408"/>
            <a:ext cx="384048" cy="384048"/>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64108" y="2217420"/>
            <a:ext cx="192024" cy="192024"/>
          </a:xfrm>
          <a:prstGeom prst="rect">
            <a:avLst/>
          </a:prstGeom>
        </p:spPr>
      </p:pic>
      <p:sp>
        <p:nvSpPr>
          <p:cNvPr id="14" name="Text 9"/>
          <p:cNvSpPr txBox="1"/>
          <p:nvPr/>
        </p:nvSpPr>
        <p:spPr>
          <a:xfrm>
            <a:off x="1261872" y="2103120"/>
            <a:ext cx="4513936" cy="420624"/>
          </a:xfrm>
          <a:prstGeom prst="rect">
            <a:avLst/>
          </a:prstGeom>
          <a:noFill/>
          <a:ln/>
        </p:spPr>
        <p:txBody>
          <a:bodyPr wrap="square" lIns="0" tIns="0" rIns="0" bIns="0" rtlCol="0" anchor="ctr"/>
          <a:lstStyle/>
          <a:p>
            <a:pPr indent="0" marL="0">
              <a:buNone/>
            </a:pPr>
            <a:r>
              <a:rPr lang="en-US" sz="2000" b="1" dirty="0">
                <a:solidFill>
                  <a:srgbClr val="12211B"/>
                </a:solidFill>
                <a:latin typeface="Calibri" pitchFamily="34" charset="0"/>
                <a:ea typeface="Calibri" pitchFamily="34" charset="-122"/>
                <a:cs typeface="Calibri" pitchFamily="34" charset="-120"/>
              </a:rPr>
              <a:t>The five words</a:t>
            </a:r>
            <a:endParaRPr lang="en-US" sz="2000" dirty="0"/>
          </a:p>
        </p:txBody>
      </p:sp>
      <p:sp>
        <p:nvSpPr>
          <p:cNvPr id="15" name="Text 10"/>
          <p:cNvSpPr txBox="1"/>
          <p:nvPr/>
        </p:nvSpPr>
        <p:spPr>
          <a:xfrm>
            <a:off x="768096" y="2615184"/>
            <a:ext cx="5007712" cy="1033272"/>
          </a:xfrm>
          <a:prstGeom prst="rect">
            <a:avLst/>
          </a:prstGeom>
          <a:noFill/>
          <a:ln/>
        </p:spPr>
        <p:txBody>
          <a:bodyPr wrap="square" lIns="0" tIns="0" rIns="0" bIns="0" rtlCol="0" anchor="ctr"/>
          <a:lstStyle/>
          <a:p>
            <a:pPr indent="0" marL="0">
              <a:lnSpc>
                <a:spcPct val="112000"/>
              </a:lnSpc>
              <a:buNone/>
            </a:pPr>
            <a:r>
              <a:rPr lang="en-US" sz="1650" dirty="0">
                <a:solidFill>
                  <a:srgbClr val="3A473F"/>
                </a:solidFill>
                <a:latin typeface="Calibri" pitchFamily="34" charset="0"/>
                <a:ea typeface="Calibri" pitchFamily="34" charset="-122"/>
                <a:cs typeface="Calibri" pitchFamily="34" charset="-120"/>
              </a:rPr>
              <a:t>time  /taɪm/     ·     money  /ˈmʌni/</a:t>
            </a:r>
            <a:endParaRPr lang="en-US" sz="1650" dirty="0"/>
          </a:p>
          <a:p>
            <a:pPr indent="0" marL="0">
              <a:lnSpc>
                <a:spcPct val="112000"/>
              </a:lnSpc>
              <a:buNone/>
            </a:pPr>
            <a:r>
              <a:rPr lang="en-US" sz="1650" dirty="0">
                <a:solidFill>
                  <a:srgbClr val="3A473F"/>
                </a:solidFill>
                <a:latin typeface="Calibri" pitchFamily="34" charset="0"/>
                <a:ea typeface="Calibri" pitchFamily="34" charset="-122"/>
                <a:cs typeface="Calibri" pitchFamily="34" charset="-120"/>
              </a:rPr>
              <a:t>week  /wiːk/     ·     month  /mʌnθ/</a:t>
            </a:r>
            <a:endParaRPr lang="en-US" sz="1650" dirty="0"/>
          </a:p>
          <a:p>
            <a:pPr indent="0" marL="0">
              <a:lnSpc>
                <a:spcPct val="112000"/>
              </a:lnSpc>
              <a:buNone/>
            </a:pPr>
            <a:r>
              <a:rPr lang="en-US" sz="1650" dirty="0">
                <a:solidFill>
                  <a:srgbClr val="3A473F"/>
                </a:solidFill>
                <a:latin typeface="Calibri" pitchFamily="34" charset="0"/>
                <a:ea typeface="Calibri" pitchFamily="34" charset="-122"/>
                <a:cs typeface="Calibri" pitchFamily="34" charset="-120"/>
              </a:rPr>
              <a:t>price  /praɪs/</a:t>
            </a:r>
            <a:endParaRPr lang="en-US" sz="1650" dirty="0"/>
          </a:p>
        </p:txBody>
      </p:sp>
      <p:sp>
        <p:nvSpPr>
          <p:cNvPr id="16" name="Shape 11"/>
          <p:cNvSpPr/>
          <p:nvPr/>
        </p:nvSpPr>
        <p:spPr>
          <a:xfrm>
            <a:off x="6196432" y="1883664"/>
            <a:ext cx="5446624" cy="1929384"/>
          </a:xfrm>
          <a:prstGeom prst="roundRect">
            <a:avLst>
              <a:gd name="adj" fmla="val 6635"/>
            </a:avLst>
          </a:prstGeom>
          <a:solidFill>
            <a:srgbClr val="E7F3EF"/>
          </a:solidFill>
          <a:ln w="12700">
            <a:solidFill>
              <a:srgbClr val="C4E0D5"/>
            </a:solidFill>
            <a:prstDash val="solid"/>
          </a:ln>
        </p:spPr>
      </p:sp>
      <p:sp>
        <p:nvSpPr>
          <p:cNvPr id="17" name="Shape 12"/>
          <p:cNvSpPr/>
          <p:nvPr/>
        </p:nvSpPr>
        <p:spPr>
          <a:xfrm>
            <a:off x="6415888" y="2121408"/>
            <a:ext cx="384048" cy="384048"/>
          </a:xfrm>
          <a:prstGeom prst="ellipse">
            <a:avLst/>
          </a:prstGeom>
          <a:solidFill>
            <a:srgbClr val="0E7C5A"/>
          </a:solidFill>
          <a:ln/>
        </p:spPr>
      </p:sp>
      <p:pic>
        <p:nvPicPr>
          <p:cNvPr id="18" name="Image 2" descr="preencoded.png">    </p:cNvPr>
          <p:cNvPicPr>
            <a:picLocks noChangeAspect="1"/>
          </p:cNvPicPr>
          <p:nvPr/>
        </p:nvPicPr>
        <p:blipFill>
          <a:blip r:embed="rId3"/>
          <a:stretch>
            <a:fillRect/>
          </a:stretch>
        </p:blipFill>
        <p:spPr>
          <a:xfrm>
            <a:off x="6511900" y="2217420"/>
            <a:ext cx="192024" cy="192024"/>
          </a:xfrm>
          <a:prstGeom prst="rect">
            <a:avLst/>
          </a:prstGeom>
        </p:spPr>
      </p:pic>
      <p:sp>
        <p:nvSpPr>
          <p:cNvPr id="19" name="Text 13"/>
          <p:cNvSpPr txBox="1"/>
          <p:nvPr/>
        </p:nvSpPr>
        <p:spPr>
          <a:xfrm>
            <a:off x="6909664" y="2103120"/>
            <a:ext cx="4513936" cy="420624"/>
          </a:xfrm>
          <a:prstGeom prst="rect">
            <a:avLst/>
          </a:prstGeom>
          <a:noFill/>
          <a:ln/>
        </p:spPr>
        <p:txBody>
          <a:bodyPr wrap="square" lIns="0" tIns="0" rIns="0" bIns="0" rtlCol="0" anchor="ctr"/>
          <a:lstStyle/>
          <a:p>
            <a:pPr indent="0" marL="0">
              <a:buNone/>
            </a:pPr>
            <a:r>
              <a:rPr lang="en-US" sz="2000" b="1" dirty="0">
                <a:solidFill>
                  <a:srgbClr val="12211B"/>
                </a:solidFill>
                <a:latin typeface="Calibri" pitchFamily="34" charset="0"/>
                <a:ea typeface="Calibri" pitchFamily="34" charset="-122"/>
                <a:cs typeface="Calibri" pitchFamily="34" charset="-120"/>
              </a:rPr>
              <a:t>The six phrases</a:t>
            </a:r>
            <a:endParaRPr lang="en-US" sz="2000" dirty="0"/>
          </a:p>
        </p:txBody>
      </p:sp>
      <p:sp>
        <p:nvSpPr>
          <p:cNvPr id="20" name="Text 14"/>
          <p:cNvSpPr txBox="1"/>
          <p:nvPr/>
        </p:nvSpPr>
        <p:spPr>
          <a:xfrm>
            <a:off x="6415888" y="2615184"/>
            <a:ext cx="5007712" cy="1033272"/>
          </a:xfrm>
          <a:prstGeom prst="rect">
            <a:avLst/>
          </a:prstGeom>
          <a:noFill/>
          <a:ln/>
        </p:spPr>
        <p:txBody>
          <a:bodyPr wrap="square" lIns="0" tIns="0" rIns="0" bIns="0" rtlCol="0" anchor="ctr"/>
          <a:lstStyle/>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“How much is it?”  ·  “What time is it?”  ·  “That is expensive.”  ·  “Can you write it, please?”  ·  “Thirteen or thirty?”  ·  “What is your phone number?”</a:t>
            </a:r>
            <a:endParaRPr lang="en-US" sz="1500" dirty="0"/>
          </a:p>
        </p:txBody>
      </p:sp>
      <p:sp>
        <p:nvSpPr>
          <p:cNvPr id="21" name="Shape 15"/>
          <p:cNvSpPr/>
          <p:nvPr/>
        </p:nvSpPr>
        <p:spPr>
          <a:xfrm>
            <a:off x="548640" y="4014216"/>
            <a:ext cx="5446624" cy="1929384"/>
          </a:xfrm>
          <a:prstGeom prst="roundRect">
            <a:avLst>
              <a:gd name="adj" fmla="val 6635"/>
            </a:avLst>
          </a:prstGeom>
          <a:solidFill>
            <a:srgbClr val="E7F3EF"/>
          </a:solidFill>
          <a:ln w="12700">
            <a:solidFill>
              <a:srgbClr val="C4E0D5"/>
            </a:solidFill>
            <a:prstDash val="solid"/>
          </a:ln>
        </p:spPr>
      </p:sp>
      <p:sp>
        <p:nvSpPr>
          <p:cNvPr id="22" name="Shape 16"/>
          <p:cNvSpPr/>
          <p:nvPr/>
        </p:nvSpPr>
        <p:spPr>
          <a:xfrm>
            <a:off x="768096" y="4251960"/>
            <a:ext cx="384048" cy="384048"/>
          </a:xfrm>
          <a:prstGeom prst="ellipse">
            <a:avLst/>
          </a:prstGeom>
          <a:solidFill>
            <a:srgbClr val="0E7C5A"/>
          </a:solidFill>
          <a:ln/>
        </p:spPr>
      </p:sp>
      <p:pic>
        <p:nvPicPr>
          <p:cNvPr id="23" name="Image 3" descr="preencoded.png">    </p:cNvPr>
          <p:cNvPicPr>
            <a:picLocks noChangeAspect="1"/>
          </p:cNvPicPr>
          <p:nvPr/>
        </p:nvPicPr>
        <p:blipFill>
          <a:blip r:embed="rId4"/>
          <a:stretch>
            <a:fillRect/>
          </a:stretch>
        </p:blipFill>
        <p:spPr>
          <a:xfrm>
            <a:off x="864108" y="4347972"/>
            <a:ext cx="192024" cy="192024"/>
          </a:xfrm>
          <a:prstGeom prst="rect">
            <a:avLst/>
          </a:prstGeom>
        </p:spPr>
      </p:pic>
      <p:sp>
        <p:nvSpPr>
          <p:cNvPr id="24" name="Text 17"/>
          <p:cNvSpPr txBox="1"/>
          <p:nvPr/>
        </p:nvSpPr>
        <p:spPr>
          <a:xfrm>
            <a:off x="1261872" y="4233672"/>
            <a:ext cx="4513936" cy="420624"/>
          </a:xfrm>
          <a:prstGeom prst="rect">
            <a:avLst/>
          </a:prstGeom>
          <a:noFill/>
          <a:ln/>
        </p:spPr>
        <p:txBody>
          <a:bodyPr wrap="square" lIns="0" tIns="0" rIns="0" bIns="0" rtlCol="0" anchor="ctr"/>
          <a:lstStyle/>
          <a:p>
            <a:pPr indent="0" marL="0">
              <a:buNone/>
            </a:pPr>
            <a:r>
              <a:rPr lang="en-US" sz="2000" b="1" dirty="0">
                <a:solidFill>
                  <a:srgbClr val="12211B"/>
                </a:solidFill>
                <a:latin typeface="Calibri" pitchFamily="34" charset="0"/>
                <a:ea typeface="Calibri" pitchFamily="34" charset="-122"/>
                <a:cs typeface="Calibri" pitchFamily="34" charset="-120"/>
              </a:rPr>
              <a:t>The prepositions of time</a:t>
            </a:r>
            <a:endParaRPr lang="en-US" sz="2000" dirty="0"/>
          </a:p>
        </p:txBody>
      </p:sp>
      <p:sp>
        <p:nvSpPr>
          <p:cNvPr id="25" name="Text 18"/>
          <p:cNvSpPr txBox="1"/>
          <p:nvPr/>
        </p:nvSpPr>
        <p:spPr>
          <a:xfrm>
            <a:off x="768096" y="4745736"/>
            <a:ext cx="5007712" cy="1033272"/>
          </a:xfrm>
          <a:prstGeom prst="rect">
            <a:avLst/>
          </a:prstGeom>
          <a:noFill/>
          <a:ln/>
        </p:spPr>
        <p:txBody>
          <a:bodyPr wrap="square" lIns="0" tIns="0" rIns="0" bIns="0" rtlCol="0" anchor="ctr"/>
          <a:lstStyle/>
          <a:p>
            <a:pPr indent="0" marL="0">
              <a:lnSpc>
                <a:spcPct val="112000"/>
              </a:lnSpc>
              <a:buNone/>
            </a:pPr>
            <a:r>
              <a:rPr lang="en-US" sz="1650" dirty="0">
                <a:solidFill>
                  <a:srgbClr val="3A473F"/>
                </a:solidFill>
                <a:latin typeface="Calibri" pitchFamily="34" charset="0"/>
                <a:ea typeface="Calibri" pitchFamily="34" charset="-122"/>
                <a:cs typeface="Calibri" pitchFamily="34" charset="-120"/>
              </a:rPr>
              <a:t>AT six o'clock  (a clock time)</a:t>
            </a:r>
            <a:endParaRPr lang="en-US" sz="1650" dirty="0"/>
          </a:p>
          <a:p>
            <a:pPr indent="0" marL="0">
              <a:lnSpc>
                <a:spcPct val="112000"/>
              </a:lnSpc>
              <a:buNone/>
            </a:pPr>
            <a:r>
              <a:rPr lang="en-US" sz="1650" dirty="0">
                <a:solidFill>
                  <a:srgbClr val="3A473F"/>
                </a:solidFill>
                <a:latin typeface="Calibri" pitchFamily="34" charset="0"/>
                <a:ea typeface="Calibri" pitchFamily="34" charset="-122"/>
                <a:cs typeface="Calibri" pitchFamily="34" charset="-120"/>
              </a:rPr>
              <a:t>ON Monday  (a day)</a:t>
            </a:r>
            <a:endParaRPr lang="en-US" sz="1650" dirty="0"/>
          </a:p>
          <a:p>
            <a:pPr indent="0" marL="0">
              <a:lnSpc>
                <a:spcPct val="112000"/>
              </a:lnSpc>
              <a:buNone/>
            </a:pPr>
            <a:r>
              <a:rPr lang="en-US" sz="1650" dirty="0">
                <a:solidFill>
                  <a:srgbClr val="3A473F"/>
                </a:solidFill>
                <a:latin typeface="Calibri" pitchFamily="34" charset="0"/>
                <a:ea typeface="Calibri" pitchFamily="34" charset="-122"/>
                <a:cs typeface="Calibri" pitchFamily="34" charset="-120"/>
              </a:rPr>
              <a:t>IN September  (a month)</a:t>
            </a:r>
            <a:endParaRPr lang="en-US" sz="1650" dirty="0"/>
          </a:p>
        </p:txBody>
      </p:sp>
      <p:sp>
        <p:nvSpPr>
          <p:cNvPr id="26" name="Shape 19"/>
          <p:cNvSpPr/>
          <p:nvPr/>
        </p:nvSpPr>
        <p:spPr>
          <a:xfrm>
            <a:off x="6196432" y="4014216"/>
            <a:ext cx="5446624" cy="1929384"/>
          </a:xfrm>
          <a:prstGeom prst="roundRect">
            <a:avLst>
              <a:gd name="adj" fmla="val 6635"/>
            </a:avLst>
          </a:prstGeom>
          <a:solidFill>
            <a:srgbClr val="E7F3EF"/>
          </a:solidFill>
          <a:ln w="12700">
            <a:solidFill>
              <a:srgbClr val="C4E0D5"/>
            </a:solidFill>
            <a:prstDash val="solid"/>
          </a:ln>
        </p:spPr>
      </p:sp>
      <p:sp>
        <p:nvSpPr>
          <p:cNvPr id="27" name="Shape 20"/>
          <p:cNvSpPr/>
          <p:nvPr/>
        </p:nvSpPr>
        <p:spPr>
          <a:xfrm>
            <a:off x="6415888" y="4251960"/>
            <a:ext cx="384048" cy="384048"/>
          </a:xfrm>
          <a:prstGeom prst="ellipse">
            <a:avLst/>
          </a:prstGeom>
          <a:solidFill>
            <a:srgbClr val="0E7C5A"/>
          </a:solidFill>
          <a:ln/>
        </p:spPr>
      </p:sp>
      <p:pic>
        <p:nvPicPr>
          <p:cNvPr id="28" name="Image 4" descr="preencoded.png">    </p:cNvPr>
          <p:cNvPicPr>
            <a:picLocks noChangeAspect="1"/>
          </p:cNvPicPr>
          <p:nvPr/>
        </p:nvPicPr>
        <p:blipFill>
          <a:blip r:embed="rId5"/>
          <a:stretch>
            <a:fillRect/>
          </a:stretch>
        </p:blipFill>
        <p:spPr>
          <a:xfrm>
            <a:off x="6511900" y="4347972"/>
            <a:ext cx="192024" cy="192024"/>
          </a:xfrm>
          <a:prstGeom prst="rect">
            <a:avLst/>
          </a:prstGeom>
        </p:spPr>
      </p:pic>
      <p:sp>
        <p:nvSpPr>
          <p:cNvPr id="29" name="Text 21"/>
          <p:cNvSpPr txBox="1"/>
          <p:nvPr/>
        </p:nvSpPr>
        <p:spPr>
          <a:xfrm>
            <a:off x="6909664" y="4233672"/>
            <a:ext cx="4513936" cy="420624"/>
          </a:xfrm>
          <a:prstGeom prst="rect">
            <a:avLst/>
          </a:prstGeom>
          <a:noFill/>
          <a:ln/>
        </p:spPr>
        <p:txBody>
          <a:bodyPr wrap="square" lIns="0" tIns="0" rIns="0" bIns="0" rtlCol="0" anchor="ctr"/>
          <a:lstStyle/>
          <a:p>
            <a:pPr indent="0" marL="0">
              <a:buNone/>
            </a:pPr>
            <a:r>
              <a:rPr lang="en-US" sz="2000" b="1" dirty="0">
                <a:solidFill>
                  <a:srgbClr val="12211B"/>
                </a:solidFill>
                <a:latin typeface="Calibri" pitchFamily="34" charset="0"/>
                <a:ea typeface="Calibri" pitchFamily="34" charset="-122"/>
                <a:cs typeface="Calibri" pitchFamily="34" charset="-120"/>
              </a:rPr>
              <a:t>The four time patterns</a:t>
            </a:r>
            <a:endParaRPr lang="en-US" sz="2000" dirty="0"/>
          </a:p>
        </p:txBody>
      </p:sp>
      <p:sp>
        <p:nvSpPr>
          <p:cNvPr id="30" name="Text 22"/>
          <p:cNvSpPr txBox="1"/>
          <p:nvPr/>
        </p:nvSpPr>
        <p:spPr>
          <a:xfrm>
            <a:off x="6415888" y="4745736"/>
            <a:ext cx="5007712" cy="1033272"/>
          </a:xfrm>
          <a:prstGeom prst="rect">
            <a:avLst/>
          </a:prstGeom>
          <a:noFill/>
          <a:ln/>
        </p:spPr>
        <p:txBody>
          <a:bodyPr wrap="square" lIns="0" tIns="0" rIns="0" bIns="0" rtlCol="0" anchor="ctr"/>
          <a:lstStyle/>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3:00  →  three o'clock</a:t>
            </a:r>
            <a:endParaRPr lang="en-US" sz="1500" dirty="0"/>
          </a:p>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3:15  →  quarter past three</a:t>
            </a:r>
            <a:endParaRPr lang="en-US" sz="1500" dirty="0"/>
          </a:p>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3:30  →  half past three</a:t>
            </a:r>
            <a:endParaRPr lang="en-US" sz="1500" dirty="0"/>
          </a:p>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3:45  →  quarter to four</a:t>
            </a:r>
            <a:endParaRPr lang="en-US" sz="15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0B231C"/>
        </a:solidFill>
      </p:bgPr>
    </p:bg>
    <p:spTree>
      <p:nvGrpSpPr>
        <p:cNvPr id="1" name=""/>
        <p:cNvGrpSpPr/>
        <p:nvPr/>
      </p:nvGrpSpPr>
      <p:grpSpPr>
        <a:xfrm>
          <a:off x="0" y="0"/>
          <a:ext cx="0" cy="0"/>
          <a:chOff x="0" y="0"/>
          <a:chExt cx="0" cy="0"/>
        </a:xfrm>
      </p:grpSpPr>
      <p:sp>
        <p:nvSpPr>
          <p:cNvPr id="2" name="Text 0"/>
          <p:cNvSpPr txBox="1"/>
          <p:nvPr/>
        </p:nvSpPr>
        <p:spPr>
          <a:xfrm>
            <a:off x="548640" y="1554480"/>
            <a:ext cx="10972800" cy="310896"/>
          </a:xfrm>
          <a:prstGeom prst="rect">
            <a:avLst/>
          </a:prstGeom>
          <a:noFill/>
          <a:ln/>
        </p:spPr>
        <p:txBody>
          <a:bodyPr wrap="square" lIns="0" tIns="0" rIns="0" bIns="0" rtlCol="0" anchor="ctr"/>
          <a:lstStyle/>
          <a:p>
            <a:pPr indent="0" marL="0">
              <a:buNone/>
            </a:pPr>
            <a:r>
              <a:rPr lang="en-US" sz="1400" b="1" spc="240" kern="0" dirty="0">
                <a:solidFill>
                  <a:srgbClr val="F2A93B"/>
                </a:solidFill>
                <a:latin typeface="Calibri" pitchFamily="34" charset="0"/>
                <a:ea typeface="Calibri" pitchFamily="34" charset="-122"/>
                <a:cs typeface="Calibri" pitchFamily="34" charset="-120"/>
              </a:rPr>
              <a:t>CONGRATULATIONS</a:t>
            </a:r>
            <a:endParaRPr lang="en-US" sz="1400" dirty="0"/>
          </a:p>
        </p:txBody>
      </p:sp>
      <p:sp>
        <p:nvSpPr>
          <p:cNvPr id="3" name="Text 1"/>
          <p:cNvSpPr txBox="1"/>
          <p:nvPr/>
        </p:nvSpPr>
        <p:spPr>
          <a:xfrm>
            <a:off x="548640" y="2011680"/>
            <a:ext cx="10972800" cy="2011680"/>
          </a:xfrm>
          <a:prstGeom prst="rect">
            <a:avLst/>
          </a:prstGeom>
          <a:noFill/>
          <a:ln/>
        </p:spPr>
        <p:txBody>
          <a:bodyPr wrap="square" lIns="0" tIns="0" rIns="0" bIns="0" rtlCol="0" anchor="ctr"/>
          <a:lstStyle/>
          <a:p>
            <a:pPr indent="0" marL="0">
              <a:lnSpc>
                <a:spcPct val="106000"/>
              </a:lnSpc>
              <a:buNone/>
            </a:pPr>
            <a:r>
              <a:rPr lang="en-US" sz="4250" b="1" dirty="0">
                <a:solidFill>
                  <a:srgbClr val="FFFFFF"/>
                </a:solidFill>
                <a:latin typeface="Calibri" pitchFamily="34" charset="0"/>
                <a:ea typeface="Calibri" pitchFamily="34" charset="-122"/>
                <a:cs typeface="Calibri" pitchFamily="34" charset="-120"/>
              </a:rPr>
              <a:t>You can now buy something, ask the time and give your phone number — in English.</a:t>
            </a:r>
            <a:endParaRPr lang="en-US" sz="4250" dirty="0"/>
          </a:p>
        </p:txBody>
      </p:sp>
      <p:sp>
        <p:nvSpPr>
          <p:cNvPr id="4" name="Text 2"/>
          <p:cNvSpPr txBox="1"/>
          <p:nvPr/>
        </p:nvSpPr>
        <p:spPr>
          <a:xfrm>
            <a:off x="548640" y="4206240"/>
            <a:ext cx="10058400" cy="822960"/>
          </a:xfrm>
          <a:prstGeom prst="rect">
            <a:avLst/>
          </a:prstGeom>
          <a:noFill/>
          <a:ln/>
        </p:spPr>
        <p:txBody>
          <a:bodyPr wrap="square" lIns="0" tIns="0" rIns="0" bIns="0" rtlCol="0" anchor="ctr"/>
          <a:lstStyle/>
          <a:p>
            <a:pPr indent="0" marL="0">
              <a:lnSpc>
                <a:spcPct val="120000"/>
              </a:lnSpc>
              <a:buNone/>
            </a:pPr>
            <a:r>
              <a:rPr lang="en-US" sz="1500" dirty="0">
                <a:solidFill>
                  <a:srgbClr val="B9CFC1"/>
                </a:solidFill>
                <a:latin typeface="Calibri" pitchFamily="34" charset="0"/>
                <a:ea typeface="Calibri" pitchFamily="34" charset="-122"/>
                <a:cs typeface="Calibri" pitchFamily="34" charset="-120"/>
              </a:rPr>
              <a:t>That is a real transaction, done entirely in a second language. Two modules ago you could not read a single English word.</a:t>
            </a:r>
            <a:endParaRPr lang="en-US" sz="1500" dirty="0"/>
          </a:p>
          <a:p>
            <a:pPr indent="0" marL="0">
              <a:lnSpc>
                <a:spcPct val="120000"/>
              </a:lnSpc>
              <a:buNone/>
            </a:pPr>
            <a:r>
              <a:rPr lang="en-US" sz="1500" dirty="0">
                <a:solidFill>
                  <a:srgbClr val="B9CFC1"/>
                </a:solidFill>
                <a:latin typeface="Calibri" pitchFamily="34" charset="0"/>
                <a:ea typeface="Calibri" pitchFamily="34" charset="-122"/>
                <a:cs typeface="Calibri" pitchFamily="34" charset="-120"/>
              </a:rPr>
              <a:t>Use it today. Ask one real price in English before the next lesson.</a:t>
            </a:r>
            <a:endParaRPr lang="en-US" sz="1500" dirty="0"/>
          </a:p>
        </p:txBody>
      </p:sp>
      <p:sp>
        <p:nvSpPr>
          <p:cNvPr id="5" name="Shape 3"/>
          <p:cNvSpPr/>
          <p:nvPr/>
        </p:nvSpPr>
        <p:spPr>
          <a:xfrm>
            <a:off x="548640" y="5120640"/>
            <a:ext cx="3511296" cy="713232"/>
          </a:xfrm>
          <a:prstGeom prst="roundRect">
            <a:avLst>
              <a:gd name="adj" fmla="val 17949"/>
            </a:avLst>
          </a:prstGeom>
          <a:solidFill>
            <a:srgbClr val="1C4E39"/>
          </a:solidFill>
          <a:ln w="12700">
            <a:solidFill>
              <a:srgbClr val="2A6249"/>
            </a:solidFill>
            <a:prstDash val="solid"/>
          </a:ln>
        </p:spPr>
      </p:sp>
      <p:sp>
        <p:nvSpPr>
          <p:cNvPr id="6" name="Text 4"/>
          <p:cNvSpPr txBox="1"/>
          <p:nvPr/>
        </p:nvSpPr>
        <p:spPr>
          <a:xfrm>
            <a:off x="731520"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NEXT — Module 3</a:t>
            </a:r>
            <a:endParaRPr lang="en-US" sz="1500" dirty="0"/>
          </a:p>
        </p:txBody>
      </p:sp>
      <p:sp>
        <p:nvSpPr>
          <p:cNvPr id="7" name="Shape 5"/>
          <p:cNvSpPr/>
          <p:nvPr/>
        </p:nvSpPr>
        <p:spPr>
          <a:xfrm>
            <a:off x="4279392" y="5120640"/>
            <a:ext cx="3511296" cy="713232"/>
          </a:xfrm>
          <a:prstGeom prst="roundRect">
            <a:avLst>
              <a:gd name="adj" fmla="val 17949"/>
            </a:avLst>
          </a:prstGeom>
          <a:solidFill>
            <a:srgbClr val="1C4E39"/>
          </a:solidFill>
          <a:ln w="12700">
            <a:solidFill>
              <a:srgbClr val="2A6249"/>
            </a:solidFill>
            <a:prstDash val="solid"/>
          </a:ln>
        </p:spPr>
      </p:sp>
      <p:sp>
        <p:nvSpPr>
          <p:cNvPr id="8" name="Text 6"/>
          <p:cNvSpPr txBox="1"/>
          <p:nvPr/>
        </p:nvSpPr>
        <p:spPr>
          <a:xfrm>
            <a:off x="4462272"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Greetings &amp; Introductions</a:t>
            </a:r>
            <a:endParaRPr lang="en-US" sz="1500" dirty="0"/>
          </a:p>
        </p:txBody>
      </p:sp>
      <p:sp>
        <p:nvSpPr>
          <p:cNvPr id="9" name="Shape 7"/>
          <p:cNvSpPr/>
          <p:nvPr/>
        </p:nvSpPr>
        <p:spPr>
          <a:xfrm>
            <a:off x="8010144" y="5120640"/>
            <a:ext cx="3511296" cy="713232"/>
          </a:xfrm>
          <a:prstGeom prst="roundRect">
            <a:avLst>
              <a:gd name="adj" fmla="val 17949"/>
            </a:avLst>
          </a:prstGeom>
          <a:solidFill>
            <a:srgbClr val="1C4E39"/>
          </a:solidFill>
          <a:ln w="12700">
            <a:solidFill>
              <a:srgbClr val="2A6249"/>
            </a:solidFill>
            <a:prstDash val="solid"/>
          </a:ln>
        </p:spPr>
      </p:sp>
      <p:sp>
        <p:nvSpPr>
          <p:cNvPr id="10" name="Text 8"/>
          <p:cNvSpPr txBox="1"/>
          <p:nvPr/>
        </p:nvSpPr>
        <p:spPr>
          <a:xfrm>
            <a:off x="8193024"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Meet someone · say who you are · start a conversation</a:t>
            </a:r>
            <a:endParaRPr lang="en-US" sz="1500" dirty="0"/>
          </a:p>
        </p:txBody>
      </p:sp>
      <p:sp>
        <p:nvSpPr>
          <p:cNvPr id="11" name="Text 9"/>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7C9488"/>
                </a:solidFill>
                <a:latin typeface="Calibri" pitchFamily="34" charset="0"/>
                <a:ea typeface="Calibri" pitchFamily="34" charset="-122"/>
                <a:cs typeface="Calibri" pitchFamily="34" charset="-120"/>
              </a:rPr>
              <a:t>Level 1 · Beginner English · Module 2 — Numbers, Time &amp; Money</a:t>
            </a:r>
            <a:endParaRPr lang="en-US" sz="1000" dirty="0"/>
          </a:p>
        </p:txBody>
      </p:sp>
      <p:sp>
        <p:nvSpPr>
          <p:cNvPr id="12" name="Text 10"/>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F2A93B"/>
                </a:solidFill>
                <a:latin typeface="Calibri" pitchFamily="34" charset="0"/>
                <a:ea typeface="Calibri" pitchFamily="34" charset="-122"/>
                <a:cs typeface="Calibri" pitchFamily="34" charset="-120"/>
              </a:rPr>
              <a:t>76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76</Slides>
  <Notes>76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76</vt:i4>
      </vt:variant>
    </vt:vector>
  </HeadingPairs>
  <TitlesOfParts>
    <vt:vector size="7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vector>
  </TitlesOfParts>
  <Company>English Learning Platform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Level 1 · Module 2 — Numbers, Time &amp; Money</dc:title>
  <dc:subject>English course for Ethiopian learners — Level 1 Beginner</dc:subject>
  <dc:creator>English Learning Platform</dc:creator>
  <cp:lastModifiedBy>English Learning Platform</cp:lastModifiedBy>
  <cp:revision>1</cp:revision>
  <dcterms:created xsi:type="dcterms:W3CDTF">2026-07-27T18:38:28Z</dcterms:created>
  <dcterms:modified xsi:type="dcterms:W3CDTF">2026-07-27T18:38:28Z</dcterms:modified>
</cp:coreProperties>
</file>