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writing “I injera eat” on the board and asking whether it is correct. Most learners will say yes, because it follows Amharic word order. Then write “I eat injera.” That single contrast is the whole module.
TIP: This is the most important module in Level 1 for long-term accuracy. A learner who does not automate English word order here will still be producing “I injera eat” in Level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1 is the one that matters most — say so.
TIP: Almost no new vocabulary in this module. Tell learners that: it is a relief after Module 4, and it means all their effort goes into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Task 1 is the diagnostic. Count how many learners choose each version — that number tells you how much drilling this module needs. Do not reveal the answer yet.
COMMON MISTAKES: Correct nothing in the warm-up. The point is to surface the problem, not to fix it yet.
TIP: Write both versions from task 1 on the board and leave them there for the whole module. You will return to them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Say both versions aloud with the same three words and point at the verb each time. Naming the cause plainly — “this is a real difference between the two languages, not a mistake you are making” — removes embarrassment and speeds up the fix.
COMMON MISTAKES: Learners who have studied English at school often know this rule and still do not use it under pressure. Knowing is not the same as automating, which is why this module is mostly drilling.
TIP: Repeat the phrase “subject, verb, object” as a rhythm, three times, with the class. It becomes a chant they can run in their head while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five short sentences on the board and have learners come up and underline the subject in one colour and the verb in another. Doing it physically is far more effective than being told.
COMMON MISTAKES: The dummy subject “it” for weather and time is genuinely strange for Amharic speakers. “Is raining” feels complete to them. Drill “It is raining”, “It is hot”, “It is nine o'clock”.
EXTRA EXAMPLES: Sentences to analyse: “Sara reads a book.” “My father works in Adama.” “It is cold today.” “They are students.”
TIP: This slide connects Module 3 (the verb “to be”) to this module (action verbs). Say that — learners like seeing that the rules connect.
CLASSROOM ACTIVITY: Two-colour underlining: give learners eight sentences on paper and two coloured pens. Subject in one colour, verb in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important slide in Level 1 — do not rush it.
HOW TO TEACH: Draw three columns on the board labelled SUBJECT, VERB, OBJECT. Write each word of a sentence on a separate card and physically place the cards in the columns. Then read the sentence left to right. Do this ten times with different sentences.
COMMON MISTAKES: The wrong column is not careless — it is a correct sentence in the learner's first language. Say that out loud. Learners who feel stupid stop trying; learners who understand the cause fix it faster.
EXTRA EXAMPLES: More sentences to build: “Hana drinks water.” “The children eat bread.” “I want a pen.” “We watch television.”
TIP: Every lesson from now on, spend two minutes on the three-column card drill. It costs nothing to prepare and it is the single highest-value drill in Level 1.
CLASSROOM ACTIVITY: Human sentence: three learners hold cards — SUBJECT, VERB, OBJECT — and physically arrange themselves in order at the front. Then swap the middle learner for a different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Say a name, learners say the pronoun. “Dawit” → “he”. “Hana and Sara” → “they”. “My bag” → “it”. Thirty rounds, fast. Speed is what turns knowledge into automatic use.
COMMON MISTAKES: He/she confusion continues from Module 3. It is now the fourth module in a row where you drill it — that repetition is deliberate and necessary.
EXTRA EXAMPLES: Harder ones: “My mother and I” → we · “The children” → they · “The weather” → it · “You and Sara” → you.
TIP: “We” is the one learners use least and forget first, because it requires thinking about a group that includes yourself. Give it extra rounds.
CLASSROOM ACTIVITY: Pronoun swap: read a short text with names repeated, and have learners replace the second mention of each name with a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Teach it as position, not as a list: before the verb, use the first column; after the verb, use the second. Then drill with one verb — “I like ___” — filling in every object pronoun.
COMMON MISTAKES: “She likes I” and “I know he” are the errors. Point at the verb and ask “is this before or after?” The position gives the answer.
EXTRA EXAMPLES: Drill with three verbs: like, know, see. “I like him.” “She knows us.” “They see me.”
TIP: Only five of the seven actually change — you and it stay the same. Point that out; it makes the list feel much shorter.
CLASSROOM ACTIVITY: Pass the sentence: learner 1 says “I like Sara.” Learner 2 replaces the name: “I like her.” Around the class with different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Say each verb, then the example sentence. Class repeats. Then have learners make their own sentence with each verb, about their own life. Ten verbs, ten personal sentences.
COMMON MISTAKES: “Go” needs “to” before a place: “I go TO school”, not “I go school”. Teach the two words as one chunk: go-to.
EXTRA EXAMPLES: Five more when the class is ready: speak, live, help, buy, see.
TIP: These ten verbs plus the vocabulary from Module 4 produce hundreds of correct sentences. Say that out loud — learners underestimate how far a small number of verbs goes.
CLASSROOM ACTIVITY: Verb wheel: write the ten verbs on the board. Point at one at random; a learner must produce a full SVO sentence using it within three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Build one sentence live, adding one column at a time, and have the class read it aloud after each addition. Learners see the sentence grow while the core stays fixed.
COMMON MISTAKES: Learners put the time expression in the middle: “I every day eat injera.” It is understandable but not natural. Show that it goes at the end — or at the very beginning with a comma.
EXTRA EXAMPLES: This recycles Module 2 prepositions: AT a time, ON a day, IN a month. Point that out.
TIP: Tell learners the good news: they do not need new rules to make longer sentences, only to add pieces at the end. That makes long sentences feel achievable.
CLASSROOM ACTIVITY: Grow the sentence: start with “I eat.” Each learner around the class adds one piece — object, where, when — until it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Mime the action, say the verb, then say the full SVO sentence. Then five learners each say one true sentence about what they eat.
COMMON MISTAKES: Both the vowel length and the word order. Drill the sentence, not the word alone — the word alone does not teach the order.
EXTRA EXAMPLES: eat–it, seat–sit, feet–fit: the long/short vowel pair from Module 2.
TIP: Food vocabulary from Module 4 combines directly with this verb, giving twenty sentences immediately.
CLASSROOM ACTIVITY: Each learner says what they ate this morning, in a full SVO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Ask five learners where they or a family member works, and require a full sentence with the preposition.
COMMON MISTAKES: Dropping the preposition: “I work Adama”. Teach “work in” and “work at” as fixed pairs rather than as a rule.
EXTRA EXAMPLES: Jobs from Module 4 combine with this verb: “She works as a nurse.” “He works as a driver.”
TIP: For learners who do not have paid work, offer alternatives: “I work at home.” “I study.” Never let the question exclude anyone.
CLASSROOM ACTIVITY: Chain: “I work in ___. She works in ___. They work in ___.” Around the class, changing the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Model with objects: hold up coffee, a book, a pen, and say “I like ___” each time. Then ask learners. Then replace the nouns with object pronouns.
COMMON MISTAKES: This verb is the perfect place to drill object pronouns, because “like” takes one so naturally: “I like him”, “She likes us”, “We like them”.
EXTRA EXAMPLES: Also: love, want, need — all take an object the same way.
TIP: “Like” produces opinion sentences, which learners enjoy far more than mechanical drills. Use it to make the object-pronoun practice feel like conversation.
CLASSROOM ACTIVITY: Opinion round: each learner says two things they like and one they do not, using the correct object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Drill the pair: “I have / she has” with ten different objects. The change is small and learners miss it because it does not affect meaning.
COMMON MISTAKES: “She have” is the error, and it previews the third-person -s rule that dominates Level 2. Correct it now so the pattern is not new later.
EXTRA EXAMPLES: Combine with family from Module 4: “I have two sisters.” “He has one brother.”
TIP: This is the first verb in the course that changes for he/she/it. Say so — it prepares learners for Level 2 rather than surprising them.
CLASSROOM ACTIVITY: What do you have in your bag? Each learner says three sentences, then reports a partner's using “She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“go to” as one chunk from the first second. If learners learn “go” alone, the missing preposition is very hard to add later.
COMMON MISTAKES: Two errors: the missing “to”, and “she go” instead of “she goes”. Drill both, separately.
EXTRA EXAMPLES: go to school · go to work · go to the market · go home  ← “home” is the exception, with no “to”.
TIP: The exception “go home” confuses learners. Teach it as one fixed phrase and do not explain it.
CLASSROOM ACTIVITY: Where do you go? Each learner says three places they go and when, in full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The three-question test is the tool learners take away. Practise it aloud on ten sentences until they can run it in their heads while speaking.
COMMON MISTAKES: Under pressure — when speaking fast or nervous — learners revert to first-language order even when they know the rule. That is why this needs drilling to automaticity, not just explaining.
EXTRA EXAMPLES: Build ten sentences from the Module 4 vocabulary: “I like coffee.” “She has a red bag.” “They eat bread.”
TIP: Do the three-column card drill for two minutes at the start of every remaining lesson in Level 1. Consistency beats intensity here.
CLASSROOM ACTIVITY: Sentence factory: give pairs three word cards each and two minutes to build as many correct sentences as they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Contrast a statement and a question directly: “It is black.” and “Is it black?” Learners see that the verb moves only for questions, which connects back to Module 3.
COMMON MISTAKES: Verb-first statements come from thinking about the question form. Show the pair side by side so the difference is visible.
EXTRA EXAMPLES: Convert five statements to questions and back again.
TIP: This rule and the question rule from Module 3 are two halves of one idea: word order carries meaning in English. Say that — it makes both easier to remember.
CLASSROOM ACTIVITY: Statement or question: teacher says a sentence, learners hold up one finger for statement, two for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Point at the verb in each sentence and ask “before or after?” The position gives the answer without needing to memorise two lists.
COMMON MISTAKES: “She likes I” is the classic. Learners memorise the subject list first and use it everywhere.
EXTRA EXAMPLES: Drill with one verb and all seven pronouns: “She likes me / you / him / her / it / us / them.”
TIP: Remind them only five change — you and it stay the same. That halves the load.
CLASSROOM ACTIVITY: Before or after: teacher says a sentence with a gap, learners supply the right pronoun and say whether it was before or after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Ask five learners what they can and cannot do. Real abilities produce real sentences and the pattern drills itself.
COMMON MISTAKES: “She can drives” — adding -s to the second verb. It comes from over-applying the he/she rule they just met with “has” and “goes”.
EXTRA EXAMPLES: can't is the short form and is used far more often in speech. Teach both and say which is which.
TIP: This is the easiest grammar point in Level 1 because nothing changes for any person. Say that — learners need occasional easy wins.
CLASSROOM ACTIVITY: Find someone who can: learners move around asking “Can you ___?” until they find someone who can drive, cook, swim or 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two short sentences on the board, then join them with “and”. Then write two contrasting ones and join them with “but”. Learners see that nothing inside either sentence changes.
COMMON MISTAKES: Learners keep the correct order in the first half and revert to first-language order in the second. Point at the second half specifically when you correct.
EXTRA EXAMPLES: Give ten pairs of sentences for learners to join with the right word.
TIP: The comma before “but” is normal in writing. Mention it once and do not make it a focus at this level.
CLASSROOM ACTIVITY: Join them: give pairs six short sentences and have them make three longer ones, choosing “and” or “but”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Listen books closed, chorus, pair reading, then perform with their own jobs and abilities. The finding task afterwards makes the grammar visible inside real language.
COMMON MISTAKES: “I know you” at the end contains an object pronoun that happens not to change — point that out, because learners often think all of them change.
EXTRA EXAMPLES: Change the jobs and the abilities. Every learner has a different true answer.
TIP: Mimi's last line is honest about her weakness, and Dawit encourages her. That is worth naming — it models how learners can talk about their own English without embarrassment.
CLASSROOM ACTIVITY: Ability mingle: everyone asks three people “Can you ___?” and reports one answer back to the class using “He can…” or “She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ask what “it” refers to in each line. Pronoun reference is a real comprehension skill and learners rarely think about it unless asked.
COMMON MISTAKES: “Do you like it?” contains “do”, which is Level 2 grammar. Teach the whole question as a fixed phrase and do not explain it.
EXTRA EXAMPLES: Change the activity: cooking, football, music, work. Keep the structure identical.
TIP: Abel is an adult beginner who cannot read English. Point that out for any adult learners who feel behind — the course has a character exactly like them, and he succeeds.
CLASSROOM ACTIVITY: Evening routines: pairs ask and answer what they do in the evening, using at least three SVO sentences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each pattern with three different endings. The pattern is what learners keep; the endings are infinite.
COMMON MISTAKES: The missing “to” after “go”. Drill “go to” as one chunk.
EXTRA EXAMPLES: Add “I want ___” and “I need ___” for a strong class.
TIP: Sentence patterns are far more valuable than individual words at this level. A learner who owns six patterns can say hundreds of things; a learner who owns sixty words can say sixty.
CLASSROOM ACTIVITY: Pattern race: teacher calls a pattern, learners produce a true sentence within three seconds. Around the class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in writing, then three pairs perform before you reveal the answers.
COMMON MISTAKES: The last two gaps both need “it”, and learners often write “English” again. Both are understandable, but the pronoun is what makes it sound natural.
TIP: Have them perform standing up. Standing changes the voice and the confidence.
CLASSROOM ACTIVITY: Do it again with the roles reversed so both learners produce every line.
ANSWERS: 1 do · 2 work + a place · 3 Can · 4 can + cannot · 5 it · 6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for all four rounds.
HOW TO TEACH: Keep strictly to two minutes and announce each change loudly. Walk and listen for word-order errors — that is the whole assessment of this module.
COMMON MISTAKES: Round 2 is where the pronoun errors appear. Note them and correct at the end, not during.
TIP: Round 4 is hardest because learners must keep correct order in both halves. Expect the second half to break first.
CLASSROOM ACTIVITY: After round 4, three learners say their best long sentence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Round C is the valuable one: repeating someone else's sentence forces a pronoun change from “I” to “he” or “she”, which is exactly the skill being tested.
COMMON MISTAKES: In round C learners repeat “I eat injera” instead of changing to “He eats injera”. Stop and fix it the first time it happens, then let the chain continue.
EXTRA EXAMPLES: For a strong class, require a different verb from every learner.
TIP: This activity assesses the whole module in five minutes and every learner speaks. Use it as your informal end-of-module check.
CLASSROOM ACTIVITY: Run it twice and time it. The second run is always faster and more accurate, which learners notice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Model all five yourself in ninety seconds. Then pairs. Then two learners report their partner's day using “he” or “she”, which forces the pronoun change.
COMMON MISTAKES: Step 1 without “to”. Step 4 needs an object after “like” both times.
EXTRA EXAMPLES: Add “What time?” from Module 2 for a class that is moving fast.
TIP: This is the closest thing to real conversation the learners have done. Let it run slightly long if it is working.
CLASSROOM ACTIVITY: Report back: three learners describe their partner's day in the third person. Every sentence needs a changed pronoun and, later, a changed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Say a sentence flat, with every word equal, then say it with natural stress. Ask which sounds like English. Learners hear the difference immediately even if they cannot yet produce it.
COMMON MISTAKES: Amharic gives syllables more equal weight, so learners produce flat English. It is understandable but tiring for a listener, and it is what makes speech sound “not fluent” even when it is correct.
EXTRA EXAMPLES: Clap on the stressed words while the class says the sentence. The hand teaches the voice.
TIP: This is the first sentence-level pronunciation work in the course. Keep it light and do not over-explain — imitation works better than theory here.
CLASSROOM ACTIVITY: Clap and say: the class says four sentences, clapping only on the meaning words. Then say them again without clapping and hear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Give each pair one thing to listen for in the other's performance: the word order, the pronoun, or the “to” after “go”.
COMMON MISTAKES: Situation 4 is where third-person errors cluster: “She work” instead of “She works”, and he/she confusion. That is what makes it the most useful of the four.
EXTRA EXAMPLES: Situation 3 lets learners talk about their own English honestly, which is unexpectedly motivating for adults.
TIP: Do situation 4 last and give it the most time. It previews the third-person -s that dominates Level 2.
CLASSROOM ACTIVITY: Perform two of the four to the whole class and let the class name one thing done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including listening back.
HOW TO TEACH: Record on a phone, or perform live to a partner who ticks the five steps.
COMMON MISTAKES: Step 1 is the word-order assessment. Step 2 is the pronoun assessment. Both are the module's targets.
TIP: Have them listen back once. Word-order errors are very audible on playback, and learners catch their own.
CLASSROOM ACTIVITY: Keep every recording for the end-of-level comparison.
ANSWERS: SUCCESS CRITERIA: all five steps present · subject-verb-object order correct in every sentence · correct pronoun in step 2 · the verb after “can” never takes -s · a listener understands every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The three-column task is the point: learners must hear the structure, not just the words. Draw the columns on the board first so everyone starts the same way.
COMMON MISTAKES: Sentence 2 has a two-word subject, “my sister”. Learners write only “sister”. Both parts belong in the subject column.
EXTRA EXAMPLES: Add two harder ones: “My mother and I go to the market.” and “The children like football.”
ANSWERS: 1 I / drink / coffee  ·  2 My sister / works / (in a hospital — where)  ·  3 We / study / English  ·  4 They / eat / injera  ·  5 He / cannot drive / a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Sentence 2 is the interesting one: not every sentence has an object. If learners forced one in, that is a good discussion — some verbs need an object and some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Read twice at natural pace. Read the questions aloud before learners write.
COMMON MISTAKES: Question 4 has two parts. Learners answer only the first. Say “two parts” before they start.
EXTRA EXAMPLES: Add: “Is Abel a student?” The answer is no — he has a shop.
ANSWERS: 1 In Merkato. · 2 At seven o'clock. · 3 He sells bags and shoes. · 4 He can speak a little, but he cannot read it well. · 5 His daughter helps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5 contains both a possessive and an object pronoun for the same person. It is the best single test of the module and worth reading aloud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Demonstrate habit 3 by saying a sentence with the small words deliberately mumbled. Learners still understand it, which proves the point better than any explanation.
COMMON MISTAKES: Beginners try to catch every word and lose the whole sentence. Naming that habit is the first step to breaking it.
TIP: This slide connects the module's grammar to listening: knowing that the subject comes first is a listening strategy, not just a writing rule.
CLASSROOM ACTIVITY: Who and what: read five fast sentences and ask learners only for the subject and the verb. They will catch far more than they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Teacher, chorus, individuals, then the underlining task. Marking up the text makes the structure visible and is far more active than answering questions alone.
COMMON MISTAKES: The last line has two verbs — “cannot drive” and “want to learn”. Do not analyse the second one; it is Level 2 grammar. Let learners read it as a whole.
EXTRA EXAMPLES: Count the sentences: six. Count the verbs: eight. Ask why there are more verbs than sentences.
TIP: Point at each word as the class reads in chorus. Beginners lose their place constantly.
CLASSROOM ACTIVITY: Rewrite it: learners write six sentences about their own day, using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Insist on full sentences with “she”. That is what is being assessed, not the facts.
COMMON MISTAKES: Question 5 needs “cannot”. Learners answer “drive a car”, which does not answer the question.
TIP: Books closed. If the text is visible, learners copy and no comprehension happens.
ANSWERS: 1 She is a nurse. · 2 She goes to the clinic. · 3 She drinks coffee. · 4 She can speak Amharic and English. · 5 She cannot drive a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2 tests three things at once: the pronoun, the -es on the verb, and the “to” after “go”. It is the single most informative item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Teacher, chorus, individuals. The pronoun-finding task is the point: this text is dense with they, he, she and each other.
COMMON MISTAKES: “Each other” is new and complex. Do not explain it — the meaning is clear from context, which is how it should first be met.
EXTRA EXAMPLES: The nine pronouns: They, he, She, She, They, They, they, but, They — ask learners to check whether “but” is a pronoun. It is not, which is a useful discussion.
TIP: This text uses “they” more than any earlier text. “They” is the pronoun learners use least confidently, so the repetition is deliberate.
CLASSROOM ACTIVITY: Learners write six sentences about two people they know, using “they” at least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Questions 1 and 2 sit side by side deliberately: “they live” has no -s, “he studies” does. That contrast is the bridge into Level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Do item 1 together using the three questions: who, what do they do, what to. Then let them work alone.
COMMON MISTAKES: Item 5 has two complete sentences joined by “but”. Learners try to make one short sentence out of all the words.
TIP: Item 4 tests the “to” after “go” as well as the order. Check for it.
ANSWERS: 1 My father drinks coffee. · 2 We study English. · 3 She cannot drive a car. · 4 The children go to school every day. · 5 I like coffee, but I do not like tea.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Write your own completed example on the board and leave it there.
COMMON MISTAKES: The last line is the hardest because both halves must be complete. Expect “I can read, but cannot write” — the second subject is missing.
EXTRA EXAMPLES: Fast finishers add two more sentences using “and”.
TIP: Collect these and keep them for the end-of-level comparison.
CLASSROOM ACTIVITY: Learners swap papers and mark their partner's work against the five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the first one together, then let them work alone. Circulate and check word order as they write.
COMMON MISTAKES: Item 3 is the hardest. Many learners write a subject pronoun instead. Give an example on the board first.
TIP: Correct only word order, pronouns and the module's structures. Correcting everything discourages beginners into silence.
ANSWERS: MODEL ANSWERS: 1 I eat injera every day. · 2 She works in a hospital. · 3 I know him well. / She helps us. · 4 I can read English. I cannot swim. · 5 I like coffee, but I do not like tea.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 3 is the diagnostic. A learner who wrote “I know he” has memorised the subject list and is using it everywhere — go back to slide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own writing from the previous slide.
TIP: The wall now has nineteen checks across five modules. That is the complete Level 1 accuracy standard, and Module 6 will test all of it.
CLASSROOM ACTIVITY: Deliberate error hunt: write four sentences on the board with exactly four errors, one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1 is the module's core diagnostic. Anyone who chooses a) needs the three-column card drill again before the quiz.
ANSWERS: 1 b · 2 b · 3 b · 4 c · 5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Items 1 and 3 test the verb, item 2 the object pronoun, item 4 “can”, item 5 the joining word.
COMMON MISTAKES: Item 1 needs the -s because “my mother” is one person. This previews Level 2 and learners will get it wrong — that is fine, correct it and move on.
TIP: Item 2 is the object pronoun test. If most get it wrong, redo slide 18 before the quiz.
ANSWERS: 1 drinks · 2 him · 3 go · 4 can · 5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three chances to succeed. Let them work in pairs.
TIP: Part 2 tests subject-verb agreement without naming it. Note who gets it wrong — they will need extra help in Level 2.
ANSWERS: Part 1: 1–b, 2–d, 3–c, 4–a.  ·  Part 2: 1–b, 2–d, 3–a, 4–c.  ·  Part 3: 1–d, 2–a, 3–b, 4–c.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This is the three-column drill in written form. Let learners work alone, then read five of the sentences aloud and have the class check the order.
COMMON MISTAKES: Combinations must make sense as well as be grammatical: “The children drive a bus” is correct English but odd. Accept it and mention the difference.
TIP: This exercise generates twenty-five possible sentences from fifteen words. Say that — it shows learners how far a small vocabulary goes.
ANSWERS: Many correct combinations. Check three things in each: the order, a capital letter at the start, and a full stop at the end. “My father drinks coffee.” and “She drives a bus.” need the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sentence. Sentence 5 has three.
COMMON MISTAKES: These five are exactly the module's four checks plus one from Module 1. Every error here is one you will meet again.
TIP: Have learners count the errors before correcting. Counting forces careful reading.
ANSWERS: 1 I drink coffee every morning. (word order) · 2 She likes me very much. (object pronoun) · 3 He can drive a car. (no -s after can) · 4 We go to school every day. (missing “to”) · 5 My sister works in a hospital. (capital, -s on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6 is worth discussing: even weather sentences need “it”, which is the strangest part of the rule for Amharic speakers.
ANSWERS: 1 T · 2 F — “She likes me” · 3 F — “can” never changes · 4 T · 5 T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Every answer is personal. Item 5 is the hardest and the most revealing.
COMMON MISTAKES: Item 5 requires both a subject pronoun and an object pronoun in one sentence. Give an example on the board first.
TIP: Ask three learners to read item 5 aloud. It is the best quick check of whether the module has landed.
ANSWERS: 1 I eat ___ in the morning. · 2 I go to ___ every day. · 3 I can ___. · 4 I cannot ___. · 5 e.g. “She is my friend and I know her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Give each partner a listening job: task 1 check the word order, task 2 check the pronoun, task 3 check there is no -s after can.
TIP: Task 1 is the module assessment. Listen to as many pairs as you can and note who still reverts to first-language order.
ANSWERS: SUCCESS CRITERIA: 1 five correct SVO sentences · 2 the pronoun matches the person throughout · 3 no -s on the verb after can or cannot · 4 both halves are complete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This is the bridge to the quiz. Let learners work in pairs and expect it to be genuinely hard.
TIP: Question 2 stacks five errors in one line. That is much harder than one at a time, and it is deliberate.
ANSWERS: 1 five correct sentences with five different pronouns · 2 “My brother drinks coffee and he can drive a car.” — capital M, word order, -s on drinks, no -s on drive, and a full stop · 3 e.g. “She is my friend. I know her.” and “They are students. We help them.” · 4 “I like English, but I do not like exams.” · 5 any correct long sentence, e.g. “My mother drinks coffee at home every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Accept Amharic for the reasoning, then give the English phrase for what they said.
TIP: Question 1 matters emotionally as well as intellectually. Learners who understand that the error comes from a rule, not from stupidity, correct it much faster.
ANSWERS: 1 Because Amharic puts the verb at the end of the clause, so the learner is applying a correct rule from their own language. It is transfer, not carelessness. 2 The form tells the listener whether the person is doing the action or receiving it — English uses word form where other languages might use word order or endings. 3 Any clear explanation; the strongest says “can” already carries the meaning, so the second verb never changes, then drills five examples. 4 Ten patterns, because each pattern produces dozens of sentences while each word produces only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“My sister reads a book every evening. She cannot drive a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“My sister reads a book every evening. She cannot drive a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“My sister reads a book every evening. She cannot drive a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“My sister reads a book every evening. She cannot drive a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“My sister reads a book every evening. She cannot drive a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Q7 are the diagnostic questions. Q1 and Q3 show whether word order is automatic; Q7 shows whether the object pronouns have landed. If the class failed those, run the three-column card drill daily through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Q7 are the diagnostic questions. Q1 and Q3 show whether word order is automatic; Q7 shows whether the object pronouns have landed. If the class failed those, run the three-column card drill daily through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Q7 are the diagnostic questions. Q1 and Q3 show whether word order is automatic; Q7 shows whether the object pronouns have landed. If the class failed those, run the three-column card drill daily through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Q7 are the diagnostic questions. Q1 and Q3 show whether word order is automatic; Q7 shows whether the object pronouns have landed. If the class failed those, run the three-column card drill daily through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 Q3 and Q7 are the diagnostic questions. Q1 and Q3 show whether word order is automatic; Q7 shows whether the object pronouns have landed. If the class failed those, run the three-column card drill daily through Module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Write it on the board as well as the slide and say the due date.
TIP: Tuesday's chant pairs the subject and object forms so they are learned together rather than as two separate lists. That is the whole trick with pronouns.
CLASSROOM ACTIVITY: Ask learners to send one classmate one SVO sentence in English each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Show your own completed example of task 2. Task 3 is required — the recording is the main assessment.
COMMON MISTAKES: Learners who cannot record must not be excluded. Offer the live option openly.
TIP: Reply to every recording personally, by voice, within two days. Listen for word order above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Note that word order carries the most marks — that tells learners what matters.
COMMON MISTAKES: Mark only what has been taught in Modules 1 to 5.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and read the objectives again. Ask the same question you asked at the start.
TIP: Ask each learner to say one sentence they could not have said four weeks ago. That is a better summary than any list.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It is the most useful reference page in Level 1.
TIP: Print it as an A4 poster beside the posters from Modules 1 to 4.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shift precisely: until now learners have been repeating language; from this module they can generate it. That is the real threshold in learning a language, and it is worth saying out loud.
TIP: Remind them that Module 6 is a review module — no new grammar, just putting everything together and finishing the level. After five hard modules, that is genuinely good news.
CLASSROOM ACTIVITY: Ask every learner to say one original sentence — one nobody taught them —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1</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1</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Beginner</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Pre-A1 → A1</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5 OF 6</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Simple Sentences</a:t>
            </a:r>
            <a:endParaRPr lang="en-US" sz="46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500" dirty="0">
                <a:solidFill>
                  <a:srgbClr val="B9CFC1"/>
                </a:solidFill>
                <a:latin typeface="Calibri" pitchFamily="34" charset="0"/>
                <a:ea typeface="Calibri" pitchFamily="34" charset="-122"/>
                <a:cs typeface="Calibri" pitchFamily="34" charset="-120"/>
              </a:rPr>
              <a:t>You have the words. Now put them in the right order. This module fixes the single biggest difference between Amharic and English.</a:t>
            </a:r>
            <a:endParaRPr lang="en-US" sz="15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NEW VERBS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about building your own sentences.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Put words in the correct English order</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Subject, then verb, then object. Every time.</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the subject pronouns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 you · he · she · it · we · they</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the object pronouns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me · you · him · her · it · us · them</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what you can and cannot do</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can read English.”  “I cannot drive.”</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Join two ideas with “and” and “but”</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like coffee, but I do not like tea.”</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which one sounds right?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Say them out loud.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Say both</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“I injera eat.”   and   “I eat injera.”</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Say both out loud. Which one sounds like English to you?</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Three words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coffee · drinks · my mother</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Make a sentence from these three. Any order you like.</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Your own</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Say one sentence in English about what you did this morning. Any words you know.</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In Amharic the verb comes last. In English it comes second.</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That one difference causes more errors than anything else in this course.</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It is not a small thing to learn — but it is one rule, and once it is automatic it is fixed for life.</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Amharic:  I  injera  EAT</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English:  I  EAT  injera</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Subject · Verb · Object</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Every English sentence needs two things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subject and a verb. Without both, it is not a sentence.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5446624" cy="4059936"/>
          </a:xfrm>
          <a:prstGeom prst="roundRect">
            <a:avLst>
              <a:gd name="adj" fmla="val 3153"/>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The SUBJECT</a:t>
            </a:r>
            <a:endParaRPr lang="en-US" sz="2100" dirty="0"/>
          </a:p>
          <a:p>
            <a:pPr indent="0" marL="0">
              <a:lnSpc>
                <a:spcPct val="102000"/>
              </a:lnSpc>
              <a:spcBef>
                <a:spcPts val="350"/>
              </a:spcBef>
              <a:buNone/>
            </a:pPr>
            <a:r>
              <a:rPr lang="en-US" sz="1490" dirty="0">
                <a:solidFill>
                  <a:srgbClr val="3A473F"/>
                </a:solidFill>
                <a:latin typeface="Calibri" pitchFamily="34" charset="0"/>
                <a:ea typeface="Calibri" pitchFamily="34" charset="-122"/>
                <a:cs typeface="Calibri" pitchFamily="34" charset="-120"/>
              </a:rPr>
              <a:t>Who or what does the action.</a:t>
            </a:r>
            <a:endParaRPr lang="en-US" sz="2100" dirty="0"/>
          </a:p>
          <a:p>
            <a:pPr indent="0" marL="0">
              <a:lnSpc>
                <a:spcPct val="102000"/>
              </a:lnSpc>
              <a:spcBef>
                <a:spcPts val="350"/>
              </a:spcBef>
              <a:buNone/>
            </a:pPr>
            <a:endParaRPr lang="en-US" sz="2100" dirty="0"/>
          </a:p>
          <a:p>
            <a:pPr indent="0" marL="0">
              <a:lnSpc>
                <a:spcPct val="102000"/>
              </a:lnSpc>
              <a:spcBef>
                <a:spcPts val="350"/>
              </a:spcBef>
              <a:buNone/>
            </a:pPr>
            <a:r>
              <a:rPr lang="en-US" sz="1490" dirty="0">
                <a:solidFill>
                  <a:srgbClr val="3A473F"/>
                </a:solidFill>
                <a:latin typeface="Calibri" pitchFamily="34" charset="0"/>
                <a:ea typeface="Calibri" pitchFamily="34" charset="-122"/>
                <a:cs typeface="Calibri" pitchFamily="34" charset="-120"/>
              </a:rPr>
              <a:t>Sara · my mother · the dog · I · she · they</a:t>
            </a:r>
            <a:endParaRPr lang="en-US" sz="2100" dirty="0"/>
          </a:p>
          <a:p>
            <a:pPr indent="0" marL="0">
              <a:lnSpc>
                <a:spcPct val="102000"/>
              </a:lnSpc>
              <a:spcBef>
                <a:spcPts val="350"/>
              </a:spcBef>
              <a:buNone/>
            </a:pPr>
            <a:endParaRPr lang="en-US" sz="2100" dirty="0"/>
          </a:p>
          <a:p>
            <a:pPr indent="0" marL="0">
              <a:lnSpc>
                <a:spcPct val="102000"/>
              </a:lnSpc>
              <a:spcBef>
                <a:spcPts val="350"/>
              </a:spcBef>
              <a:buNone/>
            </a:pPr>
            <a:r>
              <a:rPr lang="en-US" sz="1490" dirty="0">
                <a:solidFill>
                  <a:srgbClr val="3A473F"/>
                </a:solidFill>
                <a:latin typeface="Calibri" pitchFamily="34" charset="0"/>
                <a:ea typeface="Calibri" pitchFamily="34" charset="-122"/>
                <a:cs typeface="Calibri" pitchFamily="34" charset="-120"/>
              </a:rPr>
              <a:t>English always needs one — even when there is nothing real to name: “IT is raining.”</a:t>
            </a:r>
            <a:endParaRPr lang="en-US" sz="2100" dirty="0"/>
          </a:p>
        </p:txBody>
      </p:sp>
      <p:sp>
        <p:nvSpPr>
          <p:cNvPr id="15" name="Shape 10"/>
          <p:cNvSpPr/>
          <p:nvPr/>
        </p:nvSpPr>
        <p:spPr>
          <a:xfrm>
            <a:off x="6196432" y="1883664"/>
            <a:ext cx="5446624" cy="4059936"/>
          </a:xfrm>
          <a:prstGeom prst="roundRect">
            <a:avLst>
              <a:gd name="adj" fmla="val 3153"/>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6415888"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3054096"/>
          </a:xfrm>
          <a:prstGeom prst="rect">
            <a:avLst/>
          </a:prstGeom>
          <a:noFill/>
          <a:ln/>
        </p:spPr>
        <p:txBody>
          <a:bodyPr wrap="square" lIns="0" tIns="0" rIns="0" bIns="0" rtlCol="0" anchor="t"/>
          <a:lstStyle/>
          <a:p>
            <a:pPr indent="0" marL="0">
              <a:lnSpc>
                <a:spcPct val="102000"/>
              </a:lnSpc>
              <a:buNone/>
            </a:pPr>
            <a:r>
              <a:rPr lang="en-US" sz="2350" b="1" dirty="0">
                <a:solidFill>
                  <a:srgbClr val="12211B"/>
                </a:solidFill>
                <a:latin typeface="Calibri" pitchFamily="34" charset="0"/>
                <a:ea typeface="Calibri" pitchFamily="34" charset="-122"/>
                <a:cs typeface="Calibri" pitchFamily="34" charset="-120"/>
              </a:rPr>
              <a:t>2 · The VERB</a:t>
            </a:r>
            <a:endParaRPr lang="en-US" sz="2350" dirty="0"/>
          </a:p>
          <a:p>
            <a:pPr indent="0" marL="0">
              <a:lnSpc>
                <a:spcPct val="102000"/>
              </a:lnSpc>
              <a:spcBef>
                <a:spcPts val="392"/>
              </a:spcBef>
              <a:buNone/>
            </a:pPr>
            <a:r>
              <a:rPr lang="en-US" sz="1660" dirty="0">
                <a:solidFill>
                  <a:srgbClr val="3A473F"/>
                </a:solidFill>
                <a:latin typeface="Calibri" pitchFamily="34" charset="0"/>
                <a:ea typeface="Calibri" pitchFamily="34" charset="-122"/>
                <a:cs typeface="Calibri" pitchFamily="34" charset="-120"/>
              </a:rPr>
              <a:t>The action, or the word “to be”.</a:t>
            </a:r>
            <a:endParaRPr lang="en-US" sz="2350" dirty="0"/>
          </a:p>
          <a:p>
            <a:pPr indent="0" marL="0">
              <a:lnSpc>
                <a:spcPct val="102000"/>
              </a:lnSpc>
              <a:spcBef>
                <a:spcPts val="392"/>
              </a:spcBef>
              <a:buNone/>
            </a:pPr>
            <a:endParaRPr lang="en-US" sz="2350" dirty="0"/>
          </a:p>
          <a:p>
            <a:pPr indent="0" marL="0">
              <a:lnSpc>
                <a:spcPct val="102000"/>
              </a:lnSpc>
              <a:spcBef>
                <a:spcPts val="392"/>
              </a:spcBef>
              <a:buNone/>
            </a:pPr>
            <a:r>
              <a:rPr lang="en-US" sz="1660" dirty="0">
                <a:solidFill>
                  <a:srgbClr val="3A473F"/>
                </a:solidFill>
                <a:latin typeface="Calibri" pitchFamily="34" charset="0"/>
                <a:ea typeface="Calibri" pitchFamily="34" charset="-122"/>
                <a:cs typeface="Calibri" pitchFamily="34" charset="-120"/>
              </a:rPr>
              <a:t>eat · work · go · read · like</a:t>
            </a:r>
            <a:endParaRPr lang="en-US" sz="2350" dirty="0"/>
          </a:p>
          <a:p>
            <a:pPr indent="0" marL="0">
              <a:lnSpc>
                <a:spcPct val="102000"/>
              </a:lnSpc>
              <a:spcBef>
                <a:spcPts val="392"/>
              </a:spcBef>
              <a:buNone/>
            </a:pPr>
            <a:r>
              <a:rPr lang="en-US" sz="1660" dirty="0">
                <a:solidFill>
                  <a:srgbClr val="3A473F"/>
                </a:solidFill>
                <a:latin typeface="Calibri" pitchFamily="34" charset="0"/>
                <a:ea typeface="Calibri" pitchFamily="34" charset="-122"/>
                <a:cs typeface="Calibri" pitchFamily="34" charset="-120"/>
              </a:rPr>
              <a:t>am · is · are</a:t>
            </a:r>
            <a:endParaRPr lang="en-US" sz="2350" dirty="0"/>
          </a:p>
          <a:p>
            <a:pPr indent="0" marL="0">
              <a:lnSpc>
                <a:spcPct val="102000"/>
              </a:lnSpc>
              <a:spcBef>
                <a:spcPts val="392"/>
              </a:spcBef>
              <a:buNone/>
            </a:pPr>
            <a:endParaRPr lang="en-US" sz="2350" dirty="0"/>
          </a:p>
          <a:p>
            <a:pPr indent="0" marL="0">
              <a:lnSpc>
                <a:spcPct val="102000"/>
              </a:lnSpc>
              <a:spcBef>
                <a:spcPts val="392"/>
              </a:spcBef>
              <a:buNone/>
            </a:pPr>
            <a:r>
              <a:rPr lang="en-US" sz="1660" dirty="0">
                <a:solidFill>
                  <a:srgbClr val="3A473F"/>
                </a:solidFill>
                <a:latin typeface="Calibri" pitchFamily="34" charset="0"/>
                <a:ea typeface="Calibri" pitchFamily="34" charset="-122"/>
                <a:cs typeface="Calibri" pitchFamily="34" charset="-120"/>
              </a:rPr>
              <a:t>English always needs one: “He IS a teacher”, never “He teacher”.</a:t>
            </a:r>
            <a:endParaRPr lang="en-US" sz="2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Subject + Verb + Object — the order never changes</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This is the rule the whole module is built 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 — English order</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eat injera.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reads a book.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study English.</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father drives a bus.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like coffee.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 — first-language order</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injera eat.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a book reads.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English study.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My father a bus drives.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coffee like.</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the three words as a rhythm:  SUBJECT · VERB · OBJECT.   Who does it, what they do, what they do it to.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Subject pronouns — words that replace the name</a:t>
            </a:r>
            <a:endParaRPr lang="en-US" sz="37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Use them so you do not repeat the same name in every sentence.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011680"/>
                <a:gridCol w="3291840"/>
                <a:gridCol w="579089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Pronoun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 it for</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yourself</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eat injera every 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 person you talk to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 are my friend.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one man or boy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Dawit is my friend. He works in Bole.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she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one woman or girl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Hana is a nurse. She works in Gondar.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 thing, an animal, the weather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This is my bag. It is black.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 and other people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Sara and I are students. We study English.</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other people or things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My brothers are students. They study in Adama.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pronoun comes FIRST in the sentence, in the subject place. “He works”, never “Works he”.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Object pronouns — after the verb</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Different words for the same people, used in a different place in the sentence.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377440"/>
                <a:gridCol w="2377440"/>
                <a:gridCol w="633953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Subject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Object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likes me.  ·  Give it to 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you</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like you.  ← the only one that does not change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he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him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know him.  ·  Ask him.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she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her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see her every 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like it.  ← also does not change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They help 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them</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know them well.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Subject pronouns go BEFORE the verb. Object pronouns go AFTER it.   “She likes me.” — not “She likes 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Ten verbs that build a hundred sentences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Learn these ten and you can say most of what you need at this level.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2057949" cy="1929384"/>
          </a:xfrm>
          <a:prstGeom prst="roundRect">
            <a:avLst>
              <a:gd name="adj" fmla="val 6635"/>
            </a:avLst>
          </a:prstGeom>
          <a:solidFill>
            <a:srgbClr val="F6F9F7"/>
          </a:solidFill>
          <a:ln w="12700">
            <a:solidFill>
              <a:srgbClr val="E3E9E5"/>
            </a:solidFill>
            <a:prstDash val="solid"/>
          </a:ln>
        </p:spPr>
      </p:sp>
      <p:sp>
        <p:nvSpPr>
          <p:cNvPr id="12" name="Text 8"/>
          <p:cNvSpPr/>
          <p:nvPr/>
        </p:nvSpPr>
        <p:spPr>
          <a:xfrm>
            <a:off x="768096" y="2103120"/>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eat</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eat injera.</a:t>
            </a:r>
            <a:endParaRPr lang="en-US" sz="2100" dirty="0"/>
          </a:p>
        </p:txBody>
      </p:sp>
      <p:sp>
        <p:nvSpPr>
          <p:cNvPr id="13" name="Shape 9"/>
          <p:cNvSpPr/>
          <p:nvPr/>
        </p:nvSpPr>
        <p:spPr>
          <a:xfrm>
            <a:off x="2807757" y="1883664"/>
            <a:ext cx="2057949" cy="1929384"/>
          </a:xfrm>
          <a:prstGeom prst="roundRect">
            <a:avLst>
              <a:gd name="adj" fmla="val 6635"/>
            </a:avLst>
          </a:prstGeom>
          <a:solidFill>
            <a:srgbClr val="F6F9F7"/>
          </a:solidFill>
          <a:ln w="12700">
            <a:solidFill>
              <a:srgbClr val="E3E9E5"/>
            </a:solidFill>
            <a:prstDash val="solid"/>
          </a:ln>
        </p:spPr>
      </p:sp>
      <p:sp>
        <p:nvSpPr>
          <p:cNvPr id="14" name="Text 10"/>
          <p:cNvSpPr/>
          <p:nvPr/>
        </p:nvSpPr>
        <p:spPr>
          <a:xfrm>
            <a:off x="3027213" y="2103120"/>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drink</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drink coffee.</a:t>
            </a:r>
            <a:endParaRPr lang="en-US" sz="2100" dirty="0"/>
          </a:p>
        </p:txBody>
      </p:sp>
      <p:sp>
        <p:nvSpPr>
          <p:cNvPr id="15" name="Shape 11"/>
          <p:cNvSpPr/>
          <p:nvPr/>
        </p:nvSpPr>
        <p:spPr>
          <a:xfrm>
            <a:off x="5066873" y="1883664"/>
            <a:ext cx="2057949" cy="1929384"/>
          </a:xfrm>
          <a:prstGeom prst="roundRect">
            <a:avLst>
              <a:gd name="adj" fmla="val 6635"/>
            </a:avLst>
          </a:prstGeom>
          <a:solidFill>
            <a:srgbClr val="F6F9F7"/>
          </a:solidFill>
          <a:ln w="12700">
            <a:solidFill>
              <a:srgbClr val="E3E9E5"/>
            </a:solidFill>
            <a:prstDash val="solid"/>
          </a:ln>
        </p:spPr>
      </p:sp>
      <p:sp>
        <p:nvSpPr>
          <p:cNvPr id="16" name="Text 12"/>
          <p:cNvSpPr/>
          <p:nvPr/>
        </p:nvSpPr>
        <p:spPr>
          <a:xfrm>
            <a:off x="5286329" y="2103120"/>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go</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go to school.</a:t>
            </a:r>
            <a:endParaRPr lang="en-US" sz="2100" dirty="0"/>
          </a:p>
        </p:txBody>
      </p:sp>
      <p:sp>
        <p:nvSpPr>
          <p:cNvPr id="17" name="Shape 13"/>
          <p:cNvSpPr/>
          <p:nvPr/>
        </p:nvSpPr>
        <p:spPr>
          <a:xfrm>
            <a:off x="7325990" y="1883664"/>
            <a:ext cx="2057949" cy="1929384"/>
          </a:xfrm>
          <a:prstGeom prst="roundRect">
            <a:avLst>
              <a:gd name="adj" fmla="val 6635"/>
            </a:avLst>
          </a:prstGeom>
          <a:solidFill>
            <a:srgbClr val="F6F9F7"/>
          </a:solidFill>
          <a:ln w="12700">
            <a:solidFill>
              <a:srgbClr val="E3E9E5"/>
            </a:solidFill>
            <a:prstDash val="solid"/>
          </a:ln>
        </p:spPr>
      </p:sp>
      <p:sp>
        <p:nvSpPr>
          <p:cNvPr id="18" name="Text 14"/>
          <p:cNvSpPr/>
          <p:nvPr/>
        </p:nvSpPr>
        <p:spPr>
          <a:xfrm>
            <a:off x="7545446" y="2103120"/>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work</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work in Adama.</a:t>
            </a:r>
            <a:endParaRPr lang="en-US" sz="2100" dirty="0"/>
          </a:p>
        </p:txBody>
      </p:sp>
      <p:sp>
        <p:nvSpPr>
          <p:cNvPr id="19" name="Shape 15"/>
          <p:cNvSpPr/>
          <p:nvPr/>
        </p:nvSpPr>
        <p:spPr>
          <a:xfrm>
            <a:off x="9585107" y="1883664"/>
            <a:ext cx="2057949" cy="1929384"/>
          </a:xfrm>
          <a:prstGeom prst="roundRect">
            <a:avLst>
              <a:gd name="adj" fmla="val 6635"/>
            </a:avLst>
          </a:prstGeom>
          <a:solidFill>
            <a:srgbClr val="F6F9F7"/>
          </a:solidFill>
          <a:ln w="12700">
            <a:solidFill>
              <a:srgbClr val="E3E9E5"/>
            </a:solidFill>
            <a:prstDash val="solid"/>
          </a:ln>
        </p:spPr>
      </p:sp>
      <p:sp>
        <p:nvSpPr>
          <p:cNvPr id="20" name="Text 16"/>
          <p:cNvSpPr/>
          <p:nvPr/>
        </p:nvSpPr>
        <p:spPr>
          <a:xfrm>
            <a:off x="9804563" y="2103120"/>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study</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study English.</a:t>
            </a:r>
            <a:endParaRPr lang="en-US" sz="2100" dirty="0"/>
          </a:p>
        </p:txBody>
      </p:sp>
      <p:sp>
        <p:nvSpPr>
          <p:cNvPr id="21" name="Shape 17"/>
          <p:cNvSpPr/>
          <p:nvPr/>
        </p:nvSpPr>
        <p:spPr>
          <a:xfrm>
            <a:off x="548640" y="4014216"/>
            <a:ext cx="2057949" cy="1929384"/>
          </a:xfrm>
          <a:prstGeom prst="roundRect">
            <a:avLst>
              <a:gd name="adj" fmla="val 6635"/>
            </a:avLst>
          </a:prstGeom>
          <a:solidFill>
            <a:srgbClr val="F6F9F7"/>
          </a:solidFill>
          <a:ln w="12700">
            <a:solidFill>
              <a:srgbClr val="E3E9E5"/>
            </a:solidFill>
            <a:prstDash val="solid"/>
          </a:ln>
        </p:spPr>
      </p:sp>
      <p:sp>
        <p:nvSpPr>
          <p:cNvPr id="22" name="Text 18"/>
          <p:cNvSpPr/>
          <p:nvPr/>
        </p:nvSpPr>
        <p:spPr>
          <a:xfrm>
            <a:off x="768096" y="4233672"/>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read</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read a book.</a:t>
            </a:r>
            <a:endParaRPr lang="en-US" sz="2100" dirty="0"/>
          </a:p>
        </p:txBody>
      </p:sp>
      <p:sp>
        <p:nvSpPr>
          <p:cNvPr id="23" name="Shape 19"/>
          <p:cNvSpPr/>
          <p:nvPr/>
        </p:nvSpPr>
        <p:spPr>
          <a:xfrm>
            <a:off x="2807757" y="4014216"/>
            <a:ext cx="2057949" cy="1929384"/>
          </a:xfrm>
          <a:prstGeom prst="roundRect">
            <a:avLst>
              <a:gd name="adj" fmla="val 6635"/>
            </a:avLst>
          </a:prstGeom>
          <a:solidFill>
            <a:srgbClr val="F6F9F7"/>
          </a:solidFill>
          <a:ln w="12700">
            <a:solidFill>
              <a:srgbClr val="E3E9E5"/>
            </a:solidFill>
            <a:prstDash val="solid"/>
          </a:ln>
        </p:spPr>
      </p:sp>
      <p:sp>
        <p:nvSpPr>
          <p:cNvPr id="24" name="Text 20"/>
          <p:cNvSpPr/>
          <p:nvPr/>
        </p:nvSpPr>
        <p:spPr>
          <a:xfrm>
            <a:off x="3027213" y="4233672"/>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write</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write my name.</a:t>
            </a:r>
            <a:endParaRPr lang="en-US" sz="2100" dirty="0"/>
          </a:p>
        </p:txBody>
      </p:sp>
      <p:sp>
        <p:nvSpPr>
          <p:cNvPr id="25" name="Shape 21"/>
          <p:cNvSpPr/>
          <p:nvPr/>
        </p:nvSpPr>
        <p:spPr>
          <a:xfrm>
            <a:off x="5066873" y="4014216"/>
            <a:ext cx="2057949" cy="1929384"/>
          </a:xfrm>
          <a:prstGeom prst="roundRect">
            <a:avLst>
              <a:gd name="adj" fmla="val 6635"/>
            </a:avLst>
          </a:prstGeom>
          <a:solidFill>
            <a:srgbClr val="F6F9F7"/>
          </a:solidFill>
          <a:ln w="12700">
            <a:solidFill>
              <a:srgbClr val="E3E9E5"/>
            </a:solidFill>
            <a:prstDash val="solid"/>
          </a:ln>
        </p:spPr>
      </p:sp>
      <p:sp>
        <p:nvSpPr>
          <p:cNvPr id="26" name="Text 22"/>
          <p:cNvSpPr/>
          <p:nvPr/>
        </p:nvSpPr>
        <p:spPr>
          <a:xfrm>
            <a:off x="5286329" y="4233672"/>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like</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like tea.</a:t>
            </a:r>
            <a:endParaRPr lang="en-US" sz="2100" dirty="0"/>
          </a:p>
        </p:txBody>
      </p:sp>
      <p:sp>
        <p:nvSpPr>
          <p:cNvPr id="27" name="Shape 23"/>
          <p:cNvSpPr/>
          <p:nvPr/>
        </p:nvSpPr>
        <p:spPr>
          <a:xfrm>
            <a:off x="7325990" y="4014216"/>
            <a:ext cx="2057949" cy="1929384"/>
          </a:xfrm>
          <a:prstGeom prst="roundRect">
            <a:avLst>
              <a:gd name="adj" fmla="val 6635"/>
            </a:avLst>
          </a:prstGeom>
          <a:solidFill>
            <a:srgbClr val="F6F9F7"/>
          </a:solidFill>
          <a:ln w="12700">
            <a:solidFill>
              <a:srgbClr val="E3E9E5"/>
            </a:solidFill>
            <a:prstDash val="solid"/>
          </a:ln>
        </p:spPr>
      </p:sp>
      <p:sp>
        <p:nvSpPr>
          <p:cNvPr id="28" name="Text 24"/>
          <p:cNvSpPr/>
          <p:nvPr/>
        </p:nvSpPr>
        <p:spPr>
          <a:xfrm>
            <a:off x="7545446" y="4233672"/>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have</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have a pen.</a:t>
            </a:r>
            <a:endParaRPr lang="en-US" sz="2100" dirty="0"/>
          </a:p>
        </p:txBody>
      </p:sp>
      <p:sp>
        <p:nvSpPr>
          <p:cNvPr id="29" name="Shape 25"/>
          <p:cNvSpPr/>
          <p:nvPr/>
        </p:nvSpPr>
        <p:spPr>
          <a:xfrm>
            <a:off x="9585107" y="4014216"/>
            <a:ext cx="2057949" cy="1929384"/>
          </a:xfrm>
          <a:prstGeom prst="roundRect">
            <a:avLst>
              <a:gd name="adj" fmla="val 6635"/>
            </a:avLst>
          </a:prstGeom>
          <a:solidFill>
            <a:srgbClr val="F6F9F7"/>
          </a:solidFill>
          <a:ln w="12700">
            <a:solidFill>
              <a:srgbClr val="E3E9E5"/>
            </a:solidFill>
            <a:prstDash val="solid"/>
          </a:ln>
        </p:spPr>
      </p:sp>
      <p:sp>
        <p:nvSpPr>
          <p:cNvPr id="30" name="Text 26"/>
          <p:cNvSpPr/>
          <p:nvPr/>
        </p:nvSpPr>
        <p:spPr>
          <a:xfrm>
            <a:off x="9804563" y="4233672"/>
            <a:ext cx="1619037" cy="1527048"/>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want</a:t>
            </a:r>
            <a:endParaRPr lang="en-US" sz="2100" dirty="0"/>
          </a:p>
          <a:p>
            <a:pPr indent="0" marL="0">
              <a:lnSpc>
                <a:spcPct val="102000"/>
              </a:lnSpc>
              <a:spcBef>
                <a:spcPts val="400"/>
              </a:spcBef>
              <a:buNone/>
            </a:pPr>
            <a:r>
              <a:rPr lang="en-US" sz="1400" dirty="0">
                <a:solidFill>
                  <a:srgbClr val="3A473F"/>
                </a:solidFill>
                <a:latin typeface="Calibri" pitchFamily="34" charset="0"/>
                <a:ea typeface="Calibri" pitchFamily="34" charset="-122"/>
                <a:cs typeface="Calibri" pitchFamily="34" charset="-120"/>
              </a:rPr>
              <a:t>I want water.</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Making the sentence longer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WHERE and WHEN — but keep subject, verb, object in place.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011680"/>
                <a:gridCol w="1828800"/>
                <a:gridCol w="2011680"/>
                <a:gridCol w="2377440"/>
                <a:gridCol w="286481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Subject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Verb</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Object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Where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When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I</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eat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injera</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at home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every 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She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studies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English</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at school</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in the morning.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We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buy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food</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at Merkato</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on Saturday.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They</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drink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coffee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in the office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at ten o'clock.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extra parts go at the END. Where usually comes before when. The first three columns never move.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eat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eat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/iːt/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put food in your mouth.</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000" b="1" dirty="0">
                <a:solidFill>
                  <a:srgbClr val="12211B"/>
                </a:solidFill>
                <a:latin typeface="Calibri" pitchFamily="34" charset="0"/>
                <a:ea typeface="Calibri" pitchFamily="34" charset="-122"/>
                <a:cs typeface="Calibri" pitchFamily="34" charset="-120"/>
              </a:rPr>
              <a:t>I eat injera every day. We eat at seven o'clock.</a:t>
            </a:r>
            <a:endParaRPr lang="en-US" sz="20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vowel is long — /iːt/, like “seat”. Keep it short and it becomes “it”, a different word. And the order: “I eat injera”, never “I injera eat”.</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work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work</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/wɜːk/</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do a job, usually for money.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950" b="1" dirty="0">
                <a:solidFill>
                  <a:srgbClr val="12211B"/>
                </a:solidFill>
                <a:latin typeface="Calibri" pitchFamily="34" charset="0"/>
                <a:ea typeface="Calibri" pitchFamily="34" charset="-122"/>
                <a:cs typeface="Calibri" pitchFamily="34" charset="-120"/>
              </a:rPr>
              <a:t>My father works in Adama. I work six days a week.</a:t>
            </a:r>
            <a:endParaRPr lang="en-US" sz="19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00" dirty="0">
                <a:solidFill>
                  <a:srgbClr val="12211B"/>
                </a:solidFill>
                <a:latin typeface="Calibri" pitchFamily="34" charset="0"/>
                <a:ea typeface="Calibri" pitchFamily="34" charset="-122"/>
                <a:cs typeface="Calibri" pitchFamily="34" charset="-120"/>
              </a:rPr>
              <a:t>It is a verb AND a noun: “I work” (verb) and “my work” (noun). Also “work” needs a preposition before a place: “I work IN Adama”, “I work AT the bank”.</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like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like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/laɪk/</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think something is good or pleasant.</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600" b="1" dirty="0">
                <a:solidFill>
                  <a:srgbClr val="12211B"/>
                </a:solidFill>
                <a:latin typeface="Calibri" pitchFamily="34" charset="0"/>
                <a:ea typeface="Calibri" pitchFamily="34" charset="-122"/>
                <a:cs typeface="Calibri" pitchFamily="34" charset="-120"/>
              </a:rPr>
              <a:t>I like coffee. She likes English. They do not like the rain.</a:t>
            </a:r>
            <a:endParaRPr lang="en-US" sz="16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You must say WHAT you like: “I like it”, never “I like” alone. And the object pronoun comes after: “I like her”, not “I like she”.</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have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have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/hæv/</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own something, or for something to belong to you.</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400" b="1" dirty="0">
                <a:solidFill>
                  <a:srgbClr val="12211B"/>
                </a:solidFill>
                <a:latin typeface="Calibri" pitchFamily="34" charset="0"/>
                <a:ea typeface="Calibri" pitchFamily="34" charset="-122"/>
                <a:cs typeface="Calibri" pitchFamily="34" charset="-120"/>
              </a:rPr>
              <a:t>I have a pen. She has two brothers.</a:t>
            </a:r>
            <a:endParaRPr lang="en-US" sz="24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changes for he, she and it: I have, but she HAS. Also say the /h/ clearly — without it, “have” sounds like “ave”.</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go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go</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/ɡəʊ/</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move from one place to another.</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650" b="1" dirty="0">
                <a:solidFill>
                  <a:srgbClr val="12211B"/>
                </a:solidFill>
                <a:latin typeface="Calibri" pitchFamily="34" charset="0"/>
                <a:ea typeface="Calibri" pitchFamily="34" charset="-122"/>
                <a:cs typeface="Calibri" pitchFamily="34" charset="-120"/>
              </a:rPr>
              <a:t>I go to school every day. She goes to Merkato on Saturday.</a:t>
            </a:r>
            <a:endParaRPr lang="en-US" sz="16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Always “go TO a place”: “I go to school”, never “I go school”. And it changes for he and she: he GOES, with -es.</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Subject + Verb + Object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Build every sentence in these three parts, in this order.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2560320"/>
                <a:gridCol w="2926080"/>
                <a:gridCol w="26819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Subject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Verb</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Object</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Wrong version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eat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injera.</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injera eat.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My mother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drinks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coffee.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My mother coffee drinks.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We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We English study.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The children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want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water.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 children water want.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Test any sentence by asking three questions in order:  WHO does it?   WHAT do they do?   WHAT do they do it to?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2 — the subject pronoun comes first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Replace the name, but keep it in the same place.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works in Bole.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has two children.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It is a black bag.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study English.</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Works he in Bole.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Has she two children.</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Is it black bag.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Study they English.</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subject always comes before the verb in a statement. Only in a QUESTION does the verb move in front — “Is it black?”</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Rule 3 — the object pronoun comes after the verb</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Before the verb: I, he, she. After the verb: me, him, her.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likes 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know him.</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see her every 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help us.</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likes I.</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know he.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see she every 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help we.</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Ask yourself: is this word BEFORE the verb or AFTER it?  Before → I, he, she, we, they.  After → me, him, her, us, them.</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4 — “can” and “cannot” for ability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word for everybody. It never changes.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926080"/>
                <a:gridCol w="4023360"/>
                <a:gridCol w="41449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Form</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Positive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subject + can +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can read English.  ·  She can drive.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Negative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subject + cannot +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cannot swim.  ·  He cannot come today.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Can + subject +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Can you speak English?  ·  Can she drive?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Short answer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I can. / No, I cannot.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“Can you drive?”  “No, I cannot.”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“Can” never changes — not for he, she or it. And the verb after it never changes either:  “She can DRIVE”, never “She can drives”.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joining ideas with “and” and “but”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AND joins two similar ideas. BUT joins two different ones.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like coffee and I like tea.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works and she studies.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like coffee, but I do not like tea.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can read, but he cannot write.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like coffee and tea I like.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works and studies she.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like coffee but not like tea.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can read but cannot he write.</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Both halves must be complete sentences with the correct word order. Joining two sentences does not change the order inside either of them.</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word order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Subject, verb, object — in that order.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Rearrange:  injera · eat · I</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eat injera.</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Who does it? I. What do they do? Eat. What do they eat? Injera. The three questions give the order every time.</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Rearrange:  coffee · my mother · drinks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My mother drinks coffee.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subject can be more than one word — “my mother” is all the subject. The verb still comes straight after it.</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“We English study.”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We study English.</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verb must come second, before the object. This is the first-language order, and it is the error this whole module exists to fix.</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subject pronouns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Replace the name and keep the position.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Replace the name: “Dawit works in Bole.”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He works in Bole.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Dawit is one man, so “he”. The pronoun goes in the same place the name was — before the verb.</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Replace: “Sara and I are students.”</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We are students.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“We” is used for yourself plus other people. Learners often say “they”, forgetting they are in the group.</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Replace: “My bag is black.”</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It is black.</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“It” is used for a thing, an animal or the weather — anything that is not a person.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object pronouns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After the verb, the word changes.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Correct this: “She likes I.”</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She likes me.</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The pronoun comes after the verb “likes”, so it must be the object form: me, not I.</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Replace the name: “I know Dawit.”</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know him.</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Dawit is after the verb, so the object form “him” is needed — not “he”.</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Complete: “They help ______.”  (me and my friends)</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They help us.</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“Us” is the object form of “we”. It comes after the verb, so it cannot be “we”.</a:t>
            </a:r>
            <a:endParaRPr lang="en-US" sz="127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can and cannot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form for everybody.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Complete: “She ___ drive a car.”  (she is able to)</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can drive a car.</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“Can” never changes — not for he, she or it. And the verb after it stays in its base form: drive, not drives.</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Make it negative: “I can swim.”</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cannot swim.  (or: I can't swim.)</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Add “not” to “can”. The verb “swim” does not change at all.</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Make it a question: “You can speak English.”</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Can you speak English?</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“Can” moves in front of the subject, exactly like “is” and “are” did in Module 3.</a:t>
            </a:r>
            <a:endParaRPr lang="en-US" sz="12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00" b="1" dirty="0">
                <a:solidFill>
                  <a:srgbClr val="12211B"/>
                </a:solidFill>
                <a:latin typeface="Calibri" pitchFamily="34" charset="0"/>
                <a:ea typeface="Calibri" pitchFamily="34" charset="-122"/>
                <a:cs typeface="Calibri" pitchFamily="34" charset="-120"/>
              </a:rPr>
              <a:t>Guided examples 5 — and, but, and longer sentences</a:t>
            </a:r>
            <a:endParaRPr lang="en-US" sz="34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Join two complete ideas.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Join with “and”:  “I like coffee.”  “I like tea.”</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like coffee and I like tea.</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Both ideas are similar, so “and” joins them. Both halves keep their own subject, verb and object.</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Join with “but”:  “He can read.”  “He cannot write.”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He can read, but he cannot write.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two ideas are different from each other, so “but” is the right word. The comma before “but” is normal in writing.</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Add WHERE and WHEN:  “I eat injera.”</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eat injera at home every day.</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extra parts go at the end. Where usually comes before when, and the first three words never move.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Talking about what you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Dawit and Mimi talk about their days.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Where do you work, Dawit?</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work in a coffee shop in Bole. And you?</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study at the university. I want to work at an airline.</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Can you speak English well?</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can read and write, but I cannot speak fast.</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know you. You can do it.</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Find them:  three SVO sentences  ·  one “can”  ·  one “cannot”  ·  one “but”  ·  one object pronoun.</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At home — a family evening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talks to her uncle Abel.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do you do in the evening?</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study English and I read my books.</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Do you like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like it, but it is difficult.</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cannot read English, but I can speak a little.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can help you. We can study together.</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Notice “it” twice:  “Do you like it?”  and  “I like it.”  It replaces “English” — a thing, not a person.</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talking about yourself</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sentence patterns. Change the last word and you have a hundred sentences.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go to ______.”</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school · work · the market · church · the clinic</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work in ______.”</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Adama · an office · a shop · a hospital</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like ______.”</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coffee · football · English · my job</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have ______.”</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two sisters · a phone · a red bag</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can ______.”</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read · drive · cook · speak a little English</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cannot ______.”</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swim · drive · speak fast — and that is fine</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Where ______ you work?</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______ in ______________.</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you speak English?</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______, but I ______________ speak fast.</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Do you like English?</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like ______. I study ______ every day.</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“do”  ·  “work”  ·  a place  ·  “Can”  ·  “can”  ·  “cannot”  ·  “it”  ·  “it”</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build and swap</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five SVO sentences about yourself</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Your partner checks the word order each time.</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them again with a pronoun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Replace the names: “My mother works” becomes “She works”.</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three things you can and one you cannot do</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Your partner asks one question about each.</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Join two ideas with “and” and two with “but”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Four longer sentences in total.</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the sentence chain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Everyone. Around the class. Three rounds.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One SVO sentence each</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Any subject, any verb, any object. It must be true and it must be correct.</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Add where or when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eat injera at home.” “She works in Adama every day.”</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the previous person's sentence, then your own</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“He eats injera. I drink coffee.” Memory plus grammar.</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talk about your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pairs. Three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Where do you go?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go to ___.” Two or three places.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do you do there?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work.” “I study.” “I buy food.”</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do you eat and drink?</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eat ___ and I drink ___.”</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do you like?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like ___, but I do not like ___.”</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can you do?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can ___.” And one thing you cannot do.</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word stress inside a sentence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In English, the important words are louder and longer. The small words are quick and quiet.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Stress these — the meaning words</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EAT injera.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WORKS in ADAMA.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STUDY ENGLISH.</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CANNOT SWIM.</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Say these quickly — the small words</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 a · the · to · in · at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is · are · am · do</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and · but · of</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These are never the loud words.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“I eat injera” three times: first flat, then with EAT and IN-JE-RA louder. The second version is what English actually sounds like.</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role plays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Two minutes per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new classmate asks about your day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Where you go, what you do, what you like.</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meet someone at work</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Say your job, where you work, and what you can do.</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friend asks what you can do in English</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 can read, but I cannot speak fast.” Be honest.</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describe a family member to a friend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Their job, where they work, what they like. Use he or she throughout.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60 seconds.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SVO sentences about yourself</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Different verb each time.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two sentences about a family member</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he or she. Check the verb.</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two things you can do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can ___.”</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thing you cannot do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cannot ___.”</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long sentence with “but”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like ___, but I do not like ___.”</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five sentences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subject, the verb and the object.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1.  “I drink coffee every morning.”</a:t>
            </a: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2.  “My sister works in a hospital.”</a:t>
            </a: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3.  “We study English on Monday.”</a:t>
            </a: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4.  “They eat injera at home.”</a:t>
            </a:r>
            <a:endParaRPr lang="en-US" sz="1800" dirty="0"/>
          </a:p>
          <a:p>
            <a:pPr indent="0" marL="0">
              <a:lnSpc>
                <a:spcPct val="140000"/>
              </a:lnSpc>
              <a:buNone/>
            </a:pPr>
            <a:r>
              <a:rPr lang="en-US" sz="1800" dirty="0">
                <a:solidFill>
                  <a:srgbClr val="12211B"/>
                </a:solidFill>
                <a:latin typeface="Calibri" pitchFamily="34" charset="0"/>
                <a:ea typeface="Calibri" pitchFamily="34" charset="-122"/>
                <a:cs typeface="Calibri" pitchFamily="34" charset="-120"/>
              </a:rPr>
              <a:t>5.  “He cannot drive a car.”</a:t>
            </a:r>
            <a:endParaRPr lang="en-US" sz="18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Draw three columns: SUBJECT · VERB · OBJECT.</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each sentence into the columns.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For number 5, write “cannot drive” in the verb column.</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each one twice.</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“I drink coffee every morning.”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 drink / coffee   (“every morning” = when)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extra time part goes at the end and is not the object. The object is what you drink.</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“My sister works in a hospital.”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My sister / works / —   (“in a hospital” = where)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subject is two words. This sentence has no object at all — “works” does not need one.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“We study English on Monday.”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We / study / English   (“on Monday” = when)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 for a day, from Module 2. The object is English — what is being studied.</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“They eat injera at home.”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 eat / injera   (“at home” = where)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Classic subject-verb-object, with the place added at the end.</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“He cannot drive a car.”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 cannot drive / a car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“Cannot drive” is the whole verb. Note that “drive” has no -s after “cannot”.</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Abel's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then answer the questions.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“My name is Abel. I have a shop in Merkato.</a:t>
            </a:r>
            <a:endParaRPr lang="en-US" sz="1750" dirty="0"/>
          </a:p>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I go to the shop at seven o'clock every day.</a:t>
            </a:r>
            <a:endParaRPr lang="en-US" sz="1750" dirty="0"/>
          </a:p>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I sell bags and shoes.</a:t>
            </a:r>
            <a:endParaRPr lang="en-US" sz="1750" dirty="0"/>
          </a:p>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I can speak a little English, but I cannot read it well.</a:t>
            </a:r>
            <a:endParaRPr lang="en-US" sz="1750" dirty="0"/>
          </a:p>
          <a:p>
            <a:pPr indent="0" marL="0">
              <a:lnSpc>
                <a:spcPct val="138000"/>
              </a:lnSpc>
              <a:buNone/>
            </a:pPr>
            <a:r>
              <a:rPr lang="en-US" sz="1750" dirty="0">
                <a:solidFill>
                  <a:srgbClr val="12211B"/>
                </a:solidFill>
                <a:latin typeface="Calibri" pitchFamily="34" charset="0"/>
                <a:ea typeface="Calibri" pitchFamily="34" charset="-122"/>
                <a:cs typeface="Calibri" pitchFamily="34" charset="-120"/>
              </a:rPr>
              <a:t>My daughter helps me. She studies English at school.”</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Where is Abel's shop?</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What time does he go there?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What does he sell?</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What can he do in English? What can he not do?</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Who helps him?</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Where is the shop?</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It is in Merkato.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for a place or a thing, and Merkato takes a capital letter.</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time does he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goes at seven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 for a clock time, from Module 2. And note “goes”, with -es, because it is “he”.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does he sell?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sells bags and shoes.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nouns are plural with -s, and “and” joins them. The verb takes -s because the subject is “he”.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can and cannot he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can speak a little English, but he cannot read it well.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parts joined with “but”, because the two ideas are different from each other.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Who helps him?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His daughter helps him.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“His” before the person, and “him” after the verb. Both forms of the same person in one short sentence.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hear the structure, not just the words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habits that make listening easier.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Listen for WHO first</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The subject almost always comes first in English. Catch it and the rest of the sentence has somewhere to attach.</a:t>
            </a:r>
            <a:endParaRPr lang="en-US" sz="158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Then listen for the ACTION</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The verb comes second. Once you have who and what they do, you understand most of the meaning.</a:t>
            </a:r>
            <a:endParaRPr lang="en-US" sz="16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The loud words carry the meaning</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English speakers stress the important words. If you catch only the loud ones, you usually still understand.</a:t>
            </a:r>
            <a:endParaRPr lang="en-US" sz="158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Do not stop at one missed word</a:t>
            </a:r>
            <a:endParaRPr lang="en-US" sz="158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Keep going. The structure will tell you what kind of word you missed, even if you never catch the word itself.</a:t>
            </a:r>
            <a:endParaRPr lang="en-US" sz="15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my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42000"/>
              </a:lnSpc>
              <a:buNone/>
            </a:pPr>
            <a:r>
              <a:rPr lang="en-US" sz="2000" dirty="0">
                <a:solidFill>
                  <a:srgbClr val="12211B"/>
                </a:solidFill>
                <a:latin typeface="Calibri" pitchFamily="34" charset="0"/>
                <a:ea typeface="Calibri" pitchFamily="34" charset="-122"/>
                <a:cs typeface="Calibri" pitchFamily="34" charset="-120"/>
              </a:rPr>
              <a:t>My name is Hana. I am a nurse.</a:t>
            </a:r>
            <a:endParaRPr lang="en-US" sz="2000" dirty="0"/>
          </a:p>
          <a:p>
            <a:pPr indent="0" marL="0">
              <a:lnSpc>
                <a:spcPct val="142000"/>
              </a:lnSpc>
              <a:buNone/>
            </a:pPr>
            <a:r>
              <a:rPr lang="en-US" sz="2000" dirty="0">
                <a:solidFill>
                  <a:srgbClr val="12211B"/>
                </a:solidFill>
                <a:latin typeface="Calibri" pitchFamily="34" charset="0"/>
                <a:ea typeface="Calibri" pitchFamily="34" charset="-122"/>
                <a:cs typeface="Calibri" pitchFamily="34" charset="-120"/>
              </a:rPr>
              <a:t>I go to the clinic every day.</a:t>
            </a:r>
            <a:endParaRPr lang="en-US" sz="2000" dirty="0"/>
          </a:p>
          <a:p>
            <a:pPr indent="0" marL="0">
              <a:lnSpc>
                <a:spcPct val="142000"/>
              </a:lnSpc>
              <a:buNone/>
            </a:pPr>
            <a:r>
              <a:rPr lang="en-US" sz="2000" dirty="0">
                <a:solidFill>
                  <a:srgbClr val="12211B"/>
                </a:solidFill>
                <a:latin typeface="Calibri" pitchFamily="34" charset="0"/>
                <a:ea typeface="Calibri" pitchFamily="34" charset="-122"/>
                <a:cs typeface="Calibri" pitchFamily="34" charset="-120"/>
              </a:rPr>
              <a:t>I help many people.</a:t>
            </a:r>
            <a:endParaRPr lang="en-US" sz="2000" dirty="0"/>
          </a:p>
          <a:p>
            <a:pPr indent="0" marL="0">
              <a:lnSpc>
                <a:spcPct val="142000"/>
              </a:lnSpc>
              <a:buNone/>
            </a:pPr>
            <a:r>
              <a:rPr lang="en-US" sz="2000" dirty="0">
                <a:solidFill>
                  <a:srgbClr val="12211B"/>
                </a:solidFill>
                <a:latin typeface="Calibri" pitchFamily="34" charset="0"/>
                <a:ea typeface="Calibri" pitchFamily="34" charset="-122"/>
                <a:cs typeface="Calibri" pitchFamily="34" charset="-120"/>
              </a:rPr>
              <a:t>I drink coffee in the morning and I eat bread.</a:t>
            </a:r>
            <a:endParaRPr lang="en-US" sz="2000" dirty="0"/>
          </a:p>
          <a:p>
            <a:pPr indent="0" marL="0">
              <a:lnSpc>
                <a:spcPct val="142000"/>
              </a:lnSpc>
              <a:buNone/>
            </a:pPr>
            <a:r>
              <a:rPr lang="en-US" sz="2000" dirty="0">
                <a:solidFill>
                  <a:srgbClr val="12211B"/>
                </a:solidFill>
                <a:latin typeface="Calibri" pitchFamily="34" charset="0"/>
                <a:ea typeface="Calibri" pitchFamily="34" charset="-122"/>
                <a:cs typeface="Calibri" pitchFamily="34" charset="-120"/>
              </a:rPr>
              <a:t>I can speak Amharic and English.</a:t>
            </a:r>
            <a:endParaRPr lang="en-US" sz="2000" dirty="0"/>
          </a:p>
          <a:p>
            <a:pPr indent="0" marL="0">
              <a:lnSpc>
                <a:spcPct val="142000"/>
              </a:lnSpc>
              <a:buNone/>
            </a:pPr>
            <a:r>
              <a:rPr lang="en-US" sz="2000" dirty="0">
                <a:solidFill>
                  <a:srgbClr val="12211B"/>
                </a:solidFill>
                <a:latin typeface="Calibri" pitchFamily="34" charset="0"/>
                <a:ea typeface="Calibri" pitchFamily="34" charset="-122"/>
                <a:cs typeface="Calibri" pitchFamily="34" charset="-120"/>
              </a:rPr>
              <a:t>I cannot drive a car, but I want to learn.</a:t>
            </a:r>
            <a:endParaRPr lang="en-US" sz="20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six learners read one line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Underline the subject and circle the verb in every sentence.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using the correct pronoun.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Hana's job?</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Where does she go every day?</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does she drink in the morning?</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Which languages can she speak?</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can she NOT do?</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Hana's job</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a nurse.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for a woman, and “a” before the job. Both are errors this course has drilled since Module 3.</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Where does she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goes to the clinic.</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 to”, never “go the clinic”. And “goes” with -es because the subject is “she”.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does she drink?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drinks coffee.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Subject, verb, object — in that order. “Coffee she drinks” is the first-language pattern.</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Which languages?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can speak Amharic and English.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“And” joins two similar things. Both language names take a capital letter.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What can she not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cannot drive a car.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question asks about ability, so the answer must contain “cannot”. And “drive” has no -s after “cannot”.</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two friends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longer text. Read it aloud twice.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6000"/>
              </a:lnSpc>
              <a:buNone/>
            </a:pPr>
            <a:r>
              <a:rPr lang="en-US" sz="1650" dirty="0">
                <a:solidFill>
                  <a:srgbClr val="12211B"/>
                </a:solidFill>
                <a:latin typeface="Calibri" pitchFamily="34" charset="0"/>
                <a:ea typeface="Calibri" pitchFamily="34" charset="-122"/>
                <a:cs typeface="Calibri" pitchFamily="34" charset="-120"/>
              </a:rPr>
              <a:t>Dawit and Mimi are friends. They live in Addis Ababa.</a:t>
            </a:r>
            <a:endParaRPr lang="en-US" sz="1650" dirty="0"/>
          </a:p>
          <a:p>
            <a:pPr indent="0" marL="0">
              <a:lnSpc>
                <a:spcPct val="136000"/>
              </a:lnSpc>
              <a:buNone/>
            </a:pPr>
            <a:r>
              <a:rPr lang="en-US" sz="1650" dirty="0">
                <a:solidFill>
                  <a:srgbClr val="12211B"/>
                </a:solidFill>
                <a:latin typeface="Calibri" pitchFamily="34" charset="0"/>
                <a:ea typeface="Calibri" pitchFamily="34" charset="-122"/>
                <a:cs typeface="Calibri" pitchFamily="34" charset="-120"/>
              </a:rPr>
              <a:t>Dawit works in a coffee shop and he studies in the evening.</a:t>
            </a:r>
            <a:endParaRPr lang="en-US" sz="1650" dirty="0"/>
          </a:p>
          <a:p>
            <a:pPr indent="0" marL="0">
              <a:lnSpc>
                <a:spcPct val="136000"/>
              </a:lnSpc>
              <a:buNone/>
            </a:pPr>
            <a:r>
              <a:rPr lang="en-US" sz="1650" dirty="0">
                <a:solidFill>
                  <a:srgbClr val="12211B"/>
                </a:solidFill>
                <a:latin typeface="Calibri" pitchFamily="34" charset="0"/>
                <a:ea typeface="Calibri" pitchFamily="34" charset="-122"/>
                <a:cs typeface="Calibri" pitchFamily="34" charset="-120"/>
              </a:rPr>
              <a:t>Mimi studies at the university. She wants a job at an airline.</a:t>
            </a:r>
            <a:endParaRPr lang="en-US" sz="1650" dirty="0"/>
          </a:p>
          <a:p>
            <a:pPr indent="0" marL="0">
              <a:lnSpc>
                <a:spcPct val="136000"/>
              </a:lnSpc>
              <a:buNone/>
            </a:pPr>
            <a:r>
              <a:rPr lang="en-US" sz="1650" dirty="0">
                <a:solidFill>
                  <a:srgbClr val="12211B"/>
                </a:solidFill>
                <a:latin typeface="Calibri" pitchFamily="34" charset="0"/>
                <a:ea typeface="Calibri" pitchFamily="34" charset="-122"/>
                <a:cs typeface="Calibri" pitchFamily="34" charset="-120"/>
              </a:rPr>
              <a:t>They meet on Saturday. They drink coffee and they talk about English.</a:t>
            </a:r>
            <a:endParaRPr lang="en-US" sz="1650" dirty="0"/>
          </a:p>
          <a:p>
            <a:pPr indent="0" marL="0">
              <a:lnSpc>
                <a:spcPct val="136000"/>
              </a:lnSpc>
              <a:buNone/>
            </a:pPr>
            <a:r>
              <a:rPr lang="en-US" sz="1650" dirty="0">
                <a:solidFill>
                  <a:srgbClr val="12211B"/>
                </a:solidFill>
                <a:latin typeface="Calibri" pitchFamily="34" charset="0"/>
                <a:ea typeface="Calibri" pitchFamily="34" charset="-122"/>
                <a:cs typeface="Calibri" pitchFamily="34" charset="-120"/>
              </a:rPr>
              <a:t>Dawit can speak English well, but Mimi can read it better.</a:t>
            </a:r>
            <a:endParaRPr lang="en-US" sz="1650" dirty="0"/>
          </a:p>
          <a:p>
            <a:pPr indent="0" marL="0">
              <a:lnSpc>
                <a:spcPct val="136000"/>
              </a:lnSpc>
              <a:buNone/>
            </a:pPr>
            <a:r>
              <a:rPr lang="en-US" sz="1650" dirty="0">
                <a:solidFill>
                  <a:srgbClr val="12211B"/>
                </a:solidFill>
                <a:latin typeface="Calibri" pitchFamily="34" charset="0"/>
                <a:ea typeface="Calibri" pitchFamily="34" charset="-122"/>
                <a:cs typeface="Calibri" pitchFamily="34" charset="-120"/>
              </a:rPr>
              <a:t>They help each other.</a:t>
            </a:r>
            <a:endParaRPr lang="en-US" sz="16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NEW WORDS HERE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live — to have your home in a place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meet — to come together with someone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talk — to speak with someone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better — more good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every pronoun. There are nine.</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Where do Dawit and Mimi live?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live in Addis Ababa.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“They” for two people, and the verb “live” has no -s because “they” is plural.</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does Dawit do in the evening?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studies in the evening.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 for one man, and “studies” with -es. Note that the verb changed but the word order did not.</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does Mimi want?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wants a job at an airline.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 airline” takes “an” because it starts with a vowel sound — the rule from Module 4.</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When do they meet?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meet on Saturday.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 for a day, from Module 2, and Saturday takes a capital letter.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verbs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eat · work · like · have · go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Three of them are in these two texts — find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put the words in order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sentence with a capital letter and a full stop.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coffee · drinks · my father</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English · we · study</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a car · cannot · drive · she</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to school · go · the children · every day</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but · I · tea · like · do not like · coffee · I</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write about your 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Copy the frame. Fill in your own information.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COPY THIS FRAME AND COMPLETE IT</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My name is ______________.</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I go to ______________ every day.</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I ______________ there.</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I eat ______________ and I drink ______________.</a:t>
            </a:r>
            <a:endParaRPr lang="en-US" sz="2000" dirty="0"/>
          </a:p>
          <a:p>
            <a:pPr indent="0" marL="0">
              <a:lnSpc>
                <a:spcPct val="155000"/>
              </a:lnSpc>
              <a:buNone/>
            </a:pPr>
            <a:r>
              <a:rPr lang="en-US" sz="2000" dirty="0">
                <a:solidFill>
                  <a:srgbClr val="12211B"/>
                </a:solidFill>
                <a:latin typeface="Calibri" pitchFamily="34" charset="0"/>
                <a:ea typeface="Calibri" pitchFamily="34" charset="-122"/>
                <a:cs typeface="Calibri" pitchFamily="34" charset="-120"/>
              </a:rPr>
              <a:t>I can ______________, but I cannot ______________.</a:t>
            </a:r>
            <a:endParaRPr lang="en-US" sz="20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Subject first, then verb, then object?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Did you write “to” after “go”?</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there a capital letter at the start of each sentence?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there a full stop at the end of each one?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In the last line, are both halves complete sentences?</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write full sentences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ONE full sentence for each. Check your word order.</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Write an SVO sentence about what you eat.</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Write a sentence about a family member, using “he” or “she”.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Write a sentence with an OBJECT pronoun (me, him, her, us, them).</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Write a sentence with “can” and one with “cannot”.</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Write one long sentence joined with “but”.</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model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an SVO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eat injera every 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Subject, verb, object, then the time at the end. The first three never change order.</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about a family member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works in a hospital.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for a woman, “works” with -s because it is one person, and “in” before the place.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with an object pronoun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know him well.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“Him” comes after the verb “know”. “I know he” uses the subject form in the object place.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can and cannot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can read English. I cannot swim.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after “can” or “cannot” never changes — read, not reads; swim, not swims.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joined with “but”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like coffee, but I do not like tea.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halves are complete sentences with their own subject and verb. The comma before “but” is normal in writing.</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these to the checks from Modules 1 to 4.</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Subject, then verb, then object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Ask the three questions: who does it, what do they do, what to.</a:t>
            </a:r>
            <a:endParaRPr lang="en-US" sz="21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Subject pronoun before the verb, object pronoun after it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“She likes me.” — not “She likes I.”</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“to” after “go”</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go to school.” — not “I go school.”</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No -s on the verb after can or cannot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“She can drive.” — not “She can drives.”</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Which sentence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injera eat.     b) I eat injera.     c) Eat I injera.</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Complete: “She likes ___.”</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b) me     c) my</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She can drives.     b) She can drive.     c) She cans drive.</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Complete: “I go ___ school every day.”</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at     b) in     c) to</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Which word joins two DIFFERENT ideas?</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and     b) but     c) or</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My mother ______ coffee every morning.  (drink)</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 know ______.  (Dawit)</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We ______ to the market on Saturday.  (go)</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She ______ speak three languages.  (ability)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 like tea, ______ I do not like coffee.</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Match the subject to the object, and the sentence to its parts.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1 — match the SUBJECT pronoun to the OBJECT pronoun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I     2. he     3. we     4. they          a) them     b) me     c) us     d) him</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2 — match the SUBJECT to the rest of the sentence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My father     2. The children     3. Hana and I     4. It</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are students.        b) drives a bus.</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is a black bag.        d) eat bread every day.</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3 — match the verb to its object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drink     2. read     3. drive     4. wear          a) a book     b) a car     c) a shirt     d) coffee</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build the sentence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five different correct sentences. Use each subject once.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SUBJECT:   I  ·  My father  ·  The children  ·  We  ·  She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VERB:      eat  ·  drink  ·  study  ·  read  ·  drive</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OBJECT:    injera  ·  coffee  ·  English  ·  a book  ·  a bus</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Now add WHERE or WHEN to two of your sentences.</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Then change one sentence to use “cannot”.</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coffee drink every morning.</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She likes I very much.</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He can drives a car.</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We go school every day.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my sister work in a hospital.</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In English the verb comes after the subject.</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“She likes I” is correct English.</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“Can” changes to “cans” for he and she.</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We say “I go to school”, not “I go school”.</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“But” joins two ideas that are different.</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Every English sentence needs a subject.</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do you eat in the morning?</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Where do you go every day?</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can you do well?</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can you NOT do?</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Write one sentence about a friend, using “he” or “she” and one object pronoun.</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Say five SVO sentences about your life. Different verb each time.</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Say three sentences about a family member, using he or she.</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Say three things you can do and two you cannot.</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Say two long sentences: one with “and”, one with “but”.</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five sentences about your family. Use a different subject pronoun in each one.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I, he, she, we, they — one each.</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this and explain each change:  “my brother coffee drink and he can drives a car”</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five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two sentences with object pronouns, and two with subject pronouns for the same people.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Four sentences in total.</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Join these into ONE sentence:  “I like English.”  “I do not like exams.”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Which joining word do you need?</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Write the longest correct sentence you can, using subject, verb, object, where and when.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Keep the first three in order.</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do so many Ethiopian learners say “I injera eat”?</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It is not carelessness. What is the real reason?</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does English have two different words — “he” and “him” — for the same person?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does the difference tell the listener?</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3. Your friend says “She can drives.” How would you explain the mistake so they remember it?</a:t>
            </a:r>
            <a:endParaRPr lang="en-US" sz="1650" dirty="0"/>
          </a:p>
          <a:p>
            <a:pPr indent="0" marL="0">
              <a:lnSpc>
                <a:spcPct val="102000"/>
              </a:lnSpc>
              <a:spcBef>
                <a:spcPts val="291"/>
              </a:spcBef>
              <a:buNone/>
            </a:pPr>
            <a:r>
              <a:rPr lang="en-US" sz="1260" dirty="0">
                <a:solidFill>
                  <a:srgbClr val="3A473F"/>
                </a:solidFill>
                <a:latin typeface="Calibri" pitchFamily="34" charset="0"/>
                <a:ea typeface="Calibri" pitchFamily="34" charset="-122"/>
                <a:cs typeface="Calibri" pitchFamily="34" charset="-120"/>
              </a:rPr>
              <a:t>How would you teach it?</a:t>
            </a:r>
            <a:endParaRPr lang="en-US" sz="165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Which is more useful for a beginner: one hundred words, or ten sentence patterns? Why?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you can actually say with each.</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5 quiz — Part 1 · Word order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Which sentence is correct?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She English studies.     b) She studies English.     c) Studies she English.</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Rearrange:  water · drinks · my brother</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full sentence.</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Correct this: “We every day English study.”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full sentence.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What are the three parts of a simple English sentence, in order?</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the three words.</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5 quiz — Part 2 · Pronouns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Complete: “I know ___.”  (Dawit)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he     b) him     c) his</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Complete: “___ are students.”  (Sara and I)</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They     b) We     c) You</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Correct this: “She likes I.”</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Which pronoun replaces “my bag”?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he     b) she     c) it</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5 quiz — Part 3 · Can and cannot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He can swims.     b) He can swim.     c) He cans swim.</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Make it negative: “I can drive.”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Make it a question: “You can speak English.”</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Write one true sentence about something you cannot do.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00" b="1" dirty="0">
                <a:solidFill>
                  <a:srgbClr val="12211B"/>
                </a:solidFill>
                <a:latin typeface="Calibri" pitchFamily="34" charset="0"/>
                <a:ea typeface="Calibri" pitchFamily="34" charset="-122"/>
                <a:cs typeface="Calibri" pitchFamily="34" charset="-120"/>
              </a:rPr>
              <a:t>Module 5 quiz — Part 4 · Joining and listening</a:t>
            </a:r>
            <a:endParaRPr lang="en-US" sz="37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Which word joins two DIFFERENT ideas?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and     b) but     c) to</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Join these: “I like coffee.” “I do not like tea.”</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One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Listen: write the subject, the verb and the object.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columns.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Listen: what can the speaker not do?</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5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an SVO sentence about what you eat.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order.</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a sentence with an object pronoun.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me, him, her, us or them.</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a sentence about a family member with “he” or “she”.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verb too.</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say five sentences about your day, all in the correct order.</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which sentence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She studies English.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Subject, verb, object. Option a) is first-language order and option c) is question order.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water · drinks · my brother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My brother drinks water.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subject is two words. Ask the three questions: who, what do they do, what to.</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correct “We every day English study.”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We study English every 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comes second and the time expression goes at the end, after the object.</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the three parts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Subject · Verb · Object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order never changes in an English statement. It is the rule the whole module is built on.</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“I know ___.” (Dawit)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him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pronoun comes after the verb, so it must be the object form. “His” is a possessive, not a pronoun here.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“___ are students.” (Sara and I)</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We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group includes yourself, so it is “we”. Learners often say “they”, forgetting they are in the group.</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correct “She likes I.”</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likes 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After the verb, use the object form. Before the verb, use the subject form.</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replaces “my bag”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it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used for a thing, an animal or the weather — anything that is not a person.</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He can swim.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“Can” never changes, and the verb after it never takes -s. Both other options add an -s where none belongs.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negative of “I can drive.”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cannot drive.  (or: I can't drive.)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Add “not” to “can”. The verb “drive” does not change.</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question from “You can speak English.”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Can you speak English?</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“Can” moves in front of the subject, exactly like “is” and “are” in Module 3.</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something you cannot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cannot swim.”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Any true sentence is correct if it has a subject, “cannot”, and a base verb with no -s.</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joins two different ideas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but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“And” joins similar ideas; “but” joins ideas that contrast with each other.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join the two sentences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like coffee, but I do not like tea.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halves stay complete, each with its own subject and verb. The comma before “but” is normal in writing.</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subject, verb, object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My sister / reads / a book   (“every evening” = when)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time expression is not the object. The object is what she reads.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what can the speaker not do?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cannot drive a car.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“She” because it is the sister, and no -s on “drive” after “cannot”.</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an SVO sentence about food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eat injera every 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the order first, then the capital letter and the full stop.</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with an object pronoun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know him.”  “She helps us.”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pronoun must come after the verb and must be from the object list.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about a family member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“She works in a hospital.”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Correct pronoun for the person, and the -s on the verb because it is one person.</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Five sentences in the correct order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word order above everything else. A listener should understand every sentence without effort.</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Out loud.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ten SVO sentences about your 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Out loud, standing up. Different verb each time.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Chant the pronouns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“I–me, he–him, she–her, we–us, they–them.” Five times.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three people you know</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he or she, and one object pronoun each time.</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things you can and cannot do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can ___. I cannot ___.”</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Make five long sentences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Join two ideas each time, with “and” or “but”.</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the two pronoun lists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Subject: I, you, he, she, it, we, they. Object: me, you, him, her, it, us, them. Then one example sentence for each pair.</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ten sentences about your life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Five SVO sentences · two with “can” · one with “cannot” · two joined with “and” or “but”. Check your nineteen points.</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60-second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Five SVO sentences · two about a family member · two “can” · one “cannot” · one long sentence with “but”.</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Pronoun lists — 5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Both lists complete (3) · seven correct example sentences (2).</a:t>
            </a:r>
            <a:endParaRPr lang="en-US" sz="17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Ten sentences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Ten written (2) · correct word order in every one (4) · correct pronouns (2) · no -s after can (1) · capitals and full stops (1).</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parts (3) · word order correct throughout (4) · correct he/she (2) · understandable to a stranger (1).</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Subject + Verb + Object</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The order never changes. Who does it, what they do, what they do it to.</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Subject pronouns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I · you · he · she · it · we · they — always before the verb.</a:t>
            </a:r>
            <a:endParaRPr lang="en-US" sz="16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Object pronouns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me · you · him · her · it · us · them — always after the verb.</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can and cannot</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One form for everybody, and no -s on the verb after it.</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and · but</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AND joins similar ideas. BUT joins different ones. Both halves stay complete.</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Ten useful verbs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eat · drink · go · work · study · read · write · like · have · want</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order</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SUBJECT  +  VERB  +  OBJECT  (+ where)  (+ when)</a:t>
            </a:r>
            <a:endParaRPr lang="en-US" sz="1600" dirty="0"/>
          </a:p>
          <a:p>
            <a:pPr indent="0" marL="0">
              <a:lnSpc>
                <a:spcPct val="112000"/>
              </a:lnSpc>
              <a:buNone/>
            </a:pPr>
            <a:endParaRPr lang="en-US" sz="1600" dirty="0"/>
          </a:p>
          <a:p>
            <a:pPr indent="0" marL="0">
              <a:lnSpc>
                <a:spcPct val="112000"/>
              </a:lnSpc>
              <a:buNone/>
            </a:pPr>
            <a:r>
              <a:rPr lang="en-US" sz="1600" dirty="0">
                <a:solidFill>
                  <a:srgbClr val="3A473F"/>
                </a:solidFill>
                <a:latin typeface="Calibri" pitchFamily="34" charset="0"/>
                <a:ea typeface="Calibri" pitchFamily="34" charset="-122"/>
                <a:cs typeface="Calibri" pitchFamily="34" charset="-120"/>
              </a:rPr>
              <a:t>I  eat  injera  at home  every day.</a:t>
            </a:r>
            <a:endParaRPr lang="en-US" sz="16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two pronoun lists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Before the verb:  I · you · he · she · it · we · they</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After the verb:  me · you · him · her · it · us · them</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can / cannot</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I can read.  ·  She can drive.  ·  They cannot come.</a:t>
            </a:r>
            <a:endParaRPr lang="en-US" sz="1450" dirty="0"/>
          </a:p>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Can you speak English?  →  Yes, I can. / No, I cannot.</a:t>
            </a:r>
            <a:endParaRPr lang="en-US" sz="1450" dirty="0"/>
          </a:p>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Never “can drives”.</a:t>
            </a:r>
            <a:endParaRPr lang="en-US" sz="145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five verbs</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eat  /iːt/  ·  work  /wɜːk/  ·  like  /laɪk/</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have  /hæv/  ·  go  /ɡəʊ/</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Remember: go TO a place.</a:t>
            </a:r>
            <a:endParaRPr lang="en-US" sz="16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can now build your own English sentences — not just repeat the ones you learned.</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750" dirty="0">
                <a:solidFill>
                  <a:srgbClr val="B9CFC1"/>
                </a:solidFill>
                <a:latin typeface="Calibri" pitchFamily="34" charset="0"/>
                <a:ea typeface="Calibri" pitchFamily="34" charset="-122"/>
                <a:cs typeface="Calibri" pitchFamily="34" charset="-120"/>
              </a:rPr>
              <a:t>Subject, verb, object. Two sets of pronouns. Can and cannot. And two ways to join ideas.</a:t>
            </a:r>
            <a:endParaRPr lang="en-US" sz="1750" dirty="0"/>
          </a:p>
          <a:p>
            <a:pPr indent="0" marL="0">
              <a:lnSpc>
                <a:spcPct val="120000"/>
              </a:lnSpc>
              <a:buNone/>
            </a:pPr>
            <a:r>
              <a:rPr lang="en-US" sz="1750" dirty="0">
                <a:solidFill>
                  <a:srgbClr val="B9CFC1"/>
                </a:solidFill>
                <a:latin typeface="Calibri" pitchFamily="34" charset="0"/>
                <a:ea typeface="Calibri" pitchFamily="34" charset="-122"/>
                <a:cs typeface="Calibri" pitchFamily="34" charset="-120"/>
              </a:rPr>
              <a:t>That is the machinery of the language. Everything in Level 2 is built on top of it.</a:t>
            </a:r>
            <a:endParaRPr lang="en-US" sz="17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6</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First Conversations &amp; Review</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Put all five modules together and complete Level 1</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1 · Beginner English · Module 5 — Simple Sentences</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1 · Module 5 — Simple Sentences</dc:title>
  <dc:subject>English course for Ethiopian learners — Level 1 Beginner</dc:subject>
  <dc:creator>English Learning Platform</dc:creator>
  <cp:lastModifiedBy>English Learning Platform</cp:lastModifiedBy>
  <cp:revision>1</cp:revision>
  <dcterms:created xsi:type="dcterms:W3CDTF">2026-07-27T18:38:33Z</dcterms:created>
  <dcterms:modified xsi:type="dcterms:W3CDTF">2026-07-27T18:38:33Z</dcterms:modified>
</cp:coreProperties>
</file>