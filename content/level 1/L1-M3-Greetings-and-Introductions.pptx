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HOW TO TEACH: Open by shaking one learner's hand and saying “Good morning. My name is ___. What is your name?” Wait for the answer. Then say: “That is this module. By Friday everyone in this room will do that without thinking.”
TIP: This is the module learners tell their families about. It is the first time English becomes a social act rather than a school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Read each objective and ask “Can you do this now?” Objective 5 is the grammar spine of the module — say that it is the verb they will use more than any other in English.
TIP: Return to this slide at the end of the module. Ask the same question. The change is the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Task 1 matters: in Amharic, greetings change for men and women and for age. Learners will notice this, which sets up the useful discovery that English greetings do not change at all.
COMMON MISTAKES: Correct nothing in the warm-up.
TIP: Write the greetings learners already know on the board and leave them there. You will tick them off as the module covers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Say this clearly — it is genuinely good news and it removes a fear. Learners coming from Amharic expect to choose between forms and worry about choosing wrongly. Tell them the choice does not exist.
COMMON MISTAKES: The one thing that does change is formality of the WHOLE phrase, not the word: “Hi” to a friend, “Good morning” to a manager. Mention it now, teach it on slide 7.
TIP: Demonstrate: greet a male learner and a female learner with exactly the same words. Seeing it is more convincing than being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Draw a clock or a timeline on the board and mark the three zones. Point at a zone and have the class say the greeting. Then say a time and ask for the greeting.
COMMON MISTAKES: “Good night” used as a greeting is the classic error — learners arrive at an evening class and say “Good night” to the teacher. Teach the pair together and drill the difference.
EXTRA EXAMPLES: Times to drill: 7 a.m., 11 a.m., 2 p.m., 5 p.m., 8 p.m., 11 p.m.
TIP: This module joins directly to Module 2. Use English clock times when you drill, and remind learners which clock you mean.
CLASSROOM ACTIVITY: Time and greet: teacher calls a time, learners greet their partner with the correct greeting. Twelve rounds,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Set up two situations physically: greet a learner as a friend, then greet the same learner as a job interviewer. Same person, different words. The contrast makes register visible without any explanation.
COMMON MISTAKES: Learners often use “Hi” with everyone because it is short and easy. In a job interview that costs them. Give the safe default rule and repeat it.
EXTRA EXAMPLES: Situations to sort: your brother · your teacher · a shopkeeper · a bank manager · a classmate · a hotel guest.
TIP: The safe-default rule — “when unsure, be formal” — is worth more than any list. Learners remember one rule; they forget ten examples.
CLASSROOM ACTIVITY: Formal or informal: teacher names a person; learners say the right greeting. Do it fast, twelve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Model the full three-part exchange yourself with a learner: greeting, answer, ask back. Then have the class do it in a chain around the room so everyone both answers and asks.
COMMON MISTAKES: Learners answer and stop. The conversation dies and they conclude their English failed. Teach “And you?” as part of the answer, not as a separate skill — say it in the same breath.
EXTRA EXAMPLES: “I am fine” is safe and always correct. “Not bad” and “I am tired” are natural too but keep them for later.
TIP: Tell learners the truth about this exchange: it is a ritual, not a real enquiry. Nobody expects a real answer about your health. Knowing that removes a lot of anxiety.
CLASSROOM ACTIVITY: Greeting chain: learner 1 greets learner 2, who answers and greets learner 3, and so on around the whole class. Everyone speaks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Say all four about yourself. Then have the class say all four in chorus, replacing your details with the word “blank”. Then individuals fill in their own details. Model, chorus, individual — always in that order.
COMMON MISTAKES: The article in step 4 is dropped constantly: “I am student.” It is transfer error S3 — Amharic has no equivalent. Correct it every time from now on.
EXTRA EXAMPLES: Jobs to teach alongside: student, teacher, farmer, driver, nurse, trader, engineer.
TIP: Memorising the four-sentence chunk gives beginners something to fall back on when they panic. Chunks are how fluency starts — do not skip the by-heart step.
CLASSROOM ACTIVITY: Around the class, everyone gives all four sentences. Time it. Then do it again and beat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Drill the question and the answer as a pair, never separately. A learner who can only answer cannot start a conversation; a learner who can only ask cannot continue one.
COMMON MISTAKES: “How old are you?” is answered by translation as “I have twenty years”. English uses the verb “to be” for age — say “I AM twenty years old” with emphasis on “am”.
EXTRA EXAMPLES: “What do you do?” contains “do” twice and is grammatically complex. Teach it as one fixed phrase; the grammar comes in Level 2.
TIP: Write these five questions on a card for every learner. They are the entire content of a first conversation in any language.
CLASSROOM ACTIVITY: Interview: every learner asks three classmates all five questions and writes the answers. Then reports one classmate to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Physically introduce two learners to the class, using “this is”, then “he is” or “she is”. Then have learners introduce their neighbour. Doing it with real people fixes the pronoun far better than a table does.
COMMON MISTAKES: He/she confusion is transfer error S5 and it persists into Level 3 if it is not caught here. Correct it every single time, immediately, and name the cause: “In Amharic the verb tells us; in English the pronoun tells us.”
EXTRA EXAMPLES: Practise with family members: my mother — she; my brother — he; my parents — they.
TIP: Point at a man and say “he”, point at a woman and say “she”, twenty times, fast. This drill feels childish for about ten seconds and then it works.
CLASSROOM ACTIVITY: Introduce your neighbour: each learner introduces the person beside them to the class in two sentences. Every learner is both introducer and introduced.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Say it with exaggerated stress on the second syllable, twice. Class repeats three times, then five individuals alone.
COMMON MISTAKES: Stress on the first syllable makes it sound like a different word to a listener. Clap the stress: he-CLAP.
EXTRA EXAMPLES: Hi (informal) · Hello (neutral) · Good morning (formal). Three levels of the same act.
TIP: Learners already know this word. Use it to teach the idea of word stress, which is new.
CLASSROOM ACTIVITY: Everyone greets three people in the room with “Hello” and the correct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Teach the word inside its two sentences immediately — “My name is…” and “What is your name?” The word alone is almost useless; the two sentences are the whole first conversation.
COMMON MISTAKES: Dropping “is” is transfer error S2 and it is the grammar focus of this module. Correct it here, then teach the rule on slide 16.
EXTRA EXAMPLES: first name · last name · full name — useful for forms at a bank or a clinic.
TIP: Ask five learners “What is your name?” and require the full sentence in reply. Do it again tomorrow.
CLASSROOM ACTIVITY: Name badges: learners write their name and one learner reads out three names from the badges.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Build the cluster: /f/ … /r/ … fr … friend. Forwards only. Then use it in the introduction sentence from slide 10.
COMMON MISTAKES: An inserted vowel — “firend” — is the same pattern as “isukul” in Module 1. Drill the cluster alone first.
EXTRA EXAMPLES: Other fr- and gr- clusters: from, free, Friday, green, great.
TIP: “Friend” is the word that turns an introduction into a social act. Pair it with “this is” every time.
CLASSROOM ACTIVITY: Learners introduce their neighbour as their friend, using both new words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Cluster first: /s/ /t/ joined, then st-udent. Then the article: hold up one finger and say “A student” to make the article visible.
COMMON MISTAKES: Missing article is transfer error S3 and it is the single most frequent error in Level 1 speech. It needs correcting hundreds of times, starting now.
EXTRA EXAMPLES: Other jobs with the article: a teacher · a nurse · a driver · a farmer · an engineer (note “an” before a vowel sound).
TIP: Everyone in the room is a student, so this word is used more than any other job word in the course. Get it right now.
CLASSROOM ACTIVITY: Chain: “I am a student. She is a student. He is a student.” Around the class, changing the pronoun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Teach the family together: Goodbye · Bye · See you · See you tomorrow · Have a nice day. Then sort them into formal and informal on the board.
COMMON MISTAKES: The good evening / good night confusion returns here. Test it: “You arrive at class at 7 p.m. What do you say?”
EXTRA EXAMPLES: See you later · See you on Monday · Have a good weekend.
TIP: End every lesson from now on with the class saying goodbye in English. Ritual repetition costs no lesson time at all.
CLASSROOM ACTIVITY: Leaving line: learners form a line and say goodbye to each person as they pass. Everyone says it ten times in one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This is the grammar spine of the module.
HOW TO TEACH: Chant it: “I am, you are, he is, she is, it is, we are, they are.” Three times in chorus, then individuals. It is a rhythm as much as a rule.
COMMON MISTAKES: Dropping the verb entirely — “He teacher”, “I from Gondar” — is transfer error S2. Name the cause out loud: “In Amharic you do not need a separate word here. In English you always do.” Adults fix this much faster when they know why.
EXTRA EXAMPLES: Point at people and objects: “He is a student.” “She is my friend.” “It is a pen.” Twenty repetitions with real referents.
TIP: Teach the short forms now, not later. Learners who only know “I am” cannot understand natural speech, where “I'm” is used almost always.
CLASSROOM ACTIVITY: Am/is/are race: teacher says a subject, learner says the form. “She” → “is”. Thirty rounds in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Write “You are” on two cards and physically swap them to make “Are you”. Learners see the operation instead of memorising a rule. Do it five times with different subjects.
COMMON MISTAKES: This is transfer error S4, the same problem that later produces “Where you are going?”. Fixing it here saves work in Level 2.
EXTRA EXAMPLES: Short answers: “Yes, I am.” / “No, I am not.” / “Yes, she is.” / “No, he is not.” Teach these with the questions — a question with no answer pattern is only half a skill.
TIP: The wrong column is not wrong in speech if the voice rises — but it is wrong in writing and in an exam. Say that honestly rather than pretending learners will never hear it.
CLASSROOM ACTIVITY: Card swap at the board: one learner writes a statement, another physically rearranges it into 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Hold up objects belonging to learners and say who owns them: “This is her pen.” “This is his book.” Real objects make ownership concrete.
COMMON MISTAKES: Learners match the word to the object rather than the owner, producing “his bag” for a woman's bag. Point at the person, not the thing, every time you correct.
EXTRA EXAMPLES: Combine with the module's vocabulary: “My friend is a student.” “Her name is Hana.” “His friend is from Adama.”
TIP: This pairs directly with he/she. Teach and test them together — a learner who confuses he and she will also confuse his and her.
CLASSROOM ACTIVITY: Lost property: collect five objects from learners, hold each up and ask “Whose is this?” The class answers “It is his pen” or “It is her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Show it as a sandwich: person + am/is/are + NOT + the rest. Write it on the board in that order with boxes and fill it five times.
COMMON MISTAKES: Dropping the verb and keeping only “not” — “I not a teacher” — is the same S2 error as before. Every negative sentence is another chance to drill the verb “to be”.
EXTRA EXAMPLES: True sentences about the class: “I am not a nurse.” “We are not in Addis Ababa.” “Today is not Sunday.”
TIP: Ask learners to say two true negative sentences about themselves. True content is remembered; invented content is not.
CLASSROOM ACTIVITY: Two truths and a lie: each learner says three sentences about themselves, one false. The class guesses which, using “You are not a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Take each wrong sentence and ask the class to name every error before you fix it. Sentences 1 and 4 have two errors each — say so in advance.
COMMON MISTAKES: Learners find one error and stop. Tell them the number of errors in each sentence first.
EXTRA EXAMPLES: Two more for pairs: “i am student.” and “She is my friend?” said as a statement.
TIP: Add these four checks to the wall next to the ones from Modules 1 and 2. The list is now eleven points, and it covers everything a Level 1 learner writes.
CLASSROOM ACTIVITY: Error auction: teams bid on how many errors they can find in a set of four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Four steps in order: listen books closed, chorus repeat, pair reading, then perform with their own details. Step four is where the language becomes theirs.
COMMON MISTAKES: Watch for the dropped “am” in “I am from…” and for “Nice to meet you” answered without “too”.
EXTRA EXAMPLES: Note that Sara says “And you?” — point at it. It is the single move that keeps a first conversation alive.
TIP: Make the class learn this dialogue by heart. A memorised chunk is what a beginner falls back on when they panic, and it is the fastest route to sounding fluent in a first meeting.
CLASSROOM ACTIVITY: Mingle: everyone stands, meets five different people, and performs the whole dialogue with each. Five minutes, very noisy, extremely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After reading, ask learners to find the question and its short answer. “Yes, I am” is the pattern from Grammar Rule 2 appearing in real language — point at it so they see the rule working.
COMMON MISTAKES: Learners answer “Yes” alone. Insist on “Yes, I am” for now; it reinforces the verb “to be”.
EXTRA EXAMPLES: Swap the teacher for a manager, a nurse or a shopkeeper. The language does not change, which is the point of slide 4.
TIP: This dialogue is formal. Ask the class why Sara says “Good afternoon” and not “Hi”. They will get it, and the answer sticks better than being told.
CLASSROOM ACTIVITY: Three-person role play: groups of three perform the whole dialogue, then rotate roles so each learner plays all three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Drill all six in chorus, then in pairs, then individually. Insist on the complete phrase every time.
COMMON MISTAKES: Half-phrases: “Nice meet you”, “Where you from”. Both are understood but neither is correct. Fix them now while there are only six phrases to manage.
EXTRA EXAMPLES: Add “Welcome” and “Have a nice day” if the class is strong.
TIP: Print these six and put them on the wall beside the six from Module 1 and the six from Module 2. Eighteen phrases now cover a real first conversation, a shop and a clinic.
CLASSROOM ACTIVITY: Phrase bingo: each learner takes three phrases and crosses them off as they use them naturally during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Three minutes to fill the gaps in writing, then three pairs perform before you reveal the answers.
COMMON MISTAKES: Gap 5 needs the short answer with the verb. Learners write “Yes” alone.
TIP: Have them perform it standing up and shaking hands. The physical action fixes the language better than reading seated.
CLASSROOM ACTIVITY: Do it again with the roles reversed, so both learners produce every line.
ANSWERS: 1 What is your name  ·  2 the learner's own name  ·  3 How are  ·  4 Where  ·  5 Yes, I am. Nice to meet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for all four rounds.
HOW TO TEACH: Announce each round change loudly. Keep strictly to two minutes. Walk and listen — note errors, correct at the end, do not interrupt.
COMMON MISTAKES: Do not let a confident learner speak for both. Give the quiet learner the first turn in the next round.
TIP: Round 4 is the one teachers skip when time is short, and it is the most valuable. Saying it to a new face is much closer to real life.
CLASSROOM ACTIVITY: After round 4, ask three learners to tell the class one thing about their partner. That turns the drill into real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Everyone stands for part C. Standing changes the voice — learners speak louder and more confidently on their feet than seated.
COMMON MISTAKES: The article in the job sentence — “I am student” instead of “I am a student”. Correct every occurrence you hear.
EXTRA EXAMPLES: For learners who are not students: I am a driver · I am a farmer · I am a trader · I am a nurse · I work at home.
TIP: Give the class a target: everyone must complete all four sentences without stopping. Fluency here means finishing, not being perfect.
CLASSROOM ACTIVITY: Speed introductions: 30 seconds per pair, then everyone rotates. Six rotations in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Three classmates each, all five questions. Learners write the answers, which gives you a written record to check and gives them something to report from.
COMMON MISTAKES: Question 3 answered as “I have twenty years”. English uses “to be” for age. Correct it in the moment.
EXTRA EXAMPLES: Add “What is your phone number?” from Module 2 if the class is fast.
TIP: This activity recycles Modules 1 and 2 inside Module 3 language. That is deliberate — say so, so learners notice their own progress.
CLASSROOM ACTIVITY: Report back: three learners each report one classmate to the room, using “His name is…” and “She is from…”. That drills the pronouns from slide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Model the breath: hold your hand in front of your mouth and say “hello” so learners see the puff. Then have them test their own hand.
COMMON MISTAKES: Dropping /h/ turns “his” into “is” and “he” into “e”. Because both results are real English words, the listener does not notice an error — they simply understand the wrong thing. That makes it worth drilling.
EXTRA EXAMPLES: his–is, hair–air, hand–and, hat–at, heat–eat.
TIP: This module is full of /h/ words: hello, how, he, her, his, Hana. It is the natural place to drill the sound.
CLASSROOM ACTIVITY: Hand test in pairs: learner A says a word from either column, learner B holds a hand up and says which column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Rearranging the furniture — a desk for the head teacher, chairs for the meeting — produces far more language than the same script read at a desk. It takes ninety seconds and is worth it.
COMMON MISTAKES: Learners use the same register for all four situations. Stop after situation 2 and ask what changed between them.
EXTRA EXAMPLES: Situation 4 is the one adults find most useful. Give it extra time if your class is working or job-seeking.
TIP: Give each pair one thing to listen for in the other pair's performance: the verb “to be”, the pronoun, or the greeting. Peer listening with a purpose is far more useful than watching.
CLASSROOM ACTIVITY: Perform two of the four to the whole class and let the class name one thing that was done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including listening back.
HOW TO TEACH: Record on a phone, or perform live to a partner who ticks the five steps. Everyone does it — forty-five seconds is short enough that nobody can refuse.
COMMON MISTAKES: Step 3 is where he/she errors appear. That is deliberate — it is what you are assessing.
TIP: Have them listen back once before submitting. Most learners hear their own missing “am” immediately.
CLASSROOM ACTIVITY: Keep every recording. Play it beside the Module 1 recording at the end of Level 1.
ANSWERS: SUCCESS CRITERIA: all five steps present · the verb am/is/are used correctly in every sentence · the pronoun matches the person in step 3 · a listener who does not know them understands every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Read each speaker twice with a pause between. Read at natural speed — this is comprehension practice, not dictation.
COMMON MISTAKES: The he/she task at the end is the real assessment. Learners must infer gender from the name, which is exactly what they will do in real life.
EXTRA EXAMPLES: Add a fourth speaker if the class is strong: “Good evening. My name is Tolosa. I am from Jimma. I am a driver.”
ANSWERS: 1 Hana · Gondar · nurse · she  ·  2 Abel · Merkato · trader · he  ·  3 Mimi · Adama · student · she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If learners wrote the jobs with a capital letter, that is the over-application error from Module 1. Point at the difference: names take capitals, ordinary words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Read the whole conversation twice, changing your voice for the two speakers. Then read the questions aloud before learners write.
COMMON MISTAKES: Question 2 requires hearing the negative “No, I am not”. Learners who miss the “not” answer yes — replay just that line if many get it wrong.
EXTRA EXAMPLES: Ask a sixth question: “Which greeting do they use, and why?” The answer is “Good afternoon”, because it is after midday.
ANSWERS: 1 Afternoon.  2 No, he is not.  3 He is a bank teller.  4 He is from Dire Dawa.  5 She is from Bahir 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Questions 2 and 5 are the diagnostic ones. If learners used the wrong pronoun, go back to slide 10 and drill he/she with real people before the practice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Read each habit and ask which one learners already do. Habit 3 is the one nobody does and everybody should — model it twice.
COMMON MISTAKES: Learners nod without hearing the name and then cannot use it. Say plainly that asking for a name twice is normal in every language.
TIP: Habit 3 has a double benefit: it is polite AND it is memory practice. Point that out.
CLASSROOM ACTIVITY: Name memory: go round the class, each learner says “Nice to meet you, [previous learner's name]” before giving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Teacher, chorus, individuals — always that order. Then the finding task, which turns reading into active noticing of the module's key grammar.
COMMON MISTAKES: The negative sentence “He is not a student” is where learners stumble. Have the class read that line twice.
EXTRA EXAMPLES: Ask learners to count: three “she” and three “he”. Counting forces careful reading.
TIP: Point at each word as the class reads. Beginners lose their place; your finger keeps everyone together.
CLASSROOM ACTIVITY: Learners write the same six lines about two people they know, changing every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Insist on full sentences with the correct pronoun. That is what is being assessed here, not the facts.
COMMON MISTAKES: Question 4 needs a negative answer. Learners say “No” alone; require “No, he is not.”
TIP: Books closed. If the text is visible, learners copy and no comprehension happens.
ANSWERS: 1 She is from Gondar. · 2 She is a nurse. · 3 He is from Addis Ababa. · 4 No, he is not. He is a trader. · 5 Hana is a nurse.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 5 is the interesting one: it is the only answer where a pronoun would be WRONG, because “she” would not tell you which of the two people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Teacher, chorus, individuals. Teach the four new words with gesture and example, not translation. “We” is best taught by pointing at yourself and a learner together.
COMMON MISTAKES: “We are” is the form learners meet least often and forget first. Drill it: point at yourself and two learners and say “We are students.”
EXTRA EXAMPLES: The six forms of “to be”: My name IS, I AM, I AM, She IS, She IS not, She IS, We ARE. Ask learners to count them.
TIP: This text uses “but” for the first time. Do not explain it — the meaning is clear from context, which is exactly how new function words should be met.
CLASSROOM ACTIVITY: Learners write six sentences about themselves and a classmate, using every form of “to be” at least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 4 is inference — “we” is never explained in the text, and learners must work out who it refers to. Give it extra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Write your own completed example on the board and leave it there. Beginners need a model in front of them; removing it does not build independence, it stops production.
COMMON MISTAKES: The missing “a” before the job, and the missing “am”. The checklist exists for exactly these two.
EXTRA EXAMPLES: Fast finishers add: “This is my friend ______. He is from ______.”
TIP: Collect these and keep them. Give them back at the end of Level 1 beside the new version.
CLASSROOM ACTIVITY: Learners swap papers and mark their partner's work against the five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Do item 1 together on the board, then let them work alone. Circulate and check as they write.
COMMON MISTAKES: Item 4 needs a capital A because the question word starts the sentence. Learners write it small.
TIP: Item 5 combines the verb with the negative. If learners can do this one, they have understood the whole rule.
ANSWERS: 1 am · 2 is · 3 are · 4 Are · 5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Do the first one together so the standard is clear, then let them work alone. Check pronouns and the verb as they write, not after.
COMMON MISTAKES: Item 5 is written as a statement by many learners. Remind them: the verb comes first in a question.
TIP: Correct only the verb “to be”, the pronouns, the capitals and the end marks. Correcting everything discourages beginners into silence.
ANSWERS: MODEL ANSWERS: 1 My name is Sara. · 2 I am from Bahir Dar. · 3 This is my friend Dawit. He is a student. · 4 I am not a teacher. · 5 Where are you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 5 is the diagnostic. A learner who wrote “Where you are from?” has the word-order error that will return in Level 2 — fix it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Read the four points, then have learners check their own writing from the previous slide against all four.
TIP: The wall now has eleven checks across three modules. Refer to them by number — it makes marking fast and makes feedback feel objective rather than personal.
CLASSROOM ACTIVITY: Deliberate error hunt: write four sentences on the board with exactly four errors, one of each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Answer alone, then compare in pairs before taking answers from the class.
TIP: Question 4 is the diagnostic. A learner choosing a) has the he/she problem and needs slide 10 again.
ANSWERS: 1 b · 2 c · 3 b · 4 b · 5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Items 1, 2 and 5 test the verb; item 3 tests “this”; item 4 tests the article. Do item 1 together, then leave them.
COMMON MISTAKES: Item 4 is the article. Learners leave it blank because Amharic has no equivalent word — remind them it is always needed before a job.
TIP: Item 3 needs a capital T because it starts the sentence. Check for it.
ANSWERS: 1 is · 2 am · 3 This · 4 a · 5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Three short tasks give learners three chances to succeed. Let them work in pairs.
TIP: Part 2 introduces “they” and “it” for the first time in this module. If learners manage it, they are ready for Module 5.
ANSWERS: Part 1: 1–c, 2–a, 3–d, 4–b.  ·  Part 2: 1–d, 2–a, 3–b, 4–c.  ·  Part 3: 1–b, 2–c, 3–a.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Let pairs work it out and then perform their version. Performing reveals the errors faster than checking on paper does.
COMMON MISTAKES: Learners often put e) before c). Point out that “And you?” must be answered before anyone says goodbye.
TIP: This exercise teaches conversation structure, not just vocabulary. Say that out loud — a conversation has an order, like a sentence.
CLASSROOM ACTIVITY: Cut the six lines into strips and have pairs arrange them physically on the desk.
ANSWERS: b → d → f → a → c →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Tell learners how many errors are in each sentence before they start. Sentences 1 and 3 have two each.
COMMON MISTAKES: Every one of these is a transfer error that will persist into Level 2 if not fixed here. Take the time.
TIP: Have learners count the errors before correcting. Counting forces careful reading.
ANSWERS: 1 I am a student. (missing verb + missing article) · 2 My sister, she is a nurse. (wrong pronoun) · 3 She is from Gondar. (two capitals) · 4 Are you a teacher? (word order) · 5 He is not from Adama. (missing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Correcting every false statement is what makes this teach rather than test. Do not accept a bare T or F.
TIP: Item 1 is the greeting error to watch. If several get it wrong, drill the arrive/leave difference again.
ANSWERS: 1 F — “Good night” is used when leaving · 2 T · 3 T · 4 F — “his” is for a man, “her” is for a woman · 5 T · 6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Every answer will be different. Personal answers are remembered; invented ones are not.
COMMON MISTAKES: Item 4 needs a short answer with the verb. “No” alone is not enough at this stage.
TIP: Item 5 is the one that shows whether the pronouns have landed. Read three of them aloud.
ANSWERS: 1 My name is ___. · 2 I am from ___. · 3 I am ___ years old. · 4 No, I am not. I am a student. (or Yes, I am.) · 5 e.g. This is my friend ___. He is from ___.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Give each partner a listening job: for task 1 they check the verb “to be” appears in every sentence; for task 3 they check the pronoun.
TIP: Task 3 is the assessment moment for he/she. Listen to as many as you can.
ANSWERS: SUCCESS CRITERIA: 1 four sentences, all with am · 2 five grammatically correct questions · 3 correct he or she · 4 the right greeting for the current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This is the bridge to the quiz. Let learners work in pairs and expect it to be genuinely hard. Discuss the reasoning, not just the answers.
TIP: Question 2 mixes three different error types in one sentence, which is much harder than one at a time. That is deliberate.
ANSWERS: 1 any correct six-line dialogue · 2 “Hello. I am Sara. He is my friend Dawit.” — capital H, capital I, “he” not “she” because Dawit is a man, capital D on Dawit, and the full stops were already right · 3 three correct sentences with matching pronouns · 4 “Is she a nurse?” and “Are they from Jimma?” · 5 They say “Good evening.” and you say “Good evening.” too — not “Good night”, which is for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Discussion, not writing.
HOW TO TEACH: Take answers orally. Accept Amharic for the reasoning at this level if a learner cannot yet express it in English — the thinking matters more than the language. Then give them the English phrase for what they said.
TIP: Question 3 asks learners to teach, which is the strongest test of understanding there is. Give it real time.
ANSWERS: 1 English always needs a separate verb (am/is/are) in this sentence; Amharic carries that meaning without a separate word, so the learner's ear does not miss it. 2 Without it the conversation stops after one exchange — the other person has nothing to answer. 3 Any clear explanation; the strongest points at the person and says English changes the pronoun for men and women, then drills five examples aloud. 4 Choose formal — nobody is ever offended by “Good morning”, but being too informal with a manager or a stranger can cost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“Good morning. This is my friend Yonas. He is from Dire Dawa. He is not a student — he is a bank teller.”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“Good morning. This is my friend Yonas. He is from Dire Dawa. He is not a student — he is a bank teller.”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“Good morning. This is my friend Yonas. He is from Dire Dawa. He is not a student — he is a bank teller.”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“Good morning. This is my friend Yonas. He is from Dire Dawa. He is not a student — he is a bank teller.”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“Good morning. This is my friend Yonas. He is from Dire Dawa. He is not a student — he is a bank teller.”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Q2, Q9 and Q11 are the diagnostic questions. Q2 shows whether the greeting trap has landed; Q9 and Q11 together show whether he/she is secure. If the class failed those, drill pronouns with real people before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Q2, Q9 and Q11 are the diagnostic questions. Q2 shows whether the greeting trap has landed; Q9 and Q11 together show whether he/she is secure. If the class failed those, drill pronouns with real people before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Q2, Q9 and Q11 are the diagnostic questions. Q2 shows whether the greeting trap has landed; Q9 and Q11 together show whether he/she is secure. If the class failed those, drill pronouns with real people before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Q2, Q9 and Q11 are the diagnostic questions. Q2 shows whether the greeting trap has landed; Q9 and Q11 together show whether he/she is secure. If the class failed those, drill pronouns with real people before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Q2, Q9 and Q11 are the diagnostic questions. Q2 shows whether the greeting trap has landed; Q9 and Q11 together show whether he/she is secure. If the class failed those, drill pronouns with real people before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Write it on the board as well as the slide and say the due date. Beginners forget verbal instructions.
TIP: Tuesday's chant is the most valuable. The verb “to be” has to become automatic, and chanting is how rhythm becomes memory.
CLASSROOM ACTIVITY: Ask learners to greet one classmate in English by message each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Show your own completed example of task 2. Task 3 is required — the recording is the main assessment of this module.
COMMON MISTAKES: Learners who cannot record must not be excluded. Offer the live option openly.
TIP: Reply to every recording personally, by voice, within two days. Listen specifically for the missing “am” and the pronouns.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Show this before learners do the homework. Learners who know what is measured produce better work.
COMMON MISTAKES: Mark only what has been taught in Modules 1 to 3.
TIP: Give the mark privately. Never read marks aloud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Go back to slide 2 and read the objectives again. Ask the same question you asked at the start: “Can you do this now?”
TIP: Ask each learner to name the one thing they found hardest. That list is your plan for the first ten minutes of Module 4.
CLASSROOM ACTIVITY: Quick-fire recap: point at each card and ask a different learner for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Tell learners to copy this slide into the back of their exercise book, or photograph it. This is the reference page for every conversation they will have.
TIP: Print it as an A4 poster beside the Module 1 and 2 posters.
CLASSROOM ACTIVITY: Cover each box in turn and ask the class to say what was in it. Recall, not recognition.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Name the achievement specifically: they can meet a stranger and keep a conversation going. That is the skill people actually mean when they say they “speak English”.
TIP: Set the challenge: everyone introduces themselves to one English speaker, or one person they have not met, before the next lesson — and reports back. Then actually ask about it.
CLASSROOM ACTIVITY: Ask every learner to introduce themselves to the person beside them one last time before leaving. Everyone ends the module speaking English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1</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1</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Beginner</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Pre-A1 → A1</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3 OF 6</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400" b="1" dirty="0">
                <a:solidFill>
                  <a:srgbClr val="FFFFFF"/>
                </a:solidFill>
                <a:latin typeface="Calibri" pitchFamily="34" charset="0"/>
                <a:ea typeface="Calibri" pitchFamily="34" charset="-122"/>
                <a:cs typeface="Calibri" pitchFamily="34" charset="-120"/>
              </a:rPr>
              <a:t>Greetings &amp; Introductions</a:t>
            </a:r>
            <a:endParaRPr lang="en-US" sz="440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500" dirty="0">
                <a:solidFill>
                  <a:srgbClr val="B9CFC1"/>
                </a:solidFill>
                <a:latin typeface="Calibri" pitchFamily="34" charset="0"/>
                <a:ea typeface="Calibri" pitchFamily="34" charset="-122"/>
                <a:cs typeface="Calibri" pitchFamily="34" charset="-120"/>
              </a:rPr>
              <a:t>Meet someone, say who you are, and keep the conversation going. The first time you will hold a real exchange entirely in English.</a:t>
            </a:r>
            <a:endParaRPr lang="en-US" sz="150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5</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NEW WORDS</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 all of them social, all of them useful today.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Greet someone correctly for the time of day</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Good morning · good afternoon · good evening — and know which one to use.</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Introduce yourself</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“My name is Sara. I am from Bahir Dar. I am a student.”</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Ask someone about themselves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“What is your name?”  “Where are you from?”  “How are you?”</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Introduce another person</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“This is my friend Dawit. He is from Addis Ababa.”</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Use the verb “to be” correctly</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I am · you are · he is · she is · we are · they are. The most used verb in English.</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how do you greet people?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wrong answers. Nobody is corrected here.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In your language</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How do you greet a friend in the morning? And how do you greet an older person? Are they different?</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English you know</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Say any English greeting you already know. Hello? Hi? Good morning? Say it out loud.</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Turn and greet</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Turn to the person beside you. Greet them any way you can. Shake hands.</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In English, one greeting works for everyone.</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In Amharic you change the greeting for a man, a woman, an older person, a group.</a:t>
            </a:r>
            <a:endParaRPr lang="en-US" sz="1500" dirty="0"/>
          </a:p>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In English you do not. “Good morning” is correct for your friend, your teacher, your manager and a stranger — all the same.</a:t>
            </a:r>
            <a:endParaRPr lang="en-US" sz="15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No gender forms</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No age forms</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One word: “you” for everyone</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Greetings by time of day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Three greetings, one goodbye. Choose by the clock.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926080"/>
                <a:gridCol w="2926080"/>
                <a:gridCol w="5242255"/>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Time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You say</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Notes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566928">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Before 12:00</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Good morning.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From waking up until midday.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566928">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12:00 – about 18:00</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Good afternoon.</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The whole afternoon, until it gets dark.</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566928">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After about 18:00</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Good evening.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 greeting when you ARRIVE in the evening.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566928">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When you LEAVE at night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Good night.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Not a greeting. Only for leaving or going to bed.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Careful:  “Good evening” = hello.   “Good night” = goodbye.   They sound similar but they do opposite jobs.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100" b="1" dirty="0">
                <a:solidFill>
                  <a:srgbClr val="12211B"/>
                </a:solidFill>
                <a:latin typeface="Calibri" pitchFamily="34" charset="0"/>
                <a:ea typeface="Calibri" pitchFamily="34" charset="-122"/>
                <a:cs typeface="Calibri" pitchFamily="34" charset="-120"/>
              </a:rPr>
              <a:t>Formal and informal — same meaning, different situation</a:t>
            </a:r>
            <a:endParaRPr lang="en-US" sz="31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Both are correct English. The difference is who you are speaking to.</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Informal — friends, family</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Hi!</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Hello.</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are you?</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See you!</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Bye.</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Formal — teacher, manager, stranger</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Good morning.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Good afternoon.</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are you today?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Goodbye.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Have a nice day.</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When you are not sure which to use, choose the formal one. Nobody is ever offended by “Good morning”.</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“How are you?” — and how to answer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In English this is a greeting, not a real question about your health.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291840"/>
                <a:gridCol w="3840480"/>
                <a:gridCol w="3962095"/>
              </a:tblGrid>
              <a:tr h="51206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They say</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You answer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Then you ask back</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51206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How are 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am fine, thank 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And 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51206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How are 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Very well, thank 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How are 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51206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How are you today?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am good, thank 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And 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51206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Are you well?</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Yes, I am fine.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And 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important part is the LAST column. Always ask back. A conversation that only goes one way stops immediately.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Introducing yourself — four sentences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This is the model. Learn it by heart, then change the words.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sp>
        <p:nvSpPr>
          <p:cNvPr id="11" name="Shape 7"/>
          <p:cNvSpPr/>
          <p:nvPr/>
        </p:nvSpPr>
        <p:spPr>
          <a:xfrm>
            <a:off x="548640" y="1883664"/>
            <a:ext cx="2622728" cy="4059936"/>
          </a:xfrm>
          <a:prstGeom prst="roundRect">
            <a:avLst>
              <a:gd name="adj" fmla="val 4881"/>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2183816" cy="3054096"/>
          </a:xfrm>
          <a:prstGeom prst="rect">
            <a:avLst/>
          </a:prstGeom>
          <a:noFill/>
          <a:ln/>
        </p:spPr>
        <p:txBody>
          <a:bodyPr wrap="square" lIns="0" tIns="0" rIns="0" bIns="0" rtlCol="0" anchor="t"/>
          <a:lstStyle/>
          <a:p>
            <a:pPr indent="0" marL="0">
              <a:lnSpc>
                <a:spcPct val="102000"/>
              </a:lnSpc>
              <a:buNone/>
            </a:pPr>
            <a:r>
              <a:rPr lang="en-US" sz="2200" b="1" dirty="0">
                <a:solidFill>
                  <a:srgbClr val="12211B"/>
                </a:solidFill>
                <a:latin typeface="Calibri" pitchFamily="34" charset="0"/>
                <a:ea typeface="Calibri" pitchFamily="34" charset="-122"/>
                <a:cs typeface="Calibri" pitchFamily="34" charset="-120"/>
              </a:rPr>
              <a:t>1 · Greet</a:t>
            </a:r>
            <a:endParaRPr lang="en-US" sz="22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“Good morning.”</a:t>
            </a:r>
            <a:endParaRPr lang="en-US" sz="2200" dirty="0"/>
          </a:p>
          <a:p>
            <a:pPr indent="0" marL="0">
              <a:lnSpc>
                <a:spcPct val="102000"/>
              </a:lnSpc>
              <a:spcBef>
                <a:spcPts val="400"/>
              </a:spcBef>
              <a:buNone/>
            </a:pPr>
            <a:endParaRPr lang="en-US" sz="22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Choose by the time of day.</a:t>
            </a:r>
            <a:endParaRPr lang="en-US" sz="2200" dirty="0"/>
          </a:p>
        </p:txBody>
      </p:sp>
      <p:sp>
        <p:nvSpPr>
          <p:cNvPr id="15" name="Shape 10"/>
          <p:cNvSpPr/>
          <p:nvPr/>
        </p:nvSpPr>
        <p:spPr>
          <a:xfrm>
            <a:off x="3372536" y="1883664"/>
            <a:ext cx="2622728" cy="4059936"/>
          </a:xfrm>
          <a:prstGeom prst="roundRect">
            <a:avLst>
              <a:gd name="adj" fmla="val 4881"/>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6" name="Shape 11"/>
          <p:cNvSpPr/>
          <p:nvPr/>
        </p:nvSpPr>
        <p:spPr>
          <a:xfrm>
            <a:off x="3591992"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3706292" y="2217420"/>
            <a:ext cx="228600" cy="228600"/>
          </a:xfrm>
          <a:prstGeom prst="rect">
            <a:avLst/>
          </a:prstGeom>
        </p:spPr>
      </p:pic>
      <p:sp>
        <p:nvSpPr>
          <p:cNvPr id="18" name="Text 12"/>
          <p:cNvSpPr/>
          <p:nvPr/>
        </p:nvSpPr>
        <p:spPr>
          <a:xfrm>
            <a:off x="3591992" y="2706624"/>
            <a:ext cx="2183816" cy="3054096"/>
          </a:xfrm>
          <a:prstGeom prst="rect">
            <a:avLst/>
          </a:prstGeom>
          <a:noFill/>
          <a:ln/>
        </p:spPr>
        <p:txBody>
          <a:bodyPr wrap="square" lIns="0" tIns="0" rIns="0" bIns="0" rtlCol="0" anchor="t"/>
          <a:lstStyle/>
          <a:p>
            <a:pPr indent="0" marL="0">
              <a:lnSpc>
                <a:spcPct val="102000"/>
              </a:lnSpc>
              <a:buNone/>
            </a:pPr>
            <a:r>
              <a:rPr lang="en-US" sz="2200" b="1" dirty="0">
                <a:solidFill>
                  <a:srgbClr val="12211B"/>
                </a:solidFill>
                <a:latin typeface="Calibri" pitchFamily="34" charset="0"/>
                <a:ea typeface="Calibri" pitchFamily="34" charset="-122"/>
                <a:cs typeface="Calibri" pitchFamily="34" charset="-120"/>
              </a:rPr>
              <a:t>2 · Your name</a:t>
            </a:r>
            <a:endParaRPr lang="en-US" sz="22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“My name is Sara.”</a:t>
            </a:r>
            <a:endParaRPr lang="en-US" sz="2200" dirty="0"/>
          </a:p>
          <a:p>
            <a:pPr indent="0" marL="0">
              <a:lnSpc>
                <a:spcPct val="102000"/>
              </a:lnSpc>
              <a:spcBef>
                <a:spcPts val="400"/>
              </a:spcBef>
              <a:buNone/>
            </a:pPr>
            <a:endParaRPr lang="en-US" sz="22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Or: “I am Sara.” Both correct.</a:t>
            </a:r>
            <a:endParaRPr lang="en-US" sz="2200" dirty="0"/>
          </a:p>
        </p:txBody>
      </p:sp>
      <p:sp>
        <p:nvSpPr>
          <p:cNvPr id="19" name="Shape 13"/>
          <p:cNvSpPr/>
          <p:nvPr/>
        </p:nvSpPr>
        <p:spPr>
          <a:xfrm>
            <a:off x="6196432" y="1883664"/>
            <a:ext cx="2622728" cy="4059936"/>
          </a:xfrm>
          <a:prstGeom prst="roundRect">
            <a:avLst>
              <a:gd name="adj" fmla="val 4881"/>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20" name="Shape 14"/>
          <p:cNvSpPr/>
          <p:nvPr/>
        </p:nvSpPr>
        <p:spPr>
          <a:xfrm>
            <a:off x="6415888"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6530188" y="2217420"/>
            <a:ext cx="228600" cy="228600"/>
          </a:xfrm>
          <a:prstGeom prst="rect">
            <a:avLst/>
          </a:prstGeom>
        </p:spPr>
      </p:pic>
      <p:sp>
        <p:nvSpPr>
          <p:cNvPr id="22" name="Text 15"/>
          <p:cNvSpPr/>
          <p:nvPr/>
        </p:nvSpPr>
        <p:spPr>
          <a:xfrm>
            <a:off x="6415888" y="2706624"/>
            <a:ext cx="2183816" cy="3054096"/>
          </a:xfrm>
          <a:prstGeom prst="rect">
            <a:avLst/>
          </a:prstGeom>
          <a:noFill/>
          <a:ln/>
        </p:spPr>
        <p:txBody>
          <a:bodyPr wrap="square" lIns="0" tIns="0" rIns="0" bIns="0" rtlCol="0" anchor="t"/>
          <a:lstStyle/>
          <a:p>
            <a:pPr indent="0" marL="0">
              <a:lnSpc>
                <a:spcPct val="102000"/>
              </a:lnSpc>
              <a:buNone/>
            </a:pPr>
            <a:r>
              <a:rPr lang="en-US" sz="2200" b="1" dirty="0">
                <a:solidFill>
                  <a:srgbClr val="12211B"/>
                </a:solidFill>
                <a:latin typeface="Calibri" pitchFamily="34" charset="0"/>
                <a:ea typeface="Calibri" pitchFamily="34" charset="-122"/>
                <a:cs typeface="Calibri" pitchFamily="34" charset="-120"/>
              </a:rPr>
              <a:t>3 · Where you are from</a:t>
            </a:r>
            <a:endParaRPr lang="en-US" sz="22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“I am from Bahir Dar.”</a:t>
            </a:r>
            <a:endParaRPr lang="en-US" sz="2200" dirty="0"/>
          </a:p>
          <a:p>
            <a:pPr indent="0" marL="0">
              <a:lnSpc>
                <a:spcPct val="102000"/>
              </a:lnSpc>
              <a:spcBef>
                <a:spcPts val="400"/>
              </a:spcBef>
              <a:buNone/>
            </a:pPr>
            <a:endParaRPr lang="en-US" sz="22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Your town, or your country.</a:t>
            </a:r>
            <a:endParaRPr lang="en-US" sz="2200" dirty="0"/>
          </a:p>
        </p:txBody>
      </p:sp>
      <p:sp>
        <p:nvSpPr>
          <p:cNvPr id="23" name="Shape 16"/>
          <p:cNvSpPr/>
          <p:nvPr/>
        </p:nvSpPr>
        <p:spPr>
          <a:xfrm>
            <a:off x="9020327" y="1883664"/>
            <a:ext cx="2622728" cy="4059936"/>
          </a:xfrm>
          <a:prstGeom prst="roundRect">
            <a:avLst>
              <a:gd name="adj" fmla="val 4881"/>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24" name="Shape 17"/>
          <p:cNvSpPr/>
          <p:nvPr/>
        </p:nvSpPr>
        <p:spPr>
          <a:xfrm>
            <a:off x="9239783" y="2103120"/>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9354083" y="2217420"/>
            <a:ext cx="228600" cy="228600"/>
          </a:xfrm>
          <a:prstGeom prst="rect">
            <a:avLst/>
          </a:prstGeom>
        </p:spPr>
      </p:pic>
      <p:sp>
        <p:nvSpPr>
          <p:cNvPr id="26" name="Text 18"/>
          <p:cNvSpPr/>
          <p:nvPr/>
        </p:nvSpPr>
        <p:spPr>
          <a:xfrm>
            <a:off x="9239783" y="2706624"/>
            <a:ext cx="2183816" cy="3054096"/>
          </a:xfrm>
          <a:prstGeom prst="rect">
            <a:avLst/>
          </a:prstGeom>
          <a:noFill/>
          <a:ln/>
        </p:spPr>
        <p:txBody>
          <a:bodyPr wrap="square" lIns="0" tIns="0" rIns="0" bIns="0" rtlCol="0" anchor="t"/>
          <a:lstStyle/>
          <a:p>
            <a:pPr indent="0" marL="0">
              <a:lnSpc>
                <a:spcPct val="102000"/>
              </a:lnSpc>
              <a:buNone/>
            </a:pPr>
            <a:r>
              <a:rPr lang="en-US" sz="2200" b="1" dirty="0">
                <a:solidFill>
                  <a:srgbClr val="12211B"/>
                </a:solidFill>
                <a:latin typeface="Calibri" pitchFamily="34" charset="0"/>
                <a:ea typeface="Calibri" pitchFamily="34" charset="-122"/>
                <a:cs typeface="Calibri" pitchFamily="34" charset="-120"/>
              </a:rPr>
              <a:t>4 · What you do</a:t>
            </a:r>
            <a:endParaRPr lang="en-US" sz="22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“I am a student.”</a:t>
            </a:r>
            <a:endParaRPr lang="en-US" sz="2200" dirty="0"/>
          </a:p>
          <a:p>
            <a:pPr indent="0" marL="0">
              <a:lnSpc>
                <a:spcPct val="102000"/>
              </a:lnSpc>
              <a:spcBef>
                <a:spcPts val="400"/>
              </a:spcBef>
              <a:buNone/>
            </a:pPr>
            <a:endParaRPr lang="en-US" sz="22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Do not forget the small word “a”.</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questions that keep a conversation going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questions. Learn the answer to each one too.</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4206240"/>
                <a:gridCol w="3840480"/>
                <a:gridCol w="304769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Answer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Asks about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What is your name?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My name is Hana.</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Name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Where are you from?</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am from Gondar.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Place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How old are 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am twenty years old.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Age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What do you do?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am a nurse.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Job</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How are 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am fine, thank you. And 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Wellbeing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Every question starts with a question WORD, and every one ends with a question MARK. Your voice goes up at the end. ↗</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Introducing another person</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“This is …” — then say something about them.</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sp>
        <p:nvSpPr>
          <p:cNvPr id="11" name="Shape 7"/>
          <p:cNvSpPr/>
          <p:nvPr/>
        </p:nvSpPr>
        <p:spPr>
          <a:xfrm>
            <a:off x="548640"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This is my friend Dawit.</a:t>
            </a: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Use “this is” when the person is beside you.</a:t>
            </a:r>
            <a:endParaRPr lang="en-US" sz="2100" dirty="0"/>
          </a:p>
        </p:txBody>
      </p:sp>
      <p:sp>
        <p:nvSpPr>
          <p:cNvPr id="15" name="Shape 10"/>
          <p:cNvSpPr/>
          <p:nvPr/>
        </p:nvSpPr>
        <p:spPr>
          <a:xfrm>
            <a:off x="4313834"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He is from Addis Ababa.</a:t>
            </a: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HE for a man or a boy.</a:t>
            </a:r>
            <a:endParaRPr lang="en-US" sz="2100" dirty="0"/>
          </a:p>
        </p:txBody>
      </p:sp>
      <p:sp>
        <p:nvSpPr>
          <p:cNvPr id="19" name="Shape 13"/>
          <p:cNvSpPr/>
          <p:nvPr/>
        </p:nvSpPr>
        <p:spPr>
          <a:xfrm>
            <a:off x="8079029"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She is a nurse.</a:t>
            </a: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SHE for a woman or a girl.</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hello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hello</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/həˈləʊ/</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expression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A greeting. You can use it at any time of day.</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Hello. My name is Sara.</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00" dirty="0">
                <a:solidFill>
                  <a:srgbClr val="12211B"/>
                </a:solidFill>
                <a:latin typeface="Calibri" pitchFamily="34" charset="0"/>
                <a:ea typeface="Calibri" pitchFamily="34" charset="-122"/>
                <a:cs typeface="Calibri" pitchFamily="34" charset="-120"/>
              </a:rPr>
              <a:t>The stress is on the SECOND part: he-LLO. Not HE-llo. Also, “hello” works at any time — but “good morning” is better before midday in a formal situation.</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name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name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/neɪm/</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What people call you.</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My name is Abel. What is your name?</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The vowel is /eɪ/ — the same sound as in “eight” and “day”. Not “nem”. Also: say “My name IS”, never “My name”.</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friend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friend</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/frend/</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A person you like and know well.</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350" b="1" dirty="0">
                <a:solidFill>
                  <a:srgbClr val="12211B"/>
                </a:solidFill>
                <a:latin typeface="Calibri" pitchFamily="34" charset="0"/>
                <a:ea typeface="Calibri" pitchFamily="34" charset="-122"/>
                <a:cs typeface="Calibri" pitchFamily="34" charset="-120"/>
              </a:rPr>
              <a:t>This is my friend Hana. She is a student.</a:t>
            </a:r>
            <a:endParaRPr lang="en-US" sz="23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Two traps: the “fr” cluster — say f and r joined, with no vowel between — and the spelling, which has an “i” you cannot hear.</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student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student</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/ˈstjuːdənt/</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750" dirty="0">
                <a:solidFill>
                  <a:srgbClr val="12211B"/>
                </a:solidFill>
                <a:latin typeface="Calibri" pitchFamily="34" charset="0"/>
                <a:ea typeface="Calibri" pitchFamily="34" charset="-122"/>
                <a:cs typeface="Calibri" pitchFamily="34" charset="-120"/>
              </a:rPr>
              <a:t>A person who learns at a school, college or university.</a:t>
            </a:r>
            <a:endParaRPr lang="en-US" sz="17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I am a student. She is a student too.</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Two things: “st” is a cluster — no vowel before it, so not “istudent” — and you must say “a student”, never “student” alone after “I am”.</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goodbye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goodbye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/ɡʊdˈbaɪ/</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expression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What you say when you leave.</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Goodbye. See you tomorrow.</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Stress on the second part: good-BYE. And remember: “Good night” is also a goodbye, not a greeting.</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1 — the verb “to be”: am, is, are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most used verb in English. Learn all six forms together.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377440"/>
                <a:gridCol w="2011680"/>
                <a:gridCol w="3291840"/>
                <a:gridCol w="3413455"/>
              </a:tblGrid>
              <a:tr h="40233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Person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Form</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Short form</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02336">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I</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am</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 am a student.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I'm</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you</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are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You are my friend.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you're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he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He is from Adama.</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he's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she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She is a nurse.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she's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it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It is my bag.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it's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we / they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are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They are students.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they're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English ALWAYS needs this verb. Amharic does not need a separate word here — that is why “He teacher” feels natural and is wrong.</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300" b="1" dirty="0">
                <a:solidFill>
                  <a:srgbClr val="12211B"/>
                </a:solidFill>
                <a:latin typeface="Calibri" pitchFamily="34" charset="0"/>
                <a:ea typeface="Calibri" pitchFamily="34" charset="-122"/>
                <a:cs typeface="Calibri" pitchFamily="34" charset="-120"/>
              </a:rPr>
              <a:t>Rule 2 — questions with “to be”: swap the two words</a:t>
            </a:r>
            <a:endParaRPr lang="en-US" sz="33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To make a question, put the verb BEFORE the person.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Are you a student?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Is she your friend?</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Is he from Gondar?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Are they teachers?</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You are a student?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is your friend?</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 is from Gondar?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are teachers?</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Statement:  You  are  a student.      Question:  Are  you  a student?     Only the first two words swap places.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3 — my, your, his, her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These words show who something belongs to.</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377440"/>
                <a:gridCol w="2377440"/>
                <a:gridCol w="633953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Person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Word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I</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my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My name is Sara.  ·  This is my bag.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you</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your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What is your name?  ·  Is this your pen?</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he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his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His name is Dawit.  ·  This is his book.</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she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her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Her name is Hana.  ·  This is her bag.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word depends on the OWNER, not on the thing. “Her bag” and “her book” both use “her”, because Hana owns them.</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4 — the negative: “not”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Put “not” after am, is or are.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am not a teacher.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is not from Gondar.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are not students.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It is not my bag.</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not a teacher.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not from Gondar.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not students.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Not it is my bag.</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Short forms:  is not → isn't  ·  are not → aren't  ·  I am not → I'm not.   There is no short form for “am not” on its own.</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5 — put it all together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verb “to be”, the pronouns, the possessives and the capitals.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My name is Dawit.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is my friend.</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 is not a teacher.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Are you from Adama?</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my name Dawit.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my friend.</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 not a teacher.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You are from adama?</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Four checks for every sentence:  1 · is the verb am/is/are there?   2 · is the pronoun right for a man or a woman?   3 · capital letters on names and places?   4 · the right mark at the end?</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1 — am, is or are?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the question, look at the answer, then read WHY.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70" i="1" dirty="0">
                <a:solidFill>
                  <a:srgbClr val="6B7C71"/>
                </a:solidFill>
                <a:latin typeface="Calibri" pitchFamily="34" charset="0"/>
                <a:ea typeface="Calibri" pitchFamily="34" charset="-122"/>
                <a:cs typeface="Calibri" pitchFamily="34" charset="-120"/>
              </a:rPr>
              <a:t>Complete: “She ___ my friend.”</a:t>
            </a:r>
            <a:endParaRPr lang="en-US" sz="1270" dirty="0"/>
          </a:p>
          <a:p>
            <a:pPr indent="0" marL="0">
              <a:lnSpc>
                <a:spcPct val="102000"/>
              </a:lnSpc>
              <a:spcBef>
                <a:spcPts val="195"/>
              </a:spcBef>
              <a:buNone/>
            </a:pPr>
            <a:r>
              <a:rPr lang="en-US" sz="1850" b="1" dirty="0">
                <a:solidFill>
                  <a:srgbClr val="12211B"/>
                </a:solidFill>
                <a:latin typeface="Calibri" pitchFamily="34" charset="0"/>
                <a:ea typeface="Calibri" pitchFamily="34" charset="-122"/>
                <a:cs typeface="Calibri" pitchFamily="34" charset="-120"/>
              </a:rPr>
              <a:t>She is my friend.</a:t>
            </a:r>
            <a:endParaRPr lang="en-US" sz="1270" dirty="0"/>
          </a:p>
          <a:p>
            <a:pPr indent="0" marL="0">
              <a:lnSpc>
                <a:spcPct val="102000"/>
              </a:lnSpc>
              <a:spcBef>
                <a:spcPts val="292"/>
              </a:spcBef>
              <a:buNone/>
            </a:pPr>
            <a:r>
              <a:rPr lang="en-US" sz="1460" dirty="0">
                <a:solidFill>
                  <a:srgbClr val="0A4634"/>
                </a:solidFill>
                <a:latin typeface="Calibri" pitchFamily="34" charset="0"/>
                <a:ea typeface="Calibri" pitchFamily="34" charset="-122"/>
                <a:cs typeface="Calibri" pitchFamily="34" charset="-120"/>
              </a:rPr>
              <a:t>WHY: With he, she or it the form is “is”. The verb can never be left out in English.</a:t>
            </a:r>
            <a:endParaRPr lang="en-US" sz="127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Complete: “I ___ from Hawassa.”</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I am from Hawassa.</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With “I” the form is always “am”. “I is” and “I are” are never correct.</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Correct this: “They is students.”</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They are students.</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“They” is more than one person, so the form is “are”. The plural -s on “students” is also correct here.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making questions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Swap the first two words.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Make a question: “You are a teacher.”</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Are you a teacher?</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The verb “are” moves in front of “you”, and the full stop becomes a question mark.</a:t>
            </a:r>
            <a:endParaRPr lang="en-US" sz="123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Make a question: “She is from Gondar.”</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Is she from Gondar?</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“Is” comes first, then “she”. Nothing else in the sentence moves.</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Answer this: “Are you a student?”</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Yes, I am.  /  No, I am not.</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A short answer keeps the verb. “Yes” alone is understood but is not yet a full English answer.</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3 — he, she, his, her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Look at the person, not the thing.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Correct this: “My sister, he is a nurse.”</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My sister, she is a nurse.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A sister is a woman, so the pronoun is “she”. In Amharic the verb carries this information; in English the pronoun does.</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Complete: “Dawit is my friend. ___ name is Dawit.”</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His name is Dawit.</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Dawit is a man, so the possessive is “his”. It depends on the owner, not on the word “name”.</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Complete: “This is Hana. ___ bag is red.”</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Her bag is red.</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Hana is a woman, so it is “her”, whatever the object is — her bag, her book, her pen.</a:t>
            </a:r>
            <a:endParaRPr lang="en-US" sz="116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4 — greetings and goodbyes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Choose by the time and by the person.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It is 9 in the morning and you meet your teacher. What do you say?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Good morning.</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Before midday it is “good morning”, and with a teacher the formal greeting is the safe choice.</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It is 8 in the evening and you ARRIVE at class. What do you say?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Good evening.</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“Good evening” is a greeting for arriving. “Good night” is only used when leaving or going to bed.</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00" i="1" dirty="0">
                <a:solidFill>
                  <a:srgbClr val="6B7C71"/>
                </a:solidFill>
                <a:latin typeface="Calibri" pitchFamily="34" charset="0"/>
                <a:ea typeface="Calibri" pitchFamily="34" charset="-122"/>
                <a:cs typeface="Calibri" pitchFamily="34" charset="-120"/>
              </a:rPr>
              <a:t>Someone says “How are you?” Give a complete answer.</a:t>
            </a:r>
            <a:endParaRPr lang="en-US" sz="1200" dirty="0"/>
          </a:p>
          <a:p>
            <a:pPr indent="0" marL="0">
              <a:lnSpc>
                <a:spcPct val="102000"/>
              </a:lnSpc>
              <a:spcBef>
                <a:spcPts val="184"/>
              </a:spcBef>
              <a:buNone/>
            </a:pPr>
            <a:r>
              <a:rPr lang="en-US" sz="1750" b="1" dirty="0">
                <a:solidFill>
                  <a:srgbClr val="12211B"/>
                </a:solidFill>
                <a:latin typeface="Calibri" pitchFamily="34" charset="0"/>
                <a:ea typeface="Calibri" pitchFamily="34" charset="-122"/>
                <a:cs typeface="Calibri" pitchFamily="34" charset="-120"/>
              </a:rPr>
              <a:t>I am fine, thank you. And you?</a:t>
            </a:r>
            <a:endParaRPr lang="en-US" sz="1200" dirty="0"/>
          </a:p>
          <a:p>
            <a:pPr indent="0" marL="0">
              <a:lnSpc>
                <a:spcPct val="102000"/>
              </a:lnSpc>
              <a:spcBef>
                <a:spcPts val="276"/>
              </a:spcBef>
              <a:buNone/>
            </a:pPr>
            <a:r>
              <a:rPr lang="en-US" sz="1380" dirty="0">
                <a:solidFill>
                  <a:srgbClr val="0A4634"/>
                </a:solidFill>
                <a:latin typeface="Calibri" pitchFamily="34" charset="0"/>
                <a:ea typeface="Calibri" pitchFamily="34" charset="-122"/>
                <a:cs typeface="Calibri" pitchFamily="34" charset="-120"/>
              </a:rPr>
              <a:t>WHY: Answer, then ask back. Without “And you?” the conversation stops after one exchange.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5 — introducing people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Two sentences: who they are, then one fact.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Introduce your friend Abel from Merkato.</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This is my friend Abel. He is from Merkato.</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“This is” for someone beside you, then “he” because Abel is a man, plus capital letters on Abel and Merkato.</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Correct this: “This is my friend. She name is Hana.”</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This is my friend. Her name is Hana.</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“She” is the person; “her” is the possessive. Use “her” before a thing that belongs to her.</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Introduce yourself in four sentences.</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Good morning. My name is ___. I am from ___. I am a ___.</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Greeting, name, place, job — the fixed four-part chunk. Learn it by heart and change only the details.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Meeting someone for the first time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Sara meets Dawit outside the school gate in Bahir Dar.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Good morning. My name is Dawit. What is your name?</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Good morning, Dawit. My name is Sara.</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Nice to meet you, Sara. Where are you from?</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am from Bahir Dar. And you?</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am from Addis Ababa. I am a student here.</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Nice to meet you too. See you tomorrow.</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Listen first. Then repeat each line. Then read it in pairs. Then use your OWN name and town.</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Introducing your friend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Sara introduces Dawit to her teacher, Chaltu.</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Good afternoon, teacher. This is my friend Dawit.</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CHALTU</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Good afternoon, Dawit. Nice to meet you.</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Nice to meet you too. How are you?</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CHALTU</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am fine, thank you. Are you a student here?</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I am. I am from Addis Ababa.</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CHALTU</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Welcome to Bahir Dar. See you in class.</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Three things to notice:  “This is my friend …”  ·  the short answer “Yes, I am.”  ·  the formal greeting to a teacher.</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Useful phrases for meeting people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phrases. Learn them by heart — you will use them for the rest of your life.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“Nice to meet you.”</a:t>
            </a:r>
            <a:endParaRPr lang="en-US" sz="1700" dirty="0"/>
          </a:p>
          <a:p>
            <a:pPr indent="0" marL="0">
              <a:lnSpc>
                <a:spcPct val="102000"/>
              </a:lnSpc>
              <a:spcBef>
                <a:spcPts val="340"/>
              </a:spcBef>
              <a:buNone/>
            </a:pPr>
            <a:r>
              <a:rPr lang="en-US" sz="1280" dirty="0">
                <a:solidFill>
                  <a:srgbClr val="3A473F"/>
                </a:solidFill>
                <a:latin typeface="Calibri" pitchFamily="34" charset="0"/>
                <a:ea typeface="Calibri" pitchFamily="34" charset="-122"/>
                <a:cs typeface="Calibri" pitchFamily="34" charset="-120"/>
              </a:rPr>
              <a:t>The reply is “Nice to meet you too.” Never forget “too”.</a:t>
            </a:r>
            <a:endParaRPr lang="en-US" sz="170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“What is your name?”</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Then listen — and be ready to ask how to spell it.</a:t>
            </a:r>
            <a:endParaRPr lang="en-US" sz="175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“Where are you from?”</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Answer with your town or your country.</a:t>
            </a:r>
            <a:endParaRPr lang="en-US" sz="175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“How are you?”</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Answer, then ask back: “And you?”</a:t>
            </a:r>
            <a:endParaRPr lang="en-US" sz="175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“This is my friend …”</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For introducing someone standing beside you.</a:t>
            </a:r>
            <a:endParaRPr lang="en-US" sz="175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“See you tomorrow.”</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A warmer goodbye than “Goodbye” alone.</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Good morning. ______________________ ?</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My name is ______________. And you?</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My name is Hana. ______________________ you?</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am fine, thank you. ______________________ are you from?</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am from Gondar. Are you a student?</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I ______. ______________________ .</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“What is your name”  ·  “How are”  ·  “Where”  ·  “Yes, I am”  ·  “Nice to meet you”</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Pair practice — how to run it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rounds. Two minutes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Read the first dialogue together</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Learner A is Dawit, learner B is Sara. Read it twice, then swap roles.</a:t>
            </a:r>
            <a:endParaRPr lang="en-US" sz="21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Close the book and try again</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Say as much as you remember. Gaps are fine.</a:t>
            </a:r>
            <a:endParaRPr lang="en-US" sz="21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Use your own name, town and job</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Everything else stays the same.</a:t>
            </a:r>
            <a:endParaRPr lang="en-US" sz="21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Meet a new partner</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Stand up, find someone you have not spoken to, and do it once more.</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1 — the four-sentence introduction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Everyone. Standing up. Three rounds.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E4572E"/>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Say it with the slide in front of you</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Greeting · name · town · job. Read it if you need to.</a:t>
            </a:r>
            <a:endParaRPr lang="en-US" sz="21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E4572E"/>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Say it with the slide hidden</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From memory. Gaps are fine — keep going and finish.</a:t>
            </a:r>
            <a:endParaRPr lang="en-US" sz="21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E4572E"/>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Say it to three different people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Stand up and move. New face each time.</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2 — interview three classmates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Ask all five questions. Write the answers.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is your name?”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Then: “How do you spell it?” — from Module 1.</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“Where are you from?”</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Write the town with a capital letter.</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“How old are you?”</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Numbers from Module 2. Answer: “I am ___ years old.”</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do you do?”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Answer with “a” or “an”: a student, a nurse, an engineer.</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“How are you?”</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And do not forget to ask back: “And you?”</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Sound drill — /h/ at the start of a word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English needs the /h/ sound clearly. Breathe out at the start of the word.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Say the /h/</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hello</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how</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he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her</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his</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Hana</a:t>
            </a:r>
            <a:endParaRPr lang="en-US" sz="15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No /h/ — different word</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ello  ✗</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ow  ✗</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e  ✗</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er  ✗</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is  ← a real word!</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Ana  ← a different name</a:t>
            </a:r>
            <a:endParaRPr lang="en-US" sz="15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“His” and “is” are two different words. If you drop the /h/, a listener hears the wrong one. Put your hand in front of your mouth — you should feel warm air on /h/.</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4 — role plays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Two minutes per situation.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Two students meet on the first day</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Informal. Use “Hi” and “Hello”. Exchange names and towns.</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 student meets the head teacher</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Formal. Use “Good morning” and full sentences.</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 introduce your friend to your neighbour</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Three people. Use “This is my friend…” and “He is…” or “She is…”.</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 meet a foreign visitor at work</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Formal. Greet, introduce yourself, say what you do, ask where they are from.</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Speaking challenge — record yourself</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45 seconds. Everyone does this. It is the main speaking task of the module.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Greet, correctly for the time of day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“Good morning.” / “Good afternoon.” / “Good evening.”</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Introduce yourself in four sentences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Name · town · job · age.</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Introduce one other person</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“This is my friend ___. He is from ___.” or “She is a ___.”</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three questions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Name · where from · how are you.</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goodbye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“Goodbye.” or “See you tomorrow.”</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who is who?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Write the name, the town and the job.</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40000"/>
              </a:lnSpc>
              <a:buNone/>
            </a:pPr>
            <a:r>
              <a:rPr lang="en-US" sz="1800" dirty="0">
                <a:solidFill>
                  <a:srgbClr val="12211B"/>
                </a:solidFill>
                <a:latin typeface="Calibri" pitchFamily="34" charset="0"/>
                <a:ea typeface="Calibri" pitchFamily="34" charset="-122"/>
                <a:cs typeface="Calibri" pitchFamily="34" charset="-120"/>
              </a:rPr>
              <a:t>1.  “Good morning. My name is Hana. I am from Gondar. I am a nurse.”</a:t>
            </a:r>
            <a:endParaRPr lang="en-US" sz="1800" dirty="0"/>
          </a:p>
          <a:p>
            <a:pPr indent="0" marL="0">
              <a:lnSpc>
                <a:spcPct val="140000"/>
              </a:lnSpc>
              <a:buNone/>
            </a:pPr>
            <a:endParaRPr lang="en-US" sz="1800" dirty="0"/>
          </a:p>
          <a:p>
            <a:pPr indent="0" marL="0">
              <a:lnSpc>
                <a:spcPct val="140000"/>
              </a:lnSpc>
              <a:buNone/>
            </a:pPr>
            <a:r>
              <a:rPr lang="en-US" sz="1800" dirty="0">
                <a:solidFill>
                  <a:srgbClr val="12211B"/>
                </a:solidFill>
                <a:latin typeface="Calibri" pitchFamily="34" charset="0"/>
                <a:ea typeface="Calibri" pitchFamily="34" charset="-122"/>
                <a:cs typeface="Calibri" pitchFamily="34" charset="-120"/>
              </a:rPr>
              <a:t>2.  “Hello. I am Abel. I am from Merkato. I am a trader.”</a:t>
            </a:r>
            <a:endParaRPr lang="en-US" sz="1800" dirty="0"/>
          </a:p>
          <a:p>
            <a:pPr indent="0" marL="0">
              <a:lnSpc>
                <a:spcPct val="140000"/>
              </a:lnSpc>
              <a:buNone/>
            </a:pPr>
            <a:endParaRPr lang="en-US" sz="1800" dirty="0"/>
          </a:p>
          <a:p>
            <a:pPr indent="0" marL="0">
              <a:lnSpc>
                <a:spcPct val="140000"/>
              </a:lnSpc>
              <a:buNone/>
            </a:pPr>
            <a:r>
              <a:rPr lang="en-US" sz="1800" dirty="0">
                <a:solidFill>
                  <a:srgbClr val="12211B"/>
                </a:solidFill>
                <a:latin typeface="Calibri" pitchFamily="34" charset="0"/>
                <a:ea typeface="Calibri" pitchFamily="34" charset="-122"/>
                <a:cs typeface="Calibri" pitchFamily="34" charset="-120"/>
              </a:rPr>
              <a:t>3.  “Good afternoon. My name is Mimi. I am from Adama. I am a student.”</a:t>
            </a:r>
            <a:endParaRPr lang="en-US" sz="18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For each speaker write three things: NAME · TOWN · JOB.</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Use capital letters for the names and the towns.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each one twice.</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Then write whether each speaker is “he” or “she”.</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answers and why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Check the spelling, the capitals and the pronoun.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the first speaker</a:t>
            </a:r>
            <a:endParaRPr lang="en-US" sz="1100" dirty="0"/>
          </a:p>
          <a:p>
            <a:pPr indent="0" marL="0">
              <a:lnSpc>
                <a:spcPct val="102000"/>
              </a:lnSpc>
              <a:spcBef>
                <a:spcPts val="169"/>
              </a:spcBef>
              <a:buNone/>
            </a:pPr>
            <a:r>
              <a:rPr lang="en-US" sz="1520" b="1" dirty="0">
                <a:solidFill>
                  <a:srgbClr val="12211B"/>
                </a:solidFill>
                <a:latin typeface="Calibri" pitchFamily="34" charset="0"/>
                <a:ea typeface="Calibri" pitchFamily="34" charset="-122"/>
                <a:cs typeface="Calibri" pitchFamily="34" charset="-120"/>
              </a:rPr>
              <a:t>Hana · Gondar · a nurse · she</a:t>
            </a:r>
            <a:endParaRPr lang="en-US" sz="1100" dirty="0"/>
          </a:p>
          <a:p>
            <a:pPr indent="0" marL="0">
              <a:lnSpc>
                <a:spcPct val="102000"/>
              </a:lnSpc>
              <a:spcBef>
                <a:spcPts val="254"/>
              </a:spcBef>
              <a:buNone/>
            </a:pPr>
            <a:r>
              <a:rPr lang="en-US" sz="1180" dirty="0">
                <a:solidFill>
                  <a:srgbClr val="0A4634"/>
                </a:solidFill>
                <a:latin typeface="Calibri" pitchFamily="34" charset="0"/>
                <a:ea typeface="Calibri" pitchFamily="34" charset="-122"/>
                <a:cs typeface="Calibri" pitchFamily="34" charset="-120"/>
              </a:rPr>
              <a:t>WHY: “My name is Hana” gives the name; “I am from Gondar” gives the town. Hana is a woman, so the pronoun is “she”.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the second speaker</a:t>
            </a:r>
            <a:endParaRPr lang="en-US" sz="1100" dirty="0"/>
          </a:p>
          <a:p>
            <a:pPr indent="0" marL="0">
              <a:lnSpc>
                <a:spcPct val="102000"/>
              </a:lnSpc>
              <a:spcBef>
                <a:spcPts val="169"/>
              </a:spcBef>
              <a:buNone/>
            </a:pPr>
            <a:r>
              <a:rPr lang="en-US" sz="1520" b="1" dirty="0">
                <a:solidFill>
                  <a:srgbClr val="12211B"/>
                </a:solidFill>
                <a:latin typeface="Calibri" pitchFamily="34" charset="0"/>
                <a:ea typeface="Calibri" pitchFamily="34" charset="-122"/>
                <a:cs typeface="Calibri" pitchFamily="34" charset="-120"/>
              </a:rPr>
              <a:t>Abel · Merkato · a trader · he</a:t>
            </a:r>
            <a:endParaRPr lang="en-US" sz="1100" dirty="0"/>
          </a:p>
          <a:p>
            <a:pPr indent="0" marL="0">
              <a:lnSpc>
                <a:spcPct val="102000"/>
              </a:lnSpc>
              <a:spcBef>
                <a:spcPts val="254"/>
              </a:spcBef>
              <a:buNone/>
            </a:pPr>
            <a:r>
              <a:rPr lang="en-US" sz="1180" dirty="0">
                <a:solidFill>
                  <a:srgbClr val="0A4634"/>
                </a:solidFill>
                <a:latin typeface="Calibri" pitchFamily="34" charset="0"/>
                <a:ea typeface="Calibri" pitchFamily="34" charset="-122"/>
                <a:cs typeface="Calibri" pitchFamily="34" charset="-120"/>
              </a:rPr>
              <a:t>WHY: He says “I am Abel”, which is the short form of “My name is Abel”. Both are correct.</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the third speaker</a:t>
            </a:r>
            <a:endParaRPr lang="en-US" sz="1100" dirty="0"/>
          </a:p>
          <a:p>
            <a:pPr indent="0" marL="0">
              <a:lnSpc>
                <a:spcPct val="102000"/>
              </a:lnSpc>
              <a:spcBef>
                <a:spcPts val="169"/>
              </a:spcBef>
              <a:buNone/>
            </a:pPr>
            <a:r>
              <a:rPr lang="en-US" sz="1520" b="1" dirty="0">
                <a:solidFill>
                  <a:srgbClr val="12211B"/>
                </a:solidFill>
                <a:latin typeface="Calibri" pitchFamily="34" charset="0"/>
                <a:ea typeface="Calibri" pitchFamily="34" charset="-122"/>
                <a:cs typeface="Calibri" pitchFamily="34" charset="-120"/>
              </a:rPr>
              <a:t>Mimi · Adama · a student · she</a:t>
            </a:r>
            <a:endParaRPr lang="en-US" sz="1100" dirty="0"/>
          </a:p>
          <a:p>
            <a:pPr indent="0" marL="0">
              <a:lnSpc>
                <a:spcPct val="102000"/>
              </a:lnSpc>
              <a:spcBef>
                <a:spcPts val="254"/>
              </a:spcBef>
              <a:buNone/>
            </a:pPr>
            <a:r>
              <a:rPr lang="en-US" sz="1180" dirty="0">
                <a:solidFill>
                  <a:srgbClr val="0A4634"/>
                </a:solidFill>
                <a:latin typeface="Calibri" pitchFamily="34" charset="0"/>
                <a:ea typeface="Calibri" pitchFamily="34" charset="-122"/>
                <a:cs typeface="Calibri" pitchFamily="34" charset="-120"/>
              </a:rPr>
              <a:t>WHY: Note the greeting: “Good afternoon” tells you the time of day as well.</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Capital letters</a:t>
            </a:r>
            <a:endParaRPr lang="en-US" sz="1100" dirty="0"/>
          </a:p>
          <a:p>
            <a:pPr indent="0" marL="0">
              <a:lnSpc>
                <a:spcPct val="102000"/>
              </a:lnSpc>
              <a:spcBef>
                <a:spcPts val="169"/>
              </a:spcBef>
              <a:buNone/>
            </a:pPr>
            <a:r>
              <a:rPr lang="en-US" sz="1520" b="1" dirty="0">
                <a:solidFill>
                  <a:srgbClr val="12211B"/>
                </a:solidFill>
                <a:latin typeface="Calibri" pitchFamily="34" charset="0"/>
                <a:ea typeface="Calibri" pitchFamily="34" charset="-122"/>
                <a:cs typeface="Calibri" pitchFamily="34" charset="-120"/>
              </a:rPr>
              <a:t>Hana · Gondar · Abel · Merkato · Mimi · Adama</a:t>
            </a:r>
            <a:endParaRPr lang="en-US" sz="1100" dirty="0"/>
          </a:p>
          <a:p>
            <a:pPr indent="0" marL="0">
              <a:lnSpc>
                <a:spcPct val="102000"/>
              </a:lnSpc>
              <a:spcBef>
                <a:spcPts val="254"/>
              </a:spcBef>
              <a:buNone/>
            </a:pPr>
            <a:r>
              <a:rPr lang="en-US" sz="1180" dirty="0">
                <a:solidFill>
                  <a:srgbClr val="0A4634"/>
                </a:solidFill>
                <a:latin typeface="Calibri" pitchFamily="34" charset="0"/>
                <a:ea typeface="Calibri" pitchFamily="34" charset="-122"/>
                <a:cs typeface="Calibri" pitchFamily="34" charset="-120"/>
              </a:rPr>
              <a:t>WHY: All six are names of people or places, so all six take a capital letter. Jobs do not.</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then answer the questions.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5000"/>
              </a:lnSpc>
              <a:buNone/>
            </a:pPr>
            <a:r>
              <a:rPr lang="en-US" sz="1700" dirty="0">
                <a:solidFill>
                  <a:srgbClr val="12211B"/>
                </a:solidFill>
                <a:latin typeface="Calibri" pitchFamily="34" charset="0"/>
                <a:ea typeface="Calibri" pitchFamily="34" charset="-122"/>
                <a:cs typeface="Calibri" pitchFamily="34" charset="-120"/>
              </a:rPr>
              <a:t>SARA:   Good afternoon. My name is Sara.</a:t>
            </a:r>
            <a:endParaRPr lang="en-US" sz="1700" dirty="0"/>
          </a:p>
          <a:p>
            <a:pPr indent="0" marL="0">
              <a:lnSpc>
                <a:spcPct val="135000"/>
              </a:lnSpc>
              <a:buNone/>
            </a:pPr>
            <a:r>
              <a:rPr lang="en-US" sz="1700" dirty="0">
                <a:solidFill>
                  <a:srgbClr val="12211B"/>
                </a:solidFill>
                <a:latin typeface="Calibri" pitchFamily="34" charset="0"/>
                <a:ea typeface="Calibri" pitchFamily="34" charset="-122"/>
                <a:cs typeface="Calibri" pitchFamily="34" charset="-120"/>
              </a:rPr>
              <a:t>YONAS:  Good afternoon, Sara. I am Yonas.</a:t>
            </a:r>
            <a:endParaRPr lang="en-US" sz="1700" dirty="0"/>
          </a:p>
          <a:p>
            <a:pPr indent="0" marL="0">
              <a:lnSpc>
                <a:spcPct val="135000"/>
              </a:lnSpc>
              <a:buNone/>
            </a:pPr>
            <a:r>
              <a:rPr lang="en-US" sz="1700" dirty="0">
                <a:solidFill>
                  <a:srgbClr val="12211B"/>
                </a:solidFill>
                <a:latin typeface="Calibri" pitchFamily="34" charset="0"/>
                <a:ea typeface="Calibri" pitchFamily="34" charset="-122"/>
                <a:cs typeface="Calibri" pitchFamily="34" charset="-120"/>
              </a:rPr>
              <a:t>SARA:   Nice to meet you. Are you a student?</a:t>
            </a:r>
            <a:endParaRPr lang="en-US" sz="1700" dirty="0"/>
          </a:p>
          <a:p>
            <a:pPr indent="0" marL="0">
              <a:lnSpc>
                <a:spcPct val="135000"/>
              </a:lnSpc>
              <a:buNone/>
            </a:pPr>
            <a:r>
              <a:rPr lang="en-US" sz="1700" dirty="0">
                <a:solidFill>
                  <a:srgbClr val="12211B"/>
                </a:solidFill>
                <a:latin typeface="Calibri" pitchFamily="34" charset="0"/>
                <a:ea typeface="Calibri" pitchFamily="34" charset="-122"/>
                <a:cs typeface="Calibri" pitchFamily="34" charset="-120"/>
              </a:rPr>
              <a:t>YONAS:  No, I am not. I am a bank teller.</a:t>
            </a:r>
            <a:endParaRPr lang="en-US" sz="1700" dirty="0"/>
          </a:p>
          <a:p>
            <a:pPr indent="0" marL="0">
              <a:lnSpc>
                <a:spcPct val="135000"/>
              </a:lnSpc>
              <a:buNone/>
            </a:pPr>
            <a:r>
              <a:rPr lang="en-US" sz="1700" dirty="0">
                <a:solidFill>
                  <a:srgbClr val="12211B"/>
                </a:solidFill>
                <a:latin typeface="Calibri" pitchFamily="34" charset="0"/>
                <a:ea typeface="Calibri" pitchFamily="34" charset="-122"/>
                <a:cs typeface="Calibri" pitchFamily="34" charset="-120"/>
              </a:rPr>
              <a:t>SARA:   Where are you from?</a:t>
            </a:r>
            <a:endParaRPr lang="en-US" sz="1700" dirty="0"/>
          </a:p>
          <a:p>
            <a:pPr indent="0" marL="0">
              <a:lnSpc>
                <a:spcPct val="135000"/>
              </a:lnSpc>
              <a:buNone/>
            </a:pPr>
            <a:r>
              <a:rPr lang="en-US" sz="1700" dirty="0">
                <a:solidFill>
                  <a:srgbClr val="12211B"/>
                </a:solidFill>
                <a:latin typeface="Calibri" pitchFamily="34" charset="0"/>
                <a:ea typeface="Calibri" pitchFamily="34" charset="-122"/>
                <a:cs typeface="Calibri" pitchFamily="34" charset="-120"/>
              </a:rPr>
              <a:t>YONAS:  I am from Dire Dawa. And you?</a:t>
            </a:r>
            <a:endParaRPr lang="en-US" sz="1700" dirty="0"/>
          </a:p>
          <a:p>
            <a:pPr indent="0" marL="0">
              <a:lnSpc>
                <a:spcPct val="135000"/>
              </a:lnSpc>
              <a:buNone/>
            </a:pPr>
            <a:r>
              <a:rPr lang="en-US" sz="1700" dirty="0">
                <a:solidFill>
                  <a:srgbClr val="12211B"/>
                </a:solidFill>
                <a:latin typeface="Calibri" pitchFamily="34" charset="0"/>
                <a:ea typeface="Calibri" pitchFamily="34" charset="-122"/>
                <a:cs typeface="Calibri" pitchFamily="34" charset="-120"/>
              </a:rPr>
              <a:t>SARA:   I am from Bahir Dar.</a:t>
            </a:r>
            <a:endParaRPr lang="en-US" sz="17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QUESTIONS</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1. What time of day is it?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2. Is Yonas a student?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3. What is his job?</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4. Where is Yonas from?</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5. Where is Sara from?</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What time of day is it?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is the afternoon.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speakers say “Good afternoon”, which is used from midday until about six in the evening.</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Is Yonas a student?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he is not.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He says “No, I am not.” When you report it, “I” becomes “he”, because you are talking about him.</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What is his job?</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is a bank teller.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Do not forget the article “a” before the job. And “his” because Yonas is a man.</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Where is Yonas from?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is from Dire Dawa.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words of the place name take a capital letter.</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Where is Sara from?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from Bahir Dar.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“She” because Sara is a woman. This is the pronoun error to watch for all through this module.</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to listen when you meet someone new</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habits for a real first conversation.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Listen for the name first</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Names are the hardest part because you cannot guess them. Ask “How do you spell it?” — this is completely normal.</a:t>
            </a:r>
            <a:endParaRPr lang="en-US" sz="158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Do not stop at one hard word</a:t>
            </a:r>
            <a:endParaRPr lang="en-US" sz="1700" dirty="0"/>
          </a:p>
          <a:p>
            <a:pPr indent="0" marL="0">
              <a:lnSpc>
                <a:spcPct val="102000"/>
              </a:lnSpc>
              <a:spcBef>
                <a:spcPts val="324"/>
              </a:spcBef>
              <a:buNone/>
            </a:pPr>
            <a:r>
              <a:rPr lang="en-US" sz="1300" dirty="0">
                <a:solidFill>
                  <a:srgbClr val="3A473F"/>
                </a:solidFill>
                <a:latin typeface="Calibri" pitchFamily="34" charset="0"/>
                <a:ea typeface="Calibri" pitchFamily="34" charset="-122"/>
                <a:cs typeface="Calibri" pitchFamily="34" charset="-120"/>
              </a:rPr>
              <a:t>If you miss a word, keep listening. Stopping to think about it means missing the next five.</a:t>
            </a:r>
            <a:endParaRPr lang="en-US" sz="170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Repeat the name back</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“Nice to meet you, Dawit.” It is polite, it confirms you heard correctly, and it helps you remember.</a:t>
            </a:r>
            <a:endParaRPr lang="en-US" sz="158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Listen for “he” and “she”</a:t>
            </a:r>
            <a:endParaRPr lang="en-US" sz="1600" dirty="0"/>
          </a:p>
          <a:p>
            <a:pPr indent="0" marL="0">
              <a:lnSpc>
                <a:spcPct val="102000"/>
              </a:lnSpc>
              <a:spcBef>
                <a:spcPts val="305"/>
              </a:spcBef>
              <a:buNone/>
            </a:pPr>
            <a:r>
              <a:rPr lang="en-US" sz="1220" dirty="0">
                <a:solidFill>
                  <a:srgbClr val="3A473F"/>
                </a:solidFill>
                <a:latin typeface="Calibri" pitchFamily="34" charset="0"/>
                <a:ea typeface="Calibri" pitchFamily="34" charset="-122"/>
                <a:cs typeface="Calibri" pitchFamily="34" charset="-120"/>
              </a:rPr>
              <a:t>The pronoun tells you who is being talked about. It is one small word carrying a lot of meaning.</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three people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it aloud twice before you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42000"/>
              </a:lnSpc>
              <a:buNone/>
            </a:pPr>
            <a:r>
              <a:rPr lang="en-US" sz="2100" dirty="0">
                <a:solidFill>
                  <a:srgbClr val="12211B"/>
                </a:solidFill>
                <a:latin typeface="Calibri" pitchFamily="34" charset="0"/>
                <a:ea typeface="Calibri" pitchFamily="34" charset="-122"/>
                <a:cs typeface="Calibri" pitchFamily="34" charset="-120"/>
              </a:rPr>
              <a:t>This is Hana.</a:t>
            </a:r>
            <a:endParaRPr lang="en-US" sz="2100" dirty="0"/>
          </a:p>
          <a:p>
            <a:pPr indent="0" marL="0">
              <a:lnSpc>
                <a:spcPct val="142000"/>
              </a:lnSpc>
              <a:buNone/>
            </a:pPr>
            <a:r>
              <a:rPr lang="en-US" sz="2100" dirty="0">
                <a:solidFill>
                  <a:srgbClr val="12211B"/>
                </a:solidFill>
                <a:latin typeface="Calibri" pitchFamily="34" charset="0"/>
                <a:ea typeface="Calibri" pitchFamily="34" charset="-122"/>
                <a:cs typeface="Calibri" pitchFamily="34" charset="-120"/>
              </a:rPr>
              <a:t>She is from Gondar.</a:t>
            </a:r>
            <a:endParaRPr lang="en-US" sz="2100" dirty="0"/>
          </a:p>
          <a:p>
            <a:pPr indent="0" marL="0">
              <a:lnSpc>
                <a:spcPct val="142000"/>
              </a:lnSpc>
              <a:buNone/>
            </a:pPr>
            <a:r>
              <a:rPr lang="en-US" sz="2100" dirty="0">
                <a:solidFill>
                  <a:srgbClr val="12211B"/>
                </a:solidFill>
                <a:latin typeface="Calibri" pitchFamily="34" charset="0"/>
                <a:ea typeface="Calibri" pitchFamily="34" charset="-122"/>
                <a:cs typeface="Calibri" pitchFamily="34" charset="-120"/>
              </a:rPr>
              <a:t>She is a nurse.</a:t>
            </a:r>
            <a:endParaRPr lang="en-US" sz="2100" dirty="0"/>
          </a:p>
          <a:p>
            <a:pPr indent="0" marL="0">
              <a:lnSpc>
                <a:spcPct val="142000"/>
              </a:lnSpc>
              <a:buNone/>
            </a:pPr>
            <a:endParaRPr lang="en-US" sz="2100" dirty="0"/>
          </a:p>
          <a:p>
            <a:pPr indent="0" marL="0">
              <a:lnSpc>
                <a:spcPct val="142000"/>
              </a:lnSpc>
              <a:buNone/>
            </a:pPr>
            <a:r>
              <a:rPr lang="en-US" sz="2100" dirty="0">
                <a:solidFill>
                  <a:srgbClr val="12211B"/>
                </a:solidFill>
                <a:latin typeface="Calibri" pitchFamily="34" charset="0"/>
                <a:ea typeface="Calibri" pitchFamily="34" charset="-122"/>
                <a:cs typeface="Calibri" pitchFamily="34" charset="-120"/>
              </a:rPr>
              <a:t>This is Abel.</a:t>
            </a:r>
            <a:endParaRPr lang="en-US" sz="2100" dirty="0"/>
          </a:p>
          <a:p>
            <a:pPr indent="0" marL="0">
              <a:lnSpc>
                <a:spcPct val="142000"/>
              </a:lnSpc>
              <a:buNone/>
            </a:pPr>
            <a:r>
              <a:rPr lang="en-US" sz="2100" dirty="0">
                <a:solidFill>
                  <a:srgbClr val="12211B"/>
                </a:solidFill>
                <a:latin typeface="Calibri" pitchFamily="34" charset="0"/>
                <a:ea typeface="Calibri" pitchFamily="34" charset="-122"/>
                <a:cs typeface="Calibri" pitchFamily="34" charset="-120"/>
              </a:rPr>
              <a:t>He is from Addis Ababa.</a:t>
            </a:r>
            <a:endParaRPr lang="en-US" sz="2100" dirty="0"/>
          </a:p>
          <a:p>
            <a:pPr indent="0" marL="0">
              <a:lnSpc>
                <a:spcPct val="142000"/>
              </a:lnSpc>
              <a:buNone/>
            </a:pPr>
            <a:r>
              <a:rPr lang="en-US" sz="2100" dirty="0">
                <a:solidFill>
                  <a:srgbClr val="12211B"/>
                </a:solidFill>
                <a:latin typeface="Calibri" pitchFamily="34" charset="0"/>
                <a:ea typeface="Calibri" pitchFamily="34" charset="-122"/>
                <a:cs typeface="Calibri" pitchFamily="34" charset="-120"/>
              </a:rPr>
              <a:t>He is not a student. He is a trader.</a:t>
            </a:r>
            <a:endParaRPr lang="en-US" sz="21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HOW TO READ IT</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the whole text once.</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class reads it together, in chorus.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Then individuals read one line each.</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Find every “he” and every “she”. Why is each one used?</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 and use “he” or “she” correctly.</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Where is Hana from?</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is her job?</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Where is Abel from?</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Is Abel a student?</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Who is a nurse — Hana or Abel?</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Where is Hana from?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from Gondar.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Hana is a woman, so “she”. Gondar takes a capital letter because it is a place.</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What is her job?</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a nurse.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Note “a” before the job. “She is nurse” is the missing-article error.</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Where is Abel from?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is from Addis Ababa.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Abel is a man, so “he”. Both words of the city name take capitals.</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Is Abel a student?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he is not. He is a trader.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strong answer says no AND gives the real information. “No” alone answers the question but stops the conversation.</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Who is a nurse?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Hana is a nurse.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Here you name the person rather than using a pronoun, because the question asks which of the two it is.</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 longer text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sentences about a new student.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40000"/>
              </a:lnSpc>
              <a:buNone/>
            </a:pPr>
            <a:r>
              <a:rPr lang="en-US" sz="2000" dirty="0">
                <a:solidFill>
                  <a:srgbClr val="12211B"/>
                </a:solidFill>
                <a:latin typeface="Calibri" pitchFamily="34" charset="0"/>
                <a:ea typeface="Calibri" pitchFamily="34" charset="-122"/>
                <a:cs typeface="Calibri" pitchFamily="34" charset="-120"/>
              </a:rPr>
              <a:t>Good morning. My name is Mimi.</a:t>
            </a:r>
            <a:endParaRPr lang="en-US" sz="2000" dirty="0"/>
          </a:p>
          <a:p>
            <a:pPr indent="0" marL="0">
              <a:lnSpc>
                <a:spcPct val="140000"/>
              </a:lnSpc>
              <a:buNone/>
            </a:pPr>
            <a:r>
              <a:rPr lang="en-US" sz="2000" dirty="0">
                <a:solidFill>
                  <a:srgbClr val="12211B"/>
                </a:solidFill>
                <a:latin typeface="Calibri" pitchFamily="34" charset="0"/>
                <a:ea typeface="Calibri" pitchFamily="34" charset="-122"/>
                <a:cs typeface="Calibri" pitchFamily="34" charset="-120"/>
              </a:rPr>
              <a:t>I am twenty-one years old.</a:t>
            </a:r>
            <a:endParaRPr lang="en-US" sz="2000" dirty="0"/>
          </a:p>
          <a:p>
            <a:pPr indent="0" marL="0">
              <a:lnSpc>
                <a:spcPct val="140000"/>
              </a:lnSpc>
              <a:buNone/>
            </a:pPr>
            <a:r>
              <a:rPr lang="en-US" sz="2000" dirty="0">
                <a:solidFill>
                  <a:srgbClr val="12211B"/>
                </a:solidFill>
                <a:latin typeface="Calibri" pitchFamily="34" charset="0"/>
                <a:ea typeface="Calibri" pitchFamily="34" charset="-122"/>
                <a:cs typeface="Calibri" pitchFamily="34" charset="-120"/>
              </a:rPr>
              <a:t>I am from Adama, but I am a student in Addis Ababa.</a:t>
            </a:r>
            <a:endParaRPr lang="en-US" sz="2000" dirty="0"/>
          </a:p>
          <a:p>
            <a:pPr indent="0" marL="0">
              <a:lnSpc>
                <a:spcPct val="140000"/>
              </a:lnSpc>
              <a:buNone/>
            </a:pPr>
            <a:r>
              <a:rPr lang="en-US" sz="2000" dirty="0">
                <a:solidFill>
                  <a:srgbClr val="12211B"/>
                </a:solidFill>
                <a:latin typeface="Calibri" pitchFamily="34" charset="0"/>
                <a:ea typeface="Calibri" pitchFamily="34" charset="-122"/>
                <a:cs typeface="Calibri" pitchFamily="34" charset="-120"/>
              </a:rPr>
              <a:t>This is my friend Sara. She is from Bahir Dar.</a:t>
            </a:r>
            <a:endParaRPr lang="en-US" sz="2000" dirty="0"/>
          </a:p>
          <a:p>
            <a:pPr indent="0" marL="0">
              <a:lnSpc>
                <a:spcPct val="140000"/>
              </a:lnSpc>
              <a:buNone/>
            </a:pPr>
            <a:r>
              <a:rPr lang="en-US" sz="2000" dirty="0">
                <a:solidFill>
                  <a:srgbClr val="12211B"/>
                </a:solidFill>
                <a:latin typeface="Calibri" pitchFamily="34" charset="0"/>
                <a:ea typeface="Calibri" pitchFamily="34" charset="-122"/>
                <a:cs typeface="Calibri" pitchFamily="34" charset="-120"/>
              </a:rPr>
              <a:t>Sara is not from Adama. She is my classmate.</a:t>
            </a:r>
            <a:endParaRPr lang="en-US" sz="2000" dirty="0"/>
          </a:p>
          <a:p>
            <a:pPr indent="0" marL="0">
              <a:lnSpc>
                <a:spcPct val="140000"/>
              </a:lnSpc>
              <a:buNone/>
            </a:pPr>
            <a:r>
              <a:rPr lang="en-US" sz="2000" dirty="0">
                <a:solidFill>
                  <a:srgbClr val="12211B"/>
                </a:solidFill>
                <a:latin typeface="Calibri" pitchFamily="34" charset="0"/>
                <a:ea typeface="Calibri" pitchFamily="34" charset="-122"/>
                <a:cs typeface="Calibri" pitchFamily="34" charset="-120"/>
              </a:rPr>
              <a:t>We are students at the university.</a:t>
            </a:r>
            <a:endParaRPr lang="en-US" sz="20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NEW WORDS HERE</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but — joins two different ideas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classmate — a person in your class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we — you and one or more other people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university — where you study after school</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Find every form of “to be”. There are six.</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250" b="1" dirty="0">
                <a:solidFill>
                  <a:srgbClr val="12211B"/>
                </a:solidFill>
                <a:latin typeface="Calibri" pitchFamily="34" charset="0"/>
                <a:ea typeface="Calibri" pitchFamily="34" charset="-122"/>
                <a:cs typeface="Calibri" pitchFamily="34" charset="-120"/>
              </a:rPr>
              <a:t>Reading 2 — questions, answers and vocabulary review</a:t>
            </a:r>
            <a:endParaRPr lang="en-US" sz="325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How old is Mimi?</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twenty-one years old.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English uses “to be” for age, not “have”. Note the hyphen in “twenty-one”, from Module 2.</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Where is Mimi from, and where does she study?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from Adama, but she is a student in Addis Ababa.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word “but” joins two ideas that are different from each other. Two places, one sentence.</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Is Sara from Adama?</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she is not. She is from Bahir Dar.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text says “Sara is not from Adama.” Give the negative and then the real information.</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Who is “we” in the last sentence?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Mimi and Sara.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“We” means the speaker plus at least one other person. Here it is Mimi speaking about herself and Sara.</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Vocabulary check: name the five words from this module.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hello · name · friend · student · goodbye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five appeared in this module. Three of them are in this text — find them again.</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1 — introduce yourself</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Copy the frame. Fill in your own information.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1" name="Shape 7"/>
          <p:cNvSpPr/>
          <p:nvPr/>
        </p:nvSpPr>
        <p:spPr>
          <a:xfrm>
            <a:off x="548640" y="1883664"/>
            <a:ext cx="6949440" cy="4059936"/>
          </a:xfrm>
          <a:prstGeom prst="roundRect">
            <a:avLst>
              <a:gd name="adj" fmla="val 3153"/>
            </a:avLst>
          </a:prstGeom>
          <a:solidFill>
            <a:srgbClr val="F2ECFA"/>
          </a:solidFill>
          <a:ln w="15875">
            <a:solidFill>
              <a:srgbClr val="7A4FBF"/>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400800"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COPY THIS FRAME AND COMPLETE IT</a:t>
            </a:r>
            <a:endParaRPr lang="en-US" sz="1200" dirty="0"/>
          </a:p>
        </p:txBody>
      </p:sp>
      <p:sp>
        <p:nvSpPr>
          <p:cNvPr id="13" name="Text 9"/>
          <p:cNvSpPr txBox="1"/>
          <p:nvPr/>
        </p:nvSpPr>
        <p:spPr>
          <a:xfrm>
            <a:off x="822960" y="2487168"/>
            <a:ext cx="6400800" cy="3218688"/>
          </a:xfrm>
          <a:prstGeom prst="rect">
            <a:avLst/>
          </a:prstGeom>
          <a:noFill/>
          <a:ln/>
        </p:spPr>
        <p:txBody>
          <a:bodyPr wrap="square" lIns="0" tIns="0" rIns="0" bIns="0" rtlCol="0" anchor="ctr"/>
          <a:lstStyle/>
          <a:p>
            <a:pPr indent="0" marL="0">
              <a:lnSpc>
                <a:spcPct val="165000"/>
              </a:lnSpc>
              <a:buNone/>
            </a:pPr>
            <a:r>
              <a:rPr lang="en-US" sz="2200" dirty="0">
                <a:solidFill>
                  <a:srgbClr val="12211B"/>
                </a:solidFill>
                <a:latin typeface="Calibri" pitchFamily="34" charset="0"/>
                <a:ea typeface="Calibri" pitchFamily="34" charset="-122"/>
                <a:cs typeface="Calibri" pitchFamily="34" charset="-120"/>
              </a:rPr>
              <a:t>Good ______________.</a:t>
            </a:r>
            <a:endParaRPr lang="en-US" sz="2200" dirty="0"/>
          </a:p>
          <a:p>
            <a:pPr indent="0" marL="0">
              <a:lnSpc>
                <a:spcPct val="165000"/>
              </a:lnSpc>
              <a:buNone/>
            </a:pPr>
            <a:r>
              <a:rPr lang="en-US" sz="2200" dirty="0">
                <a:solidFill>
                  <a:srgbClr val="12211B"/>
                </a:solidFill>
                <a:latin typeface="Calibri" pitchFamily="34" charset="0"/>
                <a:ea typeface="Calibri" pitchFamily="34" charset="-122"/>
                <a:cs typeface="Calibri" pitchFamily="34" charset="-120"/>
              </a:rPr>
              <a:t>My name is ______________.</a:t>
            </a:r>
            <a:endParaRPr lang="en-US" sz="2200" dirty="0"/>
          </a:p>
          <a:p>
            <a:pPr indent="0" marL="0">
              <a:lnSpc>
                <a:spcPct val="165000"/>
              </a:lnSpc>
              <a:buNone/>
            </a:pPr>
            <a:r>
              <a:rPr lang="en-US" sz="2200" dirty="0">
                <a:solidFill>
                  <a:srgbClr val="12211B"/>
                </a:solidFill>
                <a:latin typeface="Calibri" pitchFamily="34" charset="0"/>
                <a:ea typeface="Calibri" pitchFamily="34" charset="-122"/>
                <a:cs typeface="Calibri" pitchFamily="34" charset="-120"/>
              </a:rPr>
              <a:t>I am ______ years old.</a:t>
            </a:r>
            <a:endParaRPr lang="en-US" sz="2200" dirty="0"/>
          </a:p>
          <a:p>
            <a:pPr indent="0" marL="0">
              <a:lnSpc>
                <a:spcPct val="165000"/>
              </a:lnSpc>
              <a:buNone/>
            </a:pPr>
            <a:r>
              <a:rPr lang="en-US" sz="2200" dirty="0">
                <a:solidFill>
                  <a:srgbClr val="12211B"/>
                </a:solidFill>
                <a:latin typeface="Calibri" pitchFamily="34" charset="0"/>
                <a:ea typeface="Calibri" pitchFamily="34" charset="-122"/>
                <a:cs typeface="Calibri" pitchFamily="34" charset="-120"/>
              </a:rPr>
              <a:t>I am from ______________.</a:t>
            </a:r>
            <a:endParaRPr lang="en-US" sz="2200" dirty="0"/>
          </a:p>
          <a:p>
            <a:pPr indent="0" marL="0">
              <a:lnSpc>
                <a:spcPct val="165000"/>
              </a:lnSpc>
              <a:buNone/>
            </a:pPr>
            <a:r>
              <a:rPr lang="en-US" sz="2200" dirty="0">
                <a:solidFill>
                  <a:srgbClr val="12211B"/>
                </a:solidFill>
                <a:latin typeface="Calibri" pitchFamily="34" charset="0"/>
                <a:ea typeface="Calibri" pitchFamily="34" charset="-122"/>
                <a:cs typeface="Calibri" pitchFamily="34" charset="-120"/>
              </a:rPr>
              <a:t>I am a ______________.</a:t>
            </a:r>
            <a:endParaRPr lang="en-US" sz="2200" dirty="0"/>
          </a:p>
        </p:txBody>
      </p:sp>
      <p:sp>
        <p:nvSpPr>
          <p:cNvPr id="14" name="Shape 10"/>
          <p:cNvSpPr/>
          <p:nvPr/>
        </p:nvSpPr>
        <p:spPr>
          <a:xfrm>
            <a:off x="7772400" y="1883664"/>
            <a:ext cx="3870655" cy="4059936"/>
          </a:xfrm>
          <a:prstGeom prst="roundRect">
            <a:avLst>
              <a:gd name="adj" fmla="val 3307"/>
            </a:avLst>
          </a:prstGeom>
          <a:solidFill>
            <a:srgbClr val="F6F9F7"/>
          </a:solidFill>
          <a:ln w="12700">
            <a:solidFill>
              <a:srgbClr val="E3E9E5"/>
            </a:solidFill>
            <a:prstDash val="solid"/>
          </a:ln>
        </p:spPr>
      </p:sp>
      <p:sp>
        <p:nvSpPr>
          <p:cNvPr id="15" name="Text 11"/>
          <p:cNvSpPr txBox="1"/>
          <p:nvPr/>
        </p:nvSpPr>
        <p:spPr>
          <a:xfrm>
            <a:off x="8010144" y="2103120"/>
            <a:ext cx="3395167"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BEFORE YOU WRITE, CHECK</a:t>
            </a:r>
            <a:endParaRPr lang="en-US" sz="1200" dirty="0"/>
          </a:p>
        </p:txBody>
      </p:sp>
      <p:sp>
        <p:nvSpPr>
          <p:cNvPr id="16" name="Text 12"/>
          <p:cNvSpPr/>
          <p:nvPr/>
        </p:nvSpPr>
        <p:spPr>
          <a:xfrm>
            <a:off x="8046720" y="2505456"/>
            <a:ext cx="332201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Capital letter at the start of every sentence?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Capital letters on your name and your town?</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Is “am” in every sentence that needs it?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Did you write “a” before your job?</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A full stop at the end of every sentence?</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am, is or are?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Copy each sentence and write am, is or are in the gap.</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I ______ from Hawassa.</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She ______ my friend.</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They ______ students.</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______ you a teacher?</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He ______ not from Gondar.</a:t>
            </a: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write full sentences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ONE full sentence for each. Check your four points.</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Write a sentence introducing yourself.</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Write a sentence about where you are from.</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Write a sentence introducing a friend, using “he” or “she”.</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Write a NEGATIVE sentence about yourself.</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Write a QUESTION asking someone where they are from.</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model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introducing yourself</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My name is Sara.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Capital M to start, capital S on the name, “is” between them, full stop at the end.</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where you are from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am from Bahir Dar.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 am”, never “I from”. Both words of the town name take capitals.</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introducing a friend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This is my friend Dawit. He is a student.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Two sentences: “this is” to present the person, then “he” because Dawit is a man.</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a negative sentence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am not a teacher.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“Not” comes after “am”. The verb stays — it is never removed to make a negative.</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a question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Where are you from?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verb “are” comes before “you”, and the sentence ends with a question mark, not a full stop.</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writing checklist for this module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Add these to the checks from Modules 1 and 2.</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35124"/>
            <a:ext cx="402336" cy="402336"/>
          </a:xfrm>
          <a:prstGeom prst="ellipse">
            <a:avLst/>
          </a:prstGeom>
          <a:solidFill>
            <a:srgbClr val="7A4FBF"/>
          </a:solidFill>
          <a:ln/>
        </p:spPr>
      </p:sp>
      <p:pic>
        <p:nvPicPr>
          <p:cNvPr id="13" name="Image 1" descr="preencoded.png">    </p:cNvPr>
          <p:cNvPicPr>
            <a:picLocks noChangeAspect="1"/>
          </p:cNvPicPr>
          <p:nvPr/>
        </p:nvPicPr>
        <p:blipFill>
          <a:blip r:embed="rId2"/>
          <a:stretch>
            <a:fillRect/>
          </a:stretch>
        </p:blipFill>
        <p:spPr>
          <a:xfrm>
            <a:off x="882945" y="2231685"/>
            <a:ext cx="209215" cy="209215"/>
          </a:xfrm>
          <a:prstGeom prst="rect">
            <a:avLst/>
          </a:prstGeom>
        </p:spPr>
      </p:pic>
      <p:sp>
        <p:nvSpPr>
          <p:cNvPr id="14" name="Text 9"/>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Is am / is / are in every sentence?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English always needs this verb. “He teacher” is never correct.</a:t>
            </a:r>
            <a:endParaRPr lang="en-US" sz="2100" dirty="0"/>
          </a:p>
        </p:txBody>
      </p:sp>
      <p:sp>
        <p:nvSpPr>
          <p:cNvPr id="15" name="Shape 10"/>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1"/>
          <p:cNvSpPr/>
          <p:nvPr/>
        </p:nvSpPr>
        <p:spPr>
          <a:xfrm>
            <a:off x="786384" y="3186684"/>
            <a:ext cx="402336" cy="402336"/>
          </a:xfrm>
          <a:prstGeom prst="ellipse">
            <a:avLst/>
          </a:prstGeom>
          <a:solidFill>
            <a:srgbClr val="7A4FBF"/>
          </a:solidFill>
          <a:ln/>
        </p:spPr>
      </p:sp>
      <p:pic>
        <p:nvPicPr>
          <p:cNvPr id="17" name="Image 2" descr="preencoded.png">    </p:cNvPr>
          <p:cNvPicPr>
            <a:picLocks noChangeAspect="1"/>
          </p:cNvPicPr>
          <p:nvPr/>
        </p:nvPicPr>
        <p:blipFill>
          <a:blip r:embed="rId3"/>
          <a:stretch>
            <a:fillRect/>
          </a:stretch>
        </p:blipFill>
        <p:spPr>
          <a:xfrm>
            <a:off x="882945" y="3283245"/>
            <a:ext cx="209215" cy="209215"/>
          </a:xfrm>
          <a:prstGeom prst="rect">
            <a:avLst/>
          </a:prstGeom>
        </p:spPr>
      </p:pic>
      <p:sp>
        <p:nvSpPr>
          <p:cNvPr id="18" name="Text 12"/>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Does the pronoun match the person?</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He for a man. She for a woman. His and her follow the same rule.</a:t>
            </a:r>
            <a:endParaRPr lang="en-US" sz="2100" dirty="0"/>
          </a:p>
        </p:txBody>
      </p:sp>
      <p:sp>
        <p:nvSpPr>
          <p:cNvPr id="19" name="Shape 13"/>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4"/>
          <p:cNvSpPr/>
          <p:nvPr/>
        </p:nvSpPr>
        <p:spPr>
          <a:xfrm>
            <a:off x="786384" y="4238244"/>
            <a:ext cx="402336" cy="402336"/>
          </a:xfrm>
          <a:prstGeom prst="ellipse">
            <a:avLst/>
          </a:prstGeom>
          <a:solidFill>
            <a:srgbClr val="7A4FBF"/>
          </a:solidFill>
          <a:ln/>
        </p:spPr>
      </p:sp>
      <p:pic>
        <p:nvPicPr>
          <p:cNvPr id="21" name="Image 3" descr="preencoded.png">    </p:cNvPr>
          <p:cNvPicPr>
            <a:picLocks noChangeAspect="1"/>
          </p:cNvPicPr>
          <p:nvPr/>
        </p:nvPicPr>
        <p:blipFill>
          <a:blip r:embed="rId4"/>
          <a:stretch>
            <a:fillRect/>
          </a:stretch>
        </p:blipFill>
        <p:spPr>
          <a:xfrm>
            <a:off x="882945" y="4334805"/>
            <a:ext cx="209215" cy="209215"/>
          </a:xfrm>
          <a:prstGeom prst="rect">
            <a:avLst/>
          </a:prstGeom>
        </p:spPr>
      </p:pic>
      <p:sp>
        <p:nvSpPr>
          <p:cNvPr id="22" name="Text 15"/>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Is there “a” before the job?</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“I am a student.” — not “I am student.”</a:t>
            </a:r>
            <a:endParaRPr lang="en-US" sz="2100" dirty="0"/>
          </a:p>
        </p:txBody>
      </p:sp>
      <p:sp>
        <p:nvSpPr>
          <p:cNvPr id="23" name="Shape 16"/>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17"/>
          <p:cNvSpPr/>
          <p:nvPr/>
        </p:nvSpPr>
        <p:spPr>
          <a:xfrm>
            <a:off x="786384" y="5289804"/>
            <a:ext cx="402336" cy="402336"/>
          </a:xfrm>
          <a:prstGeom prst="ellipse">
            <a:avLst/>
          </a:prstGeom>
          <a:solidFill>
            <a:srgbClr val="7A4FBF"/>
          </a:solidFill>
          <a:ln/>
        </p:spPr>
      </p:sp>
      <p:pic>
        <p:nvPicPr>
          <p:cNvPr id="25" name="Image 4" descr="preencoded.png">    </p:cNvPr>
          <p:cNvPicPr>
            <a:picLocks noChangeAspect="1"/>
          </p:cNvPicPr>
          <p:nvPr/>
        </p:nvPicPr>
        <p:blipFill>
          <a:blip r:embed="rId5"/>
          <a:stretch>
            <a:fillRect/>
          </a:stretch>
        </p:blipFill>
        <p:spPr>
          <a:xfrm>
            <a:off x="882945" y="5386365"/>
            <a:ext cx="209215" cy="209215"/>
          </a:xfrm>
          <a:prstGeom prst="rect">
            <a:avLst/>
          </a:prstGeom>
        </p:spPr>
      </p:pic>
      <p:sp>
        <p:nvSpPr>
          <p:cNvPr id="26" name="Text 18"/>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Does the question start with the verb?</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“Are you a student?” — not “You are a student?”</a:t>
            </a:r>
            <a:endParaRPr lang="en-US" sz="2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It is 9 in the morning. What do you say?</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Good night     b) Good morning     c) Good evening</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Complete: “She ___ my friend.”</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am     b) are     c) is</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Which is a question?</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You are a student.     b) Are you a student?     c) You a student.</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Complete: “This is Dawit. ___ is from Adama.”</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She     b) He     c) It</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Someone says “Nice to meet you.” You say …</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Nice to meet you too.     b) Yes.     c) Good night.</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B — fill in the blank</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Copy each sentence and fill the gap.</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My name ______ Hana.</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I ______ from Gondar.</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______ is my friend Dawit.</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She is ______ nurse.</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How ______ you?  —  I am fine, thank you.</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Match the question to the answer, and the person to the pronoun.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Part 1 — match the QUESTION to the ANSWER</a:t>
            </a:r>
            <a:endParaRPr lang="en-US" sz="1650" dirty="0"/>
          </a:p>
          <a:p>
            <a:pPr indent="0" marL="0">
              <a:lnSpc>
                <a:spcPct val="102000"/>
              </a:lnSpc>
              <a:spcBef>
                <a:spcPts val="291"/>
              </a:spcBef>
              <a:buNone/>
            </a:pPr>
            <a:r>
              <a:rPr lang="en-US" sz="1260" dirty="0">
                <a:solidFill>
                  <a:srgbClr val="3A473F"/>
                </a:solidFill>
                <a:latin typeface="Calibri" pitchFamily="34" charset="0"/>
                <a:ea typeface="Calibri" pitchFamily="34" charset="-122"/>
                <a:cs typeface="Calibri" pitchFamily="34" charset="-120"/>
              </a:rPr>
              <a:t>1. What is your name?     2. Where are you from?     3. How old are you?     4. How are you?</a:t>
            </a:r>
            <a:endParaRPr lang="en-US" sz="165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I am from Jimma.        b) I am fine, thank you.</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 My name is Abel.        d) I am thirty years old.</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2 — match the PERSON to the PRONOUN</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my brother     2. my sister     3. my bag     4. my parents          a) she     b) it     c) they     d) he</a:t>
            </a:r>
            <a:endParaRPr lang="en-US" sz="15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3 — match the GREETING to the TIME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Good morning     2. Good afternoon     3. Good evening          a) 8 p.m.     b) 8 a.m.     c) 2 p.m.</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put the conversation in order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correct order of the six lines.</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a)  Nice to meet you too. Where are you from?</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b)  Good morning. My name is Sara. What is your name?</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c)  I am from Addis Ababa. And you?</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d)  Good morning, Sara. My name is Dawit. Nice to meet you.</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e)  I am from Bahir Dar. See you tomorrow.</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f)  Nice to meet you, Dawit.</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find and correct the mistake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sentence correctly.</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I student.</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My sister, he is a nurse.</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she is from gondar.</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You are a teacher?</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He not from Adama.</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“Good night” is a greeting when you arrive.</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In English, “you” is the same for men and women.</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We say “I am a student”, not “I am student”.</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“His” is used for a woman.</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To make a question with “to be”, the verb comes first.</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“Nice to meet you” is answered with “Nice to meet you too”.</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complete sentence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What is your name?</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Where are you from?</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How old are you?</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Are you a teacher?</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Who is your friend in this class? Write two sentences about them.</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One minute per task.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Speak, do not write. Your partner listens and checks.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Introduce yourself in four sentences.</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Ask your partner all five questions from slide 9.</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Introduce your partner to the class in two sentences.</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Greet three people correctly for the time of day right now.</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mixed challenge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Take your time. Look back at earlier slides if you need to.</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Write a conversation of six lines between two people meeting for the first time.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Use greetings, names, towns and a goodbye.</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Correct this and explain each change:  “hello. i am sara. she is my friend dawit.”</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There are five things to fix.</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Write three sentences about a classmate using he or she, his or her.</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Check the pronoun matches the person every time.</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Turn these into questions:  “She is a nurse.”  ·  “They are from Jimma.”</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Remember which two words swap.</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Someone greets you at 8 p.m. as they ARRIVE. What do they say, and what do you say back?</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Careful — this is the greeting trap.</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There is no single right answer. Explain your thinking.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if you can. These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Why is “He teacher” wrong in English but natural to say for an Amharic speaker?</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does English need that Amharic does not?</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Why is “And you?” so important in a conversation?</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happens if you leave it out?</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Your friend says “My mother, he is a nurse.” How would you explain the mistake?</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Explain it so they remember, not just so they know.</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When you are not sure whether to be formal or informal, what should you choose and why?</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Think about the cost of choosing wrongly each way.</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3 quiz — Part 1 · Greetings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answers on paper. Do not look back at the earlier slides.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It is 10 in the morning. What do you say?</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Good evening     b) Good morning     c) Good night</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You ARRIVE at class at 7 p.m. What do you say?</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Good evening     b) Good night     c) Good afternoon</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Someone says “How are you?” Write a complete answer.</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Do not forget to ask back.</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Which greeting is formal?</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Hi     b) Hello     c) Good morning</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3 quiz — Part 2 · The verb “to be”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Complete: “I ___ a student.”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am     b) is     c) are</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Complete: “They ___ from Jimma.”</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am     b) is     c) are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Correct this: “He not a teacher.”</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whole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Make this a question: “She is your friend.”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Two words swap.</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450" b="1" dirty="0">
                <a:solidFill>
                  <a:srgbClr val="12211B"/>
                </a:solidFill>
                <a:latin typeface="Calibri" pitchFamily="34" charset="0"/>
                <a:ea typeface="Calibri" pitchFamily="34" charset="-122"/>
                <a:cs typeface="Calibri" pitchFamily="34" charset="-120"/>
              </a:rPr>
              <a:t>Module 3 quiz — Part 3 · Pronouns and possessives</a:t>
            </a:r>
            <a:endParaRPr lang="en-US" sz="34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Complete: “This is Dawit. ___ is from Adama.”</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She     b) He     c) It</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Complete: “This is Hana. ___ bag is red.”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His     b) Her     c) She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Correct this: “My brother, she is a driver.”</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whole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Which word do you use for you and one other person?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they     b) we     c) he</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300" b="1" dirty="0">
                <a:solidFill>
                  <a:srgbClr val="12211B"/>
                </a:solidFill>
                <a:latin typeface="Calibri" pitchFamily="34" charset="0"/>
                <a:ea typeface="Calibri" pitchFamily="34" charset="-122"/>
                <a:cs typeface="Calibri" pitchFamily="34" charset="-120"/>
              </a:rPr>
              <a:t>Module 3 quiz — Part 4 · Conversation and listening</a:t>
            </a:r>
            <a:endParaRPr lang="en-US" sz="33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Someone says “Nice to meet you.” Write the reply.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word is often forgotten.</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Write the question that gets this answer: “I am from Bahir Dar.”</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Check the word order.</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Listen: your teacher introduces someone. Write the name and the town.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Capital letters.</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Listen: is the speaker a student? Answer in a full sentence.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Listen for “not”.</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Module 3 quiz — Part 5 · Writing and speaking</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Write a sentence introducing yourself.</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Check the verb and the capitals.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Write a NEGATIVE sentence about yourself.</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Where does “not” go?</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Write two sentences introducing a friend.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Use “this is” and then “he” or “she”.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SPEAKING: introduce yourself in four sentences, then introduce your partner.</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Your teacher or partner listens and checks.</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 — 10 in the morning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Good morning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“Good morning” is used from waking until midday. “Good night” is for leaving, not arriving.</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 — arriving at 7 p.m.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Good evening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“Good evening” greets someone arriving. “Good night” says goodbye. This is the greeting trap of the module.</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Q3 — answering “How are you?”</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am fine, thank you. And you?</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Answer, then ask back. Without “And you?” the conversation stops after one exchange.</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Q4 — which greeting is formal?</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 Good morning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“Hi” and “Hello” are informal to neutral. When you are unsure, choose the formal one — nobody is offended by it.</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Q5 — “I ___ a student.”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am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With “I” the form is always “am”. Never “I is” or “I are”.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Q6 — “They ___ from Jimma.”</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 are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“They” is more than one person, so the form is “are”.</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Q7 — correct “He not a teacher.”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is not a teacher.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verb “is” cannot be removed. “Not” goes after it, never instead of it.</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Q8 — “She is your friend.” as a question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Is she your friend?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first two words swap places, and the full stop becomes a question mark.</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Q9 — “This is Dawit. ___ is from Adama.”</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He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Dawit is a man, so the pronoun is “he”. In English the pronoun carries this information.</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Q10 — “This is Hana. ___ bag is red.”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Her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“Her” is the possessive for a woman. “She” is the person; “her” goes before the thing she owns.</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Q11 — correct “My brother, she is a driver.”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My brother, he is a driver.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brother is a man, so “he”. This is the most persistent pronoun error for Ethiopian learners.</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Q12 — you and one other person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we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“We” means the speaker plus at least one other. “They” means other people not including you.</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Q13 — reply to “Nice to meet you.”</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Nice to meet you too.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word “too” is the one learners forget. Without it the reply sounds unfinished.</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Q14 — question for “I am from Bahir Dar.”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Where are you from?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verb “are” comes before “you”. “Where you are from?” is the word-order error.</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Q15 — the name and the town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Yonas · Dire Dawa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take capital letters, and Dire Dawa is two words, both capitalised.</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Q16 — is the speaker a student?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he is not. He is a bank teller.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word “not” is the key. A strong answer gives the negative and then the real information.</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Q17 — introducing yourself</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“My name is Sara.”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Any name works. What is marked is the verb “is”, the two capitals and the full stop.</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Q18 — a negative sentence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“I am not a teacher.”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“Not” comes after “am”. The verb is never removed to make a negative.</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Q19 — introducing a friend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This is my friend Dawit. He is from Adama.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“This is” presents the person; the second sentence must use the pronoun that matches them.</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Q20 — speaking task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Four sentences about yourself, two about your partner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being understood, on the verb appearing in every sentence, and on the correct pronoun for the partner.</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every day this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minutes a day is better than one hour on Sunday.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your four-sentence introduction out loud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Five times. Standing up. Out loud, not in your head.</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Chant the verb “to be”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am, you are, he is, she is, it is, we are, they are.” Three times.</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Point and say “he” or “she”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Look at ten people — in the street, on TV, in a photo. Say “he” or “she” for each one.</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Greet five people in English</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Use the right greeting for the time of day. Family counts.</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Introduce one person to another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In English if you can. “This is my friend ___.”</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Bring these to the next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the verb “to be” in full</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All six forms with an example sentence for each: I am… · You are… · He is… · She is… · It is… · We are…</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a six-line conversation</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Two people meeting for the first time. Greeting, names, towns, and a goodbye. Check your eleven points before handing it in.</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 45-second speaking challenge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Greet · introduce yourself · introduce someone else · ask three questions · say goodbye. Send it, or perform it live.</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your homework will be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know the standard before you start.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The verb “to be” — 5 marks</a:t>
            </a:r>
            <a:endParaRPr lang="en-US" sz="1750" dirty="0"/>
          </a:p>
          <a:p>
            <a:pPr indent="0" marL="0">
              <a:lnSpc>
                <a:spcPct val="102000"/>
              </a:lnSpc>
              <a:spcBef>
                <a:spcPts val="350"/>
              </a:spcBef>
              <a:buNone/>
            </a:pPr>
            <a:r>
              <a:rPr lang="en-US" sz="1400" dirty="0">
                <a:solidFill>
                  <a:srgbClr val="3A473F"/>
                </a:solidFill>
                <a:latin typeface="Calibri" pitchFamily="34" charset="0"/>
                <a:ea typeface="Calibri" pitchFamily="34" charset="-122"/>
                <a:cs typeface="Calibri" pitchFamily="34" charset="-120"/>
              </a:rPr>
              <a:t>Six forms correct (3) · six example sentences that make sense (2).</a:t>
            </a:r>
            <a:endParaRPr lang="en-US" sz="175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Six-line conversation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Six lines written (3) · the verb in every sentence (3) · capitals on names and places (2) · correct end marks (2).</a:t>
            </a:r>
            <a:endParaRPr lang="en-US" sz="150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Recording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All five steps present (4) · the verb used correctly throughout (3) · correct he or she for the other person (3).</a:t>
            </a:r>
            <a:endParaRPr lang="en-US" sz="150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Total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20+ excellent · 15–19 good · 10–14 keep practising · below 10 → repeat Exercises A–F with your teacher.</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you learned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things. Check each one — can you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Greetings by time</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Good morning · good afternoon · good evening — and “good night” is a goodbye.</a:t>
            </a:r>
            <a:endParaRPr lang="en-US" sz="160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Introducing yourself</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Greeting · name · town · job. Four sentences, learned by heart.</a:t>
            </a:r>
            <a:endParaRPr lang="en-US" sz="160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 verb “to be”</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I am · you are · he is · she is · it is · we are · they are.</a:t>
            </a:r>
            <a:endParaRPr lang="en-US" sz="160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Questions and negatives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“Are you a student?”  ·  “I am not a teacher.”</a:t>
            </a:r>
            <a:endParaRPr lang="en-US" sz="175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He, she, his, her</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The pronoun matches the person, not the thing.</a:t>
            </a:r>
            <a:endParaRPr lang="en-US" sz="175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Six useful phrases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Including “Nice to meet you” and “And you?” — the phrase that keeps a conversation alive.</a:t>
            </a:r>
            <a:endParaRPr lang="en-US" sz="1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 these where you can see them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language you must be able to produce, not just recognise.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E7F3EF"/>
          </a:solidFill>
          <a:ln w="12700">
            <a:solidFill>
              <a:srgbClr val="C4E0D5"/>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five words</a:t>
            </a:r>
            <a:endParaRPr lang="en-US" sz="20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hello  /həˈləʊ/     ·     name  /neɪm/</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friend  /frend/     ·     student  /ˈstjuːdənt/</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goodbye  /ɡʊdˈbaɪ/</a:t>
            </a:r>
            <a:endParaRPr lang="en-US" sz="1650" dirty="0"/>
          </a:p>
        </p:txBody>
      </p:sp>
      <p:sp>
        <p:nvSpPr>
          <p:cNvPr id="16" name="Shape 11"/>
          <p:cNvSpPr/>
          <p:nvPr/>
        </p:nvSpPr>
        <p:spPr>
          <a:xfrm>
            <a:off x="6196432" y="1883664"/>
            <a:ext cx="5446624" cy="1929384"/>
          </a:xfrm>
          <a:prstGeom prst="roundRect">
            <a:avLst>
              <a:gd name="adj" fmla="val 6635"/>
            </a:avLst>
          </a:prstGeom>
          <a:solidFill>
            <a:srgbClr val="E7F3EF"/>
          </a:solidFill>
          <a:ln w="12700">
            <a:solidFill>
              <a:srgbClr val="C4E0D5"/>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verb “to be”</a:t>
            </a:r>
            <a:endParaRPr lang="en-US" sz="20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I am · you are · he is · she is</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it is · we are · they are</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Short: I'm · you're · he's · she's · we're</a:t>
            </a:r>
            <a:endParaRPr lang="en-US" sz="1650" dirty="0"/>
          </a:p>
        </p:txBody>
      </p:sp>
      <p:sp>
        <p:nvSpPr>
          <p:cNvPr id="21" name="Shape 15"/>
          <p:cNvSpPr/>
          <p:nvPr/>
        </p:nvSpPr>
        <p:spPr>
          <a:xfrm>
            <a:off x="548640" y="4014216"/>
            <a:ext cx="5446624" cy="1929384"/>
          </a:xfrm>
          <a:prstGeom prst="roundRect">
            <a:avLst>
              <a:gd name="adj" fmla="val 6635"/>
            </a:avLst>
          </a:prstGeom>
          <a:solidFill>
            <a:srgbClr val="E7F3EF"/>
          </a:solidFill>
          <a:ln w="12700">
            <a:solidFill>
              <a:srgbClr val="C4E0D5"/>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four-sentence introduction</a:t>
            </a:r>
            <a:endParaRPr lang="en-US" sz="20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Good morning.</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My name is ______.</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I am from ______.</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I am a ______.</a:t>
            </a:r>
            <a:endParaRPr lang="en-US" sz="1500" dirty="0"/>
          </a:p>
        </p:txBody>
      </p:sp>
      <p:sp>
        <p:nvSpPr>
          <p:cNvPr id="26" name="Shape 19"/>
          <p:cNvSpPr/>
          <p:nvPr/>
        </p:nvSpPr>
        <p:spPr>
          <a:xfrm>
            <a:off x="6196432" y="4014216"/>
            <a:ext cx="5446624" cy="1929384"/>
          </a:xfrm>
          <a:prstGeom prst="roundRect">
            <a:avLst>
              <a:gd name="adj" fmla="val 6635"/>
            </a:avLst>
          </a:prstGeom>
          <a:solidFill>
            <a:srgbClr val="E7F3EF"/>
          </a:solidFill>
          <a:ln w="12700">
            <a:solidFill>
              <a:srgbClr val="C4E0D5"/>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five questions</a:t>
            </a:r>
            <a:endParaRPr lang="en-US" sz="20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What is your name?  ·  Where are you from?</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How old are you?  ·  What do you do?</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How are you?  →  I am fine, thank you. And you?</a:t>
            </a:r>
            <a:endParaRPr lang="en-US" sz="16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CONGRATULATIONS</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You can now meet a stranger and hold a conversation — entirely in English.</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750" dirty="0">
                <a:solidFill>
                  <a:srgbClr val="B9CFC1"/>
                </a:solidFill>
                <a:latin typeface="Calibri" pitchFamily="34" charset="0"/>
                <a:ea typeface="Calibri" pitchFamily="34" charset="-122"/>
                <a:cs typeface="Calibri" pitchFamily="34" charset="-120"/>
              </a:rPr>
              <a:t>Greeting, your name, where you are from, what you do, and a question back.</a:t>
            </a:r>
            <a:endParaRPr lang="en-US" sz="1750" dirty="0"/>
          </a:p>
          <a:p>
            <a:pPr indent="0" marL="0">
              <a:lnSpc>
                <a:spcPct val="120000"/>
              </a:lnSpc>
              <a:buNone/>
            </a:pPr>
            <a:r>
              <a:rPr lang="en-US" sz="1750" dirty="0">
                <a:solidFill>
                  <a:srgbClr val="B9CFC1"/>
                </a:solidFill>
                <a:latin typeface="Calibri" pitchFamily="34" charset="0"/>
                <a:ea typeface="Calibri" pitchFamily="34" charset="-122"/>
                <a:cs typeface="Calibri" pitchFamily="34" charset="-120"/>
              </a:rPr>
              <a:t>That is a real social exchange, and three modules ago you could not read an English word.</a:t>
            </a:r>
            <a:endParaRPr lang="en-US" sz="175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NEXT — Module 4</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Everyday Vocabulary</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Family · colours · food · jobs · weather and more</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1 · Beginner English · Module 3 — Greetings &amp; Introductions</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1 · Module 3 — Greetings &amp; Introductions</dc:title>
  <dc:subject>English course for Ethiopian learners — Level 1 Beginner</dc:subject>
  <dc:creator>English Learning Platform</dc:creator>
  <cp:lastModifiedBy>English Learning Platform</cp:lastModifiedBy>
  <cp:revision>1</cp:revision>
  <dcterms:created xsi:type="dcterms:W3CDTF">2026-07-27T18:38:30Z</dcterms:created>
  <dcterms:modified xsi:type="dcterms:W3CDTF">2026-07-27T18:38:30Z</dcterms:modified>
</cp:coreProperties>
</file>