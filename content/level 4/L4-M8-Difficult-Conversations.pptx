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Whole module: four 60-minute lessons.
HOW TO TEACH: Open honestly: these conversations are difficult for everybody, in every language. What a second language adds is the fear of getting the words wrong at the worst possible moment — and that is what structure fixes.
TIP: This is the final module of the whole course. Say so, and say what learners will have completed: four levels, thirty modules, pre-A1 to B2.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Objective 3 is the one that changes careers. Most people either argue with criticism or accept it silently, and both close the conversation.
TIP: Objective 5 is culturally loaded and worth naming. Raising a problem upwards is difficult everywhere and the structure makes it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Task 3 is the diagnostic and it usually surprises learners. Most avoided conversations are avoided for human reasons, not linguistic ones.
COMMON MISTAKES: Do not ask anybody to share their conversation. The privacy is what makes the honesty possible.
TIP: Task 2 makes the cost visible. A conversation avoided for six months has usually cost more than having it would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The third chip is the module's ethic. Vagueness feels kind and is not — it leaves the other person to discover the problem later and worse.
COMMON MISTAKES: Learners equate directness with unkindness. The unkind option is usually silence followed by a much harder conversation.
EXTRA EXAMPLES: The second chip is the practical promise: every conversation in this module has a four-step structure, and having one removes most of the fear.
TIP: Say plainly that these are hard for native speakers too. Learners often assume their difficulty is a language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16 minutes.
HOW TO TEACH: Step 2 is the discipline. Learners want to explain the background first, and the listener cannot process any of it until they know the fact.
COMMON MISTAKES: Burying the news in the middle of an explanation. The listener spends the whole preamble waiting and hears none of it.
EXTRA EXAMPLES: Step 1 matters more than it looks. Two seconds of warning genuinely changes how the news lands.
TIP: Step 4 is what separates bad news from a crisis. Arriving with a next step, however partial, changes the whole conversation.
CLASSROOM ACTIVITY: Four steps: every learner delivers a piece of real bad news in exactly four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17 minutes.
HOW TO TEACH: The note carries the full three-part structure. Behaviour is checkable, effect explains why it matters, and the request says what to do instead.
COMMON MISTAKES: “You always” and “you never” are almost never true and they invite a factual argument about frequency instead of a discussion about the problem.
EXTRA EXAMPLES: Character criticism cannot be acted on even by somebody who wants to. “Be less careless” is not a instruction anyone can follow.
TIP: The request in step 3 is what learners omit. Criticism without a request is a complaint.
CLASSROOM ACTIVITY: Three parts: give ten character criticisms and have learners rewrite each as behaviour, effect and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17 minutes. The centre of the module.
HOW TO TEACH: Step 1 is genuinely difficult and it is the whole skill. Two seconds of silence prevents the defensive sentence that makes everything worse.
COMMON MISTAKES: Defending immediately. Even when the defence is correct, it signals that criticism will always be argued with, and people stop giving it.
EXTRA EXAMPLES: Step 2 is also protective. Vague criticism cannot be acted on and asking for an example is entirely reasonable.
TIP: Step 3 is partial by design. “You're right about the figures” concedes one thing without accepting an unfair whole.
CLASSROOM ACTIVITY: Two seconds: give each learner a criticism and require two full seconds of silence before any reply.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16 minutes.
HOW TO TEACH: The note is the structure. The absence of “but” is the test — “I'm sorry, but I was very busy” is not an apology.
COMMON MISTAKES: Row 2 is common and corrosive. “I'm sorry you feel that way” apologises for their emotion and accepts nothing.
EXTRA EXAMPLES: Row 4 matters for learners specifically. Beginning every sentence with “sorry” is common in second-language speakers and it quietly signals a lack of standing.
TIP: Say it plainly: apologise fully when you are wrong, and stop apologising for existing. They are different problems with opposite fixes.
CLASSROOM ACTIVITY: Count the sorries: learners count their own reflex apologies for one day and report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16 minutes.
HOW TO TEACH: Step 4 is what distinguishes raising a problem from complaining. Arriving with a proposal is what makes the conversation welcome.
COMMON MISTAKES: Raising it in a corridor, without warning and without a proposal. That combination guarantees a defensive response.
EXTRA EXAMPLES: Step 2's “we” is doing real work. “We may have an issue” invites collaboration; “you have a problem” invites defence.
TIP: This is Module 2's argument structure and Module 6's preparation, applied upwards. Nothing here is new; the application is.
CLASSROOM ACTIVITY: Raise it: every learner rehearses raising a real problem with a real senior person, in four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16 minutes.
HOW TO TEACH: The first right-hand item is the most reliable. Lowering your own volume and pace pulls the other person's down within about thirty seconds.
COMMON MISTAKES: “Calm down” is heard as a judgement about their behaviour and it reliably makes things worse. Ban it explicitly.
EXTRA EXAMPLES: The fourth item — postponing — is legitimate and under-used. A conversation that has become heated rarely produces a good outcome that day.
TIP: The note is the practical rule to remember. One phrase to avoid entirely, and one that does the same job safely.
CLASSROOM ACTIVITY: Lower it: role-play four heated exchanges and have the partner practise all four de-escalating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This is the professional verb for starting a difficult conversation. “Can I raise something?” is neutral and gives no offence.
COMMON MISTAKES: Confusing raise with rise. Raise takes an object; rise does not.
EXTRA EXAMPLES: raise an issue · raise a concern · raise it with somebody · I'd like to raise…
TIP: “Can I raise something with you?” is a complete, safe opener for almost any difficult conversation.
CLASSROOM ACTIVITY: Raise five: every learner opens five difficult topics using the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This word is a de-escalation tool. Framing a dispute as a misunderstanding lets both sides move without either admitting fault.
COMMON MISTAKES: The stress placement on a six-syllable word. Build it backwards from “standing”.
EXTRA EXAMPLES: “I think there's been a misunderstanding” is one of the most useful sentences in conflict. It blames nobody and reopens everything.
TIP: It is sometimes a polite fiction — and a useful one. It gives both sides a way out that costs neither of them anything.
CLASSROOM ACTIVITY: Reframe it: give six disputes and have learners reframe each as a misunderstanding.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Naming the reaction is what makes it controllable. A learner who can say “I got defensive” can notice it happening next time.
COMMON MISTAKES: Treating defensiveness as a personality flaw. It is a normal reflex and the two-second pause is the fix.
EXTRA EXAMPLES: “Sorry, I'm being defensive — let me start again” is an unusually mature thing to say and it works.
TIP: This word connects directly to slide 7 step 1. The pause exists precisely to prevent this reaction.
CLASSROOM ACTIVITY: Notice it: learners recall one time they became defensive and what they would do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This word appears in Module 2 and returns deliberately. There it conceded an argument; here it concedes a mistake, which is harder.
COMMON MISTAKES: The silent W and the /dʒ/ ending. Four syllables, stress on the second.
EXTRA EXAMPLES: “I acknowledge that…” is more formal than “you're right about…” and both do the job.
TIP: Acknowledging the true part of an unfair criticism is the skill in slide 7 step 3. It is partial, and that is legitimate.
CLASSROOM ACTIVITY: Acknowledge one thing: in every role-play, the receiver must acknowledge at least one true element.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The mistake line is the test. “Constructive criticism” with no request attached is just criticism with a nicer label.
COMMON MISTAKES: Calling any criticism constructive. The word requires a route forward, not merely a polite tone.
EXTRA EXAMPLES: “Can we keep this constructive?” is a legitimate move when a conversation is turning into complaint.
TIP: Applied to slide 6: behaviour and effect are the criticism; the request is what makes it constructive.
CLASSROOM ACTIVITY: Constructive or not: give eight pieces of feedback and have learners judge each against the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The common feature is warning. A difficult conversation that begins without one puts the listener on the back foot immediately.
COMMON MISTAKES: Starting with the content. “Your figures were wrong” with no opener is heard as an attack even when it is a fact.
EXTRA EXAMPLES: Row 3 asking permission is unusually effective. Very few people say no, and asking changes the register of what follows.
TIP: Drill all five as chunks. The moment you need them is the moment you least want to construct a sentence.
CLASSROOM ACTIVITY: Five openers: every learner uses all five for five different real situations.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16 minutes.
HOW TO TEACH: The note prevents the usual objection. Nothing is being hidden; the subject of the sentence has moved from the person to the problem.
COMMON MISTAKES: Over-using it until it sounds evasive. “I feel that mistakes may have occurred” is worse than either version.
EXTRA EXAMPLES: The right column is still specific and still uncomfortable. It is not a way of avoiding the conversation.
TIP: This works in every language and most people never learn it. It is one of the highest-value slides in the module.
CLASSROOM ACTIVITY: Switch the subject: give ten “you” statements and have learners rewrite each as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16 minutes.
HOW TO TEACH: The camera test is the sharpest tool here. It converts vague criticism into something specific in one question.
COMMON MISTAKES: Stopping after two parts. Behaviour and effect without a request leaves the person knowing they failed and not what to do.
EXTRA EXAMPLES: The request should be small and concrete. “Be more careful” fails the same test as “you're careless”.
TIP: Three parts, three sentences, about fifteen seconds. Difficult conversations are short when they are structured.
CLASSROOM ACTIVITY: Camera test: give twelve criticisms and have learners judge which would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16 minutes.
HOW TO TEACH: The no-“but” rule is the single clearest test. “I'm sorry, but I was very busy” withdraws the apology in the same sentence.
COMMON MISTAKES: Naming the effect on the project rather than on the person. “It delayed the report” is weaker than “it cost you a day”.
EXTRA EXAMPLES: Part 3 is what makes it credible. An apology with no change attached is a performance.
TIP: Three sentences. A long apology is usually an explanation wearing an apology's clothes.
CLASSROOM ACTIVITY: Fix the apology: give eight flawed apologies and have learners repair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Habit 4 is the one to enforce in every role-play. It is difficult, it is learnable, and it prevents most bad outcomes.
COMMON MISTAKES: Habit 1 is skipped out of hope. Almost no difficult conversation resolves itself by being left.
EXTRA EXAMPLES: Habits 2, 3 and 5 are all structural. Structure is what makes these conversations possible when you are nervous.
TIP: Print these five. They are the last habits of the course and among the most transferable.
CLASSROOM ACTIVITY: One habit each: assign each learner one habit to apply in a real conversation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16 minutes.
HOW TO TEACH: Note what is absent: no explanation of why the funding failed. That comes later if he asks. The news comes first.
COMMON MISTAKES: Learners want to explain first. Ask how Tolosa would feel through a two-minute preamble about the funding committee.
EXTRA EXAMPLES: The last turn — “let's look at them” — happens because she arrived with options. Without step 4 the conversation stops at the bad news.
TIP: Time it. This whole exchange takes about forty seconds and it is complete.
CLASSROOM ACTIVITY: Four sentences: every learner delivers real bad news in exactly four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17 minutes.
HOW TO TEACH: The fifth line is the sophisticated move. He explains the delay AND acknowledges his own failure inside it, which is not a defence.
COMMON MISTAKES: “Sloppy” is character criticism and it fails the camera test. Yonas's question converts it into two specific events.
EXTRA EXAMPLES: He does not accept “sloppy”. He accepts one error and one communication failure, which is accurate rather than submissive.
TIP: The ellipsis in line 2 is the two-second pause. Point it out — it is the hardest and most important part.
CLASSROOM ACTIVITY: Receive it: every learner is criticised and must pause, ask, acknowledge and ask what would be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Drill all six as chunks. These are needed at the exact moments when constructing a sentence is hardest.
COMMON MISTAKES: Phrase 4 used to accept everything. It is deliberately partial — “about that”, not “about all of it”.
EXTRA EXAMPLES: Phrase 6 is under-used. Postponing a heated conversation is not avoidance if a time is named.
TIP: Phrase 3 is protective as well as constructive. Vague criticism is unactionable and asking is entirely reasonable.
CLASSROOM ACTIVITY: Six phrases: run six short role-plays, one per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The ellipsis in line 2 must be performed as a real two-second silence. Have pairs do it properly — it feels much longer than it is.
COMMON MISTAKES: Learners fill the pause. Insist on the full two seconds; it is the point of the exercise.
TIP: The last line contains a real apology: what happened, its effect on them, and then a question. No “but” anywhere.
CLASSROOM ACTIVITY: Do it again with a criticism the learner has actually received.
ANSWERS: 1 example · 2 right · 3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18 minutes for all five rounds.
HOW TO TEACH: Round 3's timing is essential. Two seconds feels enormous to the person receiving criticism and it is what makes the rest possible.
COMMON MISTAKES: Round 4 containing a “but”. Have the partner listen for it specifically — it appears more often than learners expect.
TIP: Round 5 is the one learners most need and most avoid. Every learner should do it with a real situation.
CLASSROOM ACTIVITY: Real situations: use the conversation each learner named privately in the warm-up.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The four-sentence limit is the discipline. Learners want to explain, and the explanation belongs after the news if it is wanted at all.
COMMON MISTAKES: Explaining before the fact. Have the partner report how it felt waiting through a preamble.
EXTRA EXAMPLES: Step 4 is what most people omit. Bad news with no next step leaves the other person with nothing to do but react.
TIP: Forty seconds is enough for all four. Difficult conversations are short when they are structured.
CLASSROOM ACTIVITY: Four sentences: every learner delivers three different pieces of bad news in four sentences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16 minutes.
HOW TO TEACH: Step 1 is genuinely hard and it must be timed. Learners consistently produce half a second and believe it was two.
COMMON MISTAKES: Defending during the pause with facial expression. The silence should be genuine, not visibly impatient.
EXTRA EXAMPLES: Step 4's structure is the model: acknowledge your own part inside the explanation, and it stops being a defence.
TIP: Have the criticism be slightly unfair. Learning to acknowledge the true part of an unfair criticism is the real skill.
CLASSROOM ACTIVITY: Five criticisms each: every learner receives five and pauses two seconds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Demonstrate it. Have a learner raise their voice and respond progressively more quietly — the effect is visible within half a minute.
COMMON MISTAKES: Matching volume. It feels like holding your ground and it guarantees escalation.
EXTRA EXAMPLES: Falling intonation matters here as much as anywhere in the course. A rising sentence in a tense exchange sounds like a challenge.
TIP: This is the last sound drill of the course and one of the most practically useful. It works in any language.
CLASSROOM ACTIVITY: Quieter, slower: pairs practise responding to raised voices with lowered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16 minutes.
HOW TO TEACH: Step 4 is what makes this welcome rather than resented. Somebody who brings problems with proposals is valuable; somebody who brings only problems is not.
COMMON MISTAKES: Step 2 as “you have a problem”. The shared framing is what prevents an immediate defence.
EXTRA EXAMPLES: Step 3 protects the speaker. Evidence can be discussed; feelings can be dismissed as personal.
TIP: Use real situations. Every learner has something they have been meaning to raise and this is the rehearsal.
CLASSROOM ACTIVITY: Real problems: every learner rehearses one genuine upward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20 minutes including the comparison.
HOW TO TEACH: Step 5 is the last measurement of the course. Play the Module 1 recording immediately afterwards, and if the learner still has their Level 1 recording, play that too.
COMMON MISTAKES: Step 3's pause cut short under pressure. Time it — the recording makes the real duration undeniable.
TIP: This is the final recording of the whole course. Treat it as such — the comparison across four levels is what learners will remember.
CLASSROOM ACTIVITY: Then and now: play Level 1, Level 3 and Level 4 recordings for any learner willing.
ANSWERS: SUCCESS CRITERIA: four sentences of bad news with a next step · criticism passing the camera test with a request · a genuine two-second pause · an apology with three parts and no “but” · sixty seconds of fluent speech with audibly fewer long pauses than in Module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16 minutes.
HOW TO TEACH: Question 5 usually produces disagreement and then agreement. A feels softer and leaves the person with nothing; B is specific and gives a route.
COMMON MISTAKES: Learners initially judge B as harsher. Ask which they would rather receive from their own manager.
EXTRA EXAMPLES: Question 6 is honest: B is harder to say because it requires preparation. A can be said without thinking.
ANSWERS: 1 Nothing specific. 2 Check figures against the source; flag slipping deadlines early. 3 None — “sloppy”, “don't care” and “sort it out” are all uncheckable. 4 Behaviour, effect, request. 5 B. 6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Item 5 is the module's ethic in one question. Ask the class which they would rather receive and the disagreement resolves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16 minutes.
HOW TO TEACH: Number 3 is worth discussing. Repeated apology is common in second-language speakers and it reads as distress rather than accountability.
COMMON MISTAKES: Number 2's “but” is the classic. The listener hears only the second half, which is a justification.
EXTRA EXAMPLES: Number 4 is three sentences: act, effect on the person, and the change. Nothing else is needed.
ANSWERS: 1 It apologises for their reaction, not the act. 2 The “but” withdraws it. 3 Repetition without content. 4 Act, effect, change. 5 “But”. 6 Number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Number 3 is worth naming gently. Repeated apologising is common among second-language speakers and it costs standing without buying forgiveness.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Item 4 is the sophisticated one. Somebody who wants to be heard is not asking for a solution, and offering one makes it worse.
COMMON MISTAKES: Solving a problem when the person wanted acknowledgement. It is well-intentioned and it reliably escalates.
TIP: Item 2 is the two-second pause put to use. The pause exists so that you can do this before responding.
CLASSROOM ACTIVITY: What do they want: read six complaints and have learners identify what each person actually wanted.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17 minutes.
HOW TO TEACH: The final line is the sophisticated move. It signals confidence rather than doubt and it makes disagreement easy, which makes agreement more likely.
COMMON MISTAKES: Learners read the last line as weakness. Ask how it would read without it — considerably more confrontational.
EXTRA EXAMPLES: The evidence is three specific numbers and a worsening pattern. That is Module 2's evidence rule applied upwards.
ANSWERS: Time · shared problem · evidence · proposal. “We” makes it collaborative. Two, four and six days. It invites correction and lowers the stakes. No — he proposes.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Question 5 is the summary. He brings a problem, evidence and a proposal — which is a contribution rather than a complaint.
COMMON MISTAKES: Learners think the hedging weakens it. The hedges make it easy to engage with, and the evidence makes it hard to dismiss.
TIP: Question 3: three numbers showing a worsening trend is far stronger than one late delivery.
ANSWERS: 1 So she is not ambushed and can prepare. · 2 It makes it a shared problem rather than an accusation. · 3 Two, four and six days — three points show a trend. · 4 It invites correction and lowers the stakes for both. · 5 He brings a proposed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Item 4 is worth dwelling on. Learners read the closing hedge as weakness; it is the line that makes the whole email easy to accept.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16 minutes.
HOW TO TEACH: This is the same genuine problem, and it will not be acted on. That is the lesson: being right is not enough if the raising is done badly.
COMMON MISTAKES: “Always” is almost certainly false and it invites an argument about frequency instead of about the deliveries.
EXTRA EXAMPLES: “Nobody seems to be doing anything” includes Chaltu, which makes it an accusation dressed as an observation.
ANSWERS: No evidence. “Always” is untrue and arguable. Chaltu, by implication. No proposal. A demand with no content. Defensively.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Compare the two emails directly. Same problem, same person, same facts — and only one of them will result in anything changing.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The rewrites require inventing plausible specifics, which is the point: real criticism needs real examples and they must be gathered beforehand.
COMMON MISTAKES: Keeping “always” or “never”. Both are nearly always false and both invite an argument about frequency.
TIP: If a learner cannot invent a specific example, that is informative — the criticism may not be well-founded.
ANSWERS: MODELS: 1 “The last two reports had wrong figures. The board saw bad data. Could you check against the source before sending?” · 4 “In the last two meetings you spoke over Mimi. She stopped contributing. Could you let people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Item 5 is the passive hiding the doer, from Level 3 Module 8. Here it hides responsibility, which is its usual purpose.
COMMON MISTAKES: Item 4's “if” makes it conditional. It suggests you are not sure anybody was upset, which is worse than saying nothing.
TIP: Item 5 has no subject. Ask who made the mistakes — the sentence exists specifically to avoid answering that.
ANSWERS: MODELS: 1 “I'm sorry. I dismissed your point in the meeting and it made you look ignored. I'll ask for your view before I respond next time.” · 2 “I'm sorry. I missed the new date and it delayed your report by a day. I'll confirm dates in writing from now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22 minutes.
HOW TO TEACH: Step 6 is what turns preparation into action. A conversation without a time and place stays avoided.
COMMON MISTAKES: Step 1 longer than one sentence. If it cannot be said in one, it is not yet clear enough to say at all.
TIP: This is the most personally useful task in the course. Give it the full twenty-two minutes and do not rush step 5.
ANSWERS: No fixed answers. Step 2 must pass the camera test; step 5 must name a genuinely strong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What is NOT marked: whether you actually have the conversation. That is the learner's decision and it should not be graded — but ask about it in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Check 1 is the readiness test. A learner who cannot state the point in one sentence should prepare further before having the conversation.
TIP: Print this. It is the last checklist of the course and it applies to conversations in any language.
CLASSROOM ACTIVITY: Six checks: apply this to the conversation you named in the warm-up.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Answer alone, then compare in pairs before taking answers from the class.
TIP: Question 3 is the module's hardest habit. Say the answer twice.
ANSWERS: 1 b · 2 b · 3 b · 4 b · 5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The test is mechanical and that is its value. It converts a judgement about somebody into a question about evidence.
COMMON MISTAKES: Item 5 feels factual. “Always” cannot be recorded and one counter-example destroys it.
TIP: Have learners rewrite the three failures. That is where the learning is.
ANSWERS: 1 FAIL · 2 PASS · 3 FAIL · 4 PASS · 5 FAIL · 6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Three short tasks. Let learners work in pairs and compare.
TIP: Part 3 item 3 is the sophisticated one. Partial acknowledgement is legitimate and most people do not know that.
ANSWERS: Part 1: 1–c, 2–a, 3–b, 4–d.  ·  Part 2: 1–b, 2–a, 3–c.  ·  Part 3: 1–b, 2–a, 3–c.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Nothing is softened — the facts are identical. What changes is what the sentence is about.
COMMON MISTAKES: Item 3 keeping “always”. The rewrite also has to replace it with a countable fact.
TIP: Ask which version they would rather receive. The answer is consistent and it is the argument.
ANSWERS: MODELS: 1 “I didn't know about the change.” · 2 “I found two errors in the figures.” · 3 “I've had three deadline changes this month.” · 4 “I lost my thread a couple of times.” · 5 “I haven't had a reply to my email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Item 3 is the hardest. The public setting means the immediate response should be brief, with the substance raised privately afterwards.
COMMON MISTAKES: Item 3 answered by arguing publicly. That is the outcome the module exists to prevent.
TIP: Item 5 is the upward conversation from slide 9. Four moves, with evidence and a proposal.
ANSWERS: MODELS: 3 “Can we talk about this after the meeting?” — then privately: the two-second pause, ask for the example, acknowledge what is true, and raise the public setting as its own issue. 4 A three-part apology with no “but”.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Correcting each false statement is what makes this teach rather than test.
TIP: Item 6 is the module's opening claim. End the exercise on it.
ANSWERS: 1 F — the fact comes second, after a short warning · 2 F — it cannot be acted on, true or not · 3 T · 4 F — the “but” withdraws it · 5 F — it has never worked; say “I can see this matters to you” · 6 F — it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Question 5 is the one that matters. Without a specific time the conversation stays avoided regardless of how well it is planned.
COMMON MISTAKES: Question 5 answered with “soon”. Push for a date.
TIP: Do not ask learners to share these. Ask in a month whether they had the conversation.
ANSWERS: No fixed answers. Question 2 must pass the camera test; question 5 must name a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Round 3's timing is the critical one. Learners produce half a second and are convinced it was two.
TIP: Round 4's “but” appears more often than anybody expects. Have the partner listen for nothing else.
ANSWERS: SUCCESS CRITERIA: 1 four sentences with a next step · 2 behaviour passing the camera test, plus effect and request · 3 a genuine two-second pause · 4 three parts and no “but”.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 full lesson in pairs.
HOW TO TEACH: Step 5 is what makes this a rehearsal. The second attempt is almost always noticeably better and that is what gives learners the confidence to have it for real.
TIP: Step 1 matters. A partner who plays the other person realistically, including their difficult reactions, makes this genuinely useful.
ANSWERS: Assessed with the six checks from slide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Discussion, not writing.
HOW TO TEACH: Questions 3 and 4 keep the module honest. Not every difficult conversation should be had, and pretending otherwise is bad advice.
TIP: Question 4's second half is the honest caution. Learners should be able to distinguish a considered silence from an avoided conversation.
ANSWERS: 1 A specific criticism can be acted on; a vague one leaves somebody knowing they failed without knowing how to succeed. 2 The instinct is to defend, and defending feels like protecting yourself when it is actually closing the conversation. 3 When you are angry, when the other person is in crisis, when you have no evidence yet, or when it is genuinely not yours to raise. 4 Sometimes — if it is small, unrepeated, and not yours to manage, saying nothing is a legitimate choice. But most things left unsaid were left because it was uncomfortable, not because it was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This is the final quiz of the entire course. Question 20 is assessed live and the two-second pause is timed.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This is the final quiz of the entire course. Question 20 is assessed live and the two-second pause is timed.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This is the final quiz of the entire course. Question 20 is assessed live and the two-second pause is timed.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This is the final quiz of the entire course. Question 20 is assessed live and the two-second pause is timed.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This is the final quiz of the entire course. Question 20 is assessed live and the two-second pause is timed.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Q6, Q9 and Q14 are the diagnostic block: the camera test, the two-second pause, and the forbidden “but”. All three are simple rules that prevent most bad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Q6, Q9 and Q14 are the diagnostic block: the camera test, the two-second pause, and the forbidden “but”. All three are simple rules that prevent most bad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Q6, Q9 and Q14 are the diagnostic block: the camera test, the two-second pause, and the forbidden “but”. All three are simple rules that prevent most bad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Q6, Q9 and Q14 are the diagnostic block: the camera test, the two-second pause, and the forbidden “but”. All three are simple rules that prevent most bad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Q6, Q9 and Q14 are the diagnostic block: the camera test, the two-second pause, and the forbidden “but”. All three are simple rules that prevent most bad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Friday's task should be the smallest avoided conversation, not the largest. Success on a small one is what makes the large one possible.
TIP: Wednesday's count is usually a surprise. Reflex apologies are invisible to the person making them.
CLASSROOM ACTIVITY: Ask three learners to report on Friday's conversation at the next lesson — voluntarily.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Task 3's final element is the last measurement of the course. Store it beside the Level 1, Level 3 and Module 1 recordings.
COMMON MISTAKES: Learners who cannot record must not be excluded. Offer the live option openly.
TIP: Do not require task 1 to be shared. Mark it privately, and return it with one comment.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Note what is not marked: whether the conversation actually happened. That is the learner's decision and grading it would be wrong.
COMMON MISTAKES: Do not mark grammar anywhere in this module. Structure and specificity are what is being assessed.
TIP: Return this with one personal comment. It is the last piece of work in the course and it deserves more than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Return to the warm-up on slide 3. Ask task 3 again: is it the English, or the conversation? Most learners now separate the two clearly.
TIP: Ask who has already had one of these conversations this week. Those reports are the module's real result.
CLASSROOM ACTIVITY: Quick-fire recap: point at each card and ask a different learner for one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Tell learners to photograph this slide. The third box is the one to read before any conversation where they expect criticism.
TIP: Print all four. This is the last card of the course and arguably the most useful in ordinary life.
CLASSROOM ACTIVITY: Cover each box in turn and ask the class to say what was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Do not rush this slide. It is the last one.
HOW TO TEACH: Play the recordings. Level 1 Module 1, Level 3 Module 1, Level 4 Module 1, and today's. Four points across the whole course, in about six minutes. Nothing you say will match what learners hear.
COMMON MISTAKES: Do not let anybody leave thinking they have finished learning English. They have finished this course, which is different, and B2 is a working professional level.
EXTRA EXAMPLES: Name specifically what they can do now that they could not: introduce themselves, hold a meeting, present to a room, handle an interview, argue a case, negotiate, and have a difficult conversation without avoiding it.
TIP: Tell them what comes next honestly: no more modules, just use. B2 to C1 happens through working in the language, not through another course.
CLASSROOM ACTIVITY: Final round: read every learner's name and say one specific thing each can now do that they could not at the start. It takes twenty minutes and they will remember it for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image" Target="../media/image-50-6.png"/><Relationship Id="rId7" Type="http://schemas.openxmlformats.org/officeDocument/2006/relationships/image" Target="../media/image-50-7.png"/><Relationship Id="rId8" Type="http://schemas.openxmlformats.org/officeDocument/2006/relationships/slideLayout" Target="../slideLayouts/slideLayout1.xml"/><Relationship Id="rId9"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image" Target="../media/image-73-4.png"/><Relationship Id="rId5" Type="http://schemas.openxmlformats.org/officeDocument/2006/relationships/image" Target="../media/image-73-5.png"/><Relationship Id="rId6" Type="http://schemas.openxmlformats.org/officeDocument/2006/relationships/slideLayout" Target="../slideLayouts/slideLayout1.xml"/><Relationship Id="rId7"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 Id="rId6" Type="http://schemas.openxmlformats.org/officeDocument/2006/relationships/image" Target="../media/image-74-6.png"/><Relationship Id="rId7" Type="http://schemas.openxmlformats.org/officeDocument/2006/relationships/image" Target="../media/image-74-7.png"/><Relationship Id="rId8" Type="http://schemas.openxmlformats.org/officeDocument/2006/relationships/slideLayout" Target="../slideLayouts/slideLayout1.xml"/><Relationship Id="rId9"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slideLayout" Target="../slideLayouts/slideLayout1.xml"/><Relationship Id="rId7"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31C"/>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oundRect">
            <a:avLst/>
          </a:prstGeom>
          <a:solidFill>
            <a:srgbClr val="0E7C5A"/>
          </a:solidFill>
          <a:ln/>
        </p:spPr>
      </p:sp>
      <p:sp>
        <p:nvSpPr>
          <p:cNvPr id="3" name="Text 1"/>
          <p:cNvSpPr txBox="1"/>
          <p:nvPr/>
        </p:nvSpPr>
        <p:spPr>
          <a:xfrm>
            <a:off x="685800" y="1371600"/>
            <a:ext cx="3474720" cy="274320"/>
          </a:xfrm>
          <a:prstGeom prst="rect">
            <a:avLst/>
          </a:prstGeom>
          <a:noFill/>
          <a:ln/>
        </p:spPr>
        <p:txBody>
          <a:bodyPr wrap="square" lIns="0" tIns="0" rIns="0" bIns="0" rtlCol="0" anchor="ctr"/>
          <a:lstStyle/>
          <a:p>
            <a:pPr indent="0" marL="0">
              <a:buNone/>
            </a:pPr>
            <a:r>
              <a:rPr lang="en-US" sz="1300" b="1" spc="240" kern="0" dirty="0">
                <a:solidFill>
                  <a:srgbClr val="BFE6D5"/>
                </a:solidFill>
                <a:latin typeface="Calibri" pitchFamily="34" charset="0"/>
                <a:ea typeface="Calibri" pitchFamily="34" charset="-122"/>
                <a:cs typeface="Calibri" pitchFamily="34" charset="-120"/>
              </a:rPr>
              <a:t>LEVEL 4</a:t>
            </a:r>
            <a:endParaRPr lang="en-US" sz="1300" dirty="0"/>
          </a:p>
        </p:txBody>
      </p:sp>
      <p:sp>
        <p:nvSpPr>
          <p:cNvPr id="4" name="Text 2"/>
          <p:cNvSpPr txBox="1"/>
          <p:nvPr/>
        </p:nvSpPr>
        <p:spPr>
          <a:xfrm>
            <a:off x="685800" y="1664208"/>
            <a:ext cx="3474720" cy="2286000"/>
          </a:xfrm>
          <a:prstGeom prst="rect">
            <a:avLst/>
          </a:prstGeom>
          <a:noFill/>
          <a:ln/>
        </p:spPr>
        <p:txBody>
          <a:bodyPr wrap="square" lIns="0" tIns="0" rIns="0" bIns="0" rtlCol="0" anchor="ctr"/>
          <a:lstStyle/>
          <a:p>
            <a:pPr indent="0" marL="0">
              <a:buNone/>
            </a:pPr>
            <a:r>
              <a:rPr lang="en-US" sz="12800" b="1" dirty="0">
                <a:solidFill>
                  <a:srgbClr val="FFFFFF"/>
                </a:solidFill>
                <a:latin typeface="Calibri" pitchFamily="34" charset="0"/>
                <a:ea typeface="Calibri" pitchFamily="34" charset="-122"/>
                <a:cs typeface="Calibri" pitchFamily="34" charset="-120"/>
              </a:rPr>
              <a:t>4</a:t>
            </a:r>
            <a:endParaRPr lang="en-US" sz="12800" dirty="0"/>
          </a:p>
        </p:txBody>
      </p:sp>
      <p:sp>
        <p:nvSpPr>
          <p:cNvPr id="5" name="Text 3"/>
          <p:cNvSpPr txBox="1"/>
          <p:nvPr/>
        </p:nvSpPr>
        <p:spPr>
          <a:xfrm>
            <a:off x="685800" y="3794760"/>
            <a:ext cx="3474720" cy="822960"/>
          </a:xfrm>
          <a:prstGeom prst="rect">
            <a:avLst/>
          </a:prstGeom>
          <a:noFill/>
          <a:ln/>
        </p:spPr>
        <p:txBody>
          <a:bodyPr wrap="square" lIns="0" tIns="0" rIns="0" bIns="0" rtlCol="0" anchor="ctr"/>
          <a:lstStyle/>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Advanced Spoken</a:t>
            </a:r>
            <a:endParaRPr lang="en-US" sz="2600" dirty="0"/>
          </a:p>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English</a:t>
            </a:r>
            <a:endParaRPr lang="en-US" sz="2600" dirty="0"/>
          </a:p>
        </p:txBody>
      </p:sp>
      <p:sp>
        <p:nvSpPr>
          <p:cNvPr id="6" name="Text 4"/>
          <p:cNvSpPr txBox="1"/>
          <p:nvPr/>
        </p:nvSpPr>
        <p:spPr>
          <a:xfrm>
            <a:off x="685800" y="4709160"/>
            <a:ext cx="3474720" cy="310896"/>
          </a:xfrm>
          <a:prstGeom prst="rect">
            <a:avLst/>
          </a:prstGeom>
          <a:noFill/>
          <a:ln/>
        </p:spPr>
        <p:txBody>
          <a:bodyPr wrap="square" lIns="0" tIns="0" rIns="0" bIns="0" rtlCol="0" anchor="ctr"/>
          <a:lstStyle/>
          <a:p>
            <a:pPr indent="0" marL="0">
              <a:buNone/>
            </a:pPr>
            <a:r>
              <a:rPr lang="en-US" sz="1500" dirty="0">
                <a:solidFill>
                  <a:srgbClr val="BFE6D5"/>
                </a:solidFill>
                <a:latin typeface="Calibri" pitchFamily="34" charset="0"/>
                <a:ea typeface="Calibri" pitchFamily="34" charset="-122"/>
                <a:cs typeface="Calibri" pitchFamily="34" charset="-120"/>
              </a:rPr>
              <a:t>CEFR B1 → B2</a:t>
            </a:r>
            <a:endParaRPr lang="en-US" sz="1500" dirty="0"/>
          </a:p>
        </p:txBody>
      </p:sp>
      <p:sp>
        <p:nvSpPr>
          <p:cNvPr id="7" name="Text 5"/>
          <p:cNvSpPr txBox="1"/>
          <p:nvPr/>
        </p:nvSpPr>
        <p:spPr>
          <a:xfrm>
            <a:off x="5349240" y="1417320"/>
            <a:ext cx="6309360" cy="274320"/>
          </a:xfrm>
          <a:prstGeom prst="rect">
            <a:avLst/>
          </a:prstGeom>
          <a:noFill/>
          <a:ln/>
        </p:spPr>
        <p:txBody>
          <a:bodyPr wrap="square" lIns="0" tIns="0" rIns="0" bIns="0" rtlCol="0" anchor="ctr"/>
          <a:lstStyle/>
          <a:p>
            <a:pPr indent="0" marL="0">
              <a:buNone/>
            </a:pPr>
            <a:r>
              <a:rPr lang="en-US" sz="1300" b="1" spc="220" kern="0" dirty="0">
                <a:solidFill>
                  <a:srgbClr val="F2A93B"/>
                </a:solidFill>
                <a:latin typeface="Calibri" pitchFamily="34" charset="0"/>
                <a:ea typeface="Calibri" pitchFamily="34" charset="-122"/>
                <a:cs typeface="Calibri" pitchFamily="34" charset="-120"/>
              </a:rPr>
              <a:t>MODULE 8 OF 8</a:t>
            </a:r>
            <a:endParaRPr lang="en-US" sz="1300" dirty="0"/>
          </a:p>
        </p:txBody>
      </p:sp>
      <p:sp>
        <p:nvSpPr>
          <p:cNvPr id="8" name="Text 6"/>
          <p:cNvSpPr txBox="1"/>
          <p:nvPr/>
        </p:nvSpPr>
        <p:spPr>
          <a:xfrm>
            <a:off x="5349240" y="1783080"/>
            <a:ext cx="6309360" cy="1371600"/>
          </a:xfrm>
          <a:prstGeom prst="rect">
            <a:avLst/>
          </a:prstGeom>
          <a:noFill/>
          <a:ln/>
        </p:spPr>
        <p:txBody>
          <a:bodyPr wrap="square" lIns="0" tIns="0" rIns="0" bIns="0" rtlCol="0" anchor="ctr"/>
          <a:lstStyle/>
          <a:p>
            <a:pPr indent="0" marL="0">
              <a:lnSpc>
                <a:spcPct val="102000"/>
              </a:lnSpc>
              <a:buNone/>
            </a:pPr>
            <a:r>
              <a:rPr lang="en-US" sz="4400" b="1" dirty="0">
                <a:solidFill>
                  <a:srgbClr val="FFFFFF"/>
                </a:solidFill>
                <a:latin typeface="Calibri" pitchFamily="34" charset="0"/>
                <a:ea typeface="Calibri" pitchFamily="34" charset="-122"/>
                <a:cs typeface="Calibri" pitchFamily="34" charset="-120"/>
              </a:rPr>
              <a:t>Difficult Conversations</a:t>
            </a:r>
            <a:endParaRPr lang="en-US" sz="4400" dirty="0"/>
          </a:p>
        </p:txBody>
      </p:sp>
      <p:sp>
        <p:nvSpPr>
          <p:cNvPr id="9" name="Text 7"/>
          <p:cNvSpPr txBox="1"/>
          <p:nvPr/>
        </p:nvSpPr>
        <p:spPr>
          <a:xfrm>
            <a:off x="5349240" y="3246120"/>
            <a:ext cx="6309360" cy="731520"/>
          </a:xfrm>
          <a:prstGeom prst="rect">
            <a:avLst/>
          </a:prstGeom>
          <a:noFill/>
          <a:ln/>
        </p:spPr>
        <p:txBody>
          <a:bodyPr wrap="square" lIns="0" tIns="0" rIns="0" bIns="0" rtlCol="0" anchor="ctr"/>
          <a:lstStyle/>
          <a:p>
            <a:pPr indent="0" marL="0">
              <a:lnSpc>
                <a:spcPct val="115000"/>
              </a:lnSpc>
              <a:buNone/>
            </a:pPr>
            <a:r>
              <a:rPr lang="en-US" sz="1500" dirty="0">
                <a:solidFill>
                  <a:srgbClr val="B9CFC1"/>
                </a:solidFill>
                <a:latin typeface="Calibri" pitchFamily="34" charset="0"/>
                <a:ea typeface="Calibri" pitchFamily="34" charset="-122"/>
                <a:cs typeface="Calibri" pitchFamily="34" charset="-120"/>
              </a:rPr>
              <a:t>The last module of the course. Bad news, criticism, conflict and apology — hard in your first language, and harder in your second.</a:t>
            </a:r>
            <a:endParaRPr lang="en-US" sz="1500" dirty="0"/>
          </a:p>
        </p:txBody>
      </p:sp>
      <p:sp>
        <p:nvSpPr>
          <p:cNvPr id="10" name="Shape 8"/>
          <p:cNvSpPr/>
          <p:nvPr/>
        </p:nvSpPr>
        <p:spPr>
          <a:xfrm>
            <a:off x="5349240" y="4206240"/>
            <a:ext cx="1956816" cy="841248"/>
          </a:xfrm>
          <a:prstGeom prst="roundRect">
            <a:avLst>
              <a:gd name="adj" fmla="val 15217"/>
            </a:avLst>
          </a:prstGeom>
          <a:solidFill>
            <a:srgbClr val="1C4E39"/>
          </a:solidFill>
          <a:ln w="12700">
            <a:solidFill>
              <a:srgbClr val="2A6249"/>
            </a:solidFill>
            <a:prstDash val="solid"/>
          </a:ln>
        </p:spPr>
      </p:sp>
      <p:sp>
        <p:nvSpPr>
          <p:cNvPr id="11" name="Text 9"/>
          <p:cNvSpPr txBox="1"/>
          <p:nvPr/>
        </p:nvSpPr>
        <p:spPr>
          <a:xfrm>
            <a:off x="5513832"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76</a:t>
            </a:r>
            <a:endParaRPr lang="en-US" sz="2100" dirty="0"/>
          </a:p>
        </p:txBody>
      </p:sp>
      <p:sp>
        <p:nvSpPr>
          <p:cNvPr id="12" name="Text 10"/>
          <p:cNvSpPr txBox="1"/>
          <p:nvPr/>
        </p:nvSpPr>
        <p:spPr>
          <a:xfrm>
            <a:off x="5513832"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SLIDES</a:t>
            </a:r>
            <a:endParaRPr lang="en-US" sz="1100" dirty="0"/>
          </a:p>
        </p:txBody>
      </p:sp>
      <p:sp>
        <p:nvSpPr>
          <p:cNvPr id="13" name="Shape 11"/>
          <p:cNvSpPr/>
          <p:nvPr/>
        </p:nvSpPr>
        <p:spPr>
          <a:xfrm>
            <a:off x="7525512" y="4206240"/>
            <a:ext cx="1956816" cy="841248"/>
          </a:xfrm>
          <a:prstGeom prst="roundRect">
            <a:avLst>
              <a:gd name="adj" fmla="val 15217"/>
            </a:avLst>
          </a:prstGeom>
          <a:solidFill>
            <a:srgbClr val="1C4E39"/>
          </a:solidFill>
          <a:ln w="12700">
            <a:solidFill>
              <a:srgbClr val="2A6249"/>
            </a:solidFill>
            <a:prstDash val="solid"/>
          </a:ln>
        </p:spPr>
      </p:sp>
      <p:sp>
        <p:nvSpPr>
          <p:cNvPr id="14" name="Text 12"/>
          <p:cNvSpPr txBox="1"/>
          <p:nvPr/>
        </p:nvSpPr>
        <p:spPr>
          <a:xfrm>
            <a:off x="7690104"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4 × 60</a:t>
            </a:r>
            <a:endParaRPr lang="en-US" sz="2100" dirty="0"/>
          </a:p>
        </p:txBody>
      </p:sp>
      <p:sp>
        <p:nvSpPr>
          <p:cNvPr id="15" name="Text 13"/>
          <p:cNvSpPr txBox="1"/>
          <p:nvPr/>
        </p:nvSpPr>
        <p:spPr>
          <a:xfrm>
            <a:off x="7690104"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MINUTES</a:t>
            </a:r>
            <a:endParaRPr lang="en-US" sz="1100" dirty="0"/>
          </a:p>
        </p:txBody>
      </p:sp>
      <p:sp>
        <p:nvSpPr>
          <p:cNvPr id="16" name="Shape 14"/>
          <p:cNvSpPr/>
          <p:nvPr/>
        </p:nvSpPr>
        <p:spPr>
          <a:xfrm>
            <a:off x="9701784" y="4206240"/>
            <a:ext cx="1956816" cy="841248"/>
          </a:xfrm>
          <a:prstGeom prst="roundRect">
            <a:avLst>
              <a:gd name="adj" fmla="val 15217"/>
            </a:avLst>
          </a:prstGeom>
          <a:solidFill>
            <a:srgbClr val="1C4E39"/>
          </a:solidFill>
          <a:ln w="12700">
            <a:solidFill>
              <a:srgbClr val="2A6249"/>
            </a:solidFill>
            <a:prstDash val="solid"/>
          </a:ln>
        </p:spPr>
      </p:sp>
      <p:sp>
        <p:nvSpPr>
          <p:cNvPr id="17" name="Text 15"/>
          <p:cNvSpPr txBox="1"/>
          <p:nvPr/>
        </p:nvSpPr>
        <p:spPr>
          <a:xfrm>
            <a:off x="9866376"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END OF</a:t>
            </a:r>
            <a:endParaRPr lang="en-US" sz="2100" dirty="0"/>
          </a:p>
        </p:txBody>
      </p:sp>
      <p:sp>
        <p:nvSpPr>
          <p:cNvPr id="18" name="Text 16"/>
          <p:cNvSpPr txBox="1"/>
          <p:nvPr/>
        </p:nvSpPr>
        <p:spPr>
          <a:xfrm>
            <a:off x="9866376"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THE COURSE</a:t>
            </a:r>
            <a:endParaRPr lang="en-US" sz="1100" dirty="0"/>
          </a:p>
        </p:txBody>
      </p:sp>
      <p:sp>
        <p:nvSpPr>
          <p:cNvPr id="19" name="Text 17"/>
          <p:cNvSpPr txBox="1"/>
          <p:nvPr/>
        </p:nvSpPr>
        <p:spPr>
          <a:xfrm>
            <a:off x="5349240" y="5349240"/>
            <a:ext cx="6309360" cy="365760"/>
          </a:xfrm>
          <a:prstGeom prst="rect">
            <a:avLst/>
          </a:prstGeom>
          <a:noFill/>
          <a:ln/>
        </p:spPr>
        <p:txBody>
          <a:bodyPr wrap="square" lIns="0" tIns="0" rIns="0" bIns="0" rtlCol="0" anchor="ctr"/>
          <a:lstStyle/>
          <a:p>
            <a:pPr indent="0" marL="0">
              <a:buNone/>
            </a:pPr>
            <a:r>
              <a:rPr lang="en-US" sz="1200" dirty="0">
                <a:solidFill>
                  <a:srgbClr val="7C9488"/>
                </a:solidFill>
                <a:latin typeface="Calibri" pitchFamily="34" charset="0"/>
                <a:ea typeface="Calibri" pitchFamily="34" charset="-122"/>
                <a:cs typeface="Calibri" pitchFamily="34" charset="-120"/>
              </a:rPr>
              <a:t>Teacher: ____________________   Class: ____________   Date: ____________</a:t>
            </a:r>
            <a:endParaRPr lang="en-US" sz="1200" dirty="0"/>
          </a:p>
        </p:txBody>
      </p:sp>
      <p:sp>
        <p:nvSpPr>
          <p:cNvPr id="20" name="Text 18"/>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21" name="Text 19"/>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LEARNING OBJECTIVES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What you will be able to do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conversations most people avoid.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29968"/>
            <a:ext cx="402336" cy="402336"/>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945" y="2126529"/>
            <a:ext cx="209215" cy="209215"/>
          </a:xfrm>
          <a:prstGeom prst="rect">
            <a:avLst/>
          </a:prstGeom>
        </p:spPr>
      </p:pic>
      <p:sp>
        <p:nvSpPr>
          <p:cNvPr id="14" name="Text 9"/>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Give bad news clearly and kindly</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Four steps. Warning, fact, consequence, next step.</a:t>
            </a:r>
            <a:endParaRPr lang="en-US" sz="1580" dirty="0"/>
          </a:p>
        </p:txBody>
      </p:sp>
      <p:sp>
        <p:nvSpPr>
          <p:cNvPr id="15" name="Shape 10"/>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1"/>
          <p:cNvSpPr/>
          <p:nvPr/>
        </p:nvSpPr>
        <p:spPr>
          <a:xfrm>
            <a:off x="786384" y="2871216"/>
            <a:ext cx="402336" cy="402336"/>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882945" y="2967777"/>
            <a:ext cx="209215" cy="209215"/>
          </a:xfrm>
          <a:prstGeom prst="rect">
            <a:avLst/>
          </a:prstGeom>
        </p:spPr>
      </p:pic>
      <p:sp>
        <p:nvSpPr>
          <p:cNvPr id="18" name="Text 12"/>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Give criticism that can actually be acted on</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Behaviour, effect, request. Never character.</a:t>
            </a:r>
            <a:endParaRPr lang="en-US" sz="1580" dirty="0"/>
          </a:p>
        </p:txBody>
      </p:sp>
      <p:sp>
        <p:nvSpPr>
          <p:cNvPr id="19" name="Shape 13"/>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4"/>
          <p:cNvSpPr/>
          <p:nvPr/>
        </p:nvSpPr>
        <p:spPr>
          <a:xfrm>
            <a:off x="786384" y="3712464"/>
            <a:ext cx="402336" cy="402336"/>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82945" y="3809025"/>
            <a:ext cx="209215" cy="209215"/>
          </a:xfrm>
          <a:prstGeom prst="rect">
            <a:avLst/>
          </a:prstGeom>
        </p:spPr>
      </p:pic>
      <p:sp>
        <p:nvSpPr>
          <p:cNvPr id="22" name="Text 15"/>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Receive criticism without defending or collapsing</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The hardest of the five, and the most valuable.</a:t>
            </a:r>
            <a:endParaRPr lang="en-US" sz="1580" dirty="0"/>
          </a:p>
        </p:txBody>
      </p:sp>
      <p:sp>
        <p:nvSpPr>
          <p:cNvPr id="23" name="Shape 16"/>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17"/>
          <p:cNvSpPr/>
          <p:nvPr/>
        </p:nvSpPr>
        <p:spPr>
          <a:xfrm>
            <a:off x="786384" y="4553712"/>
            <a:ext cx="402336" cy="402336"/>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945" y="4650273"/>
            <a:ext cx="209215" cy="209215"/>
          </a:xfrm>
          <a:prstGeom prst="rect">
            <a:avLst/>
          </a:prstGeom>
        </p:spPr>
      </p:pic>
      <p:sp>
        <p:nvSpPr>
          <p:cNvPr id="26" name="Text 18"/>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Apologise properly — and know when not to</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Over-apologising is its own problem.</a:t>
            </a:r>
            <a:endParaRPr lang="en-US" sz="1580" dirty="0"/>
          </a:p>
        </p:txBody>
      </p:sp>
      <p:sp>
        <p:nvSpPr>
          <p:cNvPr id="27" name="Shape 19"/>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0"/>
          <p:cNvSpPr/>
          <p:nvPr/>
        </p:nvSpPr>
        <p:spPr>
          <a:xfrm>
            <a:off x="786384" y="5394960"/>
            <a:ext cx="402336" cy="402336"/>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882945" y="5491521"/>
            <a:ext cx="209215" cy="209215"/>
          </a:xfrm>
          <a:prstGeom prst="rect">
            <a:avLst/>
          </a:prstGeom>
        </p:spPr>
      </p:pic>
      <p:sp>
        <p:nvSpPr>
          <p:cNvPr id="30" name="Text 21"/>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Raise a problem with somebody more senior</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Which most people never learn to do at all.</a:t>
            </a:r>
            <a:endParaRPr lang="en-US" sz="15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WARM-UP</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Warm-up: the conversation you are avoiding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You do not have to say what it is.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a:t>
            </a:r>
            <a:endParaRPr lang="en-US" sz="1100" dirty="0"/>
          </a:p>
        </p:txBody>
      </p:sp>
      <p:sp>
        <p:nvSpPr>
          <p:cNvPr id="11" name="Shape 7"/>
          <p:cNvSpPr/>
          <p:nvPr/>
        </p:nvSpPr>
        <p:spPr>
          <a:xfrm>
            <a:off x="548640" y="1883664"/>
            <a:ext cx="3564026" cy="4059936"/>
          </a:xfrm>
          <a:prstGeom prst="roundRect">
            <a:avLst>
              <a:gd name="adj" fmla="val 3592"/>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1 · Name it privately</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Think of one conversation you have been putting off. Write one line about it. Nobody reads it.</a:t>
            </a:r>
            <a:endParaRPr lang="en-US" sz="2100" dirty="0"/>
          </a:p>
        </p:txBody>
      </p:sp>
      <p:sp>
        <p:nvSpPr>
          <p:cNvPr id="15" name="Shape 10"/>
          <p:cNvSpPr/>
          <p:nvPr/>
        </p:nvSpPr>
        <p:spPr>
          <a:xfrm>
            <a:off x="4313834" y="1883664"/>
            <a:ext cx="3564026" cy="4059936"/>
          </a:xfrm>
          <a:prstGeom prst="roundRect">
            <a:avLst>
              <a:gd name="adj" fmla="val 3592"/>
            </a:avLst>
          </a:prstGeom>
          <a:solidFill>
            <a:srgbClr val="FDF3E7"/>
          </a:solidFill>
          <a:ln w="12700">
            <a:solidFill>
              <a:srgbClr val="EFDCB2"/>
            </a:solidFill>
            <a:prstDash val="solid"/>
          </a:ln>
        </p:spPr>
      </p:sp>
      <p:sp>
        <p:nvSpPr>
          <p:cNvPr id="16" name="Shape 11"/>
          <p:cNvSpPr/>
          <p:nvPr/>
        </p:nvSpPr>
        <p:spPr>
          <a:xfrm>
            <a:off x="4533290"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2 · How long?</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How long have you been avoiding it? What has that cost so far?</a:t>
            </a:r>
            <a:endParaRPr lang="en-US" sz="2100" dirty="0"/>
          </a:p>
        </p:txBody>
      </p:sp>
      <p:sp>
        <p:nvSpPr>
          <p:cNvPr id="19" name="Shape 13"/>
          <p:cNvSpPr/>
          <p:nvPr/>
        </p:nvSpPr>
        <p:spPr>
          <a:xfrm>
            <a:off x="8079029" y="1883664"/>
            <a:ext cx="3564026" cy="4059936"/>
          </a:xfrm>
          <a:prstGeom prst="roundRect">
            <a:avLst>
              <a:gd name="adj" fmla="val 3592"/>
            </a:avLst>
          </a:prstGeom>
          <a:solidFill>
            <a:srgbClr val="FDF3E7"/>
          </a:solidFill>
          <a:ln w="12700">
            <a:solidFill>
              <a:srgbClr val="EFDCB2"/>
            </a:solidFill>
            <a:prstDash val="solid"/>
          </a:ln>
        </p:spPr>
      </p:sp>
      <p:sp>
        <p:nvSpPr>
          <p:cNvPr id="20" name="Shape 14"/>
          <p:cNvSpPr/>
          <p:nvPr/>
        </p:nvSpPr>
        <p:spPr>
          <a:xfrm>
            <a:off x="8298485" y="2103120"/>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3 · What stops you?</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The English? Or the conversation itself? Be honest — they are different problems.</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INTRODUCTION</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400" b="1" dirty="0">
                <a:solidFill>
                  <a:srgbClr val="FFFFFF"/>
                </a:solidFill>
                <a:latin typeface="Calibri" pitchFamily="34" charset="0"/>
                <a:ea typeface="Calibri" pitchFamily="34" charset="-122"/>
                <a:cs typeface="Calibri" pitchFamily="34" charset="-120"/>
              </a:rPr>
              <a:t>A difficult conversation avoided does not stay the same size.</a:t>
            </a:r>
            <a:endParaRPr lang="en-US" sz="440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900" dirty="0">
                <a:solidFill>
                  <a:srgbClr val="B9CFC1"/>
                </a:solidFill>
                <a:latin typeface="Calibri" pitchFamily="34" charset="0"/>
                <a:ea typeface="Calibri" pitchFamily="34" charset="-122"/>
                <a:cs typeface="Calibri" pitchFamily="34" charset="-120"/>
              </a:rPr>
              <a:t>It grows. The other person carries on not knowing, you carry on resenting it,</a:t>
            </a:r>
            <a:endParaRPr lang="en-US" sz="1900" dirty="0"/>
          </a:p>
          <a:p>
            <a:pPr indent="0" marL="0">
              <a:lnSpc>
                <a:spcPct val="120000"/>
              </a:lnSpc>
              <a:buNone/>
            </a:pPr>
            <a:r>
              <a:rPr lang="en-US" sz="1900" dirty="0">
                <a:solidFill>
                  <a:srgbClr val="B9CFC1"/>
                </a:solidFill>
                <a:latin typeface="Calibri" pitchFamily="34" charset="0"/>
                <a:ea typeface="Calibri" pitchFamily="34" charset="-122"/>
                <a:cs typeface="Calibri" pitchFamily="34" charset="-120"/>
              </a:rPr>
              <a:t>and what would have been a two-minute conversation becomes a serious one.</a:t>
            </a:r>
            <a:endParaRPr lang="en-US" sz="190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Early is easier</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Structure removes fear</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Clear is kind</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Giving bad news — four steps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Do not bury it. Do not soften it into invisibility.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a:t>
            </a:r>
            <a:endParaRPr lang="en-US" sz="1100" dirty="0"/>
          </a:p>
        </p:txBody>
      </p:sp>
      <p:sp>
        <p:nvSpPr>
          <p:cNvPr id="11" name="Shape 7"/>
          <p:cNvSpPr/>
          <p:nvPr/>
        </p:nvSpPr>
        <p:spPr>
          <a:xfrm>
            <a:off x="548640" y="1883664"/>
            <a:ext cx="621792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566928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THE FOUR STEPS</a:t>
            </a:r>
            <a:endParaRPr lang="en-US" sz="1200" dirty="0"/>
          </a:p>
        </p:txBody>
      </p:sp>
      <p:sp>
        <p:nvSpPr>
          <p:cNvPr id="13" name="Text 9"/>
          <p:cNvSpPr txBox="1"/>
          <p:nvPr/>
        </p:nvSpPr>
        <p:spPr>
          <a:xfrm>
            <a:off x="822960" y="2487168"/>
            <a:ext cx="5669280" cy="3218688"/>
          </a:xfrm>
          <a:prstGeom prst="rect">
            <a:avLst/>
          </a:prstGeom>
          <a:noFill/>
          <a:ln/>
        </p:spPr>
        <p:txBody>
          <a:bodyPr wrap="square" lIns="0" tIns="0" rIns="0" bIns="0" rtlCol="0" anchor="ctr"/>
          <a:lstStyle/>
          <a:p>
            <a:pPr indent="0" marL="0">
              <a:lnSpc>
                <a:spcPct val="138000"/>
              </a:lnSpc>
              <a:buNone/>
            </a:pPr>
            <a:r>
              <a:rPr lang="en-US" sz="1250" dirty="0">
                <a:solidFill>
                  <a:srgbClr val="12211B"/>
                </a:solidFill>
                <a:latin typeface="Calibri" pitchFamily="34" charset="0"/>
                <a:ea typeface="Calibri" pitchFamily="34" charset="-122"/>
                <a:cs typeface="Calibri" pitchFamily="34" charset="-120"/>
              </a:rPr>
              <a:t>1.  A SHORT WARNING</a:t>
            </a:r>
            <a:endParaRPr lang="en-US" sz="1250" dirty="0"/>
          </a:p>
          <a:p>
            <a:pPr indent="0" marL="0">
              <a:lnSpc>
                <a:spcPct val="138000"/>
              </a:lnSpc>
              <a:buNone/>
            </a:pPr>
            <a:r>
              <a:rPr lang="en-US" sz="1250" dirty="0">
                <a:solidFill>
                  <a:srgbClr val="12211B"/>
                </a:solidFill>
                <a:latin typeface="Calibri" pitchFamily="34" charset="0"/>
                <a:ea typeface="Calibri" pitchFamily="34" charset="-122"/>
                <a:cs typeface="Calibri" pitchFamily="34" charset="-120"/>
              </a:rPr>
              <a:t>     “I'm afraid I've got some bad news.”</a:t>
            </a:r>
            <a:endParaRPr lang="en-US" sz="1250" dirty="0"/>
          </a:p>
          <a:p>
            <a:pPr indent="0" marL="0">
              <a:lnSpc>
                <a:spcPct val="138000"/>
              </a:lnSpc>
              <a:buNone/>
            </a:pPr>
            <a:endParaRPr lang="en-US" sz="1250" dirty="0"/>
          </a:p>
          <a:p>
            <a:pPr indent="0" marL="0">
              <a:lnSpc>
                <a:spcPct val="138000"/>
              </a:lnSpc>
              <a:buNone/>
            </a:pPr>
            <a:r>
              <a:rPr lang="en-US" sz="1250" dirty="0">
                <a:solidFill>
                  <a:srgbClr val="12211B"/>
                </a:solidFill>
                <a:latin typeface="Calibri" pitchFamily="34" charset="0"/>
                <a:ea typeface="Calibri" pitchFamily="34" charset="-122"/>
                <a:cs typeface="Calibri" pitchFamily="34" charset="-120"/>
              </a:rPr>
              <a:t>2.  THE FACT — plainly, in one sentence</a:t>
            </a:r>
            <a:endParaRPr lang="en-US" sz="1250" dirty="0"/>
          </a:p>
          <a:p>
            <a:pPr indent="0" marL="0">
              <a:lnSpc>
                <a:spcPct val="138000"/>
              </a:lnSpc>
              <a:buNone/>
            </a:pPr>
            <a:r>
              <a:rPr lang="en-US" sz="1250" dirty="0">
                <a:solidFill>
                  <a:srgbClr val="12211B"/>
                </a:solidFill>
                <a:latin typeface="Calibri" pitchFamily="34" charset="0"/>
                <a:ea typeface="Calibri" pitchFamily="34" charset="-122"/>
                <a:cs typeface="Calibri" pitchFamily="34" charset="-120"/>
              </a:rPr>
              <a:t>     “We haven't got the funding.”</a:t>
            </a:r>
            <a:endParaRPr lang="en-US" sz="1250" dirty="0"/>
          </a:p>
          <a:p>
            <a:pPr indent="0" marL="0">
              <a:lnSpc>
                <a:spcPct val="138000"/>
              </a:lnSpc>
              <a:buNone/>
            </a:pPr>
            <a:endParaRPr lang="en-US" sz="1250" dirty="0"/>
          </a:p>
          <a:p>
            <a:pPr indent="0" marL="0">
              <a:lnSpc>
                <a:spcPct val="138000"/>
              </a:lnSpc>
              <a:buNone/>
            </a:pPr>
            <a:r>
              <a:rPr lang="en-US" sz="1250" dirty="0">
                <a:solidFill>
                  <a:srgbClr val="12211B"/>
                </a:solidFill>
                <a:latin typeface="Calibri" pitchFamily="34" charset="0"/>
                <a:ea typeface="Calibri" pitchFamily="34" charset="-122"/>
                <a:cs typeface="Calibri" pitchFamily="34" charset="-120"/>
              </a:rPr>
              <a:t>3.  THE CONSEQUENCE</a:t>
            </a:r>
            <a:endParaRPr lang="en-US" sz="1250" dirty="0"/>
          </a:p>
          <a:p>
            <a:pPr indent="0" marL="0">
              <a:lnSpc>
                <a:spcPct val="138000"/>
              </a:lnSpc>
              <a:buNone/>
            </a:pPr>
            <a:r>
              <a:rPr lang="en-US" sz="1250" dirty="0">
                <a:solidFill>
                  <a:srgbClr val="12211B"/>
                </a:solidFill>
                <a:latin typeface="Calibri" pitchFamily="34" charset="0"/>
                <a:ea typeface="Calibri" pitchFamily="34" charset="-122"/>
                <a:cs typeface="Calibri" pitchFamily="34" charset="-120"/>
              </a:rPr>
              <a:t>     “Which means the March course</a:t>
            </a:r>
            <a:endParaRPr lang="en-US" sz="1250" dirty="0"/>
          </a:p>
          <a:p>
            <a:pPr indent="0" marL="0">
              <a:lnSpc>
                <a:spcPct val="138000"/>
              </a:lnSpc>
              <a:buNone/>
            </a:pPr>
            <a:r>
              <a:rPr lang="en-US" sz="1250" dirty="0">
                <a:solidFill>
                  <a:srgbClr val="12211B"/>
                </a:solidFill>
                <a:latin typeface="Calibri" pitchFamily="34" charset="0"/>
                <a:ea typeface="Calibri" pitchFamily="34" charset="-122"/>
                <a:cs typeface="Calibri" pitchFamily="34" charset="-120"/>
              </a:rPr>
              <a:t>      can't run as planned.”</a:t>
            </a:r>
            <a:endParaRPr lang="en-US" sz="1250" dirty="0"/>
          </a:p>
          <a:p>
            <a:pPr indent="0" marL="0">
              <a:lnSpc>
                <a:spcPct val="138000"/>
              </a:lnSpc>
              <a:buNone/>
            </a:pPr>
            <a:endParaRPr lang="en-US" sz="1250" dirty="0"/>
          </a:p>
          <a:p>
            <a:pPr indent="0" marL="0">
              <a:lnSpc>
                <a:spcPct val="138000"/>
              </a:lnSpc>
              <a:buNone/>
            </a:pPr>
            <a:r>
              <a:rPr lang="en-US" sz="1250" dirty="0">
                <a:solidFill>
                  <a:srgbClr val="12211B"/>
                </a:solidFill>
                <a:latin typeface="Calibri" pitchFamily="34" charset="0"/>
                <a:ea typeface="Calibri" pitchFamily="34" charset="-122"/>
                <a:cs typeface="Calibri" pitchFamily="34" charset="-120"/>
              </a:rPr>
              <a:t>4.  THE NEXT STEP</a:t>
            </a:r>
            <a:endParaRPr lang="en-US" sz="1250" dirty="0"/>
          </a:p>
          <a:p>
            <a:pPr indent="0" marL="0">
              <a:lnSpc>
                <a:spcPct val="138000"/>
              </a:lnSpc>
              <a:buNone/>
            </a:pPr>
            <a:r>
              <a:rPr lang="en-US" sz="1250" dirty="0">
                <a:solidFill>
                  <a:srgbClr val="12211B"/>
                </a:solidFill>
                <a:latin typeface="Calibri" pitchFamily="34" charset="0"/>
                <a:ea typeface="Calibri" pitchFamily="34" charset="-122"/>
                <a:cs typeface="Calibri" pitchFamily="34" charset="-120"/>
              </a:rPr>
              <a:t>     “Here's what I think we do now.”</a:t>
            </a:r>
            <a:endParaRPr lang="en-US" sz="1250" dirty="0"/>
          </a:p>
        </p:txBody>
      </p:sp>
      <p:sp>
        <p:nvSpPr>
          <p:cNvPr id="14" name="Shape 10"/>
          <p:cNvSpPr/>
          <p:nvPr/>
        </p:nvSpPr>
        <p:spPr>
          <a:xfrm>
            <a:off x="7040880" y="1883664"/>
            <a:ext cx="460217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278624" y="2103120"/>
            <a:ext cx="412668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WHY THIS ORDER</a:t>
            </a:r>
            <a:endParaRPr lang="en-US" sz="1200" dirty="0"/>
          </a:p>
        </p:txBody>
      </p:sp>
      <p:sp>
        <p:nvSpPr>
          <p:cNvPr id="16" name="Text 12"/>
          <p:cNvSpPr/>
          <p:nvPr/>
        </p:nvSpPr>
        <p:spPr>
          <a:xfrm>
            <a:off x="7315200" y="2505456"/>
            <a:ext cx="405353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Step 1 lets them prepare. Two seconds, and it changes how they hear step 2.</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Step 2 must be ONE sentence. Long explanations before the fact are cruel.</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Step 3 answers the question they are already asking.</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Step 4 is what stops it being a disaster and makes it a problem.</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Criticism that can be acted 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Behaviour and effect. Never character.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Cannot be acted on</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“You're careless.”</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“You're not a team player.”</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“You've got a bad attitude.”</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“You always do this.”</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 About who they ARE.</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 Nothing to change.</a:t>
            </a:r>
            <a:endParaRPr lang="en-US" sz="15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Can be acted on</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839"/>
              </a:spcAft>
              <a:buSzPct val="100000"/>
              <a:buChar char="•"/>
            </a:pPr>
            <a:r>
              <a:rPr lang="en-US" sz="1450" dirty="0">
                <a:solidFill>
                  <a:srgbClr val="12211B"/>
                </a:solidFill>
                <a:latin typeface="Calibri" pitchFamily="34" charset="0"/>
                <a:ea typeface="Calibri" pitchFamily="34" charset="-122"/>
                <a:cs typeface="Calibri" pitchFamily="34" charset="-120"/>
              </a:rPr>
              <a:t>“The last two reports had the wrong figures.”</a:t>
            </a:r>
            <a:endParaRPr lang="en-US" sz="1450" dirty="0"/>
          </a:p>
          <a:p>
            <a:pPr marL="228600" indent="-228600">
              <a:lnSpc>
                <a:spcPct val="100000"/>
              </a:lnSpc>
              <a:spcAft>
                <a:spcPts val="839"/>
              </a:spcAft>
              <a:buSzPct val="100000"/>
              <a:buChar char="•"/>
            </a:pPr>
            <a:r>
              <a:rPr lang="en-US" sz="1450" dirty="0">
                <a:solidFill>
                  <a:srgbClr val="12211B"/>
                </a:solidFill>
                <a:latin typeface="Calibri" pitchFamily="34" charset="0"/>
                <a:ea typeface="Calibri" pitchFamily="34" charset="-122"/>
                <a:cs typeface="Calibri" pitchFamily="34" charset="-120"/>
              </a:rPr>
              <a:t>“In Tuesday's meeting you spoke over Mimi twice.”</a:t>
            </a:r>
            <a:endParaRPr lang="en-US" sz="1450" dirty="0"/>
          </a:p>
          <a:p>
            <a:pPr marL="228600" indent="-228600">
              <a:lnSpc>
                <a:spcPct val="100000"/>
              </a:lnSpc>
              <a:spcAft>
                <a:spcPts val="839"/>
              </a:spcAft>
              <a:buSzPct val="100000"/>
              <a:buChar char="•"/>
            </a:pPr>
            <a:r>
              <a:rPr lang="en-US" sz="1450" dirty="0">
                <a:solidFill>
                  <a:srgbClr val="12211B"/>
                </a:solidFill>
                <a:latin typeface="Calibri" pitchFamily="34" charset="0"/>
                <a:ea typeface="Calibri" pitchFamily="34" charset="-122"/>
                <a:cs typeface="Calibri" pitchFamily="34" charset="-120"/>
              </a:rPr>
              <a:t>“The last three deadlines moved without warning.”</a:t>
            </a:r>
            <a:endParaRPr lang="en-US" sz="1450" dirty="0"/>
          </a:p>
          <a:p>
            <a:pPr marL="228600" indent="-228600">
              <a:lnSpc>
                <a:spcPct val="100000"/>
              </a:lnSpc>
              <a:spcAft>
                <a:spcPts val="839"/>
              </a:spcAft>
              <a:buSzPct val="100000"/>
              <a:buChar char="•"/>
            </a:pPr>
            <a:r>
              <a:rPr lang="en-US" sz="1450" dirty="0">
                <a:solidFill>
                  <a:srgbClr val="12211B"/>
                </a:solidFill>
                <a:latin typeface="Calibri" pitchFamily="34" charset="0"/>
                <a:ea typeface="Calibri" pitchFamily="34" charset="-122"/>
                <a:cs typeface="Calibri" pitchFamily="34" charset="-120"/>
              </a:rPr>
              <a:t>→ About what they DID.</a:t>
            </a:r>
            <a:endParaRPr lang="en-US" sz="1450" dirty="0"/>
          </a:p>
          <a:p>
            <a:pPr marL="228600" indent="-228600">
              <a:lnSpc>
                <a:spcPct val="100000"/>
              </a:lnSpc>
              <a:spcAft>
                <a:spcPts val="839"/>
              </a:spcAft>
              <a:buSzPct val="100000"/>
              <a:buChar char="•"/>
            </a:pPr>
            <a:r>
              <a:rPr lang="en-US" sz="1450" dirty="0">
                <a:solidFill>
                  <a:srgbClr val="12211B"/>
                </a:solidFill>
                <a:latin typeface="Calibri" pitchFamily="34" charset="0"/>
                <a:ea typeface="Calibri" pitchFamily="34" charset="-122"/>
                <a:cs typeface="Calibri" pitchFamily="34" charset="-120"/>
              </a:rPr>
              <a:t>→ Specific. Checkable. Fixable.</a:t>
            </a:r>
            <a:endParaRPr lang="en-US" sz="145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Behaviour · effect · request. “The figures were wrong twice. It meant the board saw bad data. Could you check them with Sara before sending?”</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Receiving criticism</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hardest of the five. Four steps.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a:t>
            </a:r>
            <a:endParaRPr lang="en-US" sz="1100" dirty="0"/>
          </a:p>
        </p:txBody>
      </p:sp>
      <p:sp>
        <p:nvSpPr>
          <p:cNvPr id="11" name="Shape 7"/>
          <p:cNvSpPr/>
          <p:nvPr/>
        </p:nvSpPr>
        <p:spPr>
          <a:xfrm>
            <a:off x="548640" y="1883664"/>
            <a:ext cx="63093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57607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WHAT TO DO WHEN IT ARRIVES</a:t>
            </a:r>
            <a:endParaRPr lang="en-US" sz="1200" dirty="0"/>
          </a:p>
        </p:txBody>
      </p:sp>
      <p:sp>
        <p:nvSpPr>
          <p:cNvPr id="13" name="Text 9"/>
          <p:cNvSpPr txBox="1"/>
          <p:nvPr/>
        </p:nvSpPr>
        <p:spPr>
          <a:xfrm>
            <a:off x="822960" y="2487168"/>
            <a:ext cx="5760720" cy="3218688"/>
          </a:xfrm>
          <a:prstGeom prst="rect">
            <a:avLst/>
          </a:prstGeom>
          <a:noFill/>
          <a:ln/>
        </p:spPr>
        <p:txBody>
          <a:bodyPr wrap="square" lIns="0" tIns="0" rIns="0" bIns="0" rtlCol="0" anchor="ctr"/>
          <a:lstStyle/>
          <a:p>
            <a:pPr indent="0" marL="0">
              <a:lnSpc>
                <a:spcPct val="138000"/>
              </a:lnSpc>
              <a:buNone/>
            </a:pPr>
            <a:r>
              <a:rPr lang="en-US" sz="1250" dirty="0">
                <a:solidFill>
                  <a:srgbClr val="12211B"/>
                </a:solidFill>
                <a:latin typeface="Calibri" pitchFamily="34" charset="0"/>
                <a:ea typeface="Calibri" pitchFamily="34" charset="-122"/>
                <a:cs typeface="Calibri" pitchFamily="34" charset="-120"/>
              </a:rPr>
              <a:t>1.  SAY NOTHING FOR TWO SECONDS</a:t>
            </a:r>
            <a:endParaRPr lang="en-US" sz="1250" dirty="0"/>
          </a:p>
          <a:p>
            <a:pPr indent="0" marL="0">
              <a:lnSpc>
                <a:spcPct val="138000"/>
              </a:lnSpc>
              <a:buNone/>
            </a:pPr>
            <a:r>
              <a:rPr lang="en-US" sz="1250" dirty="0">
                <a:solidFill>
                  <a:srgbClr val="12211B"/>
                </a:solidFill>
                <a:latin typeface="Calibri" pitchFamily="34" charset="0"/>
                <a:ea typeface="Calibri" pitchFamily="34" charset="-122"/>
                <a:cs typeface="Calibri" pitchFamily="34" charset="-120"/>
              </a:rPr>
              <a:t>     The instinct is to defend. Do not.</a:t>
            </a:r>
            <a:endParaRPr lang="en-US" sz="1250" dirty="0"/>
          </a:p>
          <a:p>
            <a:pPr indent="0" marL="0">
              <a:lnSpc>
                <a:spcPct val="138000"/>
              </a:lnSpc>
              <a:buNone/>
            </a:pPr>
            <a:endParaRPr lang="en-US" sz="1250" dirty="0"/>
          </a:p>
          <a:p>
            <a:pPr indent="0" marL="0">
              <a:lnSpc>
                <a:spcPct val="138000"/>
              </a:lnSpc>
              <a:buNone/>
            </a:pPr>
            <a:r>
              <a:rPr lang="en-US" sz="1250" dirty="0">
                <a:solidFill>
                  <a:srgbClr val="12211B"/>
                </a:solidFill>
                <a:latin typeface="Calibri" pitchFamily="34" charset="0"/>
                <a:ea typeface="Calibri" pitchFamily="34" charset="-122"/>
                <a:cs typeface="Calibri" pitchFamily="34" charset="-120"/>
              </a:rPr>
              <a:t>2.  ASK FOR THE SPECIFIC</a:t>
            </a:r>
            <a:endParaRPr lang="en-US" sz="1250" dirty="0"/>
          </a:p>
          <a:p>
            <a:pPr indent="0" marL="0">
              <a:lnSpc>
                <a:spcPct val="138000"/>
              </a:lnSpc>
              <a:buNone/>
            </a:pPr>
            <a:r>
              <a:rPr lang="en-US" sz="1250" dirty="0">
                <a:solidFill>
                  <a:srgbClr val="12211B"/>
                </a:solidFill>
                <a:latin typeface="Calibri" pitchFamily="34" charset="0"/>
                <a:ea typeface="Calibri" pitchFamily="34" charset="-122"/>
                <a:cs typeface="Calibri" pitchFamily="34" charset="-120"/>
              </a:rPr>
              <a:t>     “Can you give me an example?”</a:t>
            </a:r>
            <a:endParaRPr lang="en-US" sz="1250" dirty="0"/>
          </a:p>
          <a:p>
            <a:pPr indent="0" marL="0">
              <a:lnSpc>
                <a:spcPct val="138000"/>
              </a:lnSpc>
              <a:buNone/>
            </a:pPr>
            <a:endParaRPr lang="en-US" sz="1250" dirty="0"/>
          </a:p>
          <a:p>
            <a:pPr indent="0" marL="0">
              <a:lnSpc>
                <a:spcPct val="138000"/>
              </a:lnSpc>
              <a:buNone/>
            </a:pPr>
            <a:r>
              <a:rPr lang="en-US" sz="1250" dirty="0">
                <a:solidFill>
                  <a:srgbClr val="12211B"/>
                </a:solidFill>
                <a:latin typeface="Calibri" pitchFamily="34" charset="0"/>
                <a:ea typeface="Calibri" pitchFamily="34" charset="-122"/>
                <a:cs typeface="Calibri" pitchFamily="34" charset="-120"/>
              </a:rPr>
              <a:t>3.  ACKNOWLEDGE WHAT IS TRUE</a:t>
            </a:r>
            <a:endParaRPr lang="en-US" sz="1250" dirty="0"/>
          </a:p>
          <a:p>
            <a:pPr indent="0" marL="0">
              <a:lnSpc>
                <a:spcPct val="138000"/>
              </a:lnSpc>
              <a:buNone/>
            </a:pPr>
            <a:r>
              <a:rPr lang="en-US" sz="1250" dirty="0">
                <a:solidFill>
                  <a:srgbClr val="12211B"/>
                </a:solidFill>
                <a:latin typeface="Calibri" pitchFamily="34" charset="0"/>
                <a:ea typeface="Calibri" pitchFamily="34" charset="-122"/>
                <a:cs typeface="Calibri" pitchFamily="34" charset="-120"/>
              </a:rPr>
              <a:t>     “You're right about the figures.”</a:t>
            </a:r>
            <a:endParaRPr lang="en-US" sz="1250" dirty="0"/>
          </a:p>
          <a:p>
            <a:pPr indent="0" marL="0">
              <a:lnSpc>
                <a:spcPct val="138000"/>
              </a:lnSpc>
              <a:buNone/>
            </a:pPr>
            <a:endParaRPr lang="en-US" sz="1250" dirty="0"/>
          </a:p>
          <a:p>
            <a:pPr indent="0" marL="0">
              <a:lnSpc>
                <a:spcPct val="138000"/>
              </a:lnSpc>
              <a:buNone/>
            </a:pPr>
            <a:r>
              <a:rPr lang="en-US" sz="1250" dirty="0">
                <a:solidFill>
                  <a:srgbClr val="12211B"/>
                </a:solidFill>
                <a:latin typeface="Calibri" pitchFamily="34" charset="0"/>
                <a:ea typeface="Calibri" pitchFamily="34" charset="-122"/>
                <a:cs typeface="Calibri" pitchFamily="34" charset="-120"/>
              </a:rPr>
              <a:t>4.  ASK WHAT WOULD BE BETTER</a:t>
            </a:r>
            <a:endParaRPr lang="en-US" sz="1250" dirty="0"/>
          </a:p>
          <a:p>
            <a:pPr indent="0" marL="0">
              <a:lnSpc>
                <a:spcPct val="138000"/>
              </a:lnSpc>
              <a:buNone/>
            </a:pPr>
            <a:r>
              <a:rPr lang="en-US" sz="1250" dirty="0">
                <a:solidFill>
                  <a:srgbClr val="12211B"/>
                </a:solidFill>
                <a:latin typeface="Calibri" pitchFamily="34" charset="0"/>
                <a:ea typeface="Calibri" pitchFamily="34" charset="-122"/>
                <a:cs typeface="Calibri" pitchFamily="34" charset="-120"/>
              </a:rPr>
              <a:t>     “What would you like me to do</a:t>
            </a:r>
            <a:endParaRPr lang="en-US" sz="1250" dirty="0"/>
          </a:p>
          <a:p>
            <a:pPr indent="0" marL="0">
              <a:lnSpc>
                <a:spcPct val="138000"/>
              </a:lnSpc>
              <a:buNone/>
            </a:pPr>
            <a:r>
              <a:rPr lang="en-US" sz="1250" dirty="0">
                <a:solidFill>
                  <a:srgbClr val="12211B"/>
                </a:solidFill>
                <a:latin typeface="Calibri" pitchFamily="34" charset="0"/>
                <a:ea typeface="Calibri" pitchFamily="34" charset="-122"/>
                <a:cs typeface="Calibri" pitchFamily="34" charset="-120"/>
              </a:rPr>
              <a:t>      differently?”</a:t>
            </a:r>
            <a:endParaRPr lang="en-US" sz="1250" dirty="0"/>
          </a:p>
        </p:txBody>
      </p:sp>
      <p:sp>
        <p:nvSpPr>
          <p:cNvPr id="14" name="Shape 10"/>
          <p:cNvSpPr/>
          <p:nvPr/>
        </p:nvSpPr>
        <p:spPr>
          <a:xfrm>
            <a:off x="7132320" y="1883664"/>
            <a:ext cx="451073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370064" y="2103120"/>
            <a:ext cx="40352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WHY EACH STEP</a:t>
            </a:r>
            <a:endParaRPr lang="en-US" sz="1200" dirty="0"/>
          </a:p>
        </p:txBody>
      </p:sp>
      <p:sp>
        <p:nvSpPr>
          <p:cNvPr id="16" name="Text 12"/>
          <p:cNvSpPr/>
          <p:nvPr/>
        </p:nvSpPr>
        <p:spPr>
          <a:xfrm>
            <a:off x="7406640" y="2505456"/>
            <a:ext cx="39620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Step 1 is the whole discipline. Two seconds prevents most bad outcomes.</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Step 2 turns a vague complaint into something you can act on.</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Step 3 does not mean accepting all of it — only the true part.</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Step 4 ends it constructively and shows you took it seriously.</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Apologising — and over-apologising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Both matter. Most people do one of them badly.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8</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926080"/>
                <a:gridCol w="4206240"/>
                <a:gridCol w="3962095"/>
              </a:tblGrid>
              <a:tr h="457200">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Type</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Example</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Note</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57200">
                <a:tc>
                  <a:txBody>
                    <a:bodyPr/>
                    <a:lstStyle/>
                    <a:p>
                      <a:pPr algn="l" indent="0" marL="0">
                        <a:buNone/>
                      </a:pPr>
                      <a:r>
                        <a:rPr lang="en-US" sz="1600" b="1" dirty="0">
                          <a:solidFill>
                            <a:srgbClr val="12211B"/>
                          </a:solidFill>
                          <a:latin typeface="Calibri" pitchFamily="34" charset="0"/>
                          <a:ea typeface="Calibri" pitchFamily="34" charset="-122"/>
                          <a:cs typeface="Calibri" pitchFamily="34" charset="-120"/>
                        </a:rPr>
                        <a:t>A real apology</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A473F"/>
                          </a:solidFill>
                          <a:latin typeface="Calibri" pitchFamily="34" charset="0"/>
                          <a:ea typeface="Calibri" pitchFamily="34" charset="-122"/>
                          <a:cs typeface="Calibri" pitchFamily="34" charset="-120"/>
                        </a:rPr>
                        <a:t>“I'm sorry. I sent the wrong figures and it cost you a day.”</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A473F"/>
                          </a:solidFill>
                          <a:latin typeface="Calibri" pitchFamily="34" charset="0"/>
                          <a:ea typeface="Calibri" pitchFamily="34" charset="-122"/>
                          <a:cs typeface="Calibri" pitchFamily="34" charset="-120"/>
                        </a:rPr>
                        <a:t>name what you did and its effect</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600" b="1" dirty="0">
                          <a:solidFill>
                            <a:srgbClr val="12211B"/>
                          </a:solidFill>
                          <a:latin typeface="Calibri" pitchFamily="34" charset="0"/>
                          <a:ea typeface="Calibri" pitchFamily="34" charset="-122"/>
                          <a:cs typeface="Calibri" pitchFamily="34" charset="-120"/>
                        </a:rPr>
                        <a:t>A non-apology</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00" dirty="0">
                          <a:solidFill>
                            <a:srgbClr val="3A473F"/>
                          </a:solidFill>
                          <a:latin typeface="Calibri" pitchFamily="34" charset="0"/>
                          <a:ea typeface="Calibri" pitchFamily="34" charset="-122"/>
                          <a:cs typeface="Calibri" pitchFamily="34" charset="-120"/>
                        </a:rPr>
                        <a:t>“I'm sorry you feel that way.”</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00" dirty="0">
                          <a:solidFill>
                            <a:srgbClr val="3A473F"/>
                          </a:solidFill>
                          <a:latin typeface="Calibri" pitchFamily="34" charset="0"/>
                          <a:ea typeface="Calibri" pitchFamily="34" charset="-122"/>
                          <a:cs typeface="Calibri" pitchFamily="34" charset="-120"/>
                        </a:rPr>
                        <a:t>apologises for their reaction, not your act</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600" b="1" dirty="0">
                          <a:solidFill>
                            <a:srgbClr val="12211B"/>
                          </a:solidFill>
                          <a:latin typeface="Calibri" pitchFamily="34" charset="0"/>
                          <a:ea typeface="Calibri" pitchFamily="34" charset="-122"/>
                          <a:cs typeface="Calibri" pitchFamily="34" charset="-120"/>
                        </a:rPr>
                        <a:t>Over-apologising</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A473F"/>
                          </a:solidFill>
                          <a:latin typeface="Calibri" pitchFamily="34" charset="0"/>
                          <a:ea typeface="Calibri" pitchFamily="34" charset="-122"/>
                          <a:cs typeface="Calibri" pitchFamily="34" charset="-120"/>
                        </a:rPr>
                        <a:t>“Sorry!” five times an hour</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3A473F"/>
                          </a:solidFill>
                          <a:latin typeface="Calibri" pitchFamily="34" charset="0"/>
                          <a:ea typeface="Calibri" pitchFamily="34" charset="-122"/>
                          <a:cs typeface="Calibri" pitchFamily="34" charset="-120"/>
                        </a:rPr>
                        <a:t>it stops meaning anything</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600" b="1" dirty="0">
                          <a:solidFill>
                            <a:srgbClr val="12211B"/>
                          </a:solidFill>
                          <a:latin typeface="Calibri" pitchFamily="34" charset="0"/>
                          <a:ea typeface="Calibri" pitchFamily="34" charset="-122"/>
                          <a:cs typeface="Calibri" pitchFamily="34" charset="-120"/>
                        </a:rPr>
                        <a:t>The reflex sorry</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00" dirty="0">
                          <a:solidFill>
                            <a:srgbClr val="3A473F"/>
                          </a:solidFill>
                          <a:latin typeface="Calibri" pitchFamily="34" charset="0"/>
                          <a:ea typeface="Calibri" pitchFamily="34" charset="-122"/>
                          <a:cs typeface="Calibri" pitchFamily="34" charset="-120"/>
                        </a:rPr>
                        <a:t>“Sorry, could I just ask…”</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00" dirty="0">
                          <a:solidFill>
                            <a:srgbClr val="3A473F"/>
                          </a:solidFill>
                          <a:latin typeface="Calibri" pitchFamily="34" charset="0"/>
                          <a:ea typeface="Calibri" pitchFamily="34" charset="-122"/>
                          <a:cs typeface="Calibri" pitchFamily="34" charset="-120"/>
                        </a:rPr>
                        <a:t>harmless once; a habit that undercuts you</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A real apology has three parts: what you did · its effect · what you will do differently. No “but” anywhere in it.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Raising a problem with somebody senior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Most people never learn to do this at all.</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9</a:t>
            </a:r>
            <a:endParaRPr lang="en-US" sz="1100" dirty="0"/>
          </a:p>
        </p:txBody>
      </p:sp>
      <p:sp>
        <p:nvSpPr>
          <p:cNvPr id="11" name="Shape 7"/>
          <p:cNvSpPr/>
          <p:nvPr/>
        </p:nvSpPr>
        <p:spPr>
          <a:xfrm>
            <a:off x="548640" y="1883664"/>
            <a:ext cx="63093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57607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THE FOUR MOVES</a:t>
            </a:r>
            <a:endParaRPr lang="en-US" sz="1200" dirty="0"/>
          </a:p>
        </p:txBody>
      </p:sp>
      <p:sp>
        <p:nvSpPr>
          <p:cNvPr id="13" name="Text 9"/>
          <p:cNvSpPr txBox="1"/>
          <p:nvPr/>
        </p:nvSpPr>
        <p:spPr>
          <a:xfrm>
            <a:off x="822960" y="2487168"/>
            <a:ext cx="5760720" cy="3218688"/>
          </a:xfrm>
          <a:prstGeom prst="rect">
            <a:avLst/>
          </a:prstGeom>
          <a:noFill/>
          <a:ln/>
        </p:spPr>
        <p:txBody>
          <a:bodyPr wrap="square" lIns="0" tIns="0" rIns="0" bIns="0" rtlCol="0" anchor="ctr"/>
          <a:lstStyle/>
          <a:p>
            <a:pPr indent="0" marL="0">
              <a:lnSpc>
                <a:spcPct val="136000"/>
              </a:lnSpc>
              <a:buNone/>
            </a:pPr>
            <a:r>
              <a:rPr lang="en-US" sz="1250" dirty="0">
                <a:solidFill>
                  <a:srgbClr val="12211B"/>
                </a:solidFill>
                <a:latin typeface="Calibri" pitchFamily="34" charset="0"/>
                <a:ea typeface="Calibri" pitchFamily="34" charset="-122"/>
                <a:cs typeface="Calibri" pitchFamily="34" charset="-120"/>
              </a:rPr>
              <a:t>1.  ASK FOR THE TIME</a:t>
            </a:r>
            <a:endParaRPr lang="en-US" sz="1250" dirty="0"/>
          </a:p>
          <a:p>
            <a:pPr indent="0" marL="0">
              <a:lnSpc>
                <a:spcPct val="136000"/>
              </a:lnSpc>
              <a:buNone/>
            </a:pPr>
            <a:r>
              <a:rPr lang="en-US" sz="1250" dirty="0">
                <a:solidFill>
                  <a:srgbClr val="12211B"/>
                </a:solidFill>
                <a:latin typeface="Calibri" pitchFamily="34" charset="0"/>
                <a:ea typeface="Calibri" pitchFamily="34" charset="-122"/>
                <a:cs typeface="Calibri" pitchFamily="34" charset="-120"/>
              </a:rPr>
              <a:t>     “Could I have ten minutes about</a:t>
            </a:r>
            <a:endParaRPr lang="en-US" sz="1250" dirty="0"/>
          </a:p>
          <a:p>
            <a:pPr indent="0" marL="0">
              <a:lnSpc>
                <a:spcPct val="136000"/>
              </a:lnSpc>
              <a:buNone/>
            </a:pPr>
            <a:r>
              <a:rPr lang="en-US" sz="1250" dirty="0">
                <a:solidFill>
                  <a:srgbClr val="12211B"/>
                </a:solidFill>
                <a:latin typeface="Calibri" pitchFamily="34" charset="0"/>
                <a:ea typeface="Calibri" pitchFamily="34" charset="-122"/>
                <a:cs typeface="Calibri" pitchFamily="34" charset="-120"/>
              </a:rPr>
              <a:t>      the Adama contract?”</a:t>
            </a:r>
            <a:endParaRPr lang="en-US" sz="1250" dirty="0"/>
          </a:p>
          <a:p>
            <a:pPr indent="0" marL="0">
              <a:lnSpc>
                <a:spcPct val="136000"/>
              </a:lnSpc>
              <a:buNone/>
            </a:pPr>
            <a:endParaRPr lang="en-US" sz="1250" dirty="0"/>
          </a:p>
          <a:p>
            <a:pPr indent="0" marL="0">
              <a:lnSpc>
                <a:spcPct val="136000"/>
              </a:lnSpc>
              <a:buNone/>
            </a:pPr>
            <a:r>
              <a:rPr lang="en-US" sz="1250" dirty="0">
                <a:solidFill>
                  <a:srgbClr val="12211B"/>
                </a:solidFill>
                <a:latin typeface="Calibri" pitchFamily="34" charset="0"/>
                <a:ea typeface="Calibri" pitchFamily="34" charset="-122"/>
                <a:cs typeface="Calibri" pitchFamily="34" charset="-120"/>
              </a:rPr>
              <a:t>2.  STATE IT AS A SHARED PROBLEM</a:t>
            </a:r>
            <a:endParaRPr lang="en-US" sz="1250" dirty="0"/>
          </a:p>
          <a:p>
            <a:pPr indent="0" marL="0">
              <a:lnSpc>
                <a:spcPct val="136000"/>
              </a:lnSpc>
              <a:buNone/>
            </a:pPr>
            <a:r>
              <a:rPr lang="en-US" sz="1250" dirty="0">
                <a:solidFill>
                  <a:srgbClr val="12211B"/>
                </a:solidFill>
                <a:latin typeface="Calibri" pitchFamily="34" charset="0"/>
                <a:ea typeface="Calibri" pitchFamily="34" charset="-122"/>
                <a:cs typeface="Calibri" pitchFamily="34" charset="-120"/>
              </a:rPr>
              <a:t>     “I think we may have an issue with…”</a:t>
            </a:r>
            <a:endParaRPr lang="en-US" sz="1250" dirty="0"/>
          </a:p>
          <a:p>
            <a:pPr indent="0" marL="0">
              <a:lnSpc>
                <a:spcPct val="136000"/>
              </a:lnSpc>
              <a:buNone/>
            </a:pPr>
            <a:endParaRPr lang="en-US" sz="1250" dirty="0"/>
          </a:p>
          <a:p>
            <a:pPr indent="0" marL="0">
              <a:lnSpc>
                <a:spcPct val="136000"/>
              </a:lnSpc>
              <a:buNone/>
            </a:pPr>
            <a:r>
              <a:rPr lang="en-US" sz="1250" dirty="0">
                <a:solidFill>
                  <a:srgbClr val="12211B"/>
                </a:solidFill>
                <a:latin typeface="Calibri" pitchFamily="34" charset="0"/>
                <a:ea typeface="Calibri" pitchFamily="34" charset="-122"/>
                <a:cs typeface="Calibri" pitchFamily="34" charset="-120"/>
              </a:rPr>
              <a:t>3.  BRING EVIDENCE, NOT FEELINGS</a:t>
            </a:r>
            <a:endParaRPr lang="en-US" sz="1250" dirty="0"/>
          </a:p>
          <a:p>
            <a:pPr indent="0" marL="0">
              <a:lnSpc>
                <a:spcPct val="136000"/>
              </a:lnSpc>
              <a:buNone/>
            </a:pPr>
            <a:r>
              <a:rPr lang="en-US" sz="1250" dirty="0">
                <a:solidFill>
                  <a:srgbClr val="12211B"/>
                </a:solidFill>
                <a:latin typeface="Calibri" pitchFamily="34" charset="0"/>
                <a:ea typeface="Calibri" pitchFamily="34" charset="-122"/>
                <a:cs typeface="Calibri" pitchFamily="34" charset="-120"/>
              </a:rPr>
              <a:t>     “The last three deliveries were late.”</a:t>
            </a:r>
            <a:endParaRPr lang="en-US" sz="1250" dirty="0"/>
          </a:p>
          <a:p>
            <a:pPr indent="0" marL="0">
              <a:lnSpc>
                <a:spcPct val="136000"/>
              </a:lnSpc>
              <a:buNone/>
            </a:pPr>
            <a:endParaRPr lang="en-US" sz="1250" dirty="0"/>
          </a:p>
          <a:p>
            <a:pPr indent="0" marL="0">
              <a:lnSpc>
                <a:spcPct val="136000"/>
              </a:lnSpc>
              <a:buNone/>
            </a:pPr>
            <a:r>
              <a:rPr lang="en-US" sz="1250" dirty="0">
                <a:solidFill>
                  <a:srgbClr val="12211B"/>
                </a:solidFill>
                <a:latin typeface="Calibri" pitchFamily="34" charset="0"/>
                <a:ea typeface="Calibri" pitchFamily="34" charset="-122"/>
                <a:cs typeface="Calibri" pitchFamily="34" charset="-120"/>
              </a:rPr>
              <a:t>4.  BRING A PROPOSED SOLUTION</a:t>
            </a:r>
            <a:endParaRPr lang="en-US" sz="1250" dirty="0"/>
          </a:p>
          <a:p>
            <a:pPr indent="0" marL="0">
              <a:lnSpc>
                <a:spcPct val="136000"/>
              </a:lnSpc>
              <a:buNone/>
            </a:pPr>
            <a:r>
              <a:rPr lang="en-US" sz="1250" dirty="0">
                <a:solidFill>
                  <a:srgbClr val="12211B"/>
                </a:solidFill>
                <a:latin typeface="Calibri" pitchFamily="34" charset="0"/>
                <a:ea typeface="Calibri" pitchFamily="34" charset="-122"/>
                <a:cs typeface="Calibri" pitchFamily="34" charset="-120"/>
              </a:rPr>
              <a:t>     “I'd suggest we…  What do you think?”</a:t>
            </a:r>
            <a:endParaRPr lang="en-US" sz="1250" dirty="0"/>
          </a:p>
        </p:txBody>
      </p:sp>
      <p:sp>
        <p:nvSpPr>
          <p:cNvPr id="14" name="Shape 10"/>
          <p:cNvSpPr/>
          <p:nvPr/>
        </p:nvSpPr>
        <p:spPr>
          <a:xfrm>
            <a:off x="7132320" y="1883664"/>
            <a:ext cx="451073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370064" y="2103120"/>
            <a:ext cx="40352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WHY THIS WORKS</a:t>
            </a:r>
            <a:endParaRPr lang="en-US" sz="1200" dirty="0"/>
          </a:p>
        </p:txBody>
      </p:sp>
      <p:sp>
        <p:nvSpPr>
          <p:cNvPr id="16" name="Text 12"/>
          <p:cNvSpPr/>
          <p:nvPr/>
        </p:nvSpPr>
        <p:spPr>
          <a:xfrm>
            <a:off x="7406640" y="2505456"/>
            <a:ext cx="39620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Step 1 means they are not ambushed, which changes how they listen.</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Step 2 — “we” not “you” — makes it a problem to solve, not an accusation.</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Step 3 protects you. Evidence is arguable; feelings are dismissible.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Step 4 is what makes you useful rather than merely complaining.</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When it becomes heated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moves that lower the temperature without conceding anything.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10</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What escalates it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955"/>
              </a:spcAft>
              <a:buSzPct val="100000"/>
              <a:buChar char="•"/>
            </a:pPr>
            <a:r>
              <a:rPr lang="en-US" sz="1650" dirty="0">
                <a:solidFill>
                  <a:srgbClr val="12211B"/>
                </a:solidFill>
                <a:latin typeface="Calibri" pitchFamily="34" charset="0"/>
                <a:ea typeface="Calibri" pitchFamily="34" charset="-122"/>
                <a:cs typeface="Calibri" pitchFamily="34" charset="-120"/>
              </a:rPr>
              <a:t>Matching their volume</a:t>
            </a:r>
            <a:endParaRPr lang="en-US" sz="1650" dirty="0"/>
          </a:p>
          <a:p>
            <a:pPr marL="228600" indent="-228600">
              <a:lnSpc>
                <a:spcPct val="100000"/>
              </a:lnSpc>
              <a:spcAft>
                <a:spcPts val="955"/>
              </a:spcAft>
              <a:buSzPct val="100000"/>
              <a:buChar char="•"/>
            </a:pPr>
            <a:r>
              <a:rPr lang="en-US" sz="1650" dirty="0">
                <a:solidFill>
                  <a:srgbClr val="12211B"/>
                </a:solidFill>
                <a:latin typeface="Calibri" pitchFamily="34" charset="0"/>
                <a:ea typeface="Calibri" pitchFamily="34" charset="-122"/>
                <a:cs typeface="Calibri" pitchFamily="34" charset="-120"/>
              </a:rPr>
              <a:t>“Calm down.”</a:t>
            </a:r>
            <a:endParaRPr lang="en-US" sz="1650" dirty="0"/>
          </a:p>
          <a:p>
            <a:pPr marL="228600" indent="-228600">
              <a:lnSpc>
                <a:spcPct val="100000"/>
              </a:lnSpc>
              <a:spcAft>
                <a:spcPts val="955"/>
              </a:spcAft>
              <a:buSzPct val="100000"/>
              <a:buChar char="•"/>
            </a:pPr>
            <a:r>
              <a:rPr lang="en-US" sz="1650" dirty="0">
                <a:solidFill>
                  <a:srgbClr val="12211B"/>
                </a:solidFill>
                <a:latin typeface="Calibri" pitchFamily="34" charset="0"/>
                <a:ea typeface="Calibri" pitchFamily="34" charset="-122"/>
                <a:cs typeface="Calibri" pitchFamily="34" charset="-120"/>
              </a:rPr>
              <a:t>“You always…”  “You never…”</a:t>
            </a:r>
            <a:endParaRPr lang="en-US" sz="1650" dirty="0"/>
          </a:p>
          <a:p>
            <a:pPr marL="228600" indent="-228600">
              <a:lnSpc>
                <a:spcPct val="100000"/>
              </a:lnSpc>
              <a:spcAft>
                <a:spcPts val="955"/>
              </a:spcAft>
              <a:buSzPct val="100000"/>
              <a:buChar char="•"/>
            </a:pPr>
            <a:r>
              <a:rPr lang="en-US" sz="1650" dirty="0">
                <a:solidFill>
                  <a:srgbClr val="12211B"/>
                </a:solidFill>
                <a:latin typeface="Calibri" pitchFamily="34" charset="0"/>
                <a:ea typeface="Calibri" pitchFamily="34" charset="-122"/>
                <a:cs typeface="Calibri" pitchFamily="34" charset="-120"/>
              </a:rPr>
              <a:t>Winning the exchange</a:t>
            </a:r>
            <a:endParaRPr lang="en-US" sz="1650" dirty="0"/>
          </a:p>
          <a:p>
            <a:pPr marL="228600" indent="-228600">
              <a:lnSpc>
                <a:spcPct val="100000"/>
              </a:lnSpc>
              <a:spcAft>
                <a:spcPts val="955"/>
              </a:spcAft>
              <a:buSzPct val="100000"/>
              <a:buChar char="•"/>
            </a:pPr>
            <a:r>
              <a:rPr lang="en-US" sz="1650" dirty="0">
                <a:solidFill>
                  <a:srgbClr val="12211B"/>
                </a:solidFill>
                <a:latin typeface="Calibri" pitchFamily="34" charset="0"/>
                <a:ea typeface="Calibri" pitchFamily="34" charset="-122"/>
                <a:cs typeface="Calibri" pitchFamily="34" charset="-120"/>
              </a:rPr>
              <a:t>→ Now it is about the argument, not the problem.</a:t>
            </a:r>
            <a:endParaRPr lang="en-US" sz="165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What lowers it</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955"/>
              </a:spcAft>
              <a:buSzPct val="100000"/>
              <a:buChar char="•"/>
            </a:pPr>
            <a:r>
              <a:rPr lang="en-US" sz="1650" dirty="0">
                <a:solidFill>
                  <a:srgbClr val="12211B"/>
                </a:solidFill>
                <a:latin typeface="Calibri" pitchFamily="34" charset="0"/>
                <a:ea typeface="Calibri" pitchFamily="34" charset="-122"/>
                <a:cs typeface="Calibri" pitchFamily="34" charset="-120"/>
              </a:rPr>
              <a:t>Speaking more slowly and more quietly</a:t>
            </a:r>
            <a:endParaRPr lang="en-US" sz="1650" dirty="0"/>
          </a:p>
          <a:p>
            <a:pPr marL="228600" indent="-228600">
              <a:lnSpc>
                <a:spcPct val="100000"/>
              </a:lnSpc>
              <a:spcAft>
                <a:spcPts val="955"/>
              </a:spcAft>
              <a:buSzPct val="100000"/>
              <a:buChar char="•"/>
            </a:pPr>
            <a:r>
              <a:rPr lang="en-US" sz="1650" dirty="0">
                <a:solidFill>
                  <a:srgbClr val="12211B"/>
                </a:solidFill>
                <a:latin typeface="Calibri" pitchFamily="34" charset="0"/>
                <a:ea typeface="Calibri" pitchFamily="34" charset="-122"/>
                <a:cs typeface="Calibri" pitchFamily="34" charset="-120"/>
              </a:rPr>
              <a:t>“I can see this matters to you.”</a:t>
            </a:r>
            <a:endParaRPr lang="en-US" sz="1650" dirty="0"/>
          </a:p>
          <a:p>
            <a:pPr marL="228600" indent="-228600">
              <a:lnSpc>
                <a:spcPct val="100000"/>
              </a:lnSpc>
              <a:spcAft>
                <a:spcPts val="955"/>
              </a:spcAft>
              <a:buSzPct val="100000"/>
              <a:buChar char="•"/>
            </a:pPr>
            <a:r>
              <a:rPr lang="en-US" sz="1650" dirty="0">
                <a:solidFill>
                  <a:srgbClr val="12211B"/>
                </a:solidFill>
                <a:latin typeface="Calibri" pitchFamily="34" charset="0"/>
                <a:ea typeface="Calibri" pitchFamily="34" charset="-122"/>
                <a:cs typeface="Calibri" pitchFamily="34" charset="-120"/>
              </a:rPr>
              <a:t>“Let me make sure I've understood…”</a:t>
            </a:r>
            <a:endParaRPr lang="en-US" sz="1650" dirty="0"/>
          </a:p>
          <a:p>
            <a:pPr marL="228600" indent="-228600">
              <a:lnSpc>
                <a:spcPct val="100000"/>
              </a:lnSpc>
              <a:spcAft>
                <a:spcPts val="955"/>
              </a:spcAft>
              <a:buSzPct val="100000"/>
              <a:buChar char="•"/>
            </a:pPr>
            <a:r>
              <a:rPr lang="en-US" sz="1650" dirty="0">
                <a:solidFill>
                  <a:srgbClr val="12211B"/>
                </a:solidFill>
                <a:latin typeface="Calibri" pitchFamily="34" charset="0"/>
                <a:ea typeface="Calibri" pitchFamily="34" charset="-122"/>
                <a:cs typeface="Calibri" pitchFamily="34" charset="-120"/>
              </a:rPr>
              <a:t>“Can we come back to this tomorrow?”</a:t>
            </a:r>
            <a:endParaRPr lang="en-US" sz="1650" dirty="0"/>
          </a:p>
          <a:p>
            <a:pPr marL="228600" indent="-228600">
              <a:lnSpc>
                <a:spcPct val="100000"/>
              </a:lnSpc>
              <a:spcAft>
                <a:spcPts val="955"/>
              </a:spcAft>
              <a:buSzPct val="100000"/>
              <a:buChar char="•"/>
            </a:pPr>
            <a:r>
              <a:rPr lang="en-US" sz="1650" dirty="0">
                <a:solidFill>
                  <a:srgbClr val="12211B"/>
                </a:solidFill>
                <a:latin typeface="Calibri" pitchFamily="34" charset="0"/>
                <a:ea typeface="Calibri" pitchFamily="34" charset="-122"/>
                <a:cs typeface="Calibri" pitchFamily="34" charset="-120"/>
              </a:rPr>
              <a:t>→ The problem is still there. The heat is not.</a:t>
            </a:r>
            <a:endParaRPr lang="en-US" sz="165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Never say “calm down”. It has never once worked. “I can see this matters to you” does the same job and does not insult anybody.</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raise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11</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raise</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/reɪz/</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450" dirty="0">
                <a:solidFill>
                  <a:srgbClr val="12211B"/>
                </a:solidFill>
                <a:latin typeface="Calibri" pitchFamily="34" charset="0"/>
                <a:ea typeface="Calibri" pitchFamily="34" charset="-122"/>
                <a:cs typeface="Calibri" pitchFamily="34" charset="-120"/>
              </a:rPr>
              <a:t>To bring a subject up for discussion, especially a difficult one.</a:t>
            </a:r>
            <a:endParaRPr lang="en-US" sz="14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350" b="1" dirty="0">
                <a:solidFill>
                  <a:srgbClr val="12211B"/>
                </a:solidFill>
                <a:latin typeface="Calibri" pitchFamily="34" charset="0"/>
                <a:ea typeface="Calibri" pitchFamily="34" charset="-122"/>
                <a:cs typeface="Calibri" pitchFamily="34" charset="-120"/>
              </a:rPr>
              <a:t>I'd like to raise something about the deadlines. She raised it with her manager.</a:t>
            </a:r>
            <a:endParaRPr lang="en-US" sz="13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“Raise something WITH somebody.” And it is neutral — raising an issue is not complaining about it.</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misunderstanding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12</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3600" b="1" dirty="0">
                <a:solidFill>
                  <a:srgbClr val="12211B"/>
                </a:solidFill>
                <a:latin typeface="Calibri" pitchFamily="34" charset="0"/>
                <a:ea typeface="Calibri" pitchFamily="34" charset="-122"/>
                <a:cs typeface="Calibri" pitchFamily="34" charset="-120"/>
              </a:rPr>
              <a:t>misunderstanding</a:t>
            </a:r>
            <a:endParaRPr lang="en-US" sz="36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/ˌmɪsʌndəˈstændɪŋ/</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400" dirty="0">
                <a:solidFill>
                  <a:srgbClr val="12211B"/>
                </a:solidFill>
                <a:latin typeface="Calibri" pitchFamily="34" charset="0"/>
                <a:ea typeface="Calibri" pitchFamily="34" charset="-122"/>
                <a:cs typeface="Calibri" pitchFamily="34" charset="-120"/>
              </a:rPr>
              <a:t>A failure to understand something correctly — with no blame attached.</a:t>
            </a:r>
            <a:endParaRPr lang="en-US" sz="140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700" b="1" dirty="0">
                <a:solidFill>
                  <a:srgbClr val="12211B"/>
                </a:solidFill>
                <a:latin typeface="Calibri" pitchFamily="34" charset="0"/>
                <a:ea typeface="Calibri" pitchFamily="34" charset="-122"/>
                <a:cs typeface="Calibri" pitchFamily="34" charset="-120"/>
              </a:rPr>
              <a:t>I think there's been a misunderstanding about the dates.</a:t>
            </a:r>
            <a:endParaRPr lang="en-US" sz="17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Six syllables, stress on the FOURTH: mis-un-der-STAND-ing. It is deliberately blame-free.</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defensive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13</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defensive</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/dɪˈfensɪv/</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adjective</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450" dirty="0">
                <a:solidFill>
                  <a:srgbClr val="12211B"/>
                </a:solidFill>
                <a:latin typeface="Calibri" pitchFamily="34" charset="0"/>
                <a:ea typeface="Calibri" pitchFamily="34" charset="-122"/>
                <a:cs typeface="Calibri" pitchFamily="34" charset="-120"/>
              </a:rPr>
              <a:t>Reacting to criticism by protecting yourself instead of listening.</a:t>
            </a:r>
            <a:endParaRPr lang="en-US" sz="14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500" b="1" dirty="0">
                <a:solidFill>
                  <a:srgbClr val="12211B"/>
                </a:solidFill>
                <a:latin typeface="Calibri" pitchFamily="34" charset="0"/>
                <a:ea typeface="Calibri" pitchFamily="34" charset="-122"/>
                <a:cs typeface="Calibri" pitchFamily="34" charset="-120"/>
              </a:rPr>
              <a:t>I got defensive, which didn't help. Try not to sound defensive.</a:t>
            </a:r>
            <a:endParaRPr lang="en-US" sz="15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Stress on the SECOND syllable: de-FEN-sive. Being defensive is a reaction, not a character trait.</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acknowledge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14</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acknowledge</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/əkˈnɒlɪdʒ/</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To accept publicly that something is true.</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450" b="1" dirty="0">
                <a:solidFill>
                  <a:srgbClr val="12211B"/>
                </a:solidFill>
                <a:latin typeface="Calibri" pitchFamily="34" charset="0"/>
                <a:ea typeface="Calibri" pitchFamily="34" charset="-122"/>
                <a:cs typeface="Calibri" pitchFamily="34" charset="-120"/>
              </a:rPr>
              <a:t>I acknowledge the figures were wrong. She acknowledged the delay.</a:t>
            </a:r>
            <a:endParaRPr lang="en-US" sz="14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Silent W. From Module 2 — and here it does harder work: acknowledging a fault, not just a point.</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constructive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15</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850" b="1" dirty="0">
                <a:solidFill>
                  <a:srgbClr val="12211B"/>
                </a:solidFill>
                <a:latin typeface="Calibri" pitchFamily="34" charset="0"/>
                <a:ea typeface="Calibri" pitchFamily="34" charset="-122"/>
                <a:cs typeface="Calibri" pitchFamily="34" charset="-120"/>
              </a:rPr>
              <a:t>constructive</a:t>
            </a:r>
            <a:endParaRPr lang="en-US" sz="485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/kənˈstrʌktɪv/</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adjective</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400" dirty="0">
                <a:solidFill>
                  <a:srgbClr val="12211B"/>
                </a:solidFill>
                <a:latin typeface="Calibri" pitchFamily="34" charset="0"/>
                <a:ea typeface="Calibri" pitchFamily="34" charset="-122"/>
                <a:cs typeface="Calibri" pitchFamily="34" charset="-120"/>
              </a:rPr>
              <a:t>Intended to help improve something, rather than simply to criticise.</a:t>
            </a:r>
            <a:endParaRPr lang="en-US" sz="140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650" b="1" dirty="0">
                <a:solidFill>
                  <a:srgbClr val="12211B"/>
                </a:solidFill>
                <a:latin typeface="Calibri" pitchFamily="34" charset="0"/>
                <a:ea typeface="Calibri" pitchFamily="34" charset="-122"/>
                <a:cs typeface="Calibri" pitchFamily="34" charset="-120"/>
              </a:rPr>
              <a:t>That's constructive feedback. Let's keep this constructive.</a:t>
            </a:r>
            <a:endParaRPr lang="en-US" sz="16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Stress on the SECOND syllable. Criticism is constructive only if it names what to do differently.</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967228"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47345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DIFFICULT LANGUAGE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Opening a difficult conversation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openers. All of them give warning.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16</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4206240"/>
                <a:gridCol w="3108960"/>
                <a:gridCol w="3962095"/>
              </a:tblGrid>
              <a:tr h="42062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Say this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For</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20624">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“Can I raise something with you?”</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anything</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the safest general opener</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“I'm afraid I've got some bad news.”</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bad news</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two seconds of warning</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20624">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“Could I give you some feedback?”</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criticism</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asks permission first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“I think there's been a misunderstanding.”</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conflict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blames nobody</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20624">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“Could I have ten minutes about X?”</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raising it upwards</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no ambush</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Every one of these gives the other person a moment to prepare. That moment changes how everything after it is heard.</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967228"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47345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DIFFICULT LANGUAGE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“You” and “I” — the same fact, two effects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Who the sentence is about decides how it lands.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17</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“You” — sounds like an accusation</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“You didn't tell me.”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“You made a mistake in the figures.”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“You're always late with these.”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 They defend themselves.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 Now you are arguing about them.</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“I” — sounds like information</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didn't know about the change.”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found two errors in the figures.”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“I've had three late submissions.”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 Same facts.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 Nothing to defend against.</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This is not softening — the facts are identical. It changes what the sentence is ABOUT: the problem rather than the person.</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967228"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47345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DIFFICULT LANGUAGE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three-part criticism</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Behaviour · effect · request. Never fewer than three.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18</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743200"/>
                <a:gridCol w="4206240"/>
                <a:gridCol w="4144975"/>
              </a:tblGrid>
              <a:tr h="47548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Part</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Test</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75488">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BEHAVIOUR</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“The last two reports had wrong figures.”</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could a camera have seen it?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75488">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EFFECT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“The board saw bad data.”</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why does it matter?</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75488">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REQUEST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“Could you check with Sara before sending?”</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what should happen now?</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camera test: if a camera could not have recorded it, it is not behaviour. “You were careless” fails; “the figures were wrong twice” passes.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967228"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47345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DIFFICULT LANGUAGE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real apology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Three parts, and no “but”.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19</a:t>
            </a:r>
            <a:endParaRPr lang="en-US" sz="1100" dirty="0"/>
          </a:p>
        </p:txBody>
      </p:sp>
      <p:sp>
        <p:nvSpPr>
          <p:cNvPr id="11" name="Shape 7"/>
          <p:cNvSpPr/>
          <p:nvPr/>
        </p:nvSpPr>
        <p:spPr>
          <a:xfrm>
            <a:off x="548640" y="1883664"/>
            <a:ext cx="6309360" cy="4059936"/>
          </a:xfrm>
          <a:prstGeom prst="roundRect">
            <a:avLst>
              <a:gd name="adj" fmla="val 3153"/>
            </a:avLst>
          </a:prstGeom>
          <a:solidFill>
            <a:srgbClr val="EDF3EF"/>
          </a:solidFill>
          <a:ln w="15875">
            <a:solidFill>
              <a:srgbClr val="3F5BD9"/>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5760720" cy="274320"/>
          </a:xfrm>
          <a:prstGeom prst="rect">
            <a:avLst/>
          </a:prstGeom>
          <a:noFill/>
          <a:ln/>
        </p:spPr>
        <p:txBody>
          <a:bodyPr wrap="square" lIns="0" tIns="0" rIns="0" bIns="0" rtlCol="0" anchor="ctr"/>
          <a:lstStyle/>
          <a:p>
            <a:pPr indent="0" marL="0">
              <a:buNone/>
            </a:pPr>
            <a:r>
              <a:rPr lang="en-US" sz="1200" b="1" spc="120" kern="0" dirty="0">
                <a:solidFill>
                  <a:srgbClr val="3F5BD9"/>
                </a:solidFill>
                <a:latin typeface="Calibri" pitchFamily="34" charset="0"/>
                <a:ea typeface="Calibri" pitchFamily="34" charset="-122"/>
                <a:cs typeface="Calibri" pitchFamily="34" charset="-120"/>
              </a:rPr>
              <a:t>WHAT A FULL APOLOGY CONTAINS</a:t>
            </a:r>
            <a:endParaRPr lang="en-US" sz="1200" dirty="0"/>
          </a:p>
        </p:txBody>
      </p:sp>
      <p:sp>
        <p:nvSpPr>
          <p:cNvPr id="13" name="Text 9"/>
          <p:cNvSpPr txBox="1"/>
          <p:nvPr/>
        </p:nvSpPr>
        <p:spPr>
          <a:xfrm>
            <a:off x="822960" y="2487168"/>
            <a:ext cx="5760720" cy="3218688"/>
          </a:xfrm>
          <a:prstGeom prst="rect">
            <a:avLst/>
          </a:prstGeom>
          <a:noFill/>
          <a:ln/>
        </p:spPr>
        <p:txBody>
          <a:bodyPr wrap="square" lIns="0" tIns="0" rIns="0" bIns="0" rtlCol="0" anchor="ctr"/>
          <a:lstStyle/>
          <a:p>
            <a:pPr indent="0" marL="0">
              <a:lnSpc>
                <a:spcPct val="138000"/>
              </a:lnSpc>
              <a:buNone/>
            </a:pPr>
            <a:r>
              <a:rPr lang="en-US" sz="1350" dirty="0">
                <a:solidFill>
                  <a:srgbClr val="12211B"/>
                </a:solidFill>
                <a:latin typeface="Calibri" pitchFamily="34" charset="0"/>
                <a:ea typeface="Calibri" pitchFamily="34" charset="-122"/>
                <a:cs typeface="Calibri" pitchFamily="34" charset="-120"/>
              </a:rPr>
              <a:t>1.  WHAT YOU DID</a:t>
            </a:r>
            <a:endParaRPr lang="en-US" sz="1350" dirty="0"/>
          </a:p>
          <a:p>
            <a:pPr indent="0" marL="0">
              <a:lnSpc>
                <a:spcPct val="138000"/>
              </a:lnSpc>
              <a:buNone/>
            </a:pPr>
            <a:r>
              <a:rPr lang="en-US" sz="1350" dirty="0">
                <a:solidFill>
                  <a:srgbClr val="12211B"/>
                </a:solidFill>
                <a:latin typeface="Calibri" pitchFamily="34" charset="0"/>
                <a:ea typeface="Calibri" pitchFamily="34" charset="-122"/>
                <a:cs typeface="Calibri" pitchFamily="34" charset="-120"/>
              </a:rPr>
              <a:t>     “I sent the wrong version.”</a:t>
            </a:r>
            <a:endParaRPr lang="en-US" sz="1350" dirty="0"/>
          </a:p>
          <a:p>
            <a:pPr indent="0" marL="0">
              <a:lnSpc>
                <a:spcPct val="138000"/>
              </a:lnSpc>
              <a:buNone/>
            </a:pPr>
            <a:endParaRPr lang="en-US" sz="1350" dirty="0"/>
          </a:p>
          <a:p>
            <a:pPr indent="0" marL="0">
              <a:lnSpc>
                <a:spcPct val="138000"/>
              </a:lnSpc>
              <a:buNone/>
            </a:pPr>
            <a:r>
              <a:rPr lang="en-US" sz="1350" dirty="0">
                <a:solidFill>
                  <a:srgbClr val="12211B"/>
                </a:solidFill>
                <a:latin typeface="Calibri" pitchFamily="34" charset="0"/>
                <a:ea typeface="Calibri" pitchFamily="34" charset="-122"/>
                <a:cs typeface="Calibri" pitchFamily="34" charset="-120"/>
              </a:rPr>
              <a:t>2.  ITS EFFECT ON THEM</a:t>
            </a:r>
            <a:endParaRPr lang="en-US" sz="1350" dirty="0"/>
          </a:p>
          <a:p>
            <a:pPr indent="0" marL="0">
              <a:lnSpc>
                <a:spcPct val="138000"/>
              </a:lnSpc>
              <a:buNone/>
            </a:pPr>
            <a:r>
              <a:rPr lang="en-US" sz="1350" dirty="0">
                <a:solidFill>
                  <a:srgbClr val="12211B"/>
                </a:solidFill>
                <a:latin typeface="Calibri" pitchFamily="34" charset="0"/>
                <a:ea typeface="Calibri" pitchFamily="34" charset="-122"/>
                <a:cs typeface="Calibri" pitchFamily="34" charset="-120"/>
              </a:rPr>
              <a:t>     “It cost you most of a day.”</a:t>
            </a:r>
            <a:endParaRPr lang="en-US" sz="1350" dirty="0"/>
          </a:p>
          <a:p>
            <a:pPr indent="0" marL="0">
              <a:lnSpc>
                <a:spcPct val="138000"/>
              </a:lnSpc>
              <a:buNone/>
            </a:pPr>
            <a:endParaRPr lang="en-US" sz="1350" dirty="0"/>
          </a:p>
          <a:p>
            <a:pPr indent="0" marL="0">
              <a:lnSpc>
                <a:spcPct val="138000"/>
              </a:lnSpc>
              <a:buNone/>
            </a:pPr>
            <a:r>
              <a:rPr lang="en-US" sz="1350" dirty="0">
                <a:solidFill>
                  <a:srgbClr val="12211B"/>
                </a:solidFill>
                <a:latin typeface="Calibri" pitchFamily="34" charset="0"/>
                <a:ea typeface="Calibri" pitchFamily="34" charset="-122"/>
                <a:cs typeface="Calibri" pitchFamily="34" charset="-120"/>
              </a:rPr>
              <a:t>3.  WHAT YOU'LL DO DIFFERENTLY</a:t>
            </a:r>
            <a:endParaRPr lang="en-US" sz="1350" dirty="0"/>
          </a:p>
          <a:p>
            <a:pPr indent="0" marL="0">
              <a:lnSpc>
                <a:spcPct val="138000"/>
              </a:lnSpc>
              <a:buNone/>
            </a:pPr>
            <a:r>
              <a:rPr lang="en-US" sz="1350" dirty="0">
                <a:solidFill>
                  <a:srgbClr val="12211B"/>
                </a:solidFill>
                <a:latin typeface="Calibri" pitchFamily="34" charset="0"/>
                <a:ea typeface="Calibri" pitchFamily="34" charset="-122"/>
                <a:cs typeface="Calibri" pitchFamily="34" charset="-120"/>
              </a:rPr>
              <a:t>     “I'll check the file name before</a:t>
            </a:r>
            <a:endParaRPr lang="en-US" sz="1350" dirty="0"/>
          </a:p>
          <a:p>
            <a:pPr indent="0" marL="0">
              <a:lnSpc>
                <a:spcPct val="138000"/>
              </a:lnSpc>
              <a:buNone/>
            </a:pPr>
            <a:r>
              <a:rPr lang="en-US" sz="1350" dirty="0">
                <a:solidFill>
                  <a:srgbClr val="12211B"/>
                </a:solidFill>
                <a:latin typeface="Calibri" pitchFamily="34" charset="0"/>
                <a:ea typeface="Calibri" pitchFamily="34" charset="-122"/>
                <a:cs typeface="Calibri" pitchFamily="34" charset="-120"/>
              </a:rPr>
              <a:t>      I send anything now.”</a:t>
            </a:r>
            <a:endParaRPr lang="en-US" sz="1350" dirty="0"/>
          </a:p>
          <a:p>
            <a:pPr indent="0" marL="0">
              <a:lnSpc>
                <a:spcPct val="138000"/>
              </a:lnSpc>
              <a:buNone/>
            </a:pPr>
            <a:endParaRPr lang="en-US" sz="1350" dirty="0"/>
          </a:p>
          <a:p>
            <a:pPr indent="0" marL="0">
              <a:lnSpc>
                <a:spcPct val="138000"/>
              </a:lnSpc>
              <a:buNone/>
            </a:pPr>
            <a:r>
              <a:rPr lang="en-US" sz="1350" dirty="0">
                <a:solidFill>
                  <a:srgbClr val="12211B"/>
                </a:solidFill>
                <a:latin typeface="Calibri" pitchFamily="34" charset="0"/>
                <a:ea typeface="Calibri" pitchFamily="34" charset="-122"/>
                <a:cs typeface="Calibri" pitchFamily="34" charset="-120"/>
              </a:rPr>
              <a:t>No “but”. Anywhere.</a:t>
            </a:r>
            <a:endParaRPr lang="en-US" sz="1350" dirty="0"/>
          </a:p>
        </p:txBody>
      </p:sp>
      <p:sp>
        <p:nvSpPr>
          <p:cNvPr id="14" name="Shape 10"/>
          <p:cNvSpPr/>
          <p:nvPr/>
        </p:nvSpPr>
        <p:spPr>
          <a:xfrm>
            <a:off x="7132320" y="1883664"/>
            <a:ext cx="451073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370064" y="2103120"/>
            <a:ext cx="4035247" cy="274320"/>
          </a:xfrm>
          <a:prstGeom prst="rect">
            <a:avLst/>
          </a:prstGeom>
          <a:noFill/>
          <a:ln/>
        </p:spPr>
        <p:txBody>
          <a:bodyPr wrap="square" lIns="0" tIns="0" rIns="0" bIns="0" rtlCol="0" anchor="ctr"/>
          <a:lstStyle/>
          <a:p>
            <a:pPr indent="0" marL="0">
              <a:buNone/>
            </a:pPr>
            <a:r>
              <a:rPr lang="en-US" sz="1200" b="1" spc="120" kern="0" dirty="0">
                <a:solidFill>
                  <a:srgbClr val="3F5BD9"/>
                </a:solidFill>
                <a:latin typeface="Calibri" pitchFamily="34" charset="0"/>
                <a:ea typeface="Calibri" pitchFamily="34" charset="-122"/>
                <a:cs typeface="Calibri" pitchFamily="34" charset="-120"/>
              </a:rPr>
              <a:t>THE TESTS</a:t>
            </a:r>
            <a:endParaRPr lang="en-US" sz="1200" dirty="0"/>
          </a:p>
        </p:txBody>
      </p:sp>
      <p:sp>
        <p:nvSpPr>
          <p:cNvPr id="16" name="Text 12"/>
          <p:cNvSpPr/>
          <p:nvPr/>
        </p:nvSpPr>
        <p:spPr>
          <a:xfrm>
            <a:off x="7406640" y="2505456"/>
            <a:ext cx="39620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Does it name what YOU did, not what happened?</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Does it name the effect on THEM, not on the project?</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Is there a “but” in it? Then it is not an apology.</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“I'm sorry you feel that way” apologises for their reaction, not your act.</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967228"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47345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DIFFICULT LANGUAGE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Put it all together — five habits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last five habits of the course.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20</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3F5BD9"/>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Have it early, while it is still small</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An avoided conversation grows. Two minutes now beats an hour later.</a:t>
            </a:r>
            <a:endParaRPr lang="en-US" sz="163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3F5BD9"/>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Give warning before you give the content</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One sentence. It changes how everything after it lands.</a:t>
            </a:r>
            <a:endParaRPr lang="en-US" sz="163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3F5BD9"/>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Behaviour and effect — never character</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Could a camera have seen it? Then it is usable.</a:t>
            </a:r>
            <a:endParaRPr lang="en-US" sz="163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3F5BD9"/>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Two seconds of silence before you respond to criticism</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The single most valuable pause in this course.</a:t>
            </a:r>
            <a:endParaRPr lang="en-US" sz="163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3F5BD9"/>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Apologise fully, or not at all — and stop the reflex sorry</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Three parts, no “but”. And not for existing.</a:t>
            </a:r>
            <a:endParaRPr lang="en-US" sz="163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1 — bad news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steps. Do not bury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21</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Where does the fact go?</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Second — straight after a one-sentence warning.</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Explaining the background first is cruel. The listener cannot process any of it until they know the news.</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230" i="1" dirty="0">
                <a:solidFill>
                  <a:srgbClr val="6B7C71"/>
                </a:solidFill>
                <a:latin typeface="Calibri" pitchFamily="34" charset="0"/>
                <a:ea typeface="Calibri" pitchFamily="34" charset="-122"/>
                <a:cs typeface="Calibri" pitchFamily="34" charset="-120"/>
              </a:rPr>
              <a:t>Why give a warning at all?</a:t>
            </a:r>
            <a:endParaRPr lang="en-US" sz="1230" dirty="0"/>
          </a:p>
          <a:p>
            <a:pPr indent="0" marL="0">
              <a:lnSpc>
                <a:spcPct val="102000"/>
              </a:lnSpc>
              <a:spcBef>
                <a:spcPts val="189"/>
              </a:spcBef>
              <a:buNone/>
            </a:pPr>
            <a:r>
              <a:rPr lang="en-US" sz="1800" b="1" dirty="0">
                <a:solidFill>
                  <a:srgbClr val="12211B"/>
                </a:solidFill>
                <a:latin typeface="Calibri" pitchFamily="34" charset="0"/>
                <a:ea typeface="Calibri" pitchFamily="34" charset="-122"/>
                <a:cs typeface="Calibri" pitchFamily="34" charset="-120"/>
              </a:rPr>
              <a:t>Two seconds lets them prepare, and it changes how they hear the fact.</a:t>
            </a:r>
            <a:endParaRPr lang="en-US" sz="1230" dirty="0"/>
          </a:p>
          <a:p>
            <a:pPr indent="0" marL="0">
              <a:lnSpc>
                <a:spcPct val="102000"/>
              </a:lnSpc>
              <a:spcBef>
                <a:spcPts val="284"/>
              </a:spcBef>
              <a:buNone/>
            </a:pPr>
            <a:r>
              <a:rPr lang="en-US" sz="1420" dirty="0">
                <a:solidFill>
                  <a:srgbClr val="0A4634"/>
                </a:solidFill>
                <a:latin typeface="Calibri" pitchFamily="34" charset="0"/>
                <a:ea typeface="Calibri" pitchFamily="34" charset="-122"/>
                <a:cs typeface="Calibri" pitchFamily="34" charset="-120"/>
              </a:rPr>
              <a:t>WHY: “I'm afraid I've got some bad news” costs nothing and makes the rest land better.</a:t>
            </a:r>
            <a:endParaRPr lang="en-US" sz="123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What is the fourth step, and why does it matter?</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The next step. It turns a disaster into a problem.</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Arriving with even a partial plan changes the whole conversation.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2 — giving criticism</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Could a camera have seen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22</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“You're careless.” Does that pass the camera test?</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No. A camera cannot record carelessness.</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It describes a person, not an event, so there is nothing specific to change.</a:t>
            </a:r>
            <a:endParaRPr lang="en-US" sz="13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Rewrite it so it passes.</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“The last two reports had the wrong figures.”</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Checkable, specific, and about an event rather than a character.</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30" i="1" dirty="0">
                <a:solidFill>
                  <a:srgbClr val="6B7C71"/>
                </a:solidFill>
                <a:latin typeface="Calibri" pitchFamily="34" charset="0"/>
                <a:ea typeface="Calibri" pitchFamily="34" charset="-122"/>
                <a:cs typeface="Calibri" pitchFamily="34" charset="-120"/>
              </a:rPr>
              <a:t>What must come after behaviour and effect?</a:t>
            </a:r>
            <a:endParaRPr lang="en-US" sz="1130" dirty="0"/>
          </a:p>
          <a:p>
            <a:pPr indent="0" marL="0">
              <a:lnSpc>
                <a:spcPct val="102000"/>
              </a:lnSpc>
              <a:spcBef>
                <a:spcPts val="174"/>
              </a:spcBef>
              <a:buNone/>
            </a:pPr>
            <a:r>
              <a:rPr lang="en-US" sz="1650" b="1" dirty="0">
                <a:solidFill>
                  <a:srgbClr val="12211B"/>
                </a:solidFill>
                <a:latin typeface="Calibri" pitchFamily="34" charset="0"/>
                <a:ea typeface="Calibri" pitchFamily="34" charset="-122"/>
                <a:cs typeface="Calibri" pitchFamily="34" charset="-120"/>
              </a:rPr>
              <a:t>A request — what to do instead.</a:t>
            </a:r>
            <a:endParaRPr lang="en-US" sz="1130" dirty="0"/>
          </a:p>
          <a:p>
            <a:pPr indent="0" marL="0">
              <a:lnSpc>
                <a:spcPct val="102000"/>
              </a:lnSpc>
              <a:spcBef>
                <a:spcPts val="261"/>
              </a:spcBef>
              <a:buNone/>
            </a:pPr>
            <a:r>
              <a:rPr lang="en-US" sz="1300" dirty="0">
                <a:solidFill>
                  <a:srgbClr val="0A4634"/>
                </a:solidFill>
                <a:latin typeface="Calibri" pitchFamily="34" charset="0"/>
                <a:ea typeface="Calibri" pitchFamily="34" charset="-122"/>
                <a:cs typeface="Calibri" pitchFamily="34" charset="-120"/>
              </a:rPr>
              <a:t>WHY: Without it, the person knows they failed and does not know what would count as succeeding.</a:t>
            </a:r>
            <a:endParaRPr lang="en-US" sz="113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3 — receiving criticism</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Two seconds first.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23</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60" i="1" dirty="0">
                <a:solidFill>
                  <a:srgbClr val="6B7C71"/>
                </a:solidFill>
                <a:latin typeface="Calibri" pitchFamily="34" charset="0"/>
                <a:ea typeface="Calibri" pitchFamily="34" charset="-122"/>
                <a:cs typeface="Calibri" pitchFamily="34" charset="-120"/>
              </a:rPr>
              <a:t>Somebody criticises you. What do you do first?</a:t>
            </a:r>
            <a:endParaRPr lang="en-US" sz="1160" dirty="0"/>
          </a:p>
          <a:p>
            <a:pPr indent="0" marL="0">
              <a:lnSpc>
                <a:spcPct val="102000"/>
              </a:lnSpc>
              <a:spcBef>
                <a:spcPts val="179"/>
              </a:spcBef>
              <a:buNone/>
            </a:pPr>
            <a:r>
              <a:rPr lang="en-US" sz="1700" b="1" dirty="0">
                <a:solidFill>
                  <a:srgbClr val="12211B"/>
                </a:solidFill>
                <a:latin typeface="Calibri" pitchFamily="34" charset="0"/>
                <a:ea typeface="Calibri" pitchFamily="34" charset="-122"/>
                <a:cs typeface="Calibri" pitchFamily="34" charset="-120"/>
              </a:rPr>
              <a:t>Nothing, for two seconds.</a:t>
            </a:r>
            <a:endParaRPr lang="en-US" sz="1160" dirty="0"/>
          </a:p>
          <a:p>
            <a:pPr indent="0" marL="0">
              <a:lnSpc>
                <a:spcPct val="102000"/>
              </a:lnSpc>
              <a:spcBef>
                <a:spcPts val="268"/>
              </a:spcBef>
              <a:buNone/>
            </a:pPr>
            <a:r>
              <a:rPr lang="en-US" sz="1340" dirty="0">
                <a:solidFill>
                  <a:srgbClr val="0A4634"/>
                </a:solidFill>
                <a:latin typeface="Calibri" pitchFamily="34" charset="0"/>
                <a:ea typeface="Calibri" pitchFamily="34" charset="-122"/>
                <a:cs typeface="Calibri" pitchFamily="34" charset="-120"/>
              </a:rPr>
              <a:t>WHY: The instinct is to defend. The pause prevents the sentence that makes everything worse.</a:t>
            </a:r>
            <a:endParaRPr lang="en-US" sz="116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60" i="1" dirty="0">
                <a:solidFill>
                  <a:srgbClr val="6B7C71"/>
                </a:solidFill>
                <a:latin typeface="Calibri" pitchFamily="34" charset="0"/>
                <a:ea typeface="Calibri" pitchFamily="34" charset="-122"/>
                <a:cs typeface="Calibri" pitchFamily="34" charset="-120"/>
              </a:rPr>
              <a:t>The criticism is vague. What do you ask?</a:t>
            </a:r>
            <a:endParaRPr lang="en-US" sz="1160" dirty="0"/>
          </a:p>
          <a:p>
            <a:pPr indent="0" marL="0">
              <a:lnSpc>
                <a:spcPct val="102000"/>
              </a:lnSpc>
              <a:spcBef>
                <a:spcPts val="179"/>
              </a:spcBef>
              <a:buNone/>
            </a:pPr>
            <a:r>
              <a:rPr lang="en-US" sz="1700" b="1" dirty="0">
                <a:solidFill>
                  <a:srgbClr val="12211B"/>
                </a:solidFill>
                <a:latin typeface="Calibri" pitchFamily="34" charset="0"/>
                <a:ea typeface="Calibri" pitchFamily="34" charset="-122"/>
                <a:cs typeface="Calibri" pitchFamily="34" charset="-120"/>
              </a:rPr>
              <a:t>“Can you give me an example?”</a:t>
            </a:r>
            <a:endParaRPr lang="en-US" sz="1160" dirty="0"/>
          </a:p>
          <a:p>
            <a:pPr indent="0" marL="0">
              <a:lnSpc>
                <a:spcPct val="102000"/>
              </a:lnSpc>
              <a:spcBef>
                <a:spcPts val="268"/>
              </a:spcBef>
              <a:buNone/>
            </a:pPr>
            <a:r>
              <a:rPr lang="en-US" sz="1340" dirty="0">
                <a:solidFill>
                  <a:srgbClr val="0A4634"/>
                </a:solidFill>
                <a:latin typeface="Calibri" pitchFamily="34" charset="0"/>
                <a:ea typeface="Calibri" pitchFamily="34" charset="-122"/>
                <a:cs typeface="Calibri" pitchFamily="34" charset="-120"/>
              </a:rPr>
              <a:t>WHY: Vague criticism cannot be acted on, and asking for the specific is entirely reasonable.</a:t>
            </a:r>
            <a:endParaRPr lang="en-US" sz="116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Half of it is unfair. What do you do?</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Acknowledge the true half. “You're right about the figures.”</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Partial acknowledgement is legitimate. It concedes what is true without accepting what is not.</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4 — apology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Three parts, no “but”.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24</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“I'm sorry, but I was very busy.” Is that an apology?</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No. The “but” withdraws it.</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An apology with a justification attached is an explanation, and the listener hears the second half.</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“I'm sorry you feel that way.” Is that an apology?</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No. It apologises for their reaction.</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It accepts nothing about what you did, and most people hear that clearly.</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What are the three parts?</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What you did · its effect on them · what you'll do differently.</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Three sentences. Part three is what makes it credible rather than performed.</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5 — heat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Lower it without conceding.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25</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230" i="1" dirty="0">
                <a:solidFill>
                  <a:srgbClr val="6B7C71"/>
                </a:solidFill>
                <a:latin typeface="Calibri" pitchFamily="34" charset="0"/>
                <a:ea typeface="Calibri" pitchFamily="34" charset="-122"/>
                <a:cs typeface="Calibri" pitchFamily="34" charset="-120"/>
              </a:rPr>
              <a:t>They are getting loud. What do you do?</a:t>
            </a:r>
            <a:endParaRPr lang="en-US" sz="1230" dirty="0"/>
          </a:p>
          <a:p>
            <a:pPr indent="0" marL="0">
              <a:lnSpc>
                <a:spcPct val="102000"/>
              </a:lnSpc>
              <a:spcBef>
                <a:spcPts val="189"/>
              </a:spcBef>
              <a:buNone/>
            </a:pPr>
            <a:r>
              <a:rPr lang="en-US" sz="1800" b="1" dirty="0">
                <a:solidFill>
                  <a:srgbClr val="12211B"/>
                </a:solidFill>
                <a:latin typeface="Calibri" pitchFamily="34" charset="0"/>
                <a:ea typeface="Calibri" pitchFamily="34" charset="-122"/>
                <a:cs typeface="Calibri" pitchFamily="34" charset="-120"/>
              </a:rPr>
              <a:t>Speak more slowly and more quietly.</a:t>
            </a:r>
            <a:endParaRPr lang="en-US" sz="1230" dirty="0"/>
          </a:p>
          <a:p>
            <a:pPr indent="0" marL="0">
              <a:lnSpc>
                <a:spcPct val="102000"/>
              </a:lnSpc>
              <a:spcBef>
                <a:spcPts val="284"/>
              </a:spcBef>
              <a:buNone/>
            </a:pPr>
            <a:r>
              <a:rPr lang="en-US" sz="1420" dirty="0">
                <a:solidFill>
                  <a:srgbClr val="0A4634"/>
                </a:solidFill>
                <a:latin typeface="Calibri" pitchFamily="34" charset="0"/>
                <a:ea typeface="Calibri" pitchFamily="34" charset="-122"/>
                <a:cs typeface="Calibri" pitchFamily="34" charset="-120"/>
              </a:rPr>
              <a:t>WHY: It pulls their volume down within about thirty seconds, and it concedes nothing.</a:t>
            </a:r>
            <a:endParaRPr lang="en-US" sz="123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Should you say “calm down”?</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Never. It has never worked.</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It is heard as a judgement about their behaviour and it reliably escalates.</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What can you say instead?</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“I can see this matters to you.”</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Same function — acknowledging the heat — and it insults nobody.</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Giving bad news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steps, four sentences. Ninety seconds.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26</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BETHLEHEM</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Tolosa — I'm afraid I've got some bad news.</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TOLOSA</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Go on.</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BETHLEHEM</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We haven't got the funding for the March course.</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TOLOSA</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Right. That's a problem.</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BETHLEHEM</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1250" b="1" dirty="0">
                <a:solidFill>
                  <a:srgbClr val="12211B"/>
                </a:solidFill>
                <a:latin typeface="Calibri" pitchFamily="34" charset="0"/>
                <a:ea typeface="Calibri" pitchFamily="34" charset="-122"/>
                <a:cs typeface="Calibri" pitchFamily="34" charset="-120"/>
              </a:rPr>
              <a:t>It means March can't run as planned. But I've found two options, and I'd like to go through them with you now.</a:t>
            </a:r>
            <a:endParaRPr lang="en-US" sz="125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TOLOSA</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All right. Let's look at them.</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Warning · fact in one sentence · consequence · next step. She never explains the background, and he never has to ask.</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Receiving criticism well</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Yonas is criticised, partly unfairly. Watch the first two seconds.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27</a:t>
            </a:r>
            <a:endParaRPr lang="en-US" sz="1100" dirty="0"/>
          </a:p>
        </p:txBody>
      </p:sp>
      <p:sp>
        <p:nvSpPr>
          <p:cNvPr id="11" name="Shape 7"/>
          <p:cNvSpPr/>
          <p:nvPr/>
        </p:nvSpPr>
        <p:spPr>
          <a:xfrm>
            <a:off x="548640" y="1883664"/>
            <a:ext cx="11094415" cy="455676"/>
          </a:xfrm>
          <a:prstGeom prst="roundRect">
            <a:avLst>
              <a:gd name="adj" fmla="val 28094"/>
            </a:avLst>
          </a:prstGeom>
          <a:solidFill>
            <a:srgbClr val="E7F3EF"/>
          </a:solidFill>
          <a:ln w="12700">
            <a:solidFill>
              <a:srgbClr val="C4E0D5"/>
            </a:solidFill>
            <a:prstDash val="solid"/>
          </a:ln>
        </p:spPr>
      </p:sp>
      <p:sp>
        <p:nvSpPr>
          <p:cNvPr id="12" name="Shape 8"/>
          <p:cNvSpPr/>
          <p:nvPr/>
        </p:nvSpPr>
        <p:spPr>
          <a:xfrm>
            <a:off x="694944" y="1975104"/>
            <a:ext cx="1417320" cy="272796"/>
          </a:xfrm>
          <a:prstGeom prst="roundRect">
            <a:avLst>
              <a:gd name="adj" fmla="val 33520"/>
            </a:avLst>
          </a:prstGeom>
          <a:solidFill>
            <a:srgbClr val="0E7C5A"/>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MANAGER</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Yonas, the reports have been sloppy lately.</a:t>
            </a:r>
            <a:endParaRPr lang="en-US" sz="2000" dirty="0"/>
          </a:p>
        </p:txBody>
      </p:sp>
      <p:sp>
        <p:nvSpPr>
          <p:cNvPr id="15" name="Shape 11"/>
          <p:cNvSpPr/>
          <p:nvPr/>
        </p:nvSpPr>
        <p:spPr>
          <a:xfrm>
            <a:off x="548640" y="2439924"/>
            <a:ext cx="11094415" cy="455676"/>
          </a:xfrm>
          <a:prstGeom prst="roundRect">
            <a:avLst>
              <a:gd name="adj" fmla="val 28094"/>
            </a:avLst>
          </a:prstGeom>
          <a:solidFill>
            <a:srgbClr val="EDF3EF"/>
          </a:solidFill>
          <a:ln w="12700">
            <a:solidFill>
              <a:srgbClr val="E3E9E5"/>
            </a:solidFill>
            <a:prstDash val="solid"/>
          </a:ln>
        </p:spPr>
      </p:sp>
      <p:sp>
        <p:nvSpPr>
          <p:cNvPr id="16" name="Shape 12"/>
          <p:cNvSpPr/>
          <p:nvPr/>
        </p:nvSpPr>
        <p:spPr>
          <a:xfrm>
            <a:off x="694944" y="2531364"/>
            <a:ext cx="1417320" cy="272796"/>
          </a:xfrm>
          <a:prstGeom prst="roundRect">
            <a:avLst>
              <a:gd name="adj" fmla="val 33520"/>
            </a:avLst>
          </a:prstGeom>
          <a:solidFill>
            <a:srgbClr val="6B7C71"/>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YONAS</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…Can you give me an example?</a:t>
            </a:r>
            <a:endParaRPr lang="en-US" sz="2000" dirty="0"/>
          </a:p>
        </p:txBody>
      </p:sp>
      <p:sp>
        <p:nvSpPr>
          <p:cNvPr id="19" name="Shape 15"/>
          <p:cNvSpPr/>
          <p:nvPr/>
        </p:nvSpPr>
        <p:spPr>
          <a:xfrm>
            <a:off x="548640" y="2996184"/>
            <a:ext cx="11094415" cy="455676"/>
          </a:xfrm>
          <a:prstGeom prst="roundRect">
            <a:avLst>
              <a:gd name="adj" fmla="val 28094"/>
            </a:avLst>
          </a:prstGeom>
          <a:solidFill>
            <a:srgbClr val="E7F3EF"/>
          </a:solidFill>
          <a:ln w="12700">
            <a:solidFill>
              <a:srgbClr val="C4E0D5"/>
            </a:solidFill>
            <a:prstDash val="solid"/>
          </a:ln>
        </p:spPr>
      </p:sp>
      <p:sp>
        <p:nvSpPr>
          <p:cNvPr id="20" name="Shape 16"/>
          <p:cNvSpPr/>
          <p:nvPr/>
        </p:nvSpPr>
        <p:spPr>
          <a:xfrm>
            <a:off x="694944" y="3087624"/>
            <a:ext cx="1417320" cy="272796"/>
          </a:xfrm>
          <a:prstGeom prst="roundRect">
            <a:avLst>
              <a:gd name="adj" fmla="val 33520"/>
            </a:avLst>
          </a:prstGeom>
          <a:solidFill>
            <a:srgbClr val="0E7C5A"/>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MANAGER</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The March figures were wrong, and the April one came in two days late.</a:t>
            </a:r>
            <a:endParaRPr lang="en-US" sz="2000" dirty="0"/>
          </a:p>
        </p:txBody>
      </p:sp>
      <p:sp>
        <p:nvSpPr>
          <p:cNvPr id="23" name="Shape 19"/>
          <p:cNvSpPr/>
          <p:nvPr/>
        </p:nvSpPr>
        <p:spPr>
          <a:xfrm>
            <a:off x="548640" y="3552444"/>
            <a:ext cx="11094415" cy="455676"/>
          </a:xfrm>
          <a:prstGeom prst="roundRect">
            <a:avLst>
              <a:gd name="adj" fmla="val 28094"/>
            </a:avLst>
          </a:prstGeom>
          <a:solidFill>
            <a:srgbClr val="EDF3EF"/>
          </a:solidFill>
          <a:ln w="12700">
            <a:solidFill>
              <a:srgbClr val="E3E9E5"/>
            </a:solidFill>
            <a:prstDash val="solid"/>
          </a:ln>
        </p:spPr>
      </p:sp>
      <p:sp>
        <p:nvSpPr>
          <p:cNvPr id="24" name="Shape 20"/>
          <p:cNvSpPr/>
          <p:nvPr/>
        </p:nvSpPr>
        <p:spPr>
          <a:xfrm>
            <a:off x="694944" y="3643884"/>
            <a:ext cx="1417320" cy="272796"/>
          </a:xfrm>
          <a:prstGeom prst="roundRect">
            <a:avLst>
              <a:gd name="adj" fmla="val 33520"/>
            </a:avLst>
          </a:prstGeom>
          <a:solidFill>
            <a:srgbClr val="6B7C71"/>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YONAS</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1800" b="1" dirty="0">
                <a:solidFill>
                  <a:srgbClr val="12211B"/>
                </a:solidFill>
                <a:latin typeface="Calibri" pitchFamily="34" charset="0"/>
                <a:ea typeface="Calibri" pitchFamily="34" charset="-122"/>
                <a:cs typeface="Calibri" pitchFamily="34" charset="-120"/>
              </a:rPr>
              <a:t>You're right about the March figures — I didn't check them against the source.</a:t>
            </a:r>
            <a:endParaRPr lang="en-US" sz="18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YONAS</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1400" b="1" dirty="0">
                <a:solidFill>
                  <a:srgbClr val="12211B"/>
                </a:solidFill>
                <a:latin typeface="Calibri" pitchFamily="34" charset="0"/>
                <a:ea typeface="Calibri" pitchFamily="34" charset="-122"/>
                <a:cs typeface="Calibri" pitchFamily="34" charset="-120"/>
              </a:rPr>
              <a:t>The April one was late because I was waiting on Adama, but I should have told you that at the time.</a:t>
            </a:r>
            <a:endParaRPr lang="en-US" sz="1400" dirty="0"/>
          </a:p>
        </p:txBody>
      </p:sp>
      <p:sp>
        <p:nvSpPr>
          <p:cNvPr id="31" name="Shape 27"/>
          <p:cNvSpPr/>
          <p:nvPr/>
        </p:nvSpPr>
        <p:spPr>
          <a:xfrm>
            <a:off x="548640" y="4664964"/>
            <a:ext cx="11094415" cy="455676"/>
          </a:xfrm>
          <a:prstGeom prst="roundRect">
            <a:avLst>
              <a:gd name="adj" fmla="val 28094"/>
            </a:avLst>
          </a:prstGeom>
          <a:solidFill>
            <a:srgbClr val="EDF3EF"/>
          </a:solidFill>
          <a:ln w="12700">
            <a:solidFill>
              <a:srgbClr val="E3E9E5"/>
            </a:solidFill>
            <a:prstDash val="solid"/>
          </a:ln>
        </p:spPr>
      </p:sp>
      <p:sp>
        <p:nvSpPr>
          <p:cNvPr id="32" name="Shape 28"/>
          <p:cNvSpPr/>
          <p:nvPr/>
        </p:nvSpPr>
        <p:spPr>
          <a:xfrm>
            <a:off x="694944" y="4756404"/>
            <a:ext cx="1417320" cy="272796"/>
          </a:xfrm>
          <a:prstGeom prst="roundRect">
            <a:avLst>
              <a:gd name="adj" fmla="val 33520"/>
            </a:avLst>
          </a:prstGeom>
          <a:solidFill>
            <a:srgbClr val="6B7C71"/>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YONAS</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What would you like me to do differently?</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Pause · ask for the specific · acknowledge what is true · explain without excusing · ask what would be better.</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The phrases that make a hard conversation possible</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chunks. Learn them before you need them.</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28</a:t>
            </a:r>
            <a:endParaRPr lang="en-US" sz="1100" dirty="0"/>
          </a:p>
        </p:txBody>
      </p:sp>
      <p:sp>
        <p:nvSpPr>
          <p:cNvPr id="11" name="Shape 7"/>
          <p:cNvSpPr/>
          <p:nvPr/>
        </p:nvSpPr>
        <p:spPr>
          <a:xfrm>
            <a:off x="548640" y="1883664"/>
            <a:ext cx="3564026" cy="1929384"/>
          </a:xfrm>
          <a:prstGeom prst="roundRect">
            <a:avLst>
              <a:gd name="adj" fmla="val 6635"/>
            </a:avLst>
          </a:prstGeom>
          <a:solidFill>
            <a:srgbClr val="FDEDE8"/>
          </a:solidFill>
          <a:ln w="12700">
            <a:solidFill>
              <a:srgbClr val="F3C9BB"/>
            </a:solidFill>
            <a:prstDash val="solid"/>
          </a:ln>
        </p:spPr>
      </p:sp>
      <p:sp>
        <p:nvSpPr>
          <p:cNvPr id="12" name="Shape 8"/>
          <p:cNvSpPr/>
          <p:nvPr/>
        </p:nvSpPr>
        <p:spPr>
          <a:xfrm>
            <a:off x="768096" y="2103120"/>
            <a:ext cx="457200" cy="457200"/>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550" b="1" dirty="0">
                <a:solidFill>
                  <a:srgbClr val="12211B"/>
                </a:solidFill>
                <a:latin typeface="Calibri" pitchFamily="34" charset="0"/>
                <a:ea typeface="Calibri" pitchFamily="34" charset="-122"/>
                <a:cs typeface="Calibri" pitchFamily="34" charset="-120"/>
              </a:rPr>
              <a:t>“Can I raise something with you?”</a:t>
            </a:r>
            <a:endParaRPr lang="en-US" sz="1550" dirty="0"/>
          </a:p>
          <a:p>
            <a:pPr indent="0" marL="0">
              <a:lnSpc>
                <a:spcPct val="102000"/>
              </a:lnSpc>
              <a:spcBef>
                <a:spcPts val="335"/>
              </a:spcBef>
              <a:buNone/>
            </a:pPr>
            <a:r>
              <a:rPr lang="en-US" sz="1260" dirty="0">
                <a:solidFill>
                  <a:srgbClr val="3A473F"/>
                </a:solidFill>
                <a:latin typeface="Calibri" pitchFamily="34" charset="0"/>
                <a:ea typeface="Calibri" pitchFamily="34" charset="-122"/>
                <a:cs typeface="Calibri" pitchFamily="34" charset="-120"/>
              </a:rPr>
              <a:t>The safest opener for anything.</a:t>
            </a:r>
            <a:endParaRPr lang="en-US" sz="1550" dirty="0"/>
          </a:p>
        </p:txBody>
      </p:sp>
      <p:sp>
        <p:nvSpPr>
          <p:cNvPr id="15" name="Shape 10"/>
          <p:cNvSpPr/>
          <p:nvPr/>
        </p:nvSpPr>
        <p:spPr>
          <a:xfrm>
            <a:off x="4313834" y="1883664"/>
            <a:ext cx="3564026" cy="1929384"/>
          </a:xfrm>
          <a:prstGeom prst="roundRect">
            <a:avLst>
              <a:gd name="adj" fmla="val 6635"/>
            </a:avLst>
          </a:prstGeom>
          <a:solidFill>
            <a:srgbClr val="FDEDE8"/>
          </a:solidFill>
          <a:ln w="12700">
            <a:solidFill>
              <a:srgbClr val="F3C9BB"/>
            </a:solidFill>
            <a:prstDash val="solid"/>
          </a:ln>
        </p:spPr>
      </p:sp>
      <p:sp>
        <p:nvSpPr>
          <p:cNvPr id="16" name="Shape 11"/>
          <p:cNvSpPr/>
          <p:nvPr/>
        </p:nvSpPr>
        <p:spPr>
          <a:xfrm>
            <a:off x="4533290" y="2103120"/>
            <a:ext cx="457200" cy="457200"/>
          </a:xfrm>
          <a:prstGeom prst="ellipse">
            <a:avLst/>
          </a:prstGeom>
          <a:solidFill>
            <a:srgbClr val="E4572E"/>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“I'm afraid I've got some bad news.”</a:t>
            </a:r>
            <a:endParaRPr lang="en-US" sz="1750" dirty="0"/>
          </a:p>
          <a:p>
            <a:pPr indent="0" marL="0">
              <a:lnSpc>
                <a:spcPct val="102000"/>
              </a:lnSpc>
              <a:spcBef>
                <a:spcPts val="378"/>
              </a:spcBef>
              <a:buNone/>
            </a:pPr>
            <a:r>
              <a:rPr lang="en-US" sz="1420" dirty="0">
                <a:solidFill>
                  <a:srgbClr val="3A473F"/>
                </a:solidFill>
                <a:latin typeface="Calibri" pitchFamily="34" charset="0"/>
                <a:ea typeface="Calibri" pitchFamily="34" charset="-122"/>
                <a:cs typeface="Calibri" pitchFamily="34" charset="-120"/>
              </a:rPr>
              <a:t>Two seconds of warning.</a:t>
            </a:r>
            <a:endParaRPr lang="en-US" sz="1750" dirty="0"/>
          </a:p>
        </p:txBody>
      </p:sp>
      <p:sp>
        <p:nvSpPr>
          <p:cNvPr id="19" name="Shape 13"/>
          <p:cNvSpPr/>
          <p:nvPr/>
        </p:nvSpPr>
        <p:spPr>
          <a:xfrm>
            <a:off x="8079029" y="1883664"/>
            <a:ext cx="3564026" cy="1929384"/>
          </a:xfrm>
          <a:prstGeom prst="roundRect">
            <a:avLst>
              <a:gd name="adj" fmla="val 6635"/>
            </a:avLst>
          </a:prstGeom>
          <a:solidFill>
            <a:srgbClr val="FDEDE8"/>
          </a:solidFill>
          <a:ln w="12700">
            <a:solidFill>
              <a:srgbClr val="F3C9BB"/>
            </a:solidFill>
            <a:prstDash val="solid"/>
          </a:ln>
        </p:spPr>
      </p:sp>
      <p:sp>
        <p:nvSpPr>
          <p:cNvPr id="20" name="Shape 14"/>
          <p:cNvSpPr/>
          <p:nvPr/>
        </p:nvSpPr>
        <p:spPr>
          <a:xfrm>
            <a:off x="8298485" y="2103120"/>
            <a:ext cx="457200" cy="457200"/>
          </a:xfrm>
          <a:prstGeom prst="ellipse">
            <a:avLst/>
          </a:prstGeom>
          <a:solidFill>
            <a:srgbClr val="E4572E"/>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650" b="1" dirty="0">
                <a:solidFill>
                  <a:srgbClr val="12211B"/>
                </a:solidFill>
                <a:latin typeface="Calibri" pitchFamily="34" charset="0"/>
                <a:ea typeface="Calibri" pitchFamily="34" charset="-122"/>
                <a:cs typeface="Calibri" pitchFamily="34" charset="-120"/>
              </a:rPr>
              <a:t>“Can you give me an example?”</a:t>
            </a:r>
            <a:endParaRPr lang="en-US" sz="1650" dirty="0"/>
          </a:p>
          <a:p>
            <a:pPr indent="0" marL="0">
              <a:lnSpc>
                <a:spcPct val="102000"/>
              </a:lnSpc>
              <a:spcBef>
                <a:spcPts val="357"/>
              </a:spcBef>
              <a:buNone/>
            </a:pPr>
            <a:r>
              <a:rPr lang="en-US" sz="1340" dirty="0">
                <a:solidFill>
                  <a:srgbClr val="3A473F"/>
                </a:solidFill>
                <a:latin typeface="Calibri" pitchFamily="34" charset="0"/>
                <a:ea typeface="Calibri" pitchFamily="34" charset="-122"/>
                <a:cs typeface="Calibri" pitchFamily="34" charset="-120"/>
              </a:rPr>
              <a:t>Turns vague criticism into something usable.</a:t>
            </a:r>
            <a:endParaRPr lang="en-US" sz="1650" dirty="0"/>
          </a:p>
        </p:txBody>
      </p:sp>
      <p:sp>
        <p:nvSpPr>
          <p:cNvPr id="23" name="Shape 16"/>
          <p:cNvSpPr/>
          <p:nvPr/>
        </p:nvSpPr>
        <p:spPr>
          <a:xfrm>
            <a:off x="548640" y="4014216"/>
            <a:ext cx="3564026" cy="1929384"/>
          </a:xfrm>
          <a:prstGeom prst="roundRect">
            <a:avLst>
              <a:gd name="adj" fmla="val 6635"/>
            </a:avLst>
          </a:prstGeom>
          <a:solidFill>
            <a:srgbClr val="FDEDE8"/>
          </a:solidFill>
          <a:ln w="12700">
            <a:solidFill>
              <a:srgbClr val="F3C9BB"/>
            </a:solidFill>
            <a:prstDash val="solid"/>
          </a:ln>
        </p:spPr>
      </p:sp>
      <p:sp>
        <p:nvSpPr>
          <p:cNvPr id="24" name="Shape 17"/>
          <p:cNvSpPr/>
          <p:nvPr/>
        </p:nvSpPr>
        <p:spPr>
          <a:xfrm>
            <a:off x="768096" y="4233672"/>
            <a:ext cx="457200" cy="457200"/>
          </a:xfrm>
          <a:prstGeom prst="ellipse">
            <a:avLst/>
          </a:prstGeom>
          <a:solidFill>
            <a:srgbClr val="E4572E"/>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“You're right about that.”</a:t>
            </a:r>
            <a:endParaRPr lang="en-US" sz="1750" dirty="0"/>
          </a:p>
          <a:p>
            <a:pPr indent="0" marL="0">
              <a:lnSpc>
                <a:spcPct val="102000"/>
              </a:lnSpc>
              <a:spcBef>
                <a:spcPts val="378"/>
              </a:spcBef>
              <a:buNone/>
            </a:pPr>
            <a:r>
              <a:rPr lang="en-US" sz="1420" dirty="0">
                <a:solidFill>
                  <a:srgbClr val="3A473F"/>
                </a:solidFill>
                <a:latin typeface="Calibri" pitchFamily="34" charset="0"/>
                <a:ea typeface="Calibri" pitchFamily="34" charset="-122"/>
                <a:cs typeface="Calibri" pitchFamily="34" charset="-120"/>
              </a:rPr>
              <a:t>Acknowledge the true part. Not all of it.</a:t>
            </a:r>
            <a:endParaRPr lang="en-US" sz="1750" dirty="0"/>
          </a:p>
        </p:txBody>
      </p:sp>
      <p:sp>
        <p:nvSpPr>
          <p:cNvPr id="27" name="Shape 19"/>
          <p:cNvSpPr/>
          <p:nvPr/>
        </p:nvSpPr>
        <p:spPr>
          <a:xfrm>
            <a:off x="4313834" y="4014216"/>
            <a:ext cx="3564026" cy="1929384"/>
          </a:xfrm>
          <a:prstGeom prst="roundRect">
            <a:avLst>
              <a:gd name="adj" fmla="val 6635"/>
            </a:avLst>
          </a:prstGeom>
          <a:solidFill>
            <a:srgbClr val="FDEDE8"/>
          </a:solidFill>
          <a:ln w="12700">
            <a:solidFill>
              <a:srgbClr val="F3C9BB"/>
            </a:solidFill>
            <a:prstDash val="solid"/>
          </a:ln>
        </p:spPr>
      </p:sp>
      <p:sp>
        <p:nvSpPr>
          <p:cNvPr id="28" name="Shape 20"/>
          <p:cNvSpPr/>
          <p:nvPr/>
        </p:nvSpPr>
        <p:spPr>
          <a:xfrm>
            <a:off x="4533290" y="4233672"/>
            <a:ext cx="457200" cy="457200"/>
          </a:xfrm>
          <a:prstGeom prst="ellipse">
            <a:avLst/>
          </a:prstGeom>
          <a:solidFill>
            <a:srgbClr val="E4572E"/>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“I think there's been a misunderstanding.”</a:t>
            </a:r>
            <a:endParaRPr lang="en-US" sz="148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De-escalates without blaming anyone.</a:t>
            </a:r>
            <a:endParaRPr lang="en-US" sz="1480" dirty="0"/>
          </a:p>
        </p:txBody>
      </p:sp>
      <p:sp>
        <p:nvSpPr>
          <p:cNvPr id="31" name="Shape 22"/>
          <p:cNvSpPr/>
          <p:nvPr/>
        </p:nvSpPr>
        <p:spPr>
          <a:xfrm>
            <a:off x="8079029" y="4014216"/>
            <a:ext cx="3564026" cy="1929384"/>
          </a:xfrm>
          <a:prstGeom prst="roundRect">
            <a:avLst>
              <a:gd name="adj" fmla="val 6635"/>
            </a:avLst>
          </a:prstGeom>
          <a:solidFill>
            <a:srgbClr val="FDEDE8"/>
          </a:solidFill>
          <a:ln w="12700">
            <a:solidFill>
              <a:srgbClr val="F3C9BB"/>
            </a:solidFill>
            <a:prstDash val="solid"/>
          </a:ln>
        </p:spPr>
      </p:sp>
      <p:sp>
        <p:nvSpPr>
          <p:cNvPr id="32" name="Shape 23"/>
          <p:cNvSpPr/>
          <p:nvPr/>
        </p:nvSpPr>
        <p:spPr>
          <a:xfrm>
            <a:off x="8298485" y="4233672"/>
            <a:ext cx="457200" cy="457200"/>
          </a:xfrm>
          <a:prstGeom prst="ellipse">
            <a:avLst/>
          </a:prstGeom>
          <a:solidFill>
            <a:srgbClr val="E4572E"/>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“Can we come back to this tomorrow?”</a:t>
            </a:r>
            <a:endParaRPr lang="en-US" sz="148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Legitimate. Heat rarely produces good outcomes.</a:t>
            </a:r>
            <a:endParaRPr lang="en-US" sz="148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Complete the conversation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Fill each gap. Answers are in the Answer Key.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29</a:t>
            </a:r>
            <a:endParaRPr lang="en-US" sz="1100" dirty="0"/>
          </a:p>
        </p:txBody>
      </p:sp>
      <p:sp>
        <p:nvSpPr>
          <p:cNvPr id="11" name="Shape 7"/>
          <p:cNvSpPr/>
          <p:nvPr/>
        </p:nvSpPr>
        <p:spPr>
          <a:xfrm>
            <a:off x="548640" y="1883664"/>
            <a:ext cx="11094415" cy="455676"/>
          </a:xfrm>
          <a:prstGeom prst="roundRect">
            <a:avLst>
              <a:gd name="adj" fmla="val 28094"/>
            </a:avLst>
          </a:prstGeom>
          <a:solidFill>
            <a:srgbClr val="E7F3EF"/>
          </a:solidFill>
          <a:ln w="12700">
            <a:solidFill>
              <a:srgbClr val="C4E0D5"/>
            </a:solidFill>
            <a:prstDash val="solid"/>
          </a:ln>
        </p:spPr>
      </p:sp>
      <p:sp>
        <p:nvSpPr>
          <p:cNvPr id="12" name="Shape 8"/>
          <p:cNvSpPr/>
          <p:nvPr/>
        </p:nvSpPr>
        <p:spPr>
          <a:xfrm>
            <a:off x="694944" y="1975104"/>
            <a:ext cx="1417320" cy="272796"/>
          </a:xfrm>
          <a:prstGeom prst="roundRect">
            <a:avLst>
              <a:gd name="adj" fmla="val 33520"/>
            </a:avLst>
          </a:prstGeom>
          <a:solidFill>
            <a:srgbClr val="0E7C5A"/>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Your work on this has been quite disappointing.</a:t>
            </a:r>
            <a:endParaRPr lang="en-US" sz="2000" dirty="0"/>
          </a:p>
        </p:txBody>
      </p:sp>
      <p:sp>
        <p:nvSpPr>
          <p:cNvPr id="15" name="Shape 11"/>
          <p:cNvSpPr/>
          <p:nvPr/>
        </p:nvSpPr>
        <p:spPr>
          <a:xfrm>
            <a:off x="548640" y="2439924"/>
            <a:ext cx="11094415" cy="455676"/>
          </a:xfrm>
          <a:prstGeom prst="roundRect">
            <a:avLst>
              <a:gd name="adj" fmla="val 28094"/>
            </a:avLst>
          </a:prstGeom>
          <a:solidFill>
            <a:srgbClr val="EDF3EF"/>
          </a:solidFill>
          <a:ln w="12700">
            <a:solidFill>
              <a:srgbClr val="E3E9E5"/>
            </a:solidFill>
            <a:prstDash val="solid"/>
          </a:ln>
        </p:spPr>
      </p:sp>
      <p:sp>
        <p:nvSpPr>
          <p:cNvPr id="16" name="Shape 12"/>
          <p:cNvSpPr/>
          <p:nvPr/>
        </p:nvSpPr>
        <p:spPr>
          <a:xfrm>
            <a:off x="694944" y="2531364"/>
            <a:ext cx="1417320" cy="272796"/>
          </a:xfrm>
          <a:prstGeom prst="roundRect">
            <a:avLst>
              <a:gd name="adj" fmla="val 33520"/>
            </a:avLst>
          </a:prstGeom>
          <a:solidFill>
            <a:srgbClr val="6B7C71"/>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…Can you give me an ______ ?</a:t>
            </a:r>
            <a:endParaRPr lang="en-US" sz="2000" dirty="0"/>
          </a:p>
        </p:txBody>
      </p:sp>
      <p:sp>
        <p:nvSpPr>
          <p:cNvPr id="19" name="Shape 15"/>
          <p:cNvSpPr/>
          <p:nvPr/>
        </p:nvSpPr>
        <p:spPr>
          <a:xfrm>
            <a:off x="548640" y="2996184"/>
            <a:ext cx="11094415" cy="455676"/>
          </a:xfrm>
          <a:prstGeom prst="roundRect">
            <a:avLst>
              <a:gd name="adj" fmla="val 28094"/>
            </a:avLst>
          </a:prstGeom>
          <a:solidFill>
            <a:srgbClr val="E7F3EF"/>
          </a:solidFill>
          <a:ln w="12700">
            <a:solidFill>
              <a:srgbClr val="C4E0D5"/>
            </a:solidFill>
            <a:prstDash val="solid"/>
          </a:ln>
        </p:spPr>
      </p:sp>
      <p:sp>
        <p:nvSpPr>
          <p:cNvPr id="20" name="Shape 16"/>
          <p:cNvSpPr/>
          <p:nvPr/>
        </p:nvSpPr>
        <p:spPr>
          <a:xfrm>
            <a:off x="694944" y="3087624"/>
            <a:ext cx="1417320" cy="272796"/>
          </a:xfrm>
          <a:prstGeom prst="roundRect">
            <a:avLst>
              <a:gd name="adj" fmla="val 33520"/>
            </a:avLst>
          </a:prstGeom>
          <a:solidFill>
            <a:srgbClr val="0E7C5A"/>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The figures in the last two reports were wrong.</a:t>
            </a:r>
            <a:endParaRPr lang="en-US" sz="2000" dirty="0"/>
          </a:p>
        </p:txBody>
      </p:sp>
      <p:sp>
        <p:nvSpPr>
          <p:cNvPr id="23" name="Shape 19"/>
          <p:cNvSpPr/>
          <p:nvPr/>
        </p:nvSpPr>
        <p:spPr>
          <a:xfrm>
            <a:off x="548640" y="3552444"/>
            <a:ext cx="11094415" cy="455676"/>
          </a:xfrm>
          <a:prstGeom prst="roundRect">
            <a:avLst>
              <a:gd name="adj" fmla="val 28094"/>
            </a:avLst>
          </a:prstGeom>
          <a:solidFill>
            <a:srgbClr val="EDF3EF"/>
          </a:solidFill>
          <a:ln w="12700">
            <a:solidFill>
              <a:srgbClr val="E3E9E5"/>
            </a:solidFill>
            <a:prstDash val="solid"/>
          </a:ln>
        </p:spPr>
      </p:sp>
      <p:sp>
        <p:nvSpPr>
          <p:cNvPr id="24" name="Shape 20"/>
          <p:cNvSpPr/>
          <p:nvPr/>
        </p:nvSpPr>
        <p:spPr>
          <a:xfrm>
            <a:off x="694944" y="3643884"/>
            <a:ext cx="1417320" cy="272796"/>
          </a:xfrm>
          <a:prstGeom prst="roundRect">
            <a:avLst>
              <a:gd name="adj" fmla="val 33520"/>
            </a:avLst>
          </a:prstGeom>
          <a:solidFill>
            <a:srgbClr val="6B7C71"/>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You're ______ about that — I didn't check them against the source.</a:t>
            </a:r>
            <a:endParaRPr lang="en-US" sz="2000" dirty="0"/>
          </a:p>
        </p:txBody>
      </p:sp>
      <p:sp>
        <p:nvSpPr>
          <p:cNvPr id="27" name="Shape 23"/>
          <p:cNvSpPr/>
          <p:nvPr/>
        </p:nvSpPr>
        <p:spPr>
          <a:xfrm>
            <a:off x="548640" y="4108704"/>
            <a:ext cx="11094415" cy="455676"/>
          </a:xfrm>
          <a:prstGeom prst="roundRect">
            <a:avLst>
              <a:gd name="adj" fmla="val 28094"/>
            </a:avLst>
          </a:prstGeom>
          <a:solidFill>
            <a:srgbClr val="E7F3EF"/>
          </a:solidFill>
          <a:ln w="12700">
            <a:solidFill>
              <a:srgbClr val="C4E0D5"/>
            </a:solidFill>
            <a:prstDash val="solid"/>
          </a:ln>
        </p:spPr>
      </p:sp>
      <p:sp>
        <p:nvSpPr>
          <p:cNvPr id="28" name="Shape 24"/>
          <p:cNvSpPr/>
          <p:nvPr/>
        </p:nvSpPr>
        <p:spPr>
          <a:xfrm>
            <a:off x="694944" y="4200144"/>
            <a:ext cx="1417320" cy="272796"/>
          </a:xfrm>
          <a:prstGeom prst="roundRect">
            <a:avLst>
              <a:gd name="adj" fmla="val 33520"/>
            </a:avLst>
          </a:prstGeom>
          <a:solidFill>
            <a:srgbClr val="0E7C5A"/>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It meant the board saw bad data.</a:t>
            </a:r>
            <a:endParaRPr lang="en-US" sz="2000" dirty="0"/>
          </a:p>
        </p:txBody>
      </p:sp>
      <p:sp>
        <p:nvSpPr>
          <p:cNvPr id="31" name="Shape 27"/>
          <p:cNvSpPr/>
          <p:nvPr/>
        </p:nvSpPr>
        <p:spPr>
          <a:xfrm>
            <a:off x="548640" y="4664964"/>
            <a:ext cx="11094415" cy="455676"/>
          </a:xfrm>
          <a:prstGeom prst="roundRect">
            <a:avLst>
              <a:gd name="adj" fmla="val 28094"/>
            </a:avLst>
          </a:prstGeom>
          <a:solidFill>
            <a:srgbClr val="EDF3EF"/>
          </a:solidFill>
          <a:ln w="12700">
            <a:solidFill>
              <a:srgbClr val="E3E9E5"/>
            </a:solidFill>
            <a:prstDash val="solid"/>
          </a:ln>
        </p:spPr>
      </p:sp>
      <p:sp>
        <p:nvSpPr>
          <p:cNvPr id="32" name="Shape 28"/>
          <p:cNvSpPr/>
          <p:nvPr/>
        </p:nvSpPr>
        <p:spPr>
          <a:xfrm>
            <a:off x="694944" y="4756404"/>
            <a:ext cx="1417320" cy="272796"/>
          </a:xfrm>
          <a:prstGeom prst="roundRect">
            <a:avLst>
              <a:gd name="adj" fmla="val 33520"/>
            </a:avLst>
          </a:prstGeom>
          <a:solidFill>
            <a:srgbClr val="6B7C71"/>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1700" b="1" dirty="0">
                <a:solidFill>
                  <a:srgbClr val="12211B"/>
                </a:solidFill>
                <a:latin typeface="Calibri" pitchFamily="34" charset="0"/>
                <a:ea typeface="Calibri" pitchFamily="34" charset="-122"/>
                <a:cs typeface="Calibri" pitchFamily="34" charset="-120"/>
              </a:rPr>
              <a:t>I'm sorry. That cost you a difficult meeting. What would you like me to do ______ ?</a:t>
            </a:r>
            <a:endParaRPr lang="en-US" sz="17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Use these:  “example”  ·  “right”  ·  “differently”</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Pair practice — five hard conversations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Three minutes each. Swap roles.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30</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Give real bad news in four sentences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Warning · fact · consequence · next step.</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Give criticism in three parts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Behaviour · effect · request. Camera test.</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Receive criticism. Pause two seconds first.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Partner times the pause.</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Apologise properly for something real</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Three parts. No “but”.</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Raise a problem with somebody senior</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Time · shared problem · evidence · proposal.</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1 — bad news in four sentences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No more than four. Time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31</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WARNING — one sentence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“I'm afraid I've got some bad news.”</a:t>
            </a:r>
            <a:endParaRPr lang="en-US" sz="20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THE FACT — one sentence, plainly</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No background. No explanation yet.</a:t>
            </a:r>
            <a:endParaRPr lang="en-US" sz="20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THE CONSEQUENCE — one sentence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What it means for them.</a:t>
            </a:r>
            <a:endParaRPr lang="en-US" sz="20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THE NEXT STEP — one sentence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Even a partial plan changes everything.</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2 — the two-second pause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hardest thing in this module.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Your partner criticises you. Say nothing for two seconds.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They count aloud afterwards.</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Then ask for an example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“Can you give me an example?”</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Acknowledge only what is true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“You're right about X.”</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Explain without excusing, if you need to</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“…but I should have told you at the time.”</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Ask what would be better</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“What would you like me to do differently?”</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Sound drill — lowering the temperature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Volume and pace do more than words.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33</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What escalates</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Matching their volume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Speaking faster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Rising intonation at the end</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Filling every pause</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What de-escalates</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Speaking more quietly than them</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Speaking more slowly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Falling intonation, always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Leaving two seconds after they finish</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Speak more quietly than the other person and they will lower their voice within about thirty seconds. It works almost every time, and it concedes nothing.</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4 — raising it upwards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moves. With a real situation.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34</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Ask for the time. “Could I have ten minutes about X?”</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No ambush. No corridor.</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State it as a shared problem</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think we may have an issue with…” — we, not you.</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Bring evidence, not feelings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“The last three deliveries were late.”</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Bring a proposed solution</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“I'd suggest… What do you think?”</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Deliver all four in ninety seconds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Partner checks each move.</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150" b="1" dirty="0">
                <a:solidFill>
                  <a:srgbClr val="12211B"/>
                </a:solidFill>
                <a:latin typeface="Calibri" pitchFamily="34" charset="0"/>
                <a:ea typeface="Calibri" pitchFamily="34" charset="-122"/>
                <a:cs typeface="Calibri" pitchFamily="34" charset="-120"/>
              </a:rPr>
              <a:t>Speaking challenge — the final recording of the course</a:t>
            </a:r>
            <a:endParaRPr lang="en-US" sz="31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3 minutes. Then compare with Level 4 Module 1.</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35</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Give bad news in four sentences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Warning · fact · consequence · next step.</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Give criticism in three parts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Behaviour · effect · request. Camera test.</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Receive a criticism — with a real two-second pause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Then ask, acknowledge and ask what's better.</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Apologise properly for something real</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Three parts. No “but”.</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Speak for 60 seconds about your work</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The same task as Level 4 Module 1. Compare them.</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450" b="1" dirty="0">
                <a:solidFill>
                  <a:srgbClr val="12211B"/>
                </a:solidFill>
                <a:latin typeface="Calibri" pitchFamily="34" charset="0"/>
                <a:ea typeface="Calibri" pitchFamily="34" charset="-122"/>
                <a:cs typeface="Calibri" pitchFamily="34" charset="-120"/>
              </a:rPr>
              <a:t>Listening 1 — two ways to give the same criticism</a:t>
            </a:r>
            <a:endParaRPr lang="en-US" sz="34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Which one could be acted 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36</a:t>
            </a:r>
            <a:endParaRPr lang="en-US" sz="1100" dirty="0"/>
          </a:p>
        </p:txBody>
      </p:sp>
      <p:sp>
        <p:nvSpPr>
          <p:cNvPr id="11" name="Shape 7"/>
          <p:cNvSpPr/>
          <p:nvPr/>
        </p:nvSpPr>
        <p:spPr>
          <a:xfrm>
            <a:off x="548640" y="1883664"/>
            <a:ext cx="658368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03504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READ A, THEN B</a:t>
            </a:r>
            <a:endParaRPr lang="en-US" sz="1200" dirty="0"/>
          </a:p>
        </p:txBody>
      </p:sp>
      <p:sp>
        <p:nvSpPr>
          <p:cNvPr id="13" name="Text 9"/>
          <p:cNvSpPr txBox="1"/>
          <p:nvPr/>
        </p:nvSpPr>
        <p:spPr>
          <a:xfrm>
            <a:off x="822960" y="2487168"/>
            <a:ext cx="6035040" cy="3218688"/>
          </a:xfrm>
          <a:prstGeom prst="rect">
            <a:avLst/>
          </a:prstGeom>
          <a:noFill/>
          <a:ln/>
        </p:spPr>
        <p:txBody>
          <a:bodyPr wrap="square" lIns="0" tIns="0" rIns="0" bIns="0" rtlCol="0" anchor="ctr"/>
          <a:lstStyle/>
          <a:p>
            <a:pPr indent="0" marL="0">
              <a:lnSpc>
                <a:spcPct val="124000"/>
              </a:lnSpc>
              <a:buNone/>
            </a:pPr>
            <a:r>
              <a:rPr lang="en-US" sz="1400" dirty="0">
                <a:solidFill>
                  <a:srgbClr val="12211B"/>
                </a:solidFill>
                <a:latin typeface="Calibri" pitchFamily="34" charset="0"/>
                <a:ea typeface="Calibri" pitchFamily="34" charset="-122"/>
                <a:cs typeface="Calibri" pitchFamily="34" charset="-120"/>
              </a:rPr>
              <a:t>A</a:t>
            </a:r>
            <a:endParaRPr lang="en-US" sz="1400" dirty="0"/>
          </a:p>
          <a:p>
            <a:pPr indent="0" marL="0">
              <a:lnSpc>
                <a:spcPct val="124000"/>
              </a:lnSpc>
              <a:buNone/>
            </a:pPr>
            <a:r>
              <a:rPr lang="en-US" sz="1400" dirty="0">
                <a:solidFill>
                  <a:srgbClr val="12211B"/>
                </a:solidFill>
                <a:latin typeface="Calibri" pitchFamily="34" charset="0"/>
                <a:ea typeface="Calibri" pitchFamily="34" charset="-122"/>
                <a:cs typeface="Calibri" pitchFamily="34" charset="-120"/>
              </a:rPr>
              <a:t>“Honestly, your work's been pretty sloppy lately.</a:t>
            </a:r>
            <a:endParaRPr lang="en-US" sz="1400" dirty="0"/>
          </a:p>
          <a:p>
            <a:pPr indent="0" marL="0">
              <a:lnSpc>
                <a:spcPct val="124000"/>
              </a:lnSpc>
              <a:buNone/>
            </a:pPr>
            <a:r>
              <a:rPr lang="en-US" sz="1400" dirty="0">
                <a:solidFill>
                  <a:srgbClr val="12211B"/>
                </a:solidFill>
                <a:latin typeface="Calibri" pitchFamily="34" charset="0"/>
                <a:ea typeface="Calibri" pitchFamily="34" charset="-122"/>
                <a:cs typeface="Calibri" pitchFamily="34" charset="-120"/>
              </a:rPr>
              <a:t>You don't seem to care much, and it's starting to</a:t>
            </a:r>
            <a:endParaRPr lang="en-US" sz="1400" dirty="0"/>
          </a:p>
          <a:p>
            <a:pPr indent="0" marL="0">
              <a:lnSpc>
                <a:spcPct val="124000"/>
              </a:lnSpc>
              <a:buNone/>
            </a:pPr>
            <a:r>
              <a:rPr lang="en-US" sz="1400" dirty="0">
                <a:solidFill>
                  <a:srgbClr val="12211B"/>
                </a:solidFill>
                <a:latin typeface="Calibri" pitchFamily="34" charset="0"/>
                <a:ea typeface="Calibri" pitchFamily="34" charset="-122"/>
                <a:cs typeface="Calibri" pitchFamily="34" charset="-120"/>
              </a:rPr>
              <a:t>affect the whole team. You need to sort it out.”</a:t>
            </a:r>
            <a:endParaRPr lang="en-US" sz="1400" dirty="0"/>
          </a:p>
          <a:p>
            <a:pPr indent="0" marL="0">
              <a:lnSpc>
                <a:spcPct val="124000"/>
              </a:lnSpc>
              <a:buNone/>
            </a:pPr>
            <a:endParaRPr lang="en-US" sz="1400" dirty="0"/>
          </a:p>
          <a:p>
            <a:pPr indent="0" marL="0">
              <a:lnSpc>
                <a:spcPct val="124000"/>
              </a:lnSpc>
              <a:buNone/>
            </a:pPr>
            <a:r>
              <a:rPr lang="en-US" sz="1400" dirty="0">
                <a:solidFill>
                  <a:srgbClr val="12211B"/>
                </a:solidFill>
                <a:latin typeface="Calibri" pitchFamily="34" charset="0"/>
                <a:ea typeface="Calibri" pitchFamily="34" charset="-122"/>
                <a:cs typeface="Calibri" pitchFamily="34" charset="-120"/>
              </a:rPr>
              <a:t>B</a:t>
            </a:r>
            <a:endParaRPr lang="en-US" sz="1400" dirty="0"/>
          </a:p>
          <a:p>
            <a:pPr indent="0" marL="0">
              <a:lnSpc>
                <a:spcPct val="124000"/>
              </a:lnSpc>
              <a:buNone/>
            </a:pPr>
            <a:r>
              <a:rPr lang="en-US" sz="1400" dirty="0">
                <a:solidFill>
                  <a:srgbClr val="12211B"/>
                </a:solidFill>
                <a:latin typeface="Calibri" pitchFamily="34" charset="0"/>
                <a:ea typeface="Calibri" pitchFamily="34" charset="-122"/>
                <a:cs typeface="Calibri" pitchFamily="34" charset="-120"/>
              </a:rPr>
              <a:t>“The March figures had two errors and the April</a:t>
            </a:r>
            <a:endParaRPr lang="en-US" sz="1400" dirty="0"/>
          </a:p>
          <a:p>
            <a:pPr indent="0" marL="0">
              <a:lnSpc>
                <a:spcPct val="124000"/>
              </a:lnSpc>
              <a:buNone/>
            </a:pPr>
            <a:r>
              <a:rPr lang="en-US" sz="1400" dirty="0">
                <a:solidFill>
                  <a:srgbClr val="12211B"/>
                </a:solidFill>
                <a:latin typeface="Calibri" pitchFamily="34" charset="0"/>
                <a:ea typeface="Calibri" pitchFamily="34" charset="-122"/>
                <a:cs typeface="Calibri" pitchFamily="34" charset="-120"/>
              </a:rPr>
              <a:t>report came in two days late.</a:t>
            </a:r>
            <a:endParaRPr lang="en-US" sz="1400" dirty="0"/>
          </a:p>
          <a:p>
            <a:pPr indent="0" marL="0">
              <a:lnSpc>
                <a:spcPct val="124000"/>
              </a:lnSpc>
              <a:buNone/>
            </a:pPr>
            <a:r>
              <a:rPr lang="en-US" sz="1400" dirty="0">
                <a:solidFill>
                  <a:srgbClr val="12211B"/>
                </a:solidFill>
                <a:latin typeface="Calibri" pitchFamily="34" charset="0"/>
                <a:ea typeface="Calibri" pitchFamily="34" charset="-122"/>
                <a:cs typeface="Calibri" pitchFamily="34" charset="-120"/>
              </a:rPr>
              <a:t>The board saw incorrect data, which put Chaltu in</a:t>
            </a:r>
            <a:endParaRPr lang="en-US" sz="1400" dirty="0"/>
          </a:p>
          <a:p>
            <a:pPr indent="0" marL="0">
              <a:lnSpc>
                <a:spcPct val="124000"/>
              </a:lnSpc>
              <a:buNone/>
            </a:pPr>
            <a:r>
              <a:rPr lang="en-US" sz="1400" dirty="0">
                <a:solidFill>
                  <a:srgbClr val="12211B"/>
                </a:solidFill>
                <a:latin typeface="Calibri" pitchFamily="34" charset="0"/>
                <a:ea typeface="Calibri" pitchFamily="34" charset="-122"/>
                <a:cs typeface="Calibri" pitchFamily="34" charset="-120"/>
              </a:rPr>
              <a:t>a difficult position.</a:t>
            </a:r>
            <a:endParaRPr lang="en-US" sz="1400" dirty="0"/>
          </a:p>
          <a:p>
            <a:pPr indent="0" marL="0">
              <a:lnSpc>
                <a:spcPct val="124000"/>
              </a:lnSpc>
              <a:buNone/>
            </a:pPr>
            <a:r>
              <a:rPr lang="en-US" sz="1400" dirty="0">
                <a:solidFill>
                  <a:srgbClr val="12211B"/>
                </a:solidFill>
                <a:latin typeface="Calibri" pitchFamily="34" charset="0"/>
                <a:ea typeface="Calibri" pitchFamily="34" charset="-122"/>
                <a:cs typeface="Calibri" pitchFamily="34" charset="-120"/>
              </a:rPr>
              <a:t>Could you check figures against the source before</a:t>
            </a:r>
            <a:endParaRPr lang="en-US" sz="1400" dirty="0"/>
          </a:p>
          <a:p>
            <a:pPr indent="0" marL="0">
              <a:lnSpc>
                <a:spcPct val="124000"/>
              </a:lnSpc>
              <a:buNone/>
            </a:pPr>
            <a:r>
              <a:rPr lang="en-US" sz="1400" dirty="0">
                <a:solidFill>
                  <a:srgbClr val="12211B"/>
                </a:solidFill>
                <a:latin typeface="Calibri" pitchFamily="34" charset="0"/>
                <a:ea typeface="Calibri" pitchFamily="34" charset="-122"/>
                <a:cs typeface="Calibri" pitchFamily="34" charset="-120"/>
              </a:rPr>
              <a:t>sending, and tell me early if a deadline is slipping?”</a:t>
            </a:r>
            <a:endParaRPr lang="en-US" sz="1400" dirty="0"/>
          </a:p>
        </p:txBody>
      </p:sp>
      <p:sp>
        <p:nvSpPr>
          <p:cNvPr id="14" name="Shape 10"/>
          <p:cNvSpPr/>
          <p:nvPr/>
        </p:nvSpPr>
        <p:spPr>
          <a:xfrm>
            <a:off x="7406640" y="1883664"/>
            <a:ext cx="423641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644384" y="2103120"/>
            <a:ext cx="376092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QUESTIONS</a:t>
            </a:r>
            <a:endParaRPr lang="en-US" sz="1200" dirty="0"/>
          </a:p>
        </p:txBody>
      </p:sp>
      <p:sp>
        <p:nvSpPr>
          <p:cNvPr id="16" name="Text 12"/>
          <p:cNvSpPr/>
          <p:nvPr/>
        </p:nvSpPr>
        <p:spPr>
          <a:xfrm>
            <a:off x="7680960" y="2505456"/>
            <a:ext cx="368777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1. What exactly should the person do after A?</a:t>
            </a:r>
            <a:endParaRPr lang="en-US" sz="1500" dirty="0"/>
          </a:p>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2. What exactly should they do after B?</a:t>
            </a:r>
            <a:endParaRPr lang="en-US" sz="1500" dirty="0"/>
          </a:p>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3. Which parts of A pass the camera test?</a:t>
            </a:r>
            <a:endParaRPr lang="en-US" sz="1500" dirty="0"/>
          </a:p>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4. What are B's three parts?</a:t>
            </a:r>
            <a:endParaRPr lang="en-US" sz="1500" dirty="0"/>
          </a:p>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5. Which one is kinder?</a:t>
            </a:r>
            <a:endParaRPr lang="en-US" sz="1500" dirty="0"/>
          </a:p>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6. Which one is harder to say?</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37</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1 — what to do after A</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Nothing specific. “Sort it out” is not an instruction.</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Even somebody who wants to improve cannot act on it, which makes it useless as well as unpleasant.</a:t>
            </a:r>
            <a:endParaRPr lang="en-US" sz="114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3 — the camera test</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Nothing in A passes. Everything in B does.</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“Sloppy” and “doesn't care” describe a person. “Two errors” and “two days late” describe events.</a:t>
            </a:r>
            <a:endParaRPr lang="en-US" sz="114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4 — B's three parts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Behaviour · effect · request.</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Fifteen seconds, and the person leaves knowing exactly what to do differently.</a:t>
            </a:r>
            <a:endParaRPr lang="en-US" sz="114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5 — which is kinder?</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B, clearly — once you ask which you would rather receive.</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A feels softer and leaves somebody knowing they have failed without knowing how to succeed.</a:t>
            </a:r>
            <a:endParaRPr lang="en-US" sz="114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6 — which is harder to say?</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B — it requires preparation.</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A can be said without thinking, which is precisely why it gets said.</a:t>
            </a:r>
            <a:endParaRPr lang="en-US" sz="114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four apologies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Only one of them is real.</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38</a:t>
            </a:r>
            <a:endParaRPr lang="en-US" sz="1100" dirty="0"/>
          </a:p>
        </p:txBody>
      </p:sp>
      <p:sp>
        <p:nvSpPr>
          <p:cNvPr id="11" name="Shape 7"/>
          <p:cNvSpPr/>
          <p:nvPr/>
        </p:nvSpPr>
        <p:spPr>
          <a:xfrm>
            <a:off x="548640" y="1883664"/>
            <a:ext cx="658368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03504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TWICE</a:t>
            </a:r>
            <a:endParaRPr lang="en-US" sz="1200" dirty="0"/>
          </a:p>
        </p:txBody>
      </p:sp>
      <p:sp>
        <p:nvSpPr>
          <p:cNvPr id="13" name="Text 9"/>
          <p:cNvSpPr txBox="1"/>
          <p:nvPr/>
        </p:nvSpPr>
        <p:spPr>
          <a:xfrm>
            <a:off x="822960" y="2487168"/>
            <a:ext cx="6035040" cy="3218688"/>
          </a:xfrm>
          <a:prstGeom prst="rect">
            <a:avLst/>
          </a:prstGeom>
          <a:noFill/>
          <a:ln/>
        </p:spPr>
        <p:txBody>
          <a:bodyPr wrap="square" lIns="0" tIns="0" rIns="0" bIns="0" rtlCol="0" anchor="ctr"/>
          <a:lstStyle/>
          <a:p>
            <a:pPr indent="0" marL="0">
              <a:lnSpc>
                <a:spcPct val="124000"/>
              </a:lnSpc>
              <a:buNone/>
            </a:pPr>
            <a:r>
              <a:rPr lang="en-US" sz="1500" dirty="0">
                <a:solidFill>
                  <a:srgbClr val="12211B"/>
                </a:solidFill>
                <a:latin typeface="Calibri" pitchFamily="34" charset="0"/>
                <a:ea typeface="Calibri" pitchFamily="34" charset="-122"/>
                <a:cs typeface="Calibri" pitchFamily="34" charset="-120"/>
              </a:rPr>
              <a:t>1.  “I'm sorry you feel that way.”</a:t>
            </a:r>
            <a:endParaRPr lang="en-US" sz="1500" dirty="0"/>
          </a:p>
          <a:p>
            <a:pPr indent="0" marL="0">
              <a:lnSpc>
                <a:spcPct val="124000"/>
              </a:lnSpc>
              <a:buNone/>
            </a:pPr>
            <a:endParaRPr lang="en-US" sz="1500" dirty="0"/>
          </a:p>
          <a:p>
            <a:pPr indent="0" marL="0">
              <a:lnSpc>
                <a:spcPct val="124000"/>
              </a:lnSpc>
              <a:buNone/>
            </a:pPr>
            <a:r>
              <a:rPr lang="en-US" sz="1500" dirty="0">
                <a:solidFill>
                  <a:srgbClr val="12211B"/>
                </a:solidFill>
                <a:latin typeface="Calibri" pitchFamily="34" charset="0"/>
                <a:ea typeface="Calibri" pitchFamily="34" charset="-122"/>
                <a:cs typeface="Calibri" pitchFamily="34" charset="-120"/>
              </a:rPr>
              <a:t>2.  “I'm sorry, but I was under a lot of pressure</a:t>
            </a:r>
            <a:endParaRPr lang="en-US" sz="1500" dirty="0"/>
          </a:p>
          <a:p>
            <a:pPr indent="0" marL="0">
              <a:lnSpc>
                <a:spcPct val="124000"/>
              </a:lnSpc>
              <a:buNone/>
            </a:pPr>
            <a:r>
              <a:rPr lang="en-US" sz="1500" dirty="0">
                <a:solidFill>
                  <a:srgbClr val="12211B"/>
                </a:solidFill>
                <a:latin typeface="Calibri" pitchFamily="34" charset="0"/>
                <a:ea typeface="Calibri" pitchFamily="34" charset="-122"/>
                <a:cs typeface="Calibri" pitchFamily="34" charset="-120"/>
              </a:rPr>
              <a:t>and nobody told me the deadline had moved.”</a:t>
            </a:r>
            <a:endParaRPr lang="en-US" sz="1500" dirty="0"/>
          </a:p>
          <a:p>
            <a:pPr indent="0" marL="0">
              <a:lnSpc>
                <a:spcPct val="124000"/>
              </a:lnSpc>
              <a:buNone/>
            </a:pPr>
            <a:endParaRPr lang="en-US" sz="1500" dirty="0"/>
          </a:p>
          <a:p>
            <a:pPr indent="0" marL="0">
              <a:lnSpc>
                <a:spcPct val="124000"/>
              </a:lnSpc>
              <a:buNone/>
            </a:pPr>
            <a:r>
              <a:rPr lang="en-US" sz="1500" dirty="0">
                <a:solidFill>
                  <a:srgbClr val="12211B"/>
                </a:solidFill>
                <a:latin typeface="Calibri" pitchFamily="34" charset="0"/>
                <a:ea typeface="Calibri" pitchFamily="34" charset="-122"/>
                <a:cs typeface="Calibri" pitchFamily="34" charset="-120"/>
              </a:rPr>
              <a:t>3.  “Sorry. Sorry. Really sorry. I'm so sorry.”</a:t>
            </a:r>
            <a:endParaRPr lang="en-US" sz="1500" dirty="0"/>
          </a:p>
          <a:p>
            <a:pPr indent="0" marL="0">
              <a:lnSpc>
                <a:spcPct val="124000"/>
              </a:lnSpc>
              <a:buNone/>
            </a:pPr>
            <a:endParaRPr lang="en-US" sz="1500" dirty="0"/>
          </a:p>
          <a:p>
            <a:pPr indent="0" marL="0">
              <a:lnSpc>
                <a:spcPct val="124000"/>
              </a:lnSpc>
              <a:buNone/>
            </a:pPr>
            <a:r>
              <a:rPr lang="en-US" sz="1500" dirty="0">
                <a:solidFill>
                  <a:srgbClr val="12211B"/>
                </a:solidFill>
                <a:latin typeface="Calibri" pitchFamily="34" charset="0"/>
                <a:ea typeface="Calibri" pitchFamily="34" charset="-122"/>
                <a:cs typeface="Calibri" pitchFamily="34" charset="-120"/>
              </a:rPr>
              <a:t>4.  “I'm sorry. I sent the old version, and it cost</a:t>
            </a:r>
            <a:endParaRPr lang="en-US" sz="1500" dirty="0"/>
          </a:p>
          <a:p>
            <a:pPr indent="0" marL="0">
              <a:lnSpc>
                <a:spcPct val="124000"/>
              </a:lnSpc>
              <a:buNone/>
            </a:pPr>
            <a:r>
              <a:rPr lang="en-US" sz="1500" dirty="0">
                <a:solidFill>
                  <a:srgbClr val="12211B"/>
                </a:solidFill>
                <a:latin typeface="Calibri" pitchFamily="34" charset="0"/>
                <a:ea typeface="Calibri" pitchFamily="34" charset="-122"/>
                <a:cs typeface="Calibri" pitchFamily="34" charset="-120"/>
              </a:rPr>
              <a:t>you most of Tuesday. I'll check the file name</a:t>
            </a:r>
            <a:endParaRPr lang="en-US" sz="1500" dirty="0"/>
          </a:p>
          <a:p>
            <a:pPr indent="0" marL="0">
              <a:lnSpc>
                <a:spcPct val="124000"/>
              </a:lnSpc>
              <a:buNone/>
            </a:pPr>
            <a:r>
              <a:rPr lang="en-US" sz="1500" dirty="0">
                <a:solidFill>
                  <a:srgbClr val="12211B"/>
                </a:solidFill>
                <a:latin typeface="Calibri" pitchFamily="34" charset="0"/>
                <a:ea typeface="Calibri" pitchFamily="34" charset="-122"/>
                <a:cs typeface="Calibri" pitchFamily="34" charset="-120"/>
              </a:rPr>
              <a:t>against the date before I send anything now.”</a:t>
            </a:r>
            <a:endParaRPr lang="en-US" sz="1500" dirty="0"/>
          </a:p>
        </p:txBody>
      </p:sp>
      <p:sp>
        <p:nvSpPr>
          <p:cNvPr id="14" name="Shape 10"/>
          <p:cNvSpPr/>
          <p:nvPr/>
        </p:nvSpPr>
        <p:spPr>
          <a:xfrm>
            <a:off x="7406640" y="1883664"/>
            <a:ext cx="423641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644384" y="2103120"/>
            <a:ext cx="376092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QUESTIONS</a:t>
            </a:r>
            <a:endParaRPr lang="en-US" sz="1200" dirty="0"/>
          </a:p>
        </p:txBody>
      </p:sp>
      <p:sp>
        <p:nvSpPr>
          <p:cNvPr id="16" name="Text 12"/>
          <p:cNvSpPr/>
          <p:nvPr/>
        </p:nvSpPr>
        <p:spPr>
          <a:xfrm>
            <a:off x="7680960" y="2505456"/>
            <a:ext cx="368777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1. What is wrong with number 1?</a:t>
            </a:r>
            <a:endParaRPr lang="en-US" sz="1500" dirty="0"/>
          </a:p>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2. What is wrong with number 2?</a:t>
            </a:r>
            <a:endParaRPr lang="en-US" sz="1500" dirty="0"/>
          </a:p>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3. What is wrong with number 3?</a:t>
            </a:r>
            <a:endParaRPr lang="en-US" sz="1500" dirty="0"/>
          </a:p>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4. What does number 4 contain?</a:t>
            </a:r>
            <a:endParaRPr lang="en-US" sz="1500" dirty="0"/>
          </a:p>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5. Which word ruins number 2?</a:t>
            </a:r>
            <a:endParaRPr lang="en-US" sz="1500" dirty="0"/>
          </a:p>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6. Which would you accept?</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1 — “I'm sorry you feel that way”</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It apologises for their reaction, not for what you did.</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It accepts nothing, and most people hear that immediately.</a:t>
            </a:r>
            <a:endParaRPr lang="en-US" sz="114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2 and 5 — the “but”</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It withdraws the apology in the same sentence.</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The listener hears the justification and discards the apology in front of it.</a:t>
            </a:r>
            <a:endParaRPr lang="en-US" sz="114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3 — repetition</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Four apologies with no content.</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It reads as distress rather than accountability, and it asks the other person to comfort you.</a:t>
            </a:r>
            <a:endParaRPr lang="en-US" sz="114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4 — the real one</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What you did · its effect on them · what you'll change.</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Three sentences. Nothing else is needed and nothing may be added.</a:t>
            </a:r>
            <a:endParaRPr lang="en-US" sz="114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6 — which would you accept?</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Only number 4.</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It is the only one that names the act, the harm and the change.</a:t>
            </a:r>
            <a:endParaRPr lang="en-US" sz="114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Listening in a difficult conversation</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things to catch while under pressure.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40</a:t>
            </a:r>
            <a:endParaRPr lang="en-US" sz="1100" dirty="0"/>
          </a:p>
        </p:txBody>
      </p:sp>
      <p:sp>
        <p:nvSpPr>
          <p:cNvPr id="11" name="Shape 7"/>
          <p:cNvSpPr/>
          <p:nvPr/>
        </p:nvSpPr>
        <p:spPr>
          <a:xfrm>
            <a:off x="548640" y="1883664"/>
            <a:ext cx="5446624" cy="1929384"/>
          </a:xfrm>
          <a:prstGeom prst="roundRect">
            <a:avLst>
              <a:gd name="adj" fmla="val 6635"/>
            </a:avLst>
          </a:prstGeom>
          <a:solidFill>
            <a:srgbClr val="E8F6F6"/>
          </a:solidFill>
          <a:ln w="12700">
            <a:solidFill>
              <a:srgbClr val="BEE2E2"/>
            </a:solidFill>
            <a:prstDash val="solid"/>
          </a:ln>
        </p:spPr>
      </p:sp>
      <p:sp>
        <p:nvSpPr>
          <p:cNvPr id="12" name="Shape 8"/>
          <p:cNvSpPr/>
          <p:nvPr/>
        </p:nvSpPr>
        <p:spPr>
          <a:xfrm>
            <a:off x="768096" y="2103120"/>
            <a:ext cx="457200" cy="457200"/>
          </a:xfrm>
          <a:prstGeom prst="ellipse">
            <a:avLst/>
          </a:prstGeom>
          <a:solidFill>
            <a:srgbClr val="1FA3A3"/>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650" b="1" dirty="0">
                <a:solidFill>
                  <a:srgbClr val="12211B"/>
                </a:solidFill>
                <a:latin typeface="Calibri" pitchFamily="34" charset="0"/>
                <a:ea typeface="Calibri" pitchFamily="34" charset="-122"/>
                <a:cs typeface="Calibri" pitchFamily="34" charset="-120"/>
              </a:rPr>
              <a:t>Is it behaviour or character?</a:t>
            </a:r>
            <a:endParaRPr lang="en-US" sz="1650" dirty="0"/>
          </a:p>
          <a:p>
            <a:pPr indent="0" marL="0">
              <a:lnSpc>
                <a:spcPct val="102000"/>
              </a:lnSpc>
              <a:spcBef>
                <a:spcPts val="314"/>
              </a:spcBef>
              <a:buNone/>
            </a:pPr>
            <a:r>
              <a:rPr lang="en-US" sz="1260" dirty="0">
                <a:solidFill>
                  <a:srgbClr val="3A473F"/>
                </a:solidFill>
                <a:latin typeface="Calibri" pitchFamily="34" charset="0"/>
                <a:ea typeface="Calibri" pitchFamily="34" charset="-122"/>
                <a:cs typeface="Calibri" pitchFamily="34" charset="-120"/>
              </a:rPr>
              <a:t>If they said “you're careless”, ask for the example. You cannot act on a character judgement.</a:t>
            </a:r>
            <a:endParaRPr lang="en-US" sz="1650" dirty="0"/>
          </a:p>
        </p:txBody>
      </p:sp>
      <p:sp>
        <p:nvSpPr>
          <p:cNvPr id="15" name="Shape 10"/>
          <p:cNvSpPr/>
          <p:nvPr/>
        </p:nvSpPr>
        <p:spPr>
          <a:xfrm>
            <a:off x="6196432" y="1883664"/>
            <a:ext cx="5446624" cy="1929384"/>
          </a:xfrm>
          <a:prstGeom prst="roundRect">
            <a:avLst>
              <a:gd name="adj" fmla="val 6635"/>
            </a:avLst>
          </a:prstGeom>
          <a:solidFill>
            <a:srgbClr val="E8F6F6"/>
          </a:solidFill>
          <a:ln w="12700">
            <a:solidFill>
              <a:srgbClr val="BEE2E2"/>
            </a:solidFill>
            <a:prstDash val="solid"/>
          </a:ln>
        </p:spPr>
      </p:sp>
      <p:sp>
        <p:nvSpPr>
          <p:cNvPr id="16" name="Shape 11"/>
          <p:cNvSpPr/>
          <p:nvPr/>
        </p:nvSpPr>
        <p:spPr>
          <a:xfrm>
            <a:off x="6415888" y="2103120"/>
            <a:ext cx="457200" cy="457200"/>
          </a:xfrm>
          <a:prstGeom prst="ellipse">
            <a:avLst/>
          </a:prstGeom>
          <a:solidFill>
            <a:srgbClr val="1FA3A3"/>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What part of it is true?</a:t>
            </a:r>
            <a:endParaRPr lang="en-US" sz="1750" dirty="0"/>
          </a:p>
          <a:p>
            <a:pPr indent="0" marL="0">
              <a:lnSpc>
                <a:spcPct val="102000"/>
              </a:lnSpc>
              <a:spcBef>
                <a:spcPts val="333"/>
              </a:spcBef>
              <a:buNone/>
            </a:pPr>
            <a:r>
              <a:rPr lang="en-US" sz="1330" dirty="0">
                <a:solidFill>
                  <a:srgbClr val="3A473F"/>
                </a:solidFill>
                <a:latin typeface="Calibri" pitchFamily="34" charset="0"/>
                <a:ea typeface="Calibri" pitchFamily="34" charset="-122"/>
                <a:cs typeface="Calibri" pitchFamily="34" charset="-120"/>
              </a:rPr>
              <a:t>There is almost always one. Find it before you respond to the rest.</a:t>
            </a:r>
            <a:endParaRPr lang="en-US" sz="1750" dirty="0"/>
          </a:p>
        </p:txBody>
      </p:sp>
      <p:sp>
        <p:nvSpPr>
          <p:cNvPr id="19" name="Shape 13"/>
          <p:cNvSpPr/>
          <p:nvPr/>
        </p:nvSpPr>
        <p:spPr>
          <a:xfrm>
            <a:off x="548640" y="4014216"/>
            <a:ext cx="5446624" cy="1929384"/>
          </a:xfrm>
          <a:prstGeom prst="roundRect">
            <a:avLst>
              <a:gd name="adj" fmla="val 6635"/>
            </a:avLst>
          </a:prstGeom>
          <a:solidFill>
            <a:srgbClr val="E8F6F6"/>
          </a:solidFill>
          <a:ln w="12700">
            <a:solidFill>
              <a:srgbClr val="BEE2E2"/>
            </a:solidFill>
            <a:prstDash val="solid"/>
          </a:ln>
        </p:spPr>
      </p:sp>
      <p:sp>
        <p:nvSpPr>
          <p:cNvPr id="20" name="Shape 14"/>
          <p:cNvSpPr/>
          <p:nvPr/>
        </p:nvSpPr>
        <p:spPr>
          <a:xfrm>
            <a:off x="768096" y="4233672"/>
            <a:ext cx="457200" cy="457200"/>
          </a:xfrm>
          <a:prstGeom prst="ellipse">
            <a:avLst/>
          </a:prstGeom>
          <a:solidFill>
            <a:srgbClr val="1FA3A3"/>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Is the heat rising?</a:t>
            </a:r>
            <a:endParaRPr lang="en-US" sz="1750" dirty="0"/>
          </a:p>
          <a:p>
            <a:pPr indent="0" marL="0">
              <a:lnSpc>
                <a:spcPct val="102000"/>
              </a:lnSpc>
              <a:spcBef>
                <a:spcPts val="333"/>
              </a:spcBef>
              <a:buNone/>
            </a:pPr>
            <a:r>
              <a:rPr lang="en-US" sz="1330" dirty="0">
                <a:solidFill>
                  <a:srgbClr val="3A473F"/>
                </a:solidFill>
                <a:latin typeface="Calibri" pitchFamily="34" charset="0"/>
                <a:ea typeface="Calibri" pitchFamily="34" charset="-122"/>
                <a:cs typeface="Calibri" pitchFamily="34" charset="-120"/>
              </a:rPr>
              <a:t>Volume and pace tell you before the words do. Lower yours.</a:t>
            </a:r>
            <a:endParaRPr lang="en-US" sz="1750" dirty="0"/>
          </a:p>
        </p:txBody>
      </p:sp>
      <p:sp>
        <p:nvSpPr>
          <p:cNvPr id="23" name="Shape 16"/>
          <p:cNvSpPr/>
          <p:nvPr/>
        </p:nvSpPr>
        <p:spPr>
          <a:xfrm>
            <a:off x="6196432" y="4014216"/>
            <a:ext cx="5446624" cy="1929384"/>
          </a:xfrm>
          <a:prstGeom prst="roundRect">
            <a:avLst>
              <a:gd name="adj" fmla="val 6635"/>
            </a:avLst>
          </a:prstGeom>
          <a:solidFill>
            <a:srgbClr val="E8F6F6"/>
          </a:solidFill>
          <a:ln w="12700">
            <a:solidFill>
              <a:srgbClr val="BEE2E2"/>
            </a:solidFill>
            <a:prstDash val="solid"/>
          </a:ln>
        </p:spPr>
      </p:sp>
      <p:sp>
        <p:nvSpPr>
          <p:cNvPr id="24" name="Shape 17"/>
          <p:cNvSpPr/>
          <p:nvPr/>
        </p:nvSpPr>
        <p:spPr>
          <a:xfrm>
            <a:off x="6415888" y="4233672"/>
            <a:ext cx="457200" cy="457200"/>
          </a:xfrm>
          <a:prstGeom prst="ellipse">
            <a:avLst/>
          </a:prstGeom>
          <a:solidFill>
            <a:srgbClr val="1FA3A3"/>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What do they actually want?</a:t>
            </a:r>
            <a:endParaRPr lang="en-US" sz="1750" dirty="0"/>
          </a:p>
          <a:p>
            <a:pPr indent="0" marL="0">
              <a:lnSpc>
                <a:spcPct val="102000"/>
              </a:lnSpc>
              <a:spcBef>
                <a:spcPts val="333"/>
              </a:spcBef>
              <a:buNone/>
            </a:pPr>
            <a:r>
              <a:rPr lang="en-US" sz="1330" dirty="0">
                <a:solidFill>
                  <a:srgbClr val="3A473F"/>
                </a:solidFill>
                <a:latin typeface="Calibri" pitchFamily="34" charset="0"/>
                <a:ea typeface="Calibri" pitchFamily="34" charset="-122"/>
                <a:cs typeface="Calibri" pitchFamily="34" charset="-120"/>
              </a:rPr>
              <a:t>An apology? A change? To be heard? Answering the wrong one prolongs it.</a:t>
            </a:r>
            <a:endParaRPr lang="en-US" sz="17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raising a problem upwards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moves, in writing.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41</a:t>
            </a:r>
            <a:endParaRPr lang="en-US" sz="1100" dirty="0"/>
          </a:p>
        </p:txBody>
      </p:sp>
      <p:sp>
        <p:nvSpPr>
          <p:cNvPr id="11" name="Shape 7"/>
          <p:cNvSpPr/>
          <p:nvPr/>
        </p:nvSpPr>
        <p:spPr>
          <a:xfrm>
            <a:off x="548640" y="1883664"/>
            <a:ext cx="658368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03504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035040" cy="3218688"/>
          </a:xfrm>
          <a:prstGeom prst="rect">
            <a:avLst/>
          </a:prstGeom>
          <a:noFill/>
          <a:ln/>
        </p:spPr>
        <p:txBody>
          <a:bodyPr wrap="square" lIns="0" tIns="0" rIns="0" bIns="0" rtlCol="0" anchor="ctr"/>
          <a:lstStyle/>
          <a:p>
            <a:pPr indent="0" marL="0">
              <a:lnSpc>
                <a:spcPct val="124000"/>
              </a:lnSpc>
              <a:buNone/>
            </a:pPr>
            <a:r>
              <a:rPr lang="en-US" sz="1200" dirty="0">
                <a:solidFill>
                  <a:srgbClr val="12211B"/>
                </a:solidFill>
                <a:latin typeface="Calibri" pitchFamily="34" charset="0"/>
                <a:ea typeface="Calibri" pitchFamily="34" charset="-122"/>
                <a:cs typeface="Calibri" pitchFamily="34" charset="-120"/>
              </a:rPr>
              <a:t>Dear Chaltu,</a:t>
            </a:r>
            <a:endParaRPr lang="en-US" sz="1200" dirty="0"/>
          </a:p>
          <a:p>
            <a:pPr indent="0" marL="0">
              <a:lnSpc>
                <a:spcPct val="124000"/>
              </a:lnSpc>
              <a:buNone/>
            </a:pPr>
            <a:endParaRPr lang="en-US" sz="1200" dirty="0"/>
          </a:p>
          <a:p>
            <a:pPr indent="0" marL="0">
              <a:lnSpc>
                <a:spcPct val="124000"/>
              </a:lnSpc>
              <a:buNone/>
            </a:pPr>
            <a:r>
              <a:rPr lang="en-US" sz="1200" dirty="0">
                <a:solidFill>
                  <a:srgbClr val="12211B"/>
                </a:solidFill>
                <a:latin typeface="Calibri" pitchFamily="34" charset="0"/>
                <a:ea typeface="Calibri" pitchFamily="34" charset="-122"/>
                <a:cs typeface="Calibri" pitchFamily="34" charset="-120"/>
              </a:rPr>
              <a:t>Could I have ten minutes this week about the</a:t>
            </a:r>
            <a:endParaRPr lang="en-US" sz="1200" dirty="0"/>
          </a:p>
          <a:p>
            <a:pPr indent="0" marL="0">
              <a:lnSpc>
                <a:spcPct val="124000"/>
              </a:lnSpc>
              <a:buNone/>
            </a:pPr>
            <a:r>
              <a:rPr lang="en-US" sz="1200" dirty="0">
                <a:solidFill>
                  <a:srgbClr val="12211B"/>
                </a:solidFill>
                <a:latin typeface="Calibri" pitchFamily="34" charset="0"/>
                <a:ea typeface="Calibri" pitchFamily="34" charset="-122"/>
                <a:cs typeface="Calibri" pitchFamily="34" charset="-120"/>
              </a:rPr>
              <a:t>Adama deliveries?</a:t>
            </a:r>
            <a:endParaRPr lang="en-US" sz="1200" dirty="0"/>
          </a:p>
          <a:p>
            <a:pPr indent="0" marL="0">
              <a:lnSpc>
                <a:spcPct val="124000"/>
              </a:lnSpc>
              <a:buNone/>
            </a:pPr>
            <a:r>
              <a:rPr lang="en-US" sz="1200" dirty="0">
                <a:solidFill>
                  <a:srgbClr val="12211B"/>
                </a:solidFill>
                <a:latin typeface="Calibri" pitchFamily="34" charset="0"/>
                <a:ea typeface="Calibri" pitchFamily="34" charset="-122"/>
                <a:cs typeface="Calibri" pitchFamily="34" charset="-120"/>
              </a:rPr>
              <a:t>I think we may have an issue building up. The</a:t>
            </a:r>
            <a:endParaRPr lang="en-US" sz="1200" dirty="0"/>
          </a:p>
          <a:p>
            <a:pPr indent="0" marL="0">
              <a:lnSpc>
                <a:spcPct val="124000"/>
              </a:lnSpc>
              <a:buNone/>
            </a:pPr>
            <a:r>
              <a:rPr lang="en-US" sz="1200" dirty="0">
                <a:solidFill>
                  <a:srgbClr val="12211B"/>
                </a:solidFill>
                <a:latin typeface="Calibri" pitchFamily="34" charset="0"/>
                <a:ea typeface="Calibri" pitchFamily="34" charset="-122"/>
                <a:cs typeface="Calibri" pitchFamily="34" charset="-120"/>
              </a:rPr>
              <a:t>last three deliveries were late — by two, four</a:t>
            </a:r>
            <a:endParaRPr lang="en-US" sz="1200" dirty="0"/>
          </a:p>
          <a:p>
            <a:pPr indent="0" marL="0">
              <a:lnSpc>
                <a:spcPct val="124000"/>
              </a:lnSpc>
              <a:buNone/>
            </a:pPr>
            <a:r>
              <a:rPr lang="en-US" sz="1200" dirty="0">
                <a:solidFill>
                  <a:srgbClr val="12211B"/>
                </a:solidFill>
                <a:latin typeface="Calibri" pitchFamily="34" charset="0"/>
                <a:ea typeface="Calibri" pitchFamily="34" charset="-122"/>
                <a:cs typeface="Calibri" pitchFamily="34" charset="-120"/>
              </a:rPr>
              <a:t>and six days — and the pattern is worsening.</a:t>
            </a:r>
            <a:endParaRPr lang="en-US" sz="1200" dirty="0"/>
          </a:p>
          <a:p>
            <a:pPr indent="0" marL="0">
              <a:lnSpc>
                <a:spcPct val="124000"/>
              </a:lnSpc>
              <a:buNone/>
            </a:pPr>
            <a:r>
              <a:rPr lang="en-US" sz="1200" dirty="0">
                <a:solidFill>
                  <a:srgbClr val="12211B"/>
                </a:solidFill>
                <a:latin typeface="Calibri" pitchFamily="34" charset="0"/>
                <a:ea typeface="Calibri" pitchFamily="34" charset="-122"/>
                <a:cs typeface="Calibri" pitchFamily="34" charset="-120"/>
              </a:rPr>
              <a:t>I've spoken to the depot and the delay is at</a:t>
            </a:r>
            <a:endParaRPr lang="en-US" sz="1200" dirty="0"/>
          </a:p>
          <a:p>
            <a:pPr indent="0" marL="0">
              <a:lnSpc>
                <a:spcPct val="124000"/>
              </a:lnSpc>
              <a:buNone/>
            </a:pPr>
            <a:r>
              <a:rPr lang="en-US" sz="1200" dirty="0">
                <a:solidFill>
                  <a:srgbClr val="12211B"/>
                </a:solidFill>
                <a:latin typeface="Calibri" pitchFamily="34" charset="0"/>
                <a:ea typeface="Calibri" pitchFamily="34" charset="-122"/>
                <a:cs typeface="Calibri" pitchFamily="34" charset="-120"/>
              </a:rPr>
              <a:t>their end, not ours.</a:t>
            </a:r>
            <a:endParaRPr lang="en-US" sz="1200" dirty="0"/>
          </a:p>
          <a:p>
            <a:pPr indent="0" marL="0">
              <a:lnSpc>
                <a:spcPct val="124000"/>
              </a:lnSpc>
              <a:buNone/>
            </a:pPr>
            <a:r>
              <a:rPr lang="en-US" sz="1200" dirty="0">
                <a:solidFill>
                  <a:srgbClr val="12211B"/>
                </a:solidFill>
                <a:latin typeface="Calibri" pitchFamily="34" charset="0"/>
                <a:ea typeface="Calibri" pitchFamily="34" charset="-122"/>
                <a:cs typeface="Calibri" pitchFamily="34" charset="-120"/>
              </a:rPr>
              <a:t>I'd suggest we move to the Bishoftu supplier for</a:t>
            </a:r>
            <a:endParaRPr lang="en-US" sz="1200" dirty="0"/>
          </a:p>
          <a:p>
            <a:pPr indent="0" marL="0">
              <a:lnSpc>
                <a:spcPct val="124000"/>
              </a:lnSpc>
              <a:buNone/>
            </a:pPr>
            <a:r>
              <a:rPr lang="en-US" sz="1200" dirty="0">
                <a:solidFill>
                  <a:srgbClr val="12211B"/>
                </a:solidFill>
                <a:latin typeface="Calibri" pitchFamily="34" charset="0"/>
                <a:ea typeface="Calibri" pitchFamily="34" charset="-122"/>
                <a:cs typeface="Calibri" pitchFamily="34" charset="-120"/>
              </a:rPr>
              <a:t>the next quarter and review in March. They can</a:t>
            </a:r>
            <a:endParaRPr lang="en-US" sz="1200" dirty="0"/>
          </a:p>
          <a:p>
            <a:pPr indent="0" marL="0">
              <a:lnSpc>
                <a:spcPct val="124000"/>
              </a:lnSpc>
              <a:buNone/>
            </a:pPr>
            <a:r>
              <a:rPr lang="en-US" sz="1200" dirty="0">
                <a:solidFill>
                  <a:srgbClr val="12211B"/>
                </a:solidFill>
                <a:latin typeface="Calibri" pitchFamily="34" charset="0"/>
                <a:ea typeface="Calibri" pitchFamily="34" charset="-122"/>
                <a:cs typeface="Calibri" pitchFamily="34" charset="-120"/>
              </a:rPr>
              <a:t>take the volume — I've checked.</a:t>
            </a:r>
            <a:endParaRPr lang="en-US" sz="1200" dirty="0"/>
          </a:p>
          <a:p>
            <a:pPr indent="0" marL="0">
              <a:lnSpc>
                <a:spcPct val="124000"/>
              </a:lnSpc>
              <a:buNone/>
            </a:pPr>
            <a:r>
              <a:rPr lang="en-US" sz="1200" dirty="0">
                <a:solidFill>
                  <a:srgbClr val="12211B"/>
                </a:solidFill>
                <a:latin typeface="Calibri" pitchFamily="34" charset="0"/>
                <a:ea typeface="Calibri" pitchFamily="34" charset="-122"/>
                <a:cs typeface="Calibri" pitchFamily="34" charset="-120"/>
              </a:rPr>
              <a:t>Happy to be told I'm wrong on this.</a:t>
            </a:r>
            <a:endParaRPr lang="en-US" sz="1200" dirty="0"/>
          </a:p>
          <a:p>
            <a:pPr indent="0" marL="0">
              <a:lnSpc>
                <a:spcPct val="124000"/>
              </a:lnSpc>
              <a:buNone/>
            </a:pPr>
            <a:r>
              <a:rPr lang="en-US" sz="1200" dirty="0">
                <a:solidFill>
                  <a:srgbClr val="12211B"/>
                </a:solidFill>
                <a:latin typeface="Calibri" pitchFamily="34" charset="0"/>
                <a:ea typeface="Calibri" pitchFamily="34" charset="-122"/>
                <a:cs typeface="Calibri" pitchFamily="34" charset="-120"/>
              </a:rPr>
              <a:t>Yonas</a:t>
            </a:r>
            <a:endParaRPr lang="en-US" sz="1200" dirty="0"/>
          </a:p>
        </p:txBody>
      </p:sp>
      <p:sp>
        <p:nvSpPr>
          <p:cNvPr id="14" name="Shape 10"/>
          <p:cNvSpPr/>
          <p:nvPr/>
        </p:nvSpPr>
        <p:spPr>
          <a:xfrm>
            <a:off x="7406640" y="1883664"/>
            <a:ext cx="423641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644384" y="2103120"/>
            <a:ext cx="376092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680960" y="2505456"/>
            <a:ext cx="368777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Find the four moves.</a:t>
            </a:r>
            <a:endParaRPr lang="en-US" sz="1500" dirty="0"/>
          </a:p>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Why “we may have an issue”?</a:t>
            </a:r>
            <a:endParaRPr lang="en-US" sz="1500" dirty="0"/>
          </a:p>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What evidence is given?</a:t>
            </a:r>
            <a:endParaRPr lang="en-US" sz="1500" dirty="0"/>
          </a:p>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What does the last line do?</a:t>
            </a:r>
            <a:endParaRPr lang="en-US" sz="1500" dirty="0"/>
          </a:p>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Is he complaining?</a:t>
            </a:r>
            <a:endParaRPr lang="en-US" sz="1500" dirty="0"/>
          </a:p>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Would you welcome this email?</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questions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42</a:t>
            </a:r>
            <a:endParaRPr lang="en-US" sz="1100" dirty="0"/>
          </a:p>
        </p:txBody>
      </p:sp>
      <p:sp>
        <p:nvSpPr>
          <p:cNvPr id="10" name="Shape 6"/>
          <p:cNvSpPr/>
          <p:nvPr/>
        </p:nvSpPr>
        <p:spPr>
          <a:xfrm>
            <a:off x="548640" y="1700784"/>
            <a:ext cx="11094415" cy="566928"/>
          </a:xfrm>
          <a:prstGeom prst="roundRect">
            <a:avLst>
              <a:gd name="adj" fmla="val 22581"/>
            </a:avLst>
          </a:prstGeom>
          <a:solidFill>
            <a:srgbClr val="E7F3EF"/>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a full sentence.</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Why does he ask for ten minutes rather than just raising it?</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Why “we may have an issue” rather than “there is a problem”?</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evidence does he bring, and why three numbers?</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does “happy to be told I'm wrong” achieve?</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makes this different from a complaint?</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43</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1 — asking for time</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So she is not ambushed and can think before responding.</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A problem raised in a corridor gets a defensive answer almost every time.</a:t>
            </a:r>
            <a:endParaRPr lang="en-US" sz="114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2 — “we may have an issue”</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It frames it as shared rather than as an accusation.</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“You have a problem” invites defence. “We may have an issue” invites collaboration.</a:t>
            </a:r>
            <a:endParaRPr lang="en-US" sz="114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3 — three numbers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Two, four and six days — a worsening trend.</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One late delivery is an incident. Three showing a pattern is a problem worth acting on.</a:t>
            </a:r>
            <a:endParaRPr lang="en-US" sz="114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4 — “happy to be told I'm wrong”</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It lowers the stakes and makes disagreement easy.</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Which makes agreement more likely. It signals confidence, not doubt.</a:t>
            </a:r>
            <a:endParaRPr lang="en-US" sz="114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5 — complaint or contribution?</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A contribution — he brings a proposal.</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Somebody who brings problems with solutions is valuable; somebody who brings only problems is not.</a:t>
            </a:r>
            <a:endParaRPr lang="en-US" sz="114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2 — the same problem, badly raised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Find the five errors.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44</a:t>
            </a:r>
            <a:endParaRPr lang="en-US" sz="1100" dirty="0"/>
          </a:p>
        </p:txBody>
      </p:sp>
      <p:sp>
        <p:nvSpPr>
          <p:cNvPr id="11" name="Shape 7"/>
          <p:cNvSpPr/>
          <p:nvPr/>
        </p:nvSpPr>
        <p:spPr>
          <a:xfrm>
            <a:off x="548640" y="1883664"/>
            <a:ext cx="658368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03504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CAREFULLY</a:t>
            </a:r>
            <a:endParaRPr lang="en-US" sz="1200" dirty="0"/>
          </a:p>
        </p:txBody>
      </p:sp>
      <p:sp>
        <p:nvSpPr>
          <p:cNvPr id="13" name="Text 9"/>
          <p:cNvSpPr txBox="1"/>
          <p:nvPr/>
        </p:nvSpPr>
        <p:spPr>
          <a:xfrm>
            <a:off x="822960" y="2487168"/>
            <a:ext cx="6035040" cy="3218688"/>
          </a:xfrm>
          <a:prstGeom prst="rect">
            <a:avLst/>
          </a:prstGeom>
          <a:noFill/>
          <a:ln/>
        </p:spPr>
        <p:txBody>
          <a:bodyPr wrap="square" lIns="0" tIns="0" rIns="0" bIns="0" rtlCol="0" anchor="ctr"/>
          <a:lstStyle/>
          <a:p>
            <a:pPr indent="0" marL="0">
              <a:lnSpc>
                <a:spcPct val="124000"/>
              </a:lnSpc>
              <a:buNone/>
            </a:pPr>
            <a:r>
              <a:rPr lang="en-US" sz="1300" dirty="0">
                <a:solidFill>
                  <a:srgbClr val="12211B"/>
                </a:solidFill>
                <a:latin typeface="Calibri" pitchFamily="34" charset="0"/>
                <a:ea typeface="Calibri" pitchFamily="34" charset="-122"/>
                <a:cs typeface="Calibri" pitchFamily="34" charset="-120"/>
              </a:rPr>
              <a:t>Chaltu,</a:t>
            </a:r>
            <a:endParaRPr lang="en-US" sz="1300" dirty="0"/>
          </a:p>
          <a:p>
            <a:pPr indent="0" marL="0">
              <a:lnSpc>
                <a:spcPct val="124000"/>
              </a:lnSpc>
              <a:buNone/>
            </a:pPr>
            <a:endParaRPr lang="en-US" sz="1300" dirty="0"/>
          </a:p>
          <a:p>
            <a:pPr indent="0" marL="0">
              <a:lnSpc>
                <a:spcPct val="124000"/>
              </a:lnSpc>
              <a:buNone/>
            </a:pPr>
            <a:r>
              <a:rPr lang="en-US" sz="1300" dirty="0">
                <a:solidFill>
                  <a:srgbClr val="12211B"/>
                </a:solidFill>
                <a:latin typeface="Calibri" pitchFamily="34" charset="0"/>
                <a:ea typeface="Calibri" pitchFamily="34" charset="-122"/>
                <a:cs typeface="Calibri" pitchFamily="34" charset="-120"/>
              </a:rPr>
              <a:t>I have to say I'm getting really frustrated with</a:t>
            </a:r>
            <a:endParaRPr lang="en-US" sz="1300" dirty="0"/>
          </a:p>
          <a:p>
            <a:pPr indent="0" marL="0">
              <a:lnSpc>
                <a:spcPct val="124000"/>
              </a:lnSpc>
              <a:buNone/>
            </a:pPr>
            <a:r>
              <a:rPr lang="en-US" sz="1300" dirty="0">
                <a:solidFill>
                  <a:srgbClr val="12211B"/>
                </a:solidFill>
                <a:latin typeface="Calibri" pitchFamily="34" charset="0"/>
                <a:ea typeface="Calibri" pitchFamily="34" charset="-122"/>
                <a:cs typeface="Calibri" pitchFamily="34" charset="-120"/>
              </a:rPr>
              <a:t>the Adama situation. It's been going on for ages</a:t>
            </a:r>
            <a:endParaRPr lang="en-US" sz="1300" dirty="0"/>
          </a:p>
          <a:p>
            <a:pPr indent="0" marL="0">
              <a:lnSpc>
                <a:spcPct val="124000"/>
              </a:lnSpc>
              <a:buNone/>
            </a:pPr>
            <a:r>
              <a:rPr lang="en-US" sz="1300" dirty="0">
                <a:solidFill>
                  <a:srgbClr val="12211B"/>
                </a:solidFill>
                <a:latin typeface="Calibri" pitchFamily="34" charset="0"/>
                <a:ea typeface="Calibri" pitchFamily="34" charset="-122"/>
                <a:cs typeface="Calibri" pitchFamily="34" charset="-120"/>
              </a:rPr>
              <a:t>and nobody seems to be doing anything about it.</a:t>
            </a:r>
            <a:endParaRPr lang="en-US" sz="1300" dirty="0"/>
          </a:p>
          <a:p>
            <a:pPr indent="0" marL="0">
              <a:lnSpc>
                <a:spcPct val="124000"/>
              </a:lnSpc>
              <a:buNone/>
            </a:pPr>
            <a:endParaRPr lang="en-US" sz="1300" dirty="0"/>
          </a:p>
          <a:p>
            <a:pPr indent="0" marL="0">
              <a:lnSpc>
                <a:spcPct val="124000"/>
              </a:lnSpc>
              <a:buNone/>
            </a:pPr>
            <a:r>
              <a:rPr lang="en-US" sz="1300" dirty="0">
                <a:solidFill>
                  <a:srgbClr val="12211B"/>
                </a:solidFill>
                <a:latin typeface="Calibri" pitchFamily="34" charset="0"/>
                <a:ea typeface="Calibri" pitchFamily="34" charset="-122"/>
                <a:cs typeface="Calibri" pitchFamily="34" charset="-120"/>
              </a:rPr>
              <a:t>The deliveries are always late and it's making my</a:t>
            </a:r>
            <a:endParaRPr lang="en-US" sz="1300" dirty="0"/>
          </a:p>
          <a:p>
            <a:pPr indent="0" marL="0">
              <a:lnSpc>
                <a:spcPct val="124000"/>
              </a:lnSpc>
              <a:buNone/>
            </a:pPr>
            <a:r>
              <a:rPr lang="en-US" sz="1300" dirty="0">
                <a:solidFill>
                  <a:srgbClr val="12211B"/>
                </a:solidFill>
                <a:latin typeface="Calibri" pitchFamily="34" charset="0"/>
                <a:ea typeface="Calibri" pitchFamily="34" charset="-122"/>
                <a:cs typeface="Calibri" pitchFamily="34" charset="-120"/>
              </a:rPr>
              <a:t>job impossible. I don't think it's fair that I'm</a:t>
            </a:r>
            <a:endParaRPr lang="en-US" sz="1300" dirty="0"/>
          </a:p>
          <a:p>
            <a:pPr indent="0" marL="0">
              <a:lnSpc>
                <a:spcPct val="124000"/>
              </a:lnSpc>
              <a:buNone/>
            </a:pPr>
            <a:r>
              <a:rPr lang="en-US" sz="1300" dirty="0">
                <a:solidFill>
                  <a:srgbClr val="12211B"/>
                </a:solidFill>
                <a:latin typeface="Calibri" pitchFamily="34" charset="0"/>
                <a:ea typeface="Calibri" pitchFamily="34" charset="-122"/>
                <a:cs typeface="Calibri" pitchFamily="34" charset="-120"/>
              </a:rPr>
              <a:t>the one dealing with this.</a:t>
            </a:r>
            <a:endParaRPr lang="en-US" sz="1300" dirty="0"/>
          </a:p>
          <a:p>
            <a:pPr indent="0" marL="0">
              <a:lnSpc>
                <a:spcPct val="124000"/>
              </a:lnSpc>
              <a:buNone/>
            </a:pPr>
            <a:endParaRPr lang="en-US" sz="1300" dirty="0"/>
          </a:p>
          <a:p>
            <a:pPr indent="0" marL="0">
              <a:lnSpc>
                <a:spcPct val="124000"/>
              </a:lnSpc>
              <a:buNone/>
            </a:pPr>
            <a:r>
              <a:rPr lang="en-US" sz="1300" dirty="0">
                <a:solidFill>
                  <a:srgbClr val="12211B"/>
                </a:solidFill>
                <a:latin typeface="Calibri" pitchFamily="34" charset="0"/>
                <a:ea typeface="Calibri" pitchFamily="34" charset="-122"/>
                <a:cs typeface="Calibri" pitchFamily="34" charset="-120"/>
              </a:rPr>
              <a:t>Something needs to be done.</a:t>
            </a:r>
            <a:endParaRPr lang="en-US" sz="1300" dirty="0"/>
          </a:p>
          <a:p>
            <a:pPr indent="0" marL="0">
              <a:lnSpc>
                <a:spcPct val="124000"/>
              </a:lnSpc>
              <a:buNone/>
            </a:pPr>
            <a:endParaRPr lang="en-US" sz="1300" dirty="0"/>
          </a:p>
          <a:p>
            <a:pPr indent="0" marL="0">
              <a:lnSpc>
                <a:spcPct val="124000"/>
              </a:lnSpc>
              <a:buNone/>
            </a:pPr>
            <a:r>
              <a:rPr lang="en-US" sz="1300" dirty="0">
                <a:solidFill>
                  <a:srgbClr val="12211B"/>
                </a:solidFill>
                <a:latin typeface="Calibri" pitchFamily="34" charset="0"/>
                <a:ea typeface="Calibri" pitchFamily="34" charset="-122"/>
                <a:cs typeface="Calibri" pitchFamily="34" charset="-120"/>
              </a:rPr>
              <a:t>Yonas</a:t>
            </a:r>
            <a:endParaRPr lang="en-US" sz="1300" dirty="0"/>
          </a:p>
        </p:txBody>
      </p:sp>
      <p:sp>
        <p:nvSpPr>
          <p:cNvPr id="14" name="Shape 10"/>
          <p:cNvSpPr/>
          <p:nvPr/>
        </p:nvSpPr>
        <p:spPr>
          <a:xfrm>
            <a:off x="7406640" y="1883664"/>
            <a:ext cx="423641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644384" y="2103120"/>
            <a:ext cx="376092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680960" y="2505456"/>
            <a:ext cx="368777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Is there any evidence?</a:t>
            </a:r>
            <a:endParaRPr lang="en-US" sz="1500" dirty="0"/>
          </a:p>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Find the word “always”. Is it true?</a:t>
            </a:r>
            <a:endParaRPr lang="en-US" sz="1500" dirty="0"/>
          </a:p>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Who is blamed?</a:t>
            </a:r>
            <a:endParaRPr lang="en-US" sz="1500" dirty="0"/>
          </a:p>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Is there a proposal?</a:t>
            </a:r>
            <a:endParaRPr lang="en-US" sz="1500" dirty="0"/>
          </a:p>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What is “something needs to be done”?</a:t>
            </a:r>
            <a:endParaRPr lang="en-US" sz="1500" dirty="0"/>
          </a:p>
          <a:p>
            <a:pPr marL="228600" indent="-228600">
              <a:lnSpc>
                <a:spcPct val="100000"/>
              </a:lnSpc>
              <a:spcAft>
                <a:spcPts val="900"/>
              </a:spcAft>
              <a:buSzPct val="100000"/>
              <a:buChar char="•"/>
            </a:pPr>
            <a:r>
              <a:rPr lang="en-US" sz="1500" dirty="0">
                <a:solidFill>
                  <a:srgbClr val="3A473F"/>
                </a:solidFill>
                <a:latin typeface="Calibri" pitchFamily="34" charset="0"/>
                <a:ea typeface="Calibri" pitchFamily="34" charset="-122"/>
                <a:cs typeface="Calibri" pitchFamily="34" charset="-120"/>
              </a:rPr>
              <a:t>How would you react to this?</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2 — answers and vocabulary review</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45</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1 — the evidence</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None. “Ages” and “always” are not evidence.</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Module 2's rule: if it is not checkable it can be waved away, however true it is.</a:t>
            </a:r>
            <a:endParaRPr lang="en-US" sz="114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2 — “always”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Almost certainly false, and now arguable.</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One on-time delivery disproves it, and the conversation becomes about frequency instead of the problem.</a:t>
            </a:r>
            <a:endParaRPr lang="en-US" sz="114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3 — who is blamed</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Chaltu, by implication — “nobody seems to be doing anything”.</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An accusation dressed as an observation, which is harder to answer than a direct one.</a:t>
            </a:r>
            <a:endParaRPr lang="en-US" sz="114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4 and 5 — the proposal</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There isn't one. “Something needs to be done” is a demand with no content.</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It asks the reader to do the thinking and take the risk.</a:t>
            </a:r>
            <a:endParaRPr lang="en-US" sz="114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Vocabulary check</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raise · misunderstanding · defensive · acknowledge · constructive</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This email is not constructive: it raises nothing usable and it will produce a defensive reply.</a:t>
            </a:r>
            <a:endParaRPr lang="en-US" sz="114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1 — the camera test</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46</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Three sentences each. Nothing about character.</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“You're careless.”</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“You're not a team player.”</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“You've got a bad attitude about deadlines.”</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“You never listen in meetings.”</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“Your work has been disappointing.”</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2 — fix the apology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47</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Rewrite each as a real apology.</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“I'm sorry you feel that way.”</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“I'm sorry, but nobody told me the date had changed.”</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“Sorry. Sorry. I'm really sorry.”</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“Sorry if I upset anyone.”</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“Mistakes were made.”</a:t>
            </a:r>
            <a:endParaRPr lang="en-US"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300" b="1" dirty="0">
                <a:solidFill>
                  <a:srgbClr val="12211B"/>
                </a:solidFill>
                <a:latin typeface="Calibri" pitchFamily="34" charset="0"/>
                <a:ea typeface="Calibri" pitchFamily="34" charset="-122"/>
                <a:cs typeface="Calibri" pitchFamily="34" charset="-120"/>
              </a:rPr>
              <a:t>Writing 3 — the conversation you have been avoiding</a:t>
            </a:r>
            <a:endParaRPr lang="en-US" sz="33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48</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Plan it fully in writing. You do not have to show anybody.</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7A4FBF"/>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What EXACTLY do you want to say? One sentence.</a:t>
            </a:r>
            <a:endParaRPr lang="en-US" sz="20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7A4FBF"/>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What is the behaviour — could a camera have seen it?</a:t>
            </a:r>
            <a:endParaRPr lang="en-US" sz="20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7A4FBF"/>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What is the effect, on you or on the work?</a:t>
            </a:r>
            <a:endParaRPr lang="en-US" sz="20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7A4FBF"/>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What is your request — what should happen instead?</a:t>
            </a:r>
            <a:endParaRPr lang="en-US" sz="20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7A4FBF"/>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What is the strongest thing they might say back? Your answer?</a:t>
            </a:r>
            <a:endParaRPr lang="en-US" sz="20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7A4FBF"/>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6.  When and where will you have it? Be specific.</a:t>
            </a:r>
            <a:endParaRPr 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how it is marked</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The one sentence — 5 marks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What you want to say, in one sentence.</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If it takes three, the conversation is not yet clear enough in your own mind to have.</a:t>
            </a:r>
            <a:endParaRPr lang="en-US" sz="114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Behaviour — 6 marks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Passes the camera test. Specific and checkable.</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“Careless”, “always” and “attitude” all score zero here.</a:t>
            </a:r>
            <a:endParaRPr lang="en-US" sz="114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Effect — 4 marks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On you or on the work, stated plainly.</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This is why it matters. Without it the request sounds arbitrary.</a:t>
            </a:r>
            <a:endParaRPr lang="en-US" sz="114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Request — 5 marks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Small, concrete, and something they can actually do.</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“Be more careful” fails. “Check with Sara before sending” passes.</a:t>
            </a:r>
            <a:endParaRPr lang="en-US" sz="114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Their strongest reply — 5 marks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A genuinely strong objection, with your answer.</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Anticipating it is Module 2's concession work, applied to a conversation that matters to you.</a:t>
            </a:r>
            <a:endParaRPr lang="en-US" sz="114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Your difficult conversation checklist</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50</a:t>
            </a:r>
            <a:endParaRPr lang="en-US" sz="1100" dirty="0"/>
          </a:p>
        </p:txBody>
      </p:sp>
      <p:sp>
        <p:nvSpPr>
          <p:cNvPr id="10" name="Shape 6"/>
          <p:cNvSpPr/>
          <p:nvPr/>
        </p:nvSpPr>
        <p:spPr>
          <a:xfrm>
            <a:off x="548640" y="1700784"/>
            <a:ext cx="11094415" cy="630936"/>
          </a:xfrm>
          <a:prstGeom prst="roundRect">
            <a:avLst>
              <a:gd name="adj" fmla="val 20290"/>
            </a:avLst>
          </a:prstGeom>
          <a:solidFill>
            <a:srgbClr val="F6F9F7"/>
          </a:solidFill>
          <a:ln w="12700">
            <a:solidFill>
              <a:srgbClr val="E3E9E5"/>
            </a:solidFill>
            <a:prstDash val="solid"/>
          </a:ln>
        </p:spPr>
      </p:sp>
      <p:sp>
        <p:nvSpPr>
          <p:cNvPr id="11" name="Shape 7"/>
          <p:cNvSpPr/>
          <p:nvPr/>
        </p:nvSpPr>
        <p:spPr>
          <a:xfrm>
            <a:off x="786384" y="1815084"/>
            <a:ext cx="402336" cy="402336"/>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82945" y="1911645"/>
            <a:ext cx="209215" cy="209215"/>
          </a:xfrm>
          <a:prstGeom prst="rect">
            <a:avLst/>
          </a:prstGeom>
        </p:spPr>
      </p:pic>
      <p:sp>
        <p:nvSpPr>
          <p:cNvPr id="13" name="Text 8"/>
          <p:cNvSpPr/>
          <p:nvPr/>
        </p:nvSpPr>
        <p:spPr>
          <a:xfrm>
            <a:off x="1463040" y="1773936"/>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Can I say the point in ONE sentence?</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If not, I am not ready to have it.</a:t>
            </a:r>
            <a:endParaRPr lang="en-US" sz="1630" dirty="0"/>
          </a:p>
        </p:txBody>
      </p:sp>
      <p:sp>
        <p:nvSpPr>
          <p:cNvPr id="14" name="Shape 9"/>
          <p:cNvSpPr/>
          <p:nvPr/>
        </p:nvSpPr>
        <p:spPr>
          <a:xfrm>
            <a:off x="548640" y="2423160"/>
            <a:ext cx="11094415" cy="630936"/>
          </a:xfrm>
          <a:prstGeom prst="roundRect">
            <a:avLst>
              <a:gd name="adj" fmla="val 20290"/>
            </a:avLst>
          </a:prstGeom>
          <a:solidFill>
            <a:srgbClr val="F6F9F7"/>
          </a:solidFill>
          <a:ln w="12700">
            <a:solidFill>
              <a:srgbClr val="E3E9E5"/>
            </a:solidFill>
            <a:prstDash val="solid"/>
          </a:ln>
        </p:spPr>
      </p:sp>
      <p:sp>
        <p:nvSpPr>
          <p:cNvPr id="15" name="Shape 10"/>
          <p:cNvSpPr/>
          <p:nvPr/>
        </p:nvSpPr>
        <p:spPr>
          <a:xfrm>
            <a:off x="786384" y="2537460"/>
            <a:ext cx="402336" cy="402336"/>
          </a:xfrm>
          <a:prstGeom prst="ellipse">
            <a:avLst/>
          </a:prstGeom>
          <a:solidFill>
            <a:srgbClr val="7A4FBF"/>
          </a:solidFill>
          <a:ln/>
        </p:spPr>
      </p:sp>
      <p:pic>
        <p:nvPicPr>
          <p:cNvPr id="16" name="Image 2" descr="preencoded.png">    </p:cNvPr>
          <p:cNvPicPr>
            <a:picLocks noChangeAspect="1"/>
          </p:cNvPicPr>
          <p:nvPr/>
        </p:nvPicPr>
        <p:blipFill>
          <a:blip r:embed="rId3"/>
          <a:stretch>
            <a:fillRect/>
          </a:stretch>
        </p:blipFill>
        <p:spPr>
          <a:xfrm>
            <a:off x="882945" y="2634021"/>
            <a:ext cx="209215" cy="209215"/>
          </a:xfrm>
          <a:prstGeom prst="rect">
            <a:avLst/>
          </a:prstGeom>
        </p:spPr>
      </p:pic>
      <p:sp>
        <p:nvSpPr>
          <p:cNvPr id="17" name="Text 11"/>
          <p:cNvSpPr/>
          <p:nvPr/>
        </p:nvSpPr>
        <p:spPr>
          <a:xfrm>
            <a:off x="1463040" y="2496312"/>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Could a camera have seen the behaviour?</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No character. No “always”. No “never”.</a:t>
            </a:r>
            <a:endParaRPr lang="en-US" sz="1630" dirty="0"/>
          </a:p>
        </p:txBody>
      </p:sp>
      <p:sp>
        <p:nvSpPr>
          <p:cNvPr id="18" name="Shape 12"/>
          <p:cNvSpPr/>
          <p:nvPr/>
        </p:nvSpPr>
        <p:spPr>
          <a:xfrm>
            <a:off x="548640" y="3145536"/>
            <a:ext cx="11094415" cy="630936"/>
          </a:xfrm>
          <a:prstGeom prst="roundRect">
            <a:avLst>
              <a:gd name="adj" fmla="val 20290"/>
            </a:avLst>
          </a:prstGeom>
          <a:solidFill>
            <a:srgbClr val="F6F9F7"/>
          </a:solidFill>
          <a:ln w="12700">
            <a:solidFill>
              <a:srgbClr val="E3E9E5"/>
            </a:solidFill>
            <a:prstDash val="solid"/>
          </a:ln>
        </p:spPr>
      </p:sp>
      <p:sp>
        <p:nvSpPr>
          <p:cNvPr id="19" name="Shape 13"/>
          <p:cNvSpPr/>
          <p:nvPr/>
        </p:nvSpPr>
        <p:spPr>
          <a:xfrm>
            <a:off x="786384" y="3259836"/>
            <a:ext cx="402336" cy="402336"/>
          </a:xfrm>
          <a:prstGeom prst="ellipse">
            <a:avLst/>
          </a:prstGeom>
          <a:solidFill>
            <a:srgbClr val="7A4FBF"/>
          </a:solidFill>
          <a:ln/>
        </p:spPr>
      </p:sp>
      <p:pic>
        <p:nvPicPr>
          <p:cNvPr id="20" name="Image 3" descr="preencoded.png">    </p:cNvPr>
          <p:cNvPicPr>
            <a:picLocks noChangeAspect="1"/>
          </p:cNvPicPr>
          <p:nvPr/>
        </p:nvPicPr>
        <p:blipFill>
          <a:blip r:embed="rId4"/>
          <a:stretch>
            <a:fillRect/>
          </a:stretch>
        </p:blipFill>
        <p:spPr>
          <a:xfrm>
            <a:off x="882945" y="3356397"/>
            <a:ext cx="209215" cy="209215"/>
          </a:xfrm>
          <a:prstGeom prst="rect">
            <a:avLst/>
          </a:prstGeom>
        </p:spPr>
      </p:pic>
      <p:sp>
        <p:nvSpPr>
          <p:cNvPr id="21" name="Text 14"/>
          <p:cNvSpPr/>
          <p:nvPr/>
        </p:nvSpPr>
        <p:spPr>
          <a:xfrm>
            <a:off x="1463040" y="3218688"/>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Have I named the effect, and a request?</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Behaviour and effect without a request is a complaint.</a:t>
            </a:r>
            <a:endParaRPr lang="en-US" sz="1630" dirty="0"/>
          </a:p>
        </p:txBody>
      </p:sp>
      <p:sp>
        <p:nvSpPr>
          <p:cNvPr id="22" name="Shape 15"/>
          <p:cNvSpPr/>
          <p:nvPr/>
        </p:nvSpPr>
        <p:spPr>
          <a:xfrm>
            <a:off x="548640" y="3867912"/>
            <a:ext cx="11094415" cy="630936"/>
          </a:xfrm>
          <a:prstGeom prst="roundRect">
            <a:avLst>
              <a:gd name="adj" fmla="val 20290"/>
            </a:avLst>
          </a:prstGeom>
          <a:solidFill>
            <a:srgbClr val="F6F9F7"/>
          </a:solidFill>
          <a:ln w="12700">
            <a:solidFill>
              <a:srgbClr val="E3E9E5"/>
            </a:solidFill>
            <a:prstDash val="solid"/>
          </a:ln>
        </p:spPr>
      </p:sp>
      <p:sp>
        <p:nvSpPr>
          <p:cNvPr id="23" name="Shape 16"/>
          <p:cNvSpPr/>
          <p:nvPr/>
        </p:nvSpPr>
        <p:spPr>
          <a:xfrm>
            <a:off x="786384" y="3982212"/>
            <a:ext cx="402336" cy="402336"/>
          </a:xfrm>
          <a:prstGeom prst="ellipse">
            <a:avLst/>
          </a:prstGeom>
          <a:solidFill>
            <a:srgbClr val="7A4FBF"/>
          </a:solidFill>
          <a:ln/>
        </p:spPr>
      </p:sp>
      <p:pic>
        <p:nvPicPr>
          <p:cNvPr id="24" name="Image 4" descr="preencoded.png">    </p:cNvPr>
          <p:cNvPicPr>
            <a:picLocks noChangeAspect="1"/>
          </p:cNvPicPr>
          <p:nvPr/>
        </p:nvPicPr>
        <p:blipFill>
          <a:blip r:embed="rId5"/>
          <a:stretch>
            <a:fillRect/>
          </a:stretch>
        </p:blipFill>
        <p:spPr>
          <a:xfrm>
            <a:off x="882945" y="4078773"/>
            <a:ext cx="209215" cy="209215"/>
          </a:xfrm>
          <a:prstGeom prst="rect">
            <a:avLst/>
          </a:prstGeom>
        </p:spPr>
      </p:pic>
      <p:sp>
        <p:nvSpPr>
          <p:cNvPr id="25" name="Text 17"/>
          <p:cNvSpPr/>
          <p:nvPr/>
        </p:nvSpPr>
        <p:spPr>
          <a:xfrm>
            <a:off x="1463040" y="3941064"/>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Have I given warning before the content?</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One sentence. It changes how the rest lands.</a:t>
            </a:r>
            <a:endParaRPr lang="en-US" sz="1630" dirty="0"/>
          </a:p>
        </p:txBody>
      </p:sp>
      <p:sp>
        <p:nvSpPr>
          <p:cNvPr id="26" name="Shape 18"/>
          <p:cNvSpPr/>
          <p:nvPr/>
        </p:nvSpPr>
        <p:spPr>
          <a:xfrm>
            <a:off x="548640" y="4590288"/>
            <a:ext cx="11094415" cy="630936"/>
          </a:xfrm>
          <a:prstGeom prst="roundRect">
            <a:avLst>
              <a:gd name="adj" fmla="val 20290"/>
            </a:avLst>
          </a:prstGeom>
          <a:solidFill>
            <a:srgbClr val="F6F9F7"/>
          </a:solidFill>
          <a:ln w="12700">
            <a:solidFill>
              <a:srgbClr val="E3E9E5"/>
            </a:solidFill>
            <a:prstDash val="solid"/>
          </a:ln>
        </p:spPr>
      </p:sp>
      <p:sp>
        <p:nvSpPr>
          <p:cNvPr id="27" name="Shape 19"/>
          <p:cNvSpPr/>
          <p:nvPr/>
        </p:nvSpPr>
        <p:spPr>
          <a:xfrm>
            <a:off x="786384" y="4704588"/>
            <a:ext cx="402336" cy="402336"/>
          </a:xfrm>
          <a:prstGeom prst="ellipse">
            <a:avLst/>
          </a:prstGeom>
          <a:solidFill>
            <a:srgbClr val="7A4FBF"/>
          </a:solidFill>
          <a:ln/>
        </p:spPr>
      </p:sp>
      <p:pic>
        <p:nvPicPr>
          <p:cNvPr id="28" name="Image 5" descr="preencoded.png">    </p:cNvPr>
          <p:cNvPicPr>
            <a:picLocks noChangeAspect="1"/>
          </p:cNvPicPr>
          <p:nvPr/>
        </p:nvPicPr>
        <p:blipFill>
          <a:blip r:embed="rId6"/>
          <a:stretch>
            <a:fillRect/>
          </a:stretch>
        </p:blipFill>
        <p:spPr>
          <a:xfrm>
            <a:off x="882945" y="4801149"/>
            <a:ext cx="209215" cy="209215"/>
          </a:xfrm>
          <a:prstGeom prst="rect">
            <a:avLst/>
          </a:prstGeom>
        </p:spPr>
      </p:pic>
      <p:sp>
        <p:nvSpPr>
          <p:cNvPr id="29" name="Text 20"/>
          <p:cNvSpPr/>
          <p:nvPr/>
        </p:nvSpPr>
        <p:spPr>
          <a:xfrm>
            <a:off x="1463040" y="4663440"/>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If I am apologising — three parts, and no “but”?</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Act · effect on them · what I'll change.</a:t>
            </a:r>
            <a:endParaRPr lang="en-US" sz="1630" dirty="0"/>
          </a:p>
        </p:txBody>
      </p:sp>
      <p:sp>
        <p:nvSpPr>
          <p:cNvPr id="30" name="Shape 21"/>
          <p:cNvSpPr/>
          <p:nvPr/>
        </p:nvSpPr>
        <p:spPr>
          <a:xfrm>
            <a:off x="548640" y="5312664"/>
            <a:ext cx="11094415" cy="630936"/>
          </a:xfrm>
          <a:prstGeom prst="roundRect">
            <a:avLst>
              <a:gd name="adj" fmla="val 20290"/>
            </a:avLst>
          </a:prstGeom>
          <a:solidFill>
            <a:srgbClr val="F6F9F7"/>
          </a:solidFill>
          <a:ln w="12700">
            <a:solidFill>
              <a:srgbClr val="E3E9E5"/>
            </a:solidFill>
            <a:prstDash val="solid"/>
          </a:ln>
        </p:spPr>
      </p:sp>
      <p:sp>
        <p:nvSpPr>
          <p:cNvPr id="31" name="Shape 22"/>
          <p:cNvSpPr/>
          <p:nvPr/>
        </p:nvSpPr>
        <p:spPr>
          <a:xfrm>
            <a:off x="786384" y="5426964"/>
            <a:ext cx="402336" cy="402336"/>
          </a:xfrm>
          <a:prstGeom prst="ellipse">
            <a:avLst/>
          </a:prstGeom>
          <a:solidFill>
            <a:srgbClr val="7A4FBF"/>
          </a:solidFill>
          <a:ln/>
        </p:spPr>
      </p:sp>
      <p:pic>
        <p:nvPicPr>
          <p:cNvPr id="32" name="Image 6" descr="preencoded.png">    </p:cNvPr>
          <p:cNvPicPr>
            <a:picLocks noChangeAspect="1"/>
          </p:cNvPicPr>
          <p:nvPr/>
        </p:nvPicPr>
        <p:blipFill>
          <a:blip r:embed="rId7"/>
          <a:stretch>
            <a:fillRect/>
          </a:stretch>
        </p:blipFill>
        <p:spPr>
          <a:xfrm>
            <a:off x="882945" y="5523525"/>
            <a:ext cx="209215" cy="209215"/>
          </a:xfrm>
          <a:prstGeom prst="rect">
            <a:avLst/>
          </a:prstGeom>
        </p:spPr>
      </p:pic>
      <p:sp>
        <p:nvSpPr>
          <p:cNvPr id="33" name="Text 23"/>
          <p:cNvSpPr/>
          <p:nvPr/>
        </p:nvSpPr>
        <p:spPr>
          <a:xfrm>
            <a:off x="1463040" y="5385816"/>
            <a:ext cx="9905695" cy="484632"/>
          </a:xfrm>
          <a:prstGeom prst="rect">
            <a:avLst/>
          </a:prstGeom>
          <a:noFill/>
          <a:ln/>
        </p:spPr>
        <p:txBody>
          <a:bodyPr wrap="square" lIns="0" tIns="0" rIns="0" bIns="0" rtlCol="0" anchor="ctr"/>
          <a:lstStyle/>
          <a:p>
            <a:pPr indent="0" marL="0">
              <a:lnSpc>
                <a:spcPct val="102000"/>
              </a:lnSpc>
              <a:buNone/>
            </a:pPr>
            <a:r>
              <a:rPr lang="en-US" sz="1630" b="1" dirty="0">
                <a:solidFill>
                  <a:srgbClr val="12211B"/>
                </a:solidFill>
                <a:latin typeface="Calibri" pitchFamily="34" charset="0"/>
                <a:ea typeface="Calibri" pitchFamily="34" charset="-122"/>
                <a:cs typeface="Calibri" pitchFamily="34" charset="-120"/>
              </a:rPr>
              <a:t>Am I about to say “calm down”?</a:t>
            </a:r>
            <a:endParaRPr lang="en-US" sz="1630" dirty="0"/>
          </a:p>
          <a:p>
            <a:pPr indent="0" marL="0">
              <a:lnSpc>
                <a:spcPct val="102000"/>
              </a:lnSpc>
              <a:spcBef>
                <a:spcPts val="257"/>
              </a:spcBef>
              <a:buNone/>
            </a:pPr>
            <a:r>
              <a:rPr lang="en-US" sz="1200" dirty="0">
                <a:solidFill>
                  <a:srgbClr val="3A473F"/>
                </a:solidFill>
                <a:latin typeface="Calibri" pitchFamily="34" charset="0"/>
                <a:ea typeface="Calibri" pitchFamily="34" charset="-122"/>
                <a:cs typeface="Calibri" pitchFamily="34" charset="-120"/>
              </a:rPr>
              <a:t>Don't. Say “I can see this matters to you.”</a:t>
            </a:r>
            <a:endParaRPr lang="en-US" sz="163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A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A — multiple choice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51</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b or c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1. When giving bad news, the fact should come:</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after a full explanation     b) second, after a short warning     c) last</a:t>
            </a:r>
            <a:endParaRPr lang="en-US" sz="148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2. “You're careless” fails because:</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it's rude     b) a camera couldn't have seen it     c) it's too short</a:t>
            </a:r>
            <a:endParaRPr lang="en-US" sz="148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3. When criticised, you should first:</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explain     b) say nothing for two seconds     c) apologise</a:t>
            </a:r>
            <a:endParaRPr lang="en-US" sz="148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4. A real apology contains:</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a “but”     b) act, effect, change     c) repetition</a:t>
            </a:r>
            <a:endParaRPr lang="en-US" sz="148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5. When somebody is angry, you should:</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match their volume     b) say “calm down”     c) speak more quietly</a:t>
            </a:r>
            <a:endParaRPr lang="en-US" sz="148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B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B — camera test</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52</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PASS or FAIL for each.</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0E7C5A"/>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“You've got a bad attitude.”</a:t>
            </a:r>
            <a:endParaRPr lang="en-US" sz="18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0E7C5A"/>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“The last two reports had wrong figures.”</a:t>
            </a:r>
            <a:endParaRPr lang="en-US" sz="18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0E7C5A"/>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“You don't care about quality.”</a:t>
            </a:r>
            <a:endParaRPr lang="en-US" sz="18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0E7C5A"/>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“You spoke over Mimi twice in Tuesday's meeting.”</a:t>
            </a:r>
            <a:endParaRPr lang="en-US" sz="18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0E7C5A"/>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“You're always late.”</a:t>
            </a:r>
            <a:endParaRPr lang="en-US" sz="18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0E7C5A"/>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“The April report came in two days after the deadline.”</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C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C — matching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Steps, structures and moves.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53</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pairs: 1–c, 2–a, and so on.</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Part 1 — match the CONVERSATION to its FIRST move</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1. bad news     2. criticism     3. receiving criticism     4. raising it upwards</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a) ask permission to give feedback     b) two seconds of silence</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c) a short warning     d) ask for ten minutes</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2 — match the APOLOGY PART to the EXAMPLE</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what you did     2. the effect     3. the change          a) “It cost you most of a day.”     b) “I sent the wrong version.”     c) “I'll check the file name first.”</a:t>
            </a:r>
            <a:endParaRPr lang="en-US" sz="15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3 — match the SITUATION to the MOVE</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they're shouting     2. criticism is vague     3. half of it is unfair          a) “Can you give me an example?”     b) speak more quietly     c) acknowledge the true part</a:t>
            </a:r>
            <a:endParaRPr lang="en-US" sz="15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D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D — “you” to “I”</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54</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Rewrite each with “I” as the subject.</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“You didn't tell me about the change.”</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“You made two errors in the figures.”</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“You're always changing the deadline.”</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“You interrupted me twice.”</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“You haven't answered my email.”</a:t>
            </a:r>
            <a:endParaRPr 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E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E — what would you say?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55</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exactly what you would say.</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You must tell a colleague their project has been cancelled.</a:t>
            </a:r>
            <a:endParaRPr lang="en-US" sz="17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A team member has missed three deadlines without warning you.</a:t>
            </a:r>
            <a:endParaRPr lang="en-US" sz="17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Your manager criticises you unfairly in front of others.</a:t>
            </a:r>
            <a:endParaRPr lang="en-US" sz="17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You sent the wrong file and it cost somebody a day.</a:t>
            </a:r>
            <a:endParaRPr lang="en-US" sz="17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5.  A supplier has been late three times and it is getting worse.</a:t>
            </a:r>
            <a:endParaRPr lang="en-US" sz="17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F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F — true or false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56</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 or F. For every F, write the correction.</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0E7C5A"/>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You should explain the background before giving bad news.</a:t>
            </a:r>
            <a:endParaRPr lang="en-US" sz="18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0E7C5A"/>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“You're careless” is acceptable if it is true.</a:t>
            </a:r>
            <a:endParaRPr lang="en-US" sz="18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0E7C5A"/>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You should pause for two seconds before answering criticism.</a:t>
            </a:r>
            <a:endParaRPr lang="en-US" sz="18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0E7C5A"/>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“I'm sorry, but…” is a valid apology.</a:t>
            </a:r>
            <a:endParaRPr lang="en-US" sz="18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0E7C5A"/>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Saying “calm down” helps in a heated conversation.</a:t>
            </a:r>
            <a:endParaRPr lang="en-US" sz="18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0E7C5A"/>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A difficult conversation gets easier if you leave it.</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G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G — short answer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57</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complete sentence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What conversation are you avoiding, and for how long?</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What is the behaviour — in camera-test terms?</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What is your request?</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What is the strongest thing they might say back?</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When exactly will you have it?</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H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H — speaking tasks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In pairs. Partner times the pause.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58</a:t>
            </a:r>
            <a:endParaRPr lang="en-US" sz="1100" dirty="0"/>
          </a:p>
        </p:txBody>
      </p:sp>
      <p:sp>
        <p:nvSpPr>
          <p:cNvPr id="11" name="Shape 7"/>
          <p:cNvSpPr/>
          <p:nvPr/>
        </p:nvSpPr>
        <p:spPr>
          <a:xfrm>
            <a:off x="548640" y="1883664"/>
            <a:ext cx="11094415" cy="566928"/>
          </a:xfrm>
          <a:prstGeom prst="roundRect">
            <a:avLst>
              <a:gd name="adj" fmla="val 22581"/>
            </a:avLst>
          </a:prstGeom>
          <a:solidFill>
            <a:srgbClr val="FDEDE8"/>
          </a:solidFill>
          <a:ln w="12700">
            <a:solidFill>
              <a:srgbClr val="E4572E"/>
            </a:solidFill>
            <a:prstDash val="solid"/>
          </a:ln>
        </p:spPr>
      </p:sp>
      <p:sp>
        <p:nvSpPr>
          <p:cNvPr id="12" name="Shape 8"/>
          <p:cNvSpPr/>
          <p:nvPr/>
        </p:nvSpPr>
        <p:spPr>
          <a:xfrm>
            <a:off x="749808" y="1993392"/>
            <a:ext cx="347472" cy="347472"/>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Speak. Your partner checks each structure.</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E4572E"/>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1.  Bad news in four sentences. Partner checks all four.</a:t>
            </a:r>
            <a:endParaRPr lang="en-US" sz="19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E4572E"/>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2.  Criticism in three parts. Partner applies the camera test.</a:t>
            </a:r>
            <a:endParaRPr lang="en-US" sz="19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E4572E"/>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3.  Receive criticism. Partner times your pause.</a:t>
            </a:r>
            <a:endParaRPr lang="en-US" sz="19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E4572E"/>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4.  Apologise in three parts. Partner listens for “but”.</a:t>
            </a:r>
            <a:endParaRPr lang="en-US" sz="1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I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I — the full conversation</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59</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In pairs. Use the conversation you have been avoiding.</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1. Brief your partner on the other person.</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How they usually react.</a:t>
            </a:r>
            <a:endParaRPr lang="en-US" sz="15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2. Have the conversation. Five minutes.</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Your partner plays them, realistically.</a:t>
            </a:r>
            <a:endParaRPr lang="en-US" sz="15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3. Your partner responds as that person would.</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Including the difficult response.</a:t>
            </a:r>
            <a:endParaRPr lang="en-US" sz="15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4. Stop. What went differently from what you expected?</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Be specific.</a:t>
            </a:r>
            <a:endParaRPr lang="en-US" sz="15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5. Do it again, improved.</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Same conversation, second attempt.</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J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J — think and explain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last discussion of the course.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60</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English. These test understanding, not memory.</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Why is a specific criticism kinder than a vague one?</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What can the person do with each?</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Why is the two-second pause so hard?</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What is the instinct fighting it?</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When should you NOT have a difficult conversation?</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Give a real example.</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Is it ever right to leave something unsaid?</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Argue both sides honestly.</a:t>
            </a:r>
            <a:endParaRPr lang="en-US" sz="17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8 quiz — Part 1 · Bad news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61</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3EF"/>
          </a:solidFill>
          <a:ln w="12700">
            <a:solidFill>
              <a:srgbClr val="0A5D43"/>
            </a:solidFill>
            <a:prstDash val="solid"/>
          </a:ln>
        </p:spPr>
      </p:sp>
      <p:sp>
        <p:nvSpPr>
          <p:cNvPr id="12" name="Shape 8"/>
          <p:cNvSpPr/>
          <p:nvPr/>
        </p:nvSpPr>
        <p:spPr>
          <a:xfrm>
            <a:off x="749808" y="1993392"/>
            <a:ext cx="347472" cy="347472"/>
          </a:xfrm>
          <a:prstGeom prst="ellipse">
            <a:avLst/>
          </a:prstGeom>
          <a:solidFill>
            <a:srgbClr val="0A5D43"/>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your answers on paper. Books and slides closed. This is the last quiz of the course.</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A5D43"/>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Name the four steps of giving bad news.</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Four answers.</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A5D43"/>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Where does the fact go, and why?</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One sentence.</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A5D43"/>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Why give a warning first?</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One sentence.</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A5D43"/>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What does the fourth step achieve?</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One sentence.</a:t>
            </a:r>
            <a:endParaRPr lang="en-US" sz="1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8 quiz — Part 2 · Giving criticism</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62</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Name the three parts of a criticism.</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Three answers.</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What is the camera test?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7. Why is “you always” a problem?</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8. What happens if you leave out the request?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8 quiz — Part 3 · Receiving criticism</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63</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9. What do you do first?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answer.</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10. The criticism is vague. What do you ask?</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question.</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11. Half of it is unfair. What do you do?</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12. How do you end it constructively?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question.</a:t>
            </a:r>
            <a:endParaRPr lang="en-US"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8 quiz — Part 4 · Apology and heat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64</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13. Name the three parts of a real apology.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Three answers.</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14. Which word must never appear in one?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word.</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15. What is wrong with “I'm sorry you feel that way”?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16. What should you never say to an angry person?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Two words, and what to say instead.</a:t>
            </a:r>
            <a:endParaRPr lang="en-US"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8 quiz — Part 5 · Raising it upwards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65</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17. Name the four moves.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Four answers.</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18. Why “we may have an issue” rather than “you have a problem”?</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19. Why bring a proposed solution?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20. SPEAKING: four conversations — bad news, criticism, receiving, apology.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Assessed live.</a:t>
            </a:r>
            <a:endParaRPr 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 to 4</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66</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 — the four steps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Warning · the fact · the consequence · the next step.</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Four sentences, about forty seconds. Structured conversations are short.</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 — where the fact goes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Second, straight after the warning.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Explaining the background first is cruel — the listener cannot process any of it until they know the news.</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Q3 — why warn first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Two seconds lets them prepare, which changes how they hear the fact.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It costs nothing and it measurably improves how the news lands.</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Q4 — the fourth step</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It turns a disaster into a problem.</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Arriving with even a partial plan changes the entire conversation.</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5 to 8</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67</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Q5 — the three parts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Behaviour · effect · request.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Fifteen seconds, and the person leaves knowing exactly what to do differently.</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Q6 — the camera test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Could a camera have recorded it?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If not, it is character rather than behaviour, and nobody can act on it.</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Q7 — “you always”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It is almost never true, and one counter-example destroys it.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conversation then becomes an argument about frequency instead of about the problem.</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Q8 — no request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It becomes a complaint.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person knows they failed and does not know what would count as succeeding.</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9 to 12</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68</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Q9 — what to do first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Say nothing for two seconds.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instinct is to defend, and the defence is what closes the conversation.</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Q10 — vague criticism</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“Can you give me an example?”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Vague criticism cannot be acted on. Asking for the specific is entirely reasonable.</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Q11 — half unfair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Acknowledge the true part only.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Partial acknowledgement is legitimate and it is more accurate than accepting or rejecting all of it.</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Q12 — ending it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“What would you like me to do differently?”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It ends constructively and shows you took it seriously rather than merely absorbing it.</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13 to 16</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69</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Q13 — the three parts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What you did · its effect on them · what you'll change.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Three sentences. Part three is what makes it credible rather than performed.</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Q14 — the forbidden word</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“But”.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It withdraws the apology in the same sentence, and the listener hears the justification.</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Q15 — “I'm sorry you feel that way”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It apologises for their reaction, not for what you did.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It accepts nothing, and most people hear that immediately.</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Q16 — never say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“Calm down.” Say “I can see this matters to you.”</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first is heard as a judgement and reliably escalates; the second does the same job safely.</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17 to 20</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70</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17</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Q17 — the four moves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Ask for time · state it as shared · bring evidence · bring a proposal.</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In that order. Each one prevents a specific defensive reaction.</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18</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Q18 — “we” not “you”</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It makes it a problem to solve rather than an accusation.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“You have a problem” invites defence; “we may have an issue” invites collaboration.</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19</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Q19 — why a proposal</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It makes you useful rather than merely complaining.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Somebody who brings problems with solutions is valued; somebody who brings only problems is not.</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20</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Q20 — the four conversations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Assessed on structure, the camera test and a timed two-second pause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Six checks from slide 50. The pause is timed because learners consistently over-estimate it.</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1 — every day this week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Ten minutes a day. And one real conversation.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71</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F2A93B"/>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MON</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Rewrite five character criticisms as behaviour</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Apply the camera test to each.</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F2A93B"/>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TUE</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Practise the two-second pause five times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Have somebody criticise you. Time it.</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F2A93B"/>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WED</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Count your reflex apologies for one day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How many “sorry”s were not for anything?</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F2A93B"/>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THU</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Write your four-move upward conversation</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Time · shared problem · evidence · proposal.</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F2A93B"/>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FRI</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Have ONE of the conversations you have been avoiding</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The small one. Not the biggest.</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2 — to hand 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last work of the course.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72</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F2A93B"/>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Your written plan for the avoided conversation</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One sentence · behaviour · effect · request · their reply · when.</a:t>
            </a:r>
            <a:endParaRPr lang="en-US" sz="20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F2A93B"/>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Five character criticisms rewritten as behaviour</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All five passing the camera test.</a:t>
            </a:r>
            <a:endParaRPr lang="en-US" sz="20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F2A93B"/>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Record your three-minute speaking challenge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Bad news · criticism · receiving · apology · 60 seconds on your work.</a:t>
            </a:r>
            <a:endParaRPr lang="en-US" sz="2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your homework will be marked</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last rubric of the course.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73</a:t>
            </a:r>
            <a:endParaRPr lang="en-US" sz="1100" dirty="0"/>
          </a:p>
        </p:txBody>
      </p:sp>
      <p:sp>
        <p:nvSpPr>
          <p:cNvPr id="11" name="Shape 7"/>
          <p:cNvSpPr/>
          <p:nvPr/>
        </p:nvSpPr>
        <p:spPr>
          <a:xfrm>
            <a:off x="548640" y="1883664"/>
            <a:ext cx="5446624" cy="1929384"/>
          </a:xfrm>
          <a:prstGeom prst="roundRect">
            <a:avLst>
              <a:gd name="adj" fmla="val 6635"/>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The plan — 12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One sentence (3) · behaviour passes the camera test (4) · effect and request (3) · their strongest reply anticipated (2).</a:t>
            </a:r>
            <a:endParaRPr lang="en-US" sz="1500" dirty="0"/>
          </a:p>
        </p:txBody>
      </p:sp>
      <p:sp>
        <p:nvSpPr>
          <p:cNvPr id="15" name="Shape 10"/>
          <p:cNvSpPr/>
          <p:nvPr/>
        </p:nvSpPr>
        <p:spPr>
          <a:xfrm>
            <a:off x="6196432" y="1883664"/>
            <a:ext cx="5446624" cy="1929384"/>
          </a:xfrm>
          <a:prstGeom prst="roundRect">
            <a:avLst>
              <a:gd name="adj" fmla="val 6635"/>
            </a:avLst>
          </a:prstGeom>
          <a:solidFill>
            <a:srgbClr val="FDF3E7"/>
          </a:solidFill>
          <a:ln w="12700">
            <a:solidFill>
              <a:srgbClr val="EFDCB2"/>
            </a:solidFill>
            <a:prstDash val="solid"/>
          </a:ln>
        </p:spPr>
      </p:sp>
      <p:sp>
        <p:nvSpPr>
          <p:cNvPr id="16" name="Shape 11"/>
          <p:cNvSpPr/>
          <p:nvPr/>
        </p:nvSpPr>
        <p:spPr>
          <a:xfrm>
            <a:off x="6415888"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Five rewrites — 5 marks</a:t>
            </a:r>
            <a:endParaRPr lang="en-US" sz="1750" dirty="0"/>
          </a:p>
          <a:p>
            <a:pPr indent="0" marL="0">
              <a:lnSpc>
                <a:spcPct val="102000"/>
              </a:lnSpc>
              <a:spcBef>
                <a:spcPts val="350"/>
              </a:spcBef>
              <a:buNone/>
            </a:pPr>
            <a:r>
              <a:rPr lang="en-US" sz="1400" dirty="0">
                <a:solidFill>
                  <a:srgbClr val="3A473F"/>
                </a:solidFill>
                <a:latin typeface="Calibri" pitchFamily="34" charset="0"/>
                <a:ea typeface="Calibri" pitchFamily="34" charset="-122"/>
                <a:cs typeface="Calibri" pitchFamily="34" charset="-120"/>
              </a:rPr>
              <a:t>All five specific, checkable and free of “always” and “never”.</a:t>
            </a:r>
            <a:endParaRPr lang="en-US" sz="1750" dirty="0"/>
          </a:p>
        </p:txBody>
      </p:sp>
      <p:sp>
        <p:nvSpPr>
          <p:cNvPr id="19" name="Shape 13"/>
          <p:cNvSpPr/>
          <p:nvPr/>
        </p:nvSpPr>
        <p:spPr>
          <a:xfrm>
            <a:off x="548640" y="4014216"/>
            <a:ext cx="5446624" cy="1929384"/>
          </a:xfrm>
          <a:prstGeom prst="roundRect">
            <a:avLst>
              <a:gd name="adj" fmla="val 6635"/>
            </a:avLst>
          </a:prstGeom>
          <a:solidFill>
            <a:srgbClr val="FDF3E7"/>
          </a:solidFill>
          <a:ln w="12700">
            <a:solidFill>
              <a:srgbClr val="EFDCB2"/>
            </a:solidFill>
            <a:prstDash val="solid"/>
          </a:ln>
        </p:spPr>
      </p:sp>
      <p:sp>
        <p:nvSpPr>
          <p:cNvPr id="20" name="Shape 14"/>
          <p:cNvSpPr/>
          <p:nvPr/>
        </p:nvSpPr>
        <p:spPr>
          <a:xfrm>
            <a:off x="768096" y="4233672"/>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Recording — 8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Bad news in four sentences (2) · criticism in three parts (2) · a timed two-second pause (2) · apology with no “but” (2).</a:t>
            </a:r>
            <a:endParaRPr lang="en-US" sz="1500" dirty="0"/>
          </a:p>
        </p:txBody>
      </p:sp>
      <p:sp>
        <p:nvSpPr>
          <p:cNvPr id="23" name="Shape 16"/>
          <p:cNvSpPr/>
          <p:nvPr/>
        </p:nvSpPr>
        <p:spPr>
          <a:xfrm>
            <a:off x="6196432" y="4014216"/>
            <a:ext cx="5446624" cy="1929384"/>
          </a:xfrm>
          <a:prstGeom prst="roundRect">
            <a:avLst>
              <a:gd name="adj" fmla="val 6635"/>
            </a:avLst>
          </a:prstGeom>
          <a:solidFill>
            <a:srgbClr val="FDF3E7"/>
          </a:solidFill>
          <a:ln w="12700">
            <a:solidFill>
              <a:srgbClr val="EFDCB2"/>
            </a:solidFill>
            <a:prstDash val="solid"/>
          </a:ln>
        </p:spPr>
      </p:sp>
      <p:sp>
        <p:nvSpPr>
          <p:cNvPr id="24" name="Shape 17"/>
          <p:cNvSpPr/>
          <p:nvPr/>
        </p:nvSpPr>
        <p:spPr>
          <a:xfrm>
            <a:off x="6415888" y="4233672"/>
            <a:ext cx="457200" cy="457200"/>
          </a:xfrm>
          <a:prstGeom prst="ellipse">
            <a:avLst/>
          </a:prstGeom>
          <a:solidFill>
            <a:srgbClr val="F2A93B"/>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Total — 25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20+ excellent · 15–19 good · 10–14 keep practising · below 10 → rehearse the four structures with your teacher.</a:t>
            </a:r>
            <a:endParaRPr lang="en-US" sz="1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What you learned in this module</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things. Check each one — can you do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74</a:t>
            </a:r>
            <a:endParaRPr lang="en-US" sz="1100" dirty="0"/>
          </a:p>
        </p:txBody>
      </p:sp>
      <p:sp>
        <p:nvSpPr>
          <p:cNvPr id="11" name="Shape 7"/>
          <p:cNvSpPr/>
          <p:nvPr/>
        </p:nvSpPr>
        <p:spPr>
          <a:xfrm>
            <a:off x="548640" y="1883664"/>
            <a:ext cx="3564026" cy="1929384"/>
          </a:xfrm>
          <a:prstGeom prst="roundRect">
            <a:avLst>
              <a:gd name="adj" fmla="val 6635"/>
            </a:avLst>
          </a:prstGeom>
          <a:solidFill>
            <a:srgbClr val="F6F9F7"/>
          </a:solidFill>
          <a:ln w="12700">
            <a:solidFill>
              <a:srgbClr val="E3E9E5"/>
            </a:solidFill>
            <a:prstDash val="solid"/>
          </a:ln>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Bad news</a:t>
            </a:r>
            <a:endParaRPr lang="en-US" sz="1700" dirty="0"/>
          </a:p>
          <a:p>
            <a:pPr indent="0" marL="0">
              <a:lnSpc>
                <a:spcPct val="102000"/>
              </a:lnSpc>
              <a:spcBef>
                <a:spcPts val="340"/>
              </a:spcBef>
              <a:buNone/>
            </a:pPr>
            <a:r>
              <a:rPr lang="en-US" sz="1280" dirty="0">
                <a:solidFill>
                  <a:srgbClr val="3A473F"/>
                </a:solidFill>
                <a:latin typeface="Calibri" pitchFamily="34" charset="0"/>
                <a:ea typeface="Calibri" pitchFamily="34" charset="-122"/>
                <a:cs typeface="Calibri" pitchFamily="34" charset="-120"/>
              </a:rPr>
              <a:t>Warning · fact · consequence · next step. Four sentences.</a:t>
            </a:r>
            <a:endParaRPr lang="en-US" sz="1700" dirty="0"/>
          </a:p>
        </p:txBody>
      </p:sp>
      <p:sp>
        <p:nvSpPr>
          <p:cNvPr id="15" name="Shape 10"/>
          <p:cNvSpPr/>
          <p:nvPr/>
        </p:nvSpPr>
        <p:spPr>
          <a:xfrm>
            <a:off x="4313834" y="1883664"/>
            <a:ext cx="3564026" cy="1929384"/>
          </a:xfrm>
          <a:prstGeom prst="roundRect">
            <a:avLst>
              <a:gd name="adj" fmla="val 6635"/>
            </a:avLst>
          </a:prstGeom>
          <a:solidFill>
            <a:srgbClr val="F6F9F7"/>
          </a:solidFill>
          <a:ln w="12700">
            <a:solidFill>
              <a:srgbClr val="E3E9E5"/>
            </a:solidFill>
            <a:prstDash val="solid"/>
          </a:ln>
        </p:spPr>
      </p:sp>
      <p:sp>
        <p:nvSpPr>
          <p:cNvPr id="16" name="Shape 11"/>
          <p:cNvSpPr/>
          <p:nvPr/>
        </p:nvSpPr>
        <p:spPr>
          <a:xfrm>
            <a:off x="4533290"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The camera test</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Behaviour, not character. Then effect, then request.</a:t>
            </a:r>
            <a:endParaRPr lang="en-US" sz="1750" dirty="0"/>
          </a:p>
        </p:txBody>
      </p:sp>
      <p:sp>
        <p:nvSpPr>
          <p:cNvPr id="19" name="Shape 13"/>
          <p:cNvSpPr/>
          <p:nvPr/>
        </p:nvSpPr>
        <p:spPr>
          <a:xfrm>
            <a:off x="8079029" y="1883664"/>
            <a:ext cx="3564026" cy="1929384"/>
          </a:xfrm>
          <a:prstGeom prst="roundRect">
            <a:avLst>
              <a:gd name="adj" fmla="val 6635"/>
            </a:avLst>
          </a:prstGeom>
          <a:solidFill>
            <a:srgbClr val="F6F9F7"/>
          </a:solidFill>
          <a:ln w="12700">
            <a:solidFill>
              <a:srgbClr val="E3E9E5"/>
            </a:solidFill>
            <a:prstDash val="solid"/>
          </a:ln>
        </p:spPr>
      </p:sp>
      <p:sp>
        <p:nvSpPr>
          <p:cNvPr id="20" name="Shape 14"/>
          <p:cNvSpPr/>
          <p:nvPr/>
        </p:nvSpPr>
        <p:spPr>
          <a:xfrm>
            <a:off x="8298485"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Two seconds</a:t>
            </a:r>
            <a:endParaRPr lang="en-US" sz="1700" dirty="0"/>
          </a:p>
          <a:p>
            <a:pPr indent="0" marL="0">
              <a:lnSpc>
                <a:spcPct val="102000"/>
              </a:lnSpc>
              <a:spcBef>
                <a:spcPts val="340"/>
              </a:spcBef>
              <a:buNone/>
            </a:pPr>
            <a:r>
              <a:rPr lang="en-US" sz="1280" dirty="0">
                <a:solidFill>
                  <a:srgbClr val="3A473F"/>
                </a:solidFill>
                <a:latin typeface="Calibri" pitchFamily="34" charset="0"/>
                <a:ea typeface="Calibri" pitchFamily="34" charset="-122"/>
                <a:cs typeface="Calibri" pitchFamily="34" charset="-120"/>
              </a:rPr>
              <a:t>Before you answer any criticism. The hardest habit here.</a:t>
            </a:r>
            <a:endParaRPr lang="en-US" sz="1700" dirty="0"/>
          </a:p>
        </p:txBody>
      </p:sp>
      <p:sp>
        <p:nvSpPr>
          <p:cNvPr id="23" name="Shape 16"/>
          <p:cNvSpPr/>
          <p:nvPr/>
        </p:nvSpPr>
        <p:spPr>
          <a:xfrm>
            <a:off x="548640" y="4014216"/>
            <a:ext cx="3564026" cy="1929384"/>
          </a:xfrm>
          <a:prstGeom prst="roundRect">
            <a:avLst>
              <a:gd name="adj" fmla="val 6635"/>
            </a:avLst>
          </a:prstGeom>
          <a:solidFill>
            <a:srgbClr val="F6F9F7"/>
          </a:solidFill>
          <a:ln w="12700">
            <a:solidFill>
              <a:srgbClr val="E3E9E5"/>
            </a:solidFill>
            <a:prstDash val="solid"/>
          </a:ln>
        </p:spPr>
      </p:sp>
      <p:sp>
        <p:nvSpPr>
          <p:cNvPr id="24" name="Shape 17"/>
          <p:cNvSpPr/>
          <p:nvPr/>
        </p:nvSpPr>
        <p:spPr>
          <a:xfrm>
            <a:off x="768096" y="4233672"/>
            <a:ext cx="457200" cy="457200"/>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Acknowledge the true part</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Not all of it. Partial is accurate and legitimate.</a:t>
            </a:r>
            <a:endParaRPr lang="en-US" sz="1750" dirty="0"/>
          </a:p>
        </p:txBody>
      </p:sp>
      <p:sp>
        <p:nvSpPr>
          <p:cNvPr id="27" name="Shape 19"/>
          <p:cNvSpPr/>
          <p:nvPr/>
        </p:nvSpPr>
        <p:spPr>
          <a:xfrm>
            <a:off x="4313834" y="4014216"/>
            <a:ext cx="3564026" cy="1929384"/>
          </a:xfrm>
          <a:prstGeom prst="roundRect">
            <a:avLst>
              <a:gd name="adj" fmla="val 6635"/>
            </a:avLst>
          </a:prstGeom>
          <a:solidFill>
            <a:srgbClr val="F6F9F7"/>
          </a:solidFill>
          <a:ln w="12700">
            <a:solidFill>
              <a:srgbClr val="E3E9E5"/>
            </a:solidFill>
            <a:prstDash val="solid"/>
          </a:ln>
        </p:spPr>
      </p:sp>
      <p:sp>
        <p:nvSpPr>
          <p:cNvPr id="28" name="Shape 20"/>
          <p:cNvSpPr/>
          <p:nvPr/>
        </p:nvSpPr>
        <p:spPr>
          <a:xfrm>
            <a:off x="4533290" y="4233672"/>
            <a:ext cx="457200" cy="457200"/>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The real apology</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Act · effect · change. No “but”, anywhere.</a:t>
            </a:r>
            <a:endParaRPr lang="en-US" sz="1750" dirty="0"/>
          </a:p>
        </p:txBody>
      </p:sp>
      <p:sp>
        <p:nvSpPr>
          <p:cNvPr id="31" name="Shape 22"/>
          <p:cNvSpPr/>
          <p:nvPr/>
        </p:nvSpPr>
        <p:spPr>
          <a:xfrm>
            <a:off x="8079029" y="4014216"/>
            <a:ext cx="3564026" cy="1929384"/>
          </a:xfrm>
          <a:prstGeom prst="roundRect">
            <a:avLst>
              <a:gd name="adj" fmla="val 6635"/>
            </a:avLst>
          </a:prstGeom>
          <a:solidFill>
            <a:srgbClr val="F6F9F7"/>
          </a:solidFill>
          <a:ln w="12700">
            <a:solidFill>
              <a:srgbClr val="E3E9E5"/>
            </a:solidFill>
            <a:prstDash val="solid"/>
          </a:ln>
        </p:spPr>
      </p:sp>
      <p:sp>
        <p:nvSpPr>
          <p:cNvPr id="32" name="Shape 23"/>
          <p:cNvSpPr/>
          <p:nvPr/>
        </p:nvSpPr>
        <p:spPr>
          <a:xfrm>
            <a:off x="8298485" y="4233672"/>
            <a:ext cx="457200" cy="457200"/>
          </a:xfrm>
          <a:prstGeom prst="ellipse">
            <a:avLst/>
          </a:prstGeom>
          <a:solidFill>
            <a:srgbClr val="0E7C5A"/>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Raising it upwards</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Time · shared problem · evidence · proposal.</a:t>
            </a:r>
            <a:endParaRPr lang="en-US" sz="17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Keep these where you can see them</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last toolkit of the course. Photograph this slide.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75</a:t>
            </a:r>
            <a:endParaRPr lang="en-US" sz="1100" dirty="0"/>
          </a:p>
        </p:txBody>
      </p:sp>
      <p:sp>
        <p:nvSpPr>
          <p:cNvPr id="11" name="Shape 7"/>
          <p:cNvSpPr/>
          <p:nvPr/>
        </p:nvSpPr>
        <p:spPr>
          <a:xfrm>
            <a:off x="548640" y="1883664"/>
            <a:ext cx="5446624" cy="1929384"/>
          </a:xfrm>
          <a:prstGeom prst="roundRect">
            <a:avLst>
              <a:gd name="adj" fmla="val 6635"/>
            </a:avLst>
          </a:prstGeom>
          <a:solidFill>
            <a:srgbClr val="E7F3EF"/>
          </a:solidFill>
          <a:ln w="12700">
            <a:solidFill>
              <a:srgbClr val="C4E0D5"/>
            </a:solidFill>
            <a:prstDash val="solid"/>
          </a:ln>
        </p:spPr>
      </p:sp>
      <p:sp>
        <p:nvSpPr>
          <p:cNvPr id="12" name="Shape 8"/>
          <p:cNvSpPr/>
          <p:nvPr/>
        </p:nvSpPr>
        <p:spPr>
          <a:xfrm>
            <a:off x="768096" y="2121408"/>
            <a:ext cx="384048" cy="384048"/>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64108" y="2217420"/>
            <a:ext cx="192024" cy="192024"/>
          </a:xfrm>
          <a:prstGeom prst="rect">
            <a:avLst/>
          </a:prstGeom>
        </p:spPr>
      </p:pic>
      <p:sp>
        <p:nvSpPr>
          <p:cNvPr id="14" name="Text 9"/>
          <p:cNvSpPr txBox="1"/>
          <p:nvPr/>
        </p:nvSpPr>
        <p:spPr>
          <a:xfrm>
            <a:off x="1261872"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Bad news — four sentences</a:t>
            </a:r>
            <a:endParaRPr lang="en-US" sz="2000" dirty="0"/>
          </a:p>
        </p:txBody>
      </p:sp>
      <p:sp>
        <p:nvSpPr>
          <p:cNvPr id="15" name="Text 10"/>
          <p:cNvSpPr txBox="1"/>
          <p:nvPr/>
        </p:nvSpPr>
        <p:spPr>
          <a:xfrm>
            <a:off x="768096" y="2615184"/>
            <a:ext cx="5007712" cy="1033272"/>
          </a:xfrm>
          <a:prstGeom prst="rect">
            <a:avLst/>
          </a:prstGeom>
          <a:noFill/>
          <a:ln/>
        </p:spPr>
        <p:txBody>
          <a:bodyPr wrap="square" lIns="0" tIns="0" rIns="0" bIns="0" rtlCol="0" anchor="ctr"/>
          <a:lstStyle/>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1  “I'm afraid I've got some bad news.”</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2  The fact. One sentence. No preamble.</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3  What it means for them.</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4  What we do now.</a:t>
            </a:r>
            <a:endParaRPr lang="en-US" sz="1500" dirty="0"/>
          </a:p>
        </p:txBody>
      </p:sp>
      <p:sp>
        <p:nvSpPr>
          <p:cNvPr id="16" name="Shape 11"/>
          <p:cNvSpPr/>
          <p:nvPr/>
        </p:nvSpPr>
        <p:spPr>
          <a:xfrm>
            <a:off x="6196432" y="1883664"/>
            <a:ext cx="5446624" cy="1929384"/>
          </a:xfrm>
          <a:prstGeom prst="roundRect">
            <a:avLst>
              <a:gd name="adj" fmla="val 6635"/>
            </a:avLst>
          </a:prstGeom>
          <a:solidFill>
            <a:srgbClr val="E7F3EF"/>
          </a:solidFill>
          <a:ln w="12700">
            <a:solidFill>
              <a:srgbClr val="C4E0D5"/>
            </a:solidFill>
            <a:prstDash val="solid"/>
          </a:ln>
        </p:spPr>
      </p:sp>
      <p:sp>
        <p:nvSpPr>
          <p:cNvPr id="17" name="Shape 12"/>
          <p:cNvSpPr/>
          <p:nvPr/>
        </p:nvSpPr>
        <p:spPr>
          <a:xfrm>
            <a:off x="6415888" y="2121408"/>
            <a:ext cx="384048" cy="384048"/>
          </a:xfrm>
          <a:prstGeom prst="ellipse">
            <a:avLst/>
          </a:prstGeom>
          <a:solidFill>
            <a:srgbClr val="0E7C5A"/>
          </a:solidFill>
          <a:ln/>
        </p:spPr>
      </p:sp>
      <p:pic>
        <p:nvPicPr>
          <p:cNvPr id="18" name="Image 2" descr="preencoded.png">    </p:cNvPr>
          <p:cNvPicPr>
            <a:picLocks noChangeAspect="1"/>
          </p:cNvPicPr>
          <p:nvPr/>
        </p:nvPicPr>
        <p:blipFill>
          <a:blip r:embed="rId3"/>
          <a:stretch>
            <a:fillRect/>
          </a:stretch>
        </p:blipFill>
        <p:spPr>
          <a:xfrm>
            <a:off x="6511900" y="2217420"/>
            <a:ext cx="192024" cy="192024"/>
          </a:xfrm>
          <a:prstGeom prst="rect">
            <a:avLst/>
          </a:prstGeom>
        </p:spPr>
      </p:pic>
      <p:sp>
        <p:nvSpPr>
          <p:cNvPr id="19" name="Text 13"/>
          <p:cNvSpPr txBox="1"/>
          <p:nvPr/>
        </p:nvSpPr>
        <p:spPr>
          <a:xfrm>
            <a:off x="6909664"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Criticism — three parts</a:t>
            </a:r>
            <a:endParaRPr lang="en-US" sz="2000" dirty="0"/>
          </a:p>
        </p:txBody>
      </p:sp>
      <p:sp>
        <p:nvSpPr>
          <p:cNvPr id="20" name="Text 14"/>
          <p:cNvSpPr txBox="1"/>
          <p:nvPr/>
        </p:nvSpPr>
        <p:spPr>
          <a:xfrm>
            <a:off x="6415888" y="2615184"/>
            <a:ext cx="5007712" cy="1033272"/>
          </a:xfrm>
          <a:prstGeom prst="rect">
            <a:avLst/>
          </a:prstGeom>
          <a:noFill/>
          <a:ln/>
        </p:spPr>
        <p:txBody>
          <a:bodyPr wrap="square" lIns="0" tIns="0" rIns="0" bIns="0" rtlCol="0" anchor="ctr"/>
          <a:lstStyle/>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1  BEHAVIOUR — could a camera see it?</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2  EFFECT — why it matters</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3  REQUEST — what to do instead</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No “always”. No “never”. No character.</a:t>
            </a:r>
            <a:endParaRPr lang="en-US" sz="1500" dirty="0"/>
          </a:p>
        </p:txBody>
      </p:sp>
      <p:sp>
        <p:nvSpPr>
          <p:cNvPr id="21" name="Shape 15"/>
          <p:cNvSpPr/>
          <p:nvPr/>
        </p:nvSpPr>
        <p:spPr>
          <a:xfrm>
            <a:off x="548640" y="4014216"/>
            <a:ext cx="5446624" cy="1929384"/>
          </a:xfrm>
          <a:prstGeom prst="roundRect">
            <a:avLst>
              <a:gd name="adj" fmla="val 6635"/>
            </a:avLst>
          </a:prstGeom>
          <a:solidFill>
            <a:srgbClr val="E7F3EF"/>
          </a:solidFill>
          <a:ln w="12700">
            <a:solidFill>
              <a:srgbClr val="C4E0D5"/>
            </a:solidFill>
            <a:prstDash val="solid"/>
          </a:ln>
        </p:spPr>
      </p:sp>
      <p:sp>
        <p:nvSpPr>
          <p:cNvPr id="22" name="Shape 16"/>
          <p:cNvSpPr/>
          <p:nvPr/>
        </p:nvSpPr>
        <p:spPr>
          <a:xfrm>
            <a:off x="768096" y="4251960"/>
            <a:ext cx="384048" cy="384048"/>
          </a:xfrm>
          <a:prstGeom prst="ellipse">
            <a:avLst/>
          </a:prstGeom>
          <a:solidFill>
            <a:srgbClr val="0E7C5A"/>
          </a:solidFill>
          <a:ln/>
        </p:spPr>
      </p:sp>
      <p:pic>
        <p:nvPicPr>
          <p:cNvPr id="23" name="Image 3" descr="preencoded.png">    </p:cNvPr>
          <p:cNvPicPr>
            <a:picLocks noChangeAspect="1"/>
          </p:cNvPicPr>
          <p:nvPr/>
        </p:nvPicPr>
        <p:blipFill>
          <a:blip r:embed="rId4"/>
          <a:stretch>
            <a:fillRect/>
          </a:stretch>
        </p:blipFill>
        <p:spPr>
          <a:xfrm>
            <a:off x="864108" y="4347972"/>
            <a:ext cx="192024" cy="192024"/>
          </a:xfrm>
          <a:prstGeom prst="rect">
            <a:avLst/>
          </a:prstGeom>
        </p:spPr>
      </p:pic>
      <p:sp>
        <p:nvSpPr>
          <p:cNvPr id="24" name="Text 17"/>
          <p:cNvSpPr txBox="1"/>
          <p:nvPr/>
        </p:nvSpPr>
        <p:spPr>
          <a:xfrm>
            <a:off x="1261872"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Receiving criticism</a:t>
            </a:r>
            <a:endParaRPr lang="en-US" sz="2000" dirty="0"/>
          </a:p>
        </p:txBody>
      </p:sp>
      <p:sp>
        <p:nvSpPr>
          <p:cNvPr id="25" name="Text 18"/>
          <p:cNvSpPr txBox="1"/>
          <p:nvPr/>
        </p:nvSpPr>
        <p:spPr>
          <a:xfrm>
            <a:off x="768096" y="4745736"/>
            <a:ext cx="5007712" cy="1033272"/>
          </a:xfrm>
          <a:prstGeom prst="rect">
            <a:avLst/>
          </a:prstGeom>
          <a:noFill/>
          <a:ln/>
        </p:spPr>
        <p:txBody>
          <a:bodyPr wrap="square" lIns="0" tIns="0" rIns="0" bIns="0" rtlCol="0" anchor="ctr"/>
          <a:lstStyle/>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1  Two seconds of silence</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2  “Can you give me an example?”</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3  “You're right about that.”</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4  “What would you like me to do differently?”</a:t>
            </a:r>
            <a:endParaRPr lang="en-US" sz="1500" dirty="0"/>
          </a:p>
        </p:txBody>
      </p:sp>
      <p:sp>
        <p:nvSpPr>
          <p:cNvPr id="26" name="Shape 19"/>
          <p:cNvSpPr/>
          <p:nvPr/>
        </p:nvSpPr>
        <p:spPr>
          <a:xfrm>
            <a:off x="6196432" y="4014216"/>
            <a:ext cx="5446624" cy="1929384"/>
          </a:xfrm>
          <a:prstGeom prst="roundRect">
            <a:avLst>
              <a:gd name="adj" fmla="val 6635"/>
            </a:avLst>
          </a:prstGeom>
          <a:solidFill>
            <a:srgbClr val="E7F3EF"/>
          </a:solidFill>
          <a:ln w="12700">
            <a:solidFill>
              <a:srgbClr val="C4E0D5"/>
            </a:solidFill>
            <a:prstDash val="solid"/>
          </a:ln>
        </p:spPr>
      </p:sp>
      <p:sp>
        <p:nvSpPr>
          <p:cNvPr id="27" name="Shape 20"/>
          <p:cNvSpPr/>
          <p:nvPr/>
        </p:nvSpPr>
        <p:spPr>
          <a:xfrm>
            <a:off x="6415888" y="4251960"/>
            <a:ext cx="384048" cy="384048"/>
          </a:xfrm>
          <a:prstGeom prst="ellipse">
            <a:avLst/>
          </a:prstGeom>
          <a:solidFill>
            <a:srgbClr val="0E7C5A"/>
          </a:solidFill>
          <a:ln/>
        </p:spPr>
      </p:sp>
      <p:pic>
        <p:nvPicPr>
          <p:cNvPr id="28" name="Image 4" descr="preencoded.png">    </p:cNvPr>
          <p:cNvPicPr>
            <a:picLocks noChangeAspect="1"/>
          </p:cNvPicPr>
          <p:nvPr/>
        </p:nvPicPr>
        <p:blipFill>
          <a:blip r:embed="rId5"/>
          <a:stretch>
            <a:fillRect/>
          </a:stretch>
        </p:blipFill>
        <p:spPr>
          <a:xfrm>
            <a:off x="6511900" y="4347972"/>
            <a:ext cx="192024" cy="192024"/>
          </a:xfrm>
          <a:prstGeom prst="rect">
            <a:avLst/>
          </a:prstGeom>
        </p:spPr>
      </p:pic>
      <p:sp>
        <p:nvSpPr>
          <p:cNvPr id="29" name="Text 21"/>
          <p:cNvSpPr txBox="1"/>
          <p:nvPr/>
        </p:nvSpPr>
        <p:spPr>
          <a:xfrm>
            <a:off x="6909664"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real apology</a:t>
            </a:r>
            <a:endParaRPr lang="en-US" sz="2000" dirty="0"/>
          </a:p>
        </p:txBody>
      </p:sp>
      <p:sp>
        <p:nvSpPr>
          <p:cNvPr id="30" name="Text 22"/>
          <p:cNvSpPr txBox="1"/>
          <p:nvPr/>
        </p:nvSpPr>
        <p:spPr>
          <a:xfrm>
            <a:off x="6415888" y="4745736"/>
            <a:ext cx="5007712" cy="1033272"/>
          </a:xfrm>
          <a:prstGeom prst="rect">
            <a:avLst/>
          </a:prstGeom>
          <a:noFill/>
          <a:ln/>
        </p:spPr>
        <p:txBody>
          <a:bodyPr wrap="square" lIns="0" tIns="0" rIns="0" bIns="0" rtlCol="0" anchor="ctr"/>
          <a:lstStyle/>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1  What you did</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2  Its effect on THEM</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3  What you'll do differently</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No “but”. Anywhere.</a:t>
            </a:r>
            <a:endParaRPr lang="en-US" sz="15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YOU HAVE FINISHED THE COURSE</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150" b="1" dirty="0">
                <a:solidFill>
                  <a:srgbClr val="FFFFFF"/>
                </a:solidFill>
                <a:latin typeface="Calibri" pitchFamily="34" charset="0"/>
                <a:ea typeface="Calibri" pitchFamily="34" charset="-122"/>
                <a:cs typeface="Calibri" pitchFamily="34" charset="-120"/>
              </a:rPr>
              <a:t>Four levels. Thirty modules. From the alphabet to a difficult conversation held well in a second language.</a:t>
            </a:r>
            <a:endParaRPr lang="en-US" sz="415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600" dirty="0">
                <a:solidFill>
                  <a:srgbClr val="B9CFC1"/>
                </a:solidFill>
                <a:latin typeface="Calibri" pitchFamily="34" charset="0"/>
                <a:ea typeface="Calibri" pitchFamily="34" charset="-122"/>
                <a:cs typeface="Calibri" pitchFamily="34" charset="-120"/>
              </a:rPr>
              <a:t>You started unable to introduce yourself. You can now argue a case, chair a meeting, hold a room,</a:t>
            </a:r>
            <a:endParaRPr lang="en-US" sz="1600" dirty="0"/>
          </a:p>
          <a:p>
            <a:pPr indent="0" marL="0">
              <a:lnSpc>
                <a:spcPct val="120000"/>
              </a:lnSpc>
              <a:buNone/>
            </a:pPr>
            <a:r>
              <a:rPr lang="en-US" sz="1600" dirty="0">
                <a:solidFill>
                  <a:srgbClr val="B9CFC1"/>
                </a:solidFill>
                <a:latin typeface="Calibri" pitchFamily="34" charset="0"/>
                <a:ea typeface="Calibri" pitchFamily="34" charset="-122"/>
                <a:cs typeface="Calibri" pitchFamily="34" charset="-120"/>
              </a:rPr>
              <a:t>negotiate a deal and tell somebody something they do not want to hear — clearly, and kindly.</a:t>
            </a:r>
            <a:endParaRPr lang="en-US" sz="160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CEFR B2</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30 modules</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Keep the recordings</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4 · Advanced Spoken English · Module 8 — Difficult Conversations</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76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English Learning Platform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4 · Module 8 — Difficult Conversations</dc:title>
  <dc:subject>English course for Ethiopian learners — Level 4 Advanced Spoken English</dc:subject>
  <dc:creator>English Learning Platform</dc:creator>
  <cp:lastModifiedBy>English Learning Platform</cp:lastModifiedBy>
  <cp:revision>1</cp:revision>
  <dcterms:created xsi:type="dcterms:W3CDTF">2026-07-28T16:47:57Z</dcterms:created>
  <dcterms:modified xsi:type="dcterms:W3CDTF">2026-07-28T16:47:57Z</dcterms:modified>
</cp:coreProperties>
</file>