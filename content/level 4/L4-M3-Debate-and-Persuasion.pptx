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slideMasters/slideMaster58.xml" ContentType="application/vnd.openxmlformats-officedocument.presentationml.slideMaster+xml"/>
  <Override PartName="/ppt/slides/slide58.xml" ContentType="application/vnd.openxmlformats-officedocument.presentationml.slide+xml"/>
  <Override PartName="/ppt/slideMasters/slideMaster59.xml" ContentType="application/vnd.openxmlformats-officedocument.presentationml.slideMaster+xml"/>
  <Override PartName="/ppt/slides/slide59.xml" ContentType="application/vnd.openxmlformats-officedocument.presentationml.slide+xml"/>
  <Override PartName="/ppt/slideMasters/slideMaster60.xml" ContentType="application/vnd.openxmlformats-officedocument.presentationml.slideMaster+xml"/>
  <Override PartName="/ppt/slides/slide60.xml" ContentType="application/vnd.openxmlformats-officedocument.presentationml.slide+xml"/>
  <Override PartName="/ppt/slideMasters/slideMaster61.xml" ContentType="application/vnd.openxmlformats-officedocument.presentationml.slideMaster+xml"/>
  <Override PartName="/ppt/slides/slide61.xml" ContentType="application/vnd.openxmlformats-officedocument.presentationml.slide+xml"/>
  <Override PartName="/ppt/slideMasters/slideMaster62.xml" ContentType="application/vnd.openxmlformats-officedocument.presentationml.slideMaster+xml"/>
  <Override PartName="/ppt/slides/slide62.xml" ContentType="application/vnd.openxmlformats-officedocument.presentationml.slide+xml"/>
  <Override PartName="/ppt/slideMasters/slideMaster63.xml" ContentType="application/vnd.openxmlformats-officedocument.presentationml.slideMaster+xml"/>
  <Override PartName="/ppt/slides/slide63.xml" ContentType="application/vnd.openxmlformats-officedocument.presentationml.slide+xml"/>
  <Override PartName="/ppt/slideMasters/slideMaster64.xml" ContentType="application/vnd.openxmlformats-officedocument.presentationml.slideMaster+xml"/>
  <Override PartName="/ppt/slides/slide64.xml" ContentType="application/vnd.openxmlformats-officedocument.presentationml.slide+xml"/>
  <Override PartName="/ppt/slideMasters/slideMaster65.xml" ContentType="application/vnd.openxmlformats-officedocument.presentationml.slideMaster+xml"/>
  <Override PartName="/ppt/slides/slide65.xml" ContentType="application/vnd.openxmlformats-officedocument.presentationml.slide+xml"/>
  <Override PartName="/ppt/slideMasters/slideMaster66.xml" ContentType="application/vnd.openxmlformats-officedocument.presentationml.slideMaster+xml"/>
  <Override PartName="/ppt/slides/slide66.xml" ContentType="application/vnd.openxmlformats-officedocument.presentationml.slide+xml"/>
  <Override PartName="/ppt/slideMasters/slideMaster67.xml" ContentType="application/vnd.openxmlformats-officedocument.presentationml.slideMaster+xml"/>
  <Override PartName="/ppt/slides/slide67.xml" ContentType="application/vnd.openxmlformats-officedocument.presentationml.slide+xml"/>
  <Override PartName="/ppt/slideMasters/slideMaster68.xml" ContentType="application/vnd.openxmlformats-officedocument.presentationml.slideMaster+xml"/>
  <Override PartName="/ppt/slides/slide68.xml" ContentType="application/vnd.openxmlformats-officedocument.presentationml.slide+xml"/>
  <Override PartName="/ppt/slideMasters/slideMaster69.xml" ContentType="application/vnd.openxmlformats-officedocument.presentationml.slideMaster+xml"/>
  <Override PartName="/ppt/slides/slide69.xml" ContentType="application/vnd.openxmlformats-officedocument.presentationml.slide+xml"/>
  <Override PartName="/ppt/slideMasters/slideMaster70.xml" ContentType="application/vnd.openxmlformats-officedocument.presentationml.slideMaster+xml"/>
  <Override PartName="/ppt/slides/slide70.xml" ContentType="application/vnd.openxmlformats-officedocument.presentationml.slide+xml"/>
  <Override PartName="/ppt/slideMasters/slideMaster71.xml" ContentType="application/vnd.openxmlformats-officedocument.presentationml.slideMaster+xml"/>
  <Override PartName="/ppt/slides/slide71.xml" ContentType="application/vnd.openxmlformats-officedocument.presentationml.slide+xml"/>
  <Override PartName="/ppt/slideMasters/slideMaster72.xml" ContentType="application/vnd.openxmlformats-officedocument.presentationml.slideMaster+xml"/>
  <Override PartName="/ppt/slides/slide72.xml" ContentType="application/vnd.openxmlformats-officedocument.presentationml.slide+xml"/>
  <Override PartName="/ppt/slideMasters/slideMaster73.xml" ContentType="application/vnd.openxmlformats-officedocument.presentationml.slideMaster+xml"/>
  <Override PartName="/ppt/slides/slide73.xml" ContentType="application/vnd.openxmlformats-officedocument.presentationml.slide+xml"/>
  <Override PartName="/ppt/slideMasters/slideMaster74.xml" ContentType="application/vnd.openxmlformats-officedocument.presentationml.slideMaster+xml"/>
  <Override PartName="/ppt/slides/slide74.xml" ContentType="application/vnd.openxmlformats-officedocument.presentationml.slide+xml"/>
  <Override PartName="/ppt/slideMasters/slideMaster75.xml" ContentType="application/vnd.openxmlformats-officedocument.presentationml.slideMaster+xml"/>
  <Override PartName="/ppt/slides/slide75.xml" ContentType="application/vnd.openxmlformats-officedocument.presentationml.slide+xml"/>
  <Override PartName="/ppt/slideMasters/slideMaster76.xml" ContentType="application/vnd.openxmlformats-officedocument.presentationml.slideMaster+xml"/>
  <Override PartName="/ppt/slides/slide7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29" r:id="rId75"/>
    <p:sldId id="330" r:id="rId76"/>
    <p:sldId id="331" r:id="rId77"/>
  </p:sldIdLst>
  <p:notesMasterIdLst>
    <p:notesMasterId r:id="rId78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slide" Target="slides/slide65.xml"/><Relationship Id="rId67" Type="http://schemas.openxmlformats.org/officeDocument/2006/relationships/slide" Target="slides/slide66.xml"/><Relationship Id="rId68" Type="http://schemas.openxmlformats.org/officeDocument/2006/relationships/slide" Target="slides/slide67.xml"/><Relationship Id="rId69" Type="http://schemas.openxmlformats.org/officeDocument/2006/relationships/slide" Target="slides/slide68.xml"/><Relationship Id="rId70" Type="http://schemas.openxmlformats.org/officeDocument/2006/relationships/slide" Target="slides/slide69.xml"/><Relationship Id="rId71" Type="http://schemas.openxmlformats.org/officeDocument/2006/relationships/slide" Target="slides/slide70.xml"/><Relationship Id="rId72" Type="http://schemas.openxmlformats.org/officeDocument/2006/relationships/slide" Target="slides/slide71.xml"/><Relationship Id="rId73" Type="http://schemas.openxmlformats.org/officeDocument/2006/relationships/slide" Target="slides/slide72.xml"/><Relationship Id="rId74" Type="http://schemas.openxmlformats.org/officeDocument/2006/relationships/slide" Target="slides/slide73.xml"/><Relationship Id="rId75" Type="http://schemas.openxmlformats.org/officeDocument/2006/relationships/slide" Target="slides/slide74.xml"/><Relationship Id="rId76" Type="http://schemas.openxmlformats.org/officeDocument/2006/relationships/slide" Target="slides/slide75.xml"/><Relationship Id="rId77" Type="http://schemas.openxmlformats.org/officeDocument/2006/relationships/slide" Target="slides/slide76.xml"/><Relationship Id="rId78" Type="http://schemas.openxmlformats.org/officeDocument/2006/relationships/notesMaster" Target="notesMasters/notesMaster1.xml"/><Relationship Id="rId79" Type="http://schemas.openxmlformats.org/officeDocument/2006/relationships/presProps" Target="presProps.xml"/><Relationship Id="rId80" Type="http://schemas.openxmlformats.org/officeDocument/2006/relationships/viewProps" Target="viewProps.xml"/><Relationship Id="rId81" Type="http://schemas.openxmlformats.org/officeDocument/2006/relationships/theme" Target="theme/theme1.xml"/><Relationship Id="rId8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_rels/notesSlide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9.xml"/>
		</Relationships>
</file>

<file path=ppt/notesSlides/_rels/notesSlide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0.xml"/>
		</Relationships>
</file>

<file path=ppt/notesSlides/_rels/notesSlide6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1.xml"/>
		</Relationships>
</file>

<file path=ppt/notesSlides/_rels/notesSlide6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2.xml"/>
		</Relationships>
</file>

<file path=ppt/notesSlides/_rels/notesSlide6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3.xml"/>
		</Relationships>
</file>

<file path=ppt/notesSlides/_rels/notesSlide6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4.xml"/>
		</Relationships>
</file>

<file path=ppt/notesSlides/_rels/notesSlide6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5.xml"/>
		</Relationships>
</file>

<file path=ppt/notesSlides/_rels/notesSlide6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6.xml"/>
		</Relationships>
</file>

<file path=ppt/notesSlides/_rels/notesSlide6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7.xml"/>
		</Relationships>
</file>

<file path=ppt/notesSlides/_rels/notesSlide6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8.xml"/>
		</Relationships>
</file>

<file path=ppt/notesSlides/_rels/notesSlide6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9.xml"/>
		</Relationships>
</file>

<file path=ppt/notesSlides/_rels/notesSlide7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0.xml"/>
		</Relationships>
</file>

<file path=ppt/notesSlides/_rels/notesSlide7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1.xml"/>
		</Relationships>
</file>

<file path=ppt/notesSlides/_rels/notesSlide7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2.xml"/>
		</Relationships>
</file>

<file path=ppt/notesSlides/_rels/notesSlide7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3.xml"/>
		</Relationships>
</file>

<file path=ppt/notesSlides/_rels/notesSlide7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4.xml"/>
		</Relationships>
</file>

<file path=ppt/notesSlides/_rels/notesSlide7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5.xml"/>
		</Relationships>
</file>

<file path=ppt/notesSlides/_rels/notesSlide7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TIME: Whole module: four 60-minute lessons.
HOW TO TEACH: Announce in lesson one that the module ends in a full class debate with assigned sides. Knowing that from the start changes how learners engage with everything before it.
TIP: Debate is uncomfortable for many learners and it is the fastest way to build argumentative fluency. Say both things honestly.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TIME: 3 minutes.
HOW TO TEACH: Objective 4 is the one learners underestimate. A logically watertight case delivered badly loses to a decent case delivered well, and that is worth knowing.
TIP: Objective 5 removes a lot of fear. Losing one exchange is normal; behaving as though it were fatal is what actually loses debates.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TIME: 12 minutes.
HOW TO TEACH: Task 1 must be genuinely assigned, not chosen. Debating a side you did not pick is the whole discipline and learners should meet it in the first ten minutes.
COMMON MISTAKES: Correct nothing. Note who froze at task 3 — the unexpected question is where most people fail and where slide 9 does its work.
TIP: Compare directly with the Module 2 warm-up. There they defended a view they held; here they defend one they may not.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TIME: 7 minutes.
HOW TO TEACH: This is uncomfortable and true. Learners who believe the strongest logic automatically wins are unprepared for what actually decides real discussions.
COMMON MISTAKES: Do not let this become cynicism. The point is not that truth does not matter — it is that truth needs delivery to travel.
EXTRA EXAMPLES: Everything in Module 2 still applies. This module adds what happens when somebody is actively looking for the hole in it.
TIP: The third chip is the most useful. A calm speaker who says “that's a fair point, let me answer it” beats a loud one every time.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TIME: 15 minutes.
HOW TO TEACH: The rebuttal rule is the one learners get wrong. Attacking five points weakly achieves nothing; destroying one properly changes the debate.
COMMON MISTAKES: Introducing new arguments in the closing. It signals that the case was incomplete and the other side gets no chance to answer, which audiences dislike.
EXTRA EXAMPLES: Three lines of argument in the opening is the standard. Two feels thin; four is more than an audience will hold.
TIP: This is Level 3 Module 6's presentation structure, adapted for an opponent. The signposting principle is identical.
CLASSROOM ACTIVITY: Four stages: run one short debate with strict timing on each stage.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TIME: 16 minutes.
HOW TO TEACH: The note is the strategic point. Narrowing your own claim before the debate starts removes the opposition's easiest attacks in advance.
COMMON MISTAKES: Accepting the motion's most extreme reading. If the motion says “abolish”, you may still argue “reduce” — and you should say so first.
EXTRA EXAMPLES: The three-line structure is what makes a case memorable. An audience that can repeat your three points has been persuaded of something.
TIP: Write and memorise the first two sentences. This is Level 3 Module 6's memorised opening in a higher-pressure setting.
CLASSROOM ACTIVITY: Two sentences: every learner writes and delivers a position statement plus a three-line preview.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TIME: 16 minutes.
HOW TO TEACH: Step 4 is the move that separates a good rebutter from an adequate one. Do not just remove their point — show that it now helps you.
COMMON MISTAKES: Attacking everything. Learners feel they must answer each point, and the result is that nothing lands.
EXTRA EXAMPLES: Choosing the target is a judgement: attack the point their case most depends on, not the one that is easiest to hit.
TIP: This is Module 2's concession pattern in an adversarial setting. The concession makes the attack credible.
CLASSROOM ACTIVITY: One target: give a three-point case and have learners choose and rebut only the load-bearing point.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TIME: 16 minutes.
HOW TO TEACH: The note is the practical rule. One number, one phrase, repeated three times. Learners instinctively supply many numbers and none survives.
COMMON MISTAKES: Using a concrete case INSTEAD of evidence. It is an illustration of the evidence, not a replacement — one story proves nothing on its own.
EXTRA EXAMPLES: The repeated phrase is how positions travel. “Reduced, not abolished” can be carried out of the room by someone who heard nothing else.
TIP: This is legitimate persuasion, not manipulation. You are making a true case memorable, which is a service to the audience.
CLASSROOM ACTIVITY: One number, one phrase: every learner chooses both for their own case and repeats each three times.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TIME: 16 minutes.
HOW TO TEACH: Row 2 is the highest-value technique here. Many hard questions carry an unstated assumption, and answering the assumption is stronger than answering the question.
COMMON MISTAKES: Row 3 feels like losing. It is not — Level 3 Module 6 made the same point about presentations, and it applies even more forcefully here.
EXTRA EXAMPLES: Row 4 must be used carefully. Declining a question you simply do not like reads as evasion; declining one that is genuinely off the point does not.
TIP: Drill these four as chunks. In a debate there is no capacity to construct them and the pressure is highest exactly when you need them.
CLASSROOM ACTIVITY: Hard questions: fire four unexpected questions at each learner and require a different technique for each.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TIME: 15 minutes.
HOW TO TEACH: The note is the whole slide. Audiences see a lost exchange regardless of what the speaker says, and denial is what converts one lost point into a lost debate.
COMMON MISTAKES: The second left-hand item is the most damaging. Denying what you clearly said destroys trust in everything else.
EXTRA EXAMPLES: The right-hand approach concedes the point and immediately redirects to surviving ground. That redirection is what keeps the case alive.
TIP: This is Module 2's concession skill under maximum pressure. Learners who practised it there can do it here.
CLASSROOM ACTIVITY: Lose one deliberately: give each learner an unanswerable question and require a graceful concession plus redirect.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TIME: 8 minutes.
HOW TO TEACH: The distinction between refuting and denying is a real one and it is widely muddled, including by native speakers.
COMMON MISTAKES: “I refute that” meaning “I deny that” is very common and technically wrong. Teach the strict sense; it makes learners more precise than most.
EXTRA EXAMPLES: Weaker alternatives when you lack evidence: dispute · question · challenge · take issue with.
TIP: Stress on the second syllable: re-FUTE. And the noun is “refutation”, stressed on the third.
CLASSROOM ACTIVITY: Refute or dispute: give ten responses and have learners judge which verb is accurate.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TIME: 8 minutes.
HOW TO TEACH: This is the technical word for what Module 2 called an assumption. Having the precise term makes the move sharper: “that rests on a false premise.”
COMMON MISTAKES: Confusing it with “premises” meaning a building. Same spelling in the plural, completely different meaning.
EXTRA EXAMPLES: “The premise is sound but the conclusion doesn't follow” is a genuinely advanced observation and very usable.
TIP: Attacking a premise is usually stronger than attacking a conclusion, because the whole argument depends on it.
CLASSROOM ACTIVITY: Find the premise: give six arguments and have learners state the unstated premise of each.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TIME: 7 minutes.
HOW TO TEACH: This is the word for the module's central distinction: an argument can be valid without being compelling, and compelling without being valid.
COMMON MISTAKES: Over-use. If everything is compelling, nothing is. Reserve it for arguments that genuinely moved you.
EXTRA EXAMPLES: “A compelling case” · “compelling evidence” · “I don't find that compelling”. The last is a polite, precise rejection.
TIP: “I don't find that compelling” is a very useful debate phrase — it disputes the force of an argument without disputing its facts.
CLASSROOM ACTIVITY: Valid or compelling: give six arguments and have learners rate each on both scales separately.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TIME: 7 minutes.
HOW TO TEACH: This word appeared in Module 2 and is repeated deliberately. Under debate pressure it is the hardest word to say and the most valuable.
COMMON MISTAKES: Learners still hear conceding as losing. Slide 10 exists to correct exactly this, and the repetition is intentional.
EXTRA EXAMPLES: “I'll concede X, but that leaves Y and Z untouched” is the full debate formula. Concede, then bound the damage.
TIP: Teach the bounding clause. Conceding without bounding it invites the opponent to claim more than they won.
CLASSROOM ACTIVITY: Concede and bound: give ten conceded points and have learners state exactly what remains standing.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TIME: 8 minutes.
HOW TO TEACH: This phrase does the significance job in debate language. “What's at stake here is…” is one of the strongest closing openers available.
COMMON MISTAKES: The preposition. “On stake” is a direct translation error and it is common.
EXTRA EXAMPLES: “What's really at stake” raises the level of a debate from detail to principle, which is usually where a closing wants to be.
TIP: Reserve it for the closing. Used early it sounds inflated; used at the end it sounds like a summary of why any of it mattered.
CLASSROOM ACTIVITY: What's at stake: every learner writes one sentence naming what their debate is really about.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TIME: 14 minutes.
HOW TO TEACH: Drill all five as chunks. The opening and closing are the two moments a speaker can fully prepare, and they should be delivered from memory.
COMMON MISTAKES: Previewing five points. An audience holds three; the fourth and fifth displace the first.
EXTRA EXAMPLES: “Let me come back to where we started” is a strong closing opener because it signals a return to the frame the speaker chose.
TIP: This is Level 3 Module 6's signposting under adversarial conditions. The phrases differ; the principle does not.
CLASSROOM ACTIVITY: Open and close: every learner delivers a 30-second opening and a 30-second closing on the same motion.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TIME: 15 minutes.
HOW TO TEACH: The turnaround in row 5 is the most impressive rebuttal available and it is often possible: the same fact frequently supports either conclusion depending on the significance drawn.
COMMON MISTAKES: Row 3 must be used honestly. Dismissing a true and relevant point as irrelevant is transparent and costly.
EXTRA EXAMPLES: Row 4 is under-used. Simply pointing out that the other side gave no evidence at all is often decisive with an audience.
TIP: Rows 1 and 2 attack different things: one disputes what was assumed, the other disputes what was concluded. Learners should be able to tell them apart.
CLASSROOM ACTIVITY: Five rebuttals: give one argument and have learners attack it five different ways.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TIME: 15 minutes.
HOW TO TEACH: Say both columns aloud. The right-hand versions are the same claims with rhythm added, and the difference in impact is obvious.
COMMON MISTAKES: Learners think this is manipulation. It is not — the content is identical. Making a true point memorable is a service to the listener.
EXTRA EXAMPLES: The rule of three — “no figures, no study, no evidence” — is the oldest rhetorical device there is and it still works.
TIP: One repeated phrase per speech is enough. Two competes; three is a chant.
CLASSROOM ACTIVITY: Add the rhythm: give six flat claims and have learners restate each with repetition or a rule of three.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TIME: 15 minutes.
HOW TO TEACH: These must be automatic. The moment they are needed is the moment there is least spare capacity to construct anything.
COMMON MISTAKES: Inventing a number under pressure. It is checkable, it will be checked, and it costs the entire debate.
EXTRA EXAMPLES: “Let me take it in two parts” is doing two jobs: it buys three seconds and it imposes a structure on a question that may not have had one.
TIP: The redirect after “I don't know” is what makes it strong. Without it, the admission simply stands.
CLASSROOM ACTIVITY: Four questions: each learner faces one of each type and must use the matching technique.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TIME: 14 minutes.
HOW TO TEACH: Habit 1 is the strategic one and it happens before the debate starts. Choosing the version of your position that is easiest to defend is legitimate and effective.
COMMON MISTAKES: Habit 5 is skipped under pressure. The audience has already seen the point land, so denial only adds a second loss.
EXTRA EXAMPLES: Habits 3 and 5 together explain most of why some speakers seem convincing: memorable, and honest about what they lost.
TIP: Print these five. They apply to meetings and negotiations as much as to formal debate.
CLASSROOM ACTIVITY: One habit each: assign each learner one habit to demonstrate in the class debate.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TIME: 6 minutes per slide.
HOW TO TEACH: Cover the answer and ask the class first. Take answers from two learners before revealing. Then read the WHY aloud — the reason is the teaching, not the answer.
COMMON MISTAKES: Do not let learners copy the answer without hearing the reason. A learner who knows the answer but not the reason cannot do the next one.
TIP: If most of the class gets an item wrong, go back to that concept slide before continuing. These examples are a diagnostic as much as a practice.
CLASSROOM ACTIVITY: Ask a learner who answered correctly to explain the WHY in their own words before you read the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TIME: 6 minutes per slide.
HOW TO TEACH: Cover the answer and ask the class first. Take answers from two learners before revealing. Then read the WHY aloud — the reason is the teaching, not the answer.
COMMON MISTAKES: Do not let learners copy the answer without hearing the reason. A learner who knows the answer but not the reason cannot do the next one.
TIP: If most of the class gets an item wrong, go back to that concept slide before continuing. These examples are a diagnostic as much as a practice.
CLASSROOM ACTIVITY: Ask a learner who answered correctly to explain the WHY in their own words before you read the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TIME: 6 minutes per slide.
HOW TO TEACH: Cover the answer and ask the class first. Take answers from two learners before revealing. Then read the WHY aloud — the reason is the teaching, not the answer.
COMMON MISTAKES: Do not let learners copy the answer without hearing the reason. A learner who knows the answer but not the reason cannot do the next one.
TIP: If most of the class gets an item wrong, go back to that concept slide before continuing. These examples are a diagnostic as much as a practice.
CLASSROOM ACTIVITY: Ask a learner who answered correctly to explain the WHY in their own words before you read the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TIME: 6 minutes per slide.
HOW TO TEACH: Cover the answer and ask the class first. Take answers from two learners before revealing. Then read the WHY aloud — the reason is the teaching, not the answer.
COMMON MISTAKES: Do not let learners copy the answer without hearing the reason. A learner who knows the answer but not the reason cannot do the next one.
TIP: If most of the class gets an item wrong, go back to that concept slide before continuing. These examples are a diagnostic as much as a practice.
CLASSROOM ACTIVITY: Ask a learner who answered correctly to explain the WHY in their own words before you read the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TIME: 6 minutes per slide.
HOW TO TEACH: Cover the answer and ask the class first. Take answers from two learners before revealing. Then read the WHY aloud — the reason is the teaching, not the answer.
COMMON MISTAKES: Do not let learners copy the answer without hearing the reason. A learner who knows the answer but not the reason cannot do the next one.
TIP: If most of the class gets an item wrong, go back to that concept slide before continuing. These examples are a diagnostic as much as a practice.
CLASSROOM ACTIVITY: Ask a learner who answered correctly to explain the WHY in their own words before you read the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TIME: 16 minutes.
HOW TO TEACH: The final line is the turnaround from slide 17. Chaltu takes Tolosa's own point and shows it supports her narrower position, which is the strongest rebuttal available.
COMMON MISTAKES: Tolosa's “every teacher knows that” is the “everybody knows” move from Module 2. Chaltu attacks exactly that absence.
EXTRA EXAMPLES: Note the repeated phrase: “reduced, not abolished” appears twice in six lines and is the thing an audience would carry away.
TIP: Have learners identify all six moves. The structure is completely visible once labelled.
CLASSROOM ACTIVITY: Same shape: pairs write their own opening plus rebuttal on a different motion.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TIME: 16 minutes.
HOW TO TEACH: The second question is the all-or-nothing move from Module 2. Yonas names the false premise rather than defending against a position he never held.
COMMON MISTAKES: Learners would answer the second question as asked, which accepts the exaggeration. Naming the premise refuses it without appearing evasive.
EXTRA EXAMPLES: The first answer is honest and strong. Note that he redirects immediately — the admission alone would leave the questioner in control.
TIP: Point out that Yonas never sounds defensive. That calm is the third chip from slide 4 in practice.
CLASSROOM ACTIVITY: Three techniques: every learner faces three questions and must use a different technique for each.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TIME: 12 minutes.
HOW TO TEACH: Drill all six in chorus. A debate offers no thinking time, and these are exactly the moments when thinking time is shortest.
COMMON MISTAKES: Phrase 5 without the bounding clause. Conceding and stopping lets the opponent claim more than they actually won.
EXTRA EXAMPLES: Phrase 3 is the one learners never produce unprompted, and it is the most impressive move in the module.
TIP: Phrase 6 belongs at the end only. Used early it sounds inflated.
CLASSROOM ACTIVITY: Six phrases: run a short debate in which every speaker must use at least four.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TIME: 14 minutes.
HOW TO TEACH: Have pairs perform it at speed, standing. Debate language delivered slowly from a page is not the skill being trained.
COMMON MISTAKES: The final line is the concede-and-bound move. Learners often concede and stop, which gives away more than was lost.
TIP: Gap 1 narrows the position — “shortened, not cancelled”. That is slide 6's strategic move.
CLASSROOM ACTIVITY: Do it again with a motion from the class's own workplace or community.
ANSWERS: 1 position · 2 rests · 3 premise · 4 figures · 5 parts · 6 right · 7 leaves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TIME: 16 minutes for all four rounds.
HOW TO TEACH: Assign sides by coin toss. Debating a position you did not choose is the discipline, and choosing removes most of the value.
COMMON MISTAKES: Round 2 attacking everything. Enforce the single target strictly.
TIP: Round 4 is where learners introduce new arguments. Stop them — the closing reminds, it does not add.
CLASSROOM ACTIVITY: Swap sides: run the whole sequence again with the sides reversed.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TIME: 15 minutes.
HOW TO TEACH: The opening is the only fully preparable part of a debate. Memorising the first two sentences carries a speaker through the moment of highest nerves.
COMMON MISTAKES: Accepting the motion's most extreme form. Step 1 is a strategic decision and it happens before any argument is made.
EXTRA EXAMPLES: This is Level 3 Module 6's memorised opening under adversarial pressure. Same technique, higher stakes.
TIP: Have every learner deliver their opening to the whole class. Ninety seconds each and everyone stands up early.
CLASSROOM ACTIVITY: Round the room: every learner delivers a full opening on the same motion, with different narrowings.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TIME: 16 minutes.
HOW TO TEACH: Step 2 is the judgement that matters. Choosing the load-bearing point rather than the easy one is what makes a rebuttal decisive.
COMMON MISTAKES: Attacking all three points. Give a strict sixty seconds and it becomes physically impossible, which teaches the lesson faster than explanation.
EXTRA EXAMPLES: Step 5 is not always available. When it is, it is the single most impressive move in a debate.
TIP: Run this repeatedly with different cases. Rebuttal is a reflex and reflexes need repetition.
CLASSROOM ACTIVITY: Five cases: present five short cases and have learners rebut each in sixty seconds.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TIME: 15 minutes.
HOW TO TEACH: The note is the technique. Learners instinctively get louder; slowing down is far more effective and far less aggressive.
COMMON MISTAKES: Shouting the emphasis. Volume reads as loss of control; a slow, quiet repetition reads as certainty.
EXTRA EXAMPLES: The rule of three needs a rising then falling pattern across the three items. Demonstrate it — learners hear it immediately.
TIP: This is Level 3 Module 2's intonation work applied to persuasion. Same tools, different purpose.
CLASSROOM ACTIVITY: Slow, not loud: learners deliver the same repeated phrase both ways and the class judges which lands.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TIME: 16 minutes.
HOW TO TEACH: Step 5 is the real test. Recognising which type of question you have been asked, under pressure, is the skill.
COMMON MISTAKES: Using technique 4 on a question that is simply difficult. That reads as evasion and audiences punish it.
EXTRA EXAMPLES: Have the questioner deliberately mix the four types with no pattern. The unpredictability is the point.
TIP: Learners who freeze here should default to technique 3. Buying three seconds solves most of it.
CLASSROOM ACTIVITY: Random four: every learner faces all four types in an unpredictable order.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TIME: A full lesson. Allow 12 minutes per pair including questions.
HOW TO TEACH: Assign sides by lot in front of the class. Learners must prepare both sides beforehand, which is the real work of the module.
COMMON MISTAKES: Step 6 is the one that gets forgotten under pressure. Make it an explicit requirement and mark it.
TIP: Record if learners agree. Watching your own debate is uncomfortable and more useful than any feedback.
CLASSROOM ACTIVITY: Audience judges: the class votes on who was most convincing AND who was most correct. The two often differ, which is slide 4's point.
ANSWERS: SUCCESS CRITERIA: a narrowed position and three previewed lines · a single-target rebuttal with all four steps · three questions handled with three different techniques · a closing with one number and one repeated phrase and no new arguments · at least one bounded concession.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TIME: 15 minutes.
HOW TO TEACH: Question 4 is the demonstration. Read A once and ask learners to list its points — most manage two of four or five.
COMMON MISTAKES: A is not badly informed; it is unstructured. The content may be equally good and none of it survives the delivery.
EXTRA EXAMPLES: Question 6 is strategic: A is easier to attack because “homework is bad” is a broader claim than “reduced, not abolished”.
ANSWERS: 1 Unclear — “bad”, but not what should happen. · 2 Reduction, not abolition. · 3 Four or five, unnumbered. · 4 Usually two. · 5 Narrowed the position and previewed three lines. · 6 A, because the claim is broader.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TIME: 4 minutes per slide.
HOW TO TEACH: Read the answer, then the WHY aloud. Ask learners to raise a hand for each one they got wrong — you are collecting data on what to re-teach, not judging anyone. Say so.
COMMON MISTAKES: Do not simply read the answers and move on. The explanation is where the learning happens — a learner who hears only “b” learns nothing.
TIP: The final item is the module's most transferable idea. It applies to meetings and negotiations as much as to debate.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TIME: 16 minutes.
HOW TO TEACH: The first two exchanges are one mistake with its consequence. An invented figure invites a source question, and there is no good answer to it.
COMMON MISTAKES: Learners think “about sixty per cent, I think” is suitably hedged. It is not — the hedge does not protect an invented number.
EXTRA EXAMPLES: The third and fourth answers are correct and confident. The contrast within one round is the lesson.
ANSWERS: 1 The figure is invented. · 2 The source question exposed it. · 3 “I don't have that figure — the main point is…” · 4 Naming the false premise. · 5 Buying time and imposing structure. · 6 The first, because it destroyed credibility for the rest.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TIME: 4 minutes per slide.
HOW TO TEACH: Read the answer, then the WHY aloud. Ask learners to raise a hand for each one they got wrong — you are collecting data on what to re-teach, not judging anyone. Say so.
COMMON MISTAKES: Do not simply read the answers and move on. The explanation is where the learning happens — a learner who hears only “b” learns nothing.
TIP: This is the sharpest single lesson in the module. Play the first two exchanges again at the end of the lesson.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TIME: 7 minutes.
HOW TO TEACH: These four questions turn passive listening into judging, which is how the class should watch every debate in this module.
COMMON MISTAKES: Judging on confidence alone. Confidence and correctness are independent, and separating them is what makes an audience useful.
TIP: Question 4 is the character test. It predicts how somebody will behave in a meeting far better than their argument does.
CLASSROOM ACTIVITY: Judge sheet: the audience scores every debate on all four questions.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TIME: 16 minutes.
HOW TO TEACH: Question 6 is the most useful. Having learners find the weakness in a well-built case is what prepares them to defend their own.
COMMON MISTAKES: The third line — “nobody has costed it” — is both a strength and a vulnerability. If the other side HAS costed it, this collapses.
EXTRA EXAMPLES: The repeated phrase “reformed, not cancelled” appears twice, and the closing returns to it deliberately.
ANSWERS: Reformed not cancelled · who attends, the true cost, a middle option · 70% · “reformed, not cancelled” · whether the students who need it most keep coming.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TIME: 12 minutes.
HOW TO TEACH: Question 5 should produce several answers. The costing claim, the 70% figure's source, and whether reform is realistic are all legitimate targets.
COMMON MISTAKES: Learners look for grammatical or stylistic faults. The question is about the argument, not the language.
TIP: Question 4 is worth dwelling on: the closing introduces no new argument and returns to the opening phrase. That is the rule from slide 16.
ANSWERS: 1 “Reformed, not cancelled” — a narrower claim is easier to defend. · 2 Who attends; the true cost; a middle option. · 3 70% — it is the only figure given a context. · 4 It adds nothing new and returns to the opening phrase. · 5 The claim that nobody has costed the middle option.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TIME: 4 minutes per slide.
HOW TO TEACH: Read the answer, then the WHY aloud. Ask learners to raise a hand for each one they got wrong — you are collecting data on what to re-teach, not judging anyone. Say so.
COMMON MISTAKES: Do not simply read the answers and move on. The explanation is where the learning happens — a learner who hears only “b” learns nothing.
TIP: Item 5 is the rebuttal lesson from slide 7 applied to a real case. Choosing the load-bearing point is the judgement that decides a rebuttal.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TIME: 16 minutes.
HOW TO TEACH: All four weak moves from Module 2 appear again, one per paragraph. The repetition across modules is deliberate — these are the errors that persist.
COMMON MISTAKES: This version argues the same side as slide 41 and is far less defensible. Same position, no case.
EXTRA EXAMPLES: Note the last paragraph does the opposite of narrowing: “exactly as they are” is the widest, least defensible version of the claim.
ANSWERS: Para 1: “obviously” and “everybody agrees”. Para 2: attacking people. Para 3: straw man. Para 4: all-or-nothing, and it WIDENS the position. No numbers anywhere.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TIME: 4 minutes per slide.
HOW TO TEACH: Read the answer, then the WHY aloud. Ask learners to raise a hand for each one they got wrong — you are collecting data on what to re-teach, not judging anyone. Say so.
COMMON MISTAKES: Do not simply read the answers and move on. The explanation is where the learning happens — a learner who hears only “b” learns nothing.
TIP: Ask which version the class would rather defend in a real debate. The answer is unanimous, and it makes the case for structure better than any explanation.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TIME: 11 minutes.
HOW TO TEACH: Every narrowing must still be a real position on the same side. Narrowing into meaninglessness is not the goal.
COMMON MISTAKES: Narrowing so far that it no longer opposes anything. The narrowed version must still be contested.
TIP: Ask which version each learner would rather defend. The narrowed one, every time — that is the whole point.
ANSWERS: MODELS: 1 reduced, not abolished · 2 reformed, not cancelled · 3 introduced from grade four, not grade one · 4 written exams online, practical exams in person · 5 open two Saturdays a month, not every week.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TIME: 14 minutes.
HOW TO TEACH: Step 1 is the judgement. The cost point is load-bearing; “students prefer weekdays” is soft and easy, which is exactly why it is the wrong target.
COMMON MISTAKES: Attacking all three points. Sixty seconds makes it impossible; on paper learners must be told.
TIP: Step 5 is available here and it is what makes the rebuttal decisive rather than merely defensive.
ANSWERS: MODEL: “Their main point is the cost — two staff for six students. That is a real cost and I accept it. But they haven't costed the alternative: the dropout that follows costs more than 40,000 birr a year. Which means their own argument supports reform rather than cancellation.”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TIME: 30 minutes, finished at home.
HOW TO TEACH: Preparing both sides is the real work of the module. It is also the reason learners will be able to argue an assigned side without difficulty.
COMMON MISTAKES: Preparing the side they personally hold and neglecting the other. Assign sides by lot in front of them and the incentive corrects itself.
TIP: Step 6 is the highest-value part. Six prepared answers to hard questions is what makes the question round survivable.
ANSWERS: MODEL: see slide 41 for one side. The other side follows the same structure.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TIME: 4 minutes per slide.
HOW TO TEACH: Read the answer, then the WHY aloud. Ask learners to raise a hand for each one they got wrong — you are collecting data on what to re-teach, not judging anyone. Say so.
COMMON MISTAKES: Do not simply read the answers and move on. The explanation is where the learning happens — a learner who hears only “b” learns nothing.
TIP: Give this rubric before the task. The both-sides requirement carries six marks and it is what makes the assigned-side debate possible.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TIME: 4 minutes.
HOW TO TEACH: Run this with every learner before the class debate. It catches most problems in three minutes.
TIP: Check 6 is the one to enforce. A speaker who has decided in advance what they are willing to concede does it gracefully under pressure.
CLASSROOM ACTIVITY: Six checks: learners check each other's prepared cases against this list.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TIME: 6 minutes.
HOW TO TEACH: Answer alone, then compare in pairs before taking answers from the class.
TIP: Question 3 is the rule that decides debates. Say the answer twice.
ANSWERS: 1 b · 2 b · 3 b · 4 b · 5 b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TIME: 7 minutes.
HOW TO TEACH: Take the answers orally at speed. In a debate these must be retrievable in under a second.
COMMON MISTAKES: Item 6's preposition. “On stake” is a common transfer error.
TIP: Item 3 is the turnaround, the strongest move in the module. Drill it twice.
ANSWERS: 1 position · 2 premise · 3 supports · 4 parts · 5 leaves · 6 at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TIME: 8 minutes.
HOW TO TEACH: Three short tasks. Let learners work in pairs and compare.
TIP: Part 2 distinguishes attacking a premise from attacking an inference. Learners who can tell them apart can rebut precisely.
ANSWERS: Part 1: 1–c, 2–a, 3–d, 4–b.  ·  Part 2: 1–b, 2–a, 3–c.  ·  Part 3: 1–c, 2–a, 3–b.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TIME: 9 minutes.
HOW TO TEACH: Each narrowing must remain contested. If nobody would argue against it, it has been narrowed too far.
COMMON MISTAKES: Narrowing until it is uncontroversial. Item 3's model is still genuinely arguable, which is the test.
TIP: Ask which version each learner would rather defend against a prepared opponent.
ANSWERS: MODELS: 1 harmful for under-13s without limits · 2 free for students and over-65s · 3 meetings without an agenda waste time · 4 everyone should learn basic data skills · 5 the third module could be halved.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TIME: 12 minutes.
HOW TO TEACH: The load-bearing point is the one that, if removed, collapses the case. The soft points — preferences — are rarely it.
COMMON MISTAKES: Choosing the easiest target. “Staff prefer it” is easy to attack and removing it changes nothing.
TIP: Point out the pattern: in all four, the load-bearing point is the one with a number attached.
ANSWERS: 1 the cost · 2 the weekly failures · 3 the poor results · 4 the 40% dropout. In each case the preference points are decorative.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TIME: 9 minutes.
HOW TO TEACH: Correcting each false statement is what makes this teach rather than test.
TIP: Item 6 is slide 4's uncomfortable claim. It is worth defending in discussion rather than simply asserting.
ANSWERS: 1 F — one load-bearing point, properly · 2 T · 3 F — never invent a figure · 4 F — remind, do not add · 5 T · 6 F — clear, structured delivery decides most debates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TIME: 12 minutes.
HOW TO TEACH: Question 5 is the preparation that makes graceful concession possible under pressure. Deciding in advance is what makes it look easy.
COMMON MISTAKES: Question 3 answered with three numbers. One, repeated three times, is the instruction.
TIP: Collect these before the debate and use question 4 to check whether learners have identified the right target.
ANSWERS: No fixed answers. Question 3 must give exactly one of each; question 5 must include the bounding clause.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TIME: 15 minutes.
HOW TO TEACH: Assign sides by coin toss for every round. The discipline of arguing an assigned side is the module.
TIP: Round 4 is where new arguments appear. Stop the speaker the moment one does — the rule matters.
ANSWERS: SUCCESS CRITERIA: 1 narrowed and previewed · 2 one target, all four steps · 3 three distinct techniques · 4 one number, one repeated phrase, nothing new.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TIME: A full lesson in groups of four.
HOW TO TEACH: Step 4 is the module's central lesson made visible. When the two votes differ, ask the class why — that discussion is worth more than the debate.
TIP: Step 5 is what proves the both-sides preparation worked. Learners who prepared properly find the second run easier than the first.
ANSWERS: Judged with the six checks from slide 50 and the four questions from slide 40.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TIME: 14 minutes. Discussion, not writing.
HOW TO TEACH: Question 4 is the honest one and it should not be resolved too neatly. Persuasion and truth can come apart, and knowing that is a defence against being persuaded badly.
TIP: Question 4's answer is the reason slide 40 exists. Learning to judge arguments is protection, not just technique.
ANSWERS: 1 For: it is a skill, and understanding the other side makes your own view more accurate. Against: it can train fluent advocacy detached from belief. Most people conclude it is legitimate as practice and dangerous as a habit. 2 The opponent's prepared attacks aim at a claim you are no longer making. 3 An invented figure invites a source question with no good answer, and it discounts every true thing you said. 4 No — which is exactly why audiences need the four judging questions from slide 40.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TIME: 4 minutes per quiz slide, 20 minutes for the whole quiz.
HOW TO TEACH: Run the whole quiz before showing any answers. Learners write answers on paper and number them 1 to 20. The final question is spoken and is assessed by you or by a partner.
COMMON MISTAKES: Do not let learners mark their own paper before the answer key. Collect the papers or have them swap.
TIP: Pass mark is 16 out of 20. A learner below that should redo Exercises A to F, not repeat the whole module.
Question 20 is worth as much as the other nineteen together. Sides are assigned by lot, and both sides must have been prepared.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TIME: 4 minutes per quiz slide, 20 minutes for the whole quiz.
HOW TO TEACH: Run the whole quiz before showing any answers. Learners write answers on paper and number them 1 to 20. The final question is spoken and is assessed by you or by a partner.
COMMON MISTAKES: Do not let learners mark their own paper before the answer key. Collect the papers or have them swap.
TIP: Pass mark is 16 out of 20. A learner below that should redo Exercises A to F, not repeat the whole module.
Question 20 is worth as much as the other nineteen together. Sides are assigned by lot, and both sides must have been prepared.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TIME: 4 minutes per quiz slide, 20 minutes for the whole quiz.
HOW TO TEACH: Run the whole quiz before showing any answers. Learners write answers on paper and number them 1 to 20. The final question is spoken and is assessed by you or by a partner.
COMMON MISTAKES: Do not let learners mark their own paper before the answer key. Collect the papers or have them swap.
TIP: Pass mark is 16 out of 20. A learner below that should redo Exercises A to F, not repeat the whole module.
Question 20 is worth as much as the other nineteen together. Sides are assigned by lot, and both sides must have been prepared.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TIME: 4 minutes per quiz slide, 20 minutes for the whole quiz.
HOW TO TEACH: Run the whole quiz before showing any answers. Learners write answers on paper and number them 1 to 20. The final question is spoken and is assessed by you or by a partner.
COMMON MISTAKES: Do not let learners mark their own paper before the answer key. Collect the papers or have them swap.
TIP: Pass mark is 16 out of 20. A learner below that should redo Exercises A to F, not repeat the whole module.
Question 20 is worth as much as the other nineteen together. Sides are assigned by lot, and both sides must have been prepared.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TIME: 4 minutes per quiz slide, 20 minutes for the whole quiz.
HOW TO TEACH: Run the whole quiz before showing any answers. Learners write answers on paper and number them 1 to 20. The final question is spoken and is assessed by you or by a partner.
COMMON MISTAKES: Do not let learners mark their own paper before the answer key. Collect the papers or have them swap.
TIP: Pass mark is 16 out of 20. A learner below that should redo Exercises A to F, not repeat the whole module.
Question 20 is worth as much as the other nineteen together. Sides are assigned by lot, and both sides must have been prepared.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TIME: 4 minutes per slide.
HOW TO TEACH: Read the answer, then the WHY aloud. Ask learners to raise a hand for each one they got wrong — you are collecting data on what to re-teach, not judging anyone. Say so.
COMMON MISTAKES: Do not simply read the answers and move on. The explanation is where the learning happens — a learner who hears only “b” learns nothing.
TIP: Q9, Q14 and Q16 are the diagnostic block: one rebuttal target, never inventing a figure, and conceding a lost point. All three separate a competent debater from a loud one.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TIME: 4 minutes per slide.
HOW TO TEACH: Read the answer, then the WHY aloud. Ask learners to raise a hand for each one they got wrong — you are collecting data on what to re-teach, not judging anyone. Say so.
COMMON MISTAKES: Do not simply read the answers and move on. The explanation is where the learning happens — a learner who hears only “b” learns nothing.
TIP: Q9, Q14 and Q16 are the diagnostic block: one rebuttal target, never inventing a figure, and conceding a lost point. All three separate a competent debater from a loud one.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TIME: 4 minutes per slide.
HOW TO TEACH: Read the answer, then the WHY aloud. Ask learners to raise a hand for each one they got wrong — you are collecting data on what to re-teach, not judging anyone. Say so.
COMMON MISTAKES: Do not simply read the answers and move on. The explanation is where the learning happens — a learner who hears only “b” learns nothing.
TIP: Q9, Q14 and Q16 are the diagnostic block: one rebuttal target, never inventing a figure, and conceding a lost point. All three separate a competent debater from a loud one.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TIME: 4 minutes per slide.
HOW TO TEACH: Read the answer, then the WHY aloud. Ask learners to raise a hand for each one they got wrong — you are collecting data on what to re-teach, not judging anyone. Say so.
COMMON MISTAKES: Do not simply read the answers and move on. The explanation is where the learning happens — a learner who hears only “b” learns nothing.
TIP: Q9, Q14 and Q16 are the diagnostic block: one rebuttal target, never inventing a figure, and conceding a lost point. All three separate a competent debater from a loud one.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TIME: 4 minutes per slide.
HOW TO TEACH: Read the answer, then the WHY aloud. Ask learners to raise a hand for each one they got wrong — you are collecting data on what to re-teach, not judging anyone. Say so.
COMMON MISTAKES: Do not simply read the answers and move on. The explanation is where the learning happens — a learner who hears only “b” learns nothing.
TIP: Q9, Q14 and Q16 are the diagnostic block: one rebuttal target, never inventing a figure, and conceding a lost point. All three separate a competent debater from a loud one.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TIME: 3 minutes to set.
HOW TO TEACH: Thursday's task is the one that makes the question round survivable. Six prepared answers is the difference between confidence and panic.
TIP: Friday's comparison is diagnostic. If one side sounds noticeably weaker, that is the side they will be assigned — and they should prepare it more.
CLASSROOM ACTIVITY: Ask learners to bring both recordings and both prepared cases.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TIME: 3 minutes to set.
HOW TO TEACH: Mark the weaker side as carefully as the stronger one. Learners neglect the side they disagree with, and that is exactly the side the lot may give them.
COMMON MISTAKES: One side prepared thoroughly and the other in note form. Six of the twenty-five marks are for parity between them.
TIP: Draw the sides in front of the class the following lesson. The visible randomness is what enforces the both-sides preparation.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TIME: 3 minutes.
HOW TO TEACH: Note what is NOT marked: which side you were given, and whether the audience agreed with you. Say so — it removes the incentive to argue only what you believe.
COMMON MISTAKES: Do not mark grammar or accent. This is a debate assessment and mixing criteria makes the feedback unusable.
TIP: Give the mark privately with two comments, one on the rebuttal target and one on the question round.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TIME: 6 minutes.
HOW TO TEACH: Return to the warm-up on slide 3. Assign sides again on the same motion and give sixty seconds. The difference from lesson one is usually striking.
TIP: Ask who could now argue either side of their own strongest belief. That capacity is what the module was for.
CLASSROOM ACTIVITY: Quick-fire recap: point at each card and ask a different learner for one example.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TIME: 4 minutes.
HOW TO TEACH: Tell learners to photograph this slide. The third box is the one to read immediately before any question round.
TIP: Print the second box. The four-step rebuttal works in meetings and negotiations, not only in formal debate.
CLASSROOM ACTIVITY: Cover each box in turn and ask the class to say what was in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TIME: 5 minutes.
HOW TO TEACH: Name what they did. Arguing an assigned side under public challenge is genuinely difficult and most people avoid it their whole lives.
TIP: Preview Module 4 as the opposite discipline: a discussion has no winner, several voices, and needs somebody to keep it moving. The skills are related and the goal is different.
CLASSROOM ACTIVITY: Ask every learner to name one thing they will do differently in their next real disagreement.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image" Target="../media/image-1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image" Target="../media/image-1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image" Target="../media/image-15-4.png"/><Relationship Id="rId5" Type="http://schemas.openxmlformats.org/officeDocument/2006/relationships/image" Target="../media/image-15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image" Target="../media/image-1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image" Target="../media/image-28-2.png"/><Relationship Id="rId3" Type="http://schemas.openxmlformats.org/officeDocument/2006/relationships/image" Target="../media/image-28-3.png"/><Relationship Id="rId4" Type="http://schemas.openxmlformats.org/officeDocument/2006/relationships/image" Target="../media/image-28-4.png"/><Relationship Id="rId5" Type="http://schemas.openxmlformats.org/officeDocument/2006/relationships/image" Target="../media/image-28-5.png"/><Relationship Id="rId6" Type="http://schemas.openxmlformats.org/officeDocument/2006/relationships/image" Target="../media/image-28-6.png"/><Relationship Id="rId7" Type="http://schemas.openxmlformats.org/officeDocument/2006/relationships/image" Target="../media/image-28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3-1.png"/><Relationship Id="rId2" Type="http://schemas.openxmlformats.org/officeDocument/2006/relationships/image" Target="../media/image-33-2.png"/><Relationship Id="rId3" Type="http://schemas.openxmlformats.org/officeDocument/2006/relationships/image" Target="../media/image-3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0-1.png"/><Relationship Id="rId2" Type="http://schemas.openxmlformats.org/officeDocument/2006/relationships/image" Target="../media/image-40-2.png"/><Relationship Id="rId3" Type="http://schemas.openxmlformats.org/officeDocument/2006/relationships/image" Target="../media/image-40-3.png"/><Relationship Id="rId4" Type="http://schemas.openxmlformats.org/officeDocument/2006/relationships/image" Target="../media/image-40-4.png"/><Relationship Id="rId5" Type="http://schemas.openxmlformats.org/officeDocument/2006/relationships/image" Target="../media/image-4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2-1.png"/><Relationship Id="rId2" Type="http://schemas.openxmlformats.org/officeDocument/2006/relationships/image" Target="../media/image-4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6-1.png"/><Relationship Id="rId2" Type="http://schemas.openxmlformats.org/officeDocument/2006/relationships/image" Target="../media/image-4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7-1.png"/><Relationship Id="rId2" Type="http://schemas.openxmlformats.org/officeDocument/2006/relationships/image" Target="../media/image-4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8-1.png"/><Relationship Id="rId2" Type="http://schemas.openxmlformats.org/officeDocument/2006/relationships/image" Target="../media/image-4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0-1.png"/><Relationship Id="rId2" Type="http://schemas.openxmlformats.org/officeDocument/2006/relationships/image" Target="../media/image-50-2.png"/><Relationship Id="rId3" Type="http://schemas.openxmlformats.org/officeDocument/2006/relationships/image" Target="../media/image-50-3.png"/><Relationship Id="rId4" Type="http://schemas.openxmlformats.org/officeDocument/2006/relationships/image" Target="../media/image-50-4.png"/><Relationship Id="rId5" Type="http://schemas.openxmlformats.org/officeDocument/2006/relationships/image" Target="../media/image-50-5.png"/><Relationship Id="rId6" Type="http://schemas.openxmlformats.org/officeDocument/2006/relationships/image" Target="../media/image-50-6.png"/><Relationship Id="rId7" Type="http://schemas.openxmlformats.org/officeDocument/2006/relationships/image" Target="../media/image-50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50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1-1.png"/><Relationship Id="rId2" Type="http://schemas.openxmlformats.org/officeDocument/2006/relationships/image" Target="../media/image-5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2-1.png"/><Relationship Id="rId2" Type="http://schemas.openxmlformats.org/officeDocument/2006/relationships/image" Target="../media/image-5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3-1.png"/><Relationship Id="rId2" Type="http://schemas.openxmlformats.org/officeDocument/2006/relationships/image" Target="../media/image-5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4-1.png"/><Relationship Id="rId2" Type="http://schemas.openxmlformats.org/officeDocument/2006/relationships/image" Target="../media/image-5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4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5-1.png"/><Relationship Id="rId2" Type="http://schemas.openxmlformats.org/officeDocument/2006/relationships/image" Target="../media/image-5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5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6-1.png"/><Relationship Id="rId2" Type="http://schemas.openxmlformats.org/officeDocument/2006/relationships/image" Target="../media/image-5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6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7-1.png"/><Relationship Id="rId2" Type="http://schemas.openxmlformats.org/officeDocument/2006/relationships/image" Target="../media/image-5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8-1.png"/><Relationship Id="rId2" Type="http://schemas.openxmlformats.org/officeDocument/2006/relationships/image" Target="../media/image-5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8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9-1.png"/><Relationship Id="rId2" Type="http://schemas.openxmlformats.org/officeDocument/2006/relationships/image" Target="../media/image-5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9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0-1.png"/><Relationship Id="rId2" Type="http://schemas.openxmlformats.org/officeDocument/2006/relationships/image" Target="../media/image-6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0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1-1.png"/><Relationship Id="rId2" Type="http://schemas.openxmlformats.org/officeDocument/2006/relationships/image" Target="../media/image-6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1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3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4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5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6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7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8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9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0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1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3-1.png"/><Relationship Id="rId2" Type="http://schemas.openxmlformats.org/officeDocument/2006/relationships/image" Target="../media/image-73-2.png"/><Relationship Id="rId3" Type="http://schemas.openxmlformats.org/officeDocument/2006/relationships/image" Target="../media/image-73-3.png"/><Relationship Id="rId4" Type="http://schemas.openxmlformats.org/officeDocument/2006/relationships/image" Target="../media/image-73-4.png"/><Relationship Id="rId5" Type="http://schemas.openxmlformats.org/officeDocument/2006/relationships/image" Target="../media/image-7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3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4-1.png"/><Relationship Id="rId2" Type="http://schemas.openxmlformats.org/officeDocument/2006/relationships/image" Target="../media/image-74-2.png"/><Relationship Id="rId3" Type="http://schemas.openxmlformats.org/officeDocument/2006/relationships/image" Target="../media/image-74-3.png"/><Relationship Id="rId4" Type="http://schemas.openxmlformats.org/officeDocument/2006/relationships/image" Target="../media/image-74-4.png"/><Relationship Id="rId5" Type="http://schemas.openxmlformats.org/officeDocument/2006/relationships/image" Target="../media/image-74-5.png"/><Relationship Id="rId6" Type="http://schemas.openxmlformats.org/officeDocument/2006/relationships/image" Target="../media/image-74-6.png"/><Relationship Id="rId7" Type="http://schemas.openxmlformats.org/officeDocument/2006/relationships/image" Target="../media/image-74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74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5-1.png"/><Relationship Id="rId2" Type="http://schemas.openxmlformats.org/officeDocument/2006/relationships/image" Target="../media/image-75-2.png"/><Relationship Id="rId3" Type="http://schemas.openxmlformats.org/officeDocument/2006/relationships/image" Target="../media/image-75-3.png"/><Relationship Id="rId4" Type="http://schemas.openxmlformats.org/officeDocument/2006/relationships/image" Target="../media/image-75-4.png"/><Relationship Id="rId5" Type="http://schemas.openxmlformats.org/officeDocument/2006/relationships/image" Target="../media/image-75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5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23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663440" cy="6858000"/>
          </a:xfrm>
          <a:prstGeom prst="roundRect">
            <a:avLst/>
          </a:prstGeom>
          <a:solidFill>
            <a:srgbClr val="0E7C5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85800" y="137160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40" kern="0" dirty="0">
                <a:solidFill>
                  <a:srgbClr val="BFE6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4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1664208"/>
            <a:ext cx="34747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8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3794760"/>
            <a:ext cx="3474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Spoken</a:t>
            </a:r>
            <a:endParaRPr lang="en-US" sz="26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English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4709160"/>
            <a:ext cx="3474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BFE6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CEFR B1 → B2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5349240" y="1417320"/>
            <a:ext cx="6309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20" kern="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3 OF 8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5349240" y="1783080"/>
            <a:ext cx="63093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Debate &amp; Persuasion</a:t>
            </a:r>
            <a:endParaRPr lang="en-US" sz="4600" dirty="0"/>
          </a:p>
        </p:txBody>
      </p:sp>
      <p:sp>
        <p:nvSpPr>
          <p:cNvPr id="9" name="Text 7"/>
          <p:cNvSpPr txBox="1"/>
          <p:nvPr/>
        </p:nvSpPr>
        <p:spPr>
          <a:xfrm>
            <a:off x="5349240" y="3246120"/>
            <a:ext cx="6309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B9CF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2 taught you to build an argument. This module puts one in front of somebody who has prepared against it — under time pressure, in public.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5349240" y="4206240"/>
            <a:ext cx="1956816" cy="841248"/>
          </a:xfrm>
          <a:prstGeom prst="roundRect">
            <a:avLst>
              <a:gd name="adj" fmla="val 15217"/>
            </a:avLst>
          </a:prstGeom>
          <a:solidFill>
            <a:srgbClr val="1C4E39"/>
          </a:solidFill>
          <a:ln w="12700">
            <a:solidFill>
              <a:srgbClr val="2A6249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513832" y="4315968"/>
            <a:ext cx="16276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76</a:t>
            </a:r>
            <a:endParaRPr lang="en-US" sz="2100" dirty="0"/>
          </a:p>
        </p:txBody>
      </p:sp>
      <p:sp>
        <p:nvSpPr>
          <p:cNvPr id="12" name="Text 10"/>
          <p:cNvSpPr txBox="1"/>
          <p:nvPr/>
        </p:nvSpPr>
        <p:spPr>
          <a:xfrm>
            <a:off x="5513832" y="4663440"/>
            <a:ext cx="1627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DB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525512" y="4206240"/>
            <a:ext cx="1956816" cy="841248"/>
          </a:xfrm>
          <a:prstGeom prst="roundRect">
            <a:avLst>
              <a:gd name="adj" fmla="val 15217"/>
            </a:avLst>
          </a:prstGeom>
          <a:solidFill>
            <a:srgbClr val="1C4E39"/>
          </a:solidFill>
          <a:ln w="12700">
            <a:solidFill>
              <a:srgbClr val="2A6249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690104" y="4315968"/>
            <a:ext cx="16276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× 60</a:t>
            </a:r>
            <a:endParaRPr lang="en-US" sz="2100" dirty="0"/>
          </a:p>
        </p:txBody>
      </p:sp>
      <p:sp>
        <p:nvSpPr>
          <p:cNvPr id="15" name="Text 13"/>
          <p:cNvSpPr txBox="1"/>
          <p:nvPr/>
        </p:nvSpPr>
        <p:spPr>
          <a:xfrm>
            <a:off x="7690104" y="4663440"/>
            <a:ext cx="1627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DB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MINUTES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9701784" y="4206240"/>
            <a:ext cx="1956816" cy="841248"/>
          </a:xfrm>
          <a:prstGeom prst="roundRect">
            <a:avLst>
              <a:gd name="adj" fmla="val 15217"/>
            </a:avLst>
          </a:prstGeom>
          <a:solidFill>
            <a:srgbClr val="1C4E39"/>
          </a:solidFill>
          <a:ln w="12700">
            <a:solidFill>
              <a:srgbClr val="2A6249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9866376" y="4315968"/>
            <a:ext cx="16276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</a:t>
            </a:r>
            <a:endParaRPr lang="en-US" sz="2100" dirty="0"/>
          </a:p>
        </p:txBody>
      </p:sp>
      <p:sp>
        <p:nvSpPr>
          <p:cNvPr id="18" name="Text 16"/>
          <p:cNvSpPr txBox="1"/>
          <p:nvPr/>
        </p:nvSpPr>
        <p:spPr>
          <a:xfrm>
            <a:off x="9866376" y="4663440"/>
            <a:ext cx="1627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DB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DEBATE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5349240" y="5349240"/>
            <a:ext cx="6309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C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Teacher: ____________________   Class: ____________   Date: ____________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548640" y="6144768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50" kern="0" dirty="0">
                <a:solidFill>
                  <a:srgbClr val="7C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4 · Advanced Spoken English · Module 3 — Debate &amp; Persuasion</a:t>
            </a:r>
            <a:endParaRPr lang="en-US" sz="1000" dirty="0"/>
          </a:p>
        </p:txBody>
      </p:sp>
      <p:sp>
        <p:nvSpPr>
          <p:cNvPr id="21" name="Text 19"/>
          <p:cNvSpPr txBox="1"/>
          <p:nvPr/>
        </p:nvSpPr>
        <p:spPr>
          <a:xfrm>
            <a:off x="10607040" y="6144768"/>
            <a:ext cx="1033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38912"/>
            <a:ext cx="2391156" cy="420624"/>
          </a:xfrm>
          <a:prstGeom prst="roundRect">
            <a:avLst>
              <a:gd name="adj" fmla="val 50000"/>
            </a:avLst>
          </a:prstGeom>
          <a:solidFill>
            <a:srgbClr val="0E7C5A"/>
          </a:solidFill>
          <a:ln/>
        </p:spPr>
      </p:sp>
      <p:sp>
        <p:nvSpPr>
          <p:cNvPr id="3" name="Shape 1"/>
          <p:cNvSpPr/>
          <p:nvPr/>
        </p:nvSpPr>
        <p:spPr>
          <a:xfrm>
            <a:off x="649224" y="539496"/>
            <a:ext cx="219456" cy="219456"/>
          </a:xfrm>
          <a:prstGeom prst="ellipse">
            <a:avLst/>
          </a:prstGeom>
          <a:solidFill>
            <a:srgbClr val="0E7C5A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" y="539496"/>
            <a:ext cx="219456" cy="21945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932688" y="438912"/>
            <a:ext cx="18973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OBJECTIVES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896112"/>
            <a:ext cx="10972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 will be able to do</a:t>
            </a:r>
            <a:endParaRPr lang="en-US" sz="38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536192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things. Under pressure, against a prepared opponent.</a:t>
            </a:r>
            <a:endParaRPr lang="en-US" sz="165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6144768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50" kern="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4 · Advanced Spoken English · Module 3 — Debate &amp; Persuasion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10607040" y="6144768"/>
            <a:ext cx="1033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548640" y="1883664"/>
            <a:ext cx="11094415" cy="694944"/>
          </a:xfrm>
          <a:prstGeom prst="roundRect">
            <a:avLst>
              <a:gd name="adj" fmla="val 18421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786384" y="2029968"/>
            <a:ext cx="402336" cy="402336"/>
          </a:xfrm>
          <a:prstGeom prst="ellipse">
            <a:avLst/>
          </a:prstGeom>
          <a:solidFill>
            <a:srgbClr val="0E7C5A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2945" y="2126529"/>
            <a:ext cx="209215" cy="209215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463040" y="1956816"/>
            <a:ext cx="99056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58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a debate case in ninety seconds</a:t>
            </a:r>
            <a:endParaRPr lang="en-US" sz="1580" dirty="0"/>
          </a:p>
          <a:p>
            <a:pPr indent="0" marL="0">
              <a:lnSpc>
                <a:spcPct val="102000"/>
              </a:lnSpc>
              <a:spcBef>
                <a:spcPts val="225"/>
              </a:spcBef>
              <a:buNone/>
            </a:pPr>
            <a:r>
              <a:rPr lang="en-US" sz="12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Position, three lines of argument, and what you will prove.</a:t>
            </a:r>
            <a:endParaRPr lang="en-US" sz="1580" dirty="0"/>
          </a:p>
        </p:txBody>
      </p:sp>
      <p:sp>
        <p:nvSpPr>
          <p:cNvPr id="15" name="Shape 10"/>
          <p:cNvSpPr/>
          <p:nvPr/>
        </p:nvSpPr>
        <p:spPr>
          <a:xfrm>
            <a:off x="548640" y="2724912"/>
            <a:ext cx="11094415" cy="694944"/>
          </a:xfrm>
          <a:prstGeom prst="roundRect">
            <a:avLst>
              <a:gd name="adj" fmla="val 18421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16" name="Shape 11"/>
          <p:cNvSpPr/>
          <p:nvPr/>
        </p:nvSpPr>
        <p:spPr>
          <a:xfrm>
            <a:off x="786384" y="2871216"/>
            <a:ext cx="402336" cy="402336"/>
          </a:xfrm>
          <a:prstGeom prst="ellipse">
            <a:avLst/>
          </a:prstGeom>
          <a:solidFill>
            <a:srgbClr val="0E7C5A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2945" y="2967777"/>
            <a:ext cx="209215" cy="209215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463040" y="2798064"/>
            <a:ext cx="99056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58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Rebut — attack the specific weak point, not everything</a:t>
            </a:r>
            <a:endParaRPr lang="en-US" sz="1580" dirty="0"/>
          </a:p>
          <a:p>
            <a:pPr indent="0" marL="0">
              <a:lnSpc>
                <a:spcPct val="102000"/>
              </a:lnSpc>
              <a:spcBef>
                <a:spcPts val="225"/>
              </a:spcBef>
              <a:buNone/>
            </a:pPr>
            <a:r>
              <a:rPr lang="en-US" sz="12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Rebuttal is surgery, not demolition.</a:t>
            </a:r>
            <a:endParaRPr lang="en-US" sz="1580" dirty="0"/>
          </a:p>
        </p:txBody>
      </p:sp>
      <p:sp>
        <p:nvSpPr>
          <p:cNvPr id="19" name="Shape 13"/>
          <p:cNvSpPr/>
          <p:nvPr/>
        </p:nvSpPr>
        <p:spPr>
          <a:xfrm>
            <a:off x="548640" y="3566160"/>
            <a:ext cx="11094415" cy="694944"/>
          </a:xfrm>
          <a:prstGeom prst="roundRect">
            <a:avLst>
              <a:gd name="adj" fmla="val 18421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20" name="Shape 14"/>
          <p:cNvSpPr/>
          <p:nvPr/>
        </p:nvSpPr>
        <p:spPr>
          <a:xfrm>
            <a:off x="786384" y="3712464"/>
            <a:ext cx="402336" cy="402336"/>
          </a:xfrm>
          <a:prstGeom prst="ellipse">
            <a:avLst/>
          </a:prstGeom>
          <a:solidFill>
            <a:srgbClr val="0E7C5A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2945" y="3809025"/>
            <a:ext cx="209215" cy="209215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1463040" y="3639312"/>
            <a:ext cx="99056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58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a question you were not expecting</a:t>
            </a:r>
            <a:endParaRPr lang="en-US" sz="1580" dirty="0"/>
          </a:p>
          <a:p>
            <a:pPr indent="0" marL="0">
              <a:lnSpc>
                <a:spcPct val="102000"/>
              </a:lnSpc>
              <a:spcBef>
                <a:spcPts val="225"/>
              </a:spcBef>
              <a:buNone/>
            </a:pPr>
            <a:r>
              <a:rPr lang="en-US" sz="12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moment debates are actually won and lost.</a:t>
            </a:r>
            <a:endParaRPr lang="en-US" sz="1580" dirty="0"/>
          </a:p>
        </p:txBody>
      </p:sp>
      <p:sp>
        <p:nvSpPr>
          <p:cNvPr id="23" name="Shape 16"/>
          <p:cNvSpPr/>
          <p:nvPr/>
        </p:nvSpPr>
        <p:spPr>
          <a:xfrm>
            <a:off x="548640" y="4407408"/>
            <a:ext cx="11094415" cy="694944"/>
          </a:xfrm>
          <a:prstGeom prst="roundRect">
            <a:avLst>
              <a:gd name="adj" fmla="val 18421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24" name="Shape 17"/>
          <p:cNvSpPr/>
          <p:nvPr/>
        </p:nvSpPr>
        <p:spPr>
          <a:xfrm>
            <a:off x="786384" y="4553712"/>
            <a:ext cx="402336" cy="402336"/>
          </a:xfrm>
          <a:prstGeom prst="ellipse">
            <a:avLst/>
          </a:prstGeom>
          <a:solidFill>
            <a:srgbClr val="0E7C5A"/>
          </a:solidFill>
          <a:ln/>
        </p:spPr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2945" y="4650273"/>
            <a:ext cx="209215" cy="209215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1463040" y="4480560"/>
            <a:ext cx="99056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58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Persuade, not just prove</a:t>
            </a:r>
            <a:endParaRPr lang="en-US" sz="1580" dirty="0"/>
          </a:p>
          <a:p>
            <a:pPr indent="0" marL="0">
              <a:lnSpc>
                <a:spcPct val="102000"/>
              </a:lnSpc>
              <a:spcBef>
                <a:spcPts val="225"/>
              </a:spcBef>
              <a:buNone/>
            </a:pPr>
            <a:r>
              <a:rPr lang="en-US" sz="12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Being right and being convincing are different achievements.</a:t>
            </a:r>
            <a:endParaRPr lang="en-US" sz="1580" dirty="0"/>
          </a:p>
        </p:txBody>
      </p:sp>
      <p:sp>
        <p:nvSpPr>
          <p:cNvPr id="27" name="Shape 19"/>
          <p:cNvSpPr/>
          <p:nvPr/>
        </p:nvSpPr>
        <p:spPr>
          <a:xfrm>
            <a:off x="548640" y="5248656"/>
            <a:ext cx="11094415" cy="694944"/>
          </a:xfrm>
          <a:prstGeom prst="roundRect">
            <a:avLst>
              <a:gd name="adj" fmla="val 18421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28" name="Shape 20"/>
          <p:cNvSpPr/>
          <p:nvPr/>
        </p:nvSpPr>
        <p:spPr>
          <a:xfrm>
            <a:off x="786384" y="5394960"/>
            <a:ext cx="402336" cy="402336"/>
          </a:xfrm>
          <a:prstGeom prst="ellipse">
            <a:avLst/>
          </a:prstGeom>
          <a:solidFill>
            <a:srgbClr val="0E7C5A"/>
          </a:solidFill>
          <a:ln/>
        </p:spPr>
      </p:sp>
      <p:pic>
        <p:nvPicPr>
          <p:cNvPr id="2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82945" y="5491521"/>
            <a:ext cx="209215" cy="209215"/>
          </a:xfrm>
          <a:prstGeom prst="rect">
            <a:avLst/>
          </a:prstGeom>
        </p:spPr>
      </p:pic>
      <p:sp>
        <p:nvSpPr>
          <p:cNvPr id="30" name="Text 21"/>
          <p:cNvSpPr/>
          <p:nvPr/>
        </p:nvSpPr>
        <p:spPr>
          <a:xfrm>
            <a:off x="1463040" y="5321808"/>
            <a:ext cx="99056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58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Lose an exchange without losing the debate</a:t>
            </a:r>
            <a:endParaRPr lang="en-US" sz="1580" dirty="0"/>
          </a:p>
          <a:p>
            <a:pPr indent="0" marL="0">
              <a:lnSpc>
                <a:spcPct val="102000"/>
              </a:lnSpc>
              <a:spcBef>
                <a:spcPts val="225"/>
              </a:spcBef>
              <a:buNone/>
            </a:pPr>
            <a:r>
              <a:rPr lang="en-US" sz="12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Nobody wins every point. The good ones know that.</a:t>
            </a:r>
            <a:endParaRPr lang="en-US" sz="158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38912"/>
            <a:ext cx="1737360" cy="420624"/>
          </a:xfrm>
          <a:prstGeom prst="roundRect">
            <a:avLst>
              <a:gd name="adj" fmla="val 50000"/>
            </a:avLst>
          </a:prstGeom>
          <a:solidFill>
            <a:srgbClr val="F2A93B"/>
          </a:solidFill>
          <a:ln/>
        </p:spPr>
      </p:sp>
      <p:sp>
        <p:nvSpPr>
          <p:cNvPr id="3" name="Shape 1"/>
          <p:cNvSpPr/>
          <p:nvPr/>
        </p:nvSpPr>
        <p:spPr>
          <a:xfrm>
            <a:off x="649224" y="539496"/>
            <a:ext cx="219456" cy="219456"/>
          </a:xfrm>
          <a:prstGeom prst="ellipse">
            <a:avLst/>
          </a:prstGeom>
          <a:solidFill>
            <a:srgbClr val="F2A93B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" y="539496"/>
            <a:ext cx="219456" cy="21945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932688" y="438912"/>
            <a:ext cx="12435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WARM-UP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896112"/>
            <a:ext cx="10972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Warm-up: sixty seconds, no preparation</a:t>
            </a:r>
            <a:endParaRPr lang="en-US" sz="38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536192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will be given a side. You do not choose it.</a:t>
            </a:r>
            <a:endParaRPr lang="en-US" sz="165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6144768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50" kern="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4 · Advanced Spoken English · Module 3 — Debate &amp; Persuasion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10607040" y="6144768"/>
            <a:ext cx="1033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548640" y="1883664"/>
            <a:ext cx="3564026" cy="4059936"/>
          </a:xfrm>
          <a:prstGeom prst="roundRect">
            <a:avLst>
              <a:gd name="adj" fmla="val 3592"/>
            </a:avLst>
          </a:prstGeom>
          <a:solidFill>
            <a:srgbClr val="FDF3E7"/>
          </a:solidFill>
          <a:ln w="12700">
            <a:solidFill>
              <a:srgbClr val="EFDCB2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768096" y="2103120"/>
            <a:ext cx="457200" cy="457200"/>
          </a:xfrm>
          <a:prstGeom prst="ellipse">
            <a:avLst/>
          </a:prstGeom>
          <a:solidFill>
            <a:srgbClr val="F2A93B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2396" y="2217420"/>
            <a:ext cx="228600" cy="22860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768096" y="2706624"/>
            <a:ext cx="3125114" cy="3054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21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· Draw a side</a:t>
            </a:r>
            <a:endParaRPr lang="en-US" sz="2100" dirty="0"/>
          </a:p>
          <a:p>
            <a:pPr indent="0" marL="0">
              <a:lnSpc>
                <a:spcPct val="102000"/>
              </a:lnSpc>
              <a:spcBef>
                <a:spcPts val="400"/>
              </a:spcBef>
              <a:buNone/>
            </a:pPr>
            <a:r>
              <a:rPr lang="en-US" sz="15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“Homework should be abolished.” Your partner gives you FOR or AGAINST. No choosing.</a:t>
            </a:r>
            <a:endParaRPr lang="en-US" sz="2100" dirty="0"/>
          </a:p>
        </p:txBody>
      </p:sp>
      <p:sp>
        <p:nvSpPr>
          <p:cNvPr id="15" name="Shape 10"/>
          <p:cNvSpPr/>
          <p:nvPr/>
        </p:nvSpPr>
        <p:spPr>
          <a:xfrm>
            <a:off x="4313834" y="1883664"/>
            <a:ext cx="3564026" cy="4059936"/>
          </a:xfrm>
          <a:prstGeom prst="roundRect">
            <a:avLst>
              <a:gd name="adj" fmla="val 3592"/>
            </a:avLst>
          </a:prstGeom>
          <a:solidFill>
            <a:srgbClr val="FDF3E7"/>
          </a:solidFill>
          <a:ln w="12700">
            <a:solidFill>
              <a:srgbClr val="EFDCB2"/>
            </a:solidFill>
            <a:prstDash val="solid"/>
          </a:ln>
        </p:spPr>
      </p:sp>
      <p:sp>
        <p:nvSpPr>
          <p:cNvPr id="16" name="Shape 11"/>
          <p:cNvSpPr/>
          <p:nvPr/>
        </p:nvSpPr>
        <p:spPr>
          <a:xfrm>
            <a:off x="4533290" y="2103120"/>
            <a:ext cx="457200" cy="457200"/>
          </a:xfrm>
          <a:prstGeom prst="ellipse">
            <a:avLst/>
          </a:prstGeom>
          <a:solidFill>
            <a:srgbClr val="F2A93B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47590" y="2217420"/>
            <a:ext cx="228600" cy="22860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4533290" y="2706624"/>
            <a:ext cx="3125114" cy="3054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21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· Sixty seconds</a:t>
            </a:r>
            <a:endParaRPr lang="en-US" sz="2100" dirty="0"/>
          </a:p>
          <a:p>
            <a:pPr indent="0" marL="0">
              <a:lnSpc>
                <a:spcPct val="102000"/>
              </a:lnSpc>
              <a:spcBef>
                <a:spcPts val="400"/>
              </a:spcBef>
              <a:buNone/>
            </a:pPr>
            <a:r>
              <a:rPr lang="en-US" sz="15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Argue it. Now. How far did you get before you stopped?</a:t>
            </a:r>
            <a:endParaRPr lang="en-US" sz="2100" dirty="0"/>
          </a:p>
        </p:txBody>
      </p:sp>
      <p:sp>
        <p:nvSpPr>
          <p:cNvPr id="19" name="Shape 13"/>
          <p:cNvSpPr/>
          <p:nvPr/>
        </p:nvSpPr>
        <p:spPr>
          <a:xfrm>
            <a:off x="8079029" y="1883664"/>
            <a:ext cx="3564026" cy="4059936"/>
          </a:xfrm>
          <a:prstGeom prst="roundRect">
            <a:avLst>
              <a:gd name="adj" fmla="val 3592"/>
            </a:avLst>
          </a:prstGeom>
          <a:solidFill>
            <a:srgbClr val="FDF3E7"/>
          </a:solidFill>
          <a:ln w="12700">
            <a:solidFill>
              <a:srgbClr val="EFDCB2"/>
            </a:solidFill>
            <a:prstDash val="solid"/>
          </a:ln>
        </p:spPr>
      </p:sp>
      <p:sp>
        <p:nvSpPr>
          <p:cNvPr id="20" name="Shape 14"/>
          <p:cNvSpPr/>
          <p:nvPr/>
        </p:nvSpPr>
        <p:spPr>
          <a:xfrm>
            <a:off x="8298485" y="2103120"/>
            <a:ext cx="457200" cy="457200"/>
          </a:xfrm>
          <a:prstGeom prst="ellipse">
            <a:avLst/>
          </a:prstGeom>
          <a:solidFill>
            <a:srgbClr val="F2A93B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12785" y="2217420"/>
            <a:ext cx="228600" cy="228600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8298485" y="2706624"/>
            <a:ext cx="3125114" cy="3054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21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· One question</a:t>
            </a:r>
            <a:endParaRPr lang="en-US" sz="2100" dirty="0"/>
          </a:p>
          <a:p>
            <a:pPr indent="0" marL="0">
              <a:lnSpc>
                <a:spcPct val="102000"/>
              </a:lnSpc>
              <a:spcBef>
                <a:spcPts val="400"/>
              </a:spcBef>
              <a:buNone/>
            </a:pPr>
            <a:r>
              <a:rPr lang="en-US" sz="15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partner asks one hard question. What did you do with it?</a:t>
            </a:r>
            <a:endParaRPr lang="en-US" sz="2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23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554480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40" kern="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011680"/>
            <a:ext cx="109728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Being right is not the same as being convincing. A debate rewards the second.</a:t>
            </a:r>
            <a:endParaRPr lang="en-US" sz="4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20624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B9CF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best argument in the room loses regularly — to a worse argument that was clearer, better structured,</a:t>
            </a:r>
            <a:endParaRPr lang="en-US" sz="15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B9CF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delivered by somebody who did not panic when challenged.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5120640"/>
            <a:ext cx="3511296" cy="713232"/>
          </a:xfrm>
          <a:prstGeom prst="roundRect">
            <a:avLst>
              <a:gd name="adj" fmla="val 17949"/>
            </a:avLst>
          </a:prstGeom>
          <a:solidFill>
            <a:srgbClr val="1C4E39"/>
          </a:solidFill>
          <a:ln w="12700">
            <a:solidFill>
              <a:srgbClr val="2A6249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5120640"/>
            <a:ext cx="314553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2E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 beats clever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279392" y="5120640"/>
            <a:ext cx="3511296" cy="713232"/>
          </a:xfrm>
          <a:prstGeom prst="roundRect">
            <a:avLst>
              <a:gd name="adj" fmla="val 17949"/>
            </a:avLst>
          </a:prstGeom>
          <a:solidFill>
            <a:srgbClr val="1C4E39"/>
          </a:solidFill>
          <a:ln w="12700">
            <a:solidFill>
              <a:srgbClr val="2A6249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462272" y="5120640"/>
            <a:ext cx="314553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2E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 beats volume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8010144" y="5120640"/>
            <a:ext cx="3511296" cy="713232"/>
          </a:xfrm>
          <a:prstGeom prst="roundRect">
            <a:avLst>
              <a:gd name="adj" fmla="val 17949"/>
            </a:avLst>
          </a:prstGeom>
          <a:solidFill>
            <a:srgbClr val="1C4E39"/>
          </a:solidFill>
          <a:ln w="12700">
            <a:solidFill>
              <a:srgbClr val="2A6249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193024" y="5120640"/>
            <a:ext cx="314553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2E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Calm beats certain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6144768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50" kern="0" dirty="0">
                <a:solidFill>
                  <a:srgbClr val="7C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4 · Advanced Spoken English · Module 3 — Debate &amp; Persuasion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10607040" y="6144768"/>
            <a:ext cx="1033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38912"/>
            <a:ext cx="1737360" cy="420624"/>
          </a:xfrm>
          <a:prstGeom prst="roundRect">
            <a:avLst>
              <a:gd name="adj" fmla="val 50000"/>
            </a:avLst>
          </a:prstGeom>
          <a:solidFill>
            <a:srgbClr val="0E7C5A"/>
          </a:solidFill>
          <a:ln/>
        </p:spPr>
      </p:sp>
      <p:sp>
        <p:nvSpPr>
          <p:cNvPr id="3" name="Shape 1"/>
          <p:cNvSpPr/>
          <p:nvPr/>
        </p:nvSpPr>
        <p:spPr>
          <a:xfrm>
            <a:off x="649224" y="539496"/>
            <a:ext cx="219456" cy="219456"/>
          </a:xfrm>
          <a:prstGeom prst="ellipse">
            <a:avLst/>
          </a:prstGeom>
          <a:solidFill>
            <a:srgbClr val="0E7C5A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" y="539496"/>
            <a:ext cx="219456" cy="21945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932688" y="438912"/>
            <a:ext cx="12435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896112"/>
            <a:ext cx="10972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shape of a debate</a:t>
            </a:r>
            <a:endParaRPr lang="en-US" sz="38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536192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stages. Each one has a different job.</a:t>
            </a:r>
            <a:endParaRPr lang="en-US" sz="165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6144768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50" kern="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4 · Advanced Spoken English · Module 3 — Debate &amp; Persuasion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10607040" y="6144768"/>
            <a:ext cx="1033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548640" y="1883664"/>
            <a:ext cx="6217920" cy="4059936"/>
          </a:xfrm>
          <a:prstGeom prst="roundRect">
            <a:avLst>
              <a:gd name="adj" fmla="val 3153"/>
            </a:avLst>
          </a:prstGeom>
          <a:solidFill>
            <a:srgbClr val="E7F3EF"/>
          </a:solidFill>
          <a:ln w="15875">
            <a:solidFill>
              <a:srgbClr val="0E7C5A"/>
            </a:solidFill>
            <a:prstDash val="solid"/>
          </a:ln>
          <a:effectLst>
            <a:outerShdw sx="100000" sy="100000" kx="0" ky="0" algn="bl" rotWithShape="0" blurRad="101600" dist="25400" dir="5400000">
              <a:srgbClr val="94A69C">
                <a:alpha val="30000"/>
              </a:srgbClr>
            </a:outerShdw>
          </a:effectLst>
        </p:spPr>
      </p:sp>
      <p:sp>
        <p:nvSpPr>
          <p:cNvPr id="12" name="Text 8"/>
          <p:cNvSpPr txBox="1"/>
          <p:nvPr/>
        </p:nvSpPr>
        <p:spPr>
          <a:xfrm>
            <a:off x="822960" y="2103120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0E7C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FOUR STAGES</a:t>
            </a:r>
            <a:endParaRPr lang="en-US" sz="1200" dirty="0"/>
          </a:p>
        </p:txBody>
      </p:sp>
      <p:sp>
        <p:nvSpPr>
          <p:cNvPr id="13" name="Text 9"/>
          <p:cNvSpPr txBox="1"/>
          <p:nvPr/>
        </p:nvSpPr>
        <p:spPr>
          <a:xfrm>
            <a:off x="822960" y="2487168"/>
            <a:ext cx="5669280" cy="3218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8000"/>
              </a:lnSpc>
              <a:buNone/>
            </a:pPr>
            <a:r>
              <a:rPr lang="en-US" sz="135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OPENING  —  90 seconds</a:t>
            </a:r>
            <a:endParaRPr lang="en-US" sz="1350" dirty="0"/>
          </a:p>
          <a:p>
            <a:pPr indent="0" marL="0">
              <a:lnSpc>
                <a:spcPct val="138000"/>
              </a:lnSpc>
              <a:buNone/>
            </a:pPr>
            <a:r>
              <a:rPr lang="en-US" sz="135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Your position and three lines of argument.</a:t>
            </a:r>
            <a:endParaRPr lang="en-US" sz="1350" dirty="0"/>
          </a:p>
          <a:p>
            <a:pPr indent="0" marL="0">
              <a:lnSpc>
                <a:spcPct val="138000"/>
              </a:lnSpc>
              <a:buNone/>
            </a:pPr>
            <a:endParaRPr lang="en-US" sz="1350" dirty="0"/>
          </a:p>
          <a:p>
            <a:pPr indent="0" marL="0">
              <a:lnSpc>
                <a:spcPct val="138000"/>
              </a:lnSpc>
              <a:buNone/>
            </a:pPr>
            <a:r>
              <a:rPr lang="en-US" sz="135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REBUTTAL  —  60 seconds</a:t>
            </a:r>
            <a:endParaRPr lang="en-US" sz="1350" dirty="0"/>
          </a:p>
          <a:p>
            <a:pPr indent="0" marL="0">
              <a:lnSpc>
                <a:spcPct val="138000"/>
              </a:lnSpc>
              <a:buNone/>
            </a:pPr>
            <a:r>
              <a:rPr lang="en-US" sz="135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Attack the ONE weakest point they made.</a:t>
            </a:r>
            <a:endParaRPr lang="en-US" sz="1350" dirty="0"/>
          </a:p>
          <a:p>
            <a:pPr indent="0" marL="0">
              <a:lnSpc>
                <a:spcPct val="138000"/>
              </a:lnSpc>
              <a:buNone/>
            </a:pPr>
            <a:endParaRPr lang="en-US" sz="1350" dirty="0"/>
          </a:p>
          <a:p>
            <a:pPr indent="0" marL="0">
              <a:lnSpc>
                <a:spcPct val="138000"/>
              </a:lnSpc>
              <a:buNone/>
            </a:pPr>
            <a:r>
              <a:rPr lang="en-US" sz="135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QUESTIONS  —  open</a:t>
            </a:r>
            <a:endParaRPr lang="en-US" sz="1350" dirty="0"/>
          </a:p>
          <a:p>
            <a:pPr indent="0" marL="0">
              <a:lnSpc>
                <a:spcPct val="138000"/>
              </a:lnSpc>
              <a:buNone/>
            </a:pPr>
            <a:r>
              <a:rPr lang="en-US" sz="135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Where debates are actually decided.</a:t>
            </a:r>
            <a:endParaRPr lang="en-US" sz="1350" dirty="0"/>
          </a:p>
          <a:p>
            <a:pPr indent="0" marL="0">
              <a:lnSpc>
                <a:spcPct val="138000"/>
              </a:lnSpc>
              <a:buNone/>
            </a:pPr>
            <a:endParaRPr lang="en-US" sz="1350" dirty="0"/>
          </a:p>
          <a:p>
            <a:pPr indent="0" marL="0">
              <a:lnSpc>
                <a:spcPct val="138000"/>
              </a:lnSpc>
              <a:buNone/>
            </a:pPr>
            <a:r>
              <a:rPr lang="en-US" sz="135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CLOSING  —  60 seconds</a:t>
            </a:r>
            <a:endParaRPr lang="en-US" sz="1350" dirty="0"/>
          </a:p>
          <a:p>
            <a:pPr indent="0" marL="0">
              <a:lnSpc>
                <a:spcPct val="138000"/>
              </a:lnSpc>
              <a:buNone/>
            </a:pPr>
            <a:r>
              <a:rPr lang="en-US" sz="135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What you proved. No new arguments.</a:t>
            </a:r>
            <a:endParaRPr lang="en-US" sz="1350" dirty="0"/>
          </a:p>
        </p:txBody>
      </p:sp>
      <p:sp>
        <p:nvSpPr>
          <p:cNvPr id="14" name="Shape 10"/>
          <p:cNvSpPr/>
          <p:nvPr/>
        </p:nvSpPr>
        <p:spPr>
          <a:xfrm>
            <a:off x="7040880" y="1883664"/>
            <a:ext cx="4602175" cy="4059936"/>
          </a:xfrm>
          <a:prstGeom prst="roundRect">
            <a:avLst>
              <a:gd name="adj" fmla="val 3153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15" name="Text 11"/>
          <p:cNvSpPr txBox="1"/>
          <p:nvPr/>
        </p:nvSpPr>
        <p:spPr>
          <a:xfrm>
            <a:off x="7278624" y="2103120"/>
            <a:ext cx="412668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0E7C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RULES OF EACH STAGE</a:t>
            </a:r>
            <a:endParaRPr lang="en-US" sz="1200" dirty="0"/>
          </a:p>
        </p:txBody>
      </p:sp>
      <p:sp>
        <p:nvSpPr>
          <p:cNvPr id="16" name="Text 12"/>
          <p:cNvSpPr/>
          <p:nvPr/>
        </p:nvSpPr>
        <p:spPr>
          <a:xfrm>
            <a:off x="7315200" y="2505456"/>
            <a:ext cx="4053535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00000"/>
              </a:lnSpc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OPENING — tell them what you will prove. Three lines, no more.</a:t>
            </a:r>
            <a:endParaRPr lang="en-US" sz="1600" dirty="0"/>
          </a:p>
          <a:p>
            <a:pPr marL="228600" indent="-228600">
              <a:lnSpc>
                <a:spcPct val="100000"/>
              </a:lnSpc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REBUTTAL — one target, properly destroyed. Not five, half-attacked.</a:t>
            </a:r>
            <a:endParaRPr lang="en-US" sz="1600" dirty="0"/>
          </a:p>
          <a:p>
            <a:pPr marL="228600" indent="-228600">
              <a:lnSpc>
                <a:spcPct val="100000"/>
              </a:lnSpc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— the unprepared moment. Slide 9 is the technique.</a:t>
            </a:r>
            <a:endParaRPr lang="en-US" sz="1600" dirty="0"/>
          </a:p>
          <a:p>
            <a:pPr marL="228600" indent="-228600">
              <a:lnSpc>
                <a:spcPct val="100000"/>
              </a:lnSpc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CLOSING — remind, do not introduce. New material here looks desperate.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38912"/>
            <a:ext cx="1737360" cy="420624"/>
          </a:xfrm>
          <a:prstGeom prst="roundRect">
            <a:avLst>
              <a:gd name="adj" fmla="val 50000"/>
            </a:avLst>
          </a:prstGeom>
          <a:solidFill>
            <a:srgbClr val="0E7C5A"/>
          </a:solidFill>
          <a:ln/>
        </p:spPr>
      </p:sp>
      <p:sp>
        <p:nvSpPr>
          <p:cNvPr id="3" name="Shape 1"/>
          <p:cNvSpPr/>
          <p:nvPr/>
        </p:nvSpPr>
        <p:spPr>
          <a:xfrm>
            <a:off x="649224" y="539496"/>
            <a:ext cx="219456" cy="219456"/>
          </a:xfrm>
          <a:prstGeom prst="ellipse">
            <a:avLst/>
          </a:prstGeom>
          <a:solidFill>
            <a:srgbClr val="0E7C5A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" y="539496"/>
            <a:ext cx="219456" cy="21945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932688" y="438912"/>
            <a:ext cx="12435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896112"/>
            <a:ext cx="10972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opening — ninety seconds that frame everything</a:t>
            </a:r>
            <a:endParaRPr lang="en-US" sz="34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536192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Tell them what you will prove, then prove it.</a:t>
            </a:r>
            <a:endParaRPr lang="en-US" sz="165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6144768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50" kern="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4 · Advanced Spoken English · Module 3 — Debate &amp; Persuasion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10607040" y="6144768"/>
            <a:ext cx="1033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548640" y="1883664"/>
            <a:ext cx="5410048" cy="3273552"/>
          </a:xfrm>
          <a:prstGeom prst="roundRect">
            <a:avLst>
              <a:gd name="adj" fmla="val 3911"/>
            </a:avLst>
          </a:prstGeom>
          <a:solidFill>
            <a:srgbClr val="E6F5EC"/>
          </a:solidFill>
          <a:ln w="15875">
            <a:solidFill>
              <a:srgbClr val="2E9E5B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786384" y="2103120"/>
            <a:ext cx="420624" cy="420624"/>
          </a:xfrm>
          <a:prstGeom prst="ellipse">
            <a:avLst/>
          </a:prstGeom>
          <a:solidFill>
            <a:srgbClr val="2E9E5B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1540" y="2208276"/>
            <a:ext cx="210312" cy="210312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1335024" y="2103120"/>
            <a:ext cx="440420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E9E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 opening</a:t>
            </a:r>
            <a:endParaRPr lang="en-US" sz="2000" dirty="0"/>
          </a:p>
        </p:txBody>
      </p:sp>
      <p:sp>
        <p:nvSpPr>
          <p:cNvPr id="15" name="Text 10"/>
          <p:cNvSpPr/>
          <p:nvPr/>
        </p:nvSpPr>
        <p:spPr>
          <a:xfrm>
            <a:off x="822960" y="2724912"/>
            <a:ext cx="4861408" cy="22128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00000"/>
              </a:lnSpc>
              <a:spcAft>
                <a:spcPts val="868"/>
              </a:spcAft>
              <a:buSzPct val="100000"/>
              <a:buChar char="•"/>
            </a:pPr>
            <a:r>
              <a:rPr lang="en-US" sz="150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“I think homework is bad because…”</a:t>
            </a:r>
            <a:endParaRPr lang="en-US" sz="1500" dirty="0"/>
          </a:p>
          <a:p>
            <a:pPr marL="228600" indent="-228600">
              <a:lnSpc>
                <a:spcPct val="100000"/>
              </a:lnSpc>
              <a:spcAft>
                <a:spcPts val="868"/>
              </a:spcAft>
              <a:buSzPct val="100000"/>
              <a:buChar char="•"/>
            </a:pPr>
            <a:r>
              <a:rPr lang="en-US" sz="150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 straight into detail )</a:t>
            </a:r>
            <a:endParaRPr lang="en-US" sz="1500" dirty="0"/>
          </a:p>
          <a:p>
            <a:pPr marL="228600" indent="-228600">
              <a:lnSpc>
                <a:spcPct val="100000"/>
              </a:lnSpc>
              <a:spcAft>
                <a:spcPts val="868"/>
              </a:spcAft>
              <a:buSzPct val="100000"/>
              <a:buChar char="•"/>
            </a:pPr>
            <a:r>
              <a:rPr lang="en-US" sz="150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“…and also… and another thing…”</a:t>
            </a:r>
            <a:endParaRPr lang="en-US" sz="1500" dirty="0"/>
          </a:p>
          <a:p>
            <a:pPr marL="228600" indent="-228600">
              <a:lnSpc>
                <a:spcPct val="100000"/>
              </a:lnSpc>
              <a:spcAft>
                <a:spcPts val="868"/>
              </a:spcAft>
              <a:buSzPct val="100000"/>
              <a:buChar char="•"/>
            </a:pPr>
            <a:r>
              <a:rPr lang="en-US" sz="150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 no structure signalled )</a:t>
            </a:r>
            <a:endParaRPr lang="en-US" sz="1500" dirty="0"/>
          </a:p>
          <a:p>
            <a:pPr marL="228600" indent="-228600">
              <a:lnSpc>
                <a:spcPct val="100000"/>
              </a:lnSpc>
              <a:spcAft>
                <a:spcPts val="868"/>
              </a:spcAft>
              <a:buSzPct val="100000"/>
              <a:buChar char="•"/>
            </a:pPr>
            <a:r>
              <a:rPr lang="en-US" sz="150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The audience has no map.</a:t>
            </a:r>
            <a:endParaRPr lang="en-US" sz="1500" dirty="0"/>
          </a:p>
          <a:p>
            <a:pPr marL="228600" indent="-228600">
              <a:lnSpc>
                <a:spcPct val="100000"/>
              </a:lnSpc>
              <a:spcAft>
                <a:spcPts val="868"/>
              </a:spcAft>
              <a:buSzPct val="100000"/>
              <a:buChar char="•"/>
            </a:pPr>
            <a:r>
              <a:rPr lang="en-US" sz="150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They forget it by the rebuttal.</a:t>
            </a:r>
            <a:endParaRPr lang="en-US" sz="1500" dirty="0"/>
          </a:p>
        </p:txBody>
      </p:sp>
      <p:sp>
        <p:nvSpPr>
          <p:cNvPr id="16" name="Shape 11"/>
          <p:cNvSpPr/>
          <p:nvPr/>
        </p:nvSpPr>
        <p:spPr>
          <a:xfrm>
            <a:off x="6233008" y="1883664"/>
            <a:ext cx="5410048" cy="3273552"/>
          </a:xfrm>
          <a:prstGeom prst="roundRect">
            <a:avLst>
              <a:gd name="adj" fmla="val 3911"/>
            </a:avLst>
          </a:prstGeom>
          <a:solidFill>
            <a:srgbClr val="FBEAEA"/>
          </a:solidFill>
          <a:ln w="15875">
            <a:solidFill>
              <a:srgbClr val="D64545"/>
            </a:solidFill>
            <a:prstDash val="solid"/>
          </a:ln>
        </p:spPr>
      </p:sp>
      <p:sp>
        <p:nvSpPr>
          <p:cNvPr id="17" name="Shape 12"/>
          <p:cNvSpPr/>
          <p:nvPr/>
        </p:nvSpPr>
        <p:spPr>
          <a:xfrm>
            <a:off x="6470752" y="2103120"/>
            <a:ext cx="420624" cy="420624"/>
          </a:xfrm>
          <a:prstGeom prst="ellipse">
            <a:avLst/>
          </a:prstGeom>
          <a:solidFill>
            <a:srgbClr val="D64545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75908" y="2208276"/>
            <a:ext cx="210312" cy="210312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7019392" y="2103120"/>
            <a:ext cx="440420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D64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opening</a:t>
            </a:r>
            <a:endParaRPr lang="en-US" sz="2000" dirty="0"/>
          </a:p>
        </p:txBody>
      </p:sp>
      <p:sp>
        <p:nvSpPr>
          <p:cNvPr id="20" name="Text 14"/>
          <p:cNvSpPr/>
          <p:nvPr/>
        </p:nvSpPr>
        <p:spPr>
          <a:xfrm>
            <a:off x="6507328" y="2724912"/>
            <a:ext cx="4861408" cy="22128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00000"/>
              </a:lnSpc>
              <a:spcAft>
                <a:spcPts val="897"/>
              </a:spcAft>
              <a:buSzPct val="100000"/>
              <a:buChar char="•"/>
            </a:pPr>
            <a:r>
              <a:rPr lang="en-US" sz="155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“Our position is that homework should be reduced, not abolished.”</a:t>
            </a:r>
            <a:endParaRPr lang="en-US" sz="1550" dirty="0"/>
          </a:p>
          <a:p>
            <a:pPr marL="228600" indent="-228600">
              <a:lnSpc>
                <a:spcPct val="100000"/>
              </a:lnSpc>
              <a:spcAft>
                <a:spcPts val="897"/>
              </a:spcAft>
              <a:buSzPct val="100000"/>
              <a:buChar char="•"/>
            </a:pPr>
            <a:r>
              <a:rPr lang="en-US" sz="155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“I'll show three things: it doesn't improve results, it widens inequality, and there is a better alternative.”</a:t>
            </a:r>
            <a:endParaRPr lang="en-US" sz="1550" dirty="0"/>
          </a:p>
          <a:p>
            <a:pPr marL="228600" indent="-228600">
              <a:lnSpc>
                <a:spcPct val="100000"/>
              </a:lnSpc>
              <a:spcAft>
                <a:spcPts val="897"/>
              </a:spcAft>
              <a:buSzPct val="100000"/>
              <a:buChar char="•"/>
            </a:pPr>
            <a:r>
              <a:rPr lang="en-US" sz="155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“First, the results.”</a:t>
            </a:r>
            <a:endParaRPr lang="en-US" sz="1550" dirty="0"/>
          </a:p>
          <a:p>
            <a:pPr marL="228600" indent="-228600">
              <a:lnSpc>
                <a:spcPct val="100000"/>
              </a:lnSpc>
              <a:spcAft>
                <a:spcPts val="897"/>
              </a:spcAft>
              <a:buSzPct val="100000"/>
              <a:buChar char="•"/>
            </a:pPr>
            <a:r>
              <a:rPr lang="en-US" sz="155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The audience knows the shape.</a:t>
            </a:r>
            <a:endParaRPr lang="en-US" sz="1550" dirty="0"/>
          </a:p>
        </p:txBody>
      </p:sp>
      <p:sp>
        <p:nvSpPr>
          <p:cNvPr id="21" name="Shape 15"/>
          <p:cNvSpPr/>
          <p:nvPr/>
        </p:nvSpPr>
        <p:spPr>
          <a:xfrm>
            <a:off x="548640" y="5285232"/>
            <a:ext cx="11094415" cy="658368"/>
          </a:xfrm>
          <a:prstGeom prst="roundRect">
            <a:avLst>
              <a:gd name="adj" fmla="val 19444"/>
            </a:avLst>
          </a:prstGeom>
          <a:solidFill>
            <a:srgbClr val="FDF3E7"/>
          </a:solidFill>
          <a:ln w="12700">
            <a:solidFill>
              <a:srgbClr val="EFDCB2"/>
            </a:solidFill>
            <a:prstDash val="solid"/>
          </a:ln>
        </p:spPr>
      </p:sp>
      <p:sp>
        <p:nvSpPr>
          <p:cNvPr id="22" name="Text 16"/>
          <p:cNvSpPr txBox="1"/>
          <p:nvPr/>
        </p:nvSpPr>
        <p:spPr>
          <a:xfrm>
            <a:off x="786384" y="5285232"/>
            <a:ext cx="10618927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your position precisely in the first sentence. “Reduced, not abolished” is a narrower and far more defensible claim than “abolished”.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38912"/>
            <a:ext cx="1737360" cy="420624"/>
          </a:xfrm>
          <a:prstGeom prst="roundRect">
            <a:avLst>
              <a:gd name="adj" fmla="val 50000"/>
            </a:avLst>
          </a:prstGeom>
          <a:solidFill>
            <a:srgbClr val="0E7C5A"/>
          </a:solidFill>
          <a:ln/>
        </p:spPr>
      </p:sp>
      <p:sp>
        <p:nvSpPr>
          <p:cNvPr id="3" name="Shape 1"/>
          <p:cNvSpPr/>
          <p:nvPr/>
        </p:nvSpPr>
        <p:spPr>
          <a:xfrm>
            <a:off x="649224" y="539496"/>
            <a:ext cx="219456" cy="219456"/>
          </a:xfrm>
          <a:prstGeom prst="ellipse">
            <a:avLst/>
          </a:prstGeom>
          <a:solidFill>
            <a:srgbClr val="0E7C5A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" y="539496"/>
            <a:ext cx="219456" cy="21945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932688" y="438912"/>
            <a:ext cx="12435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896112"/>
            <a:ext cx="10972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Rebuttal — surgery, not demolition</a:t>
            </a:r>
            <a:endParaRPr lang="en-US" sz="38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536192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target, properly destroyed.</a:t>
            </a:r>
            <a:endParaRPr lang="en-US" sz="165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6144768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50" kern="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4 · Advanced Spoken English · Module 3 — Debate &amp; Persuasion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10607040" y="6144768"/>
            <a:ext cx="1033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548640" y="1883664"/>
            <a:ext cx="6309360" cy="4059936"/>
          </a:xfrm>
          <a:prstGeom prst="roundRect">
            <a:avLst>
              <a:gd name="adj" fmla="val 3153"/>
            </a:avLst>
          </a:prstGeom>
          <a:solidFill>
            <a:srgbClr val="E7F3EF"/>
          </a:solidFill>
          <a:ln w="15875">
            <a:solidFill>
              <a:srgbClr val="0E7C5A"/>
            </a:solidFill>
            <a:prstDash val="solid"/>
          </a:ln>
          <a:effectLst>
            <a:outerShdw sx="100000" sy="100000" kx="0" ky="0" algn="bl" rotWithShape="0" blurRad="101600" dist="25400" dir="5400000">
              <a:srgbClr val="94A69C">
                <a:alpha val="30000"/>
              </a:srgbClr>
            </a:outerShdw>
          </a:effectLst>
        </p:spPr>
      </p:sp>
      <p:sp>
        <p:nvSpPr>
          <p:cNvPr id="12" name="Text 8"/>
          <p:cNvSpPr txBox="1"/>
          <p:nvPr/>
        </p:nvSpPr>
        <p:spPr>
          <a:xfrm>
            <a:off x="822960" y="2103120"/>
            <a:ext cx="5760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0E7C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FOUR-STEP REBUTTAL</a:t>
            </a:r>
            <a:endParaRPr lang="en-US" sz="1200" dirty="0"/>
          </a:p>
        </p:txBody>
      </p:sp>
      <p:sp>
        <p:nvSpPr>
          <p:cNvPr id="13" name="Text 9"/>
          <p:cNvSpPr txBox="1"/>
          <p:nvPr/>
        </p:nvSpPr>
        <p:spPr>
          <a:xfrm>
            <a:off x="822960" y="2487168"/>
            <a:ext cx="5760720" cy="3218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35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NAME IT</a:t>
            </a:r>
            <a:endParaRPr lang="en-US" sz="13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5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“Their main claim is that homework</a:t>
            </a:r>
            <a:endParaRPr lang="en-US" sz="13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5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builds discipline.”</a:t>
            </a:r>
            <a:endParaRPr lang="en-US" sz="13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5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CONCEDE WHAT IS TRUE</a:t>
            </a:r>
            <a:endParaRPr lang="en-US" sz="13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5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“Some homework probably does.”</a:t>
            </a:r>
            <a:endParaRPr lang="en-US" sz="13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5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ATTACK THE WEAK POINT</a:t>
            </a:r>
            <a:endParaRPr lang="en-US" sz="13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5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“But they offered no evidence that</a:t>
            </a:r>
            <a:endParaRPr lang="en-US" sz="13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5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three hours does more than one.”</a:t>
            </a:r>
            <a:endParaRPr lang="en-US" sz="13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5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SAY WHAT NOW FOLLOWS</a:t>
            </a:r>
            <a:endParaRPr lang="en-US" sz="13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5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“So their case supports OUR position,</a:t>
            </a:r>
            <a:endParaRPr lang="en-US" sz="13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5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not theirs.”</a:t>
            </a:r>
            <a:endParaRPr lang="en-US" sz="1350" dirty="0"/>
          </a:p>
        </p:txBody>
      </p:sp>
      <p:sp>
        <p:nvSpPr>
          <p:cNvPr id="14" name="Shape 10"/>
          <p:cNvSpPr/>
          <p:nvPr/>
        </p:nvSpPr>
        <p:spPr>
          <a:xfrm>
            <a:off x="7132320" y="1883664"/>
            <a:ext cx="4510735" cy="4059936"/>
          </a:xfrm>
          <a:prstGeom prst="roundRect">
            <a:avLst>
              <a:gd name="adj" fmla="val 3153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15" name="Text 11"/>
          <p:cNvSpPr txBox="1"/>
          <p:nvPr/>
        </p:nvSpPr>
        <p:spPr>
          <a:xfrm>
            <a:off x="7370064" y="2103120"/>
            <a:ext cx="403524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0E7C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ONE TARGET</a:t>
            </a:r>
            <a:endParaRPr lang="en-US" sz="1200" dirty="0"/>
          </a:p>
        </p:txBody>
      </p:sp>
      <p:sp>
        <p:nvSpPr>
          <p:cNvPr id="16" name="Text 12"/>
          <p:cNvSpPr/>
          <p:nvPr/>
        </p:nvSpPr>
        <p:spPr>
          <a:xfrm>
            <a:off x="7406640" y="2505456"/>
            <a:ext cx="3962095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00000"/>
              </a:lnSpc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weak attacks look like you found nothing.</a:t>
            </a:r>
            <a:endParaRPr lang="en-US" sz="1600" dirty="0"/>
          </a:p>
          <a:p>
            <a:pPr marL="228600" indent="-228600">
              <a:lnSpc>
                <a:spcPct val="100000"/>
              </a:lnSpc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destroyed point makes the audience doubt the rest.</a:t>
            </a:r>
            <a:endParaRPr lang="en-US" sz="1600" dirty="0"/>
          </a:p>
          <a:p>
            <a:pPr marL="228600" indent="-228600">
              <a:lnSpc>
                <a:spcPct val="100000"/>
              </a:lnSpc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 is what stops it sounding like a personal attack.</a:t>
            </a:r>
            <a:endParaRPr lang="en-US" sz="1600" dirty="0"/>
          </a:p>
          <a:p>
            <a:pPr marL="228600" indent="-228600">
              <a:lnSpc>
                <a:spcPct val="100000"/>
              </a:lnSpc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 is what most people forget — turn it to your advantage.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38912"/>
            <a:ext cx="1737360" cy="420624"/>
          </a:xfrm>
          <a:prstGeom prst="roundRect">
            <a:avLst>
              <a:gd name="adj" fmla="val 50000"/>
            </a:avLst>
          </a:prstGeom>
          <a:solidFill>
            <a:srgbClr val="0E7C5A"/>
          </a:solidFill>
          <a:ln/>
        </p:spPr>
      </p:sp>
      <p:sp>
        <p:nvSpPr>
          <p:cNvPr id="3" name="Shape 1"/>
          <p:cNvSpPr/>
          <p:nvPr/>
        </p:nvSpPr>
        <p:spPr>
          <a:xfrm>
            <a:off x="649224" y="539496"/>
            <a:ext cx="219456" cy="219456"/>
          </a:xfrm>
          <a:prstGeom prst="ellipse">
            <a:avLst/>
          </a:prstGeom>
          <a:solidFill>
            <a:srgbClr val="0E7C5A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" y="539496"/>
            <a:ext cx="219456" cy="21945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932688" y="438912"/>
            <a:ext cx="12435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896112"/>
            <a:ext cx="10972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Persuasion — three things beyond being right</a:t>
            </a:r>
            <a:endParaRPr lang="en-US" sz="38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536192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Audiences are people. This is not manipulation; it is communication.</a:t>
            </a:r>
            <a:endParaRPr lang="en-US" sz="165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6144768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50" kern="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4 · Advanced Spoken English · Module 3 — Debate &amp; Persuasion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10607040" y="6144768"/>
            <a:ext cx="1033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1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883664"/>
          <a:ext cx="11094415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4023360"/>
                <a:gridCol w="4510735"/>
              </a:tblGrid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Tool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63500" marB="63500" anchor="ctr">
                    <a:lnL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7C5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it does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63500" marB="63500" anchor="ctr">
                    <a:lnL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7C5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Example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63500" marB="63500" anchor="ctr">
                    <a:lnL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7C5A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50" b="1" dirty="0">
                          <a:solidFill>
                            <a:srgbClr val="1221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concrete case</a:t>
                      </a:r>
                      <a:endParaRPr lang="en-US" sz="1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63500" marB="63500" anchor="ctr">
                    <a:lnL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50" dirty="0">
                          <a:solidFill>
                            <a:srgbClr val="3A47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makes an abstract point real</a:t>
                      </a:r>
                      <a:endParaRPr lang="en-US" sz="1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63500" marB="63500" anchor="ctr">
                    <a:lnL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50" dirty="0">
                          <a:solidFill>
                            <a:srgbClr val="3A47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“One student in Adama, three hours a night, no electricity.”</a:t>
                      </a:r>
                      <a:endParaRPr lang="en-US" sz="1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63500" marB="63500" anchor="ctr">
                    <a:lnL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50" b="1" dirty="0">
                          <a:solidFill>
                            <a:srgbClr val="1221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number they remember</a:t>
                      </a:r>
                      <a:endParaRPr lang="en-US" sz="1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63500" marB="63500" anchor="ctr">
                    <a:lnL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50" dirty="0">
                          <a:solidFill>
                            <a:srgbClr val="3A47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one figure, repeated</a:t>
                      </a:r>
                      <a:endParaRPr lang="en-US" sz="1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63500" marB="63500" anchor="ctr">
                    <a:lnL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50" dirty="0">
                          <a:solidFill>
                            <a:srgbClr val="3A47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“Forty per cent. Forty per cent left before week five.”</a:t>
                      </a:r>
                      <a:endParaRPr lang="en-US" sz="1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63500" marB="63500" anchor="ctr">
                    <a:lnL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7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50" b="1" dirty="0">
                          <a:solidFill>
                            <a:srgbClr val="1221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phrase they repeat</a:t>
                      </a:r>
                      <a:endParaRPr lang="en-US" sz="1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63500" marB="63500" anchor="ctr">
                    <a:lnL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50" dirty="0">
                          <a:solidFill>
                            <a:srgbClr val="3A47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gives them your words</a:t>
                      </a:r>
                      <a:endParaRPr lang="en-US" sz="1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63500" marB="63500" anchor="ctr">
                    <a:lnL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50" dirty="0">
                          <a:solidFill>
                            <a:srgbClr val="3A47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“Reduced, not abolished.”</a:t>
                      </a:r>
                      <a:endParaRPr lang="en-US" sz="1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63500" marB="63500" anchor="ctr">
                    <a:lnL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Shape 7"/>
          <p:cNvSpPr/>
          <p:nvPr/>
        </p:nvSpPr>
        <p:spPr>
          <a:xfrm>
            <a:off x="548640" y="5285232"/>
            <a:ext cx="11094415" cy="658368"/>
          </a:xfrm>
          <a:prstGeom prst="roundRect">
            <a:avLst>
              <a:gd name="adj" fmla="val 19444"/>
            </a:avLst>
          </a:prstGeom>
          <a:solidFill>
            <a:srgbClr val="FDF3E7"/>
          </a:solidFill>
          <a:ln w="12700">
            <a:solidFill>
              <a:srgbClr val="EFDCB2"/>
            </a:solidFill>
            <a:prstDash val="solid"/>
          </a:ln>
        </p:spPr>
      </p:sp>
      <p:sp>
        <p:nvSpPr>
          <p:cNvPr id="13" name="Text 8"/>
          <p:cNvSpPr txBox="1"/>
          <p:nvPr/>
        </p:nvSpPr>
        <p:spPr>
          <a:xfrm>
            <a:off x="786384" y="5285232"/>
            <a:ext cx="10618927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 the audience ONE number and ONE phrase. If they leave repeating those, you have persuaded them. Six numbers and they remember none.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38912"/>
            <a:ext cx="1737360" cy="420624"/>
          </a:xfrm>
          <a:prstGeom prst="roundRect">
            <a:avLst>
              <a:gd name="adj" fmla="val 50000"/>
            </a:avLst>
          </a:prstGeom>
          <a:solidFill>
            <a:srgbClr val="0E7C5A"/>
          </a:solidFill>
          <a:ln/>
        </p:spPr>
      </p:sp>
      <p:sp>
        <p:nvSpPr>
          <p:cNvPr id="3" name="Shape 1"/>
          <p:cNvSpPr/>
          <p:nvPr/>
        </p:nvSpPr>
        <p:spPr>
          <a:xfrm>
            <a:off x="649224" y="539496"/>
            <a:ext cx="219456" cy="219456"/>
          </a:xfrm>
          <a:prstGeom prst="ellipse">
            <a:avLst/>
          </a:prstGeom>
          <a:solidFill>
            <a:srgbClr val="0E7C5A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" y="539496"/>
            <a:ext cx="219456" cy="21945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932688" y="438912"/>
            <a:ext cx="12435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896112"/>
            <a:ext cx="10972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question you were not expecting</a:t>
            </a:r>
            <a:endParaRPr lang="en-US" sz="38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536192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debates are actually decided. Four situations, four techniques.</a:t>
            </a:r>
            <a:endParaRPr lang="en-US" sz="165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6144768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50" kern="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4 · Advanced Spoken English · Module 3 — Debate &amp; Persuasion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10607040" y="6144768"/>
            <a:ext cx="1033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1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883664"/>
          <a:ext cx="11094415" cy="914400"/>
        </p:xfrm>
        <a:graphic>
          <a:graphicData uri="http://schemas.openxmlformats.org/drawingml/2006/table">
            <a:tbl>
              <a:tblPr/>
              <a:tblGrid>
                <a:gridCol w="3108960"/>
                <a:gridCol w="4206240"/>
                <a:gridCol w="3962095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Situation</a:t>
                      </a:r>
                      <a:endParaRPr lang="en-US" sz="15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63500" marB="63500" anchor="ctr">
                    <a:lnL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7C5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Say this</a:t>
                      </a:r>
                      <a:endParaRPr lang="en-US" sz="15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63500" marB="63500" anchor="ctr">
                    <a:lnL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7C5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Why</a:t>
                      </a:r>
                      <a:endParaRPr lang="en-US" sz="15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63500" marB="63500" anchor="ctr">
                    <a:lnL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7C5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1221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You need three seconds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63500" marB="63500" anchor="ctr">
                    <a:lnL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3A47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“That's a fair question. Let me take it in two parts.”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63500" marB="63500" anchor="ctr">
                    <a:lnL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3A47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buys time and imposes structure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63500" marB="63500" anchor="ctr">
                    <a:lnL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1221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It contains a false premise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63500" marB="63500" anchor="ctr">
                    <a:lnL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3A47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“That assumes X — and I'd question that.”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63500" marB="63500" anchor="ctr">
                    <a:lnL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3A47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answer the premise, not the question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63500" marB="63500" anchor="ctr">
                    <a:lnL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1221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You genuinely don't know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63500" marB="63500" anchor="ctr">
                    <a:lnL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3A47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“I don't have that figure. It doesn't change the main point, which is…”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63500" marB="63500" anchor="ctr">
                    <a:lnL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3A47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honest, then redirect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63500" marB="63500" anchor="ctr">
                    <a:lnL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1221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It is a trap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63500" marB="63500" anchor="ctr">
                    <a:lnL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3A47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“I think that's a different question. On the one you asked earlier…”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63500" marB="63500" anchor="ctr">
                    <a:lnL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3A47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decline it without appearing to dodge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63500" marB="63500" anchor="ctr">
                    <a:lnL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7"/>
                    </a:solidFill>
                  </a:tcPr>
                </a:tc>
              </a:tr>
            </a:tbl>
          </a:graphicData>
        </a:graphic>
      </p:graphicFrame>
      <p:sp>
        <p:nvSpPr>
          <p:cNvPr id="12" name="Shape 7"/>
          <p:cNvSpPr/>
          <p:nvPr/>
        </p:nvSpPr>
        <p:spPr>
          <a:xfrm>
            <a:off x="548640" y="5285232"/>
            <a:ext cx="11094415" cy="658368"/>
          </a:xfrm>
          <a:prstGeom prst="roundRect">
            <a:avLst>
              <a:gd name="adj" fmla="val 19444"/>
            </a:avLst>
          </a:prstGeom>
          <a:solidFill>
            <a:srgbClr val="FDF3E7"/>
          </a:solidFill>
          <a:ln w="12700">
            <a:solidFill>
              <a:srgbClr val="EFDCB2"/>
            </a:solidFill>
            <a:prstDash val="solid"/>
          </a:ln>
        </p:spPr>
      </p:sp>
      <p:sp>
        <p:nvSpPr>
          <p:cNvPr id="13" name="Text 8"/>
          <p:cNvSpPr txBox="1"/>
          <p:nvPr/>
        </p:nvSpPr>
        <p:spPr>
          <a:xfrm>
            <a:off x="786384" y="5285232"/>
            <a:ext cx="10618927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invent a figure. A fabricated number that is checked is the fastest way to lose a debate you were otherwise winning.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38912"/>
            <a:ext cx="1737360" cy="420624"/>
          </a:xfrm>
          <a:prstGeom prst="roundRect">
            <a:avLst>
              <a:gd name="adj" fmla="val 50000"/>
            </a:avLst>
          </a:prstGeom>
          <a:solidFill>
            <a:srgbClr val="0E7C5A"/>
          </a:solidFill>
          <a:ln/>
        </p:spPr>
      </p:sp>
      <p:sp>
        <p:nvSpPr>
          <p:cNvPr id="3" name="Shape 1"/>
          <p:cNvSpPr/>
          <p:nvPr/>
        </p:nvSpPr>
        <p:spPr>
          <a:xfrm>
            <a:off x="649224" y="539496"/>
            <a:ext cx="219456" cy="219456"/>
          </a:xfrm>
          <a:prstGeom prst="ellipse">
            <a:avLst/>
          </a:prstGeom>
          <a:solidFill>
            <a:srgbClr val="0E7C5A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" y="539496"/>
            <a:ext cx="219456" cy="21945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932688" y="438912"/>
            <a:ext cx="12435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896112"/>
            <a:ext cx="10972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Losing an exchange without losing the debate</a:t>
            </a:r>
            <a:endParaRPr lang="en-US" sz="38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536192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Nobody wins every point. What you do next decides the debate.</a:t>
            </a:r>
            <a:endParaRPr lang="en-US" sz="165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6144768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50" kern="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4 · Advanced Spoken English · Module 3 — Debate &amp; Persuasion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10607040" y="6144768"/>
            <a:ext cx="1033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548640" y="1883664"/>
            <a:ext cx="5410048" cy="3273552"/>
          </a:xfrm>
          <a:prstGeom prst="roundRect">
            <a:avLst>
              <a:gd name="adj" fmla="val 3911"/>
            </a:avLst>
          </a:prstGeom>
          <a:solidFill>
            <a:srgbClr val="E6F5EC"/>
          </a:solidFill>
          <a:ln w="15875">
            <a:solidFill>
              <a:srgbClr val="2E9E5B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786384" y="2103120"/>
            <a:ext cx="420624" cy="420624"/>
          </a:xfrm>
          <a:prstGeom prst="ellipse">
            <a:avLst/>
          </a:prstGeom>
          <a:solidFill>
            <a:srgbClr val="2E9E5B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1540" y="2208276"/>
            <a:ext cx="210312" cy="210312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1335024" y="2103120"/>
            <a:ext cx="440420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E9E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Losing badly</a:t>
            </a:r>
            <a:endParaRPr lang="en-US" sz="2000" dirty="0"/>
          </a:p>
        </p:txBody>
      </p:sp>
      <p:sp>
        <p:nvSpPr>
          <p:cNvPr id="15" name="Text 10"/>
          <p:cNvSpPr/>
          <p:nvPr/>
        </p:nvSpPr>
        <p:spPr>
          <a:xfrm>
            <a:off x="822960" y="2724912"/>
            <a:ext cx="4861408" cy="22128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00000"/>
              </a:lnSpc>
              <a:spcAft>
                <a:spcPts val="868"/>
              </a:spcAft>
              <a:buSzPct val="100000"/>
              <a:buChar char="•"/>
            </a:pPr>
            <a:r>
              <a:rPr lang="en-US" sz="150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Repeating the same claim louder</a:t>
            </a:r>
            <a:endParaRPr lang="en-US" sz="1500" dirty="0"/>
          </a:p>
          <a:p>
            <a:pPr marL="228600" indent="-228600">
              <a:lnSpc>
                <a:spcPct val="100000"/>
              </a:lnSpc>
              <a:spcAft>
                <a:spcPts val="868"/>
              </a:spcAft>
              <a:buSzPct val="100000"/>
              <a:buChar char="•"/>
            </a:pPr>
            <a:r>
              <a:rPr lang="en-US" sz="150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“That's not what I said” (when it was)</a:t>
            </a:r>
            <a:endParaRPr lang="en-US" sz="1500" dirty="0"/>
          </a:p>
          <a:p>
            <a:pPr marL="228600" indent="-228600">
              <a:lnSpc>
                <a:spcPct val="100000"/>
              </a:lnSpc>
              <a:spcAft>
                <a:spcPts val="868"/>
              </a:spcAft>
              <a:buSzPct val="100000"/>
              <a:buChar char="•"/>
            </a:pPr>
            <a:r>
              <a:rPr lang="en-US" sz="150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Going silent and moving on</a:t>
            </a:r>
            <a:endParaRPr lang="en-US" sz="1500" dirty="0"/>
          </a:p>
          <a:p>
            <a:pPr marL="228600" indent="-228600">
              <a:lnSpc>
                <a:spcPct val="100000"/>
              </a:lnSpc>
              <a:spcAft>
                <a:spcPts val="868"/>
              </a:spcAft>
              <a:buSzPct val="100000"/>
              <a:buChar char="•"/>
            </a:pPr>
            <a:r>
              <a:rPr lang="en-US" sz="150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Attacking the questioner</a:t>
            </a:r>
            <a:endParaRPr lang="en-US" sz="1500" dirty="0"/>
          </a:p>
          <a:p>
            <a:pPr marL="228600" indent="-228600">
              <a:lnSpc>
                <a:spcPct val="100000"/>
              </a:lnSpc>
              <a:spcAft>
                <a:spcPts val="868"/>
              </a:spcAft>
              <a:buSzPct val="100000"/>
              <a:buChar char="•"/>
            </a:pPr>
            <a:r>
              <a:rPr lang="en-US" sz="150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The audience saw it happen.</a:t>
            </a:r>
            <a:endParaRPr lang="en-US" sz="1500" dirty="0"/>
          </a:p>
          <a:p>
            <a:pPr marL="228600" indent="-228600">
              <a:lnSpc>
                <a:spcPct val="100000"/>
              </a:lnSpc>
              <a:spcAft>
                <a:spcPts val="868"/>
              </a:spcAft>
              <a:buSzPct val="100000"/>
              <a:buChar char="•"/>
            </a:pPr>
            <a:r>
              <a:rPr lang="en-US" sz="150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Now they doubt everything else.</a:t>
            </a:r>
            <a:endParaRPr lang="en-US" sz="1500" dirty="0"/>
          </a:p>
        </p:txBody>
      </p:sp>
      <p:sp>
        <p:nvSpPr>
          <p:cNvPr id="16" name="Shape 11"/>
          <p:cNvSpPr/>
          <p:nvPr/>
        </p:nvSpPr>
        <p:spPr>
          <a:xfrm>
            <a:off x="6233008" y="1883664"/>
            <a:ext cx="5410048" cy="3273552"/>
          </a:xfrm>
          <a:prstGeom prst="roundRect">
            <a:avLst>
              <a:gd name="adj" fmla="val 3911"/>
            </a:avLst>
          </a:prstGeom>
          <a:solidFill>
            <a:srgbClr val="FBEAEA"/>
          </a:solidFill>
          <a:ln w="15875">
            <a:solidFill>
              <a:srgbClr val="D64545"/>
            </a:solidFill>
            <a:prstDash val="solid"/>
          </a:ln>
        </p:spPr>
      </p:sp>
      <p:sp>
        <p:nvSpPr>
          <p:cNvPr id="17" name="Shape 12"/>
          <p:cNvSpPr/>
          <p:nvPr/>
        </p:nvSpPr>
        <p:spPr>
          <a:xfrm>
            <a:off x="6470752" y="2103120"/>
            <a:ext cx="420624" cy="420624"/>
          </a:xfrm>
          <a:prstGeom prst="ellipse">
            <a:avLst/>
          </a:prstGeom>
          <a:solidFill>
            <a:srgbClr val="D64545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75908" y="2208276"/>
            <a:ext cx="210312" cy="210312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7019392" y="2103120"/>
            <a:ext cx="440420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D64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Losing well</a:t>
            </a:r>
            <a:endParaRPr lang="en-US" sz="2000" dirty="0"/>
          </a:p>
        </p:txBody>
      </p:sp>
      <p:sp>
        <p:nvSpPr>
          <p:cNvPr id="20" name="Text 14"/>
          <p:cNvSpPr/>
          <p:nvPr/>
        </p:nvSpPr>
        <p:spPr>
          <a:xfrm>
            <a:off x="6507328" y="2724912"/>
            <a:ext cx="4861408" cy="22128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00000"/>
              </a:lnSpc>
              <a:spcAft>
                <a:spcPts val="811"/>
              </a:spcAft>
              <a:buSzPct val="100000"/>
              <a:buChar char="•"/>
            </a:pPr>
            <a:r>
              <a:rPr lang="en-US" sz="140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“That's a good point and I don't have a full answer.”</a:t>
            </a:r>
            <a:endParaRPr lang="en-US" sz="1400" dirty="0"/>
          </a:p>
          <a:p>
            <a:pPr marL="228600" indent="-228600">
              <a:lnSpc>
                <a:spcPct val="100000"/>
              </a:lnSpc>
              <a:spcAft>
                <a:spcPts val="811"/>
              </a:spcAft>
              <a:buSzPct val="100000"/>
              <a:buChar char="•"/>
            </a:pPr>
            <a:r>
              <a:rPr lang="en-US" sz="140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“You're right about that. It doesn't change my second argument, which is…”</a:t>
            </a:r>
            <a:endParaRPr lang="en-US" sz="1400" dirty="0"/>
          </a:p>
          <a:p>
            <a:pPr marL="228600" indent="-228600">
              <a:lnSpc>
                <a:spcPct val="100000"/>
              </a:lnSpc>
              <a:spcAft>
                <a:spcPts val="811"/>
              </a:spcAft>
              <a:buSzPct val="100000"/>
              <a:buChar char="•"/>
            </a:pPr>
            <a:r>
              <a:rPr lang="en-US" sz="140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“I'll concede that one.”</a:t>
            </a:r>
            <a:endParaRPr lang="en-US" sz="1400" dirty="0"/>
          </a:p>
          <a:p>
            <a:pPr marL="228600" indent="-228600">
              <a:lnSpc>
                <a:spcPct val="100000"/>
              </a:lnSpc>
              <a:spcAft>
                <a:spcPts val="811"/>
              </a:spcAft>
              <a:buSzPct val="100000"/>
              <a:buChar char="•"/>
            </a:pPr>
            <a:r>
              <a:rPr lang="en-US" sz="140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Costs one point.</a:t>
            </a:r>
            <a:endParaRPr lang="en-US" sz="1400" dirty="0"/>
          </a:p>
          <a:p>
            <a:pPr marL="228600" indent="-228600">
              <a:lnSpc>
                <a:spcPct val="100000"/>
              </a:lnSpc>
              <a:spcAft>
                <a:spcPts val="811"/>
              </a:spcAft>
              <a:buSzPct val="100000"/>
              <a:buChar char="•"/>
            </a:pPr>
            <a:r>
              <a:rPr lang="en-US" sz="140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Protects the other two.</a:t>
            </a:r>
            <a:endParaRPr lang="en-US" sz="1400" dirty="0"/>
          </a:p>
        </p:txBody>
      </p:sp>
      <p:sp>
        <p:nvSpPr>
          <p:cNvPr id="21" name="Shape 15"/>
          <p:cNvSpPr/>
          <p:nvPr/>
        </p:nvSpPr>
        <p:spPr>
          <a:xfrm>
            <a:off x="548640" y="5285232"/>
            <a:ext cx="11094415" cy="658368"/>
          </a:xfrm>
          <a:prstGeom prst="roundRect">
            <a:avLst>
              <a:gd name="adj" fmla="val 19444"/>
            </a:avLst>
          </a:prstGeom>
          <a:solidFill>
            <a:srgbClr val="FDF3E7"/>
          </a:solidFill>
          <a:ln w="12700">
            <a:solidFill>
              <a:srgbClr val="EFDCB2"/>
            </a:solidFill>
            <a:prstDash val="solid"/>
          </a:ln>
        </p:spPr>
      </p:sp>
      <p:sp>
        <p:nvSpPr>
          <p:cNvPr id="22" name="Text 16"/>
          <p:cNvSpPr txBox="1"/>
          <p:nvPr/>
        </p:nvSpPr>
        <p:spPr>
          <a:xfrm>
            <a:off x="786384" y="5285232"/>
            <a:ext cx="10618927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audience already knows you lost that exchange. Pretending otherwise costs you the ones you actually won.</a:t>
            </a:r>
            <a:endParaRPr lang="en-US" sz="1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38912"/>
            <a:ext cx="2199132" cy="420624"/>
          </a:xfrm>
          <a:prstGeom prst="roundRect">
            <a:avLst>
              <a:gd name="adj" fmla="val 50000"/>
            </a:avLst>
          </a:prstGeom>
          <a:solidFill>
            <a:srgbClr val="E8963A"/>
          </a:solidFill>
          <a:ln/>
        </p:spPr>
      </p:sp>
      <p:sp>
        <p:nvSpPr>
          <p:cNvPr id="3" name="Shape 1"/>
          <p:cNvSpPr/>
          <p:nvPr/>
        </p:nvSpPr>
        <p:spPr>
          <a:xfrm>
            <a:off x="649224" y="539496"/>
            <a:ext cx="219456" cy="219456"/>
          </a:xfrm>
          <a:prstGeom prst="ellipse">
            <a:avLst/>
          </a:prstGeom>
          <a:solidFill>
            <a:srgbClr val="E8963A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" y="539496"/>
            <a:ext cx="219456" cy="21945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932688" y="438912"/>
            <a:ext cx="170535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VOCABULARY 1 OF 5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896112"/>
            <a:ext cx="10972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word: refute</a:t>
            </a:r>
            <a:endParaRPr lang="en-US" sz="38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536192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· pronunciation · meaning · example · common mistake</a:t>
            </a:r>
            <a:endParaRPr lang="en-US" sz="165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6144768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50" kern="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4 · Advanced Spoken English · Module 3 — Debate &amp; Persuasion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10607040" y="6144768"/>
            <a:ext cx="1033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548640" y="1883664"/>
            <a:ext cx="4114800" cy="4059936"/>
          </a:xfrm>
          <a:prstGeom prst="roundRect">
            <a:avLst>
              <a:gd name="adj" fmla="val 3153"/>
            </a:avLst>
          </a:prstGeom>
          <a:solidFill>
            <a:srgbClr val="FDF3E7"/>
          </a:solidFill>
          <a:ln w="12700">
            <a:solidFill>
              <a:srgbClr val="E8963A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1920240" y="2267712"/>
            <a:ext cx="1371600" cy="1371600"/>
          </a:xfrm>
          <a:prstGeom prst="ellipse">
            <a:avLst/>
          </a:prstGeom>
          <a:solidFill>
            <a:srgbClr val="E8963A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63140" y="2610612"/>
            <a:ext cx="685800" cy="685800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731520" y="3858768"/>
            <a:ext cx="37490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9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refute</a:t>
            </a:r>
            <a:endParaRPr lang="en-US" sz="4900" dirty="0"/>
          </a:p>
        </p:txBody>
      </p:sp>
      <p:sp>
        <p:nvSpPr>
          <p:cNvPr id="15" name="Text 10"/>
          <p:cNvSpPr txBox="1"/>
          <p:nvPr/>
        </p:nvSpPr>
        <p:spPr>
          <a:xfrm>
            <a:off x="731520" y="4626864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7A4A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/rɪˈfjuːt/</a:t>
            </a:r>
            <a:endParaRPr lang="en-US" sz="2200" dirty="0"/>
          </a:p>
        </p:txBody>
      </p:sp>
      <p:sp>
        <p:nvSpPr>
          <p:cNvPr id="16" name="Text 11"/>
          <p:cNvSpPr txBox="1"/>
          <p:nvPr/>
        </p:nvSpPr>
        <p:spPr>
          <a:xfrm>
            <a:off x="731520" y="501091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verb</a:t>
            </a:r>
            <a:endParaRPr lang="en-US" sz="1300" dirty="0"/>
          </a:p>
        </p:txBody>
      </p:sp>
      <p:sp>
        <p:nvSpPr>
          <p:cNvPr id="17" name="Shape 12"/>
          <p:cNvSpPr/>
          <p:nvPr/>
        </p:nvSpPr>
        <p:spPr>
          <a:xfrm>
            <a:off x="4937760" y="1883664"/>
            <a:ext cx="6705295" cy="960486"/>
          </a:xfrm>
          <a:prstGeom prst="roundRect">
            <a:avLst>
              <a:gd name="adj" fmla="val 13328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18" name="Shape 13"/>
          <p:cNvSpPr/>
          <p:nvPr/>
        </p:nvSpPr>
        <p:spPr>
          <a:xfrm>
            <a:off x="5138928" y="2029968"/>
            <a:ext cx="310896" cy="310896"/>
          </a:xfrm>
          <a:prstGeom prst="ellipse">
            <a:avLst/>
          </a:prstGeom>
          <a:solidFill>
            <a:srgbClr val="E8963A"/>
          </a:solidFill>
          <a:ln/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16652" y="2107692"/>
            <a:ext cx="155448" cy="155448"/>
          </a:xfrm>
          <a:prstGeom prst="rect">
            <a:avLst/>
          </a:prstGeom>
        </p:spPr>
      </p:pic>
      <p:sp>
        <p:nvSpPr>
          <p:cNvPr id="20" name="Text 14"/>
          <p:cNvSpPr txBox="1"/>
          <p:nvPr/>
        </p:nvSpPr>
        <p:spPr>
          <a:xfrm>
            <a:off x="5541264" y="2029968"/>
            <a:ext cx="5864047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10" kern="0" dirty="0">
                <a:solidFill>
                  <a:srgbClr val="E89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MEANING</a:t>
            </a:r>
            <a:endParaRPr lang="en-US" sz="1150" dirty="0"/>
          </a:p>
        </p:txBody>
      </p:sp>
      <p:sp>
        <p:nvSpPr>
          <p:cNvPr id="21" name="Text 15"/>
          <p:cNvSpPr txBox="1"/>
          <p:nvPr/>
        </p:nvSpPr>
        <p:spPr>
          <a:xfrm>
            <a:off x="5157216" y="2395728"/>
            <a:ext cx="6266383" cy="3021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135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prove that something is wrong — with evidence, not just to deny it.</a:t>
            </a:r>
            <a:endParaRPr lang="en-US" sz="1350" dirty="0"/>
          </a:p>
        </p:txBody>
      </p:sp>
      <p:sp>
        <p:nvSpPr>
          <p:cNvPr id="22" name="Shape 16"/>
          <p:cNvSpPr/>
          <p:nvPr/>
        </p:nvSpPr>
        <p:spPr>
          <a:xfrm>
            <a:off x="4937760" y="3027030"/>
            <a:ext cx="6705295" cy="1108253"/>
          </a:xfrm>
          <a:prstGeom prst="roundRect">
            <a:avLst>
              <a:gd name="adj" fmla="val 11551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23" name="Shape 17"/>
          <p:cNvSpPr/>
          <p:nvPr/>
        </p:nvSpPr>
        <p:spPr>
          <a:xfrm>
            <a:off x="5138928" y="3173334"/>
            <a:ext cx="310896" cy="310896"/>
          </a:xfrm>
          <a:prstGeom prst="ellipse">
            <a:avLst/>
          </a:prstGeom>
          <a:solidFill>
            <a:srgbClr val="0E7C5A"/>
          </a:solidFill>
          <a:ln/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16652" y="3251058"/>
            <a:ext cx="155448" cy="155448"/>
          </a:xfrm>
          <a:prstGeom prst="rect">
            <a:avLst/>
          </a:prstGeom>
        </p:spPr>
      </p:pic>
      <p:sp>
        <p:nvSpPr>
          <p:cNvPr id="25" name="Text 18"/>
          <p:cNvSpPr txBox="1"/>
          <p:nvPr/>
        </p:nvSpPr>
        <p:spPr>
          <a:xfrm>
            <a:off x="5541264" y="3173334"/>
            <a:ext cx="5864047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10" kern="0" dirty="0">
                <a:solidFill>
                  <a:srgbClr val="0E7C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SENTENCE</a:t>
            </a:r>
            <a:endParaRPr lang="en-US" sz="1150" dirty="0"/>
          </a:p>
        </p:txBody>
      </p:sp>
      <p:sp>
        <p:nvSpPr>
          <p:cNvPr id="26" name="Text 19"/>
          <p:cNvSpPr txBox="1"/>
          <p:nvPr/>
        </p:nvSpPr>
        <p:spPr>
          <a:xfrm>
            <a:off x="5157216" y="3539094"/>
            <a:ext cx="6266383" cy="4498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135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2023 study refutes that claim. He refuted the figures point by point.</a:t>
            </a:r>
            <a:endParaRPr lang="en-US" sz="1350" dirty="0"/>
          </a:p>
        </p:txBody>
      </p:sp>
      <p:sp>
        <p:nvSpPr>
          <p:cNvPr id="27" name="Shape 20"/>
          <p:cNvSpPr/>
          <p:nvPr/>
        </p:nvSpPr>
        <p:spPr>
          <a:xfrm>
            <a:off x="4937760" y="4318163"/>
            <a:ext cx="6705295" cy="1625437"/>
          </a:xfrm>
          <a:prstGeom prst="roundRect">
            <a:avLst>
              <a:gd name="adj" fmla="val 7876"/>
            </a:avLst>
          </a:prstGeom>
          <a:solidFill>
            <a:srgbClr val="FBEAEA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28" name="Shape 21"/>
          <p:cNvSpPr/>
          <p:nvPr/>
        </p:nvSpPr>
        <p:spPr>
          <a:xfrm>
            <a:off x="5138928" y="4464467"/>
            <a:ext cx="310896" cy="310896"/>
          </a:xfrm>
          <a:prstGeom prst="ellipse">
            <a:avLst/>
          </a:prstGeom>
          <a:solidFill>
            <a:srgbClr val="D64545"/>
          </a:solidFill>
          <a:ln/>
        </p:spPr>
      </p:sp>
      <p:pic>
        <p:nvPicPr>
          <p:cNvPr id="2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16652" y="4542191"/>
            <a:ext cx="155448" cy="155448"/>
          </a:xfrm>
          <a:prstGeom prst="rect">
            <a:avLst/>
          </a:prstGeom>
        </p:spPr>
      </p:pic>
      <p:sp>
        <p:nvSpPr>
          <p:cNvPr id="30" name="Text 22"/>
          <p:cNvSpPr txBox="1"/>
          <p:nvPr/>
        </p:nvSpPr>
        <p:spPr>
          <a:xfrm>
            <a:off x="5541264" y="4464467"/>
            <a:ext cx="5864047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10" kern="0" dirty="0">
                <a:solidFill>
                  <a:srgbClr val="D64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MISTAKE</a:t>
            </a:r>
            <a:endParaRPr lang="en-US" sz="1150" dirty="0"/>
          </a:p>
        </p:txBody>
      </p:sp>
      <p:sp>
        <p:nvSpPr>
          <p:cNvPr id="31" name="Text 23"/>
          <p:cNvSpPr txBox="1"/>
          <p:nvPr/>
        </p:nvSpPr>
        <p:spPr>
          <a:xfrm>
            <a:off x="5157216" y="4830227"/>
            <a:ext cx="6266383" cy="9670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195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“Refute” means DISPROVE, not “disagree with”. If you have no evidence, you have denied it, not refuted it.</a:t>
            </a:r>
            <a:endParaRPr lang="en-US" sz="1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38912"/>
            <a:ext cx="2199132" cy="420624"/>
          </a:xfrm>
          <a:prstGeom prst="roundRect">
            <a:avLst>
              <a:gd name="adj" fmla="val 50000"/>
            </a:avLst>
          </a:prstGeom>
          <a:solidFill>
            <a:srgbClr val="E8963A"/>
          </a:solidFill>
          <a:ln/>
        </p:spPr>
      </p:sp>
      <p:sp>
        <p:nvSpPr>
          <p:cNvPr id="3" name="Shape 1"/>
          <p:cNvSpPr/>
          <p:nvPr/>
        </p:nvSpPr>
        <p:spPr>
          <a:xfrm>
            <a:off x="649224" y="539496"/>
            <a:ext cx="219456" cy="219456"/>
          </a:xfrm>
          <a:prstGeom prst="ellipse">
            <a:avLst/>
          </a:prstGeom>
          <a:solidFill>
            <a:srgbClr val="E8963A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" y="539496"/>
            <a:ext cx="219456" cy="21945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932688" y="438912"/>
            <a:ext cx="170535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VOCABULARY 2 OF 5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896112"/>
            <a:ext cx="10972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word: premise</a:t>
            </a:r>
            <a:endParaRPr lang="en-US" sz="38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536192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· pronunciation · meaning · example · common mistake</a:t>
            </a:r>
            <a:endParaRPr lang="en-US" sz="165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6144768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50" kern="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4 · Advanced Spoken English · Module 3 — Debate &amp; Persuasion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10607040" y="6144768"/>
            <a:ext cx="1033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548640" y="1883664"/>
            <a:ext cx="4114800" cy="4059936"/>
          </a:xfrm>
          <a:prstGeom prst="roundRect">
            <a:avLst>
              <a:gd name="adj" fmla="val 3153"/>
            </a:avLst>
          </a:prstGeom>
          <a:solidFill>
            <a:srgbClr val="FDF3E7"/>
          </a:solidFill>
          <a:ln w="12700">
            <a:solidFill>
              <a:srgbClr val="E8963A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1920240" y="2267712"/>
            <a:ext cx="1371600" cy="1371600"/>
          </a:xfrm>
          <a:prstGeom prst="ellipse">
            <a:avLst/>
          </a:prstGeom>
          <a:solidFill>
            <a:srgbClr val="E8963A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63140" y="2610612"/>
            <a:ext cx="685800" cy="685800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731520" y="3858768"/>
            <a:ext cx="37490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9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premise</a:t>
            </a:r>
            <a:endParaRPr lang="en-US" sz="4900" dirty="0"/>
          </a:p>
        </p:txBody>
      </p:sp>
      <p:sp>
        <p:nvSpPr>
          <p:cNvPr id="15" name="Text 10"/>
          <p:cNvSpPr txBox="1"/>
          <p:nvPr/>
        </p:nvSpPr>
        <p:spPr>
          <a:xfrm>
            <a:off x="731520" y="4626864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7A4A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/ˈpremɪs/</a:t>
            </a:r>
            <a:endParaRPr lang="en-US" sz="2200" dirty="0"/>
          </a:p>
        </p:txBody>
      </p:sp>
      <p:sp>
        <p:nvSpPr>
          <p:cNvPr id="16" name="Text 11"/>
          <p:cNvSpPr txBox="1"/>
          <p:nvPr/>
        </p:nvSpPr>
        <p:spPr>
          <a:xfrm>
            <a:off x="731520" y="501091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noun</a:t>
            </a:r>
            <a:endParaRPr lang="en-US" sz="1300" dirty="0"/>
          </a:p>
        </p:txBody>
      </p:sp>
      <p:sp>
        <p:nvSpPr>
          <p:cNvPr id="17" name="Shape 12"/>
          <p:cNvSpPr/>
          <p:nvPr/>
        </p:nvSpPr>
        <p:spPr>
          <a:xfrm>
            <a:off x="4937760" y="1883664"/>
            <a:ext cx="6705295" cy="960486"/>
          </a:xfrm>
          <a:prstGeom prst="roundRect">
            <a:avLst>
              <a:gd name="adj" fmla="val 13328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18" name="Shape 13"/>
          <p:cNvSpPr/>
          <p:nvPr/>
        </p:nvSpPr>
        <p:spPr>
          <a:xfrm>
            <a:off x="5138928" y="2029968"/>
            <a:ext cx="310896" cy="310896"/>
          </a:xfrm>
          <a:prstGeom prst="ellipse">
            <a:avLst/>
          </a:prstGeom>
          <a:solidFill>
            <a:srgbClr val="E8963A"/>
          </a:solidFill>
          <a:ln/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16652" y="2107692"/>
            <a:ext cx="155448" cy="155448"/>
          </a:xfrm>
          <a:prstGeom prst="rect">
            <a:avLst/>
          </a:prstGeom>
        </p:spPr>
      </p:pic>
      <p:sp>
        <p:nvSpPr>
          <p:cNvPr id="20" name="Text 14"/>
          <p:cNvSpPr txBox="1"/>
          <p:nvPr/>
        </p:nvSpPr>
        <p:spPr>
          <a:xfrm>
            <a:off x="5541264" y="2029968"/>
            <a:ext cx="5864047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10" kern="0" dirty="0">
                <a:solidFill>
                  <a:srgbClr val="E89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MEANING</a:t>
            </a:r>
            <a:endParaRPr lang="en-US" sz="1150" dirty="0"/>
          </a:p>
        </p:txBody>
      </p:sp>
      <p:sp>
        <p:nvSpPr>
          <p:cNvPr id="21" name="Text 15"/>
          <p:cNvSpPr txBox="1"/>
          <p:nvPr/>
        </p:nvSpPr>
        <p:spPr>
          <a:xfrm>
            <a:off x="5157216" y="2395728"/>
            <a:ext cx="6266383" cy="3021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140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statement an argument assumes to be true, often without saying so.</a:t>
            </a:r>
            <a:endParaRPr lang="en-US" sz="1400" dirty="0"/>
          </a:p>
        </p:txBody>
      </p:sp>
      <p:sp>
        <p:nvSpPr>
          <p:cNvPr id="22" name="Shape 16"/>
          <p:cNvSpPr/>
          <p:nvPr/>
        </p:nvSpPr>
        <p:spPr>
          <a:xfrm>
            <a:off x="4937760" y="3027030"/>
            <a:ext cx="6705295" cy="1108253"/>
          </a:xfrm>
          <a:prstGeom prst="roundRect">
            <a:avLst>
              <a:gd name="adj" fmla="val 11551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23" name="Shape 17"/>
          <p:cNvSpPr/>
          <p:nvPr/>
        </p:nvSpPr>
        <p:spPr>
          <a:xfrm>
            <a:off x="5138928" y="3173334"/>
            <a:ext cx="310896" cy="310896"/>
          </a:xfrm>
          <a:prstGeom prst="ellipse">
            <a:avLst/>
          </a:prstGeom>
          <a:solidFill>
            <a:srgbClr val="0E7C5A"/>
          </a:solidFill>
          <a:ln/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16652" y="3251058"/>
            <a:ext cx="155448" cy="155448"/>
          </a:xfrm>
          <a:prstGeom prst="rect">
            <a:avLst/>
          </a:prstGeom>
        </p:spPr>
      </p:pic>
      <p:sp>
        <p:nvSpPr>
          <p:cNvPr id="25" name="Text 18"/>
          <p:cNvSpPr txBox="1"/>
          <p:nvPr/>
        </p:nvSpPr>
        <p:spPr>
          <a:xfrm>
            <a:off x="5541264" y="3173334"/>
            <a:ext cx="5864047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10" kern="0" dirty="0">
                <a:solidFill>
                  <a:srgbClr val="0E7C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SENTENCE</a:t>
            </a:r>
            <a:endParaRPr lang="en-US" sz="1150" dirty="0"/>
          </a:p>
        </p:txBody>
      </p:sp>
      <p:sp>
        <p:nvSpPr>
          <p:cNvPr id="26" name="Text 19"/>
          <p:cNvSpPr txBox="1"/>
          <p:nvPr/>
        </p:nvSpPr>
        <p:spPr>
          <a:xfrm>
            <a:off x="5157216" y="3539094"/>
            <a:ext cx="6266383" cy="4498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135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whole argument rests on a false premise. I'd question that premise.</a:t>
            </a:r>
            <a:endParaRPr lang="en-US" sz="1350" dirty="0"/>
          </a:p>
        </p:txBody>
      </p:sp>
      <p:sp>
        <p:nvSpPr>
          <p:cNvPr id="27" name="Shape 20"/>
          <p:cNvSpPr/>
          <p:nvPr/>
        </p:nvSpPr>
        <p:spPr>
          <a:xfrm>
            <a:off x="4937760" y="4318163"/>
            <a:ext cx="6705295" cy="1625437"/>
          </a:xfrm>
          <a:prstGeom prst="roundRect">
            <a:avLst>
              <a:gd name="adj" fmla="val 7876"/>
            </a:avLst>
          </a:prstGeom>
          <a:solidFill>
            <a:srgbClr val="FBEAEA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28" name="Shape 21"/>
          <p:cNvSpPr/>
          <p:nvPr/>
        </p:nvSpPr>
        <p:spPr>
          <a:xfrm>
            <a:off x="5138928" y="4464467"/>
            <a:ext cx="310896" cy="310896"/>
          </a:xfrm>
          <a:prstGeom prst="ellipse">
            <a:avLst/>
          </a:prstGeom>
          <a:solidFill>
            <a:srgbClr val="D64545"/>
          </a:solidFill>
          <a:ln/>
        </p:spPr>
      </p:sp>
      <p:pic>
        <p:nvPicPr>
          <p:cNvPr id="2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16652" y="4542191"/>
            <a:ext cx="155448" cy="155448"/>
          </a:xfrm>
          <a:prstGeom prst="rect">
            <a:avLst/>
          </a:prstGeom>
        </p:spPr>
      </p:pic>
      <p:sp>
        <p:nvSpPr>
          <p:cNvPr id="30" name="Text 22"/>
          <p:cNvSpPr txBox="1"/>
          <p:nvPr/>
        </p:nvSpPr>
        <p:spPr>
          <a:xfrm>
            <a:off x="5541264" y="4464467"/>
            <a:ext cx="5864047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10" kern="0" dirty="0">
                <a:solidFill>
                  <a:srgbClr val="D64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MISTAKE</a:t>
            </a:r>
            <a:endParaRPr lang="en-US" sz="1150" dirty="0"/>
          </a:p>
        </p:txBody>
      </p:sp>
      <p:sp>
        <p:nvSpPr>
          <p:cNvPr id="31" name="Text 23"/>
          <p:cNvSpPr txBox="1"/>
          <p:nvPr/>
        </p:nvSpPr>
        <p:spPr>
          <a:xfrm>
            <a:off x="5157216" y="4830227"/>
            <a:ext cx="6266383" cy="9670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200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Stress on the FIRST syllable: PREM-iss. And note the /s/ ending, not /z/.</a:t>
            </a:r>
            <a:endParaRPr lang="en-US" sz="2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38912"/>
            <a:ext cx="2199132" cy="420624"/>
          </a:xfrm>
          <a:prstGeom prst="roundRect">
            <a:avLst>
              <a:gd name="adj" fmla="val 50000"/>
            </a:avLst>
          </a:prstGeom>
          <a:solidFill>
            <a:srgbClr val="E8963A"/>
          </a:solidFill>
          <a:ln/>
        </p:spPr>
      </p:sp>
      <p:sp>
        <p:nvSpPr>
          <p:cNvPr id="3" name="Shape 1"/>
          <p:cNvSpPr/>
          <p:nvPr/>
        </p:nvSpPr>
        <p:spPr>
          <a:xfrm>
            <a:off x="649224" y="539496"/>
            <a:ext cx="219456" cy="219456"/>
          </a:xfrm>
          <a:prstGeom prst="ellipse">
            <a:avLst/>
          </a:prstGeom>
          <a:solidFill>
            <a:srgbClr val="E8963A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" y="539496"/>
            <a:ext cx="219456" cy="21945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932688" y="438912"/>
            <a:ext cx="170535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VOCABULARY 3 OF 5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896112"/>
            <a:ext cx="10972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word: compelling</a:t>
            </a:r>
            <a:endParaRPr lang="en-US" sz="38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536192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· pronunciation · meaning · example · common mistake</a:t>
            </a:r>
            <a:endParaRPr lang="en-US" sz="165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6144768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50" kern="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4 · Advanced Spoken English · Module 3 — Debate &amp; Persuasion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10607040" y="6144768"/>
            <a:ext cx="1033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548640" y="1883664"/>
            <a:ext cx="4114800" cy="4059936"/>
          </a:xfrm>
          <a:prstGeom prst="roundRect">
            <a:avLst>
              <a:gd name="adj" fmla="val 3153"/>
            </a:avLst>
          </a:prstGeom>
          <a:solidFill>
            <a:srgbClr val="FDF3E7"/>
          </a:solidFill>
          <a:ln w="12700">
            <a:solidFill>
              <a:srgbClr val="E8963A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1920240" y="2267712"/>
            <a:ext cx="1371600" cy="1371600"/>
          </a:xfrm>
          <a:prstGeom prst="ellipse">
            <a:avLst/>
          </a:prstGeom>
          <a:solidFill>
            <a:srgbClr val="E8963A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63140" y="2610612"/>
            <a:ext cx="685800" cy="685800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731520" y="3858768"/>
            <a:ext cx="37490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9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compelling</a:t>
            </a:r>
            <a:endParaRPr lang="en-US" sz="4900" dirty="0"/>
          </a:p>
        </p:txBody>
      </p:sp>
      <p:sp>
        <p:nvSpPr>
          <p:cNvPr id="15" name="Text 10"/>
          <p:cNvSpPr txBox="1"/>
          <p:nvPr/>
        </p:nvSpPr>
        <p:spPr>
          <a:xfrm>
            <a:off x="731520" y="4626864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7A4A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/kəmˈpelɪŋ/</a:t>
            </a:r>
            <a:endParaRPr lang="en-US" sz="2200" dirty="0"/>
          </a:p>
        </p:txBody>
      </p:sp>
      <p:sp>
        <p:nvSpPr>
          <p:cNvPr id="16" name="Text 11"/>
          <p:cNvSpPr txBox="1"/>
          <p:nvPr/>
        </p:nvSpPr>
        <p:spPr>
          <a:xfrm>
            <a:off x="731520" y="501091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adjective</a:t>
            </a:r>
            <a:endParaRPr lang="en-US" sz="1300" dirty="0"/>
          </a:p>
        </p:txBody>
      </p:sp>
      <p:sp>
        <p:nvSpPr>
          <p:cNvPr id="17" name="Shape 12"/>
          <p:cNvSpPr/>
          <p:nvPr/>
        </p:nvSpPr>
        <p:spPr>
          <a:xfrm>
            <a:off x="4937760" y="1883664"/>
            <a:ext cx="6705295" cy="960486"/>
          </a:xfrm>
          <a:prstGeom prst="roundRect">
            <a:avLst>
              <a:gd name="adj" fmla="val 13328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18" name="Shape 13"/>
          <p:cNvSpPr/>
          <p:nvPr/>
        </p:nvSpPr>
        <p:spPr>
          <a:xfrm>
            <a:off x="5138928" y="2029968"/>
            <a:ext cx="310896" cy="310896"/>
          </a:xfrm>
          <a:prstGeom prst="ellipse">
            <a:avLst/>
          </a:prstGeom>
          <a:solidFill>
            <a:srgbClr val="E8963A"/>
          </a:solidFill>
          <a:ln/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16652" y="2107692"/>
            <a:ext cx="155448" cy="155448"/>
          </a:xfrm>
          <a:prstGeom prst="rect">
            <a:avLst/>
          </a:prstGeom>
        </p:spPr>
      </p:pic>
      <p:sp>
        <p:nvSpPr>
          <p:cNvPr id="20" name="Text 14"/>
          <p:cNvSpPr txBox="1"/>
          <p:nvPr/>
        </p:nvSpPr>
        <p:spPr>
          <a:xfrm>
            <a:off x="5541264" y="2029968"/>
            <a:ext cx="5864047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10" kern="0" dirty="0">
                <a:solidFill>
                  <a:srgbClr val="E89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MEANING</a:t>
            </a:r>
            <a:endParaRPr lang="en-US" sz="1150" dirty="0"/>
          </a:p>
        </p:txBody>
      </p:sp>
      <p:sp>
        <p:nvSpPr>
          <p:cNvPr id="21" name="Text 15"/>
          <p:cNvSpPr txBox="1"/>
          <p:nvPr/>
        </p:nvSpPr>
        <p:spPr>
          <a:xfrm>
            <a:off x="5157216" y="2395728"/>
            <a:ext cx="6266383" cy="3021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185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convincing that it is difficult to argue against.</a:t>
            </a:r>
            <a:endParaRPr lang="en-US" sz="1850" dirty="0"/>
          </a:p>
        </p:txBody>
      </p:sp>
      <p:sp>
        <p:nvSpPr>
          <p:cNvPr id="22" name="Shape 16"/>
          <p:cNvSpPr/>
          <p:nvPr/>
        </p:nvSpPr>
        <p:spPr>
          <a:xfrm>
            <a:off x="4937760" y="3027030"/>
            <a:ext cx="6705295" cy="1108253"/>
          </a:xfrm>
          <a:prstGeom prst="roundRect">
            <a:avLst>
              <a:gd name="adj" fmla="val 11551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23" name="Shape 17"/>
          <p:cNvSpPr/>
          <p:nvPr/>
        </p:nvSpPr>
        <p:spPr>
          <a:xfrm>
            <a:off x="5138928" y="3173334"/>
            <a:ext cx="310896" cy="310896"/>
          </a:xfrm>
          <a:prstGeom prst="ellipse">
            <a:avLst/>
          </a:prstGeom>
          <a:solidFill>
            <a:srgbClr val="0E7C5A"/>
          </a:solidFill>
          <a:ln/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16652" y="3251058"/>
            <a:ext cx="155448" cy="155448"/>
          </a:xfrm>
          <a:prstGeom prst="rect">
            <a:avLst/>
          </a:prstGeom>
        </p:spPr>
      </p:pic>
      <p:sp>
        <p:nvSpPr>
          <p:cNvPr id="25" name="Text 18"/>
          <p:cNvSpPr txBox="1"/>
          <p:nvPr/>
        </p:nvSpPr>
        <p:spPr>
          <a:xfrm>
            <a:off x="5541264" y="3173334"/>
            <a:ext cx="5864047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10" kern="0" dirty="0">
                <a:solidFill>
                  <a:srgbClr val="0E7C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SENTENCE</a:t>
            </a:r>
            <a:endParaRPr lang="en-US" sz="1150" dirty="0"/>
          </a:p>
        </p:txBody>
      </p:sp>
      <p:sp>
        <p:nvSpPr>
          <p:cNvPr id="26" name="Text 19"/>
          <p:cNvSpPr txBox="1"/>
          <p:nvPr/>
        </p:nvSpPr>
        <p:spPr>
          <a:xfrm>
            <a:off x="5157216" y="3539094"/>
            <a:ext cx="6266383" cy="4498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16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That's a compelling argument. The evidence isn't compelling.</a:t>
            </a:r>
            <a:endParaRPr lang="en-US" sz="1600" dirty="0"/>
          </a:p>
        </p:txBody>
      </p:sp>
      <p:sp>
        <p:nvSpPr>
          <p:cNvPr id="27" name="Shape 20"/>
          <p:cNvSpPr/>
          <p:nvPr/>
        </p:nvSpPr>
        <p:spPr>
          <a:xfrm>
            <a:off x="4937760" y="4318163"/>
            <a:ext cx="6705295" cy="1625437"/>
          </a:xfrm>
          <a:prstGeom prst="roundRect">
            <a:avLst>
              <a:gd name="adj" fmla="val 7876"/>
            </a:avLst>
          </a:prstGeom>
          <a:solidFill>
            <a:srgbClr val="FBEAEA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28" name="Shape 21"/>
          <p:cNvSpPr/>
          <p:nvPr/>
        </p:nvSpPr>
        <p:spPr>
          <a:xfrm>
            <a:off x="5138928" y="4464467"/>
            <a:ext cx="310896" cy="310896"/>
          </a:xfrm>
          <a:prstGeom prst="ellipse">
            <a:avLst/>
          </a:prstGeom>
          <a:solidFill>
            <a:srgbClr val="D64545"/>
          </a:solidFill>
          <a:ln/>
        </p:spPr>
      </p:sp>
      <p:pic>
        <p:nvPicPr>
          <p:cNvPr id="2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16652" y="4542191"/>
            <a:ext cx="155448" cy="155448"/>
          </a:xfrm>
          <a:prstGeom prst="rect">
            <a:avLst/>
          </a:prstGeom>
        </p:spPr>
      </p:pic>
      <p:sp>
        <p:nvSpPr>
          <p:cNvPr id="30" name="Text 22"/>
          <p:cNvSpPr txBox="1"/>
          <p:nvPr/>
        </p:nvSpPr>
        <p:spPr>
          <a:xfrm>
            <a:off x="5541264" y="4464467"/>
            <a:ext cx="5864047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10" kern="0" dirty="0">
                <a:solidFill>
                  <a:srgbClr val="D64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MISTAKE</a:t>
            </a:r>
            <a:endParaRPr lang="en-US" sz="1150" dirty="0"/>
          </a:p>
        </p:txBody>
      </p:sp>
      <p:sp>
        <p:nvSpPr>
          <p:cNvPr id="31" name="Text 23"/>
          <p:cNvSpPr txBox="1"/>
          <p:nvPr/>
        </p:nvSpPr>
        <p:spPr>
          <a:xfrm>
            <a:off x="5157216" y="4830227"/>
            <a:ext cx="6266383" cy="9670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195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Stronger than “good” or “interesting”. Use it when something genuinely changes your view — otherwise it loses force.</a:t>
            </a:r>
            <a:endParaRPr lang="en-US" sz="19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38912"/>
            <a:ext cx="2199132" cy="420624"/>
          </a:xfrm>
          <a:prstGeom prst="roundRect">
            <a:avLst>
              <a:gd name="adj" fmla="val 50000"/>
            </a:avLst>
          </a:prstGeom>
          <a:solidFill>
            <a:srgbClr val="E8963A"/>
          </a:solidFill>
          <a:ln/>
        </p:spPr>
      </p:sp>
      <p:sp>
        <p:nvSpPr>
          <p:cNvPr id="3" name="Shape 1"/>
          <p:cNvSpPr/>
          <p:nvPr/>
        </p:nvSpPr>
        <p:spPr>
          <a:xfrm>
            <a:off x="649224" y="539496"/>
            <a:ext cx="219456" cy="219456"/>
          </a:xfrm>
          <a:prstGeom prst="ellipse">
            <a:avLst/>
          </a:prstGeom>
          <a:solidFill>
            <a:srgbClr val="E8963A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" y="539496"/>
            <a:ext cx="219456" cy="21945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932688" y="438912"/>
            <a:ext cx="170535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VOCABULARY 4 OF 5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896112"/>
            <a:ext cx="10972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word: concede</a:t>
            </a:r>
            <a:endParaRPr lang="en-US" sz="38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536192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· pronunciation · meaning · example · common mistake</a:t>
            </a:r>
            <a:endParaRPr lang="en-US" sz="165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6144768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50" kern="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4 · Advanced Spoken English · Module 3 — Debate &amp; Persuasion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10607040" y="6144768"/>
            <a:ext cx="1033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548640" y="1883664"/>
            <a:ext cx="4114800" cy="4059936"/>
          </a:xfrm>
          <a:prstGeom prst="roundRect">
            <a:avLst>
              <a:gd name="adj" fmla="val 3153"/>
            </a:avLst>
          </a:prstGeom>
          <a:solidFill>
            <a:srgbClr val="FDF3E7"/>
          </a:solidFill>
          <a:ln w="12700">
            <a:solidFill>
              <a:srgbClr val="E8963A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1920240" y="2267712"/>
            <a:ext cx="1371600" cy="1371600"/>
          </a:xfrm>
          <a:prstGeom prst="ellipse">
            <a:avLst/>
          </a:prstGeom>
          <a:solidFill>
            <a:srgbClr val="E8963A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63140" y="2610612"/>
            <a:ext cx="685800" cy="685800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731520" y="3858768"/>
            <a:ext cx="37490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9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concede</a:t>
            </a:r>
            <a:endParaRPr lang="en-US" sz="4900" dirty="0"/>
          </a:p>
        </p:txBody>
      </p:sp>
      <p:sp>
        <p:nvSpPr>
          <p:cNvPr id="15" name="Text 10"/>
          <p:cNvSpPr txBox="1"/>
          <p:nvPr/>
        </p:nvSpPr>
        <p:spPr>
          <a:xfrm>
            <a:off x="731520" y="4626864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7A4A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/kənˈsiːd/</a:t>
            </a:r>
            <a:endParaRPr lang="en-US" sz="2200" dirty="0"/>
          </a:p>
        </p:txBody>
      </p:sp>
      <p:sp>
        <p:nvSpPr>
          <p:cNvPr id="16" name="Text 11"/>
          <p:cNvSpPr txBox="1"/>
          <p:nvPr/>
        </p:nvSpPr>
        <p:spPr>
          <a:xfrm>
            <a:off x="731520" y="501091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verb</a:t>
            </a:r>
            <a:endParaRPr lang="en-US" sz="1300" dirty="0"/>
          </a:p>
        </p:txBody>
      </p:sp>
      <p:sp>
        <p:nvSpPr>
          <p:cNvPr id="17" name="Shape 12"/>
          <p:cNvSpPr/>
          <p:nvPr/>
        </p:nvSpPr>
        <p:spPr>
          <a:xfrm>
            <a:off x="4937760" y="1883664"/>
            <a:ext cx="6705295" cy="960486"/>
          </a:xfrm>
          <a:prstGeom prst="roundRect">
            <a:avLst>
              <a:gd name="adj" fmla="val 13328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18" name="Shape 13"/>
          <p:cNvSpPr/>
          <p:nvPr/>
        </p:nvSpPr>
        <p:spPr>
          <a:xfrm>
            <a:off x="5138928" y="2029968"/>
            <a:ext cx="310896" cy="310896"/>
          </a:xfrm>
          <a:prstGeom prst="ellipse">
            <a:avLst/>
          </a:prstGeom>
          <a:solidFill>
            <a:srgbClr val="E8963A"/>
          </a:solidFill>
          <a:ln/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16652" y="2107692"/>
            <a:ext cx="155448" cy="155448"/>
          </a:xfrm>
          <a:prstGeom prst="rect">
            <a:avLst/>
          </a:prstGeom>
        </p:spPr>
      </p:pic>
      <p:sp>
        <p:nvSpPr>
          <p:cNvPr id="20" name="Text 14"/>
          <p:cNvSpPr txBox="1"/>
          <p:nvPr/>
        </p:nvSpPr>
        <p:spPr>
          <a:xfrm>
            <a:off x="5541264" y="2029968"/>
            <a:ext cx="5864047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10" kern="0" dirty="0">
                <a:solidFill>
                  <a:srgbClr val="E89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MEANING</a:t>
            </a:r>
            <a:endParaRPr lang="en-US" sz="1150" dirty="0"/>
          </a:p>
        </p:txBody>
      </p:sp>
      <p:sp>
        <p:nvSpPr>
          <p:cNvPr id="21" name="Text 15"/>
          <p:cNvSpPr txBox="1"/>
          <p:nvPr/>
        </p:nvSpPr>
        <p:spPr>
          <a:xfrm>
            <a:off x="5157216" y="2395728"/>
            <a:ext cx="6266383" cy="3021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145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admit a point is correct, especially one that does not help you.</a:t>
            </a:r>
            <a:endParaRPr lang="en-US" sz="1450" dirty="0"/>
          </a:p>
        </p:txBody>
      </p:sp>
      <p:sp>
        <p:nvSpPr>
          <p:cNvPr id="22" name="Shape 16"/>
          <p:cNvSpPr/>
          <p:nvPr/>
        </p:nvSpPr>
        <p:spPr>
          <a:xfrm>
            <a:off x="4937760" y="3027030"/>
            <a:ext cx="6705295" cy="1108253"/>
          </a:xfrm>
          <a:prstGeom prst="roundRect">
            <a:avLst>
              <a:gd name="adj" fmla="val 11551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23" name="Shape 17"/>
          <p:cNvSpPr/>
          <p:nvPr/>
        </p:nvSpPr>
        <p:spPr>
          <a:xfrm>
            <a:off x="5138928" y="3173334"/>
            <a:ext cx="310896" cy="310896"/>
          </a:xfrm>
          <a:prstGeom prst="ellipse">
            <a:avLst/>
          </a:prstGeom>
          <a:solidFill>
            <a:srgbClr val="0E7C5A"/>
          </a:solidFill>
          <a:ln/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16652" y="3251058"/>
            <a:ext cx="155448" cy="155448"/>
          </a:xfrm>
          <a:prstGeom prst="rect">
            <a:avLst/>
          </a:prstGeom>
        </p:spPr>
      </p:pic>
      <p:sp>
        <p:nvSpPr>
          <p:cNvPr id="25" name="Text 18"/>
          <p:cNvSpPr txBox="1"/>
          <p:nvPr/>
        </p:nvSpPr>
        <p:spPr>
          <a:xfrm>
            <a:off x="5541264" y="3173334"/>
            <a:ext cx="5864047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10" kern="0" dirty="0">
                <a:solidFill>
                  <a:srgbClr val="0E7C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SENTENCE</a:t>
            </a:r>
            <a:endParaRPr lang="en-US" sz="1150" dirty="0"/>
          </a:p>
        </p:txBody>
      </p:sp>
      <p:sp>
        <p:nvSpPr>
          <p:cNvPr id="26" name="Text 19"/>
          <p:cNvSpPr txBox="1"/>
          <p:nvPr/>
        </p:nvSpPr>
        <p:spPr>
          <a:xfrm>
            <a:off x="5157216" y="3539094"/>
            <a:ext cx="6266383" cy="4498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145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I'll concede that point. She conceded the figures were out of date.</a:t>
            </a:r>
            <a:endParaRPr lang="en-US" sz="1450" dirty="0"/>
          </a:p>
        </p:txBody>
      </p:sp>
      <p:sp>
        <p:nvSpPr>
          <p:cNvPr id="27" name="Shape 20"/>
          <p:cNvSpPr/>
          <p:nvPr/>
        </p:nvSpPr>
        <p:spPr>
          <a:xfrm>
            <a:off x="4937760" y="4318163"/>
            <a:ext cx="6705295" cy="1625437"/>
          </a:xfrm>
          <a:prstGeom prst="roundRect">
            <a:avLst>
              <a:gd name="adj" fmla="val 7876"/>
            </a:avLst>
          </a:prstGeom>
          <a:solidFill>
            <a:srgbClr val="FBEAEA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28" name="Shape 21"/>
          <p:cNvSpPr/>
          <p:nvPr/>
        </p:nvSpPr>
        <p:spPr>
          <a:xfrm>
            <a:off x="5138928" y="4464467"/>
            <a:ext cx="310896" cy="310896"/>
          </a:xfrm>
          <a:prstGeom prst="ellipse">
            <a:avLst/>
          </a:prstGeom>
          <a:solidFill>
            <a:srgbClr val="D64545"/>
          </a:solidFill>
          <a:ln/>
        </p:spPr>
      </p:sp>
      <p:pic>
        <p:nvPicPr>
          <p:cNvPr id="2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16652" y="4542191"/>
            <a:ext cx="155448" cy="155448"/>
          </a:xfrm>
          <a:prstGeom prst="rect">
            <a:avLst/>
          </a:prstGeom>
        </p:spPr>
      </p:pic>
      <p:sp>
        <p:nvSpPr>
          <p:cNvPr id="30" name="Text 22"/>
          <p:cNvSpPr txBox="1"/>
          <p:nvPr/>
        </p:nvSpPr>
        <p:spPr>
          <a:xfrm>
            <a:off x="5541264" y="4464467"/>
            <a:ext cx="5864047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10" kern="0" dirty="0">
                <a:solidFill>
                  <a:srgbClr val="D64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MISTAKE</a:t>
            </a:r>
            <a:endParaRPr lang="en-US" sz="1150" dirty="0"/>
          </a:p>
        </p:txBody>
      </p:sp>
      <p:sp>
        <p:nvSpPr>
          <p:cNvPr id="31" name="Text 23"/>
          <p:cNvSpPr txBox="1"/>
          <p:nvPr/>
        </p:nvSpPr>
        <p:spPr>
          <a:xfrm>
            <a:off x="5157216" y="4830227"/>
            <a:ext cx="6266383" cy="9670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195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Module 2 — and here it matters more. Conceding one point protects the others; denying it costs all of them.</a:t>
            </a:r>
            <a:endParaRPr lang="en-US" sz="19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38912"/>
            <a:ext cx="2199132" cy="420624"/>
          </a:xfrm>
          <a:prstGeom prst="roundRect">
            <a:avLst>
              <a:gd name="adj" fmla="val 50000"/>
            </a:avLst>
          </a:prstGeom>
          <a:solidFill>
            <a:srgbClr val="E8963A"/>
          </a:solidFill>
          <a:ln/>
        </p:spPr>
      </p:sp>
      <p:sp>
        <p:nvSpPr>
          <p:cNvPr id="3" name="Shape 1"/>
          <p:cNvSpPr/>
          <p:nvPr/>
        </p:nvSpPr>
        <p:spPr>
          <a:xfrm>
            <a:off x="649224" y="539496"/>
            <a:ext cx="219456" cy="219456"/>
          </a:xfrm>
          <a:prstGeom prst="ellipse">
            <a:avLst/>
          </a:prstGeom>
          <a:solidFill>
            <a:srgbClr val="E8963A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" y="539496"/>
            <a:ext cx="219456" cy="21945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932688" y="438912"/>
            <a:ext cx="170535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VOCABULARY 5 OF 5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896112"/>
            <a:ext cx="10972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word: at stake</a:t>
            </a:r>
            <a:endParaRPr lang="en-US" sz="38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536192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· pronunciation · meaning · example · common mistake</a:t>
            </a:r>
            <a:endParaRPr lang="en-US" sz="165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6144768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50" kern="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4 · Advanced Spoken English · Module 3 — Debate &amp; Persuasion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10607040" y="6144768"/>
            <a:ext cx="1033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548640" y="1883664"/>
            <a:ext cx="4114800" cy="4059936"/>
          </a:xfrm>
          <a:prstGeom prst="roundRect">
            <a:avLst>
              <a:gd name="adj" fmla="val 3153"/>
            </a:avLst>
          </a:prstGeom>
          <a:solidFill>
            <a:srgbClr val="FDF3E7"/>
          </a:solidFill>
          <a:ln w="12700">
            <a:solidFill>
              <a:srgbClr val="E8963A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1920240" y="2267712"/>
            <a:ext cx="1371600" cy="1371600"/>
          </a:xfrm>
          <a:prstGeom prst="ellipse">
            <a:avLst/>
          </a:prstGeom>
          <a:solidFill>
            <a:srgbClr val="E8963A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63140" y="2610612"/>
            <a:ext cx="685800" cy="685800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731520" y="3858768"/>
            <a:ext cx="37490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9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stake</a:t>
            </a:r>
            <a:endParaRPr lang="en-US" sz="4900" dirty="0"/>
          </a:p>
        </p:txBody>
      </p:sp>
      <p:sp>
        <p:nvSpPr>
          <p:cNvPr id="15" name="Text 10"/>
          <p:cNvSpPr txBox="1"/>
          <p:nvPr/>
        </p:nvSpPr>
        <p:spPr>
          <a:xfrm>
            <a:off x="731520" y="4626864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7A4A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/ət ˈsteɪk/</a:t>
            </a:r>
            <a:endParaRPr lang="en-US" sz="2200" dirty="0"/>
          </a:p>
        </p:txBody>
      </p:sp>
      <p:sp>
        <p:nvSpPr>
          <p:cNvPr id="16" name="Text 11"/>
          <p:cNvSpPr txBox="1"/>
          <p:nvPr/>
        </p:nvSpPr>
        <p:spPr>
          <a:xfrm>
            <a:off x="731520" y="501091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phrase</a:t>
            </a:r>
            <a:endParaRPr lang="en-US" sz="1300" dirty="0"/>
          </a:p>
        </p:txBody>
      </p:sp>
      <p:sp>
        <p:nvSpPr>
          <p:cNvPr id="17" name="Shape 12"/>
          <p:cNvSpPr/>
          <p:nvPr/>
        </p:nvSpPr>
        <p:spPr>
          <a:xfrm>
            <a:off x="4937760" y="1883664"/>
            <a:ext cx="6705295" cy="960486"/>
          </a:xfrm>
          <a:prstGeom prst="roundRect">
            <a:avLst>
              <a:gd name="adj" fmla="val 13328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18" name="Shape 13"/>
          <p:cNvSpPr/>
          <p:nvPr/>
        </p:nvSpPr>
        <p:spPr>
          <a:xfrm>
            <a:off x="5138928" y="2029968"/>
            <a:ext cx="310896" cy="310896"/>
          </a:xfrm>
          <a:prstGeom prst="ellipse">
            <a:avLst/>
          </a:prstGeom>
          <a:solidFill>
            <a:srgbClr val="E8963A"/>
          </a:solidFill>
          <a:ln/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16652" y="2107692"/>
            <a:ext cx="155448" cy="155448"/>
          </a:xfrm>
          <a:prstGeom prst="rect">
            <a:avLst/>
          </a:prstGeom>
        </p:spPr>
      </p:pic>
      <p:sp>
        <p:nvSpPr>
          <p:cNvPr id="20" name="Text 14"/>
          <p:cNvSpPr txBox="1"/>
          <p:nvPr/>
        </p:nvSpPr>
        <p:spPr>
          <a:xfrm>
            <a:off x="5541264" y="2029968"/>
            <a:ext cx="5864047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10" kern="0" dirty="0">
                <a:solidFill>
                  <a:srgbClr val="E89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MEANING</a:t>
            </a:r>
            <a:endParaRPr lang="en-US" sz="1150" dirty="0"/>
          </a:p>
        </p:txBody>
      </p:sp>
      <p:sp>
        <p:nvSpPr>
          <p:cNvPr id="21" name="Text 15"/>
          <p:cNvSpPr txBox="1"/>
          <p:nvPr/>
        </p:nvSpPr>
        <p:spPr>
          <a:xfrm>
            <a:off x="5157216" y="2395728"/>
            <a:ext cx="6266383" cy="3021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150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could be gained or lost. What the argument is really about.</a:t>
            </a:r>
            <a:endParaRPr lang="en-US" sz="1500" dirty="0"/>
          </a:p>
        </p:txBody>
      </p:sp>
      <p:sp>
        <p:nvSpPr>
          <p:cNvPr id="22" name="Shape 16"/>
          <p:cNvSpPr/>
          <p:nvPr/>
        </p:nvSpPr>
        <p:spPr>
          <a:xfrm>
            <a:off x="4937760" y="3027030"/>
            <a:ext cx="6705295" cy="1108253"/>
          </a:xfrm>
          <a:prstGeom prst="roundRect">
            <a:avLst>
              <a:gd name="adj" fmla="val 11551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23" name="Shape 17"/>
          <p:cNvSpPr/>
          <p:nvPr/>
        </p:nvSpPr>
        <p:spPr>
          <a:xfrm>
            <a:off x="5138928" y="3173334"/>
            <a:ext cx="310896" cy="310896"/>
          </a:xfrm>
          <a:prstGeom prst="ellipse">
            <a:avLst/>
          </a:prstGeom>
          <a:solidFill>
            <a:srgbClr val="0E7C5A"/>
          </a:solidFill>
          <a:ln/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16652" y="3251058"/>
            <a:ext cx="155448" cy="155448"/>
          </a:xfrm>
          <a:prstGeom prst="rect">
            <a:avLst/>
          </a:prstGeom>
        </p:spPr>
      </p:pic>
      <p:sp>
        <p:nvSpPr>
          <p:cNvPr id="25" name="Text 18"/>
          <p:cNvSpPr txBox="1"/>
          <p:nvPr/>
        </p:nvSpPr>
        <p:spPr>
          <a:xfrm>
            <a:off x="5541264" y="3173334"/>
            <a:ext cx="5864047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10" kern="0" dirty="0">
                <a:solidFill>
                  <a:srgbClr val="0E7C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SENTENCE</a:t>
            </a:r>
            <a:endParaRPr lang="en-US" sz="1150" dirty="0"/>
          </a:p>
        </p:txBody>
      </p:sp>
      <p:sp>
        <p:nvSpPr>
          <p:cNvPr id="26" name="Text 19"/>
          <p:cNvSpPr txBox="1"/>
          <p:nvPr/>
        </p:nvSpPr>
        <p:spPr>
          <a:xfrm>
            <a:off x="5157216" y="3539094"/>
            <a:ext cx="6266383" cy="4498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135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at stake here is whether students finish at all. There's a lot at stake.</a:t>
            </a:r>
            <a:endParaRPr lang="en-US" sz="1350" dirty="0"/>
          </a:p>
        </p:txBody>
      </p:sp>
      <p:sp>
        <p:nvSpPr>
          <p:cNvPr id="27" name="Shape 20"/>
          <p:cNvSpPr/>
          <p:nvPr/>
        </p:nvSpPr>
        <p:spPr>
          <a:xfrm>
            <a:off x="4937760" y="4318163"/>
            <a:ext cx="6705295" cy="1625437"/>
          </a:xfrm>
          <a:prstGeom prst="roundRect">
            <a:avLst>
              <a:gd name="adj" fmla="val 7876"/>
            </a:avLst>
          </a:prstGeom>
          <a:solidFill>
            <a:srgbClr val="FBEAEA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28" name="Shape 21"/>
          <p:cNvSpPr/>
          <p:nvPr/>
        </p:nvSpPr>
        <p:spPr>
          <a:xfrm>
            <a:off x="5138928" y="4464467"/>
            <a:ext cx="310896" cy="310896"/>
          </a:xfrm>
          <a:prstGeom prst="ellipse">
            <a:avLst/>
          </a:prstGeom>
          <a:solidFill>
            <a:srgbClr val="D64545"/>
          </a:solidFill>
          <a:ln/>
        </p:spPr>
      </p:sp>
      <p:pic>
        <p:nvPicPr>
          <p:cNvPr id="2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16652" y="4542191"/>
            <a:ext cx="155448" cy="155448"/>
          </a:xfrm>
          <a:prstGeom prst="rect">
            <a:avLst/>
          </a:prstGeom>
        </p:spPr>
      </p:pic>
      <p:sp>
        <p:nvSpPr>
          <p:cNvPr id="30" name="Text 22"/>
          <p:cNvSpPr txBox="1"/>
          <p:nvPr/>
        </p:nvSpPr>
        <p:spPr>
          <a:xfrm>
            <a:off x="5541264" y="4464467"/>
            <a:ext cx="5864047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10" kern="0" dirty="0">
                <a:solidFill>
                  <a:srgbClr val="D64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MISTAKE</a:t>
            </a:r>
            <a:endParaRPr lang="en-US" sz="1150" dirty="0"/>
          </a:p>
        </p:txBody>
      </p:sp>
      <p:sp>
        <p:nvSpPr>
          <p:cNvPr id="31" name="Text 23"/>
          <p:cNvSpPr txBox="1"/>
          <p:nvPr/>
        </p:nvSpPr>
        <p:spPr>
          <a:xfrm>
            <a:off x="5157216" y="4830227"/>
            <a:ext cx="6266383" cy="9670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195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“At stake”, never “on stake” or “in stake”. It names the consequences, which is the significance step from Module 2.</a:t>
            </a:r>
            <a:endParaRPr lang="en-US" sz="19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38912"/>
            <a:ext cx="2679192" cy="420624"/>
          </a:xfrm>
          <a:prstGeom prst="roundRect">
            <a:avLst>
              <a:gd name="adj" fmla="val 50000"/>
            </a:avLst>
          </a:prstGeom>
          <a:solidFill>
            <a:srgbClr val="3F5BD9"/>
          </a:solidFill>
          <a:ln/>
        </p:spPr>
      </p:sp>
      <p:sp>
        <p:nvSpPr>
          <p:cNvPr id="3" name="Shape 1"/>
          <p:cNvSpPr/>
          <p:nvPr/>
        </p:nvSpPr>
        <p:spPr>
          <a:xfrm>
            <a:off x="649224" y="539496"/>
            <a:ext cx="219456" cy="219456"/>
          </a:xfrm>
          <a:prstGeom prst="ellipse">
            <a:avLst/>
          </a:prstGeom>
          <a:solidFill>
            <a:srgbClr val="3F5BD9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" y="539496"/>
            <a:ext cx="219456" cy="21945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932688" y="438912"/>
            <a:ext cx="21854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DEBATE LANGUAGE 1 OF 5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896112"/>
            <a:ext cx="10972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Opening and closing a case</a:t>
            </a:r>
            <a:endParaRPr lang="en-US" sz="38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536192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phrases. Memorise them — there is no time to build them.</a:t>
            </a:r>
            <a:endParaRPr lang="en-US" sz="165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6144768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50" kern="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4 · Advanced Spoken English · Module 3 — Debate &amp; Persuasion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10607040" y="6144768"/>
            <a:ext cx="1033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1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883664"/>
          <a:ext cx="11094415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4206240"/>
                <a:gridCol w="4327855"/>
              </a:tblGrid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Moment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63500" marB="63500" anchor="ctr">
                    <a:lnL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F5BD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Say this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63500" marB="63500" anchor="ctr">
                    <a:lnL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F5BD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63500" marB="63500" anchor="ctr">
                    <a:lnL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F5BD9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50" b="1" dirty="0">
                          <a:solidFill>
                            <a:srgbClr val="1221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State position</a:t>
                      </a:r>
                      <a:endParaRPr lang="en-US" sz="1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63500" marB="63500" anchor="ctr">
                    <a:lnL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50" dirty="0">
                          <a:solidFill>
                            <a:srgbClr val="3A47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“Our position is that…”</a:t>
                      </a:r>
                      <a:endParaRPr lang="en-US" sz="1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63500" marB="63500" anchor="ctr">
                    <a:lnL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50" dirty="0">
                          <a:solidFill>
                            <a:srgbClr val="3A47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narrow it deliberately</a:t>
                      </a:r>
                      <a:endParaRPr lang="en-US" sz="1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63500" marB="63500" anchor="ctr">
                    <a:lnL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50" b="1" dirty="0">
                          <a:solidFill>
                            <a:srgbClr val="1221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Preview</a:t>
                      </a:r>
                      <a:endParaRPr lang="en-US" sz="1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63500" marB="63500" anchor="ctr">
                    <a:lnL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50" dirty="0">
                          <a:solidFill>
                            <a:srgbClr val="3A47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“I'll show three things…”</a:t>
                      </a:r>
                      <a:endParaRPr lang="en-US" sz="1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63500" marB="63500" anchor="ctr">
                    <a:lnL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50" dirty="0">
                          <a:solidFill>
                            <a:srgbClr val="3A47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three, never five</a:t>
                      </a:r>
                      <a:endParaRPr lang="en-US" sz="1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63500" marB="63500" anchor="ctr">
                    <a:lnL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7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50" b="1" dirty="0">
                          <a:solidFill>
                            <a:srgbClr val="1221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First point</a:t>
                      </a:r>
                      <a:endParaRPr lang="en-US" sz="1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63500" marB="63500" anchor="ctr">
                    <a:lnL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50" dirty="0">
                          <a:solidFill>
                            <a:srgbClr val="3A47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“First, …”</a:t>
                      </a:r>
                      <a:endParaRPr lang="en-US" sz="1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63500" marB="63500" anchor="ctr">
                    <a:lnL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50" dirty="0">
                          <a:solidFill>
                            <a:srgbClr val="3A47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then signpost each one</a:t>
                      </a:r>
                      <a:endParaRPr lang="en-US" sz="1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63500" marB="63500" anchor="ctr">
                    <a:lnL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50" b="1" dirty="0">
                          <a:solidFill>
                            <a:srgbClr val="1221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Begin closing</a:t>
                      </a:r>
                      <a:endParaRPr lang="en-US" sz="1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63500" marB="63500" anchor="ctr">
                    <a:lnL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50" dirty="0">
                          <a:solidFill>
                            <a:srgbClr val="3A47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“Let me come back to where we started.”</a:t>
                      </a:r>
                      <a:endParaRPr lang="en-US" sz="1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63500" marB="63500" anchor="ctr">
                    <a:lnL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50" dirty="0">
                          <a:solidFill>
                            <a:srgbClr val="3A47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signals the end</a:t>
                      </a:r>
                      <a:endParaRPr lang="en-US" sz="1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63500" marB="63500" anchor="ctr">
                    <a:lnL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7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50" b="1" dirty="0">
                          <a:solidFill>
                            <a:srgbClr val="1221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Final line</a:t>
                      </a:r>
                      <a:endParaRPr lang="en-US" sz="1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63500" marB="63500" anchor="ctr">
                    <a:lnL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50" dirty="0">
                          <a:solidFill>
                            <a:srgbClr val="3A47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“What's at stake here is…”</a:t>
                      </a:r>
                      <a:endParaRPr lang="en-US" sz="1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63500" marB="63500" anchor="ctr">
                    <a:lnL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50" dirty="0">
                          <a:solidFill>
                            <a:srgbClr val="3A47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principle, not detail</a:t>
                      </a:r>
                      <a:endParaRPr lang="en-US" sz="1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63500" marB="63500" anchor="ctr">
                    <a:lnL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Shape 7"/>
          <p:cNvSpPr/>
          <p:nvPr/>
        </p:nvSpPr>
        <p:spPr>
          <a:xfrm>
            <a:off x="548640" y="5285232"/>
            <a:ext cx="11094415" cy="658368"/>
          </a:xfrm>
          <a:prstGeom prst="roundRect">
            <a:avLst>
              <a:gd name="adj" fmla="val 19444"/>
            </a:avLst>
          </a:prstGeom>
          <a:solidFill>
            <a:srgbClr val="FDF3E7"/>
          </a:solidFill>
          <a:ln w="12700">
            <a:solidFill>
              <a:srgbClr val="EFDCB2"/>
            </a:solidFill>
            <a:prstDash val="solid"/>
          </a:ln>
        </p:spPr>
      </p:sp>
      <p:sp>
        <p:nvSpPr>
          <p:cNvPr id="13" name="Text 8"/>
          <p:cNvSpPr txBox="1"/>
          <p:nvPr/>
        </p:nvSpPr>
        <p:spPr>
          <a:xfrm>
            <a:off x="786384" y="5285232"/>
            <a:ext cx="10618927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introduce a new argument in the closing. Remind, do not add — new material there looks like a case that was incomplete.</a:t>
            </a:r>
            <a:endParaRPr lang="en-US" sz="16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38912"/>
            <a:ext cx="2679192" cy="420624"/>
          </a:xfrm>
          <a:prstGeom prst="roundRect">
            <a:avLst>
              <a:gd name="adj" fmla="val 50000"/>
            </a:avLst>
          </a:prstGeom>
          <a:solidFill>
            <a:srgbClr val="3F5BD9"/>
          </a:solidFill>
          <a:ln/>
        </p:spPr>
      </p:sp>
      <p:sp>
        <p:nvSpPr>
          <p:cNvPr id="3" name="Shape 1"/>
          <p:cNvSpPr/>
          <p:nvPr/>
        </p:nvSpPr>
        <p:spPr>
          <a:xfrm>
            <a:off x="649224" y="539496"/>
            <a:ext cx="219456" cy="219456"/>
          </a:xfrm>
          <a:prstGeom prst="ellipse">
            <a:avLst/>
          </a:prstGeom>
          <a:solidFill>
            <a:srgbClr val="3F5BD9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" y="539496"/>
            <a:ext cx="219456" cy="21945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932688" y="438912"/>
            <a:ext cx="21854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DEBATE LANGUAGE 2 OF 5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896112"/>
            <a:ext cx="10972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Rebuttal language</a:t>
            </a:r>
            <a:endParaRPr lang="en-US" sz="38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536192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Precise attacks. Name what fails and where.</a:t>
            </a:r>
            <a:endParaRPr lang="en-US" sz="165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6144768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50" kern="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4 · Advanced Spoken English · Module 3 — Debate &amp; Persuasion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10607040" y="6144768"/>
            <a:ext cx="1033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1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883664"/>
          <a:ext cx="11094415" cy="914400"/>
        </p:xfrm>
        <a:graphic>
          <a:graphicData uri="http://schemas.openxmlformats.org/drawingml/2006/table">
            <a:tbl>
              <a:tblPr/>
              <a:tblGrid>
                <a:gridCol w="4206240"/>
                <a:gridCol w="3108960"/>
                <a:gridCol w="3962095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Say this</a:t>
                      </a:r>
                      <a:endParaRPr lang="en-US" sz="15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63500" marB="63500" anchor="ctr">
                    <a:lnL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F5BD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It attacks</a:t>
                      </a:r>
                      <a:endParaRPr lang="en-US" sz="15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63500" marB="63500" anchor="ctr">
                    <a:lnL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F5BD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Strength</a:t>
                      </a:r>
                      <a:endParaRPr lang="en-US" sz="15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63500" marB="63500" anchor="ctr">
                    <a:lnL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F5BD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1221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“That rests on a false premise.”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63500" marB="63500" anchor="ctr">
                    <a:lnL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3A47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hidden assumption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63500" marB="63500" anchor="ctr">
                    <a:lnL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3A47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strongest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63500" marB="63500" anchor="ctr">
                    <a:lnL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1221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“The evidence doesn't support that conclusion.”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63500" marB="63500" anchor="ctr">
                    <a:lnL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3A47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inference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63500" marB="63500" anchor="ctr">
                    <a:lnL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3A47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strong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63500" marB="63500" anchor="ctr">
                    <a:lnL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1221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“That's true, but is it relevant here?”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63500" marB="63500" anchor="ctr">
                    <a:lnL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3A47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relevance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63500" marB="63500" anchor="ctr">
                    <a:lnL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3A47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precise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63500" marB="63500" anchor="ctr">
                    <a:lnL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1221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“They've given us no figures at all.”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63500" marB="63500" anchor="ctr">
                    <a:lnL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3A47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absence of evidence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63500" marB="63500" anchor="ctr">
                    <a:lnL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3A47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simple, effective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63500" marB="63500" anchor="ctr">
                    <a:lnL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9F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1221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“That actually supports our case.”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63500" marB="63500" anchor="ctr">
                    <a:lnL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3A47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turns it around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63500" marB="63500" anchor="ctr">
                    <a:lnL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3A47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best one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63500" marB="63500" anchor="ctr">
                    <a:lnL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Shape 7"/>
          <p:cNvSpPr/>
          <p:nvPr/>
        </p:nvSpPr>
        <p:spPr>
          <a:xfrm>
            <a:off x="548640" y="5285232"/>
            <a:ext cx="11094415" cy="658368"/>
          </a:xfrm>
          <a:prstGeom prst="roundRect">
            <a:avLst>
              <a:gd name="adj" fmla="val 19444"/>
            </a:avLst>
          </a:prstGeom>
          <a:solidFill>
            <a:srgbClr val="FDF3E7"/>
          </a:solidFill>
          <a:ln w="12700">
            <a:solidFill>
              <a:srgbClr val="EFDCB2"/>
            </a:solidFill>
            <a:prstDash val="solid"/>
          </a:ln>
        </p:spPr>
      </p:sp>
      <p:sp>
        <p:nvSpPr>
          <p:cNvPr id="13" name="Text 8"/>
          <p:cNvSpPr txBox="1"/>
          <p:nvPr/>
        </p:nvSpPr>
        <p:spPr>
          <a:xfrm>
            <a:off x="786384" y="5285232"/>
            <a:ext cx="10618927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last one is the strongest move in debate. Taking their evidence and showing it helps you is worth more than removing it.</a:t>
            </a:r>
            <a:endParaRPr lang="en-US" sz="16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38912"/>
            <a:ext cx="2679192" cy="420624"/>
          </a:xfrm>
          <a:prstGeom prst="roundRect">
            <a:avLst>
              <a:gd name="adj" fmla="val 50000"/>
            </a:avLst>
          </a:prstGeom>
          <a:solidFill>
            <a:srgbClr val="3F5BD9"/>
          </a:solidFill>
          <a:ln/>
        </p:spPr>
      </p:sp>
      <p:sp>
        <p:nvSpPr>
          <p:cNvPr id="3" name="Shape 1"/>
          <p:cNvSpPr/>
          <p:nvPr/>
        </p:nvSpPr>
        <p:spPr>
          <a:xfrm>
            <a:off x="649224" y="539496"/>
            <a:ext cx="219456" cy="219456"/>
          </a:xfrm>
          <a:prstGeom prst="ellipse">
            <a:avLst/>
          </a:prstGeom>
          <a:solidFill>
            <a:srgbClr val="3F5BD9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" y="539496"/>
            <a:ext cx="219456" cy="21945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932688" y="438912"/>
            <a:ext cx="21854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DEBATE LANGUAGE 3 OF 5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896112"/>
            <a:ext cx="10972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Emphasis and repetition</a:t>
            </a:r>
            <a:endParaRPr lang="en-US" sz="38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536192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Persuasion is partly rhythm. This is legitimate technique.</a:t>
            </a:r>
            <a:endParaRPr lang="en-US" sz="165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6144768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50" kern="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4 · Advanced Spoken English · Module 3 — Debate &amp; Persuasion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10607040" y="6144768"/>
            <a:ext cx="1033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548640" y="1883664"/>
            <a:ext cx="5410048" cy="3273552"/>
          </a:xfrm>
          <a:prstGeom prst="roundRect">
            <a:avLst>
              <a:gd name="adj" fmla="val 3911"/>
            </a:avLst>
          </a:prstGeom>
          <a:solidFill>
            <a:srgbClr val="E6F5EC"/>
          </a:solidFill>
          <a:ln w="15875">
            <a:solidFill>
              <a:srgbClr val="2E9E5B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786384" y="2103120"/>
            <a:ext cx="420624" cy="420624"/>
          </a:xfrm>
          <a:prstGeom prst="ellipse">
            <a:avLst/>
          </a:prstGeom>
          <a:solidFill>
            <a:srgbClr val="2E9E5B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1540" y="2208276"/>
            <a:ext cx="210312" cy="210312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1335024" y="2103120"/>
            <a:ext cx="440420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E9E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Flat</a:t>
            </a:r>
            <a:endParaRPr lang="en-US" sz="2000" dirty="0"/>
          </a:p>
        </p:txBody>
      </p:sp>
      <p:sp>
        <p:nvSpPr>
          <p:cNvPr id="15" name="Text 10"/>
          <p:cNvSpPr/>
          <p:nvPr/>
        </p:nvSpPr>
        <p:spPr>
          <a:xfrm>
            <a:off x="822960" y="2724912"/>
            <a:ext cx="4861408" cy="22128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00000"/>
              </a:lnSpc>
              <a:spcAft>
                <a:spcPts val="1100"/>
              </a:spcAft>
              <a:buSzPct val="100000"/>
              <a:buChar char="•"/>
            </a:pPr>
            <a:r>
              <a:rPr lang="en-US" sz="190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“Forty per cent of students left early, which is a problem.”</a:t>
            </a:r>
            <a:endParaRPr lang="en-US" sz="1900" dirty="0"/>
          </a:p>
          <a:p>
            <a:pPr marL="228600" indent="-228600">
              <a:lnSpc>
                <a:spcPct val="100000"/>
              </a:lnSpc>
              <a:spcAft>
                <a:spcPts val="1100"/>
              </a:spcAft>
              <a:buSzPct val="100000"/>
              <a:buChar char="•"/>
            </a:pPr>
            <a:r>
              <a:rPr lang="en-US" sz="190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“We should reduce homework rather than abolishing it.”</a:t>
            </a:r>
            <a:endParaRPr lang="en-US" sz="1900" dirty="0"/>
          </a:p>
          <a:p>
            <a:pPr marL="228600" indent="-228600">
              <a:lnSpc>
                <a:spcPct val="100000"/>
              </a:lnSpc>
              <a:spcAft>
                <a:spcPts val="1100"/>
              </a:spcAft>
              <a:buSzPct val="100000"/>
              <a:buChar char="•"/>
            </a:pPr>
            <a:r>
              <a:rPr lang="en-US" sz="190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“The evidence is weak.”</a:t>
            </a:r>
            <a:endParaRPr lang="en-US" sz="1900" dirty="0"/>
          </a:p>
        </p:txBody>
      </p:sp>
      <p:sp>
        <p:nvSpPr>
          <p:cNvPr id="16" name="Shape 11"/>
          <p:cNvSpPr/>
          <p:nvPr/>
        </p:nvSpPr>
        <p:spPr>
          <a:xfrm>
            <a:off x="6233008" y="1883664"/>
            <a:ext cx="5410048" cy="3273552"/>
          </a:xfrm>
          <a:prstGeom prst="roundRect">
            <a:avLst>
              <a:gd name="adj" fmla="val 3911"/>
            </a:avLst>
          </a:prstGeom>
          <a:solidFill>
            <a:srgbClr val="FBEAEA"/>
          </a:solidFill>
          <a:ln w="15875">
            <a:solidFill>
              <a:srgbClr val="D64545"/>
            </a:solidFill>
            <a:prstDash val="solid"/>
          </a:ln>
        </p:spPr>
      </p:sp>
      <p:sp>
        <p:nvSpPr>
          <p:cNvPr id="17" name="Shape 12"/>
          <p:cNvSpPr/>
          <p:nvPr/>
        </p:nvSpPr>
        <p:spPr>
          <a:xfrm>
            <a:off x="6470752" y="2103120"/>
            <a:ext cx="420624" cy="420624"/>
          </a:xfrm>
          <a:prstGeom prst="ellipse">
            <a:avLst/>
          </a:prstGeom>
          <a:solidFill>
            <a:srgbClr val="D64545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75908" y="2208276"/>
            <a:ext cx="210312" cy="210312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7019392" y="2103120"/>
            <a:ext cx="440420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D64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emphasis</a:t>
            </a:r>
            <a:endParaRPr lang="en-US" sz="2000" dirty="0"/>
          </a:p>
        </p:txBody>
      </p:sp>
      <p:sp>
        <p:nvSpPr>
          <p:cNvPr id="20" name="Text 14"/>
          <p:cNvSpPr/>
          <p:nvPr/>
        </p:nvSpPr>
        <p:spPr>
          <a:xfrm>
            <a:off x="6507328" y="2724912"/>
            <a:ext cx="4861408" cy="22128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00000"/>
              </a:lnSpc>
              <a:spcAft>
                <a:spcPts val="1100"/>
              </a:spcAft>
              <a:buSzPct val="100000"/>
              <a:buChar char="•"/>
            </a:pPr>
            <a:r>
              <a:rPr lang="en-US" sz="190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“Forty per cent. Forty per cent left before week five.”</a:t>
            </a:r>
            <a:endParaRPr lang="en-US" sz="1900" dirty="0"/>
          </a:p>
          <a:p>
            <a:pPr marL="228600" indent="-228600">
              <a:lnSpc>
                <a:spcPct val="100000"/>
              </a:lnSpc>
              <a:spcAft>
                <a:spcPts val="1100"/>
              </a:spcAft>
              <a:buSzPct val="100000"/>
              <a:buChar char="•"/>
            </a:pPr>
            <a:r>
              <a:rPr lang="en-US" sz="190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“Reduced — not abolished. Reduced, not abolished.”</a:t>
            </a:r>
            <a:endParaRPr lang="en-US" sz="1900" dirty="0"/>
          </a:p>
          <a:p>
            <a:pPr marL="228600" indent="-228600">
              <a:lnSpc>
                <a:spcPct val="100000"/>
              </a:lnSpc>
              <a:spcAft>
                <a:spcPts val="1100"/>
              </a:spcAft>
              <a:buSzPct val="100000"/>
              <a:buChar char="•"/>
            </a:pPr>
            <a:r>
              <a:rPr lang="en-US" sz="190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“No figures. No study. No evidence at all.”</a:t>
            </a:r>
            <a:endParaRPr lang="en-US" sz="1900" dirty="0"/>
          </a:p>
        </p:txBody>
      </p:sp>
      <p:sp>
        <p:nvSpPr>
          <p:cNvPr id="21" name="Shape 15"/>
          <p:cNvSpPr/>
          <p:nvPr/>
        </p:nvSpPr>
        <p:spPr>
          <a:xfrm>
            <a:off x="548640" y="5285232"/>
            <a:ext cx="11094415" cy="658368"/>
          </a:xfrm>
          <a:prstGeom prst="roundRect">
            <a:avLst>
              <a:gd name="adj" fmla="val 19444"/>
            </a:avLst>
          </a:prstGeom>
          <a:solidFill>
            <a:srgbClr val="FDF3E7"/>
          </a:solidFill>
          <a:ln w="12700">
            <a:solidFill>
              <a:srgbClr val="EFDCB2"/>
            </a:solidFill>
            <a:prstDash val="solid"/>
          </a:ln>
        </p:spPr>
      </p:sp>
      <p:sp>
        <p:nvSpPr>
          <p:cNvPr id="22" name="Text 16"/>
          <p:cNvSpPr txBox="1"/>
          <p:nvPr/>
        </p:nvSpPr>
        <p:spPr>
          <a:xfrm>
            <a:off x="786384" y="5285232"/>
            <a:ext cx="10618927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rule of three, and the repeated phrase. Both are ancient, both work, and both are entirely honest when what you are repeating is true.</a:t>
            </a:r>
            <a:endParaRPr lang="en-US" sz="16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38912"/>
            <a:ext cx="2679192" cy="420624"/>
          </a:xfrm>
          <a:prstGeom prst="roundRect">
            <a:avLst>
              <a:gd name="adj" fmla="val 50000"/>
            </a:avLst>
          </a:prstGeom>
          <a:solidFill>
            <a:srgbClr val="3F5BD9"/>
          </a:solidFill>
          <a:ln/>
        </p:spPr>
      </p:sp>
      <p:sp>
        <p:nvSpPr>
          <p:cNvPr id="3" name="Shape 1"/>
          <p:cNvSpPr/>
          <p:nvPr/>
        </p:nvSpPr>
        <p:spPr>
          <a:xfrm>
            <a:off x="649224" y="539496"/>
            <a:ext cx="219456" cy="219456"/>
          </a:xfrm>
          <a:prstGeom prst="ellipse">
            <a:avLst/>
          </a:prstGeom>
          <a:solidFill>
            <a:srgbClr val="3F5BD9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" y="539496"/>
            <a:ext cx="219456" cy="21945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932688" y="438912"/>
            <a:ext cx="21854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DEBATE LANGUAGE 4 OF 5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896112"/>
            <a:ext cx="10972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Handling the unexpected question</a:t>
            </a:r>
            <a:endParaRPr lang="en-US" sz="38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536192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techniques, four phrases.</a:t>
            </a:r>
            <a:endParaRPr lang="en-US" sz="165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6144768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50" kern="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4 · Advanced Spoken English · Module 3 — Debate &amp; Persuasion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10607040" y="6144768"/>
            <a:ext cx="1033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548640" y="1883664"/>
            <a:ext cx="6309360" cy="4059936"/>
          </a:xfrm>
          <a:prstGeom prst="roundRect">
            <a:avLst>
              <a:gd name="adj" fmla="val 3153"/>
            </a:avLst>
          </a:prstGeom>
          <a:solidFill>
            <a:srgbClr val="EDF3EF"/>
          </a:solidFill>
          <a:ln w="15875">
            <a:solidFill>
              <a:srgbClr val="3F5BD9"/>
            </a:solidFill>
            <a:prstDash val="solid"/>
          </a:ln>
          <a:effectLst>
            <a:outerShdw sx="100000" sy="100000" kx="0" ky="0" algn="bl" rotWithShape="0" blurRad="101600" dist="25400" dir="5400000">
              <a:srgbClr val="94A69C">
                <a:alpha val="30000"/>
              </a:srgbClr>
            </a:outerShdw>
          </a:effectLst>
        </p:spPr>
      </p:sp>
      <p:sp>
        <p:nvSpPr>
          <p:cNvPr id="12" name="Text 8"/>
          <p:cNvSpPr txBox="1"/>
          <p:nvPr/>
        </p:nvSpPr>
        <p:spPr>
          <a:xfrm>
            <a:off x="822960" y="2103120"/>
            <a:ext cx="5760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3F5B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FOUR PHRASES</a:t>
            </a:r>
            <a:endParaRPr lang="en-US" sz="1200" dirty="0"/>
          </a:p>
        </p:txBody>
      </p:sp>
      <p:sp>
        <p:nvSpPr>
          <p:cNvPr id="13" name="Text 9"/>
          <p:cNvSpPr txBox="1"/>
          <p:nvPr/>
        </p:nvSpPr>
        <p:spPr>
          <a:xfrm>
            <a:off x="822960" y="2487168"/>
            <a:ext cx="5760720" cy="3218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4000"/>
              </a:lnSpc>
              <a:buNone/>
            </a:pPr>
            <a:r>
              <a:rPr lang="en-US" sz="120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 TIME</a:t>
            </a:r>
            <a:endParaRPr lang="en-US" sz="1200" dirty="0"/>
          </a:p>
          <a:p>
            <a:pPr indent="0" marL="0">
              <a:lnSpc>
                <a:spcPct val="134000"/>
              </a:lnSpc>
              <a:buNone/>
            </a:pPr>
            <a:r>
              <a:rPr lang="en-US" sz="120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“That's a fair question. Let me take it</a:t>
            </a:r>
            <a:endParaRPr lang="en-US" sz="1200" dirty="0"/>
          </a:p>
          <a:p>
            <a:pPr indent="0" marL="0">
              <a:lnSpc>
                <a:spcPct val="134000"/>
              </a:lnSpc>
              <a:buNone/>
            </a:pPr>
            <a:r>
              <a:rPr lang="en-US" sz="120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in two parts.”</a:t>
            </a:r>
            <a:endParaRPr lang="en-US" sz="1200" dirty="0"/>
          </a:p>
          <a:p>
            <a:pPr indent="0" marL="0">
              <a:lnSpc>
                <a:spcPct val="134000"/>
              </a:lnSpc>
              <a:buNone/>
            </a:pPr>
            <a:endParaRPr lang="en-US" sz="1200" dirty="0"/>
          </a:p>
          <a:p>
            <a:pPr indent="0" marL="0">
              <a:lnSpc>
                <a:spcPct val="134000"/>
              </a:lnSpc>
              <a:buNone/>
            </a:pPr>
            <a:r>
              <a:rPr lang="en-US" sz="120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FALSE PREMISE</a:t>
            </a:r>
            <a:endParaRPr lang="en-US" sz="1200" dirty="0"/>
          </a:p>
          <a:p>
            <a:pPr indent="0" marL="0">
              <a:lnSpc>
                <a:spcPct val="134000"/>
              </a:lnSpc>
              <a:buNone/>
            </a:pPr>
            <a:r>
              <a:rPr lang="en-US" sz="120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“That assumes X, and I'd question that.”</a:t>
            </a:r>
            <a:endParaRPr lang="en-US" sz="1200" dirty="0"/>
          </a:p>
          <a:p>
            <a:pPr indent="0" marL="0">
              <a:lnSpc>
                <a:spcPct val="134000"/>
              </a:lnSpc>
              <a:buNone/>
            </a:pPr>
            <a:endParaRPr lang="en-US" sz="1200" dirty="0"/>
          </a:p>
          <a:p>
            <a:pPr indent="0" marL="0">
              <a:lnSpc>
                <a:spcPct val="134000"/>
              </a:lnSpc>
              <a:buNone/>
            </a:pPr>
            <a:r>
              <a:rPr lang="en-US" sz="120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DON'T KNOW</a:t>
            </a:r>
            <a:endParaRPr lang="en-US" sz="1200" dirty="0"/>
          </a:p>
          <a:p>
            <a:pPr indent="0" marL="0">
              <a:lnSpc>
                <a:spcPct val="134000"/>
              </a:lnSpc>
              <a:buNone/>
            </a:pPr>
            <a:r>
              <a:rPr lang="en-US" sz="120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“I don't have that figure. It doesn't</a:t>
            </a:r>
            <a:endParaRPr lang="en-US" sz="1200" dirty="0"/>
          </a:p>
          <a:p>
            <a:pPr indent="0" marL="0">
              <a:lnSpc>
                <a:spcPct val="134000"/>
              </a:lnSpc>
              <a:buNone/>
            </a:pPr>
            <a:r>
              <a:rPr lang="en-US" sz="120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change the main point, which is…”</a:t>
            </a:r>
            <a:endParaRPr lang="en-US" sz="1200" dirty="0"/>
          </a:p>
          <a:p>
            <a:pPr indent="0" marL="0">
              <a:lnSpc>
                <a:spcPct val="134000"/>
              </a:lnSpc>
              <a:buNone/>
            </a:pPr>
            <a:endParaRPr lang="en-US" sz="1200" dirty="0"/>
          </a:p>
          <a:p>
            <a:pPr indent="0" marL="0">
              <a:lnSpc>
                <a:spcPct val="134000"/>
              </a:lnSpc>
              <a:buNone/>
            </a:pPr>
            <a:r>
              <a:rPr lang="en-US" sz="120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 THE POINT</a:t>
            </a:r>
            <a:endParaRPr lang="en-US" sz="1200" dirty="0"/>
          </a:p>
          <a:p>
            <a:pPr indent="0" marL="0">
              <a:lnSpc>
                <a:spcPct val="134000"/>
              </a:lnSpc>
              <a:buNone/>
            </a:pPr>
            <a:r>
              <a:rPr lang="en-US" sz="120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“I think that's a different question.”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7132320" y="1883664"/>
            <a:ext cx="4510735" cy="4059936"/>
          </a:xfrm>
          <a:prstGeom prst="roundRect">
            <a:avLst>
              <a:gd name="adj" fmla="val 3153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15" name="Text 11"/>
          <p:cNvSpPr txBox="1"/>
          <p:nvPr/>
        </p:nvSpPr>
        <p:spPr>
          <a:xfrm>
            <a:off x="7370064" y="2103120"/>
            <a:ext cx="403524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3F5B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RULES</a:t>
            </a:r>
            <a:endParaRPr lang="en-US" sz="1200" dirty="0"/>
          </a:p>
        </p:txBody>
      </p:sp>
      <p:sp>
        <p:nvSpPr>
          <p:cNvPr id="16" name="Text 12"/>
          <p:cNvSpPr/>
          <p:nvPr/>
        </p:nvSpPr>
        <p:spPr>
          <a:xfrm>
            <a:off x="7406640" y="2505456"/>
            <a:ext cx="3962095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00000"/>
              </a:lnSpc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invent a figure. Ever.</a:t>
            </a:r>
            <a:endParaRPr lang="en-US" sz="1600" dirty="0"/>
          </a:p>
          <a:p>
            <a:pPr marL="228600" indent="-228600">
              <a:lnSpc>
                <a:spcPct val="100000"/>
              </a:lnSpc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the premise before the question, when there is one.</a:t>
            </a:r>
            <a:endParaRPr lang="en-US" sz="1600" dirty="0"/>
          </a:p>
          <a:p>
            <a:pPr marL="228600" indent="-228600">
              <a:lnSpc>
                <a:spcPct val="100000"/>
              </a:lnSpc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“I don't know” plus a redirect is a strong answer, not a weak one.</a:t>
            </a:r>
            <a:endParaRPr lang="en-US" sz="1600" dirty="0"/>
          </a:p>
          <a:p>
            <a:pPr marL="228600" indent="-228600">
              <a:lnSpc>
                <a:spcPct val="100000"/>
              </a:lnSpc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decline a question that is genuinely off the point.</a:t>
            </a:r>
            <a:endParaRPr lang="en-US" sz="16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38912"/>
            <a:ext cx="2679192" cy="420624"/>
          </a:xfrm>
          <a:prstGeom prst="roundRect">
            <a:avLst>
              <a:gd name="adj" fmla="val 50000"/>
            </a:avLst>
          </a:prstGeom>
          <a:solidFill>
            <a:srgbClr val="3F5BD9"/>
          </a:solidFill>
          <a:ln/>
        </p:spPr>
      </p:sp>
      <p:sp>
        <p:nvSpPr>
          <p:cNvPr id="3" name="Shape 1"/>
          <p:cNvSpPr/>
          <p:nvPr/>
        </p:nvSpPr>
        <p:spPr>
          <a:xfrm>
            <a:off x="649224" y="539496"/>
            <a:ext cx="219456" cy="219456"/>
          </a:xfrm>
          <a:prstGeom prst="ellipse">
            <a:avLst/>
          </a:prstGeom>
          <a:solidFill>
            <a:srgbClr val="3F5BD9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" y="539496"/>
            <a:ext cx="219456" cy="21945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932688" y="438912"/>
            <a:ext cx="21854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DEBATE LANGUAGE 5 OF 5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896112"/>
            <a:ext cx="10972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Put it all together — five habits of a good debater</a:t>
            </a:r>
            <a:endParaRPr lang="en-US" sz="33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536192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five are visible to an audience.</a:t>
            </a:r>
            <a:endParaRPr lang="en-US" sz="165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6144768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50" kern="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4 · Advanced Spoken English · Module 3 — Debate &amp; Persuasion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10607040" y="6144768"/>
            <a:ext cx="1033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548640" y="1883664"/>
            <a:ext cx="11094415" cy="694944"/>
          </a:xfrm>
          <a:prstGeom prst="roundRect">
            <a:avLst>
              <a:gd name="adj" fmla="val 18421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786384" y="2002536"/>
            <a:ext cx="457200" cy="457200"/>
          </a:xfrm>
          <a:prstGeom prst="ellipse">
            <a:avLst/>
          </a:prstGeom>
          <a:solidFill>
            <a:srgbClr val="3F5BD9"/>
          </a:solidFill>
          <a:ln/>
        </p:spPr>
      </p:sp>
      <p:sp>
        <p:nvSpPr>
          <p:cNvPr id="13" name="Text 9"/>
          <p:cNvSpPr txBox="1"/>
          <p:nvPr/>
        </p:nvSpPr>
        <p:spPr>
          <a:xfrm>
            <a:off x="786384" y="200253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1463040" y="1956816"/>
            <a:ext cx="99056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63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Narrow your position in the first sentence</a:t>
            </a:r>
            <a:endParaRPr lang="en-US" sz="1630" dirty="0"/>
          </a:p>
          <a:p>
            <a:pPr indent="0" marL="0">
              <a:lnSpc>
                <a:spcPct val="102000"/>
              </a:lnSpc>
              <a:spcBef>
                <a:spcPts val="257"/>
              </a:spcBef>
              <a:buNone/>
            </a:pPr>
            <a:r>
              <a:rPr lang="en-US" sz="12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“Reduced, not abolished.” Remove their easiest attacks in advance.</a:t>
            </a:r>
            <a:endParaRPr lang="en-US" sz="1630" dirty="0"/>
          </a:p>
        </p:txBody>
      </p:sp>
      <p:sp>
        <p:nvSpPr>
          <p:cNvPr id="15" name="Shape 11"/>
          <p:cNvSpPr/>
          <p:nvPr/>
        </p:nvSpPr>
        <p:spPr>
          <a:xfrm>
            <a:off x="548640" y="2724912"/>
            <a:ext cx="11094415" cy="694944"/>
          </a:xfrm>
          <a:prstGeom prst="roundRect">
            <a:avLst>
              <a:gd name="adj" fmla="val 18421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786384" y="2843784"/>
            <a:ext cx="457200" cy="457200"/>
          </a:xfrm>
          <a:prstGeom prst="ellipse">
            <a:avLst/>
          </a:prstGeom>
          <a:solidFill>
            <a:srgbClr val="3F5BD9"/>
          </a:solidFill>
          <a:ln/>
        </p:spPr>
      </p:sp>
      <p:sp>
        <p:nvSpPr>
          <p:cNvPr id="17" name="Text 13"/>
          <p:cNvSpPr txBox="1"/>
          <p:nvPr/>
        </p:nvSpPr>
        <p:spPr>
          <a:xfrm>
            <a:off x="786384" y="284378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8" name="Text 14"/>
          <p:cNvSpPr/>
          <p:nvPr/>
        </p:nvSpPr>
        <p:spPr>
          <a:xfrm>
            <a:off x="1463040" y="2798064"/>
            <a:ext cx="99056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63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Rebut ONE point properly, not five weakly</a:t>
            </a:r>
            <a:endParaRPr lang="en-US" sz="1630" dirty="0"/>
          </a:p>
          <a:p>
            <a:pPr indent="0" marL="0">
              <a:lnSpc>
                <a:spcPct val="102000"/>
              </a:lnSpc>
              <a:spcBef>
                <a:spcPts val="257"/>
              </a:spcBef>
              <a:buNone/>
            </a:pPr>
            <a:r>
              <a:rPr lang="en-US" sz="12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 what their case depends on.</a:t>
            </a:r>
            <a:endParaRPr lang="en-US" sz="1630" dirty="0"/>
          </a:p>
        </p:txBody>
      </p:sp>
      <p:sp>
        <p:nvSpPr>
          <p:cNvPr id="19" name="Shape 15"/>
          <p:cNvSpPr/>
          <p:nvPr/>
        </p:nvSpPr>
        <p:spPr>
          <a:xfrm>
            <a:off x="548640" y="3566160"/>
            <a:ext cx="11094415" cy="694944"/>
          </a:xfrm>
          <a:prstGeom prst="roundRect">
            <a:avLst>
              <a:gd name="adj" fmla="val 18421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786384" y="3685032"/>
            <a:ext cx="457200" cy="457200"/>
          </a:xfrm>
          <a:prstGeom prst="ellipse">
            <a:avLst/>
          </a:prstGeom>
          <a:solidFill>
            <a:srgbClr val="3F5BD9"/>
          </a:solidFill>
          <a:ln/>
        </p:spPr>
      </p:sp>
      <p:sp>
        <p:nvSpPr>
          <p:cNvPr id="21" name="Text 17"/>
          <p:cNvSpPr txBox="1"/>
          <p:nvPr/>
        </p:nvSpPr>
        <p:spPr>
          <a:xfrm>
            <a:off x="786384" y="36850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2" name="Text 18"/>
          <p:cNvSpPr/>
          <p:nvPr/>
        </p:nvSpPr>
        <p:spPr>
          <a:xfrm>
            <a:off x="1463040" y="3639312"/>
            <a:ext cx="99056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63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 the audience one number and one phrase</a:t>
            </a:r>
            <a:endParaRPr lang="en-US" sz="1630" dirty="0"/>
          </a:p>
          <a:p>
            <a:pPr indent="0" marL="0">
              <a:lnSpc>
                <a:spcPct val="102000"/>
              </a:lnSpc>
              <a:spcBef>
                <a:spcPts val="257"/>
              </a:spcBef>
              <a:buNone/>
            </a:pPr>
            <a:r>
              <a:rPr lang="en-US" sz="12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 each three times. They will carry those out.</a:t>
            </a:r>
            <a:endParaRPr lang="en-US" sz="1630" dirty="0"/>
          </a:p>
        </p:txBody>
      </p:sp>
      <p:sp>
        <p:nvSpPr>
          <p:cNvPr id="23" name="Shape 19"/>
          <p:cNvSpPr/>
          <p:nvPr/>
        </p:nvSpPr>
        <p:spPr>
          <a:xfrm>
            <a:off x="548640" y="4407408"/>
            <a:ext cx="11094415" cy="694944"/>
          </a:xfrm>
          <a:prstGeom prst="roundRect">
            <a:avLst>
              <a:gd name="adj" fmla="val 18421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24" name="Shape 20"/>
          <p:cNvSpPr/>
          <p:nvPr/>
        </p:nvSpPr>
        <p:spPr>
          <a:xfrm>
            <a:off x="786384" y="4526280"/>
            <a:ext cx="457200" cy="457200"/>
          </a:xfrm>
          <a:prstGeom prst="ellipse">
            <a:avLst/>
          </a:prstGeom>
          <a:solidFill>
            <a:srgbClr val="3F5BD9"/>
          </a:solidFill>
          <a:ln/>
        </p:spPr>
      </p:sp>
      <p:sp>
        <p:nvSpPr>
          <p:cNvPr id="25" name="Text 21"/>
          <p:cNvSpPr txBox="1"/>
          <p:nvPr/>
        </p:nvSpPr>
        <p:spPr>
          <a:xfrm>
            <a:off x="786384" y="45262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6" name="Text 22"/>
          <p:cNvSpPr/>
          <p:nvPr/>
        </p:nvSpPr>
        <p:spPr>
          <a:xfrm>
            <a:off x="1463040" y="4480560"/>
            <a:ext cx="99056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63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invent a figure</a:t>
            </a:r>
            <a:endParaRPr lang="en-US" sz="1630" dirty="0"/>
          </a:p>
          <a:p>
            <a:pPr indent="0" marL="0">
              <a:lnSpc>
                <a:spcPct val="102000"/>
              </a:lnSpc>
              <a:spcBef>
                <a:spcPts val="257"/>
              </a:spcBef>
              <a:buNone/>
            </a:pPr>
            <a:r>
              <a:rPr lang="en-US" sz="12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Say “I don't have that” and redirect.</a:t>
            </a:r>
            <a:endParaRPr lang="en-US" sz="1630" dirty="0"/>
          </a:p>
        </p:txBody>
      </p:sp>
      <p:sp>
        <p:nvSpPr>
          <p:cNvPr id="27" name="Shape 23"/>
          <p:cNvSpPr/>
          <p:nvPr/>
        </p:nvSpPr>
        <p:spPr>
          <a:xfrm>
            <a:off x="548640" y="5248656"/>
            <a:ext cx="11094415" cy="694944"/>
          </a:xfrm>
          <a:prstGeom prst="roundRect">
            <a:avLst>
              <a:gd name="adj" fmla="val 18421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28" name="Shape 24"/>
          <p:cNvSpPr/>
          <p:nvPr/>
        </p:nvSpPr>
        <p:spPr>
          <a:xfrm>
            <a:off x="786384" y="5367528"/>
            <a:ext cx="457200" cy="457200"/>
          </a:xfrm>
          <a:prstGeom prst="ellipse">
            <a:avLst/>
          </a:prstGeom>
          <a:solidFill>
            <a:srgbClr val="3F5BD9"/>
          </a:solidFill>
          <a:ln/>
        </p:spPr>
      </p:sp>
      <p:sp>
        <p:nvSpPr>
          <p:cNvPr id="29" name="Text 25"/>
          <p:cNvSpPr txBox="1"/>
          <p:nvPr/>
        </p:nvSpPr>
        <p:spPr>
          <a:xfrm>
            <a:off x="786384" y="53675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30" name="Text 26"/>
          <p:cNvSpPr/>
          <p:nvPr/>
        </p:nvSpPr>
        <p:spPr>
          <a:xfrm>
            <a:off x="1463040" y="5321808"/>
            <a:ext cx="99056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63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Concede a lost point and bound the damage</a:t>
            </a:r>
            <a:endParaRPr lang="en-US" sz="1630" dirty="0"/>
          </a:p>
          <a:p>
            <a:pPr indent="0" marL="0">
              <a:lnSpc>
                <a:spcPct val="102000"/>
              </a:lnSpc>
              <a:spcBef>
                <a:spcPts val="257"/>
              </a:spcBef>
              <a:buNone/>
            </a:pPr>
            <a:r>
              <a:rPr lang="en-US" sz="12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“You're right about that. It leaves my other two standing.”</a:t>
            </a:r>
            <a:endParaRPr lang="en-US" sz="163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38912"/>
            <a:ext cx="2679192" cy="420624"/>
          </a:xfrm>
          <a:prstGeom prst="roundRect">
            <a:avLst>
              <a:gd name="adj" fmla="val 50000"/>
            </a:avLst>
          </a:prstGeom>
          <a:solidFill>
            <a:srgbClr val="3F5BD9"/>
          </a:solidFill>
          <a:ln/>
        </p:spPr>
      </p:sp>
      <p:sp>
        <p:nvSpPr>
          <p:cNvPr id="3" name="Shape 1"/>
          <p:cNvSpPr/>
          <p:nvPr/>
        </p:nvSpPr>
        <p:spPr>
          <a:xfrm>
            <a:off x="649224" y="539496"/>
            <a:ext cx="219456" cy="219456"/>
          </a:xfrm>
          <a:prstGeom prst="ellipse">
            <a:avLst/>
          </a:prstGeom>
          <a:solidFill>
            <a:srgbClr val="3F5BD9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" y="539496"/>
            <a:ext cx="219456" cy="21945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932688" y="438912"/>
            <a:ext cx="21854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GUIDED EXAMPLES 1 OF 5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896112"/>
            <a:ext cx="10972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Guided examples 1 — the opening</a:t>
            </a:r>
            <a:endParaRPr lang="en-US" sz="38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536192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Ninety seconds that frame everything.</a:t>
            </a:r>
            <a:endParaRPr lang="en-US" sz="165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6144768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50" kern="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4 · Advanced Spoken English · Module 3 — Debate &amp; Persuasion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10607040" y="6144768"/>
            <a:ext cx="1033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548640" y="1883664"/>
            <a:ext cx="11094415" cy="1274064"/>
          </a:xfrm>
          <a:prstGeom prst="roundRect">
            <a:avLst>
              <a:gd name="adj" fmla="val 10048"/>
            </a:avLst>
          </a:prstGeom>
          <a:solidFill>
            <a:srgbClr val="E6F5EC"/>
          </a:solidFill>
          <a:ln w="12700">
            <a:solidFill>
              <a:srgbClr val="2E9E5B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731520" y="2328672"/>
            <a:ext cx="384048" cy="384048"/>
          </a:xfrm>
          <a:prstGeom prst="ellipse">
            <a:avLst/>
          </a:prstGeom>
          <a:solidFill>
            <a:srgbClr val="2E9E5B"/>
          </a:solidFill>
          <a:ln/>
        </p:spPr>
      </p:sp>
      <p:sp>
        <p:nvSpPr>
          <p:cNvPr id="13" name="Text 9"/>
          <p:cNvSpPr txBox="1"/>
          <p:nvPr/>
        </p:nvSpPr>
        <p:spPr>
          <a:xfrm>
            <a:off x="731520" y="23286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1316736" y="1938528"/>
            <a:ext cx="10106863" cy="1164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100" i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motion is “Homework should be abolished.” Must you argue that?</a:t>
            </a:r>
            <a:endParaRPr lang="en-US" sz="1100" dirty="0"/>
          </a:p>
          <a:p>
            <a:pPr indent="0" marL="0">
              <a:lnSpc>
                <a:spcPct val="102000"/>
              </a:lnSpc>
              <a:spcBef>
                <a:spcPts val="169"/>
              </a:spcBef>
              <a:buNone/>
            </a:pPr>
            <a:r>
              <a:rPr lang="en-US" sz="161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— you may argue “reduced, not abolished”.</a:t>
            </a:r>
            <a:endParaRPr lang="en-US" sz="1100" dirty="0"/>
          </a:p>
          <a:p>
            <a:pPr indent="0" marL="0">
              <a:lnSpc>
                <a:spcPct val="102000"/>
              </a:lnSpc>
              <a:spcBef>
                <a:spcPts val="254"/>
              </a:spcBef>
              <a:buNone/>
            </a:pPr>
            <a:r>
              <a:rPr lang="en-US" sz="1270" dirty="0">
                <a:solidFill>
                  <a:srgbClr val="0A4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Narrowing your own claim in the first sentence removes the opposition's easiest attacks before they can make them.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548640" y="3276600"/>
            <a:ext cx="11094415" cy="1274064"/>
          </a:xfrm>
          <a:prstGeom prst="roundRect">
            <a:avLst>
              <a:gd name="adj" fmla="val 10048"/>
            </a:avLst>
          </a:prstGeom>
          <a:solidFill>
            <a:srgbClr val="E6F5EC"/>
          </a:solidFill>
          <a:ln w="12700">
            <a:solidFill>
              <a:srgbClr val="2E9E5B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731520" y="3721608"/>
            <a:ext cx="384048" cy="384048"/>
          </a:xfrm>
          <a:prstGeom prst="ellipse">
            <a:avLst/>
          </a:prstGeom>
          <a:solidFill>
            <a:srgbClr val="2E9E5B"/>
          </a:solidFill>
          <a:ln/>
        </p:spPr>
      </p:sp>
      <p:sp>
        <p:nvSpPr>
          <p:cNvPr id="17" name="Text 13"/>
          <p:cNvSpPr txBox="1"/>
          <p:nvPr/>
        </p:nvSpPr>
        <p:spPr>
          <a:xfrm>
            <a:off x="731520" y="37216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8" name="Text 14"/>
          <p:cNvSpPr/>
          <p:nvPr/>
        </p:nvSpPr>
        <p:spPr>
          <a:xfrm>
            <a:off x="1316736" y="3331464"/>
            <a:ext cx="10106863" cy="1164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100" i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many lines of argument should you preview?</a:t>
            </a:r>
            <a:endParaRPr lang="en-US" sz="1100" dirty="0"/>
          </a:p>
          <a:p>
            <a:pPr indent="0" marL="0">
              <a:lnSpc>
                <a:spcPct val="102000"/>
              </a:lnSpc>
              <a:spcBef>
                <a:spcPts val="169"/>
              </a:spcBef>
              <a:buNone/>
            </a:pPr>
            <a:r>
              <a:rPr lang="en-US" sz="161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Three.</a:t>
            </a:r>
            <a:endParaRPr lang="en-US" sz="1100" dirty="0"/>
          </a:p>
          <a:p>
            <a:pPr indent="0" marL="0">
              <a:lnSpc>
                <a:spcPct val="102000"/>
              </a:lnSpc>
              <a:spcBef>
                <a:spcPts val="254"/>
              </a:spcBef>
              <a:buNone/>
            </a:pPr>
            <a:r>
              <a:rPr lang="en-US" sz="1270" dirty="0">
                <a:solidFill>
                  <a:srgbClr val="0A4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Two feels thin. Four or five is more than an audience will hold, and the extra ones displace the first.</a:t>
            </a:r>
            <a:endParaRPr lang="en-US" sz="1100" dirty="0"/>
          </a:p>
        </p:txBody>
      </p:sp>
      <p:sp>
        <p:nvSpPr>
          <p:cNvPr id="19" name="Shape 15"/>
          <p:cNvSpPr/>
          <p:nvPr/>
        </p:nvSpPr>
        <p:spPr>
          <a:xfrm>
            <a:off x="548640" y="4669536"/>
            <a:ext cx="11094415" cy="1274064"/>
          </a:xfrm>
          <a:prstGeom prst="roundRect">
            <a:avLst>
              <a:gd name="adj" fmla="val 10048"/>
            </a:avLst>
          </a:prstGeom>
          <a:solidFill>
            <a:srgbClr val="E6F5EC"/>
          </a:solidFill>
          <a:ln w="12700">
            <a:solidFill>
              <a:srgbClr val="2E9E5B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731520" y="5114544"/>
            <a:ext cx="384048" cy="384048"/>
          </a:xfrm>
          <a:prstGeom prst="ellipse">
            <a:avLst/>
          </a:prstGeom>
          <a:solidFill>
            <a:srgbClr val="2E9E5B"/>
          </a:solidFill>
          <a:ln/>
        </p:spPr>
      </p:sp>
      <p:sp>
        <p:nvSpPr>
          <p:cNvPr id="21" name="Text 17"/>
          <p:cNvSpPr txBox="1"/>
          <p:nvPr/>
        </p:nvSpPr>
        <p:spPr>
          <a:xfrm>
            <a:off x="731520" y="511454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2" name="Text 18"/>
          <p:cNvSpPr/>
          <p:nvPr/>
        </p:nvSpPr>
        <p:spPr>
          <a:xfrm>
            <a:off x="1316736" y="4724400"/>
            <a:ext cx="10106863" cy="1164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100" i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should the first two sentences be?</a:t>
            </a:r>
            <a:endParaRPr lang="en-US" sz="1100" dirty="0"/>
          </a:p>
          <a:p>
            <a:pPr indent="0" marL="0">
              <a:lnSpc>
                <a:spcPct val="102000"/>
              </a:lnSpc>
              <a:spcBef>
                <a:spcPts val="169"/>
              </a:spcBef>
              <a:buNone/>
            </a:pPr>
            <a:r>
              <a:rPr lang="en-US" sz="161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position, then your three-line preview.</a:t>
            </a:r>
            <a:endParaRPr lang="en-US" sz="1100" dirty="0"/>
          </a:p>
          <a:p>
            <a:pPr indent="0" marL="0">
              <a:lnSpc>
                <a:spcPct val="102000"/>
              </a:lnSpc>
              <a:spcBef>
                <a:spcPts val="254"/>
              </a:spcBef>
              <a:buNone/>
            </a:pPr>
            <a:r>
              <a:rPr lang="en-US" sz="1270" dirty="0">
                <a:solidFill>
                  <a:srgbClr val="0A4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Memorise both. They are the only part of a debate you can fully prepare and deliver without pressure.</a:t>
            </a:r>
            <a:endParaRPr lang="en-US" sz="11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38912"/>
            <a:ext cx="2679192" cy="420624"/>
          </a:xfrm>
          <a:prstGeom prst="roundRect">
            <a:avLst>
              <a:gd name="adj" fmla="val 50000"/>
            </a:avLst>
          </a:prstGeom>
          <a:solidFill>
            <a:srgbClr val="3F5BD9"/>
          </a:solidFill>
          <a:ln/>
        </p:spPr>
      </p:sp>
      <p:sp>
        <p:nvSpPr>
          <p:cNvPr id="3" name="Shape 1"/>
          <p:cNvSpPr/>
          <p:nvPr/>
        </p:nvSpPr>
        <p:spPr>
          <a:xfrm>
            <a:off x="649224" y="539496"/>
            <a:ext cx="219456" cy="219456"/>
          </a:xfrm>
          <a:prstGeom prst="ellipse">
            <a:avLst/>
          </a:prstGeom>
          <a:solidFill>
            <a:srgbClr val="3F5BD9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" y="539496"/>
            <a:ext cx="219456" cy="21945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932688" y="438912"/>
            <a:ext cx="21854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GUIDED EXAMPLES 2 OF 5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896112"/>
            <a:ext cx="10972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Guided examples 2 — rebuttal</a:t>
            </a:r>
            <a:endParaRPr lang="en-US" sz="38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536192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target, properly destroyed.</a:t>
            </a:r>
            <a:endParaRPr lang="en-US" sz="165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6144768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50" kern="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4 · Advanced Spoken English · Module 3 — Debate &amp; Persuasion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10607040" y="6144768"/>
            <a:ext cx="1033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548640" y="1883664"/>
            <a:ext cx="11094415" cy="1274064"/>
          </a:xfrm>
          <a:prstGeom prst="roundRect">
            <a:avLst>
              <a:gd name="adj" fmla="val 10048"/>
            </a:avLst>
          </a:prstGeom>
          <a:solidFill>
            <a:srgbClr val="E6F5EC"/>
          </a:solidFill>
          <a:ln w="12700">
            <a:solidFill>
              <a:srgbClr val="2E9E5B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731520" y="2328672"/>
            <a:ext cx="384048" cy="384048"/>
          </a:xfrm>
          <a:prstGeom prst="ellipse">
            <a:avLst/>
          </a:prstGeom>
          <a:solidFill>
            <a:srgbClr val="2E9E5B"/>
          </a:solidFill>
          <a:ln/>
        </p:spPr>
      </p:sp>
      <p:sp>
        <p:nvSpPr>
          <p:cNvPr id="13" name="Text 9"/>
          <p:cNvSpPr txBox="1"/>
          <p:nvPr/>
        </p:nvSpPr>
        <p:spPr>
          <a:xfrm>
            <a:off x="731520" y="23286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1316736" y="1938528"/>
            <a:ext cx="10106863" cy="1164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100" i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made five points. How many do you attack?</a:t>
            </a:r>
            <a:endParaRPr lang="en-US" sz="1100" dirty="0"/>
          </a:p>
          <a:p>
            <a:pPr indent="0" marL="0">
              <a:lnSpc>
                <a:spcPct val="102000"/>
              </a:lnSpc>
              <a:spcBef>
                <a:spcPts val="169"/>
              </a:spcBef>
              <a:buNone/>
            </a:pPr>
            <a:r>
              <a:rPr lang="en-US" sz="161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— the one their case depends on.</a:t>
            </a:r>
            <a:endParaRPr lang="en-US" sz="1100" dirty="0"/>
          </a:p>
          <a:p>
            <a:pPr indent="0" marL="0">
              <a:lnSpc>
                <a:spcPct val="102000"/>
              </a:lnSpc>
              <a:spcBef>
                <a:spcPts val="254"/>
              </a:spcBef>
              <a:buNone/>
            </a:pPr>
            <a:r>
              <a:rPr lang="en-US" sz="1270" dirty="0">
                <a:solidFill>
                  <a:srgbClr val="0A4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Five weak attacks look like you found nothing. One destroyed point makes the audience doubt everything else.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548640" y="3276600"/>
            <a:ext cx="11094415" cy="1274064"/>
          </a:xfrm>
          <a:prstGeom prst="roundRect">
            <a:avLst>
              <a:gd name="adj" fmla="val 10048"/>
            </a:avLst>
          </a:prstGeom>
          <a:solidFill>
            <a:srgbClr val="E6F5EC"/>
          </a:solidFill>
          <a:ln w="12700">
            <a:solidFill>
              <a:srgbClr val="2E9E5B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731520" y="3721608"/>
            <a:ext cx="384048" cy="384048"/>
          </a:xfrm>
          <a:prstGeom prst="ellipse">
            <a:avLst/>
          </a:prstGeom>
          <a:solidFill>
            <a:srgbClr val="2E9E5B"/>
          </a:solidFill>
          <a:ln/>
        </p:spPr>
      </p:sp>
      <p:sp>
        <p:nvSpPr>
          <p:cNvPr id="17" name="Text 13"/>
          <p:cNvSpPr txBox="1"/>
          <p:nvPr/>
        </p:nvSpPr>
        <p:spPr>
          <a:xfrm>
            <a:off x="731520" y="37216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8" name="Text 14"/>
          <p:cNvSpPr/>
          <p:nvPr/>
        </p:nvSpPr>
        <p:spPr>
          <a:xfrm>
            <a:off x="1316736" y="3331464"/>
            <a:ext cx="10106863" cy="1164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i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concede something before attacking?</a:t>
            </a:r>
            <a:endParaRPr lang="en-US" sz="1300" dirty="0"/>
          </a:p>
          <a:p>
            <a:pPr indent="0" marL="0">
              <a:lnSpc>
                <a:spcPct val="102000"/>
              </a:lnSpc>
              <a:spcBef>
                <a:spcPts val="200"/>
              </a:spcBef>
              <a:buNone/>
            </a:pPr>
            <a:r>
              <a:rPr lang="en-US" sz="19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stops the rebuttal sounding like a personal attack.</a:t>
            </a:r>
            <a:endParaRPr lang="en-US" sz="1300" dirty="0"/>
          </a:p>
          <a:p>
            <a:pPr indent="0" marL="0">
              <a:lnSpc>
                <a:spcPct val="102000"/>
              </a:lnSpc>
              <a:spcBef>
                <a:spcPts val="300"/>
              </a:spcBef>
              <a:buNone/>
            </a:pPr>
            <a:r>
              <a:rPr lang="en-US" sz="1500" dirty="0">
                <a:solidFill>
                  <a:srgbClr val="0A4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Conceding what is true makes the attack on what is false far more credible.</a:t>
            </a:r>
            <a:endParaRPr lang="en-US" sz="1300" dirty="0"/>
          </a:p>
        </p:txBody>
      </p:sp>
      <p:sp>
        <p:nvSpPr>
          <p:cNvPr id="19" name="Shape 15"/>
          <p:cNvSpPr/>
          <p:nvPr/>
        </p:nvSpPr>
        <p:spPr>
          <a:xfrm>
            <a:off x="548640" y="4669536"/>
            <a:ext cx="11094415" cy="1274064"/>
          </a:xfrm>
          <a:prstGeom prst="roundRect">
            <a:avLst>
              <a:gd name="adj" fmla="val 10048"/>
            </a:avLst>
          </a:prstGeom>
          <a:solidFill>
            <a:srgbClr val="E6F5EC"/>
          </a:solidFill>
          <a:ln w="12700">
            <a:solidFill>
              <a:srgbClr val="2E9E5B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731520" y="5114544"/>
            <a:ext cx="384048" cy="384048"/>
          </a:xfrm>
          <a:prstGeom prst="ellipse">
            <a:avLst/>
          </a:prstGeom>
          <a:solidFill>
            <a:srgbClr val="2E9E5B"/>
          </a:solidFill>
          <a:ln/>
        </p:spPr>
      </p:sp>
      <p:sp>
        <p:nvSpPr>
          <p:cNvPr id="21" name="Text 17"/>
          <p:cNvSpPr txBox="1"/>
          <p:nvPr/>
        </p:nvSpPr>
        <p:spPr>
          <a:xfrm>
            <a:off x="731520" y="511454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2" name="Text 18"/>
          <p:cNvSpPr/>
          <p:nvPr/>
        </p:nvSpPr>
        <p:spPr>
          <a:xfrm>
            <a:off x="1316736" y="4724400"/>
            <a:ext cx="10106863" cy="1164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100" i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the last step of a rebuttal?</a:t>
            </a:r>
            <a:endParaRPr lang="en-US" sz="1100" dirty="0"/>
          </a:p>
          <a:p>
            <a:pPr indent="0" marL="0">
              <a:lnSpc>
                <a:spcPct val="102000"/>
              </a:lnSpc>
              <a:spcBef>
                <a:spcPts val="169"/>
              </a:spcBef>
              <a:buNone/>
            </a:pPr>
            <a:r>
              <a:rPr lang="en-US" sz="161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Say what now follows — ideally that it supports YOUR case.</a:t>
            </a:r>
            <a:endParaRPr lang="en-US" sz="1100" dirty="0"/>
          </a:p>
          <a:p>
            <a:pPr indent="0" marL="0">
              <a:lnSpc>
                <a:spcPct val="102000"/>
              </a:lnSpc>
              <a:spcBef>
                <a:spcPts val="254"/>
              </a:spcBef>
              <a:buNone/>
            </a:pPr>
            <a:r>
              <a:rPr lang="en-US" sz="1270" dirty="0">
                <a:solidFill>
                  <a:srgbClr val="0A4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Removing their point is good. Turning it into your point is better, and it is often possible.</a:t>
            </a:r>
            <a:endParaRPr lang="en-US" sz="11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38912"/>
            <a:ext cx="2679192" cy="420624"/>
          </a:xfrm>
          <a:prstGeom prst="roundRect">
            <a:avLst>
              <a:gd name="adj" fmla="val 50000"/>
            </a:avLst>
          </a:prstGeom>
          <a:solidFill>
            <a:srgbClr val="3F5BD9"/>
          </a:solidFill>
          <a:ln/>
        </p:spPr>
      </p:sp>
      <p:sp>
        <p:nvSpPr>
          <p:cNvPr id="3" name="Shape 1"/>
          <p:cNvSpPr/>
          <p:nvPr/>
        </p:nvSpPr>
        <p:spPr>
          <a:xfrm>
            <a:off x="649224" y="539496"/>
            <a:ext cx="219456" cy="219456"/>
          </a:xfrm>
          <a:prstGeom prst="ellipse">
            <a:avLst/>
          </a:prstGeom>
          <a:solidFill>
            <a:srgbClr val="3F5BD9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" y="539496"/>
            <a:ext cx="219456" cy="21945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932688" y="438912"/>
            <a:ext cx="21854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GUIDED EXAMPLES 3 OF 5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896112"/>
            <a:ext cx="10972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Guided examples 3 — the hard question</a:t>
            </a:r>
            <a:endParaRPr lang="en-US" sz="38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536192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debates are decided.</a:t>
            </a:r>
            <a:endParaRPr lang="en-US" sz="165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6144768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50" kern="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4 · Advanced Spoken English · Module 3 — Debate &amp; Persuasion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10607040" y="6144768"/>
            <a:ext cx="1033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548640" y="1883664"/>
            <a:ext cx="11094415" cy="1274064"/>
          </a:xfrm>
          <a:prstGeom prst="roundRect">
            <a:avLst>
              <a:gd name="adj" fmla="val 10048"/>
            </a:avLst>
          </a:prstGeom>
          <a:solidFill>
            <a:srgbClr val="E6F5EC"/>
          </a:solidFill>
          <a:ln w="12700">
            <a:solidFill>
              <a:srgbClr val="2E9E5B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731520" y="2328672"/>
            <a:ext cx="384048" cy="384048"/>
          </a:xfrm>
          <a:prstGeom prst="ellipse">
            <a:avLst/>
          </a:prstGeom>
          <a:solidFill>
            <a:srgbClr val="2E9E5B"/>
          </a:solidFill>
          <a:ln/>
        </p:spPr>
      </p:sp>
      <p:sp>
        <p:nvSpPr>
          <p:cNvPr id="13" name="Text 9"/>
          <p:cNvSpPr txBox="1"/>
          <p:nvPr/>
        </p:nvSpPr>
        <p:spPr>
          <a:xfrm>
            <a:off x="731520" y="23286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1316736" y="1938528"/>
            <a:ext cx="10106863" cy="1164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100" i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are asked for a figure you do not have. What do you say?</a:t>
            </a:r>
            <a:endParaRPr lang="en-US" sz="1100" dirty="0"/>
          </a:p>
          <a:p>
            <a:pPr indent="0" marL="0">
              <a:lnSpc>
                <a:spcPct val="102000"/>
              </a:lnSpc>
              <a:spcBef>
                <a:spcPts val="169"/>
              </a:spcBef>
              <a:buNone/>
            </a:pPr>
            <a:r>
              <a:rPr lang="en-US" sz="161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“I don't have that figure. It doesn't change the main point, which is…”</a:t>
            </a:r>
            <a:endParaRPr lang="en-US" sz="1100" dirty="0"/>
          </a:p>
          <a:p>
            <a:pPr indent="0" marL="0">
              <a:lnSpc>
                <a:spcPct val="102000"/>
              </a:lnSpc>
              <a:spcBef>
                <a:spcPts val="254"/>
              </a:spcBef>
              <a:buNone/>
            </a:pPr>
            <a:r>
              <a:rPr lang="en-US" sz="1270" dirty="0">
                <a:solidFill>
                  <a:srgbClr val="0A4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Honest, then redirect. Inventing a number is the fastest way to lose a debate you were winning.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548640" y="3276600"/>
            <a:ext cx="11094415" cy="1274064"/>
          </a:xfrm>
          <a:prstGeom prst="roundRect">
            <a:avLst>
              <a:gd name="adj" fmla="val 10048"/>
            </a:avLst>
          </a:prstGeom>
          <a:solidFill>
            <a:srgbClr val="E6F5EC"/>
          </a:solidFill>
          <a:ln w="12700">
            <a:solidFill>
              <a:srgbClr val="2E9E5B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731520" y="3721608"/>
            <a:ext cx="384048" cy="384048"/>
          </a:xfrm>
          <a:prstGeom prst="ellipse">
            <a:avLst/>
          </a:prstGeom>
          <a:solidFill>
            <a:srgbClr val="2E9E5B"/>
          </a:solidFill>
          <a:ln/>
        </p:spPr>
      </p:sp>
      <p:sp>
        <p:nvSpPr>
          <p:cNvPr id="17" name="Text 13"/>
          <p:cNvSpPr txBox="1"/>
          <p:nvPr/>
        </p:nvSpPr>
        <p:spPr>
          <a:xfrm>
            <a:off x="731520" y="37216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8" name="Text 14"/>
          <p:cNvSpPr/>
          <p:nvPr/>
        </p:nvSpPr>
        <p:spPr>
          <a:xfrm>
            <a:off x="1316736" y="3331464"/>
            <a:ext cx="10106863" cy="1164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200" i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question contains a false assumption. What do you do?</a:t>
            </a:r>
            <a:endParaRPr lang="en-US" sz="1200" dirty="0"/>
          </a:p>
          <a:p>
            <a:pPr indent="0" marL="0">
              <a:lnSpc>
                <a:spcPct val="102000"/>
              </a:lnSpc>
              <a:spcBef>
                <a:spcPts val="184"/>
              </a:spcBef>
              <a:buNone/>
            </a:pPr>
            <a:r>
              <a:rPr lang="en-US" sz="175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“That assumes X, and I'd question that.”</a:t>
            </a:r>
            <a:endParaRPr lang="en-US" sz="1200" dirty="0"/>
          </a:p>
          <a:p>
            <a:pPr indent="0" marL="0">
              <a:lnSpc>
                <a:spcPct val="102000"/>
              </a:lnSpc>
              <a:spcBef>
                <a:spcPts val="276"/>
              </a:spcBef>
              <a:buNone/>
            </a:pPr>
            <a:r>
              <a:rPr lang="en-US" sz="1380" dirty="0">
                <a:solidFill>
                  <a:srgbClr val="0A4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Answer the premise, not the question. Answering the question accepts the assumption.</a:t>
            </a:r>
            <a:endParaRPr lang="en-US" sz="1200" dirty="0"/>
          </a:p>
        </p:txBody>
      </p:sp>
      <p:sp>
        <p:nvSpPr>
          <p:cNvPr id="19" name="Shape 15"/>
          <p:cNvSpPr/>
          <p:nvPr/>
        </p:nvSpPr>
        <p:spPr>
          <a:xfrm>
            <a:off x="548640" y="4669536"/>
            <a:ext cx="11094415" cy="1274064"/>
          </a:xfrm>
          <a:prstGeom prst="roundRect">
            <a:avLst>
              <a:gd name="adj" fmla="val 10048"/>
            </a:avLst>
          </a:prstGeom>
          <a:solidFill>
            <a:srgbClr val="E6F5EC"/>
          </a:solidFill>
          <a:ln w="12700">
            <a:solidFill>
              <a:srgbClr val="2E9E5B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731520" y="5114544"/>
            <a:ext cx="384048" cy="384048"/>
          </a:xfrm>
          <a:prstGeom prst="ellipse">
            <a:avLst/>
          </a:prstGeom>
          <a:solidFill>
            <a:srgbClr val="2E9E5B"/>
          </a:solidFill>
          <a:ln/>
        </p:spPr>
      </p:sp>
      <p:sp>
        <p:nvSpPr>
          <p:cNvPr id="21" name="Text 17"/>
          <p:cNvSpPr txBox="1"/>
          <p:nvPr/>
        </p:nvSpPr>
        <p:spPr>
          <a:xfrm>
            <a:off x="731520" y="511454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2" name="Text 18"/>
          <p:cNvSpPr/>
          <p:nvPr/>
        </p:nvSpPr>
        <p:spPr>
          <a:xfrm>
            <a:off x="1316736" y="4724400"/>
            <a:ext cx="10106863" cy="1164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i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need three seconds. What do you say?</a:t>
            </a:r>
            <a:endParaRPr lang="en-US" sz="1300" dirty="0"/>
          </a:p>
          <a:p>
            <a:pPr indent="0" marL="0">
              <a:lnSpc>
                <a:spcPct val="102000"/>
              </a:lnSpc>
              <a:spcBef>
                <a:spcPts val="200"/>
              </a:spcBef>
              <a:buNone/>
            </a:pPr>
            <a:r>
              <a:rPr lang="en-US" sz="19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“That's a fair question. Let me take it in two parts.”</a:t>
            </a:r>
            <a:endParaRPr lang="en-US" sz="1300" dirty="0"/>
          </a:p>
          <a:p>
            <a:pPr indent="0" marL="0">
              <a:lnSpc>
                <a:spcPct val="102000"/>
              </a:lnSpc>
              <a:spcBef>
                <a:spcPts val="300"/>
              </a:spcBef>
              <a:buNone/>
            </a:pPr>
            <a:r>
              <a:rPr lang="en-US" sz="1500" dirty="0">
                <a:solidFill>
                  <a:srgbClr val="0A4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It buys time and imposes a structure on the answer at the same time.</a:t>
            </a:r>
            <a:endParaRPr lang="en-US" sz="13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38912"/>
            <a:ext cx="2679192" cy="420624"/>
          </a:xfrm>
          <a:prstGeom prst="roundRect">
            <a:avLst>
              <a:gd name="adj" fmla="val 50000"/>
            </a:avLst>
          </a:prstGeom>
          <a:solidFill>
            <a:srgbClr val="3F5BD9"/>
          </a:solidFill>
          <a:ln/>
        </p:spPr>
      </p:sp>
      <p:sp>
        <p:nvSpPr>
          <p:cNvPr id="3" name="Shape 1"/>
          <p:cNvSpPr/>
          <p:nvPr/>
        </p:nvSpPr>
        <p:spPr>
          <a:xfrm>
            <a:off x="649224" y="539496"/>
            <a:ext cx="219456" cy="219456"/>
          </a:xfrm>
          <a:prstGeom prst="ellipse">
            <a:avLst/>
          </a:prstGeom>
          <a:solidFill>
            <a:srgbClr val="3F5BD9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" y="539496"/>
            <a:ext cx="219456" cy="21945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932688" y="438912"/>
            <a:ext cx="21854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GUIDED EXAMPLES 4 OF 5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896112"/>
            <a:ext cx="10972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Guided examples 4 — persuasion</a:t>
            </a:r>
            <a:endParaRPr lang="en-US" sz="38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536192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Beyond being right.</a:t>
            </a:r>
            <a:endParaRPr lang="en-US" sz="165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6144768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50" kern="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4 · Advanced Spoken English · Module 3 — Debate &amp; Persuasion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10607040" y="6144768"/>
            <a:ext cx="1033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548640" y="1883664"/>
            <a:ext cx="11094415" cy="1274064"/>
          </a:xfrm>
          <a:prstGeom prst="roundRect">
            <a:avLst>
              <a:gd name="adj" fmla="val 10048"/>
            </a:avLst>
          </a:prstGeom>
          <a:solidFill>
            <a:srgbClr val="E6F5EC"/>
          </a:solidFill>
          <a:ln w="12700">
            <a:solidFill>
              <a:srgbClr val="2E9E5B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731520" y="2328672"/>
            <a:ext cx="384048" cy="384048"/>
          </a:xfrm>
          <a:prstGeom prst="ellipse">
            <a:avLst/>
          </a:prstGeom>
          <a:solidFill>
            <a:srgbClr val="2E9E5B"/>
          </a:solidFill>
          <a:ln/>
        </p:spPr>
      </p:sp>
      <p:sp>
        <p:nvSpPr>
          <p:cNvPr id="13" name="Text 9"/>
          <p:cNvSpPr txBox="1"/>
          <p:nvPr/>
        </p:nvSpPr>
        <p:spPr>
          <a:xfrm>
            <a:off x="731520" y="23286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1316736" y="1938528"/>
            <a:ext cx="10106863" cy="1164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100" i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many numbers should the audience leave with?</a:t>
            </a:r>
            <a:endParaRPr lang="en-US" sz="1100" dirty="0"/>
          </a:p>
          <a:p>
            <a:pPr indent="0" marL="0">
              <a:lnSpc>
                <a:spcPct val="102000"/>
              </a:lnSpc>
              <a:spcBef>
                <a:spcPts val="169"/>
              </a:spcBef>
              <a:buNone/>
            </a:pPr>
            <a:r>
              <a:rPr lang="en-US" sz="161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One.</a:t>
            </a:r>
            <a:endParaRPr lang="en-US" sz="1100" dirty="0"/>
          </a:p>
          <a:p>
            <a:pPr indent="0" marL="0">
              <a:lnSpc>
                <a:spcPct val="102000"/>
              </a:lnSpc>
              <a:spcBef>
                <a:spcPts val="254"/>
              </a:spcBef>
              <a:buNone/>
            </a:pPr>
            <a:r>
              <a:rPr lang="en-US" sz="1270" dirty="0">
                <a:solidFill>
                  <a:srgbClr val="0A4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Six numbers and they remember none. One number repeated three times travels out of the room.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548640" y="3276600"/>
            <a:ext cx="11094415" cy="1274064"/>
          </a:xfrm>
          <a:prstGeom prst="roundRect">
            <a:avLst>
              <a:gd name="adj" fmla="val 10048"/>
            </a:avLst>
          </a:prstGeom>
          <a:solidFill>
            <a:srgbClr val="E6F5EC"/>
          </a:solidFill>
          <a:ln w="12700">
            <a:solidFill>
              <a:srgbClr val="2E9E5B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731520" y="3721608"/>
            <a:ext cx="384048" cy="384048"/>
          </a:xfrm>
          <a:prstGeom prst="ellipse">
            <a:avLst/>
          </a:prstGeom>
          <a:solidFill>
            <a:srgbClr val="2E9E5B"/>
          </a:solidFill>
          <a:ln/>
        </p:spPr>
      </p:sp>
      <p:sp>
        <p:nvSpPr>
          <p:cNvPr id="17" name="Text 13"/>
          <p:cNvSpPr txBox="1"/>
          <p:nvPr/>
        </p:nvSpPr>
        <p:spPr>
          <a:xfrm>
            <a:off x="731520" y="37216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8" name="Text 14"/>
          <p:cNvSpPr/>
          <p:nvPr/>
        </p:nvSpPr>
        <p:spPr>
          <a:xfrm>
            <a:off x="1316736" y="3331464"/>
            <a:ext cx="10106863" cy="1164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160" i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repeat a phrase like “reduced, not abolished”?</a:t>
            </a:r>
            <a:endParaRPr lang="en-US" sz="1160" dirty="0"/>
          </a:p>
          <a:p>
            <a:pPr indent="0" marL="0">
              <a:lnSpc>
                <a:spcPct val="102000"/>
              </a:lnSpc>
              <a:spcBef>
                <a:spcPts val="179"/>
              </a:spcBef>
              <a:buNone/>
            </a:pPr>
            <a:r>
              <a:rPr lang="en-US" sz="17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gives the audience your words to carry.</a:t>
            </a:r>
            <a:endParaRPr lang="en-US" sz="1160" dirty="0"/>
          </a:p>
          <a:p>
            <a:pPr indent="0" marL="0">
              <a:lnSpc>
                <a:spcPct val="102000"/>
              </a:lnSpc>
              <a:spcBef>
                <a:spcPts val="268"/>
              </a:spcBef>
              <a:buNone/>
            </a:pPr>
            <a:r>
              <a:rPr lang="en-US" sz="1340" dirty="0">
                <a:solidFill>
                  <a:srgbClr val="0A4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Positions travel in phrases. Someone who heard nothing else can still repeat that one.</a:t>
            </a:r>
            <a:endParaRPr lang="en-US" sz="1160" dirty="0"/>
          </a:p>
        </p:txBody>
      </p:sp>
      <p:sp>
        <p:nvSpPr>
          <p:cNvPr id="19" name="Shape 15"/>
          <p:cNvSpPr/>
          <p:nvPr/>
        </p:nvSpPr>
        <p:spPr>
          <a:xfrm>
            <a:off x="548640" y="4669536"/>
            <a:ext cx="11094415" cy="1274064"/>
          </a:xfrm>
          <a:prstGeom prst="roundRect">
            <a:avLst>
              <a:gd name="adj" fmla="val 10048"/>
            </a:avLst>
          </a:prstGeom>
          <a:solidFill>
            <a:srgbClr val="E6F5EC"/>
          </a:solidFill>
          <a:ln w="12700">
            <a:solidFill>
              <a:srgbClr val="2E9E5B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731520" y="5114544"/>
            <a:ext cx="384048" cy="384048"/>
          </a:xfrm>
          <a:prstGeom prst="ellipse">
            <a:avLst/>
          </a:prstGeom>
          <a:solidFill>
            <a:srgbClr val="2E9E5B"/>
          </a:solidFill>
          <a:ln/>
        </p:spPr>
      </p:sp>
      <p:sp>
        <p:nvSpPr>
          <p:cNvPr id="21" name="Text 17"/>
          <p:cNvSpPr txBox="1"/>
          <p:nvPr/>
        </p:nvSpPr>
        <p:spPr>
          <a:xfrm>
            <a:off x="731520" y="511454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2" name="Text 18"/>
          <p:cNvSpPr/>
          <p:nvPr/>
        </p:nvSpPr>
        <p:spPr>
          <a:xfrm>
            <a:off x="1316736" y="4724400"/>
            <a:ext cx="10106863" cy="1164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100" i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a single story enough evidence?</a:t>
            </a:r>
            <a:endParaRPr lang="en-US" sz="1100" dirty="0"/>
          </a:p>
          <a:p>
            <a:pPr indent="0" marL="0">
              <a:lnSpc>
                <a:spcPct val="102000"/>
              </a:lnSpc>
              <a:spcBef>
                <a:spcPts val="169"/>
              </a:spcBef>
              <a:buNone/>
            </a:pPr>
            <a:r>
              <a:rPr lang="en-US" sz="161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— it illustrates evidence, it does not replace it.</a:t>
            </a:r>
            <a:endParaRPr lang="en-US" sz="1100" dirty="0"/>
          </a:p>
          <a:p>
            <a:pPr indent="0" marL="0">
              <a:lnSpc>
                <a:spcPct val="102000"/>
              </a:lnSpc>
              <a:spcBef>
                <a:spcPts val="254"/>
              </a:spcBef>
              <a:buNone/>
            </a:pPr>
            <a:r>
              <a:rPr lang="en-US" sz="1270" dirty="0">
                <a:solidFill>
                  <a:srgbClr val="0A4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One case makes an abstract point real. It proves nothing on its own, and a good opponent will say so.</a:t>
            </a:r>
            <a:endParaRPr lang="en-US" sz="11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38912"/>
            <a:ext cx="2679192" cy="420624"/>
          </a:xfrm>
          <a:prstGeom prst="roundRect">
            <a:avLst>
              <a:gd name="adj" fmla="val 50000"/>
            </a:avLst>
          </a:prstGeom>
          <a:solidFill>
            <a:srgbClr val="3F5BD9"/>
          </a:solidFill>
          <a:ln/>
        </p:spPr>
      </p:sp>
      <p:sp>
        <p:nvSpPr>
          <p:cNvPr id="3" name="Shape 1"/>
          <p:cNvSpPr/>
          <p:nvPr/>
        </p:nvSpPr>
        <p:spPr>
          <a:xfrm>
            <a:off x="649224" y="539496"/>
            <a:ext cx="219456" cy="219456"/>
          </a:xfrm>
          <a:prstGeom prst="ellipse">
            <a:avLst/>
          </a:prstGeom>
          <a:solidFill>
            <a:srgbClr val="3F5BD9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" y="539496"/>
            <a:ext cx="219456" cy="21945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932688" y="438912"/>
            <a:ext cx="21854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GUIDED EXAMPLES 5 OF 5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896112"/>
            <a:ext cx="10972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Guided examples 5 — losing an exchange</a:t>
            </a:r>
            <a:endParaRPr lang="en-US" sz="38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536192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happens to everyone.</a:t>
            </a:r>
            <a:endParaRPr lang="en-US" sz="165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6144768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50" kern="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4 · Advanced Spoken English · Module 3 — Debate &amp; Persuasion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10607040" y="6144768"/>
            <a:ext cx="1033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548640" y="1883664"/>
            <a:ext cx="11094415" cy="1274064"/>
          </a:xfrm>
          <a:prstGeom prst="roundRect">
            <a:avLst>
              <a:gd name="adj" fmla="val 10048"/>
            </a:avLst>
          </a:prstGeom>
          <a:solidFill>
            <a:srgbClr val="E6F5EC"/>
          </a:solidFill>
          <a:ln w="12700">
            <a:solidFill>
              <a:srgbClr val="2E9E5B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731520" y="2328672"/>
            <a:ext cx="384048" cy="384048"/>
          </a:xfrm>
          <a:prstGeom prst="ellipse">
            <a:avLst/>
          </a:prstGeom>
          <a:solidFill>
            <a:srgbClr val="2E9E5B"/>
          </a:solidFill>
          <a:ln/>
        </p:spPr>
      </p:sp>
      <p:sp>
        <p:nvSpPr>
          <p:cNvPr id="13" name="Text 9"/>
          <p:cNvSpPr txBox="1"/>
          <p:nvPr/>
        </p:nvSpPr>
        <p:spPr>
          <a:xfrm>
            <a:off x="731520" y="23286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1316736" y="1938528"/>
            <a:ext cx="10106863" cy="1164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100" i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have clearly lost a point. What do you do?</a:t>
            </a:r>
            <a:endParaRPr lang="en-US" sz="1100" dirty="0"/>
          </a:p>
          <a:p>
            <a:pPr indent="0" marL="0">
              <a:lnSpc>
                <a:spcPct val="102000"/>
              </a:lnSpc>
              <a:spcBef>
                <a:spcPts val="169"/>
              </a:spcBef>
              <a:buNone/>
            </a:pPr>
            <a:r>
              <a:rPr lang="en-US" sz="161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“You're right about that. It doesn't change my second argument, which is…”</a:t>
            </a:r>
            <a:endParaRPr lang="en-US" sz="1100" dirty="0"/>
          </a:p>
          <a:p>
            <a:pPr indent="0" marL="0">
              <a:lnSpc>
                <a:spcPct val="102000"/>
              </a:lnSpc>
              <a:spcBef>
                <a:spcPts val="254"/>
              </a:spcBef>
              <a:buNone/>
            </a:pPr>
            <a:r>
              <a:rPr lang="en-US" sz="1270" dirty="0">
                <a:solidFill>
                  <a:srgbClr val="0A4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Concede and bound the damage. The audience saw it land; denial costs you the points you won.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548640" y="3276600"/>
            <a:ext cx="11094415" cy="1274064"/>
          </a:xfrm>
          <a:prstGeom prst="roundRect">
            <a:avLst>
              <a:gd name="adj" fmla="val 10048"/>
            </a:avLst>
          </a:prstGeom>
          <a:solidFill>
            <a:srgbClr val="E6F5EC"/>
          </a:solidFill>
          <a:ln w="12700">
            <a:solidFill>
              <a:srgbClr val="2E9E5B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731520" y="3721608"/>
            <a:ext cx="384048" cy="384048"/>
          </a:xfrm>
          <a:prstGeom prst="ellipse">
            <a:avLst/>
          </a:prstGeom>
          <a:solidFill>
            <a:srgbClr val="2E9E5B"/>
          </a:solidFill>
          <a:ln/>
        </p:spPr>
      </p:sp>
      <p:sp>
        <p:nvSpPr>
          <p:cNvPr id="17" name="Text 13"/>
          <p:cNvSpPr txBox="1"/>
          <p:nvPr/>
        </p:nvSpPr>
        <p:spPr>
          <a:xfrm>
            <a:off x="731520" y="37216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8" name="Text 14"/>
          <p:cNvSpPr/>
          <p:nvPr/>
        </p:nvSpPr>
        <p:spPr>
          <a:xfrm>
            <a:off x="1316736" y="3331464"/>
            <a:ext cx="10106863" cy="1164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130" i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not just move on quietly?</a:t>
            </a:r>
            <a:endParaRPr lang="en-US" sz="1130" dirty="0"/>
          </a:p>
          <a:p>
            <a:pPr indent="0" marL="0">
              <a:lnSpc>
                <a:spcPct val="102000"/>
              </a:lnSpc>
              <a:spcBef>
                <a:spcPts val="174"/>
              </a:spcBef>
              <a:buNone/>
            </a:pPr>
            <a:r>
              <a:rPr lang="en-US" sz="165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Silence reads as being unable to answer.</a:t>
            </a:r>
            <a:endParaRPr lang="en-US" sz="1130" dirty="0"/>
          </a:p>
          <a:p>
            <a:pPr indent="0" marL="0">
              <a:lnSpc>
                <a:spcPct val="102000"/>
              </a:lnSpc>
              <a:spcBef>
                <a:spcPts val="261"/>
              </a:spcBef>
              <a:buNone/>
            </a:pPr>
            <a:r>
              <a:rPr lang="en-US" sz="1300" dirty="0">
                <a:solidFill>
                  <a:srgbClr val="0A4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An unacknowledged loss grows in the audience's mind. A named and bounded one stops there.</a:t>
            </a:r>
            <a:endParaRPr lang="en-US" sz="1130" dirty="0"/>
          </a:p>
        </p:txBody>
      </p:sp>
      <p:sp>
        <p:nvSpPr>
          <p:cNvPr id="19" name="Shape 15"/>
          <p:cNvSpPr/>
          <p:nvPr/>
        </p:nvSpPr>
        <p:spPr>
          <a:xfrm>
            <a:off x="548640" y="4669536"/>
            <a:ext cx="11094415" cy="1274064"/>
          </a:xfrm>
          <a:prstGeom prst="roundRect">
            <a:avLst>
              <a:gd name="adj" fmla="val 10048"/>
            </a:avLst>
          </a:prstGeom>
          <a:solidFill>
            <a:srgbClr val="E6F5EC"/>
          </a:solidFill>
          <a:ln w="12700">
            <a:solidFill>
              <a:srgbClr val="2E9E5B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731520" y="5114544"/>
            <a:ext cx="384048" cy="384048"/>
          </a:xfrm>
          <a:prstGeom prst="ellipse">
            <a:avLst/>
          </a:prstGeom>
          <a:solidFill>
            <a:srgbClr val="2E9E5B"/>
          </a:solidFill>
          <a:ln/>
        </p:spPr>
      </p:sp>
      <p:sp>
        <p:nvSpPr>
          <p:cNvPr id="21" name="Text 17"/>
          <p:cNvSpPr txBox="1"/>
          <p:nvPr/>
        </p:nvSpPr>
        <p:spPr>
          <a:xfrm>
            <a:off x="731520" y="511454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2" name="Text 18"/>
          <p:cNvSpPr/>
          <p:nvPr/>
        </p:nvSpPr>
        <p:spPr>
          <a:xfrm>
            <a:off x="1316736" y="4724400"/>
            <a:ext cx="10106863" cy="1164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100" i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conceding lose the debate?</a:t>
            </a:r>
            <a:endParaRPr lang="en-US" sz="1100" dirty="0"/>
          </a:p>
          <a:p>
            <a:pPr indent="0" marL="0">
              <a:lnSpc>
                <a:spcPct val="102000"/>
              </a:lnSpc>
              <a:spcBef>
                <a:spcPts val="169"/>
              </a:spcBef>
              <a:buNone/>
            </a:pPr>
            <a:r>
              <a:rPr lang="en-US" sz="161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No. Denying an obvious loss does.</a:t>
            </a:r>
            <a:endParaRPr lang="en-US" sz="1100" dirty="0"/>
          </a:p>
          <a:p>
            <a:pPr indent="0" marL="0">
              <a:lnSpc>
                <a:spcPct val="102000"/>
              </a:lnSpc>
              <a:spcBef>
                <a:spcPts val="254"/>
              </a:spcBef>
              <a:buNone/>
            </a:pPr>
            <a:r>
              <a:rPr lang="en-US" sz="1270" dirty="0">
                <a:solidFill>
                  <a:srgbClr val="0A4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One conceded point costs one point. A visible refusal to concede costs your credibility on everything.</a:t>
            </a:r>
            <a:endParaRPr lang="en-US" sz="11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38912"/>
            <a:ext cx="2391156" cy="420624"/>
          </a:xfrm>
          <a:prstGeom prst="roundRect">
            <a:avLst>
              <a:gd name="adj" fmla="val 50000"/>
            </a:avLst>
          </a:prstGeom>
          <a:solidFill>
            <a:srgbClr val="E4572E"/>
          </a:solidFill>
          <a:ln/>
        </p:spPr>
      </p:sp>
      <p:sp>
        <p:nvSpPr>
          <p:cNvPr id="3" name="Shape 1"/>
          <p:cNvSpPr/>
          <p:nvPr/>
        </p:nvSpPr>
        <p:spPr>
          <a:xfrm>
            <a:off x="649224" y="539496"/>
            <a:ext cx="219456" cy="219456"/>
          </a:xfrm>
          <a:prstGeom prst="ellipse">
            <a:avLst/>
          </a:prstGeom>
          <a:solidFill>
            <a:srgbClr val="E4572E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" y="539496"/>
            <a:ext cx="219456" cy="21945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932688" y="438912"/>
            <a:ext cx="18973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CONVERSATION 1 OF 5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896112"/>
            <a:ext cx="10972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opening and a rebuttal</a:t>
            </a:r>
            <a:endParaRPr lang="en-US" sz="38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536192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motion: homework should be abolished. Watch how Chaltu narrows it.</a:t>
            </a:r>
            <a:endParaRPr lang="en-US" sz="165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6144768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50" kern="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4 · Advanced Spoken English · Module 3 — Debate &amp; Persuasion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10607040" y="6144768"/>
            <a:ext cx="1033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548640" y="1883664"/>
            <a:ext cx="11094415" cy="455676"/>
          </a:xfrm>
          <a:prstGeom prst="roundRect">
            <a:avLst>
              <a:gd name="adj" fmla="val 28094"/>
            </a:avLst>
          </a:prstGeom>
          <a:solidFill>
            <a:srgbClr val="EDF3EF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694944" y="1975104"/>
            <a:ext cx="1417320" cy="272796"/>
          </a:xfrm>
          <a:prstGeom prst="roundRect">
            <a:avLst>
              <a:gd name="adj" fmla="val 33520"/>
            </a:avLst>
          </a:prstGeom>
          <a:solidFill>
            <a:srgbClr val="6B7C71"/>
          </a:solidFill>
          <a:ln/>
        </p:spPr>
      </p:sp>
      <p:sp>
        <p:nvSpPr>
          <p:cNvPr id="13" name="Text 9"/>
          <p:cNvSpPr txBox="1"/>
          <p:nvPr/>
        </p:nvSpPr>
        <p:spPr>
          <a:xfrm>
            <a:off x="731520" y="1975104"/>
            <a:ext cx="1344168" cy="2727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CHALTU</a:t>
            </a:r>
            <a:endParaRPr lang="en-US" sz="1200" dirty="0"/>
          </a:p>
        </p:txBody>
      </p:sp>
      <p:sp>
        <p:nvSpPr>
          <p:cNvPr id="14" name="Text 10"/>
          <p:cNvSpPr txBox="1"/>
          <p:nvPr/>
        </p:nvSpPr>
        <p:spPr>
          <a:xfrm>
            <a:off x="2276856" y="1938528"/>
            <a:ext cx="9128455" cy="3459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position is that homework should be reduced — not abolished.</a:t>
            </a:r>
            <a:endParaRPr lang="en-US" sz="2000" dirty="0"/>
          </a:p>
        </p:txBody>
      </p:sp>
      <p:sp>
        <p:nvSpPr>
          <p:cNvPr id="15" name="Shape 11"/>
          <p:cNvSpPr/>
          <p:nvPr/>
        </p:nvSpPr>
        <p:spPr>
          <a:xfrm>
            <a:off x="548640" y="2439924"/>
            <a:ext cx="11094415" cy="455676"/>
          </a:xfrm>
          <a:prstGeom prst="roundRect">
            <a:avLst>
              <a:gd name="adj" fmla="val 28094"/>
            </a:avLst>
          </a:prstGeom>
          <a:solidFill>
            <a:srgbClr val="EDF3EF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694944" y="2531364"/>
            <a:ext cx="1417320" cy="272796"/>
          </a:xfrm>
          <a:prstGeom prst="roundRect">
            <a:avLst>
              <a:gd name="adj" fmla="val 33520"/>
            </a:avLst>
          </a:prstGeom>
          <a:solidFill>
            <a:srgbClr val="6B7C71"/>
          </a:solidFill>
          <a:ln/>
        </p:spPr>
      </p:sp>
      <p:sp>
        <p:nvSpPr>
          <p:cNvPr id="17" name="Text 13"/>
          <p:cNvSpPr txBox="1"/>
          <p:nvPr/>
        </p:nvSpPr>
        <p:spPr>
          <a:xfrm>
            <a:off x="731520" y="2531364"/>
            <a:ext cx="1344168" cy="2727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CHALTU</a:t>
            </a:r>
            <a:endParaRPr lang="en-US" sz="1200" dirty="0"/>
          </a:p>
        </p:txBody>
      </p:sp>
      <p:sp>
        <p:nvSpPr>
          <p:cNvPr id="18" name="Text 14"/>
          <p:cNvSpPr txBox="1"/>
          <p:nvPr/>
        </p:nvSpPr>
        <p:spPr>
          <a:xfrm>
            <a:off x="2276856" y="2494788"/>
            <a:ext cx="9128455" cy="3459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I'll show three things: it doesn't help beyond an hour, it widens the rich–poor gap, and there's a better option.</a:t>
            </a:r>
            <a:endParaRPr lang="en-US" sz="1250" dirty="0"/>
          </a:p>
        </p:txBody>
      </p:sp>
      <p:sp>
        <p:nvSpPr>
          <p:cNvPr id="19" name="Shape 15"/>
          <p:cNvSpPr/>
          <p:nvPr/>
        </p:nvSpPr>
        <p:spPr>
          <a:xfrm>
            <a:off x="548640" y="2996184"/>
            <a:ext cx="11094415" cy="455676"/>
          </a:xfrm>
          <a:prstGeom prst="roundRect">
            <a:avLst>
              <a:gd name="adj" fmla="val 28094"/>
            </a:avLst>
          </a:prstGeom>
          <a:solidFill>
            <a:srgbClr val="E7F3EF"/>
          </a:solidFill>
          <a:ln w="12700">
            <a:solidFill>
              <a:srgbClr val="C4E0D5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694944" y="3087624"/>
            <a:ext cx="1417320" cy="272796"/>
          </a:xfrm>
          <a:prstGeom prst="roundRect">
            <a:avLst>
              <a:gd name="adj" fmla="val 33520"/>
            </a:avLst>
          </a:prstGeom>
          <a:solidFill>
            <a:srgbClr val="0E7C5A"/>
          </a:solidFill>
          <a:ln/>
        </p:spPr>
      </p:sp>
      <p:sp>
        <p:nvSpPr>
          <p:cNvPr id="21" name="Text 17"/>
          <p:cNvSpPr txBox="1"/>
          <p:nvPr/>
        </p:nvSpPr>
        <p:spPr>
          <a:xfrm>
            <a:off x="731520" y="3087624"/>
            <a:ext cx="1344168" cy="2727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TOLOSA</a:t>
            </a:r>
            <a:endParaRPr lang="en-US" sz="1200" dirty="0"/>
          </a:p>
        </p:txBody>
      </p:sp>
      <p:sp>
        <p:nvSpPr>
          <p:cNvPr id="22" name="Text 18"/>
          <p:cNvSpPr txBox="1"/>
          <p:nvPr/>
        </p:nvSpPr>
        <p:spPr>
          <a:xfrm>
            <a:off x="2276856" y="3051048"/>
            <a:ext cx="9128455" cy="3459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 homework builds discipline. Every teacher knows that.</a:t>
            </a:r>
            <a:endParaRPr lang="en-US" sz="2000" dirty="0"/>
          </a:p>
        </p:txBody>
      </p:sp>
      <p:sp>
        <p:nvSpPr>
          <p:cNvPr id="23" name="Shape 19"/>
          <p:cNvSpPr/>
          <p:nvPr/>
        </p:nvSpPr>
        <p:spPr>
          <a:xfrm>
            <a:off x="548640" y="3552444"/>
            <a:ext cx="11094415" cy="455676"/>
          </a:xfrm>
          <a:prstGeom prst="roundRect">
            <a:avLst>
              <a:gd name="adj" fmla="val 28094"/>
            </a:avLst>
          </a:prstGeom>
          <a:solidFill>
            <a:srgbClr val="EDF3EF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24" name="Shape 20"/>
          <p:cNvSpPr/>
          <p:nvPr/>
        </p:nvSpPr>
        <p:spPr>
          <a:xfrm>
            <a:off x="694944" y="3643884"/>
            <a:ext cx="1417320" cy="272796"/>
          </a:xfrm>
          <a:prstGeom prst="roundRect">
            <a:avLst>
              <a:gd name="adj" fmla="val 33520"/>
            </a:avLst>
          </a:prstGeom>
          <a:solidFill>
            <a:srgbClr val="6B7C71"/>
          </a:solidFill>
          <a:ln/>
        </p:spPr>
      </p:sp>
      <p:sp>
        <p:nvSpPr>
          <p:cNvPr id="25" name="Text 21"/>
          <p:cNvSpPr txBox="1"/>
          <p:nvPr/>
        </p:nvSpPr>
        <p:spPr>
          <a:xfrm>
            <a:off x="731520" y="3643884"/>
            <a:ext cx="1344168" cy="2727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CHALTU</a:t>
            </a:r>
            <a:endParaRPr lang="en-US" sz="1200" dirty="0"/>
          </a:p>
        </p:txBody>
      </p:sp>
      <p:sp>
        <p:nvSpPr>
          <p:cNvPr id="26" name="Text 22"/>
          <p:cNvSpPr txBox="1"/>
          <p:nvPr/>
        </p:nvSpPr>
        <p:spPr>
          <a:xfrm>
            <a:off x="2276856" y="3607308"/>
            <a:ext cx="9128455" cy="3459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Their main claim is that homework builds discipline. Some of it probably does.</a:t>
            </a:r>
            <a:endParaRPr lang="en-US" sz="1800" dirty="0"/>
          </a:p>
        </p:txBody>
      </p:sp>
      <p:sp>
        <p:nvSpPr>
          <p:cNvPr id="27" name="Shape 23"/>
          <p:cNvSpPr/>
          <p:nvPr/>
        </p:nvSpPr>
        <p:spPr>
          <a:xfrm>
            <a:off x="548640" y="4108704"/>
            <a:ext cx="11094415" cy="455676"/>
          </a:xfrm>
          <a:prstGeom prst="roundRect">
            <a:avLst>
              <a:gd name="adj" fmla="val 28094"/>
            </a:avLst>
          </a:prstGeom>
          <a:solidFill>
            <a:srgbClr val="EDF3EF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28" name="Shape 24"/>
          <p:cNvSpPr/>
          <p:nvPr/>
        </p:nvSpPr>
        <p:spPr>
          <a:xfrm>
            <a:off x="694944" y="4200144"/>
            <a:ext cx="1417320" cy="272796"/>
          </a:xfrm>
          <a:prstGeom prst="roundRect">
            <a:avLst>
              <a:gd name="adj" fmla="val 33520"/>
            </a:avLst>
          </a:prstGeom>
          <a:solidFill>
            <a:srgbClr val="6B7C71"/>
          </a:solidFill>
          <a:ln/>
        </p:spPr>
      </p:sp>
      <p:sp>
        <p:nvSpPr>
          <p:cNvPr id="29" name="Text 25"/>
          <p:cNvSpPr txBox="1"/>
          <p:nvPr/>
        </p:nvSpPr>
        <p:spPr>
          <a:xfrm>
            <a:off x="731520" y="4200144"/>
            <a:ext cx="1344168" cy="2727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CHALTU</a:t>
            </a:r>
            <a:endParaRPr lang="en-US" sz="1200" dirty="0"/>
          </a:p>
        </p:txBody>
      </p:sp>
      <p:sp>
        <p:nvSpPr>
          <p:cNvPr id="30" name="Text 26"/>
          <p:cNvSpPr txBox="1"/>
          <p:nvPr/>
        </p:nvSpPr>
        <p:spPr>
          <a:xfrm>
            <a:off x="2276856" y="4163568"/>
            <a:ext cx="9128455" cy="3459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 they've given us no figures at all — and no evidence that three hours does more than one.</a:t>
            </a:r>
            <a:endParaRPr lang="en-US" sz="1500" dirty="0"/>
          </a:p>
        </p:txBody>
      </p:sp>
      <p:sp>
        <p:nvSpPr>
          <p:cNvPr id="31" name="Shape 27"/>
          <p:cNvSpPr/>
          <p:nvPr/>
        </p:nvSpPr>
        <p:spPr>
          <a:xfrm>
            <a:off x="548640" y="4664964"/>
            <a:ext cx="11094415" cy="455676"/>
          </a:xfrm>
          <a:prstGeom prst="roundRect">
            <a:avLst>
              <a:gd name="adj" fmla="val 28094"/>
            </a:avLst>
          </a:prstGeom>
          <a:solidFill>
            <a:srgbClr val="EDF3EF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32" name="Shape 28"/>
          <p:cNvSpPr/>
          <p:nvPr/>
        </p:nvSpPr>
        <p:spPr>
          <a:xfrm>
            <a:off x="694944" y="4756404"/>
            <a:ext cx="1417320" cy="272796"/>
          </a:xfrm>
          <a:prstGeom prst="roundRect">
            <a:avLst>
              <a:gd name="adj" fmla="val 33520"/>
            </a:avLst>
          </a:prstGeom>
          <a:solidFill>
            <a:srgbClr val="6B7C71"/>
          </a:solidFill>
          <a:ln/>
        </p:spPr>
      </p:sp>
      <p:sp>
        <p:nvSpPr>
          <p:cNvPr id="33" name="Text 29"/>
          <p:cNvSpPr txBox="1"/>
          <p:nvPr/>
        </p:nvSpPr>
        <p:spPr>
          <a:xfrm>
            <a:off x="731520" y="4756404"/>
            <a:ext cx="1344168" cy="2727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CHALTU</a:t>
            </a:r>
            <a:endParaRPr lang="en-US" sz="1200" dirty="0"/>
          </a:p>
        </p:txBody>
      </p:sp>
      <p:sp>
        <p:nvSpPr>
          <p:cNvPr id="34" name="Text 30"/>
          <p:cNvSpPr txBox="1"/>
          <p:nvPr/>
        </p:nvSpPr>
        <p:spPr>
          <a:xfrm>
            <a:off x="2276856" y="4719828"/>
            <a:ext cx="9128455" cy="3459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means their own case supports ours: reduced, not abolished.</a:t>
            </a:r>
            <a:endParaRPr lang="en-US" sz="2000" dirty="0"/>
          </a:p>
        </p:txBody>
      </p:sp>
      <p:sp>
        <p:nvSpPr>
          <p:cNvPr id="35" name="Shape 31"/>
          <p:cNvSpPr/>
          <p:nvPr/>
        </p:nvSpPr>
        <p:spPr>
          <a:xfrm>
            <a:off x="548640" y="5266944"/>
            <a:ext cx="11094415" cy="676656"/>
          </a:xfrm>
          <a:prstGeom prst="roundRect">
            <a:avLst>
              <a:gd name="adj" fmla="val 18919"/>
            </a:avLst>
          </a:prstGeom>
          <a:solidFill>
            <a:srgbClr val="FDF3E7"/>
          </a:solidFill>
          <a:ln w="12700">
            <a:solidFill>
              <a:srgbClr val="EFDCB2"/>
            </a:solidFill>
            <a:prstDash val="solid"/>
          </a:ln>
        </p:spPr>
      </p:sp>
      <p:sp>
        <p:nvSpPr>
          <p:cNvPr id="36" name="Text 32"/>
          <p:cNvSpPr txBox="1"/>
          <p:nvPr/>
        </p:nvSpPr>
        <p:spPr>
          <a:xfrm>
            <a:off x="786384" y="5266944"/>
            <a:ext cx="10618927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Narrow the position · preview three · name their claim · concede · attack the weak point · turn it around.</a:t>
            </a:r>
            <a:endParaRPr lang="en-US" sz="15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38912"/>
            <a:ext cx="2391156" cy="420624"/>
          </a:xfrm>
          <a:prstGeom prst="roundRect">
            <a:avLst>
              <a:gd name="adj" fmla="val 50000"/>
            </a:avLst>
          </a:prstGeom>
          <a:solidFill>
            <a:srgbClr val="E4572E"/>
          </a:solidFill>
          <a:ln/>
        </p:spPr>
      </p:sp>
      <p:sp>
        <p:nvSpPr>
          <p:cNvPr id="3" name="Shape 1"/>
          <p:cNvSpPr/>
          <p:nvPr/>
        </p:nvSpPr>
        <p:spPr>
          <a:xfrm>
            <a:off x="649224" y="539496"/>
            <a:ext cx="219456" cy="219456"/>
          </a:xfrm>
          <a:prstGeom prst="ellipse">
            <a:avLst/>
          </a:prstGeom>
          <a:solidFill>
            <a:srgbClr val="E4572E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" y="539496"/>
            <a:ext cx="219456" cy="21945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932688" y="438912"/>
            <a:ext cx="18973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CONVERSATION 2 OF 5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896112"/>
            <a:ext cx="10972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 questions, handled</a:t>
            </a:r>
            <a:endParaRPr lang="en-US" sz="38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536192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questions. Yonas uses three different techniques.</a:t>
            </a:r>
            <a:endParaRPr lang="en-US" sz="165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6144768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50" kern="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4 · Advanced Spoken English · Module 3 — Debate &amp; Persuasion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10607040" y="6144768"/>
            <a:ext cx="1033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548640" y="1883664"/>
            <a:ext cx="11094415" cy="455676"/>
          </a:xfrm>
          <a:prstGeom prst="roundRect">
            <a:avLst>
              <a:gd name="adj" fmla="val 28094"/>
            </a:avLst>
          </a:prstGeom>
          <a:solidFill>
            <a:srgbClr val="E7F3EF"/>
          </a:solidFill>
          <a:ln w="12700">
            <a:solidFill>
              <a:srgbClr val="C4E0D5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694944" y="1975104"/>
            <a:ext cx="1417320" cy="272796"/>
          </a:xfrm>
          <a:prstGeom prst="roundRect">
            <a:avLst>
              <a:gd name="adj" fmla="val 33520"/>
            </a:avLst>
          </a:prstGeom>
          <a:solidFill>
            <a:srgbClr val="0E7C5A"/>
          </a:solidFill>
          <a:ln/>
        </p:spPr>
      </p:sp>
      <p:sp>
        <p:nvSpPr>
          <p:cNvPr id="13" name="Text 9"/>
          <p:cNvSpPr txBox="1"/>
          <p:nvPr/>
        </p:nvSpPr>
        <p:spPr>
          <a:xfrm>
            <a:off x="731520" y="1975104"/>
            <a:ext cx="1344168" cy="2727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QUESTIONER</a:t>
            </a:r>
            <a:endParaRPr lang="en-US" sz="1200" dirty="0"/>
          </a:p>
        </p:txBody>
      </p:sp>
      <p:sp>
        <p:nvSpPr>
          <p:cNvPr id="14" name="Text 10"/>
          <p:cNvSpPr txBox="1"/>
          <p:nvPr/>
        </p:nvSpPr>
        <p:spPr>
          <a:xfrm>
            <a:off x="2276856" y="1938528"/>
            <a:ext cx="9128455" cy="3459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percentage of students actually have electricity at home?</a:t>
            </a:r>
            <a:endParaRPr lang="en-US" sz="2000" dirty="0"/>
          </a:p>
        </p:txBody>
      </p:sp>
      <p:sp>
        <p:nvSpPr>
          <p:cNvPr id="15" name="Shape 11"/>
          <p:cNvSpPr/>
          <p:nvPr/>
        </p:nvSpPr>
        <p:spPr>
          <a:xfrm>
            <a:off x="548640" y="2439924"/>
            <a:ext cx="11094415" cy="455676"/>
          </a:xfrm>
          <a:prstGeom prst="roundRect">
            <a:avLst>
              <a:gd name="adj" fmla="val 28094"/>
            </a:avLst>
          </a:prstGeom>
          <a:solidFill>
            <a:srgbClr val="EDF3EF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694944" y="2531364"/>
            <a:ext cx="1417320" cy="272796"/>
          </a:xfrm>
          <a:prstGeom prst="roundRect">
            <a:avLst>
              <a:gd name="adj" fmla="val 33520"/>
            </a:avLst>
          </a:prstGeom>
          <a:solidFill>
            <a:srgbClr val="6B7C71"/>
          </a:solidFill>
          <a:ln/>
        </p:spPr>
      </p:sp>
      <p:sp>
        <p:nvSpPr>
          <p:cNvPr id="17" name="Text 13"/>
          <p:cNvSpPr txBox="1"/>
          <p:nvPr/>
        </p:nvSpPr>
        <p:spPr>
          <a:xfrm>
            <a:off x="731520" y="2531364"/>
            <a:ext cx="1344168" cy="2727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YONAS</a:t>
            </a:r>
            <a:endParaRPr lang="en-US" sz="1200" dirty="0"/>
          </a:p>
        </p:txBody>
      </p:sp>
      <p:sp>
        <p:nvSpPr>
          <p:cNvPr id="18" name="Text 14"/>
          <p:cNvSpPr txBox="1"/>
          <p:nvPr/>
        </p:nvSpPr>
        <p:spPr>
          <a:xfrm>
            <a:off x="2276856" y="2494788"/>
            <a:ext cx="9128455" cy="3459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don't have that figure. It doesn't change the main point, which is that some don't — and homework assumes they all do.</a:t>
            </a:r>
            <a:endParaRPr lang="en-US" sz="1200" dirty="0"/>
          </a:p>
        </p:txBody>
      </p:sp>
      <p:sp>
        <p:nvSpPr>
          <p:cNvPr id="19" name="Shape 15"/>
          <p:cNvSpPr/>
          <p:nvPr/>
        </p:nvSpPr>
        <p:spPr>
          <a:xfrm>
            <a:off x="548640" y="2996184"/>
            <a:ext cx="11094415" cy="455676"/>
          </a:xfrm>
          <a:prstGeom prst="roundRect">
            <a:avLst>
              <a:gd name="adj" fmla="val 28094"/>
            </a:avLst>
          </a:prstGeom>
          <a:solidFill>
            <a:srgbClr val="E7F3EF"/>
          </a:solidFill>
          <a:ln w="12700">
            <a:solidFill>
              <a:srgbClr val="C4E0D5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694944" y="3087624"/>
            <a:ext cx="1417320" cy="272796"/>
          </a:xfrm>
          <a:prstGeom prst="roundRect">
            <a:avLst>
              <a:gd name="adj" fmla="val 33520"/>
            </a:avLst>
          </a:prstGeom>
          <a:solidFill>
            <a:srgbClr val="0E7C5A"/>
          </a:solidFill>
          <a:ln/>
        </p:spPr>
      </p:sp>
      <p:sp>
        <p:nvSpPr>
          <p:cNvPr id="21" name="Text 17"/>
          <p:cNvSpPr txBox="1"/>
          <p:nvPr/>
        </p:nvSpPr>
        <p:spPr>
          <a:xfrm>
            <a:off x="731520" y="3087624"/>
            <a:ext cx="1344168" cy="2727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QUESTIONER</a:t>
            </a:r>
            <a:endParaRPr lang="en-US" sz="1200" dirty="0"/>
          </a:p>
        </p:txBody>
      </p:sp>
      <p:sp>
        <p:nvSpPr>
          <p:cNvPr id="22" name="Text 18"/>
          <p:cNvSpPr txBox="1"/>
          <p:nvPr/>
        </p:nvSpPr>
        <p:spPr>
          <a:xfrm>
            <a:off x="2276856" y="3051048"/>
            <a:ext cx="9128455" cy="3459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you're saying teachers shouldn't set any work at all?</a:t>
            </a:r>
            <a:endParaRPr lang="en-US" sz="2000" dirty="0"/>
          </a:p>
        </p:txBody>
      </p:sp>
      <p:sp>
        <p:nvSpPr>
          <p:cNvPr id="23" name="Shape 19"/>
          <p:cNvSpPr/>
          <p:nvPr/>
        </p:nvSpPr>
        <p:spPr>
          <a:xfrm>
            <a:off x="548640" y="3552444"/>
            <a:ext cx="11094415" cy="455676"/>
          </a:xfrm>
          <a:prstGeom prst="roundRect">
            <a:avLst>
              <a:gd name="adj" fmla="val 28094"/>
            </a:avLst>
          </a:prstGeom>
          <a:solidFill>
            <a:srgbClr val="EDF3EF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24" name="Shape 20"/>
          <p:cNvSpPr/>
          <p:nvPr/>
        </p:nvSpPr>
        <p:spPr>
          <a:xfrm>
            <a:off x="694944" y="3643884"/>
            <a:ext cx="1417320" cy="272796"/>
          </a:xfrm>
          <a:prstGeom prst="roundRect">
            <a:avLst>
              <a:gd name="adj" fmla="val 33520"/>
            </a:avLst>
          </a:prstGeom>
          <a:solidFill>
            <a:srgbClr val="6B7C71"/>
          </a:solidFill>
          <a:ln/>
        </p:spPr>
      </p:sp>
      <p:sp>
        <p:nvSpPr>
          <p:cNvPr id="25" name="Text 21"/>
          <p:cNvSpPr txBox="1"/>
          <p:nvPr/>
        </p:nvSpPr>
        <p:spPr>
          <a:xfrm>
            <a:off x="731520" y="3643884"/>
            <a:ext cx="1344168" cy="2727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YONAS</a:t>
            </a:r>
            <a:endParaRPr lang="en-US" sz="1200" dirty="0"/>
          </a:p>
        </p:txBody>
      </p:sp>
      <p:sp>
        <p:nvSpPr>
          <p:cNvPr id="26" name="Text 22"/>
          <p:cNvSpPr txBox="1"/>
          <p:nvPr/>
        </p:nvSpPr>
        <p:spPr>
          <a:xfrm>
            <a:off x="2276856" y="3607308"/>
            <a:ext cx="9128455" cy="3459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assumes reducing means abolishing, and I'd question that. Our position has been reduced, not abolished.</a:t>
            </a:r>
            <a:endParaRPr lang="en-US" sz="1300" dirty="0"/>
          </a:p>
        </p:txBody>
      </p:sp>
      <p:sp>
        <p:nvSpPr>
          <p:cNvPr id="27" name="Shape 23"/>
          <p:cNvSpPr/>
          <p:nvPr/>
        </p:nvSpPr>
        <p:spPr>
          <a:xfrm>
            <a:off x="548640" y="4108704"/>
            <a:ext cx="11094415" cy="455676"/>
          </a:xfrm>
          <a:prstGeom prst="roundRect">
            <a:avLst>
              <a:gd name="adj" fmla="val 28094"/>
            </a:avLst>
          </a:prstGeom>
          <a:solidFill>
            <a:srgbClr val="E7F3EF"/>
          </a:solidFill>
          <a:ln w="12700">
            <a:solidFill>
              <a:srgbClr val="C4E0D5"/>
            </a:solidFill>
            <a:prstDash val="solid"/>
          </a:ln>
        </p:spPr>
      </p:sp>
      <p:sp>
        <p:nvSpPr>
          <p:cNvPr id="28" name="Shape 24"/>
          <p:cNvSpPr/>
          <p:nvPr/>
        </p:nvSpPr>
        <p:spPr>
          <a:xfrm>
            <a:off x="694944" y="4200144"/>
            <a:ext cx="1417320" cy="272796"/>
          </a:xfrm>
          <a:prstGeom prst="roundRect">
            <a:avLst>
              <a:gd name="adj" fmla="val 33520"/>
            </a:avLst>
          </a:prstGeom>
          <a:solidFill>
            <a:srgbClr val="0E7C5A"/>
          </a:solidFill>
          <a:ln/>
        </p:spPr>
      </p:sp>
      <p:sp>
        <p:nvSpPr>
          <p:cNvPr id="29" name="Text 25"/>
          <p:cNvSpPr txBox="1"/>
          <p:nvPr/>
        </p:nvSpPr>
        <p:spPr>
          <a:xfrm>
            <a:off x="731520" y="4200144"/>
            <a:ext cx="1344168" cy="2727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QUESTIONER</a:t>
            </a:r>
            <a:endParaRPr lang="en-US" sz="1200" dirty="0"/>
          </a:p>
        </p:txBody>
      </p:sp>
      <p:sp>
        <p:nvSpPr>
          <p:cNvPr id="30" name="Text 26"/>
          <p:cNvSpPr txBox="1"/>
          <p:nvPr/>
        </p:nvSpPr>
        <p:spPr>
          <a:xfrm>
            <a:off x="2276856" y="4163568"/>
            <a:ext cx="9128455" cy="3459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what about exam results in private schools?</a:t>
            </a:r>
            <a:endParaRPr lang="en-US" sz="2000" dirty="0"/>
          </a:p>
        </p:txBody>
      </p:sp>
      <p:sp>
        <p:nvSpPr>
          <p:cNvPr id="31" name="Shape 27"/>
          <p:cNvSpPr/>
          <p:nvPr/>
        </p:nvSpPr>
        <p:spPr>
          <a:xfrm>
            <a:off x="548640" y="4664964"/>
            <a:ext cx="11094415" cy="455676"/>
          </a:xfrm>
          <a:prstGeom prst="roundRect">
            <a:avLst>
              <a:gd name="adj" fmla="val 28094"/>
            </a:avLst>
          </a:prstGeom>
          <a:solidFill>
            <a:srgbClr val="EDF3EF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32" name="Shape 28"/>
          <p:cNvSpPr/>
          <p:nvPr/>
        </p:nvSpPr>
        <p:spPr>
          <a:xfrm>
            <a:off x="694944" y="4756404"/>
            <a:ext cx="1417320" cy="272796"/>
          </a:xfrm>
          <a:prstGeom prst="roundRect">
            <a:avLst>
              <a:gd name="adj" fmla="val 33520"/>
            </a:avLst>
          </a:prstGeom>
          <a:solidFill>
            <a:srgbClr val="6B7C71"/>
          </a:solidFill>
          <a:ln/>
        </p:spPr>
      </p:sp>
      <p:sp>
        <p:nvSpPr>
          <p:cNvPr id="33" name="Text 29"/>
          <p:cNvSpPr txBox="1"/>
          <p:nvPr/>
        </p:nvSpPr>
        <p:spPr>
          <a:xfrm>
            <a:off x="731520" y="4756404"/>
            <a:ext cx="1344168" cy="2727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YONAS</a:t>
            </a:r>
            <a:endParaRPr lang="en-US" sz="1200" dirty="0"/>
          </a:p>
        </p:txBody>
      </p:sp>
      <p:sp>
        <p:nvSpPr>
          <p:cNvPr id="34" name="Text 30"/>
          <p:cNvSpPr txBox="1"/>
          <p:nvPr/>
        </p:nvSpPr>
        <p:spPr>
          <a:xfrm>
            <a:off x="2276856" y="4719828"/>
            <a:ext cx="9128455" cy="3459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That's a fair question — let me take it in two parts.</a:t>
            </a:r>
            <a:endParaRPr lang="en-US" sz="2000" dirty="0"/>
          </a:p>
        </p:txBody>
      </p:sp>
      <p:sp>
        <p:nvSpPr>
          <p:cNvPr id="35" name="Shape 31"/>
          <p:cNvSpPr/>
          <p:nvPr/>
        </p:nvSpPr>
        <p:spPr>
          <a:xfrm>
            <a:off x="548640" y="5266944"/>
            <a:ext cx="11094415" cy="676656"/>
          </a:xfrm>
          <a:prstGeom prst="roundRect">
            <a:avLst>
              <a:gd name="adj" fmla="val 18919"/>
            </a:avLst>
          </a:prstGeom>
          <a:solidFill>
            <a:srgbClr val="FDF3E7"/>
          </a:solidFill>
          <a:ln w="12700">
            <a:solidFill>
              <a:srgbClr val="EFDCB2"/>
            </a:solidFill>
            <a:prstDash val="solid"/>
          </a:ln>
        </p:spPr>
      </p:sp>
      <p:sp>
        <p:nvSpPr>
          <p:cNvPr id="36" name="Text 32"/>
          <p:cNvSpPr txBox="1"/>
          <p:nvPr/>
        </p:nvSpPr>
        <p:spPr>
          <a:xfrm>
            <a:off x="786384" y="5266944"/>
            <a:ext cx="10618927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Don't know plus redirect · name the false premise · buy time and impose structure. Three questions, three techniques.</a:t>
            </a:r>
            <a:endParaRPr lang="en-US" sz="15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38912"/>
            <a:ext cx="2391156" cy="420624"/>
          </a:xfrm>
          <a:prstGeom prst="roundRect">
            <a:avLst>
              <a:gd name="adj" fmla="val 50000"/>
            </a:avLst>
          </a:prstGeom>
          <a:solidFill>
            <a:srgbClr val="E4572E"/>
          </a:solidFill>
          <a:ln/>
        </p:spPr>
      </p:sp>
      <p:sp>
        <p:nvSpPr>
          <p:cNvPr id="3" name="Shape 1"/>
          <p:cNvSpPr/>
          <p:nvPr/>
        </p:nvSpPr>
        <p:spPr>
          <a:xfrm>
            <a:off x="649224" y="539496"/>
            <a:ext cx="219456" cy="219456"/>
          </a:xfrm>
          <a:prstGeom prst="ellipse">
            <a:avLst/>
          </a:prstGeom>
          <a:solidFill>
            <a:srgbClr val="E4572E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" y="539496"/>
            <a:ext cx="219456" cy="21945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932688" y="438912"/>
            <a:ext cx="18973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CONVERSATION 3 OF 5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896112"/>
            <a:ext cx="10972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phrases that carry a debate</a:t>
            </a:r>
            <a:endParaRPr lang="en-US" sz="26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536192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chunks. Memorise them — there is no time to build them live.</a:t>
            </a:r>
            <a:endParaRPr lang="en-US" sz="165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6144768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50" kern="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4 · Advanced Spoken English · Module 3 — Debate &amp; Persuasion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10607040" y="6144768"/>
            <a:ext cx="1033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548640" y="1883664"/>
            <a:ext cx="3564026" cy="1929384"/>
          </a:xfrm>
          <a:prstGeom prst="roundRect">
            <a:avLst>
              <a:gd name="adj" fmla="val 6635"/>
            </a:avLst>
          </a:prstGeom>
          <a:solidFill>
            <a:srgbClr val="FDEDE8"/>
          </a:solidFill>
          <a:ln w="12700">
            <a:solidFill>
              <a:srgbClr val="F3C9BB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768096" y="2103120"/>
            <a:ext cx="457200" cy="457200"/>
          </a:xfrm>
          <a:prstGeom prst="ellipse">
            <a:avLst/>
          </a:prstGeom>
          <a:solidFill>
            <a:srgbClr val="E4572E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2396" y="2217420"/>
            <a:ext cx="228600" cy="22860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768096" y="2706624"/>
            <a:ext cx="3125114" cy="923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75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“Our position is that…”</a:t>
            </a:r>
            <a:endParaRPr lang="en-US" sz="1750" dirty="0"/>
          </a:p>
          <a:p>
            <a:pPr indent="0" marL="0">
              <a:lnSpc>
                <a:spcPct val="102000"/>
              </a:lnSpc>
              <a:spcBef>
                <a:spcPts val="378"/>
              </a:spcBef>
              <a:buNone/>
            </a:pPr>
            <a:r>
              <a:rPr lang="en-US" sz="142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Narrow it deliberately in sentence one.</a:t>
            </a:r>
            <a:endParaRPr lang="en-US" sz="1750" dirty="0"/>
          </a:p>
        </p:txBody>
      </p:sp>
      <p:sp>
        <p:nvSpPr>
          <p:cNvPr id="15" name="Shape 10"/>
          <p:cNvSpPr/>
          <p:nvPr/>
        </p:nvSpPr>
        <p:spPr>
          <a:xfrm>
            <a:off x="4313834" y="1883664"/>
            <a:ext cx="3564026" cy="1929384"/>
          </a:xfrm>
          <a:prstGeom prst="roundRect">
            <a:avLst>
              <a:gd name="adj" fmla="val 6635"/>
            </a:avLst>
          </a:prstGeom>
          <a:solidFill>
            <a:srgbClr val="FDEDE8"/>
          </a:solidFill>
          <a:ln w="12700">
            <a:solidFill>
              <a:srgbClr val="F3C9BB"/>
            </a:solidFill>
            <a:prstDash val="solid"/>
          </a:ln>
        </p:spPr>
      </p:sp>
      <p:sp>
        <p:nvSpPr>
          <p:cNvPr id="16" name="Shape 11"/>
          <p:cNvSpPr/>
          <p:nvPr/>
        </p:nvSpPr>
        <p:spPr>
          <a:xfrm>
            <a:off x="4533290" y="2103120"/>
            <a:ext cx="457200" cy="457200"/>
          </a:xfrm>
          <a:prstGeom prst="ellipse">
            <a:avLst/>
          </a:prstGeom>
          <a:solidFill>
            <a:srgbClr val="E4572E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47590" y="2217420"/>
            <a:ext cx="228600" cy="22860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4533290" y="2706624"/>
            <a:ext cx="3125114" cy="923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65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“That rests on a false premise.”</a:t>
            </a:r>
            <a:endParaRPr lang="en-US" sz="1650" dirty="0"/>
          </a:p>
          <a:p>
            <a:pPr indent="0" marL="0">
              <a:lnSpc>
                <a:spcPct val="102000"/>
              </a:lnSpc>
              <a:spcBef>
                <a:spcPts val="357"/>
              </a:spcBef>
              <a:buNone/>
            </a:pPr>
            <a:r>
              <a:rPr lang="en-US" sz="134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strongest precise attack.</a:t>
            </a:r>
            <a:endParaRPr lang="en-US" sz="1650" dirty="0"/>
          </a:p>
        </p:txBody>
      </p:sp>
      <p:sp>
        <p:nvSpPr>
          <p:cNvPr id="19" name="Shape 13"/>
          <p:cNvSpPr/>
          <p:nvPr/>
        </p:nvSpPr>
        <p:spPr>
          <a:xfrm>
            <a:off x="8079029" y="1883664"/>
            <a:ext cx="3564026" cy="1929384"/>
          </a:xfrm>
          <a:prstGeom prst="roundRect">
            <a:avLst>
              <a:gd name="adj" fmla="val 6635"/>
            </a:avLst>
          </a:prstGeom>
          <a:solidFill>
            <a:srgbClr val="FDEDE8"/>
          </a:solidFill>
          <a:ln w="12700">
            <a:solidFill>
              <a:srgbClr val="F3C9BB"/>
            </a:solidFill>
            <a:prstDash val="solid"/>
          </a:ln>
        </p:spPr>
      </p:sp>
      <p:sp>
        <p:nvSpPr>
          <p:cNvPr id="20" name="Shape 14"/>
          <p:cNvSpPr/>
          <p:nvPr/>
        </p:nvSpPr>
        <p:spPr>
          <a:xfrm>
            <a:off x="8298485" y="2103120"/>
            <a:ext cx="457200" cy="457200"/>
          </a:xfrm>
          <a:prstGeom prst="ellipse">
            <a:avLst/>
          </a:prstGeom>
          <a:solidFill>
            <a:srgbClr val="E4572E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12785" y="2217420"/>
            <a:ext cx="228600" cy="228600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8298485" y="2706624"/>
            <a:ext cx="3125114" cy="923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48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“That actually supports our case.”</a:t>
            </a:r>
            <a:endParaRPr lang="en-US" sz="1480" dirty="0"/>
          </a:p>
          <a:p>
            <a:pPr indent="0" marL="0">
              <a:lnSpc>
                <a:spcPct val="102000"/>
              </a:lnSpc>
              <a:spcBef>
                <a:spcPts val="320"/>
              </a:spcBef>
              <a:buNone/>
            </a:pPr>
            <a:r>
              <a:rPr lang="en-US" sz="12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turnaround. The best rebuttal there is.</a:t>
            </a:r>
            <a:endParaRPr lang="en-US" sz="1480" dirty="0"/>
          </a:p>
        </p:txBody>
      </p:sp>
      <p:sp>
        <p:nvSpPr>
          <p:cNvPr id="23" name="Shape 16"/>
          <p:cNvSpPr/>
          <p:nvPr/>
        </p:nvSpPr>
        <p:spPr>
          <a:xfrm>
            <a:off x="548640" y="4014216"/>
            <a:ext cx="3564026" cy="1929384"/>
          </a:xfrm>
          <a:prstGeom prst="roundRect">
            <a:avLst>
              <a:gd name="adj" fmla="val 6635"/>
            </a:avLst>
          </a:prstGeom>
          <a:solidFill>
            <a:srgbClr val="FDEDE8"/>
          </a:solidFill>
          <a:ln w="12700">
            <a:solidFill>
              <a:srgbClr val="F3C9BB"/>
            </a:solidFill>
            <a:prstDash val="solid"/>
          </a:ln>
        </p:spPr>
      </p:sp>
      <p:sp>
        <p:nvSpPr>
          <p:cNvPr id="24" name="Shape 17"/>
          <p:cNvSpPr/>
          <p:nvPr/>
        </p:nvSpPr>
        <p:spPr>
          <a:xfrm>
            <a:off x="768096" y="4233672"/>
            <a:ext cx="457200" cy="457200"/>
          </a:xfrm>
          <a:prstGeom prst="ellipse">
            <a:avLst/>
          </a:prstGeom>
          <a:solidFill>
            <a:srgbClr val="E4572E"/>
          </a:solidFill>
          <a:ln/>
        </p:spPr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2396" y="4347972"/>
            <a:ext cx="228600" cy="228600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768096" y="4837176"/>
            <a:ext cx="3125114" cy="923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6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“Let me take it in two parts.”</a:t>
            </a:r>
            <a:endParaRPr lang="en-US" sz="1600" dirty="0"/>
          </a:p>
          <a:p>
            <a:pPr indent="0" marL="0">
              <a:lnSpc>
                <a:spcPct val="102000"/>
              </a:lnSpc>
              <a:spcBef>
                <a:spcPts val="346"/>
              </a:spcBef>
              <a:buNone/>
            </a:pPr>
            <a:r>
              <a:rPr lang="en-US" sz="13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Buys time and imposes structure.</a:t>
            </a:r>
            <a:endParaRPr lang="en-US" sz="1600" dirty="0"/>
          </a:p>
        </p:txBody>
      </p:sp>
      <p:sp>
        <p:nvSpPr>
          <p:cNvPr id="27" name="Shape 19"/>
          <p:cNvSpPr/>
          <p:nvPr/>
        </p:nvSpPr>
        <p:spPr>
          <a:xfrm>
            <a:off x="4313834" y="4014216"/>
            <a:ext cx="3564026" cy="1929384"/>
          </a:xfrm>
          <a:prstGeom prst="roundRect">
            <a:avLst>
              <a:gd name="adj" fmla="val 6635"/>
            </a:avLst>
          </a:prstGeom>
          <a:solidFill>
            <a:srgbClr val="FDEDE8"/>
          </a:solidFill>
          <a:ln w="12700">
            <a:solidFill>
              <a:srgbClr val="F3C9BB"/>
            </a:solidFill>
            <a:prstDash val="solid"/>
          </a:ln>
        </p:spPr>
      </p:sp>
      <p:sp>
        <p:nvSpPr>
          <p:cNvPr id="28" name="Shape 20"/>
          <p:cNvSpPr/>
          <p:nvPr/>
        </p:nvSpPr>
        <p:spPr>
          <a:xfrm>
            <a:off x="4533290" y="4233672"/>
            <a:ext cx="457200" cy="457200"/>
          </a:xfrm>
          <a:prstGeom prst="ellipse">
            <a:avLst/>
          </a:prstGeom>
          <a:solidFill>
            <a:srgbClr val="E4572E"/>
          </a:solidFill>
          <a:ln/>
        </p:spPr>
      </p:sp>
      <p:pic>
        <p:nvPicPr>
          <p:cNvPr id="2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47590" y="4347972"/>
            <a:ext cx="228600" cy="228600"/>
          </a:xfrm>
          <a:prstGeom prst="rect">
            <a:avLst/>
          </a:prstGeom>
        </p:spPr>
      </p:pic>
      <p:sp>
        <p:nvSpPr>
          <p:cNvPr id="30" name="Text 21"/>
          <p:cNvSpPr/>
          <p:nvPr/>
        </p:nvSpPr>
        <p:spPr>
          <a:xfrm>
            <a:off x="4533290" y="4837176"/>
            <a:ext cx="3125114" cy="923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65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“You're right about that. It leaves…”</a:t>
            </a:r>
            <a:endParaRPr lang="en-US" sz="1650" dirty="0"/>
          </a:p>
          <a:p>
            <a:pPr indent="0" marL="0">
              <a:lnSpc>
                <a:spcPct val="102000"/>
              </a:lnSpc>
              <a:spcBef>
                <a:spcPts val="357"/>
              </a:spcBef>
              <a:buNone/>
            </a:pPr>
            <a:r>
              <a:rPr lang="en-US" sz="134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Concede and bound the damage.</a:t>
            </a:r>
            <a:endParaRPr lang="en-US" sz="1650" dirty="0"/>
          </a:p>
        </p:txBody>
      </p:sp>
      <p:sp>
        <p:nvSpPr>
          <p:cNvPr id="31" name="Shape 22"/>
          <p:cNvSpPr/>
          <p:nvPr/>
        </p:nvSpPr>
        <p:spPr>
          <a:xfrm>
            <a:off x="8079029" y="4014216"/>
            <a:ext cx="3564026" cy="1929384"/>
          </a:xfrm>
          <a:prstGeom prst="roundRect">
            <a:avLst>
              <a:gd name="adj" fmla="val 6635"/>
            </a:avLst>
          </a:prstGeom>
          <a:solidFill>
            <a:srgbClr val="FDEDE8"/>
          </a:solidFill>
          <a:ln w="12700">
            <a:solidFill>
              <a:srgbClr val="F3C9BB"/>
            </a:solidFill>
            <a:prstDash val="solid"/>
          </a:ln>
        </p:spPr>
      </p:sp>
      <p:sp>
        <p:nvSpPr>
          <p:cNvPr id="32" name="Shape 23"/>
          <p:cNvSpPr/>
          <p:nvPr/>
        </p:nvSpPr>
        <p:spPr>
          <a:xfrm>
            <a:off x="8298485" y="4233672"/>
            <a:ext cx="457200" cy="457200"/>
          </a:xfrm>
          <a:prstGeom prst="ellipse">
            <a:avLst/>
          </a:prstGeom>
          <a:solidFill>
            <a:srgbClr val="E4572E"/>
          </a:solidFill>
          <a:ln/>
        </p:spPr>
      </p:sp>
      <p:pic>
        <p:nvPicPr>
          <p:cNvPr id="33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12785" y="4347972"/>
            <a:ext cx="228600" cy="228600"/>
          </a:xfrm>
          <a:prstGeom prst="rect">
            <a:avLst/>
          </a:prstGeom>
        </p:spPr>
      </p:pic>
      <p:sp>
        <p:nvSpPr>
          <p:cNvPr id="34" name="Text 24"/>
          <p:cNvSpPr/>
          <p:nvPr/>
        </p:nvSpPr>
        <p:spPr>
          <a:xfrm>
            <a:off x="8298485" y="4837176"/>
            <a:ext cx="3125114" cy="923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75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“What's at stake here is…”</a:t>
            </a:r>
            <a:endParaRPr lang="en-US" sz="1750" dirty="0"/>
          </a:p>
          <a:p>
            <a:pPr indent="0" marL="0">
              <a:lnSpc>
                <a:spcPct val="102000"/>
              </a:lnSpc>
              <a:spcBef>
                <a:spcPts val="378"/>
              </a:spcBef>
              <a:buNone/>
            </a:pPr>
            <a:r>
              <a:rPr lang="en-US" sz="142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the closing. Principle, not detail.</a:t>
            </a:r>
            <a:endParaRPr lang="en-US" sz="175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38912"/>
            <a:ext cx="2391156" cy="420624"/>
          </a:xfrm>
          <a:prstGeom prst="roundRect">
            <a:avLst>
              <a:gd name="adj" fmla="val 50000"/>
            </a:avLst>
          </a:prstGeom>
          <a:solidFill>
            <a:srgbClr val="E4572E"/>
          </a:solidFill>
          <a:ln/>
        </p:spPr>
      </p:sp>
      <p:sp>
        <p:nvSpPr>
          <p:cNvPr id="3" name="Shape 1"/>
          <p:cNvSpPr/>
          <p:nvPr/>
        </p:nvSpPr>
        <p:spPr>
          <a:xfrm>
            <a:off x="649224" y="539496"/>
            <a:ext cx="219456" cy="219456"/>
          </a:xfrm>
          <a:prstGeom prst="ellipse">
            <a:avLst/>
          </a:prstGeom>
          <a:solidFill>
            <a:srgbClr val="E4572E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" y="539496"/>
            <a:ext cx="219456" cy="21945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932688" y="438912"/>
            <a:ext cx="18973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CONVERSATION 4 OF 5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896112"/>
            <a:ext cx="10972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the debate exchange</a:t>
            </a:r>
            <a:endParaRPr lang="en-US" sz="38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536192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in pairs. Fill each gap. Answers are in the Answer Key.</a:t>
            </a:r>
            <a:endParaRPr lang="en-US" sz="165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6144768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50" kern="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4 · Advanced Spoken English · Module 3 — Debate &amp; Persuasion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10607040" y="6144768"/>
            <a:ext cx="1033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548640" y="1883664"/>
            <a:ext cx="11094415" cy="376210"/>
          </a:xfrm>
          <a:prstGeom prst="roundRect">
            <a:avLst>
              <a:gd name="adj" fmla="val 34028"/>
            </a:avLst>
          </a:prstGeom>
          <a:solidFill>
            <a:srgbClr val="EDF3EF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694944" y="1975104"/>
            <a:ext cx="1417320" cy="193330"/>
          </a:xfrm>
          <a:prstGeom prst="roundRect">
            <a:avLst>
              <a:gd name="adj" fmla="val 47297"/>
            </a:avLst>
          </a:prstGeom>
          <a:solidFill>
            <a:srgbClr val="6B7C71"/>
          </a:solidFill>
          <a:ln/>
        </p:spPr>
      </p:sp>
      <p:sp>
        <p:nvSpPr>
          <p:cNvPr id="13" name="Text 9"/>
          <p:cNvSpPr txBox="1"/>
          <p:nvPr/>
        </p:nvSpPr>
        <p:spPr>
          <a:xfrm>
            <a:off x="731520" y="1975104"/>
            <a:ext cx="1344168" cy="1933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</a:t>
            </a:r>
            <a:endParaRPr lang="en-US" sz="1200" dirty="0"/>
          </a:p>
        </p:txBody>
      </p:sp>
      <p:sp>
        <p:nvSpPr>
          <p:cNvPr id="14" name="Text 10"/>
          <p:cNvSpPr txBox="1"/>
          <p:nvPr/>
        </p:nvSpPr>
        <p:spPr>
          <a:xfrm>
            <a:off x="2276856" y="1938528"/>
            <a:ext cx="9128455" cy="2664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7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______ is that the course should be shortened — not cancelled.</a:t>
            </a:r>
            <a:endParaRPr lang="en-US" sz="1700" dirty="0"/>
          </a:p>
        </p:txBody>
      </p:sp>
      <p:sp>
        <p:nvSpPr>
          <p:cNvPr id="15" name="Shape 11"/>
          <p:cNvSpPr/>
          <p:nvPr/>
        </p:nvSpPr>
        <p:spPr>
          <a:xfrm>
            <a:off x="548640" y="2360458"/>
            <a:ext cx="11094415" cy="376210"/>
          </a:xfrm>
          <a:prstGeom prst="roundRect">
            <a:avLst>
              <a:gd name="adj" fmla="val 34028"/>
            </a:avLst>
          </a:prstGeom>
          <a:solidFill>
            <a:srgbClr val="E7F3EF"/>
          </a:solidFill>
          <a:ln w="12700">
            <a:solidFill>
              <a:srgbClr val="C4E0D5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694944" y="2451898"/>
            <a:ext cx="1417320" cy="193330"/>
          </a:xfrm>
          <a:prstGeom prst="roundRect">
            <a:avLst>
              <a:gd name="adj" fmla="val 47297"/>
            </a:avLst>
          </a:prstGeom>
          <a:solidFill>
            <a:srgbClr val="0E7C5A"/>
          </a:solidFill>
          <a:ln/>
        </p:spPr>
      </p:sp>
      <p:sp>
        <p:nvSpPr>
          <p:cNvPr id="17" name="Text 13"/>
          <p:cNvSpPr txBox="1"/>
          <p:nvPr/>
        </p:nvSpPr>
        <p:spPr>
          <a:xfrm>
            <a:off x="731520" y="2451898"/>
            <a:ext cx="1344168" cy="1933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200" dirty="0"/>
          </a:p>
        </p:txBody>
      </p:sp>
      <p:sp>
        <p:nvSpPr>
          <p:cNvPr id="18" name="Text 14"/>
          <p:cNvSpPr txBox="1"/>
          <p:nvPr/>
        </p:nvSpPr>
        <p:spPr>
          <a:xfrm>
            <a:off x="2276856" y="2415322"/>
            <a:ext cx="9128455" cy="2664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7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 everyone says the long course is better.</a:t>
            </a:r>
            <a:endParaRPr lang="en-US" sz="1700" dirty="0"/>
          </a:p>
        </p:txBody>
      </p:sp>
      <p:sp>
        <p:nvSpPr>
          <p:cNvPr id="19" name="Shape 15"/>
          <p:cNvSpPr/>
          <p:nvPr/>
        </p:nvSpPr>
        <p:spPr>
          <a:xfrm>
            <a:off x="548640" y="2837253"/>
            <a:ext cx="11094415" cy="376210"/>
          </a:xfrm>
          <a:prstGeom prst="roundRect">
            <a:avLst>
              <a:gd name="adj" fmla="val 34028"/>
            </a:avLst>
          </a:prstGeom>
          <a:solidFill>
            <a:srgbClr val="EDF3EF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694944" y="2928693"/>
            <a:ext cx="1417320" cy="193330"/>
          </a:xfrm>
          <a:prstGeom prst="roundRect">
            <a:avLst>
              <a:gd name="adj" fmla="val 47297"/>
            </a:avLst>
          </a:prstGeom>
          <a:solidFill>
            <a:srgbClr val="6B7C71"/>
          </a:solidFill>
          <a:ln/>
        </p:spPr>
      </p:sp>
      <p:sp>
        <p:nvSpPr>
          <p:cNvPr id="21" name="Text 17"/>
          <p:cNvSpPr txBox="1"/>
          <p:nvPr/>
        </p:nvSpPr>
        <p:spPr>
          <a:xfrm>
            <a:off x="731520" y="2928693"/>
            <a:ext cx="1344168" cy="1933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</a:t>
            </a:r>
            <a:endParaRPr lang="en-US" sz="1200" dirty="0"/>
          </a:p>
        </p:txBody>
      </p:sp>
      <p:sp>
        <p:nvSpPr>
          <p:cNvPr id="22" name="Text 18"/>
          <p:cNvSpPr txBox="1"/>
          <p:nvPr/>
        </p:nvSpPr>
        <p:spPr>
          <a:xfrm>
            <a:off x="2276856" y="2892117"/>
            <a:ext cx="9128455" cy="2664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______ on a false ______ : that longer means better. They've given us no ______ at all.</a:t>
            </a:r>
            <a:endParaRPr lang="en-US" sz="1500" dirty="0"/>
          </a:p>
        </p:txBody>
      </p:sp>
      <p:sp>
        <p:nvSpPr>
          <p:cNvPr id="23" name="Shape 19"/>
          <p:cNvSpPr/>
          <p:nvPr/>
        </p:nvSpPr>
        <p:spPr>
          <a:xfrm>
            <a:off x="548640" y="3314047"/>
            <a:ext cx="11094415" cy="376210"/>
          </a:xfrm>
          <a:prstGeom prst="roundRect">
            <a:avLst>
              <a:gd name="adj" fmla="val 34028"/>
            </a:avLst>
          </a:prstGeom>
          <a:solidFill>
            <a:srgbClr val="E7F3EF"/>
          </a:solidFill>
          <a:ln w="12700">
            <a:solidFill>
              <a:srgbClr val="C4E0D5"/>
            </a:solidFill>
            <a:prstDash val="solid"/>
          </a:ln>
        </p:spPr>
      </p:sp>
      <p:sp>
        <p:nvSpPr>
          <p:cNvPr id="24" name="Shape 20"/>
          <p:cNvSpPr/>
          <p:nvPr/>
        </p:nvSpPr>
        <p:spPr>
          <a:xfrm>
            <a:off x="694944" y="3405487"/>
            <a:ext cx="1417320" cy="193330"/>
          </a:xfrm>
          <a:prstGeom prst="roundRect">
            <a:avLst>
              <a:gd name="adj" fmla="val 47297"/>
            </a:avLst>
          </a:prstGeom>
          <a:solidFill>
            <a:srgbClr val="0E7C5A"/>
          </a:solidFill>
          <a:ln/>
        </p:spPr>
      </p:sp>
      <p:sp>
        <p:nvSpPr>
          <p:cNvPr id="25" name="Text 21"/>
          <p:cNvSpPr txBox="1"/>
          <p:nvPr/>
        </p:nvSpPr>
        <p:spPr>
          <a:xfrm>
            <a:off x="731520" y="3405487"/>
            <a:ext cx="1344168" cy="1933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200" dirty="0"/>
          </a:p>
        </p:txBody>
      </p:sp>
      <p:sp>
        <p:nvSpPr>
          <p:cNvPr id="26" name="Text 22"/>
          <p:cNvSpPr txBox="1"/>
          <p:nvPr/>
        </p:nvSpPr>
        <p:spPr>
          <a:xfrm>
            <a:off x="2276856" y="3368911"/>
            <a:ext cx="9128455" cy="2664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7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about the 2023 review?</a:t>
            </a:r>
            <a:endParaRPr lang="en-US" sz="1700" dirty="0"/>
          </a:p>
        </p:txBody>
      </p:sp>
      <p:sp>
        <p:nvSpPr>
          <p:cNvPr id="27" name="Shape 23"/>
          <p:cNvSpPr/>
          <p:nvPr/>
        </p:nvSpPr>
        <p:spPr>
          <a:xfrm>
            <a:off x="548640" y="3790841"/>
            <a:ext cx="11094415" cy="376210"/>
          </a:xfrm>
          <a:prstGeom prst="roundRect">
            <a:avLst>
              <a:gd name="adj" fmla="val 34028"/>
            </a:avLst>
          </a:prstGeom>
          <a:solidFill>
            <a:srgbClr val="EDF3EF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28" name="Shape 24"/>
          <p:cNvSpPr/>
          <p:nvPr/>
        </p:nvSpPr>
        <p:spPr>
          <a:xfrm>
            <a:off x="694944" y="3882281"/>
            <a:ext cx="1417320" cy="193330"/>
          </a:xfrm>
          <a:prstGeom prst="roundRect">
            <a:avLst>
              <a:gd name="adj" fmla="val 47297"/>
            </a:avLst>
          </a:prstGeom>
          <a:solidFill>
            <a:srgbClr val="6B7C71"/>
          </a:solidFill>
          <a:ln/>
        </p:spPr>
      </p:sp>
      <p:sp>
        <p:nvSpPr>
          <p:cNvPr id="29" name="Text 25"/>
          <p:cNvSpPr txBox="1"/>
          <p:nvPr/>
        </p:nvSpPr>
        <p:spPr>
          <a:xfrm>
            <a:off x="731520" y="3882281"/>
            <a:ext cx="1344168" cy="1933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</a:t>
            </a:r>
            <a:endParaRPr lang="en-US" sz="1200" dirty="0"/>
          </a:p>
        </p:txBody>
      </p:sp>
      <p:sp>
        <p:nvSpPr>
          <p:cNvPr id="30" name="Text 26"/>
          <p:cNvSpPr txBox="1"/>
          <p:nvPr/>
        </p:nvSpPr>
        <p:spPr>
          <a:xfrm>
            <a:off x="2276856" y="3845705"/>
            <a:ext cx="9128455" cy="2664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7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That's a fair question. Let me take it in two ______ .</a:t>
            </a:r>
            <a:endParaRPr lang="en-US" sz="1700" dirty="0"/>
          </a:p>
        </p:txBody>
      </p:sp>
      <p:sp>
        <p:nvSpPr>
          <p:cNvPr id="31" name="Shape 27"/>
          <p:cNvSpPr/>
          <p:nvPr/>
        </p:nvSpPr>
        <p:spPr>
          <a:xfrm>
            <a:off x="548640" y="4267635"/>
            <a:ext cx="11094415" cy="376210"/>
          </a:xfrm>
          <a:prstGeom prst="roundRect">
            <a:avLst>
              <a:gd name="adj" fmla="val 34028"/>
            </a:avLst>
          </a:prstGeom>
          <a:solidFill>
            <a:srgbClr val="E7F3EF"/>
          </a:solidFill>
          <a:ln w="12700">
            <a:solidFill>
              <a:srgbClr val="C4E0D5"/>
            </a:solidFill>
            <a:prstDash val="solid"/>
          </a:ln>
        </p:spPr>
      </p:sp>
      <p:sp>
        <p:nvSpPr>
          <p:cNvPr id="32" name="Shape 28"/>
          <p:cNvSpPr/>
          <p:nvPr/>
        </p:nvSpPr>
        <p:spPr>
          <a:xfrm>
            <a:off x="694944" y="4359075"/>
            <a:ext cx="1417320" cy="193330"/>
          </a:xfrm>
          <a:prstGeom prst="roundRect">
            <a:avLst>
              <a:gd name="adj" fmla="val 47297"/>
            </a:avLst>
          </a:prstGeom>
          <a:solidFill>
            <a:srgbClr val="0E7C5A"/>
          </a:solidFill>
          <a:ln/>
        </p:spPr>
      </p:sp>
      <p:sp>
        <p:nvSpPr>
          <p:cNvPr id="33" name="Text 29"/>
          <p:cNvSpPr txBox="1"/>
          <p:nvPr/>
        </p:nvSpPr>
        <p:spPr>
          <a:xfrm>
            <a:off x="731520" y="4359075"/>
            <a:ext cx="1344168" cy="1933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200" dirty="0"/>
          </a:p>
        </p:txBody>
      </p:sp>
      <p:sp>
        <p:nvSpPr>
          <p:cNvPr id="34" name="Text 30"/>
          <p:cNvSpPr txBox="1"/>
          <p:nvPr/>
        </p:nvSpPr>
        <p:spPr>
          <a:xfrm>
            <a:off x="2276856" y="4322499"/>
            <a:ext cx="9128455" cy="2664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7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the cost?</a:t>
            </a:r>
            <a:endParaRPr lang="en-US" sz="1700" dirty="0"/>
          </a:p>
        </p:txBody>
      </p:sp>
      <p:sp>
        <p:nvSpPr>
          <p:cNvPr id="35" name="Shape 31"/>
          <p:cNvSpPr/>
          <p:nvPr/>
        </p:nvSpPr>
        <p:spPr>
          <a:xfrm>
            <a:off x="548640" y="4744430"/>
            <a:ext cx="11094415" cy="376210"/>
          </a:xfrm>
          <a:prstGeom prst="roundRect">
            <a:avLst>
              <a:gd name="adj" fmla="val 34028"/>
            </a:avLst>
          </a:prstGeom>
          <a:solidFill>
            <a:srgbClr val="EDF3EF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36" name="Shape 32"/>
          <p:cNvSpPr/>
          <p:nvPr/>
        </p:nvSpPr>
        <p:spPr>
          <a:xfrm>
            <a:off x="694944" y="4835870"/>
            <a:ext cx="1417320" cy="193330"/>
          </a:xfrm>
          <a:prstGeom prst="roundRect">
            <a:avLst>
              <a:gd name="adj" fmla="val 47297"/>
            </a:avLst>
          </a:prstGeom>
          <a:solidFill>
            <a:srgbClr val="6B7C71"/>
          </a:solidFill>
          <a:ln/>
        </p:spPr>
      </p:sp>
      <p:sp>
        <p:nvSpPr>
          <p:cNvPr id="37" name="Text 33"/>
          <p:cNvSpPr txBox="1"/>
          <p:nvPr/>
        </p:nvSpPr>
        <p:spPr>
          <a:xfrm>
            <a:off x="731520" y="4835870"/>
            <a:ext cx="1344168" cy="1933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</a:t>
            </a:r>
            <a:endParaRPr lang="en-US" sz="1200" dirty="0"/>
          </a:p>
        </p:txBody>
      </p:sp>
      <p:sp>
        <p:nvSpPr>
          <p:cNvPr id="38" name="Text 34"/>
          <p:cNvSpPr txBox="1"/>
          <p:nvPr/>
        </p:nvSpPr>
        <p:spPr>
          <a:xfrm>
            <a:off x="2276856" y="4799294"/>
            <a:ext cx="9128455" cy="2664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7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You're ______ about the cost. It ______ my other two arguments standing.</a:t>
            </a:r>
            <a:endParaRPr lang="en-US" sz="1700" dirty="0"/>
          </a:p>
        </p:txBody>
      </p:sp>
      <p:sp>
        <p:nvSpPr>
          <p:cNvPr id="39" name="Shape 35"/>
          <p:cNvSpPr/>
          <p:nvPr/>
        </p:nvSpPr>
        <p:spPr>
          <a:xfrm>
            <a:off x="548640" y="5266944"/>
            <a:ext cx="11094415" cy="676656"/>
          </a:xfrm>
          <a:prstGeom prst="roundRect">
            <a:avLst>
              <a:gd name="adj" fmla="val 18919"/>
            </a:avLst>
          </a:prstGeom>
          <a:solidFill>
            <a:srgbClr val="FDF3E7"/>
          </a:solidFill>
          <a:ln w="12700">
            <a:solidFill>
              <a:srgbClr val="EFDCB2"/>
            </a:solidFill>
            <a:prstDash val="solid"/>
          </a:ln>
        </p:spPr>
      </p:sp>
      <p:sp>
        <p:nvSpPr>
          <p:cNvPr id="40" name="Text 36"/>
          <p:cNvSpPr txBox="1"/>
          <p:nvPr/>
        </p:nvSpPr>
        <p:spPr>
          <a:xfrm>
            <a:off x="786384" y="5266944"/>
            <a:ext cx="10618927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these:  “position”  ·  “rests”  ·  “premise”  ·  “figures”  ·  “parts”  ·  “right”  ·  “leaves”</a:t>
            </a:r>
            <a:endParaRPr lang="en-US" sz="15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38912"/>
            <a:ext cx="2391156" cy="420624"/>
          </a:xfrm>
          <a:prstGeom prst="roundRect">
            <a:avLst>
              <a:gd name="adj" fmla="val 50000"/>
            </a:avLst>
          </a:prstGeom>
          <a:solidFill>
            <a:srgbClr val="E4572E"/>
          </a:solidFill>
          <a:ln/>
        </p:spPr>
      </p:sp>
      <p:sp>
        <p:nvSpPr>
          <p:cNvPr id="3" name="Shape 1"/>
          <p:cNvSpPr/>
          <p:nvPr/>
        </p:nvSpPr>
        <p:spPr>
          <a:xfrm>
            <a:off x="649224" y="539496"/>
            <a:ext cx="219456" cy="219456"/>
          </a:xfrm>
          <a:prstGeom prst="ellipse">
            <a:avLst/>
          </a:prstGeom>
          <a:solidFill>
            <a:srgbClr val="E4572E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" y="539496"/>
            <a:ext cx="219456" cy="21945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932688" y="438912"/>
            <a:ext cx="18973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CONVERSATION 5 OF 5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896112"/>
            <a:ext cx="10972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Pair practice — the four stages</a:t>
            </a:r>
            <a:endParaRPr lang="en-US" sz="38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536192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rounds. Assigned sides, no choosing.</a:t>
            </a:r>
            <a:endParaRPr lang="en-US" sz="165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6144768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50" kern="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4 · Advanced Spoken English · Module 3 — Debate &amp; Persuasion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10607040" y="6144768"/>
            <a:ext cx="1033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548640" y="1883664"/>
            <a:ext cx="11094415" cy="905256"/>
          </a:xfrm>
          <a:prstGeom prst="roundRect">
            <a:avLst>
              <a:gd name="adj" fmla="val 14141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786384" y="2107692"/>
            <a:ext cx="457200" cy="457200"/>
          </a:xfrm>
          <a:prstGeom prst="ellipse">
            <a:avLst/>
          </a:prstGeom>
          <a:solidFill>
            <a:srgbClr val="E4572E"/>
          </a:solidFill>
          <a:ln/>
        </p:spPr>
      </p:sp>
      <p:sp>
        <p:nvSpPr>
          <p:cNvPr id="13" name="Text 9"/>
          <p:cNvSpPr txBox="1"/>
          <p:nvPr/>
        </p:nvSpPr>
        <p:spPr>
          <a:xfrm>
            <a:off x="786384" y="21076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1463040" y="1956816"/>
            <a:ext cx="9905695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20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90-second opening. Narrow your position, preview three lines.</a:t>
            </a:r>
            <a:endParaRPr lang="en-US" sz="2000" dirty="0"/>
          </a:p>
          <a:p>
            <a:pPr indent="0" marL="0">
              <a:lnSpc>
                <a:spcPct val="102000"/>
              </a:lnSpc>
              <a:spcBef>
                <a:spcPts val="300"/>
              </a:spcBef>
              <a:buNone/>
            </a:pPr>
            <a:r>
              <a:rPr lang="en-US" sz="15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 checks both.</a:t>
            </a:r>
            <a:endParaRPr lang="en-US" sz="2000" dirty="0"/>
          </a:p>
        </p:txBody>
      </p:sp>
      <p:sp>
        <p:nvSpPr>
          <p:cNvPr id="15" name="Shape 11"/>
          <p:cNvSpPr/>
          <p:nvPr/>
        </p:nvSpPr>
        <p:spPr>
          <a:xfrm>
            <a:off x="548640" y="2935224"/>
            <a:ext cx="11094415" cy="905256"/>
          </a:xfrm>
          <a:prstGeom prst="roundRect">
            <a:avLst>
              <a:gd name="adj" fmla="val 14141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786384" y="3159252"/>
            <a:ext cx="457200" cy="457200"/>
          </a:xfrm>
          <a:prstGeom prst="ellipse">
            <a:avLst/>
          </a:prstGeom>
          <a:solidFill>
            <a:srgbClr val="E4572E"/>
          </a:solidFill>
          <a:ln/>
        </p:spPr>
      </p:sp>
      <p:sp>
        <p:nvSpPr>
          <p:cNvPr id="17" name="Text 13"/>
          <p:cNvSpPr txBox="1"/>
          <p:nvPr/>
        </p:nvSpPr>
        <p:spPr>
          <a:xfrm>
            <a:off x="786384" y="31592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8" name="Text 14"/>
          <p:cNvSpPr/>
          <p:nvPr/>
        </p:nvSpPr>
        <p:spPr>
          <a:xfrm>
            <a:off x="1463040" y="3008376"/>
            <a:ext cx="9905695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20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60-second rebuttal. ONE target only.</a:t>
            </a:r>
            <a:endParaRPr lang="en-US" sz="2000" dirty="0"/>
          </a:p>
          <a:p>
            <a:pPr indent="0" marL="0">
              <a:lnSpc>
                <a:spcPct val="102000"/>
              </a:lnSpc>
              <a:spcBef>
                <a:spcPts val="300"/>
              </a:spcBef>
              <a:buNone/>
            </a:pPr>
            <a:r>
              <a:rPr lang="en-US" sz="15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 checks all four rebuttal steps.</a:t>
            </a:r>
            <a:endParaRPr lang="en-US" sz="2000" dirty="0"/>
          </a:p>
        </p:txBody>
      </p:sp>
      <p:sp>
        <p:nvSpPr>
          <p:cNvPr id="19" name="Shape 15"/>
          <p:cNvSpPr/>
          <p:nvPr/>
        </p:nvSpPr>
        <p:spPr>
          <a:xfrm>
            <a:off x="548640" y="3986784"/>
            <a:ext cx="11094415" cy="905256"/>
          </a:xfrm>
          <a:prstGeom prst="roundRect">
            <a:avLst>
              <a:gd name="adj" fmla="val 14141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786384" y="4210812"/>
            <a:ext cx="457200" cy="457200"/>
          </a:xfrm>
          <a:prstGeom prst="ellipse">
            <a:avLst/>
          </a:prstGeom>
          <a:solidFill>
            <a:srgbClr val="E4572E"/>
          </a:solidFill>
          <a:ln/>
        </p:spPr>
      </p:sp>
      <p:sp>
        <p:nvSpPr>
          <p:cNvPr id="21" name="Text 17"/>
          <p:cNvSpPr txBox="1"/>
          <p:nvPr/>
        </p:nvSpPr>
        <p:spPr>
          <a:xfrm>
            <a:off x="786384" y="42108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2" name="Text 18"/>
          <p:cNvSpPr/>
          <p:nvPr/>
        </p:nvSpPr>
        <p:spPr>
          <a:xfrm>
            <a:off x="1463040" y="4059936"/>
            <a:ext cx="9905695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20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hard questions. Three different techniques.</a:t>
            </a:r>
            <a:endParaRPr lang="en-US" sz="2000" dirty="0"/>
          </a:p>
          <a:p>
            <a:pPr indent="0" marL="0">
              <a:lnSpc>
                <a:spcPct val="102000"/>
              </a:lnSpc>
              <a:spcBef>
                <a:spcPts val="300"/>
              </a:spcBef>
              <a:buNone/>
            </a:pPr>
            <a:r>
              <a:rPr lang="en-US" sz="15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 asks; one must be unanswerable.</a:t>
            </a:r>
            <a:endParaRPr lang="en-US" sz="2000" dirty="0"/>
          </a:p>
        </p:txBody>
      </p:sp>
      <p:sp>
        <p:nvSpPr>
          <p:cNvPr id="23" name="Shape 19"/>
          <p:cNvSpPr/>
          <p:nvPr/>
        </p:nvSpPr>
        <p:spPr>
          <a:xfrm>
            <a:off x="548640" y="5038344"/>
            <a:ext cx="11094415" cy="905256"/>
          </a:xfrm>
          <a:prstGeom prst="roundRect">
            <a:avLst>
              <a:gd name="adj" fmla="val 14141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24" name="Shape 20"/>
          <p:cNvSpPr/>
          <p:nvPr/>
        </p:nvSpPr>
        <p:spPr>
          <a:xfrm>
            <a:off x="786384" y="5262372"/>
            <a:ext cx="457200" cy="457200"/>
          </a:xfrm>
          <a:prstGeom prst="ellipse">
            <a:avLst/>
          </a:prstGeom>
          <a:solidFill>
            <a:srgbClr val="E4572E"/>
          </a:solidFill>
          <a:ln/>
        </p:spPr>
      </p:sp>
      <p:sp>
        <p:nvSpPr>
          <p:cNvPr id="25" name="Text 21"/>
          <p:cNvSpPr txBox="1"/>
          <p:nvPr/>
        </p:nvSpPr>
        <p:spPr>
          <a:xfrm>
            <a:off x="786384" y="52623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6" name="Text 22"/>
          <p:cNvSpPr/>
          <p:nvPr/>
        </p:nvSpPr>
        <p:spPr>
          <a:xfrm>
            <a:off x="1463040" y="5111496"/>
            <a:ext cx="9905695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20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60-second closing. No new arguments.</a:t>
            </a:r>
            <a:endParaRPr lang="en-US" sz="2000" dirty="0"/>
          </a:p>
          <a:p>
            <a:pPr indent="0" marL="0">
              <a:lnSpc>
                <a:spcPct val="102000"/>
              </a:lnSpc>
              <a:spcBef>
                <a:spcPts val="300"/>
              </a:spcBef>
              <a:buNone/>
            </a:pPr>
            <a:r>
              <a:rPr lang="en-US" sz="15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number, one phrase, what's at stake.</a:t>
            </a:r>
            <a:endParaRPr lang="en-US" sz="20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38912"/>
            <a:ext cx="2007108" cy="420624"/>
          </a:xfrm>
          <a:prstGeom prst="roundRect">
            <a:avLst>
              <a:gd name="adj" fmla="val 50000"/>
            </a:avLst>
          </a:prstGeom>
          <a:solidFill>
            <a:srgbClr val="E4572E"/>
          </a:solidFill>
          <a:ln/>
        </p:spPr>
      </p:sp>
      <p:sp>
        <p:nvSpPr>
          <p:cNvPr id="3" name="Shape 1"/>
          <p:cNvSpPr/>
          <p:nvPr/>
        </p:nvSpPr>
        <p:spPr>
          <a:xfrm>
            <a:off x="649224" y="539496"/>
            <a:ext cx="219456" cy="219456"/>
          </a:xfrm>
          <a:prstGeom prst="ellipse">
            <a:avLst/>
          </a:prstGeom>
          <a:solidFill>
            <a:srgbClr val="E4572E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" y="539496"/>
            <a:ext cx="219456" cy="21945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932688" y="438912"/>
            <a:ext cx="15133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SPEAKING 1 OF 5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896112"/>
            <a:ext cx="10972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Activity 1 — the ninety-second opening</a:t>
            </a:r>
            <a:endParaRPr lang="en-US" sz="38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536192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Memorise the first two sentences.</a:t>
            </a:r>
            <a:endParaRPr lang="en-US" sz="165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6144768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50" kern="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4 · Advanced Spoken English · Module 3 — Debate &amp; Persuasion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10607040" y="6144768"/>
            <a:ext cx="1033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548640" y="1883664"/>
            <a:ext cx="11094415" cy="905256"/>
          </a:xfrm>
          <a:prstGeom prst="roundRect">
            <a:avLst>
              <a:gd name="adj" fmla="val 14141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786384" y="2107692"/>
            <a:ext cx="457200" cy="457200"/>
          </a:xfrm>
          <a:prstGeom prst="ellipse">
            <a:avLst/>
          </a:prstGeom>
          <a:solidFill>
            <a:srgbClr val="E4572E"/>
          </a:solidFill>
          <a:ln/>
        </p:spPr>
      </p:sp>
      <p:sp>
        <p:nvSpPr>
          <p:cNvPr id="13" name="Text 9"/>
          <p:cNvSpPr txBox="1"/>
          <p:nvPr/>
        </p:nvSpPr>
        <p:spPr>
          <a:xfrm>
            <a:off x="786384" y="21076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1463040" y="1956816"/>
            <a:ext cx="9905695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20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“Our position is that…” — narrow it deliberately</a:t>
            </a:r>
            <a:endParaRPr lang="en-US" sz="2000" dirty="0"/>
          </a:p>
          <a:p>
            <a:pPr indent="0" marL="0">
              <a:lnSpc>
                <a:spcPct val="102000"/>
              </a:lnSpc>
              <a:spcBef>
                <a:spcPts val="300"/>
              </a:spcBef>
              <a:buNone/>
            </a:pPr>
            <a:r>
              <a:rPr lang="en-US" sz="15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the version easiest to defend.</a:t>
            </a:r>
            <a:endParaRPr lang="en-US" sz="2000" dirty="0"/>
          </a:p>
        </p:txBody>
      </p:sp>
      <p:sp>
        <p:nvSpPr>
          <p:cNvPr id="15" name="Shape 11"/>
          <p:cNvSpPr/>
          <p:nvPr/>
        </p:nvSpPr>
        <p:spPr>
          <a:xfrm>
            <a:off x="548640" y="2935224"/>
            <a:ext cx="11094415" cy="905256"/>
          </a:xfrm>
          <a:prstGeom prst="roundRect">
            <a:avLst>
              <a:gd name="adj" fmla="val 14141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786384" y="3159252"/>
            <a:ext cx="457200" cy="457200"/>
          </a:xfrm>
          <a:prstGeom prst="ellipse">
            <a:avLst/>
          </a:prstGeom>
          <a:solidFill>
            <a:srgbClr val="E4572E"/>
          </a:solidFill>
          <a:ln/>
        </p:spPr>
      </p:sp>
      <p:sp>
        <p:nvSpPr>
          <p:cNvPr id="17" name="Text 13"/>
          <p:cNvSpPr txBox="1"/>
          <p:nvPr/>
        </p:nvSpPr>
        <p:spPr>
          <a:xfrm>
            <a:off x="786384" y="31592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8" name="Text 14"/>
          <p:cNvSpPr/>
          <p:nvPr/>
        </p:nvSpPr>
        <p:spPr>
          <a:xfrm>
            <a:off x="1463040" y="3008376"/>
            <a:ext cx="9905695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20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“I'll show three things: …, … and …”</a:t>
            </a:r>
            <a:endParaRPr lang="en-US" sz="2000" dirty="0"/>
          </a:p>
          <a:p>
            <a:pPr indent="0" marL="0">
              <a:lnSpc>
                <a:spcPct val="102000"/>
              </a:lnSpc>
              <a:spcBef>
                <a:spcPts val="300"/>
              </a:spcBef>
              <a:buNone/>
            </a:pPr>
            <a:r>
              <a:rPr lang="en-US" sz="15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Three. Never five.</a:t>
            </a:r>
            <a:endParaRPr lang="en-US" sz="2000" dirty="0"/>
          </a:p>
        </p:txBody>
      </p:sp>
      <p:sp>
        <p:nvSpPr>
          <p:cNvPr id="19" name="Shape 15"/>
          <p:cNvSpPr/>
          <p:nvPr/>
        </p:nvSpPr>
        <p:spPr>
          <a:xfrm>
            <a:off x="548640" y="3986784"/>
            <a:ext cx="11094415" cy="905256"/>
          </a:xfrm>
          <a:prstGeom prst="roundRect">
            <a:avLst>
              <a:gd name="adj" fmla="val 14141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786384" y="4210812"/>
            <a:ext cx="457200" cy="457200"/>
          </a:xfrm>
          <a:prstGeom prst="ellipse">
            <a:avLst/>
          </a:prstGeom>
          <a:solidFill>
            <a:srgbClr val="E4572E"/>
          </a:solidFill>
          <a:ln/>
        </p:spPr>
      </p:sp>
      <p:sp>
        <p:nvSpPr>
          <p:cNvPr id="21" name="Text 17"/>
          <p:cNvSpPr txBox="1"/>
          <p:nvPr/>
        </p:nvSpPr>
        <p:spPr>
          <a:xfrm>
            <a:off x="786384" y="42108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2" name="Text 18"/>
          <p:cNvSpPr/>
          <p:nvPr/>
        </p:nvSpPr>
        <p:spPr>
          <a:xfrm>
            <a:off x="1463040" y="4059936"/>
            <a:ext cx="9905695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20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“First, …” then each point with a signpost</a:t>
            </a:r>
            <a:endParaRPr lang="en-US" sz="2000" dirty="0"/>
          </a:p>
          <a:p>
            <a:pPr indent="0" marL="0">
              <a:lnSpc>
                <a:spcPct val="102000"/>
              </a:lnSpc>
              <a:spcBef>
                <a:spcPts val="300"/>
              </a:spcBef>
              <a:buNone/>
            </a:pPr>
            <a:r>
              <a:rPr lang="en-US" sz="15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 seconds for all three.</a:t>
            </a:r>
            <a:endParaRPr lang="en-US" sz="2000" dirty="0"/>
          </a:p>
        </p:txBody>
      </p:sp>
      <p:sp>
        <p:nvSpPr>
          <p:cNvPr id="23" name="Shape 19"/>
          <p:cNvSpPr/>
          <p:nvPr/>
        </p:nvSpPr>
        <p:spPr>
          <a:xfrm>
            <a:off x="548640" y="5038344"/>
            <a:ext cx="11094415" cy="905256"/>
          </a:xfrm>
          <a:prstGeom prst="roundRect">
            <a:avLst>
              <a:gd name="adj" fmla="val 14141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24" name="Shape 20"/>
          <p:cNvSpPr/>
          <p:nvPr/>
        </p:nvSpPr>
        <p:spPr>
          <a:xfrm>
            <a:off x="786384" y="5262372"/>
            <a:ext cx="457200" cy="457200"/>
          </a:xfrm>
          <a:prstGeom prst="ellipse">
            <a:avLst/>
          </a:prstGeom>
          <a:solidFill>
            <a:srgbClr val="E4572E"/>
          </a:solidFill>
          <a:ln/>
        </p:spPr>
      </p:sp>
      <p:sp>
        <p:nvSpPr>
          <p:cNvPr id="25" name="Text 21"/>
          <p:cNvSpPr txBox="1"/>
          <p:nvPr/>
        </p:nvSpPr>
        <p:spPr>
          <a:xfrm>
            <a:off x="786384" y="52623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6" name="Text 22"/>
          <p:cNvSpPr/>
          <p:nvPr/>
        </p:nvSpPr>
        <p:spPr>
          <a:xfrm>
            <a:off x="1463040" y="5111496"/>
            <a:ext cx="9905695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20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 it three times — reading, glancing, from memory</a:t>
            </a:r>
            <a:endParaRPr lang="en-US" sz="2000" dirty="0"/>
          </a:p>
          <a:p>
            <a:pPr indent="0" marL="0">
              <a:lnSpc>
                <a:spcPct val="102000"/>
              </a:lnSpc>
              <a:spcBef>
                <a:spcPts val="300"/>
              </a:spcBef>
              <a:buNone/>
            </a:pPr>
            <a:r>
              <a:rPr lang="en-US" sz="15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third time is when it works.</a:t>
            </a:r>
            <a:endParaRPr lang="en-US" sz="20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38912"/>
            <a:ext cx="2007108" cy="420624"/>
          </a:xfrm>
          <a:prstGeom prst="roundRect">
            <a:avLst>
              <a:gd name="adj" fmla="val 50000"/>
            </a:avLst>
          </a:prstGeom>
          <a:solidFill>
            <a:srgbClr val="E4572E"/>
          </a:solidFill>
          <a:ln/>
        </p:spPr>
      </p:sp>
      <p:sp>
        <p:nvSpPr>
          <p:cNvPr id="3" name="Shape 1"/>
          <p:cNvSpPr/>
          <p:nvPr/>
        </p:nvSpPr>
        <p:spPr>
          <a:xfrm>
            <a:off x="649224" y="539496"/>
            <a:ext cx="219456" cy="219456"/>
          </a:xfrm>
          <a:prstGeom prst="ellipse">
            <a:avLst/>
          </a:prstGeom>
          <a:solidFill>
            <a:srgbClr val="E4572E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" y="539496"/>
            <a:ext cx="219456" cy="21945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932688" y="438912"/>
            <a:ext cx="15133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SPEAKING 2 OF 5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896112"/>
            <a:ext cx="10972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Activity 2 — the rebuttal drill</a:t>
            </a:r>
            <a:endParaRPr lang="en-US" sz="38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536192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target. Four steps. Sixty seconds.</a:t>
            </a:r>
            <a:endParaRPr lang="en-US" sz="165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6144768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50" kern="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4 · Advanced Spoken English · Module 3 — Debate &amp; Persuasion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10607040" y="6144768"/>
            <a:ext cx="1033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548640" y="1883664"/>
            <a:ext cx="11094415" cy="694944"/>
          </a:xfrm>
          <a:prstGeom prst="roundRect">
            <a:avLst>
              <a:gd name="adj" fmla="val 18421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786384" y="2002536"/>
            <a:ext cx="457200" cy="457200"/>
          </a:xfrm>
          <a:prstGeom prst="ellipse">
            <a:avLst/>
          </a:prstGeom>
          <a:solidFill>
            <a:srgbClr val="E4572E"/>
          </a:solidFill>
          <a:ln/>
        </p:spPr>
      </p:sp>
      <p:sp>
        <p:nvSpPr>
          <p:cNvPr id="13" name="Text 9"/>
          <p:cNvSpPr txBox="1"/>
          <p:nvPr/>
        </p:nvSpPr>
        <p:spPr>
          <a:xfrm>
            <a:off x="786384" y="200253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1463040" y="1956816"/>
            <a:ext cx="99056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6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 to a three-point case</a:t>
            </a:r>
            <a:endParaRPr lang="en-US" sz="1600" dirty="0"/>
          </a:p>
          <a:p>
            <a:pPr indent="0" marL="0">
              <a:lnSpc>
                <a:spcPct val="102000"/>
              </a:lnSpc>
              <a:spcBef>
                <a:spcPts val="240"/>
              </a:spcBef>
              <a:buNone/>
            </a:pPr>
            <a:r>
              <a:rPr lang="en-US" sz="12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all three points down.</a:t>
            </a:r>
            <a:endParaRPr lang="en-US" sz="1600" dirty="0"/>
          </a:p>
        </p:txBody>
      </p:sp>
      <p:sp>
        <p:nvSpPr>
          <p:cNvPr id="15" name="Shape 11"/>
          <p:cNvSpPr/>
          <p:nvPr/>
        </p:nvSpPr>
        <p:spPr>
          <a:xfrm>
            <a:off x="548640" y="2724912"/>
            <a:ext cx="11094415" cy="694944"/>
          </a:xfrm>
          <a:prstGeom prst="roundRect">
            <a:avLst>
              <a:gd name="adj" fmla="val 18421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786384" y="2843784"/>
            <a:ext cx="457200" cy="457200"/>
          </a:xfrm>
          <a:prstGeom prst="ellipse">
            <a:avLst/>
          </a:prstGeom>
          <a:solidFill>
            <a:srgbClr val="E4572E"/>
          </a:solidFill>
          <a:ln/>
        </p:spPr>
      </p:sp>
      <p:sp>
        <p:nvSpPr>
          <p:cNvPr id="17" name="Text 13"/>
          <p:cNvSpPr txBox="1"/>
          <p:nvPr/>
        </p:nvSpPr>
        <p:spPr>
          <a:xfrm>
            <a:off x="786384" y="284378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8" name="Text 14"/>
          <p:cNvSpPr/>
          <p:nvPr/>
        </p:nvSpPr>
        <p:spPr>
          <a:xfrm>
            <a:off x="1463040" y="2798064"/>
            <a:ext cx="99056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6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the one their case DEPENDS on</a:t>
            </a:r>
            <a:endParaRPr lang="en-US" sz="1600" dirty="0"/>
          </a:p>
          <a:p>
            <a:pPr indent="0" marL="0">
              <a:lnSpc>
                <a:spcPct val="102000"/>
              </a:lnSpc>
              <a:spcBef>
                <a:spcPts val="240"/>
              </a:spcBef>
              <a:buNone/>
            </a:pPr>
            <a:r>
              <a:rPr lang="en-US" sz="12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the easiest to hit. The load-bearing one.</a:t>
            </a:r>
            <a:endParaRPr lang="en-US" sz="1600" dirty="0"/>
          </a:p>
        </p:txBody>
      </p:sp>
      <p:sp>
        <p:nvSpPr>
          <p:cNvPr id="19" name="Shape 15"/>
          <p:cNvSpPr/>
          <p:nvPr/>
        </p:nvSpPr>
        <p:spPr>
          <a:xfrm>
            <a:off x="548640" y="3566160"/>
            <a:ext cx="11094415" cy="694944"/>
          </a:xfrm>
          <a:prstGeom prst="roundRect">
            <a:avLst>
              <a:gd name="adj" fmla="val 18421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786384" y="3685032"/>
            <a:ext cx="457200" cy="457200"/>
          </a:xfrm>
          <a:prstGeom prst="ellipse">
            <a:avLst/>
          </a:prstGeom>
          <a:solidFill>
            <a:srgbClr val="E4572E"/>
          </a:solidFill>
          <a:ln/>
        </p:spPr>
      </p:sp>
      <p:sp>
        <p:nvSpPr>
          <p:cNvPr id="21" name="Text 17"/>
          <p:cNvSpPr txBox="1"/>
          <p:nvPr/>
        </p:nvSpPr>
        <p:spPr>
          <a:xfrm>
            <a:off x="786384" y="36850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2" name="Text 18"/>
          <p:cNvSpPr/>
          <p:nvPr/>
        </p:nvSpPr>
        <p:spPr>
          <a:xfrm>
            <a:off x="1463040" y="3639312"/>
            <a:ext cx="99056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6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 it, then concede what is true in it</a:t>
            </a:r>
            <a:endParaRPr lang="en-US" sz="1600" dirty="0"/>
          </a:p>
          <a:p>
            <a:pPr indent="0" marL="0">
              <a:lnSpc>
                <a:spcPct val="102000"/>
              </a:lnSpc>
              <a:spcBef>
                <a:spcPts val="240"/>
              </a:spcBef>
              <a:buNone/>
            </a:pPr>
            <a:r>
              <a:rPr lang="en-US" sz="12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“Their main claim is X. Some of that is right.”</a:t>
            </a:r>
            <a:endParaRPr lang="en-US" sz="1600" dirty="0"/>
          </a:p>
        </p:txBody>
      </p:sp>
      <p:sp>
        <p:nvSpPr>
          <p:cNvPr id="23" name="Shape 19"/>
          <p:cNvSpPr/>
          <p:nvPr/>
        </p:nvSpPr>
        <p:spPr>
          <a:xfrm>
            <a:off x="548640" y="4407408"/>
            <a:ext cx="11094415" cy="694944"/>
          </a:xfrm>
          <a:prstGeom prst="roundRect">
            <a:avLst>
              <a:gd name="adj" fmla="val 18421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24" name="Shape 20"/>
          <p:cNvSpPr/>
          <p:nvPr/>
        </p:nvSpPr>
        <p:spPr>
          <a:xfrm>
            <a:off x="786384" y="4526280"/>
            <a:ext cx="457200" cy="457200"/>
          </a:xfrm>
          <a:prstGeom prst="ellipse">
            <a:avLst/>
          </a:prstGeom>
          <a:solidFill>
            <a:srgbClr val="E4572E"/>
          </a:solidFill>
          <a:ln/>
        </p:spPr>
      </p:sp>
      <p:sp>
        <p:nvSpPr>
          <p:cNvPr id="25" name="Text 21"/>
          <p:cNvSpPr txBox="1"/>
          <p:nvPr/>
        </p:nvSpPr>
        <p:spPr>
          <a:xfrm>
            <a:off x="786384" y="45262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6" name="Text 22"/>
          <p:cNvSpPr/>
          <p:nvPr/>
        </p:nvSpPr>
        <p:spPr>
          <a:xfrm>
            <a:off x="1463040" y="4480560"/>
            <a:ext cx="99056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6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 the weak part with a reason</a:t>
            </a:r>
            <a:endParaRPr lang="en-US" sz="1600" dirty="0"/>
          </a:p>
          <a:p>
            <a:pPr indent="0" marL="0">
              <a:lnSpc>
                <a:spcPct val="102000"/>
              </a:lnSpc>
              <a:spcBef>
                <a:spcPts val="240"/>
              </a:spcBef>
              <a:buNone/>
            </a:pPr>
            <a:r>
              <a:rPr lang="en-US" sz="12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“But they've given no evidence that…”</a:t>
            </a:r>
            <a:endParaRPr lang="en-US" sz="1600" dirty="0"/>
          </a:p>
        </p:txBody>
      </p:sp>
      <p:sp>
        <p:nvSpPr>
          <p:cNvPr id="27" name="Shape 23"/>
          <p:cNvSpPr/>
          <p:nvPr/>
        </p:nvSpPr>
        <p:spPr>
          <a:xfrm>
            <a:off x="548640" y="5248656"/>
            <a:ext cx="11094415" cy="694944"/>
          </a:xfrm>
          <a:prstGeom prst="roundRect">
            <a:avLst>
              <a:gd name="adj" fmla="val 18421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28" name="Shape 24"/>
          <p:cNvSpPr/>
          <p:nvPr/>
        </p:nvSpPr>
        <p:spPr>
          <a:xfrm>
            <a:off x="786384" y="5367528"/>
            <a:ext cx="457200" cy="457200"/>
          </a:xfrm>
          <a:prstGeom prst="ellipse">
            <a:avLst/>
          </a:prstGeom>
          <a:solidFill>
            <a:srgbClr val="E4572E"/>
          </a:solidFill>
          <a:ln/>
        </p:spPr>
      </p:sp>
      <p:sp>
        <p:nvSpPr>
          <p:cNvPr id="29" name="Text 25"/>
          <p:cNvSpPr txBox="1"/>
          <p:nvPr/>
        </p:nvSpPr>
        <p:spPr>
          <a:xfrm>
            <a:off x="786384" y="53675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30" name="Text 26"/>
          <p:cNvSpPr/>
          <p:nvPr/>
        </p:nvSpPr>
        <p:spPr>
          <a:xfrm>
            <a:off x="1463040" y="5321808"/>
            <a:ext cx="99056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6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 it around if you can</a:t>
            </a:r>
            <a:endParaRPr lang="en-US" sz="1600" dirty="0"/>
          </a:p>
          <a:p>
            <a:pPr indent="0" marL="0">
              <a:lnSpc>
                <a:spcPct val="102000"/>
              </a:lnSpc>
              <a:spcBef>
                <a:spcPts val="240"/>
              </a:spcBef>
              <a:buNone/>
            </a:pPr>
            <a:r>
              <a:rPr lang="en-US" sz="12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“Which means it supports our case, not theirs.”</a:t>
            </a:r>
            <a:endParaRPr lang="en-US" sz="16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38912"/>
            <a:ext cx="2007108" cy="420624"/>
          </a:xfrm>
          <a:prstGeom prst="roundRect">
            <a:avLst>
              <a:gd name="adj" fmla="val 50000"/>
            </a:avLst>
          </a:prstGeom>
          <a:solidFill>
            <a:srgbClr val="E4572E"/>
          </a:solidFill>
          <a:ln/>
        </p:spPr>
      </p:sp>
      <p:sp>
        <p:nvSpPr>
          <p:cNvPr id="3" name="Shape 1"/>
          <p:cNvSpPr/>
          <p:nvPr/>
        </p:nvSpPr>
        <p:spPr>
          <a:xfrm>
            <a:off x="649224" y="539496"/>
            <a:ext cx="219456" cy="219456"/>
          </a:xfrm>
          <a:prstGeom prst="ellipse">
            <a:avLst/>
          </a:prstGeom>
          <a:solidFill>
            <a:srgbClr val="E4572E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" y="539496"/>
            <a:ext cx="219456" cy="21945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932688" y="438912"/>
            <a:ext cx="15133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SPEAKING 3 OF 5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896112"/>
            <a:ext cx="10972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Sound drill — emphasis and the rule of three</a:t>
            </a:r>
            <a:endParaRPr lang="en-US" sz="38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536192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Say these with real rhythm. Persuasion is partly sound.</a:t>
            </a:r>
            <a:endParaRPr lang="en-US" sz="165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6144768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50" kern="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4 · Advanced Spoken English · Module 3 — Debate &amp; Persuasion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10607040" y="6144768"/>
            <a:ext cx="1033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548640" y="1883664"/>
            <a:ext cx="5410048" cy="3273552"/>
          </a:xfrm>
          <a:prstGeom prst="roundRect">
            <a:avLst>
              <a:gd name="adj" fmla="val 3911"/>
            </a:avLst>
          </a:prstGeom>
          <a:solidFill>
            <a:srgbClr val="E6F5EC"/>
          </a:solidFill>
          <a:ln w="15875">
            <a:solidFill>
              <a:srgbClr val="2E9E5B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786384" y="2103120"/>
            <a:ext cx="420624" cy="420624"/>
          </a:xfrm>
          <a:prstGeom prst="ellipse">
            <a:avLst/>
          </a:prstGeom>
          <a:solidFill>
            <a:srgbClr val="2E9E5B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1540" y="2208276"/>
            <a:ext cx="210312" cy="210312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1335024" y="2103120"/>
            <a:ext cx="440420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E9E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Practise the repetition</a:t>
            </a:r>
            <a:endParaRPr lang="en-US" sz="2000" dirty="0"/>
          </a:p>
        </p:txBody>
      </p:sp>
      <p:sp>
        <p:nvSpPr>
          <p:cNvPr id="15" name="Text 10"/>
          <p:cNvSpPr/>
          <p:nvPr/>
        </p:nvSpPr>
        <p:spPr>
          <a:xfrm>
            <a:off x="822960" y="2724912"/>
            <a:ext cx="4861408" cy="22128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00000"/>
              </a:lnSpc>
              <a:spcAft>
                <a:spcPts val="1100"/>
              </a:spcAft>
              <a:buSzPct val="100000"/>
              <a:buChar char="•"/>
            </a:pPr>
            <a:r>
              <a:rPr lang="en-US" sz="190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“Forty per cent. Forty per cent left before week five.”</a:t>
            </a:r>
            <a:endParaRPr lang="en-US" sz="1900" dirty="0"/>
          </a:p>
          <a:p>
            <a:pPr marL="228600" indent="-228600">
              <a:lnSpc>
                <a:spcPct val="100000"/>
              </a:lnSpc>
              <a:spcAft>
                <a:spcPts val="1100"/>
              </a:spcAft>
              <a:buSzPct val="100000"/>
              <a:buChar char="•"/>
            </a:pPr>
            <a:r>
              <a:rPr lang="en-US" sz="190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“Reduced — not abolished. Reduced, not abolished.”</a:t>
            </a:r>
            <a:endParaRPr lang="en-US" sz="1900" dirty="0"/>
          </a:p>
          <a:p>
            <a:pPr marL="228600" indent="-228600">
              <a:lnSpc>
                <a:spcPct val="100000"/>
              </a:lnSpc>
              <a:spcAft>
                <a:spcPts val="1100"/>
              </a:spcAft>
              <a:buSzPct val="100000"/>
              <a:buChar char="•"/>
            </a:pPr>
            <a:r>
              <a:rPr lang="en-US" sz="190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“No figures. No study. No evidence at all.”</a:t>
            </a:r>
            <a:endParaRPr lang="en-US" sz="1900" dirty="0"/>
          </a:p>
        </p:txBody>
      </p:sp>
      <p:sp>
        <p:nvSpPr>
          <p:cNvPr id="16" name="Shape 11"/>
          <p:cNvSpPr/>
          <p:nvPr/>
        </p:nvSpPr>
        <p:spPr>
          <a:xfrm>
            <a:off x="6233008" y="1883664"/>
            <a:ext cx="5410048" cy="3273552"/>
          </a:xfrm>
          <a:prstGeom prst="roundRect">
            <a:avLst>
              <a:gd name="adj" fmla="val 3911"/>
            </a:avLst>
          </a:prstGeom>
          <a:solidFill>
            <a:srgbClr val="FBEAEA"/>
          </a:solidFill>
          <a:ln w="15875">
            <a:solidFill>
              <a:srgbClr val="D64545"/>
            </a:solidFill>
            <a:prstDash val="solid"/>
          </a:ln>
        </p:spPr>
      </p:sp>
      <p:sp>
        <p:nvSpPr>
          <p:cNvPr id="17" name="Shape 12"/>
          <p:cNvSpPr/>
          <p:nvPr/>
        </p:nvSpPr>
        <p:spPr>
          <a:xfrm>
            <a:off x="6470752" y="2103120"/>
            <a:ext cx="420624" cy="420624"/>
          </a:xfrm>
          <a:prstGeom prst="ellipse">
            <a:avLst/>
          </a:prstGeom>
          <a:solidFill>
            <a:srgbClr val="D64545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75908" y="2208276"/>
            <a:ext cx="210312" cy="210312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7019392" y="2103120"/>
            <a:ext cx="440420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D64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say it</a:t>
            </a:r>
            <a:endParaRPr lang="en-US" sz="2000" dirty="0"/>
          </a:p>
        </p:txBody>
      </p:sp>
      <p:sp>
        <p:nvSpPr>
          <p:cNvPr id="20" name="Text 14"/>
          <p:cNvSpPr/>
          <p:nvPr/>
        </p:nvSpPr>
        <p:spPr>
          <a:xfrm>
            <a:off x="6507328" y="2724912"/>
            <a:ext cx="4861408" cy="22128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00000"/>
              </a:lnSpc>
              <a:spcAft>
                <a:spcPts val="1100"/>
              </a:spcAft>
              <a:buSzPct val="100000"/>
              <a:buChar char="•"/>
            </a:pPr>
            <a:r>
              <a:rPr lang="en-US" sz="190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Pause before the repeat. Then say it slower.</a:t>
            </a:r>
            <a:endParaRPr lang="en-US" sz="1900" dirty="0"/>
          </a:p>
          <a:p>
            <a:pPr marL="228600" indent="-228600">
              <a:lnSpc>
                <a:spcPct val="100000"/>
              </a:lnSpc>
              <a:spcAft>
                <a:spcPts val="1100"/>
              </a:spcAft>
              <a:buSzPct val="100000"/>
              <a:buChar char="•"/>
            </a:pPr>
            <a:r>
              <a:rPr lang="en-US" sz="190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Stress “not”. Fall at the end of both halves.</a:t>
            </a:r>
            <a:endParaRPr lang="en-US" sz="1900" dirty="0"/>
          </a:p>
          <a:p>
            <a:pPr marL="228600" indent="-228600">
              <a:lnSpc>
                <a:spcPct val="100000"/>
              </a:lnSpc>
              <a:spcAft>
                <a:spcPts val="1100"/>
              </a:spcAft>
              <a:buSzPct val="100000"/>
              <a:buChar char="•"/>
            </a:pPr>
            <a:r>
              <a:rPr lang="en-US" sz="190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beats. Each one slightly stronger.</a:t>
            </a:r>
            <a:endParaRPr lang="en-US" sz="1900" dirty="0"/>
          </a:p>
        </p:txBody>
      </p:sp>
      <p:sp>
        <p:nvSpPr>
          <p:cNvPr id="21" name="Shape 15"/>
          <p:cNvSpPr/>
          <p:nvPr/>
        </p:nvSpPr>
        <p:spPr>
          <a:xfrm>
            <a:off x="548640" y="5285232"/>
            <a:ext cx="11094415" cy="658368"/>
          </a:xfrm>
          <a:prstGeom prst="roundRect">
            <a:avLst>
              <a:gd name="adj" fmla="val 19444"/>
            </a:avLst>
          </a:prstGeom>
          <a:solidFill>
            <a:srgbClr val="FDF3E7"/>
          </a:solidFill>
          <a:ln w="12700">
            <a:solidFill>
              <a:srgbClr val="EFDCB2"/>
            </a:solidFill>
            <a:prstDash val="solid"/>
          </a:ln>
        </p:spPr>
      </p:sp>
      <p:sp>
        <p:nvSpPr>
          <p:cNvPr id="22" name="Text 16"/>
          <p:cNvSpPr txBox="1"/>
          <p:nvPr/>
        </p:nvSpPr>
        <p:spPr>
          <a:xfrm>
            <a:off x="786384" y="5285232"/>
            <a:ext cx="10618927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Say the repeated phrase SLOWER than the rest, not louder. Slowing down is what makes a phrase sound deliberate rather than nervous.</a:t>
            </a:r>
            <a:endParaRPr lang="en-US" sz="16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38912"/>
            <a:ext cx="2007108" cy="420624"/>
          </a:xfrm>
          <a:prstGeom prst="roundRect">
            <a:avLst>
              <a:gd name="adj" fmla="val 50000"/>
            </a:avLst>
          </a:prstGeom>
          <a:solidFill>
            <a:srgbClr val="E4572E"/>
          </a:solidFill>
          <a:ln/>
        </p:spPr>
      </p:sp>
      <p:sp>
        <p:nvSpPr>
          <p:cNvPr id="3" name="Shape 1"/>
          <p:cNvSpPr/>
          <p:nvPr/>
        </p:nvSpPr>
        <p:spPr>
          <a:xfrm>
            <a:off x="649224" y="539496"/>
            <a:ext cx="219456" cy="219456"/>
          </a:xfrm>
          <a:prstGeom prst="ellipse">
            <a:avLst/>
          </a:prstGeom>
          <a:solidFill>
            <a:srgbClr val="E4572E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" y="539496"/>
            <a:ext cx="219456" cy="21945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932688" y="438912"/>
            <a:ext cx="15133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SPEAKING 4 OF 5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896112"/>
            <a:ext cx="10972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Activity 4 — the hard question round</a:t>
            </a:r>
            <a:endParaRPr lang="en-US" sz="38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536192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questions. Four techniques. No preparation.</a:t>
            </a:r>
            <a:endParaRPr lang="en-US" sz="165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6144768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50" kern="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4 · Advanced Spoken English · Module 3 — Debate &amp; Persuasion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10607040" y="6144768"/>
            <a:ext cx="1033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548640" y="1883664"/>
            <a:ext cx="11094415" cy="694944"/>
          </a:xfrm>
          <a:prstGeom prst="roundRect">
            <a:avLst>
              <a:gd name="adj" fmla="val 18421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786384" y="2002536"/>
            <a:ext cx="457200" cy="457200"/>
          </a:xfrm>
          <a:prstGeom prst="ellipse">
            <a:avLst/>
          </a:prstGeom>
          <a:solidFill>
            <a:srgbClr val="E4572E"/>
          </a:solidFill>
          <a:ln/>
        </p:spPr>
      </p:sp>
      <p:sp>
        <p:nvSpPr>
          <p:cNvPr id="13" name="Text 9"/>
          <p:cNvSpPr txBox="1"/>
          <p:nvPr/>
        </p:nvSpPr>
        <p:spPr>
          <a:xfrm>
            <a:off x="786384" y="200253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1463040" y="1956816"/>
            <a:ext cx="99056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6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question you cannot answer</a:t>
            </a:r>
            <a:endParaRPr lang="en-US" sz="1600" dirty="0"/>
          </a:p>
          <a:p>
            <a:pPr indent="0" marL="0">
              <a:lnSpc>
                <a:spcPct val="102000"/>
              </a:lnSpc>
              <a:spcBef>
                <a:spcPts val="240"/>
              </a:spcBef>
              <a:buNone/>
            </a:pPr>
            <a:r>
              <a:rPr lang="en-US" sz="12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“I don't have that figure… the main point is…”</a:t>
            </a:r>
            <a:endParaRPr lang="en-US" sz="1600" dirty="0"/>
          </a:p>
        </p:txBody>
      </p:sp>
      <p:sp>
        <p:nvSpPr>
          <p:cNvPr id="15" name="Shape 11"/>
          <p:cNvSpPr/>
          <p:nvPr/>
        </p:nvSpPr>
        <p:spPr>
          <a:xfrm>
            <a:off x="548640" y="2724912"/>
            <a:ext cx="11094415" cy="694944"/>
          </a:xfrm>
          <a:prstGeom prst="roundRect">
            <a:avLst>
              <a:gd name="adj" fmla="val 18421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786384" y="2843784"/>
            <a:ext cx="457200" cy="457200"/>
          </a:xfrm>
          <a:prstGeom prst="ellipse">
            <a:avLst/>
          </a:prstGeom>
          <a:solidFill>
            <a:srgbClr val="E4572E"/>
          </a:solidFill>
          <a:ln/>
        </p:spPr>
      </p:sp>
      <p:sp>
        <p:nvSpPr>
          <p:cNvPr id="17" name="Text 13"/>
          <p:cNvSpPr txBox="1"/>
          <p:nvPr/>
        </p:nvSpPr>
        <p:spPr>
          <a:xfrm>
            <a:off x="786384" y="284378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8" name="Text 14"/>
          <p:cNvSpPr/>
          <p:nvPr/>
        </p:nvSpPr>
        <p:spPr>
          <a:xfrm>
            <a:off x="1463040" y="2798064"/>
            <a:ext cx="99056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6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question with a false premise</a:t>
            </a:r>
            <a:endParaRPr lang="en-US" sz="1600" dirty="0"/>
          </a:p>
          <a:p>
            <a:pPr indent="0" marL="0">
              <a:lnSpc>
                <a:spcPct val="102000"/>
              </a:lnSpc>
              <a:spcBef>
                <a:spcPts val="240"/>
              </a:spcBef>
              <a:buNone/>
            </a:pPr>
            <a:r>
              <a:rPr lang="en-US" sz="12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“That assumes X, and I'd question that.”</a:t>
            </a:r>
            <a:endParaRPr lang="en-US" sz="1600" dirty="0"/>
          </a:p>
        </p:txBody>
      </p:sp>
      <p:sp>
        <p:nvSpPr>
          <p:cNvPr id="19" name="Shape 15"/>
          <p:cNvSpPr/>
          <p:nvPr/>
        </p:nvSpPr>
        <p:spPr>
          <a:xfrm>
            <a:off x="548640" y="3566160"/>
            <a:ext cx="11094415" cy="694944"/>
          </a:xfrm>
          <a:prstGeom prst="roundRect">
            <a:avLst>
              <a:gd name="adj" fmla="val 18421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786384" y="3685032"/>
            <a:ext cx="457200" cy="457200"/>
          </a:xfrm>
          <a:prstGeom prst="ellipse">
            <a:avLst/>
          </a:prstGeom>
          <a:solidFill>
            <a:srgbClr val="E4572E"/>
          </a:solidFill>
          <a:ln/>
        </p:spPr>
      </p:sp>
      <p:sp>
        <p:nvSpPr>
          <p:cNvPr id="21" name="Text 17"/>
          <p:cNvSpPr txBox="1"/>
          <p:nvPr/>
        </p:nvSpPr>
        <p:spPr>
          <a:xfrm>
            <a:off x="786384" y="36850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2" name="Text 18"/>
          <p:cNvSpPr/>
          <p:nvPr/>
        </p:nvSpPr>
        <p:spPr>
          <a:xfrm>
            <a:off x="1463040" y="3639312"/>
            <a:ext cx="99056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6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question you need time for</a:t>
            </a:r>
            <a:endParaRPr lang="en-US" sz="1600" dirty="0"/>
          </a:p>
          <a:p>
            <a:pPr indent="0" marL="0">
              <a:lnSpc>
                <a:spcPct val="102000"/>
              </a:lnSpc>
              <a:spcBef>
                <a:spcPts val="240"/>
              </a:spcBef>
              <a:buNone/>
            </a:pPr>
            <a:r>
              <a:rPr lang="en-US" sz="12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“Let me take it in two parts.”</a:t>
            </a:r>
            <a:endParaRPr lang="en-US" sz="1600" dirty="0"/>
          </a:p>
        </p:txBody>
      </p:sp>
      <p:sp>
        <p:nvSpPr>
          <p:cNvPr id="23" name="Shape 19"/>
          <p:cNvSpPr/>
          <p:nvPr/>
        </p:nvSpPr>
        <p:spPr>
          <a:xfrm>
            <a:off x="548640" y="4407408"/>
            <a:ext cx="11094415" cy="694944"/>
          </a:xfrm>
          <a:prstGeom prst="roundRect">
            <a:avLst>
              <a:gd name="adj" fmla="val 18421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24" name="Shape 20"/>
          <p:cNvSpPr/>
          <p:nvPr/>
        </p:nvSpPr>
        <p:spPr>
          <a:xfrm>
            <a:off x="786384" y="4526280"/>
            <a:ext cx="457200" cy="457200"/>
          </a:xfrm>
          <a:prstGeom prst="ellipse">
            <a:avLst/>
          </a:prstGeom>
          <a:solidFill>
            <a:srgbClr val="E4572E"/>
          </a:solidFill>
          <a:ln/>
        </p:spPr>
      </p:sp>
      <p:sp>
        <p:nvSpPr>
          <p:cNvPr id="25" name="Text 21"/>
          <p:cNvSpPr txBox="1"/>
          <p:nvPr/>
        </p:nvSpPr>
        <p:spPr>
          <a:xfrm>
            <a:off x="786384" y="45262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6" name="Text 22"/>
          <p:cNvSpPr/>
          <p:nvPr/>
        </p:nvSpPr>
        <p:spPr>
          <a:xfrm>
            <a:off x="1463040" y="4480560"/>
            <a:ext cx="99056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6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question that is genuinely off the point</a:t>
            </a:r>
            <a:endParaRPr lang="en-US" sz="1600" dirty="0"/>
          </a:p>
          <a:p>
            <a:pPr indent="0" marL="0">
              <a:lnSpc>
                <a:spcPct val="102000"/>
              </a:lnSpc>
              <a:spcBef>
                <a:spcPts val="240"/>
              </a:spcBef>
              <a:buNone/>
            </a:pPr>
            <a:r>
              <a:rPr lang="en-US" sz="12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“I think that's a different question.”</a:t>
            </a:r>
            <a:endParaRPr lang="en-US" sz="1600" dirty="0"/>
          </a:p>
        </p:txBody>
      </p:sp>
      <p:sp>
        <p:nvSpPr>
          <p:cNvPr id="27" name="Shape 23"/>
          <p:cNvSpPr/>
          <p:nvPr/>
        </p:nvSpPr>
        <p:spPr>
          <a:xfrm>
            <a:off x="548640" y="5248656"/>
            <a:ext cx="11094415" cy="694944"/>
          </a:xfrm>
          <a:prstGeom prst="roundRect">
            <a:avLst>
              <a:gd name="adj" fmla="val 18421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28" name="Shape 24"/>
          <p:cNvSpPr/>
          <p:nvPr/>
        </p:nvSpPr>
        <p:spPr>
          <a:xfrm>
            <a:off x="786384" y="5367528"/>
            <a:ext cx="457200" cy="457200"/>
          </a:xfrm>
          <a:prstGeom prst="ellipse">
            <a:avLst/>
          </a:prstGeom>
          <a:solidFill>
            <a:srgbClr val="E4572E"/>
          </a:solidFill>
          <a:ln/>
        </p:spPr>
      </p:sp>
      <p:sp>
        <p:nvSpPr>
          <p:cNvPr id="29" name="Text 25"/>
          <p:cNvSpPr txBox="1"/>
          <p:nvPr/>
        </p:nvSpPr>
        <p:spPr>
          <a:xfrm>
            <a:off x="786384" y="53675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30" name="Text 26"/>
          <p:cNvSpPr/>
          <p:nvPr/>
        </p:nvSpPr>
        <p:spPr>
          <a:xfrm>
            <a:off x="1463040" y="5321808"/>
            <a:ext cx="99056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6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all four, in a random order</a:t>
            </a:r>
            <a:endParaRPr lang="en-US" sz="1600" dirty="0"/>
          </a:p>
          <a:p>
            <a:pPr indent="0" marL="0">
              <a:lnSpc>
                <a:spcPct val="102000"/>
              </a:lnSpc>
              <a:spcBef>
                <a:spcPts val="240"/>
              </a:spcBef>
              <a:buNone/>
            </a:pPr>
            <a:r>
              <a:rPr lang="en-US" sz="12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warning which is which.</a:t>
            </a:r>
            <a:endParaRPr lang="en-US" sz="16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38912"/>
            <a:ext cx="2007108" cy="420624"/>
          </a:xfrm>
          <a:prstGeom prst="roundRect">
            <a:avLst>
              <a:gd name="adj" fmla="val 50000"/>
            </a:avLst>
          </a:prstGeom>
          <a:solidFill>
            <a:srgbClr val="E4572E"/>
          </a:solidFill>
          <a:ln/>
        </p:spPr>
      </p:sp>
      <p:sp>
        <p:nvSpPr>
          <p:cNvPr id="3" name="Shape 1"/>
          <p:cNvSpPr/>
          <p:nvPr/>
        </p:nvSpPr>
        <p:spPr>
          <a:xfrm>
            <a:off x="649224" y="539496"/>
            <a:ext cx="219456" cy="219456"/>
          </a:xfrm>
          <a:prstGeom prst="ellipse">
            <a:avLst/>
          </a:prstGeom>
          <a:solidFill>
            <a:srgbClr val="E4572E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" y="539496"/>
            <a:ext cx="219456" cy="21945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932688" y="438912"/>
            <a:ext cx="15133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SPEAKING 5 OF 5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896112"/>
            <a:ext cx="10972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Speaking challenge — the full debate</a:t>
            </a:r>
            <a:endParaRPr lang="en-US" sz="38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6144768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50" kern="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4 · Advanced Spoken English · Module 3 — Debate &amp; Persuasion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10607040" y="6144768"/>
            <a:ext cx="1033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</a:t>
            </a:r>
            <a:endParaRPr lang="en-US" sz="1100" dirty="0"/>
          </a:p>
        </p:txBody>
      </p:sp>
      <p:sp>
        <p:nvSpPr>
          <p:cNvPr id="10" name="Shape 6"/>
          <p:cNvSpPr/>
          <p:nvPr/>
        </p:nvSpPr>
        <p:spPr>
          <a:xfrm>
            <a:off x="548640" y="1700784"/>
            <a:ext cx="11094415" cy="630936"/>
          </a:xfrm>
          <a:prstGeom prst="roundRect">
            <a:avLst>
              <a:gd name="adj" fmla="val 20290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786384" y="1787652"/>
            <a:ext cx="457200" cy="457200"/>
          </a:xfrm>
          <a:prstGeom prst="ellipse">
            <a:avLst/>
          </a:prstGeom>
          <a:solidFill>
            <a:srgbClr val="E4572E"/>
          </a:solidFill>
          <a:ln/>
        </p:spPr>
      </p:sp>
      <p:sp>
        <p:nvSpPr>
          <p:cNvPr id="12" name="Text 8"/>
          <p:cNvSpPr txBox="1"/>
          <p:nvPr/>
        </p:nvSpPr>
        <p:spPr>
          <a:xfrm>
            <a:off x="786384" y="17876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1463040" y="1773936"/>
            <a:ext cx="9905695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63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OPENING — 90 seconds. Narrowed position, three lines.</a:t>
            </a:r>
            <a:endParaRPr lang="en-US" sz="1630" dirty="0"/>
          </a:p>
          <a:p>
            <a:pPr indent="0" marL="0">
              <a:lnSpc>
                <a:spcPct val="102000"/>
              </a:lnSpc>
              <a:spcBef>
                <a:spcPts val="257"/>
              </a:spcBef>
              <a:buNone/>
            </a:pPr>
            <a:r>
              <a:rPr lang="en-US" sz="12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Memorised first two sentences.</a:t>
            </a:r>
            <a:endParaRPr lang="en-US" sz="1630" dirty="0"/>
          </a:p>
        </p:txBody>
      </p:sp>
      <p:sp>
        <p:nvSpPr>
          <p:cNvPr id="14" name="Shape 10"/>
          <p:cNvSpPr/>
          <p:nvPr/>
        </p:nvSpPr>
        <p:spPr>
          <a:xfrm>
            <a:off x="548640" y="2423160"/>
            <a:ext cx="11094415" cy="630936"/>
          </a:xfrm>
          <a:prstGeom prst="roundRect">
            <a:avLst>
              <a:gd name="adj" fmla="val 20290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786384" y="2510028"/>
            <a:ext cx="457200" cy="457200"/>
          </a:xfrm>
          <a:prstGeom prst="ellipse">
            <a:avLst/>
          </a:prstGeom>
          <a:solidFill>
            <a:srgbClr val="E4572E"/>
          </a:solidFill>
          <a:ln/>
        </p:spPr>
      </p:sp>
      <p:sp>
        <p:nvSpPr>
          <p:cNvPr id="16" name="Text 12"/>
          <p:cNvSpPr txBox="1"/>
          <p:nvPr/>
        </p:nvSpPr>
        <p:spPr>
          <a:xfrm>
            <a:off x="786384" y="25100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7" name="Text 13"/>
          <p:cNvSpPr/>
          <p:nvPr/>
        </p:nvSpPr>
        <p:spPr>
          <a:xfrm>
            <a:off x="1463040" y="2496312"/>
            <a:ext cx="9905695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63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 and take notes on their three points</a:t>
            </a:r>
            <a:endParaRPr lang="en-US" sz="1630" dirty="0"/>
          </a:p>
          <a:p>
            <a:pPr indent="0" marL="0">
              <a:lnSpc>
                <a:spcPct val="102000"/>
              </a:lnSpc>
              <a:spcBef>
                <a:spcPts val="257"/>
              </a:spcBef>
              <a:buNone/>
            </a:pPr>
            <a:r>
              <a:rPr lang="en-US" sz="12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 the load-bearing one.</a:t>
            </a:r>
            <a:endParaRPr lang="en-US" sz="1630" dirty="0"/>
          </a:p>
        </p:txBody>
      </p:sp>
      <p:sp>
        <p:nvSpPr>
          <p:cNvPr id="18" name="Shape 14"/>
          <p:cNvSpPr/>
          <p:nvPr/>
        </p:nvSpPr>
        <p:spPr>
          <a:xfrm>
            <a:off x="548640" y="3145536"/>
            <a:ext cx="11094415" cy="630936"/>
          </a:xfrm>
          <a:prstGeom prst="roundRect">
            <a:avLst>
              <a:gd name="adj" fmla="val 20290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786384" y="3232404"/>
            <a:ext cx="457200" cy="457200"/>
          </a:xfrm>
          <a:prstGeom prst="ellipse">
            <a:avLst/>
          </a:prstGeom>
          <a:solidFill>
            <a:srgbClr val="E4572E"/>
          </a:solidFill>
          <a:ln/>
        </p:spPr>
      </p:sp>
      <p:sp>
        <p:nvSpPr>
          <p:cNvPr id="20" name="Text 16"/>
          <p:cNvSpPr txBox="1"/>
          <p:nvPr/>
        </p:nvSpPr>
        <p:spPr>
          <a:xfrm>
            <a:off x="786384" y="323240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1" name="Text 17"/>
          <p:cNvSpPr/>
          <p:nvPr/>
        </p:nvSpPr>
        <p:spPr>
          <a:xfrm>
            <a:off x="1463040" y="3218688"/>
            <a:ext cx="9905695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63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REBUTTAL — 60 seconds, ONE target, four steps</a:t>
            </a:r>
            <a:endParaRPr lang="en-US" sz="1630" dirty="0"/>
          </a:p>
          <a:p>
            <a:pPr indent="0" marL="0">
              <a:lnSpc>
                <a:spcPct val="102000"/>
              </a:lnSpc>
              <a:spcBef>
                <a:spcPts val="257"/>
              </a:spcBef>
              <a:buNone/>
            </a:pPr>
            <a:r>
              <a:rPr lang="en-US" sz="12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 it around if you can.</a:t>
            </a:r>
            <a:endParaRPr lang="en-US" sz="1630" dirty="0"/>
          </a:p>
        </p:txBody>
      </p:sp>
      <p:sp>
        <p:nvSpPr>
          <p:cNvPr id="22" name="Shape 18"/>
          <p:cNvSpPr/>
          <p:nvPr/>
        </p:nvSpPr>
        <p:spPr>
          <a:xfrm>
            <a:off x="548640" y="3867912"/>
            <a:ext cx="11094415" cy="630936"/>
          </a:xfrm>
          <a:prstGeom prst="roundRect">
            <a:avLst>
              <a:gd name="adj" fmla="val 20290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23" name="Shape 19"/>
          <p:cNvSpPr/>
          <p:nvPr/>
        </p:nvSpPr>
        <p:spPr>
          <a:xfrm>
            <a:off x="786384" y="3954780"/>
            <a:ext cx="457200" cy="457200"/>
          </a:xfrm>
          <a:prstGeom prst="ellipse">
            <a:avLst/>
          </a:prstGeom>
          <a:solidFill>
            <a:srgbClr val="E4572E"/>
          </a:solidFill>
          <a:ln/>
        </p:spPr>
      </p:sp>
      <p:sp>
        <p:nvSpPr>
          <p:cNvPr id="24" name="Text 20"/>
          <p:cNvSpPr txBox="1"/>
          <p:nvPr/>
        </p:nvSpPr>
        <p:spPr>
          <a:xfrm>
            <a:off x="786384" y="39547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5" name="Text 21"/>
          <p:cNvSpPr/>
          <p:nvPr/>
        </p:nvSpPr>
        <p:spPr>
          <a:xfrm>
            <a:off x="1463040" y="3941064"/>
            <a:ext cx="9905695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63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— three from the floor</a:t>
            </a:r>
            <a:endParaRPr lang="en-US" sz="1630" dirty="0"/>
          </a:p>
          <a:p>
            <a:pPr indent="0" marL="0">
              <a:lnSpc>
                <a:spcPct val="102000"/>
              </a:lnSpc>
              <a:spcBef>
                <a:spcPts val="257"/>
              </a:spcBef>
              <a:buNone/>
            </a:pPr>
            <a:r>
              <a:rPr lang="en-US" sz="12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will be unanswerable.</a:t>
            </a:r>
            <a:endParaRPr lang="en-US" sz="1630" dirty="0"/>
          </a:p>
        </p:txBody>
      </p:sp>
      <p:sp>
        <p:nvSpPr>
          <p:cNvPr id="26" name="Shape 22"/>
          <p:cNvSpPr/>
          <p:nvPr/>
        </p:nvSpPr>
        <p:spPr>
          <a:xfrm>
            <a:off x="548640" y="4590288"/>
            <a:ext cx="11094415" cy="630936"/>
          </a:xfrm>
          <a:prstGeom prst="roundRect">
            <a:avLst>
              <a:gd name="adj" fmla="val 20290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27" name="Shape 23"/>
          <p:cNvSpPr/>
          <p:nvPr/>
        </p:nvSpPr>
        <p:spPr>
          <a:xfrm>
            <a:off x="786384" y="4677156"/>
            <a:ext cx="457200" cy="457200"/>
          </a:xfrm>
          <a:prstGeom prst="ellipse">
            <a:avLst/>
          </a:prstGeom>
          <a:solidFill>
            <a:srgbClr val="E4572E"/>
          </a:solidFill>
          <a:ln/>
        </p:spPr>
      </p:sp>
      <p:sp>
        <p:nvSpPr>
          <p:cNvPr id="28" name="Text 24"/>
          <p:cNvSpPr txBox="1"/>
          <p:nvPr/>
        </p:nvSpPr>
        <p:spPr>
          <a:xfrm>
            <a:off x="786384" y="467715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9" name="Text 25"/>
          <p:cNvSpPr/>
          <p:nvPr/>
        </p:nvSpPr>
        <p:spPr>
          <a:xfrm>
            <a:off x="1463040" y="4663440"/>
            <a:ext cx="9905695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63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CLOSING — 60 seconds. One number, one phrase.</a:t>
            </a:r>
            <a:endParaRPr lang="en-US" sz="1630" dirty="0"/>
          </a:p>
          <a:p>
            <a:pPr indent="0" marL="0">
              <a:lnSpc>
                <a:spcPct val="102000"/>
              </a:lnSpc>
              <a:spcBef>
                <a:spcPts val="257"/>
              </a:spcBef>
              <a:buNone/>
            </a:pPr>
            <a:r>
              <a:rPr lang="en-US" sz="12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new arguments. “What's at stake…”</a:t>
            </a:r>
            <a:endParaRPr lang="en-US" sz="1630" dirty="0"/>
          </a:p>
        </p:txBody>
      </p:sp>
      <p:sp>
        <p:nvSpPr>
          <p:cNvPr id="30" name="Shape 26"/>
          <p:cNvSpPr/>
          <p:nvPr/>
        </p:nvSpPr>
        <p:spPr>
          <a:xfrm>
            <a:off x="548640" y="5312664"/>
            <a:ext cx="11094415" cy="630936"/>
          </a:xfrm>
          <a:prstGeom prst="roundRect">
            <a:avLst>
              <a:gd name="adj" fmla="val 20290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31" name="Shape 27"/>
          <p:cNvSpPr/>
          <p:nvPr/>
        </p:nvSpPr>
        <p:spPr>
          <a:xfrm>
            <a:off x="786384" y="5399532"/>
            <a:ext cx="457200" cy="457200"/>
          </a:xfrm>
          <a:prstGeom prst="ellipse">
            <a:avLst/>
          </a:prstGeom>
          <a:solidFill>
            <a:srgbClr val="E4572E"/>
          </a:solidFill>
          <a:ln/>
        </p:spPr>
      </p:sp>
      <p:sp>
        <p:nvSpPr>
          <p:cNvPr id="32" name="Text 28"/>
          <p:cNvSpPr txBox="1"/>
          <p:nvPr/>
        </p:nvSpPr>
        <p:spPr>
          <a:xfrm>
            <a:off x="786384" y="53995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33" name="Text 29"/>
          <p:cNvSpPr/>
          <p:nvPr/>
        </p:nvSpPr>
        <p:spPr>
          <a:xfrm>
            <a:off x="1463040" y="5385816"/>
            <a:ext cx="9905695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63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Concede at least one point during the debate</a:t>
            </a:r>
            <a:endParaRPr lang="en-US" sz="1630" dirty="0"/>
          </a:p>
          <a:p>
            <a:pPr indent="0" marL="0">
              <a:lnSpc>
                <a:spcPct val="102000"/>
              </a:lnSpc>
              <a:spcBef>
                <a:spcPts val="257"/>
              </a:spcBef>
              <a:buNone/>
            </a:pPr>
            <a:r>
              <a:rPr lang="en-US" sz="12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bound the damage.</a:t>
            </a:r>
            <a:endParaRPr lang="en-US" sz="163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38912"/>
            <a:ext cx="2103120" cy="420624"/>
          </a:xfrm>
          <a:prstGeom prst="roundRect">
            <a:avLst>
              <a:gd name="adj" fmla="val 50000"/>
            </a:avLst>
          </a:prstGeom>
          <a:solidFill>
            <a:srgbClr val="1FA3A3"/>
          </a:solidFill>
          <a:ln/>
        </p:spPr>
      </p:sp>
      <p:sp>
        <p:nvSpPr>
          <p:cNvPr id="3" name="Shape 1"/>
          <p:cNvSpPr/>
          <p:nvPr/>
        </p:nvSpPr>
        <p:spPr>
          <a:xfrm>
            <a:off x="649224" y="539496"/>
            <a:ext cx="219456" cy="219456"/>
          </a:xfrm>
          <a:prstGeom prst="ellipse">
            <a:avLst/>
          </a:prstGeom>
          <a:solidFill>
            <a:srgbClr val="1FA3A3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" y="539496"/>
            <a:ext cx="219456" cy="21945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932688" y="438912"/>
            <a:ext cx="160934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LISTENING 1 OF 5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896112"/>
            <a:ext cx="10972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Listening 1 — two openings</a:t>
            </a:r>
            <a:endParaRPr lang="en-US" sz="38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536192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side. Which one frames the debate better?</a:t>
            </a:r>
            <a:endParaRPr lang="en-US" sz="165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6144768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50" kern="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4 · Advanced Spoken English · Module 3 — Debate &amp; Persuasion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10607040" y="6144768"/>
            <a:ext cx="1033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548640" y="1883664"/>
            <a:ext cx="6583680" cy="4059936"/>
          </a:xfrm>
          <a:prstGeom prst="roundRect">
            <a:avLst>
              <a:gd name="adj" fmla="val 3153"/>
            </a:avLst>
          </a:prstGeom>
          <a:solidFill>
            <a:srgbClr val="E8F6F6"/>
          </a:solidFill>
          <a:ln w="15875">
            <a:solidFill>
              <a:srgbClr val="1FA3A3"/>
            </a:solidFill>
            <a:prstDash val="solid"/>
          </a:ln>
          <a:effectLst>
            <a:outerShdw sx="100000" sy="100000" kx="0" ky="0" algn="bl" rotWithShape="0" blurRad="101600" dist="25400" dir="5400000">
              <a:srgbClr val="94A69C">
                <a:alpha val="30000"/>
              </a:srgbClr>
            </a:outerShdw>
          </a:effectLst>
        </p:spPr>
      </p:sp>
      <p:sp>
        <p:nvSpPr>
          <p:cNvPr id="12" name="Text 8"/>
          <p:cNvSpPr txBox="1"/>
          <p:nvPr/>
        </p:nvSpPr>
        <p:spPr>
          <a:xfrm>
            <a:off x="822960" y="2103120"/>
            <a:ext cx="6035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1FA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AUDIO SCRIPT — READ A, THEN B</a:t>
            </a:r>
            <a:endParaRPr lang="en-US" sz="1200" dirty="0"/>
          </a:p>
        </p:txBody>
      </p:sp>
      <p:sp>
        <p:nvSpPr>
          <p:cNvPr id="13" name="Text 9"/>
          <p:cNvSpPr txBox="1"/>
          <p:nvPr/>
        </p:nvSpPr>
        <p:spPr>
          <a:xfrm>
            <a:off x="822960" y="2487168"/>
            <a:ext cx="6035040" cy="3218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20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200" dirty="0"/>
          </a:p>
          <a:p>
            <a:pPr indent="0" marL="0">
              <a:lnSpc>
                <a:spcPct val="124000"/>
              </a:lnSpc>
              <a:buNone/>
            </a:pPr>
            <a:r>
              <a:rPr lang="en-US" sz="120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“I think homework is bad. Students are tired and</a:t>
            </a:r>
            <a:endParaRPr lang="en-US" sz="1200" dirty="0"/>
          </a:p>
          <a:p>
            <a:pPr indent="0" marL="0">
              <a:lnSpc>
                <a:spcPct val="124000"/>
              </a:lnSpc>
              <a:buNone/>
            </a:pPr>
            <a:r>
              <a:rPr lang="en-US" sz="120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don't have time and some of them work in</a:t>
            </a:r>
            <a:endParaRPr lang="en-US" sz="1200" dirty="0"/>
          </a:p>
          <a:p>
            <a:pPr indent="0" marL="0">
              <a:lnSpc>
                <a:spcPct val="124000"/>
              </a:lnSpc>
              <a:buNone/>
            </a:pPr>
            <a:r>
              <a:rPr lang="en-US" sz="120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evenings and it's not fair, and also the</a:t>
            </a:r>
            <a:endParaRPr lang="en-US" sz="1200" dirty="0"/>
          </a:p>
          <a:p>
            <a:pPr indent="0" marL="0">
              <a:lnSpc>
                <a:spcPct val="124000"/>
              </a:lnSpc>
              <a:buNone/>
            </a:pPr>
            <a:r>
              <a:rPr lang="en-US" sz="120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teachers don't even mark it properly half the</a:t>
            </a:r>
            <a:endParaRPr lang="en-US" sz="1200" dirty="0"/>
          </a:p>
          <a:p>
            <a:pPr indent="0" marL="0">
              <a:lnSpc>
                <a:spcPct val="124000"/>
              </a:lnSpc>
              <a:buNone/>
            </a:pPr>
            <a:r>
              <a:rPr lang="en-US" sz="120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time, and…”</a:t>
            </a:r>
            <a:endParaRPr lang="en-US" sz="1200" dirty="0"/>
          </a:p>
          <a:p>
            <a:pPr indent="0" marL="0">
              <a:lnSpc>
                <a:spcPct val="124000"/>
              </a:lnSpc>
              <a:buNone/>
            </a:pPr>
            <a:endParaRPr lang="en-US" sz="1200" dirty="0"/>
          </a:p>
          <a:p>
            <a:pPr indent="0" marL="0">
              <a:lnSpc>
                <a:spcPct val="124000"/>
              </a:lnSpc>
              <a:buNone/>
            </a:pPr>
            <a:r>
              <a:rPr lang="en-US" sz="120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200" dirty="0"/>
          </a:p>
          <a:p>
            <a:pPr indent="0" marL="0">
              <a:lnSpc>
                <a:spcPct val="124000"/>
              </a:lnSpc>
              <a:buNone/>
            </a:pPr>
            <a:r>
              <a:rPr lang="en-US" sz="120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“Our position is that homework should be</a:t>
            </a:r>
            <a:endParaRPr lang="en-US" sz="1200" dirty="0"/>
          </a:p>
          <a:p>
            <a:pPr indent="0" marL="0">
              <a:lnSpc>
                <a:spcPct val="124000"/>
              </a:lnSpc>
              <a:buNone/>
            </a:pPr>
            <a:r>
              <a:rPr lang="en-US" sz="120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reduced — not abolished.</a:t>
            </a:r>
            <a:endParaRPr lang="en-US" sz="1200" dirty="0"/>
          </a:p>
          <a:p>
            <a:pPr indent="0" marL="0">
              <a:lnSpc>
                <a:spcPct val="124000"/>
              </a:lnSpc>
              <a:buNone/>
            </a:pPr>
            <a:r>
              <a:rPr lang="en-US" sz="120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I'll show three things: it doesn't improve results</a:t>
            </a:r>
            <a:endParaRPr lang="en-US" sz="1200" dirty="0"/>
          </a:p>
          <a:p>
            <a:pPr indent="0" marL="0">
              <a:lnSpc>
                <a:spcPct val="124000"/>
              </a:lnSpc>
              <a:buNone/>
            </a:pPr>
            <a:r>
              <a:rPr lang="en-US" sz="120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beyond an hour a night, it widens the gap</a:t>
            </a:r>
            <a:endParaRPr lang="en-US" sz="1200" dirty="0"/>
          </a:p>
          <a:p>
            <a:pPr indent="0" marL="0">
              <a:lnSpc>
                <a:spcPct val="124000"/>
              </a:lnSpc>
              <a:buNone/>
            </a:pPr>
            <a:r>
              <a:rPr lang="en-US" sz="120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between rich and poor students, and there is a</a:t>
            </a:r>
            <a:endParaRPr lang="en-US" sz="1200" dirty="0"/>
          </a:p>
          <a:p>
            <a:pPr indent="0" marL="0">
              <a:lnSpc>
                <a:spcPct val="124000"/>
              </a:lnSpc>
              <a:buNone/>
            </a:pPr>
            <a:r>
              <a:rPr lang="en-US" sz="120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better alternative. First, the results.”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7406640" y="1883664"/>
            <a:ext cx="4236415" cy="4059936"/>
          </a:xfrm>
          <a:prstGeom prst="roundRect">
            <a:avLst>
              <a:gd name="adj" fmla="val 3153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15" name="Text 11"/>
          <p:cNvSpPr txBox="1"/>
          <p:nvPr/>
        </p:nvSpPr>
        <p:spPr>
          <a:xfrm>
            <a:off x="7644384" y="2103120"/>
            <a:ext cx="376092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1FA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</a:t>
            </a:r>
            <a:endParaRPr lang="en-US" sz="1200" dirty="0"/>
          </a:p>
        </p:txBody>
      </p:sp>
      <p:sp>
        <p:nvSpPr>
          <p:cNvPr id="16" name="Text 12"/>
          <p:cNvSpPr/>
          <p:nvPr/>
        </p:nvSpPr>
        <p:spPr>
          <a:xfrm>
            <a:off x="7680960" y="2505456"/>
            <a:ext cx="3687775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00000"/>
              </a:lnSpc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What exactly is A arguing for?</a:t>
            </a:r>
            <a:endParaRPr lang="en-US" sz="1500" dirty="0"/>
          </a:p>
          <a:p>
            <a:pPr marL="228600" indent="-228600">
              <a:lnSpc>
                <a:spcPct val="100000"/>
              </a:lnSpc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What exactly is B arguing for?</a:t>
            </a:r>
            <a:endParaRPr lang="en-US" sz="1500" dirty="0"/>
          </a:p>
          <a:p>
            <a:pPr marL="228600" indent="-228600">
              <a:lnSpc>
                <a:spcPct val="100000"/>
              </a:lnSpc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How many points does A make?</a:t>
            </a:r>
            <a:endParaRPr lang="en-US" sz="1500" dirty="0"/>
          </a:p>
          <a:p>
            <a:pPr marL="228600" indent="-228600">
              <a:lnSpc>
                <a:spcPct val="100000"/>
              </a:lnSpc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How many can you remember?</a:t>
            </a:r>
            <a:endParaRPr lang="en-US" sz="1500" dirty="0"/>
          </a:p>
          <a:p>
            <a:pPr marL="228600" indent="-228600">
              <a:lnSpc>
                <a:spcPct val="100000"/>
              </a:lnSpc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What has B done that A has not?</a:t>
            </a:r>
            <a:endParaRPr lang="en-US" sz="1500" dirty="0"/>
          </a:p>
          <a:p>
            <a:pPr marL="228600" indent="-228600">
              <a:lnSpc>
                <a:spcPct val="100000"/>
              </a:lnSpc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Which is easier to attack?</a:t>
            </a:r>
            <a:endParaRPr lang="en-US" sz="15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38912"/>
            <a:ext cx="2583180" cy="420624"/>
          </a:xfrm>
          <a:prstGeom prst="roundRect">
            <a:avLst>
              <a:gd name="adj" fmla="val 50000"/>
            </a:avLst>
          </a:prstGeom>
          <a:solidFill>
            <a:srgbClr val="1FA3A3"/>
          </a:solidFill>
          <a:ln/>
        </p:spPr>
      </p:sp>
      <p:sp>
        <p:nvSpPr>
          <p:cNvPr id="3" name="Shape 1"/>
          <p:cNvSpPr/>
          <p:nvPr/>
        </p:nvSpPr>
        <p:spPr>
          <a:xfrm>
            <a:off x="649224" y="539496"/>
            <a:ext cx="219456" cy="219456"/>
          </a:xfrm>
          <a:prstGeom prst="ellipse">
            <a:avLst/>
          </a:prstGeom>
          <a:solidFill>
            <a:srgbClr val="1FA3A3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" y="539496"/>
            <a:ext cx="219456" cy="21945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932688" y="438912"/>
            <a:ext cx="208940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LISTENING 1 · ANSWERS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896112"/>
            <a:ext cx="10972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Listening 1 — answers and why</a:t>
            </a:r>
            <a:endParaRPr lang="en-US" sz="38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6144768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50" kern="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4 · Advanced Spoken English · Module 3 — Debate &amp; Persuasion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10607040" y="6144768"/>
            <a:ext cx="1033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</a:t>
            </a:r>
            <a:endParaRPr lang="en-US" sz="1100" dirty="0"/>
          </a:p>
        </p:txBody>
      </p:sp>
      <p:sp>
        <p:nvSpPr>
          <p:cNvPr id="10" name="Shape 6"/>
          <p:cNvSpPr/>
          <p:nvPr/>
        </p:nvSpPr>
        <p:spPr>
          <a:xfrm>
            <a:off x="548640" y="1700784"/>
            <a:ext cx="11094415" cy="753466"/>
          </a:xfrm>
          <a:prstGeom prst="roundRect">
            <a:avLst>
              <a:gd name="adj" fmla="val 16990"/>
            </a:avLst>
          </a:prstGeom>
          <a:solidFill>
            <a:srgbClr val="E6F5EC"/>
          </a:solidFill>
          <a:ln w="12700">
            <a:solidFill>
              <a:srgbClr val="2E9E5B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731520" y="1885493"/>
            <a:ext cx="384048" cy="384048"/>
          </a:xfrm>
          <a:prstGeom prst="ellipse">
            <a:avLst/>
          </a:prstGeom>
          <a:solidFill>
            <a:srgbClr val="2E9E5B"/>
          </a:solidFill>
          <a:ln/>
        </p:spPr>
      </p:sp>
      <p:sp>
        <p:nvSpPr>
          <p:cNvPr id="12" name="Text 8"/>
          <p:cNvSpPr txBox="1"/>
          <p:nvPr/>
        </p:nvSpPr>
        <p:spPr>
          <a:xfrm>
            <a:off x="731520" y="1885493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1316736" y="1755648"/>
            <a:ext cx="10106863" cy="6437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140" i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— what is A arguing for?</a:t>
            </a:r>
            <a:endParaRPr lang="en-US" sz="1140" dirty="0"/>
          </a:p>
          <a:p>
            <a:pPr indent="0" marL="0">
              <a:lnSpc>
                <a:spcPct val="102000"/>
              </a:lnSpc>
              <a:spcBef>
                <a:spcPts val="176"/>
              </a:spcBef>
              <a:buNone/>
            </a:pPr>
            <a:r>
              <a:rPr lang="en-US" sz="145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Unclear. “Bad” is a judgement, not a position.</a:t>
            </a:r>
            <a:endParaRPr lang="en-US" sz="1140" dirty="0"/>
          </a:p>
          <a:p>
            <a:pPr indent="0" marL="0">
              <a:lnSpc>
                <a:spcPct val="102000"/>
              </a:lnSpc>
              <a:spcBef>
                <a:spcPts val="264"/>
              </a:spcBef>
              <a:buNone/>
            </a:pPr>
            <a:r>
              <a:rPr lang="en-US" sz="1100" dirty="0">
                <a:solidFill>
                  <a:srgbClr val="0A4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A debate position must say what should HAPPEN. Without that, there is nothing to defend.</a:t>
            </a:r>
            <a:endParaRPr lang="en-US" sz="1140" dirty="0"/>
          </a:p>
        </p:txBody>
      </p:sp>
      <p:sp>
        <p:nvSpPr>
          <p:cNvPr id="14" name="Shape 10"/>
          <p:cNvSpPr/>
          <p:nvPr/>
        </p:nvSpPr>
        <p:spPr>
          <a:xfrm>
            <a:off x="548640" y="2573122"/>
            <a:ext cx="11094415" cy="753466"/>
          </a:xfrm>
          <a:prstGeom prst="roundRect">
            <a:avLst>
              <a:gd name="adj" fmla="val 16990"/>
            </a:avLst>
          </a:prstGeom>
          <a:solidFill>
            <a:srgbClr val="E6F5EC"/>
          </a:solidFill>
          <a:ln w="12700">
            <a:solidFill>
              <a:srgbClr val="2E9E5B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731520" y="2757830"/>
            <a:ext cx="384048" cy="384048"/>
          </a:xfrm>
          <a:prstGeom prst="ellipse">
            <a:avLst/>
          </a:prstGeom>
          <a:solidFill>
            <a:srgbClr val="2E9E5B"/>
          </a:solidFill>
          <a:ln/>
        </p:spPr>
      </p:sp>
      <p:sp>
        <p:nvSpPr>
          <p:cNvPr id="16" name="Text 12"/>
          <p:cNvSpPr txBox="1"/>
          <p:nvPr/>
        </p:nvSpPr>
        <p:spPr>
          <a:xfrm>
            <a:off x="731520" y="275783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7" name="Text 13"/>
          <p:cNvSpPr/>
          <p:nvPr/>
        </p:nvSpPr>
        <p:spPr>
          <a:xfrm>
            <a:off x="1316736" y="2627986"/>
            <a:ext cx="10106863" cy="6437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140" i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and 4 — points made and remembered</a:t>
            </a:r>
            <a:endParaRPr lang="en-US" sz="1140" dirty="0"/>
          </a:p>
          <a:p>
            <a:pPr indent="0" marL="0">
              <a:lnSpc>
                <a:spcPct val="102000"/>
              </a:lnSpc>
              <a:spcBef>
                <a:spcPts val="176"/>
              </a:spcBef>
              <a:buNone/>
            </a:pPr>
            <a:r>
              <a:rPr lang="en-US" sz="145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or five made. Usually two remembered.</a:t>
            </a:r>
            <a:endParaRPr lang="en-US" sz="1140" dirty="0"/>
          </a:p>
          <a:p>
            <a:pPr indent="0" marL="0">
              <a:lnSpc>
                <a:spcPct val="102000"/>
              </a:lnSpc>
              <a:spcBef>
                <a:spcPts val="264"/>
              </a:spcBef>
              <a:buNone/>
            </a:pPr>
            <a:r>
              <a:rPr lang="en-US" sz="1100" dirty="0">
                <a:solidFill>
                  <a:srgbClr val="0A4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Unnumbered, unsignposted points displace each other. The audience keeps almost none of them.</a:t>
            </a:r>
            <a:endParaRPr lang="en-US" sz="1140" dirty="0"/>
          </a:p>
        </p:txBody>
      </p:sp>
      <p:sp>
        <p:nvSpPr>
          <p:cNvPr id="18" name="Shape 14"/>
          <p:cNvSpPr/>
          <p:nvPr/>
        </p:nvSpPr>
        <p:spPr>
          <a:xfrm>
            <a:off x="548640" y="3445459"/>
            <a:ext cx="11094415" cy="753466"/>
          </a:xfrm>
          <a:prstGeom prst="roundRect">
            <a:avLst>
              <a:gd name="adj" fmla="val 16990"/>
            </a:avLst>
          </a:prstGeom>
          <a:solidFill>
            <a:srgbClr val="E6F5EC"/>
          </a:solidFill>
          <a:ln w="12700">
            <a:solidFill>
              <a:srgbClr val="2E9E5B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731520" y="3630168"/>
            <a:ext cx="384048" cy="384048"/>
          </a:xfrm>
          <a:prstGeom prst="ellipse">
            <a:avLst/>
          </a:prstGeom>
          <a:solidFill>
            <a:srgbClr val="2E9E5B"/>
          </a:solidFill>
          <a:ln/>
        </p:spPr>
      </p:sp>
      <p:sp>
        <p:nvSpPr>
          <p:cNvPr id="20" name="Text 16"/>
          <p:cNvSpPr txBox="1"/>
          <p:nvPr/>
        </p:nvSpPr>
        <p:spPr>
          <a:xfrm>
            <a:off x="731520" y="36301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1" name="Text 17"/>
          <p:cNvSpPr/>
          <p:nvPr/>
        </p:nvSpPr>
        <p:spPr>
          <a:xfrm>
            <a:off x="1316736" y="3500323"/>
            <a:ext cx="10106863" cy="6437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140" i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— what B did</a:t>
            </a:r>
            <a:endParaRPr lang="en-US" sz="1140" dirty="0"/>
          </a:p>
          <a:p>
            <a:pPr indent="0" marL="0">
              <a:lnSpc>
                <a:spcPct val="102000"/>
              </a:lnSpc>
              <a:spcBef>
                <a:spcPts val="176"/>
              </a:spcBef>
              <a:buNone/>
            </a:pPr>
            <a:r>
              <a:rPr lang="en-US" sz="145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Narrowed the position and previewed exactly three lines.</a:t>
            </a:r>
            <a:endParaRPr lang="en-US" sz="1140" dirty="0"/>
          </a:p>
          <a:p>
            <a:pPr indent="0" marL="0">
              <a:lnSpc>
                <a:spcPct val="102000"/>
              </a:lnSpc>
              <a:spcBef>
                <a:spcPts val="264"/>
              </a:spcBef>
              <a:buNone/>
            </a:pPr>
            <a:r>
              <a:rPr lang="en-US" sz="1100" dirty="0">
                <a:solidFill>
                  <a:srgbClr val="0A4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The audience now has a map, and B has chosen the ground the debate will be fought on.</a:t>
            </a:r>
            <a:endParaRPr lang="en-US" sz="1140" dirty="0"/>
          </a:p>
        </p:txBody>
      </p:sp>
      <p:sp>
        <p:nvSpPr>
          <p:cNvPr id="22" name="Shape 18"/>
          <p:cNvSpPr/>
          <p:nvPr/>
        </p:nvSpPr>
        <p:spPr>
          <a:xfrm>
            <a:off x="548640" y="4317797"/>
            <a:ext cx="11094415" cy="753466"/>
          </a:xfrm>
          <a:prstGeom prst="roundRect">
            <a:avLst>
              <a:gd name="adj" fmla="val 16990"/>
            </a:avLst>
          </a:prstGeom>
          <a:solidFill>
            <a:srgbClr val="E6F5EC"/>
          </a:solidFill>
          <a:ln w="12700">
            <a:solidFill>
              <a:srgbClr val="2E9E5B"/>
            </a:solidFill>
            <a:prstDash val="solid"/>
          </a:ln>
        </p:spPr>
      </p:sp>
      <p:sp>
        <p:nvSpPr>
          <p:cNvPr id="23" name="Shape 19"/>
          <p:cNvSpPr/>
          <p:nvPr/>
        </p:nvSpPr>
        <p:spPr>
          <a:xfrm>
            <a:off x="731520" y="4502506"/>
            <a:ext cx="384048" cy="384048"/>
          </a:xfrm>
          <a:prstGeom prst="ellipse">
            <a:avLst/>
          </a:prstGeom>
          <a:solidFill>
            <a:srgbClr val="2E9E5B"/>
          </a:solidFill>
          <a:ln/>
        </p:spPr>
      </p:sp>
      <p:sp>
        <p:nvSpPr>
          <p:cNvPr id="24" name="Text 20"/>
          <p:cNvSpPr txBox="1"/>
          <p:nvPr/>
        </p:nvSpPr>
        <p:spPr>
          <a:xfrm>
            <a:off x="731520" y="450250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5" name="Text 21"/>
          <p:cNvSpPr/>
          <p:nvPr/>
        </p:nvSpPr>
        <p:spPr>
          <a:xfrm>
            <a:off x="1316736" y="4372661"/>
            <a:ext cx="10106863" cy="6437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140" i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— which is easier to attack?</a:t>
            </a:r>
            <a:endParaRPr lang="en-US" sz="1140" dirty="0"/>
          </a:p>
          <a:p>
            <a:pPr indent="0" marL="0">
              <a:lnSpc>
                <a:spcPct val="102000"/>
              </a:lnSpc>
              <a:spcBef>
                <a:spcPts val="176"/>
              </a:spcBef>
              <a:buNone/>
            </a:pPr>
            <a:r>
              <a:rPr lang="en-US" sz="145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“Homework is bad” is a much broader claim.</a:t>
            </a:r>
            <a:endParaRPr lang="en-US" sz="1140" dirty="0"/>
          </a:p>
          <a:p>
            <a:pPr indent="0" marL="0">
              <a:lnSpc>
                <a:spcPct val="102000"/>
              </a:lnSpc>
              <a:spcBef>
                <a:spcPts val="264"/>
              </a:spcBef>
              <a:buNone/>
            </a:pPr>
            <a:r>
              <a:rPr lang="en-US" sz="1100" dirty="0">
                <a:solidFill>
                  <a:srgbClr val="0A4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Every counter-example damages A. B only has to defend “more than an hour is unhelpful”.</a:t>
            </a:r>
            <a:endParaRPr lang="en-US" sz="1140" dirty="0"/>
          </a:p>
        </p:txBody>
      </p:sp>
      <p:sp>
        <p:nvSpPr>
          <p:cNvPr id="26" name="Shape 22"/>
          <p:cNvSpPr/>
          <p:nvPr/>
        </p:nvSpPr>
        <p:spPr>
          <a:xfrm>
            <a:off x="548640" y="5190134"/>
            <a:ext cx="11094415" cy="753466"/>
          </a:xfrm>
          <a:prstGeom prst="roundRect">
            <a:avLst>
              <a:gd name="adj" fmla="val 16990"/>
            </a:avLst>
          </a:prstGeom>
          <a:solidFill>
            <a:srgbClr val="E6F5EC"/>
          </a:solidFill>
          <a:ln w="12700">
            <a:solidFill>
              <a:srgbClr val="2E9E5B"/>
            </a:solidFill>
            <a:prstDash val="solid"/>
          </a:ln>
        </p:spPr>
      </p:sp>
      <p:sp>
        <p:nvSpPr>
          <p:cNvPr id="27" name="Shape 23"/>
          <p:cNvSpPr/>
          <p:nvPr/>
        </p:nvSpPr>
        <p:spPr>
          <a:xfrm>
            <a:off x="731520" y="5374843"/>
            <a:ext cx="384048" cy="384048"/>
          </a:xfrm>
          <a:prstGeom prst="ellipse">
            <a:avLst/>
          </a:prstGeom>
          <a:solidFill>
            <a:srgbClr val="2E9E5B"/>
          </a:solidFill>
          <a:ln/>
        </p:spPr>
      </p:sp>
      <p:sp>
        <p:nvSpPr>
          <p:cNvPr id="28" name="Text 24"/>
          <p:cNvSpPr txBox="1"/>
          <p:nvPr/>
        </p:nvSpPr>
        <p:spPr>
          <a:xfrm>
            <a:off x="731520" y="5374843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9" name="Text 25"/>
          <p:cNvSpPr/>
          <p:nvPr/>
        </p:nvSpPr>
        <p:spPr>
          <a:xfrm>
            <a:off x="1316736" y="5244998"/>
            <a:ext cx="10106863" cy="6437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140" i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the lesson?</a:t>
            </a:r>
            <a:endParaRPr lang="en-US" sz="1140" dirty="0"/>
          </a:p>
          <a:p>
            <a:pPr indent="0" marL="0">
              <a:lnSpc>
                <a:spcPct val="102000"/>
              </a:lnSpc>
              <a:spcBef>
                <a:spcPts val="176"/>
              </a:spcBef>
              <a:buNone/>
            </a:pPr>
            <a:r>
              <a:rPr lang="en-US" sz="145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Narrowing your own claim is the first strategic move of a debate.</a:t>
            </a:r>
            <a:endParaRPr lang="en-US" sz="1140" dirty="0"/>
          </a:p>
          <a:p>
            <a:pPr indent="0" marL="0">
              <a:lnSpc>
                <a:spcPct val="102000"/>
              </a:lnSpc>
              <a:spcBef>
                <a:spcPts val="264"/>
              </a:spcBef>
              <a:buNone/>
            </a:pPr>
            <a:r>
              <a:rPr lang="en-US" sz="1100" dirty="0">
                <a:solidFill>
                  <a:srgbClr val="0A4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It costs nothing, it happens in sentence one, and it removes the opposition's easiest attacks in advance.</a:t>
            </a:r>
            <a:endParaRPr lang="en-US" sz="114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38912"/>
            <a:ext cx="2103120" cy="420624"/>
          </a:xfrm>
          <a:prstGeom prst="roundRect">
            <a:avLst>
              <a:gd name="adj" fmla="val 50000"/>
            </a:avLst>
          </a:prstGeom>
          <a:solidFill>
            <a:srgbClr val="1FA3A3"/>
          </a:solidFill>
          <a:ln/>
        </p:spPr>
      </p:sp>
      <p:sp>
        <p:nvSpPr>
          <p:cNvPr id="3" name="Shape 1"/>
          <p:cNvSpPr/>
          <p:nvPr/>
        </p:nvSpPr>
        <p:spPr>
          <a:xfrm>
            <a:off x="649224" y="539496"/>
            <a:ext cx="219456" cy="219456"/>
          </a:xfrm>
          <a:prstGeom prst="ellipse">
            <a:avLst/>
          </a:prstGeom>
          <a:solidFill>
            <a:srgbClr val="1FA3A3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" y="539496"/>
            <a:ext cx="219456" cy="21945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932688" y="438912"/>
            <a:ext cx="160934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LISTENING 2 OF 5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896112"/>
            <a:ext cx="10972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Listening 2 — a question round</a:t>
            </a:r>
            <a:endParaRPr lang="en-US" sz="38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536192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questions. Judge each answer.</a:t>
            </a:r>
            <a:endParaRPr lang="en-US" sz="165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6144768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50" kern="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4 · Advanced Spoken English · Module 3 — Debate &amp; Persuasion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10607040" y="6144768"/>
            <a:ext cx="1033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548640" y="1883664"/>
            <a:ext cx="6583680" cy="4059936"/>
          </a:xfrm>
          <a:prstGeom prst="roundRect">
            <a:avLst>
              <a:gd name="adj" fmla="val 3153"/>
            </a:avLst>
          </a:prstGeom>
          <a:solidFill>
            <a:srgbClr val="E8F6F6"/>
          </a:solidFill>
          <a:ln w="15875">
            <a:solidFill>
              <a:srgbClr val="1FA3A3"/>
            </a:solidFill>
            <a:prstDash val="solid"/>
          </a:ln>
          <a:effectLst>
            <a:outerShdw sx="100000" sy="100000" kx="0" ky="0" algn="bl" rotWithShape="0" blurRad="101600" dist="25400" dir="5400000">
              <a:srgbClr val="94A69C">
                <a:alpha val="30000"/>
              </a:srgbClr>
            </a:outerShdw>
          </a:effectLst>
        </p:spPr>
      </p:sp>
      <p:sp>
        <p:nvSpPr>
          <p:cNvPr id="12" name="Text 8"/>
          <p:cNvSpPr txBox="1"/>
          <p:nvPr/>
        </p:nvSpPr>
        <p:spPr>
          <a:xfrm>
            <a:off x="822960" y="2103120"/>
            <a:ext cx="6035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1FA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AUDIO SCRIPT — TEACHER READS TWICE</a:t>
            </a:r>
            <a:endParaRPr lang="en-US" sz="1200" dirty="0"/>
          </a:p>
        </p:txBody>
      </p:sp>
      <p:sp>
        <p:nvSpPr>
          <p:cNvPr id="13" name="Text 9"/>
          <p:cNvSpPr txBox="1"/>
          <p:nvPr/>
        </p:nvSpPr>
        <p:spPr>
          <a:xfrm>
            <a:off x="822960" y="2487168"/>
            <a:ext cx="6035040" cy="3218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30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Q:  How many students have no electricity?</a:t>
            </a:r>
            <a:endParaRPr lang="en-US" sz="1300" dirty="0"/>
          </a:p>
          <a:p>
            <a:pPr indent="0" marL="0">
              <a:lnSpc>
                <a:spcPct val="124000"/>
              </a:lnSpc>
              <a:buNone/>
            </a:pPr>
            <a:r>
              <a:rPr lang="en-US" sz="130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A:  About sixty per cent, I think.</a:t>
            </a:r>
            <a:endParaRPr lang="en-US" sz="1300" dirty="0"/>
          </a:p>
          <a:p>
            <a:pPr indent="0" marL="0">
              <a:lnSpc>
                <a:spcPct val="124000"/>
              </a:lnSpc>
              <a:buNone/>
            </a:pPr>
            <a:endParaRPr lang="en-US" sz="1300" dirty="0"/>
          </a:p>
          <a:p>
            <a:pPr indent="0" marL="0">
              <a:lnSpc>
                <a:spcPct val="124000"/>
              </a:lnSpc>
              <a:buNone/>
            </a:pPr>
            <a:r>
              <a:rPr lang="en-US" sz="130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Q:  Where does that figure come from?</a:t>
            </a:r>
            <a:endParaRPr lang="en-US" sz="1300" dirty="0"/>
          </a:p>
          <a:p>
            <a:pPr indent="0" marL="0">
              <a:lnSpc>
                <a:spcPct val="124000"/>
              </a:lnSpc>
              <a:buNone/>
            </a:pPr>
            <a:r>
              <a:rPr lang="en-US" sz="130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A:  Well — I've seen it somewhere.</a:t>
            </a:r>
            <a:endParaRPr lang="en-US" sz="1300" dirty="0"/>
          </a:p>
          <a:p>
            <a:pPr indent="0" marL="0">
              <a:lnSpc>
                <a:spcPct val="124000"/>
              </a:lnSpc>
              <a:buNone/>
            </a:pPr>
            <a:endParaRPr lang="en-US" sz="1300" dirty="0"/>
          </a:p>
          <a:p>
            <a:pPr indent="0" marL="0">
              <a:lnSpc>
                <a:spcPct val="124000"/>
              </a:lnSpc>
              <a:buNone/>
            </a:pPr>
            <a:r>
              <a:rPr lang="en-US" sz="130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Q:  So you'd abolish homework entirely?</a:t>
            </a:r>
            <a:endParaRPr lang="en-US" sz="1300" dirty="0"/>
          </a:p>
          <a:p>
            <a:pPr indent="0" marL="0">
              <a:lnSpc>
                <a:spcPct val="124000"/>
              </a:lnSpc>
              <a:buNone/>
            </a:pPr>
            <a:r>
              <a:rPr lang="en-US" sz="130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A:  That assumes reducing means abolishing.</a:t>
            </a:r>
            <a:endParaRPr lang="en-US" sz="1300" dirty="0"/>
          </a:p>
          <a:p>
            <a:pPr indent="0" marL="0">
              <a:lnSpc>
                <a:spcPct val="124000"/>
              </a:lnSpc>
              <a:buNone/>
            </a:pPr>
            <a:r>
              <a:rPr lang="en-US" sz="130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position has been reduced, not abolished.</a:t>
            </a:r>
            <a:endParaRPr lang="en-US" sz="1300" dirty="0"/>
          </a:p>
          <a:p>
            <a:pPr indent="0" marL="0">
              <a:lnSpc>
                <a:spcPct val="124000"/>
              </a:lnSpc>
              <a:buNone/>
            </a:pPr>
            <a:endParaRPr lang="en-US" sz="1300" dirty="0"/>
          </a:p>
          <a:p>
            <a:pPr indent="0" marL="0">
              <a:lnSpc>
                <a:spcPct val="124000"/>
              </a:lnSpc>
              <a:buNone/>
            </a:pPr>
            <a:r>
              <a:rPr lang="en-US" sz="130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Q:  What about private schools?</a:t>
            </a:r>
            <a:endParaRPr lang="en-US" sz="1300" dirty="0"/>
          </a:p>
          <a:p>
            <a:pPr indent="0" marL="0">
              <a:lnSpc>
                <a:spcPct val="124000"/>
              </a:lnSpc>
              <a:buNone/>
            </a:pPr>
            <a:r>
              <a:rPr lang="en-US" sz="130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A:  That's a fair question. Let me take it in</a:t>
            </a:r>
            <a:endParaRPr lang="en-US" sz="1300" dirty="0"/>
          </a:p>
          <a:p>
            <a:pPr indent="0" marL="0">
              <a:lnSpc>
                <a:spcPct val="124000"/>
              </a:lnSpc>
              <a:buNone/>
            </a:pPr>
            <a:r>
              <a:rPr lang="en-US" sz="130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parts.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7406640" y="1883664"/>
            <a:ext cx="4236415" cy="4059936"/>
          </a:xfrm>
          <a:prstGeom prst="roundRect">
            <a:avLst>
              <a:gd name="adj" fmla="val 3153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15" name="Text 11"/>
          <p:cNvSpPr txBox="1"/>
          <p:nvPr/>
        </p:nvSpPr>
        <p:spPr>
          <a:xfrm>
            <a:off x="7644384" y="2103120"/>
            <a:ext cx="376092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1FA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</a:t>
            </a:r>
            <a:endParaRPr lang="en-US" sz="1200" dirty="0"/>
          </a:p>
        </p:txBody>
      </p:sp>
      <p:sp>
        <p:nvSpPr>
          <p:cNvPr id="16" name="Text 12"/>
          <p:cNvSpPr/>
          <p:nvPr/>
        </p:nvSpPr>
        <p:spPr>
          <a:xfrm>
            <a:off x="7680960" y="2505456"/>
            <a:ext cx="3687775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00000"/>
              </a:lnSpc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What is wrong with the first answer?</a:t>
            </a:r>
            <a:endParaRPr lang="en-US" sz="1500" dirty="0"/>
          </a:p>
          <a:p>
            <a:pPr marL="228600" indent="-228600">
              <a:lnSpc>
                <a:spcPct val="100000"/>
              </a:lnSpc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What happened in the second exchange?</a:t>
            </a:r>
            <a:endParaRPr lang="en-US" sz="1500" dirty="0"/>
          </a:p>
          <a:p>
            <a:pPr marL="228600" indent="-228600">
              <a:lnSpc>
                <a:spcPct val="100000"/>
              </a:lnSpc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What should the first answer have been?</a:t>
            </a:r>
            <a:endParaRPr lang="en-US" sz="1500" dirty="0"/>
          </a:p>
          <a:p>
            <a:pPr marL="228600" indent="-228600">
              <a:lnSpc>
                <a:spcPct val="100000"/>
              </a:lnSpc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Which technique is used third?</a:t>
            </a:r>
            <a:endParaRPr lang="en-US" sz="1500" dirty="0"/>
          </a:p>
          <a:p>
            <a:pPr marL="228600" indent="-228600">
              <a:lnSpc>
                <a:spcPct val="100000"/>
              </a:lnSpc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Which technique is used fourth?</a:t>
            </a:r>
            <a:endParaRPr lang="en-US" sz="1500" dirty="0"/>
          </a:p>
          <a:p>
            <a:pPr marL="228600" indent="-228600">
              <a:lnSpc>
                <a:spcPct val="100000"/>
              </a:lnSpc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Which answer cost the most?</a:t>
            </a:r>
            <a:endParaRPr lang="en-US" sz="15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38912"/>
            <a:ext cx="2583180" cy="420624"/>
          </a:xfrm>
          <a:prstGeom prst="roundRect">
            <a:avLst>
              <a:gd name="adj" fmla="val 50000"/>
            </a:avLst>
          </a:prstGeom>
          <a:solidFill>
            <a:srgbClr val="1FA3A3"/>
          </a:solidFill>
          <a:ln/>
        </p:spPr>
      </p:sp>
      <p:sp>
        <p:nvSpPr>
          <p:cNvPr id="3" name="Shape 1"/>
          <p:cNvSpPr/>
          <p:nvPr/>
        </p:nvSpPr>
        <p:spPr>
          <a:xfrm>
            <a:off x="649224" y="539496"/>
            <a:ext cx="219456" cy="219456"/>
          </a:xfrm>
          <a:prstGeom prst="ellipse">
            <a:avLst/>
          </a:prstGeom>
          <a:solidFill>
            <a:srgbClr val="1FA3A3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" y="539496"/>
            <a:ext cx="219456" cy="21945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932688" y="438912"/>
            <a:ext cx="208940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LISTENING 2 · ANSWERS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896112"/>
            <a:ext cx="10972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Listening 2 — answers and why</a:t>
            </a:r>
            <a:endParaRPr lang="en-US" sz="38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6144768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50" kern="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4 · Advanced Spoken English · Module 3 — Debate &amp; Persuasion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10607040" y="6144768"/>
            <a:ext cx="1033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39</a:t>
            </a:r>
            <a:endParaRPr lang="en-US" sz="1100" dirty="0"/>
          </a:p>
        </p:txBody>
      </p:sp>
      <p:sp>
        <p:nvSpPr>
          <p:cNvPr id="10" name="Shape 6"/>
          <p:cNvSpPr/>
          <p:nvPr/>
        </p:nvSpPr>
        <p:spPr>
          <a:xfrm>
            <a:off x="548640" y="1700784"/>
            <a:ext cx="11094415" cy="753466"/>
          </a:xfrm>
          <a:prstGeom prst="roundRect">
            <a:avLst>
              <a:gd name="adj" fmla="val 16990"/>
            </a:avLst>
          </a:prstGeom>
          <a:solidFill>
            <a:srgbClr val="E6F5EC"/>
          </a:solidFill>
          <a:ln w="12700">
            <a:solidFill>
              <a:srgbClr val="2E9E5B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731520" y="1885493"/>
            <a:ext cx="384048" cy="384048"/>
          </a:xfrm>
          <a:prstGeom prst="ellipse">
            <a:avLst/>
          </a:prstGeom>
          <a:solidFill>
            <a:srgbClr val="2E9E5B"/>
          </a:solidFill>
          <a:ln/>
        </p:spPr>
      </p:sp>
      <p:sp>
        <p:nvSpPr>
          <p:cNvPr id="12" name="Text 8"/>
          <p:cNvSpPr txBox="1"/>
          <p:nvPr/>
        </p:nvSpPr>
        <p:spPr>
          <a:xfrm>
            <a:off x="731520" y="1885493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1316736" y="1755648"/>
            <a:ext cx="10106863" cy="6437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140" i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and 2 — the invented figure</a:t>
            </a:r>
            <a:endParaRPr lang="en-US" sz="1140" dirty="0"/>
          </a:p>
          <a:p>
            <a:pPr indent="0" marL="0">
              <a:lnSpc>
                <a:spcPct val="102000"/>
              </a:lnSpc>
              <a:spcBef>
                <a:spcPts val="176"/>
              </a:spcBef>
              <a:buNone/>
            </a:pPr>
            <a:r>
              <a:rPr lang="en-US" sz="145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was made up, and the next question exposed it.</a:t>
            </a:r>
            <a:endParaRPr lang="en-US" sz="1140" dirty="0"/>
          </a:p>
          <a:p>
            <a:pPr indent="0" marL="0">
              <a:lnSpc>
                <a:spcPct val="102000"/>
              </a:lnSpc>
              <a:spcBef>
                <a:spcPts val="264"/>
              </a:spcBef>
              <a:buNone/>
            </a:pPr>
            <a:r>
              <a:rPr lang="en-US" sz="1100" dirty="0">
                <a:solidFill>
                  <a:srgbClr val="0A4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“Where does that come from?” is the obvious follow-up, and there is no good answer once the number is invented.</a:t>
            </a:r>
            <a:endParaRPr lang="en-US" sz="1140" dirty="0"/>
          </a:p>
        </p:txBody>
      </p:sp>
      <p:sp>
        <p:nvSpPr>
          <p:cNvPr id="14" name="Shape 10"/>
          <p:cNvSpPr/>
          <p:nvPr/>
        </p:nvSpPr>
        <p:spPr>
          <a:xfrm>
            <a:off x="548640" y="2573122"/>
            <a:ext cx="11094415" cy="753466"/>
          </a:xfrm>
          <a:prstGeom prst="roundRect">
            <a:avLst>
              <a:gd name="adj" fmla="val 16990"/>
            </a:avLst>
          </a:prstGeom>
          <a:solidFill>
            <a:srgbClr val="E6F5EC"/>
          </a:solidFill>
          <a:ln w="12700">
            <a:solidFill>
              <a:srgbClr val="2E9E5B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731520" y="2757830"/>
            <a:ext cx="384048" cy="384048"/>
          </a:xfrm>
          <a:prstGeom prst="ellipse">
            <a:avLst/>
          </a:prstGeom>
          <a:solidFill>
            <a:srgbClr val="2E9E5B"/>
          </a:solidFill>
          <a:ln/>
        </p:spPr>
      </p:sp>
      <p:sp>
        <p:nvSpPr>
          <p:cNvPr id="16" name="Text 12"/>
          <p:cNvSpPr txBox="1"/>
          <p:nvPr/>
        </p:nvSpPr>
        <p:spPr>
          <a:xfrm>
            <a:off x="731520" y="275783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7" name="Text 13"/>
          <p:cNvSpPr/>
          <p:nvPr/>
        </p:nvSpPr>
        <p:spPr>
          <a:xfrm>
            <a:off x="1316736" y="2627986"/>
            <a:ext cx="10106863" cy="6437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140" i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— what should have been said</a:t>
            </a:r>
            <a:endParaRPr lang="en-US" sz="1140" dirty="0"/>
          </a:p>
          <a:p>
            <a:pPr indent="0" marL="0">
              <a:lnSpc>
                <a:spcPct val="102000"/>
              </a:lnSpc>
              <a:spcBef>
                <a:spcPts val="176"/>
              </a:spcBef>
              <a:buNone/>
            </a:pPr>
            <a:r>
              <a:rPr lang="en-US" sz="145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“I don't have that figure. It doesn't change the main point, which is…”</a:t>
            </a:r>
            <a:endParaRPr lang="en-US" sz="1140" dirty="0"/>
          </a:p>
          <a:p>
            <a:pPr indent="0" marL="0">
              <a:lnSpc>
                <a:spcPct val="102000"/>
              </a:lnSpc>
              <a:spcBef>
                <a:spcPts val="264"/>
              </a:spcBef>
              <a:buNone/>
            </a:pPr>
            <a:r>
              <a:rPr lang="en-US" sz="1100" dirty="0">
                <a:solidFill>
                  <a:srgbClr val="0A4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Honest, then redirect. It costs nothing; the invented number cost the entire round.</a:t>
            </a:r>
            <a:endParaRPr lang="en-US" sz="1140" dirty="0"/>
          </a:p>
        </p:txBody>
      </p:sp>
      <p:sp>
        <p:nvSpPr>
          <p:cNvPr id="18" name="Shape 14"/>
          <p:cNvSpPr/>
          <p:nvPr/>
        </p:nvSpPr>
        <p:spPr>
          <a:xfrm>
            <a:off x="548640" y="3445459"/>
            <a:ext cx="11094415" cy="753466"/>
          </a:xfrm>
          <a:prstGeom prst="roundRect">
            <a:avLst>
              <a:gd name="adj" fmla="val 16990"/>
            </a:avLst>
          </a:prstGeom>
          <a:solidFill>
            <a:srgbClr val="E6F5EC"/>
          </a:solidFill>
          <a:ln w="12700">
            <a:solidFill>
              <a:srgbClr val="2E9E5B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731520" y="3630168"/>
            <a:ext cx="384048" cy="384048"/>
          </a:xfrm>
          <a:prstGeom prst="ellipse">
            <a:avLst/>
          </a:prstGeom>
          <a:solidFill>
            <a:srgbClr val="2E9E5B"/>
          </a:solidFill>
          <a:ln/>
        </p:spPr>
      </p:sp>
      <p:sp>
        <p:nvSpPr>
          <p:cNvPr id="20" name="Text 16"/>
          <p:cNvSpPr txBox="1"/>
          <p:nvPr/>
        </p:nvSpPr>
        <p:spPr>
          <a:xfrm>
            <a:off x="731520" y="36301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1" name="Text 17"/>
          <p:cNvSpPr/>
          <p:nvPr/>
        </p:nvSpPr>
        <p:spPr>
          <a:xfrm>
            <a:off x="1316736" y="3500323"/>
            <a:ext cx="10106863" cy="6437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140" i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— the third answer</a:t>
            </a:r>
            <a:endParaRPr lang="en-US" sz="1140" dirty="0"/>
          </a:p>
          <a:p>
            <a:pPr indent="0" marL="0">
              <a:lnSpc>
                <a:spcPct val="102000"/>
              </a:lnSpc>
              <a:spcBef>
                <a:spcPts val="176"/>
              </a:spcBef>
              <a:buNone/>
            </a:pPr>
            <a:r>
              <a:rPr lang="en-US" sz="145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Naming the false premise.</a:t>
            </a:r>
            <a:endParaRPr lang="en-US" sz="1140" dirty="0"/>
          </a:p>
          <a:p>
            <a:pPr indent="0" marL="0">
              <a:lnSpc>
                <a:spcPct val="102000"/>
              </a:lnSpc>
              <a:spcBef>
                <a:spcPts val="264"/>
              </a:spcBef>
              <a:buNone/>
            </a:pPr>
            <a:r>
              <a:rPr lang="en-US" sz="1100" dirty="0">
                <a:solidFill>
                  <a:srgbClr val="0A4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The question exaggerated the position. Answering it as asked would have accepted the exaggeration.</a:t>
            </a:r>
            <a:endParaRPr lang="en-US" sz="1140" dirty="0"/>
          </a:p>
        </p:txBody>
      </p:sp>
      <p:sp>
        <p:nvSpPr>
          <p:cNvPr id="22" name="Shape 18"/>
          <p:cNvSpPr/>
          <p:nvPr/>
        </p:nvSpPr>
        <p:spPr>
          <a:xfrm>
            <a:off x="548640" y="4317797"/>
            <a:ext cx="11094415" cy="753466"/>
          </a:xfrm>
          <a:prstGeom prst="roundRect">
            <a:avLst>
              <a:gd name="adj" fmla="val 16990"/>
            </a:avLst>
          </a:prstGeom>
          <a:solidFill>
            <a:srgbClr val="E6F5EC"/>
          </a:solidFill>
          <a:ln w="12700">
            <a:solidFill>
              <a:srgbClr val="2E9E5B"/>
            </a:solidFill>
            <a:prstDash val="solid"/>
          </a:ln>
        </p:spPr>
      </p:sp>
      <p:sp>
        <p:nvSpPr>
          <p:cNvPr id="23" name="Shape 19"/>
          <p:cNvSpPr/>
          <p:nvPr/>
        </p:nvSpPr>
        <p:spPr>
          <a:xfrm>
            <a:off x="731520" y="4502506"/>
            <a:ext cx="384048" cy="384048"/>
          </a:xfrm>
          <a:prstGeom prst="ellipse">
            <a:avLst/>
          </a:prstGeom>
          <a:solidFill>
            <a:srgbClr val="2E9E5B"/>
          </a:solidFill>
          <a:ln/>
        </p:spPr>
      </p:sp>
      <p:sp>
        <p:nvSpPr>
          <p:cNvPr id="24" name="Text 20"/>
          <p:cNvSpPr txBox="1"/>
          <p:nvPr/>
        </p:nvSpPr>
        <p:spPr>
          <a:xfrm>
            <a:off x="731520" y="450250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5" name="Text 21"/>
          <p:cNvSpPr/>
          <p:nvPr/>
        </p:nvSpPr>
        <p:spPr>
          <a:xfrm>
            <a:off x="1316736" y="4372661"/>
            <a:ext cx="10106863" cy="6437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140" i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— which cost the most?</a:t>
            </a:r>
            <a:endParaRPr lang="en-US" sz="1140" dirty="0"/>
          </a:p>
          <a:p>
            <a:pPr indent="0" marL="0">
              <a:lnSpc>
                <a:spcPct val="102000"/>
              </a:lnSpc>
              <a:spcBef>
                <a:spcPts val="176"/>
              </a:spcBef>
              <a:buNone/>
            </a:pPr>
            <a:r>
              <a:rPr lang="en-US" sz="145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first. Everything after it is now doubted.</a:t>
            </a:r>
            <a:endParaRPr lang="en-US" sz="1140" dirty="0"/>
          </a:p>
          <a:p>
            <a:pPr indent="0" marL="0">
              <a:lnSpc>
                <a:spcPct val="102000"/>
              </a:lnSpc>
              <a:spcBef>
                <a:spcPts val="264"/>
              </a:spcBef>
              <a:buNone/>
            </a:pPr>
            <a:r>
              <a:rPr lang="en-US" sz="1100" dirty="0">
                <a:solidFill>
                  <a:srgbClr val="0A4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Credibility is cumulative. One exposed invention discounts every later claim, including the true ones.</a:t>
            </a:r>
            <a:endParaRPr lang="en-US" sz="1140" dirty="0"/>
          </a:p>
        </p:txBody>
      </p:sp>
      <p:sp>
        <p:nvSpPr>
          <p:cNvPr id="26" name="Shape 22"/>
          <p:cNvSpPr/>
          <p:nvPr/>
        </p:nvSpPr>
        <p:spPr>
          <a:xfrm>
            <a:off x="548640" y="5190134"/>
            <a:ext cx="11094415" cy="753466"/>
          </a:xfrm>
          <a:prstGeom prst="roundRect">
            <a:avLst>
              <a:gd name="adj" fmla="val 16990"/>
            </a:avLst>
          </a:prstGeom>
          <a:solidFill>
            <a:srgbClr val="E6F5EC"/>
          </a:solidFill>
          <a:ln w="12700">
            <a:solidFill>
              <a:srgbClr val="2E9E5B"/>
            </a:solidFill>
            <a:prstDash val="solid"/>
          </a:ln>
        </p:spPr>
      </p:sp>
      <p:sp>
        <p:nvSpPr>
          <p:cNvPr id="27" name="Shape 23"/>
          <p:cNvSpPr/>
          <p:nvPr/>
        </p:nvSpPr>
        <p:spPr>
          <a:xfrm>
            <a:off x="731520" y="5374843"/>
            <a:ext cx="384048" cy="384048"/>
          </a:xfrm>
          <a:prstGeom prst="ellipse">
            <a:avLst/>
          </a:prstGeom>
          <a:solidFill>
            <a:srgbClr val="2E9E5B"/>
          </a:solidFill>
          <a:ln/>
        </p:spPr>
      </p:sp>
      <p:sp>
        <p:nvSpPr>
          <p:cNvPr id="28" name="Text 24"/>
          <p:cNvSpPr txBox="1"/>
          <p:nvPr/>
        </p:nvSpPr>
        <p:spPr>
          <a:xfrm>
            <a:off x="731520" y="5374843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9" name="Text 25"/>
          <p:cNvSpPr/>
          <p:nvPr/>
        </p:nvSpPr>
        <p:spPr>
          <a:xfrm>
            <a:off x="1316736" y="5244998"/>
            <a:ext cx="10106863" cy="6437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140" i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the rule?</a:t>
            </a:r>
            <a:endParaRPr lang="en-US" sz="1140" dirty="0"/>
          </a:p>
          <a:p>
            <a:pPr indent="0" marL="0">
              <a:lnSpc>
                <a:spcPct val="102000"/>
              </a:lnSpc>
              <a:spcBef>
                <a:spcPts val="176"/>
              </a:spcBef>
              <a:buNone/>
            </a:pPr>
            <a:r>
              <a:rPr lang="en-US" sz="145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invent a figure. Ever.</a:t>
            </a:r>
            <a:endParaRPr lang="en-US" sz="1140" dirty="0"/>
          </a:p>
          <a:p>
            <a:pPr indent="0" marL="0">
              <a:lnSpc>
                <a:spcPct val="102000"/>
              </a:lnSpc>
              <a:spcBef>
                <a:spcPts val="264"/>
              </a:spcBef>
              <a:buNone/>
            </a:pPr>
            <a:r>
              <a:rPr lang="en-US" sz="1100" dirty="0">
                <a:solidFill>
                  <a:srgbClr val="0A4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It is checkable, it will be checked, and the cost is not one answer but the whole debate.</a:t>
            </a:r>
            <a:endParaRPr lang="en-US" sz="114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38912"/>
            <a:ext cx="1737360" cy="420624"/>
          </a:xfrm>
          <a:prstGeom prst="roundRect">
            <a:avLst>
              <a:gd name="adj" fmla="val 50000"/>
            </a:avLst>
          </a:prstGeom>
          <a:solidFill>
            <a:srgbClr val="1FA3A3"/>
          </a:solidFill>
          <a:ln/>
        </p:spPr>
      </p:sp>
      <p:sp>
        <p:nvSpPr>
          <p:cNvPr id="3" name="Shape 1"/>
          <p:cNvSpPr/>
          <p:nvPr/>
        </p:nvSpPr>
        <p:spPr>
          <a:xfrm>
            <a:off x="649224" y="539496"/>
            <a:ext cx="219456" cy="219456"/>
          </a:xfrm>
          <a:prstGeom prst="ellipse">
            <a:avLst/>
          </a:prstGeom>
          <a:solidFill>
            <a:srgbClr val="1FA3A3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" y="539496"/>
            <a:ext cx="219456" cy="21945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932688" y="438912"/>
            <a:ext cx="12435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LISTENING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896112"/>
            <a:ext cx="10972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Listening as a judge</a:t>
            </a:r>
            <a:endParaRPr lang="en-US" sz="26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536192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questions to ask while somebody debates.</a:t>
            </a:r>
            <a:endParaRPr lang="en-US" sz="165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6144768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50" kern="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4 · Advanced Spoken English · Module 3 — Debate &amp; Persuasion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10607040" y="6144768"/>
            <a:ext cx="1033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548640" y="1883664"/>
            <a:ext cx="5446624" cy="1929384"/>
          </a:xfrm>
          <a:prstGeom prst="roundRect">
            <a:avLst>
              <a:gd name="adj" fmla="val 6635"/>
            </a:avLst>
          </a:prstGeom>
          <a:solidFill>
            <a:srgbClr val="E8F6F6"/>
          </a:solidFill>
          <a:ln w="12700">
            <a:solidFill>
              <a:srgbClr val="BEE2E2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768096" y="2103120"/>
            <a:ext cx="457200" cy="457200"/>
          </a:xfrm>
          <a:prstGeom prst="ellipse">
            <a:avLst/>
          </a:prstGeom>
          <a:solidFill>
            <a:srgbClr val="1FA3A3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2396" y="2217420"/>
            <a:ext cx="228600" cy="22860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768096" y="2706624"/>
            <a:ext cx="5007712" cy="923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58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exactly are they claiming?</a:t>
            </a:r>
            <a:endParaRPr lang="en-US" sz="1580" dirty="0"/>
          </a:p>
          <a:p>
            <a:pPr indent="0" marL="0">
              <a:lnSpc>
                <a:spcPct val="102000"/>
              </a:lnSpc>
              <a:spcBef>
                <a:spcPts val="300"/>
              </a:spcBef>
              <a:buNone/>
            </a:pPr>
            <a:r>
              <a:rPr lang="en-US" sz="12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narrow, precise position is defensible. A vague one is not — and often the vagueness is deliberate.</a:t>
            </a:r>
            <a:endParaRPr lang="en-US" sz="1580" dirty="0"/>
          </a:p>
        </p:txBody>
      </p:sp>
      <p:sp>
        <p:nvSpPr>
          <p:cNvPr id="15" name="Shape 10"/>
          <p:cNvSpPr/>
          <p:nvPr/>
        </p:nvSpPr>
        <p:spPr>
          <a:xfrm>
            <a:off x="6196432" y="1883664"/>
            <a:ext cx="5446624" cy="1929384"/>
          </a:xfrm>
          <a:prstGeom prst="roundRect">
            <a:avLst>
              <a:gd name="adj" fmla="val 6635"/>
            </a:avLst>
          </a:prstGeom>
          <a:solidFill>
            <a:srgbClr val="E8F6F6"/>
          </a:solidFill>
          <a:ln w="12700">
            <a:solidFill>
              <a:srgbClr val="BEE2E2"/>
            </a:solidFill>
            <a:prstDash val="solid"/>
          </a:ln>
        </p:spPr>
      </p:sp>
      <p:sp>
        <p:nvSpPr>
          <p:cNvPr id="16" name="Shape 11"/>
          <p:cNvSpPr/>
          <p:nvPr/>
        </p:nvSpPr>
        <p:spPr>
          <a:xfrm>
            <a:off x="6415888" y="2103120"/>
            <a:ext cx="457200" cy="457200"/>
          </a:xfrm>
          <a:prstGeom prst="ellipse">
            <a:avLst/>
          </a:prstGeom>
          <a:solidFill>
            <a:srgbClr val="1FA3A3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30188" y="2217420"/>
            <a:ext cx="228600" cy="22860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6415888" y="2706624"/>
            <a:ext cx="5007712" cy="923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7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is the evidence?</a:t>
            </a:r>
            <a:endParaRPr lang="en-US" sz="1700" dirty="0"/>
          </a:p>
          <a:p>
            <a:pPr indent="0" marL="0">
              <a:lnSpc>
                <a:spcPct val="102000"/>
              </a:lnSpc>
              <a:spcBef>
                <a:spcPts val="324"/>
              </a:spcBef>
              <a:buNone/>
            </a:pPr>
            <a:r>
              <a:rPr lang="en-US" sz="13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Numbers with sources, or assertions? “Everybody knows” and invented figures both fail here.</a:t>
            </a:r>
            <a:endParaRPr lang="en-US" sz="1700" dirty="0"/>
          </a:p>
        </p:txBody>
      </p:sp>
      <p:sp>
        <p:nvSpPr>
          <p:cNvPr id="19" name="Shape 13"/>
          <p:cNvSpPr/>
          <p:nvPr/>
        </p:nvSpPr>
        <p:spPr>
          <a:xfrm>
            <a:off x="548640" y="4014216"/>
            <a:ext cx="5446624" cy="1929384"/>
          </a:xfrm>
          <a:prstGeom prst="roundRect">
            <a:avLst>
              <a:gd name="adj" fmla="val 6635"/>
            </a:avLst>
          </a:prstGeom>
          <a:solidFill>
            <a:srgbClr val="E8F6F6"/>
          </a:solidFill>
          <a:ln w="12700">
            <a:solidFill>
              <a:srgbClr val="BEE2E2"/>
            </a:solidFill>
            <a:prstDash val="solid"/>
          </a:ln>
        </p:spPr>
      </p:sp>
      <p:sp>
        <p:nvSpPr>
          <p:cNvPr id="20" name="Shape 14"/>
          <p:cNvSpPr/>
          <p:nvPr/>
        </p:nvSpPr>
        <p:spPr>
          <a:xfrm>
            <a:off x="768096" y="4233672"/>
            <a:ext cx="457200" cy="457200"/>
          </a:xfrm>
          <a:prstGeom prst="ellipse">
            <a:avLst/>
          </a:prstGeom>
          <a:solidFill>
            <a:srgbClr val="1FA3A3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2396" y="4347972"/>
            <a:ext cx="228600" cy="228600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768096" y="4837176"/>
            <a:ext cx="5007712" cy="923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75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are they assuming?</a:t>
            </a:r>
            <a:endParaRPr lang="en-US" sz="1750" dirty="0"/>
          </a:p>
          <a:p>
            <a:pPr indent="0" marL="0">
              <a:lnSpc>
                <a:spcPct val="102000"/>
              </a:lnSpc>
              <a:spcBef>
                <a:spcPts val="333"/>
              </a:spcBef>
              <a:buNone/>
            </a:pPr>
            <a:r>
              <a:rPr lang="en-US" sz="133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premise is where most cases are weakest, and it is almost never stated aloud.</a:t>
            </a:r>
            <a:endParaRPr lang="en-US" sz="1750" dirty="0"/>
          </a:p>
        </p:txBody>
      </p:sp>
      <p:sp>
        <p:nvSpPr>
          <p:cNvPr id="23" name="Shape 16"/>
          <p:cNvSpPr/>
          <p:nvPr/>
        </p:nvSpPr>
        <p:spPr>
          <a:xfrm>
            <a:off x="6196432" y="4014216"/>
            <a:ext cx="5446624" cy="1929384"/>
          </a:xfrm>
          <a:prstGeom prst="roundRect">
            <a:avLst>
              <a:gd name="adj" fmla="val 6635"/>
            </a:avLst>
          </a:prstGeom>
          <a:solidFill>
            <a:srgbClr val="E8F6F6"/>
          </a:solidFill>
          <a:ln w="12700">
            <a:solidFill>
              <a:srgbClr val="BEE2E2"/>
            </a:solidFill>
            <a:prstDash val="solid"/>
          </a:ln>
        </p:spPr>
      </p:sp>
      <p:sp>
        <p:nvSpPr>
          <p:cNvPr id="24" name="Shape 17"/>
          <p:cNvSpPr/>
          <p:nvPr/>
        </p:nvSpPr>
        <p:spPr>
          <a:xfrm>
            <a:off x="6415888" y="4233672"/>
            <a:ext cx="457200" cy="457200"/>
          </a:xfrm>
          <a:prstGeom prst="ellipse">
            <a:avLst/>
          </a:prstGeom>
          <a:solidFill>
            <a:srgbClr val="1FA3A3"/>
          </a:solidFill>
          <a:ln/>
        </p:spPr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30188" y="4347972"/>
            <a:ext cx="228600" cy="228600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6415888" y="4837176"/>
            <a:ext cx="5007712" cy="923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58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they concede anything?</a:t>
            </a:r>
            <a:endParaRPr lang="en-US" sz="1580" dirty="0"/>
          </a:p>
          <a:p>
            <a:pPr indent="0" marL="0">
              <a:lnSpc>
                <a:spcPct val="102000"/>
              </a:lnSpc>
              <a:spcBef>
                <a:spcPts val="300"/>
              </a:spcBef>
              <a:buNone/>
            </a:pPr>
            <a:r>
              <a:rPr lang="en-US" sz="12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speaker who concedes nothing across a whole debate is arguing to win, not to be right. Audiences notice.</a:t>
            </a:r>
            <a:endParaRPr lang="en-US" sz="158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38912"/>
            <a:ext cx="1737360" cy="420624"/>
          </a:xfrm>
          <a:prstGeom prst="roundRect">
            <a:avLst>
              <a:gd name="adj" fmla="val 50000"/>
            </a:avLst>
          </a:prstGeom>
          <a:solidFill>
            <a:srgbClr val="0E7C5A"/>
          </a:solidFill>
          <a:ln/>
        </p:spPr>
      </p:sp>
      <p:sp>
        <p:nvSpPr>
          <p:cNvPr id="3" name="Shape 1"/>
          <p:cNvSpPr/>
          <p:nvPr/>
        </p:nvSpPr>
        <p:spPr>
          <a:xfrm>
            <a:off x="649224" y="539496"/>
            <a:ext cx="219456" cy="219456"/>
          </a:xfrm>
          <a:prstGeom prst="ellipse">
            <a:avLst/>
          </a:prstGeom>
          <a:solidFill>
            <a:srgbClr val="0E7C5A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" y="539496"/>
            <a:ext cx="219456" cy="21945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932688" y="438912"/>
            <a:ext cx="12435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896112"/>
            <a:ext cx="10972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1 — a full debate case</a:t>
            </a:r>
            <a:endParaRPr lang="en-US" sz="38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536192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Opening, three lines, and a closing.</a:t>
            </a:r>
            <a:endParaRPr lang="en-US" sz="165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6144768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50" kern="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4 · Advanced Spoken English · Module 3 — Debate &amp; Persuasion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10607040" y="6144768"/>
            <a:ext cx="1033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548640" y="1883664"/>
            <a:ext cx="6583680" cy="4059936"/>
          </a:xfrm>
          <a:prstGeom prst="roundRect">
            <a:avLst>
              <a:gd name="adj" fmla="val 3153"/>
            </a:avLst>
          </a:prstGeom>
          <a:solidFill>
            <a:srgbClr val="E7F3EF"/>
          </a:solidFill>
          <a:ln w="15875">
            <a:solidFill>
              <a:srgbClr val="0E7C5A"/>
            </a:solidFill>
            <a:prstDash val="solid"/>
          </a:ln>
          <a:effectLst>
            <a:outerShdw sx="100000" sy="100000" kx="0" ky="0" algn="bl" rotWithShape="0" blurRad="101600" dist="25400" dir="5400000">
              <a:srgbClr val="94A69C">
                <a:alpha val="30000"/>
              </a:srgbClr>
            </a:outerShdw>
          </a:effectLst>
        </p:spPr>
      </p:sp>
      <p:sp>
        <p:nvSpPr>
          <p:cNvPr id="12" name="Text 8"/>
          <p:cNvSpPr txBox="1"/>
          <p:nvPr/>
        </p:nvSpPr>
        <p:spPr>
          <a:xfrm>
            <a:off x="822960" y="2103120"/>
            <a:ext cx="6035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0E7C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ALOUD</a:t>
            </a:r>
            <a:endParaRPr lang="en-US" sz="1200" dirty="0"/>
          </a:p>
        </p:txBody>
      </p:sp>
      <p:sp>
        <p:nvSpPr>
          <p:cNvPr id="13" name="Text 9"/>
          <p:cNvSpPr txBox="1"/>
          <p:nvPr/>
        </p:nvSpPr>
        <p:spPr>
          <a:xfrm>
            <a:off x="822960" y="2487168"/>
            <a:ext cx="6035040" cy="3218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0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MOTION: CANCEL SATURDAY CLASSES  —  OPPOSING</a:t>
            </a:r>
            <a:endParaRPr lang="en-US" sz="1200" dirty="0"/>
          </a:p>
          <a:p>
            <a:pPr indent="0" marL="0">
              <a:lnSpc>
                <a:spcPct val="122000"/>
              </a:lnSpc>
              <a:buNone/>
            </a:pPr>
            <a:endParaRPr lang="en-US" sz="12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20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position is that Saturday classes should be</a:t>
            </a:r>
            <a:endParaRPr lang="en-US" sz="12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20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reformed — not cancelled.</a:t>
            </a:r>
            <a:endParaRPr lang="en-US" sz="12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20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I'll show three things.</a:t>
            </a:r>
            <a:endParaRPr lang="en-US" sz="12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20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First, the students who attend are the ones who</a:t>
            </a:r>
            <a:endParaRPr lang="en-US" sz="12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20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 it most: 70% are first-generation learners.</a:t>
            </a:r>
            <a:endParaRPr lang="en-US" sz="12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20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Second, cancelling saves 40,000 birr a year — but</a:t>
            </a:r>
            <a:endParaRPr lang="en-US" sz="12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20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dropout it causes costs more than that.</a:t>
            </a:r>
            <a:endParaRPr lang="en-US" sz="12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20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Third, there is a middle option nobody has</a:t>
            </a:r>
            <a:endParaRPr lang="en-US" sz="12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20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costed: two Saturdays a month.</a:t>
            </a:r>
            <a:endParaRPr lang="en-US" sz="12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20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 me come back to where we started. Reformed,</a:t>
            </a:r>
            <a:endParaRPr lang="en-US" sz="12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20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cancelled. What's at stake is whether the</a:t>
            </a:r>
            <a:endParaRPr lang="en-US" sz="12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20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who need us most keep coming.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7406640" y="1883664"/>
            <a:ext cx="4236415" cy="4059936"/>
          </a:xfrm>
          <a:prstGeom prst="roundRect">
            <a:avLst>
              <a:gd name="adj" fmla="val 3153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15" name="Text 11"/>
          <p:cNvSpPr txBox="1"/>
          <p:nvPr/>
        </p:nvSpPr>
        <p:spPr>
          <a:xfrm>
            <a:off x="7644384" y="2103120"/>
            <a:ext cx="376092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0E7C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TASK</a:t>
            </a:r>
            <a:endParaRPr lang="en-US" sz="1200" dirty="0"/>
          </a:p>
        </p:txBody>
      </p:sp>
      <p:sp>
        <p:nvSpPr>
          <p:cNvPr id="16" name="Text 12"/>
          <p:cNvSpPr/>
          <p:nvPr/>
        </p:nvSpPr>
        <p:spPr>
          <a:xfrm>
            <a:off x="7680960" y="2505456"/>
            <a:ext cx="3687775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00000"/>
              </a:lnSpc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is the position narrowed?</a:t>
            </a:r>
            <a:endParaRPr lang="en-US" sz="1500" dirty="0"/>
          </a:p>
          <a:p>
            <a:pPr marL="228600" indent="-228600">
              <a:lnSpc>
                <a:spcPct val="100000"/>
              </a:lnSpc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are the three lines?</a:t>
            </a:r>
            <a:endParaRPr lang="en-US" sz="1500" dirty="0"/>
          </a:p>
          <a:p>
            <a:pPr marL="228600" indent="-228600">
              <a:lnSpc>
                <a:spcPct val="100000"/>
              </a:lnSpc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the one number they want you to remember.</a:t>
            </a:r>
            <a:endParaRPr lang="en-US" sz="1500" dirty="0"/>
          </a:p>
          <a:p>
            <a:pPr marL="228600" indent="-228600">
              <a:lnSpc>
                <a:spcPct val="100000"/>
              </a:lnSpc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the repeated phrase.</a:t>
            </a:r>
            <a:endParaRPr lang="en-US" sz="1500" dirty="0"/>
          </a:p>
          <a:p>
            <a:pPr marL="228600" indent="-228600">
              <a:lnSpc>
                <a:spcPct val="100000"/>
              </a:lnSpc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at stake, in their words?</a:t>
            </a:r>
            <a:endParaRPr lang="en-US" sz="1500" dirty="0"/>
          </a:p>
          <a:p>
            <a:pPr marL="228600" indent="-228600">
              <a:lnSpc>
                <a:spcPct val="100000"/>
              </a:lnSpc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would you attack this?</a:t>
            </a:r>
            <a:endParaRPr lang="en-US" sz="15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38912"/>
            <a:ext cx="1911096" cy="420624"/>
          </a:xfrm>
          <a:prstGeom prst="roundRect">
            <a:avLst>
              <a:gd name="adj" fmla="val 50000"/>
            </a:avLst>
          </a:prstGeom>
          <a:solidFill>
            <a:srgbClr val="0E7C5A"/>
          </a:solidFill>
          <a:ln/>
        </p:spPr>
      </p:sp>
      <p:sp>
        <p:nvSpPr>
          <p:cNvPr id="3" name="Shape 1"/>
          <p:cNvSpPr/>
          <p:nvPr/>
        </p:nvSpPr>
        <p:spPr>
          <a:xfrm>
            <a:off x="649224" y="539496"/>
            <a:ext cx="219456" cy="219456"/>
          </a:xfrm>
          <a:prstGeom prst="ellipse">
            <a:avLst/>
          </a:prstGeom>
          <a:solidFill>
            <a:srgbClr val="0E7C5A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" y="539496"/>
            <a:ext cx="219456" cy="21945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932688" y="438912"/>
            <a:ext cx="1417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2 OF 5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896112"/>
            <a:ext cx="10972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1 — questions</a:t>
            </a:r>
            <a:endParaRPr lang="en-US" sz="38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6144768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50" kern="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4 · Advanced Spoken English · Module 3 — Debate &amp; Persuasion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10607040" y="6144768"/>
            <a:ext cx="1033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</a:t>
            </a:r>
            <a:endParaRPr lang="en-US" sz="1100" dirty="0"/>
          </a:p>
        </p:txBody>
      </p:sp>
      <p:sp>
        <p:nvSpPr>
          <p:cNvPr id="10" name="Shape 6"/>
          <p:cNvSpPr/>
          <p:nvPr/>
        </p:nvSpPr>
        <p:spPr>
          <a:xfrm>
            <a:off x="548640" y="1700784"/>
            <a:ext cx="11094415" cy="566928"/>
          </a:xfrm>
          <a:prstGeom prst="roundRect">
            <a:avLst>
              <a:gd name="adj" fmla="val 22581"/>
            </a:avLst>
          </a:prstGeom>
          <a:solidFill>
            <a:srgbClr val="E7F3EF"/>
          </a:solidFill>
          <a:ln w="12700">
            <a:solidFill>
              <a:srgbClr val="0E7C5A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749808" y="1810512"/>
            <a:ext cx="347472" cy="347472"/>
          </a:xfrm>
          <a:prstGeom prst="ellipse">
            <a:avLst/>
          </a:prstGeom>
          <a:solidFill>
            <a:srgbClr val="0E7C5A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676" y="1897380"/>
            <a:ext cx="173736" cy="173736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1207008" y="1700784"/>
            <a:ext cx="10198303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in a full sentence.</a:t>
            </a:r>
            <a:endParaRPr lang="en-US" sz="1700" dirty="0"/>
          </a:p>
        </p:txBody>
      </p:sp>
      <p:sp>
        <p:nvSpPr>
          <p:cNvPr id="14" name="Shape 9"/>
          <p:cNvSpPr/>
          <p:nvPr/>
        </p:nvSpPr>
        <p:spPr>
          <a:xfrm>
            <a:off x="548640" y="2414016"/>
            <a:ext cx="11094415" cy="610819"/>
          </a:xfrm>
          <a:prstGeom prst="roundRect">
            <a:avLst>
              <a:gd name="adj" fmla="val 20958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15" name="Shape 10"/>
          <p:cNvSpPr/>
          <p:nvPr/>
        </p:nvSpPr>
        <p:spPr>
          <a:xfrm>
            <a:off x="749808" y="2518258"/>
            <a:ext cx="402336" cy="402336"/>
          </a:xfrm>
          <a:prstGeom prst="ellipse">
            <a:avLst/>
          </a:prstGeom>
          <a:solidFill>
            <a:srgbClr val="0E7C5A"/>
          </a:solidFill>
          <a:ln/>
        </p:spPr>
      </p:sp>
      <p:sp>
        <p:nvSpPr>
          <p:cNvPr id="16" name="Text 11"/>
          <p:cNvSpPr txBox="1"/>
          <p:nvPr/>
        </p:nvSpPr>
        <p:spPr>
          <a:xfrm>
            <a:off x="749808" y="251825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17" name="Text 12"/>
          <p:cNvSpPr/>
          <p:nvPr/>
        </p:nvSpPr>
        <p:spPr>
          <a:xfrm>
            <a:off x="1353312" y="2468880"/>
            <a:ext cx="10033711" cy="5010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20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does the speaker narrow the motion, and why is that useful?</a:t>
            </a:r>
            <a:endParaRPr lang="en-US" sz="2000" dirty="0"/>
          </a:p>
        </p:txBody>
      </p:sp>
      <p:sp>
        <p:nvSpPr>
          <p:cNvPr id="18" name="Shape 13"/>
          <p:cNvSpPr/>
          <p:nvPr/>
        </p:nvSpPr>
        <p:spPr>
          <a:xfrm>
            <a:off x="548640" y="3143707"/>
            <a:ext cx="11094415" cy="610819"/>
          </a:xfrm>
          <a:prstGeom prst="roundRect">
            <a:avLst>
              <a:gd name="adj" fmla="val 20958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749808" y="3247949"/>
            <a:ext cx="402336" cy="402336"/>
          </a:xfrm>
          <a:prstGeom prst="ellipse">
            <a:avLst/>
          </a:prstGeom>
          <a:solidFill>
            <a:srgbClr val="0E7C5A"/>
          </a:solidFill>
          <a:ln/>
        </p:spPr>
      </p:sp>
      <p:sp>
        <p:nvSpPr>
          <p:cNvPr id="20" name="Text 15"/>
          <p:cNvSpPr txBox="1"/>
          <p:nvPr/>
        </p:nvSpPr>
        <p:spPr>
          <a:xfrm>
            <a:off x="749808" y="3247949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21" name="Text 16"/>
          <p:cNvSpPr/>
          <p:nvPr/>
        </p:nvSpPr>
        <p:spPr>
          <a:xfrm>
            <a:off x="1353312" y="3198571"/>
            <a:ext cx="10033711" cy="5010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20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are the three lines of argument?</a:t>
            </a:r>
            <a:endParaRPr lang="en-US" sz="2000" dirty="0"/>
          </a:p>
        </p:txBody>
      </p:sp>
      <p:sp>
        <p:nvSpPr>
          <p:cNvPr id="22" name="Shape 17"/>
          <p:cNvSpPr/>
          <p:nvPr/>
        </p:nvSpPr>
        <p:spPr>
          <a:xfrm>
            <a:off x="548640" y="3873398"/>
            <a:ext cx="11094415" cy="610819"/>
          </a:xfrm>
          <a:prstGeom prst="roundRect">
            <a:avLst>
              <a:gd name="adj" fmla="val 20958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23" name="Shape 18"/>
          <p:cNvSpPr/>
          <p:nvPr/>
        </p:nvSpPr>
        <p:spPr>
          <a:xfrm>
            <a:off x="749808" y="3977640"/>
            <a:ext cx="402336" cy="402336"/>
          </a:xfrm>
          <a:prstGeom prst="ellipse">
            <a:avLst/>
          </a:prstGeom>
          <a:solidFill>
            <a:srgbClr val="0E7C5A"/>
          </a:solidFill>
          <a:ln/>
        </p:spPr>
      </p:sp>
      <p:sp>
        <p:nvSpPr>
          <p:cNvPr id="24" name="Text 19"/>
          <p:cNvSpPr txBox="1"/>
          <p:nvPr/>
        </p:nvSpPr>
        <p:spPr>
          <a:xfrm>
            <a:off x="749808" y="397764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25" name="Text 20"/>
          <p:cNvSpPr/>
          <p:nvPr/>
        </p:nvSpPr>
        <p:spPr>
          <a:xfrm>
            <a:off x="1353312" y="3928262"/>
            <a:ext cx="10033711" cy="5010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20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number is meant to be remembered, and how do you know?</a:t>
            </a:r>
            <a:endParaRPr lang="en-US" sz="2000" dirty="0"/>
          </a:p>
        </p:txBody>
      </p:sp>
      <p:sp>
        <p:nvSpPr>
          <p:cNvPr id="26" name="Shape 21"/>
          <p:cNvSpPr/>
          <p:nvPr/>
        </p:nvSpPr>
        <p:spPr>
          <a:xfrm>
            <a:off x="548640" y="4603090"/>
            <a:ext cx="11094415" cy="610819"/>
          </a:xfrm>
          <a:prstGeom prst="roundRect">
            <a:avLst>
              <a:gd name="adj" fmla="val 20958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27" name="Shape 22"/>
          <p:cNvSpPr/>
          <p:nvPr/>
        </p:nvSpPr>
        <p:spPr>
          <a:xfrm>
            <a:off x="749808" y="4707331"/>
            <a:ext cx="402336" cy="402336"/>
          </a:xfrm>
          <a:prstGeom prst="ellipse">
            <a:avLst/>
          </a:prstGeom>
          <a:solidFill>
            <a:srgbClr val="0E7C5A"/>
          </a:solidFill>
          <a:ln/>
        </p:spPr>
      </p:sp>
      <p:sp>
        <p:nvSpPr>
          <p:cNvPr id="28" name="Text 23"/>
          <p:cNvSpPr txBox="1"/>
          <p:nvPr/>
        </p:nvSpPr>
        <p:spPr>
          <a:xfrm>
            <a:off x="749808" y="4707331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29" name="Text 24"/>
          <p:cNvSpPr/>
          <p:nvPr/>
        </p:nvSpPr>
        <p:spPr>
          <a:xfrm>
            <a:off x="1353312" y="4657954"/>
            <a:ext cx="10033711" cy="5010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20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does the closing differ from the opening?</a:t>
            </a:r>
            <a:endParaRPr lang="en-US" sz="2000" dirty="0"/>
          </a:p>
        </p:txBody>
      </p:sp>
      <p:sp>
        <p:nvSpPr>
          <p:cNvPr id="30" name="Shape 25"/>
          <p:cNvSpPr/>
          <p:nvPr/>
        </p:nvSpPr>
        <p:spPr>
          <a:xfrm>
            <a:off x="548640" y="5332781"/>
            <a:ext cx="11094415" cy="610819"/>
          </a:xfrm>
          <a:prstGeom prst="roundRect">
            <a:avLst>
              <a:gd name="adj" fmla="val 20958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31" name="Shape 26"/>
          <p:cNvSpPr/>
          <p:nvPr/>
        </p:nvSpPr>
        <p:spPr>
          <a:xfrm>
            <a:off x="749808" y="5437022"/>
            <a:ext cx="402336" cy="402336"/>
          </a:xfrm>
          <a:prstGeom prst="ellipse">
            <a:avLst/>
          </a:prstGeom>
          <a:solidFill>
            <a:srgbClr val="0E7C5A"/>
          </a:solidFill>
          <a:ln/>
        </p:spPr>
      </p:sp>
      <p:sp>
        <p:nvSpPr>
          <p:cNvPr id="32" name="Text 27"/>
          <p:cNvSpPr txBox="1"/>
          <p:nvPr/>
        </p:nvSpPr>
        <p:spPr>
          <a:xfrm>
            <a:off x="749808" y="543702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33" name="Text 28"/>
          <p:cNvSpPr/>
          <p:nvPr/>
        </p:nvSpPr>
        <p:spPr>
          <a:xfrm>
            <a:off x="1353312" y="5387645"/>
            <a:ext cx="10033711" cy="5010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20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is this case weakest?</a:t>
            </a:r>
            <a:endParaRPr lang="en-US" sz="20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38912"/>
            <a:ext cx="1911096" cy="420624"/>
          </a:xfrm>
          <a:prstGeom prst="roundRect">
            <a:avLst>
              <a:gd name="adj" fmla="val 50000"/>
            </a:avLst>
          </a:prstGeom>
          <a:solidFill>
            <a:srgbClr val="0E7C5A"/>
          </a:solidFill>
          <a:ln/>
        </p:spPr>
      </p:sp>
      <p:sp>
        <p:nvSpPr>
          <p:cNvPr id="3" name="Shape 1"/>
          <p:cNvSpPr/>
          <p:nvPr/>
        </p:nvSpPr>
        <p:spPr>
          <a:xfrm>
            <a:off x="649224" y="539496"/>
            <a:ext cx="219456" cy="219456"/>
          </a:xfrm>
          <a:prstGeom prst="ellipse">
            <a:avLst/>
          </a:prstGeom>
          <a:solidFill>
            <a:srgbClr val="0E7C5A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" y="539496"/>
            <a:ext cx="219456" cy="21945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932688" y="438912"/>
            <a:ext cx="1417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3 OF 5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896112"/>
            <a:ext cx="10972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1 — answers and why</a:t>
            </a:r>
            <a:endParaRPr lang="en-US" sz="38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6144768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50" kern="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4 · Advanced Spoken English · Module 3 — Debate &amp; Persuasion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10607040" y="6144768"/>
            <a:ext cx="1033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43</a:t>
            </a:r>
            <a:endParaRPr lang="en-US" sz="1100" dirty="0"/>
          </a:p>
        </p:txBody>
      </p:sp>
      <p:sp>
        <p:nvSpPr>
          <p:cNvPr id="10" name="Shape 6"/>
          <p:cNvSpPr/>
          <p:nvPr/>
        </p:nvSpPr>
        <p:spPr>
          <a:xfrm>
            <a:off x="548640" y="1700784"/>
            <a:ext cx="11094415" cy="753466"/>
          </a:xfrm>
          <a:prstGeom prst="roundRect">
            <a:avLst>
              <a:gd name="adj" fmla="val 16990"/>
            </a:avLst>
          </a:prstGeom>
          <a:solidFill>
            <a:srgbClr val="E6F5EC"/>
          </a:solidFill>
          <a:ln w="12700">
            <a:solidFill>
              <a:srgbClr val="2E9E5B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731520" y="1885493"/>
            <a:ext cx="384048" cy="384048"/>
          </a:xfrm>
          <a:prstGeom prst="ellipse">
            <a:avLst/>
          </a:prstGeom>
          <a:solidFill>
            <a:srgbClr val="2E9E5B"/>
          </a:solidFill>
          <a:ln/>
        </p:spPr>
      </p:sp>
      <p:sp>
        <p:nvSpPr>
          <p:cNvPr id="12" name="Text 8"/>
          <p:cNvSpPr txBox="1"/>
          <p:nvPr/>
        </p:nvSpPr>
        <p:spPr>
          <a:xfrm>
            <a:off x="731520" y="1885493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1316736" y="1755648"/>
            <a:ext cx="10106863" cy="6437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140" i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— the narrowing</a:t>
            </a:r>
            <a:endParaRPr lang="en-US" sz="1140" dirty="0"/>
          </a:p>
          <a:p>
            <a:pPr indent="0" marL="0">
              <a:lnSpc>
                <a:spcPct val="102000"/>
              </a:lnSpc>
              <a:spcBef>
                <a:spcPts val="176"/>
              </a:spcBef>
              <a:buNone/>
            </a:pPr>
            <a:r>
              <a:rPr lang="en-US" sz="145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“Reformed, not cancelled.” A much narrower claim.</a:t>
            </a:r>
            <a:endParaRPr lang="en-US" sz="1140" dirty="0"/>
          </a:p>
          <a:p>
            <a:pPr indent="0" marL="0">
              <a:lnSpc>
                <a:spcPct val="102000"/>
              </a:lnSpc>
              <a:spcBef>
                <a:spcPts val="264"/>
              </a:spcBef>
              <a:buNone/>
            </a:pPr>
            <a:r>
              <a:rPr lang="en-US" sz="1100" dirty="0">
                <a:solidFill>
                  <a:srgbClr val="0A4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They now only have to defend reform, not the status quo. Every attack on the current arrangement misses.</a:t>
            </a:r>
            <a:endParaRPr lang="en-US" sz="1140" dirty="0"/>
          </a:p>
        </p:txBody>
      </p:sp>
      <p:sp>
        <p:nvSpPr>
          <p:cNvPr id="14" name="Shape 10"/>
          <p:cNvSpPr/>
          <p:nvPr/>
        </p:nvSpPr>
        <p:spPr>
          <a:xfrm>
            <a:off x="548640" y="2573122"/>
            <a:ext cx="11094415" cy="753466"/>
          </a:xfrm>
          <a:prstGeom prst="roundRect">
            <a:avLst>
              <a:gd name="adj" fmla="val 16990"/>
            </a:avLst>
          </a:prstGeom>
          <a:solidFill>
            <a:srgbClr val="E6F5EC"/>
          </a:solidFill>
          <a:ln w="12700">
            <a:solidFill>
              <a:srgbClr val="2E9E5B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731520" y="2757830"/>
            <a:ext cx="384048" cy="384048"/>
          </a:xfrm>
          <a:prstGeom prst="ellipse">
            <a:avLst/>
          </a:prstGeom>
          <a:solidFill>
            <a:srgbClr val="2E9E5B"/>
          </a:solidFill>
          <a:ln/>
        </p:spPr>
      </p:sp>
      <p:sp>
        <p:nvSpPr>
          <p:cNvPr id="16" name="Text 12"/>
          <p:cNvSpPr txBox="1"/>
          <p:nvPr/>
        </p:nvSpPr>
        <p:spPr>
          <a:xfrm>
            <a:off x="731520" y="275783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7" name="Text 13"/>
          <p:cNvSpPr/>
          <p:nvPr/>
        </p:nvSpPr>
        <p:spPr>
          <a:xfrm>
            <a:off x="1316736" y="2627986"/>
            <a:ext cx="10106863" cy="6437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140" i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— the memorable number</a:t>
            </a:r>
            <a:endParaRPr lang="en-US" sz="1140" dirty="0"/>
          </a:p>
          <a:p>
            <a:pPr indent="0" marL="0">
              <a:lnSpc>
                <a:spcPct val="102000"/>
              </a:lnSpc>
              <a:spcBef>
                <a:spcPts val="176"/>
              </a:spcBef>
              <a:buNone/>
            </a:pPr>
            <a:r>
              <a:rPr lang="en-US" sz="145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70%. It is the only figure given context and weight.</a:t>
            </a:r>
            <a:endParaRPr lang="en-US" sz="1140" dirty="0"/>
          </a:p>
          <a:p>
            <a:pPr indent="0" marL="0">
              <a:lnSpc>
                <a:spcPct val="102000"/>
              </a:lnSpc>
              <a:spcBef>
                <a:spcPts val="264"/>
              </a:spcBef>
              <a:buNone/>
            </a:pPr>
            <a:r>
              <a:rPr lang="en-US" sz="1100" dirty="0">
                <a:solidFill>
                  <a:srgbClr val="0A4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The 40,000 birr appears once and is immediately outweighed. One number is meant to survive.</a:t>
            </a:r>
            <a:endParaRPr lang="en-US" sz="1140" dirty="0"/>
          </a:p>
        </p:txBody>
      </p:sp>
      <p:sp>
        <p:nvSpPr>
          <p:cNvPr id="18" name="Shape 14"/>
          <p:cNvSpPr/>
          <p:nvPr/>
        </p:nvSpPr>
        <p:spPr>
          <a:xfrm>
            <a:off x="548640" y="3445459"/>
            <a:ext cx="11094415" cy="753466"/>
          </a:xfrm>
          <a:prstGeom prst="roundRect">
            <a:avLst>
              <a:gd name="adj" fmla="val 16990"/>
            </a:avLst>
          </a:prstGeom>
          <a:solidFill>
            <a:srgbClr val="E6F5EC"/>
          </a:solidFill>
          <a:ln w="12700">
            <a:solidFill>
              <a:srgbClr val="2E9E5B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731520" y="3630168"/>
            <a:ext cx="384048" cy="384048"/>
          </a:xfrm>
          <a:prstGeom prst="ellipse">
            <a:avLst/>
          </a:prstGeom>
          <a:solidFill>
            <a:srgbClr val="2E9E5B"/>
          </a:solidFill>
          <a:ln/>
        </p:spPr>
      </p:sp>
      <p:sp>
        <p:nvSpPr>
          <p:cNvPr id="20" name="Text 16"/>
          <p:cNvSpPr txBox="1"/>
          <p:nvPr/>
        </p:nvSpPr>
        <p:spPr>
          <a:xfrm>
            <a:off x="731520" y="36301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1" name="Text 17"/>
          <p:cNvSpPr/>
          <p:nvPr/>
        </p:nvSpPr>
        <p:spPr>
          <a:xfrm>
            <a:off x="1316736" y="3500323"/>
            <a:ext cx="10106863" cy="6437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140" i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— the closing</a:t>
            </a:r>
            <a:endParaRPr lang="en-US" sz="1140" dirty="0"/>
          </a:p>
          <a:p>
            <a:pPr indent="0" marL="0">
              <a:lnSpc>
                <a:spcPct val="102000"/>
              </a:lnSpc>
              <a:spcBef>
                <a:spcPts val="176"/>
              </a:spcBef>
              <a:buNone/>
            </a:pPr>
            <a:r>
              <a:rPr lang="en-US" sz="145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new arguments; it returns to the opening phrase.</a:t>
            </a:r>
            <a:endParaRPr lang="en-US" sz="1140" dirty="0"/>
          </a:p>
          <a:p>
            <a:pPr indent="0" marL="0">
              <a:lnSpc>
                <a:spcPct val="102000"/>
              </a:lnSpc>
              <a:spcBef>
                <a:spcPts val="264"/>
              </a:spcBef>
              <a:buNone/>
            </a:pPr>
            <a:r>
              <a:rPr lang="en-US" sz="1100" dirty="0">
                <a:solidFill>
                  <a:srgbClr val="0A4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Remind, do not add. New material in a closing signals an incomplete case.</a:t>
            </a:r>
            <a:endParaRPr lang="en-US" sz="1140" dirty="0"/>
          </a:p>
        </p:txBody>
      </p:sp>
      <p:sp>
        <p:nvSpPr>
          <p:cNvPr id="22" name="Shape 18"/>
          <p:cNvSpPr/>
          <p:nvPr/>
        </p:nvSpPr>
        <p:spPr>
          <a:xfrm>
            <a:off x="548640" y="4317797"/>
            <a:ext cx="11094415" cy="753466"/>
          </a:xfrm>
          <a:prstGeom prst="roundRect">
            <a:avLst>
              <a:gd name="adj" fmla="val 16990"/>
            </a:avLst>
          </a:prstGeom>
          <a:solidFill>
            <a:srgbClr val="E6F5EC"/>
          </a:solidFill>
          <a:ln w="12700">
            <a:solidFill>
              <a:srgbClr val="2E9E5B"/>
            </a:solidFill>
            <a:prstDash val="solid"/>
          </a:ln>
        </p:spPr>
      </p:sp>
      <p:sp>
        <p:nvSpPr>
          <p:cNvPr id="23" name="Shape 19"/>
          <p:cNvSpPr/>
          <p:nvPr/>
        </p:nvSpPr>
        <p:spPr>
          <a:xfrm>
            <a:off x="731520" y="4502506"/>
            <a:ext cx="384048" cy="384048"/>
          </a:xfrm>
          <a:prstGeom prst="ellipse">
            <a:avLst/>
          </a:prstGeom>
          <a:solidFill>
            <a:srgbClr val="2E9E5B"/>
          </a:solidFill>
          <a:ln/>
        </p:spPr>
      </p:sp>
      <p:sp>
        <p:nvSpPr>
          <p:cNvPr id="24" name="Text 20"/>
          <p:cNvSpPr txBox="1"/>
          <p:nvPr/>
        </p:nvSpPr>
        <p:spPr>
          <a:xfrm>
            <a:off x="731520" y="450250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5" name="Text 21"/>
          <p:cNvSpPr/>
          <p:nvPr/>
        </p:nvSpPr>
        <p:spPr>
          <a:xfrm>
            <a:off x="1316736" y="4372661"/>
            <a:ext cx="10106863" cy="6437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140" i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— the weakest point</a:t>
            </a:r>
            <a:endParaRPr lang="en-US" sz="1140" dirty="0"/>
          </a:p>
          <a:p>
            <a:pPr indent="0" marL="0">
              <a:lnSpc>
                <a:spcPct val="102000"/>
              </a:lnSpc>
              <a:spcBef>
                <a:spcPts val="176"/>
              </a:spcBef>
              <a:buNone/>
            </a:pPr>
            <a:r>
              <a:rPr lang="en-US" sz="145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“Nobody has costed the middle option.”</a:t>
            </a:r>
            <a:endParaRPr lang="en-US" sz="1140" dirty="0"/>
          </a:p>
          <a:p>
            <a:pPr indent="0" marL="0">
              <a:lnSpc>
                <a:spcPct val="102000"/>
              </a:lnSpc>
              <a:spcBef>
                <a:spcPts val="264"/>
              </a:spcBef>
              <a:buNone/>
            </a:pPr>
            <a:r>
              <a:rPr lang="en-US" sz="1100" dirty="0">
                <a:solidFill>
                  <a:srgbClr val="0A4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If the other side has costed it, the third line collapses entirely. It is the load-bearing claim.</a:t>
            </a:r>
            <a:endParaRPr lang="en-US" sz="1140" dirty="0"/>
          </a:p>
        </p:txBody>
      </p:sp>
      <p:sp>
        <p:nvSpPr>
          <p:cNvPr id="26" name="Shape 22"/>
          <p:cNvSpPr/>
          <p:nvPr/>
        </p:nvSpPr>
        <p:spPr>
          <a:xfrm>
            <a:off x="548640" y="5190134"/>
            <a:ext cx="11094415" cy="753466"/>
          </a:xfrm>
          <a:prstGeom prst="roundRect">
            <a:avLst>
              <a:gd name="adj" fmla="val 16990"/>
            </a:avLst>
          </a:prstGeom>
          <a:solidFill>
            <a:srgbClr val="E6F5EC"/>
          </a:solidFill>
          <a:ln w="12700">
            <a:solidFill>
              <a:srgbClr val="2E9E5B"/>
            </a:solidFill>
            <a:prstDash val="solid"/>
          </a:ln>
        </p:spPr>
      </p:sp>
      <p:sp>
        <p:nvSpPr>
          <p:cNvPr id="27" name="Shape 23"/>
          <p:cNvSpPr/>
          <p:nvPr/>
        </p:nvSpPr>
        <p:spPr>
          <a:xfrm>
            <a:off x="731520" y="5374843"/>
            <a:ext cx="384048" cy="384048"/>
          </a:xfrm>
          <a:prstGeom prst="ellipse">
            <a:avLst/>
          </a:prstGeom>
          <a:solidFill>
            <a:srgbClr val="2E9E5B"/>
          </a:solidFill>
          <a:ln/>
        </p:spPr>
      </p:sp>
      <p:sp>
        <p:nvSpPr>
          <p:cNvPr id="28" name="Text 24"/>
          <p:cNvSpPr txBox="1"/>
          <p:nvPr/>
        </p:nvSpPr>
        <p:spPr>
          <a:xfrm>
            <a:off x="731520" y="5374843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9" name="Text 25"/>
          <p:cNvSpPr/>
          <p:nvPr/>
        </p:nvSpPr>
        <p:spPr>
          <a:xfrm>
            <a:off x="1316736" y="5244998"/>
            <a:ext cx="10106863" cy="6437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140" i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would you attack it?</a:t>
            </a:r>
            <a:endParaRPr lang="en-US" sz="1140" dirty="0"/>
          </a:p>
          <a:p>
            <a:pPr indent="0" marL="0">
              <a:lnSpc>
                <a:spcPct val="102000"/>
              </a:lnSpc>
              <a:spcBef>
                <a:spcPts val="176"/>
              </a:spcBef>
              <a:buNone/>
            </a:pPr>
            <a:r>
              <a:rPr lang="en-US" sz="145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the middle option yourself, and ask where the 70% comes from.</a:t>
            </a:r>
            <a:endParaRPr lang="en-US" sz="1140" dirty="0"/>
          </a:p>
          <a:p>
            <a:pPr indent="0" marL="0">
              <a:lnSpc>
                <a:spcPct val="102000"/>
              </a:lnSpc>
              <a:spcBef>
                <a:spcPts val="264"/>
              </a:spcBef>
              <a:buNone/>
            </a:pPr>
            <a:r>
              <a:rPr lang="en-US" sz="1100" dirty="0">
                <a:solidFill>
                  <a:srgbClr val="0A4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Attack the load-bearing point and question the one number they want remembered.</a:t>
            </a:r>
            <a:endParaRPr lang="en-US" sz="114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38912"/>
            <a:ext cx="1911096" cy="420624"/>
          </a:xfrm>
          <a:prstGeom prst="roundRect">
            <a:avLst>
              <a:gd name="adj" fmla="val 50000"/>
            </a:avLst>
          </a:prstGeom>
          <a:solidFill>
            <a:srgbClr val="0E7C5A"/>
          </a:solidFill>
          <a:ln/>
        </p:spPr>
      </p:sp>
      <p:sp>
        <p:nvSpPr>
          <p:cNvPr id="3" name="Shape 1"/>
          <p:cNvSpPr/>
          <p:nvPr/>
        </p:nvSpPr>
        <p:spPr>
          <a:xfrm>
            <a:off x="649224" y="539496"/>
            <a:ext cx="219456" cy="219456"/>
          </a:xfrm>
          <a:prstGeom prst="ellipse">
            <a:avLst/>
          </a:prstGeom>
          <a:solidFill>
            <a:srgbClr val="0E7C5A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" y="539496"/>
            <a:ext cx="219456" cy="21945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932688" y="438912"/>
            <a:ext cx="1417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4 OF 5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896112"/>
            <a:ext cx="10972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2 — the same case, badly made</a:t>
            </a:r>
            <a:endParaRPr lang="en-US" sz="38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536192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the four problems.</a:t>
            </a:r>
            <a:endParaRPr lang="en-US" sz="165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6144768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50" kern="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4 · Advanced Spoken English · Module 3 — Debate &amp; Persuasion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10607040" y="6144768"/>
            <a:ext cx="1033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44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548640" y="1883664"/>
            <a:ext cx="6583680" cy="4059936"/>
          </a:xfrm>
          <a:prstGeom prst="roundRect">
            <a:avLst>
              <a:gd name="adj" fmla="val 3153"/>
            </a:avLst>
          </a:prstGeom>
          <a:solidFill>
            <a:srgbClr val="E7F3EF"/>
          </a:solidFill>
          <a:ln w="15875">
            <a:solidFill>
              <a:srgbClr val="0E7C5A"/>
            </a:solidFill>
            <a:prstDash val="solid"/>
          </a:ln>
          <a:effectLst>
            <a:outerShdw sx="100000" sy="100000" kx="0" ky="0" algn="bl" rotWithShape="0" blurRad="101600" dist="25400" dir="5400000">
              <a:srgbClr val="94A69C">
                <a:alpha val="30000"/>
              </a:srgbClr>
            </a:outerShdw>
          </a:effectLst>
        </p:spPr>
      </p:sp>
      <p:sp>
        <p:nvSpPr>
          <p:cNvPr id="12" name="Text 8"/>
          <p:cNvSpPr txBox="1"/>
          <p:nvPr/>
        </p:nvSpPr>
        <p:spPr>
          <a:xfrm>
            <a:off x="822960" y="2103120"/>
            <a:ext cx="6035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0E7C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CAREFULLY</a:t>
            </a:r>
            <a:endParaRPr lang="en-US" sz="1200" dirty="0"/>
          </a:p>
        </p:txBody>
      </p:sp>
      <p:sp>
        <p:nvSpPr>
          <p:cNvPr id="13" name="Text 9"/>
          <p:cNvSpPr txBox="1"/>
          <p:nvPr/>
        </p:nvSpPr>
        <p:spPr>
          <a:xfrm>
            <a:off x="822960" y="2487168"/>
            <a:ext cx="6035040" cy="3218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30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Saturday classes are obviously important and</a:t>
            </a:r>
            <a:endParaRPr lang="en-US" sz="1300" dirty="0"/>
          </a:p>
          <a:p>
            <a:pPr indent="0" marL="0">
              <a:lnSpc>
                <a:spcPct val="124000"/>
              </a:lnSpc>
              <a:buNone/>
            </a:pPr>
            <a:r>
              <a:rPr lang="en-US" sz="130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everybody in the department agrees.</a:t>
            </a:r>
            <a:endParaRPr lang="en-US" sz="1300" dirty="0"/>
          </a:p>
          <a:p>
            <a:pPr indent="0" marL="0">
              <a:lnSpc>
                <a:spcPct val="124000"/>
              </a:lnSpc>
              <a:buNone/>
            </a:pPr>
            <a:endParaRPr lang="en-US" sz="1300" dirty="0"/>
          </a:p>
          <a:p>
            <a:pPr indent="0" marL="0">
              <a:lnSpc>
                <a:spcPct val="124000"/>
              </a:lnSpc>
              <a:buNone/>
            </a:pPr>
            <a:r>
              <a:rPr lang="en-US" sz="130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people who want to cancel them have never</a:t>
            </a:r>
            <a:endParaRPr lang="en-US" sz="1300" dirty="0"/>
          </a:p>
          <a:p>
            <a:pPr indent="0" marL="0">
              <a:lnSpc>
                <a:spcPct val="124000"/>
              </a:lnSpc>
              <a:buNone/>
            </a:pPr>
            <a:r>
              <a:rPr lang="en-US" sz="130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taught on a Saturday, so they don't really</a:t>
            </a:r>
            <a:endParaRPr lang="en-US" sz="1300" dirty="0"/>
          </a:p>
          <a:p>
            <a:pPr indent="0" marL="0">
              <a:lnSpc>
                <a:spcPct val="124000"/>
              </a:lnSpc>
              <a:buNone/>
            </a:pPr>
            <a:r>
              <a:rPr lang="en-US" sz="130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 what happens.</a:t>
            </a:r>
            <a:endParaRPr lang="en-US" sz="1300" dirty="0"/>
          </a:p>
          <a:p>
            <a:pPr indent="0" marL="0">
              <a:lnSpc>
                <a:spcPct val="124000"/>
              </a:lnSpc>
              <a:buNone/>
            </a:pPr>
            <a:endParaRPr lang="en-US" sz="1300" dirty="0"/>
          </a:p>
          <a:p>
            <a:pPr indent="0" marL="0">
              <a:lnSpc>
                <a:spcPct val="124000"/>
              </a:lnSpc>
              <a:buNone/>
            </a:pPr>
            <a:r>
              <a:rPr lang="en-US" sz="130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they're actually saying is that poor</a:t>
            </a:r>
            <a:endParaRPr lang="en-US" sz="1300" dirty="0"/>
          </a:p>
          <a:p>
            <a:pPr indent="0" marL="0">
              <a:lnSpc>
                <a:spcPct val="124000"/>
              </a:lnSpc>
              <a:buNone/>
            </a:pPr>
            <a:r>
              <a:rPr lang="en-US" sz="130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don't deserve extra help.</a:t>
            </a:r>
            <a:endParaRPr lang="en-US" sz="1300" dirty="0"/>
          </a:p>
          <a:p>
            <a:pPr indent="0" marL="0">
              <a:lnSpc>
                <a:spcPct val="124000"/>
              </a:lnSpc>
              <a:buNone/>
            </a:pPr>
            <a:endParaRPr lang="en-US" sz="1300" dirty="0"/>
          </a:p>
          <a:p>
            <a:pPr indent="0" marL="0">
              <a:lnSpc>
                <a:spcPct val="124000"/>
              </a:lnSpc>
              <a:buNone/>
            </a:pPr>
            <a:r>
              <a:rPr lang="en-US" sz="130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either we keep Saturdays exactly as they are,</a:t>
            </a:r>
            <a:endParaRPr lang="en-US" sz="1300" dirty="0"/>
          </a:p>
          <a:p>
            <a:pPr indent="0" marL="0">
              <a:lnSpc>
                <a:spcPct val="124000"/>
              </a:lnSpc>
              <a:buNone/>
            </a:pPr>
            <a:r>
              <a:rPr lang="en-US" sz="130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 we accept that we've given up on the students</a:t>
            </a:r>
            <a:endParaRPr lang="en-US" sz="1300" dirty="0"/>
          </a:p>
          <a:p>
            <a:pPr indent="0" marL="0">
              <a:lnSpc>
                <a:spcPct val="124000"/>
              </a:lnSpc>
              <a:buNone/>
            </a:pPr>
            <a:r>
              <a:rPr lang="en-US" sz="1300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need us most.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7406640" y="1883664"/>
            <a:ext cx="4236415" cy="4059936"/>
          </a:xfrm>
          <a:prstGeom prst="roundRect">
            <a:avLst>
              <a:gd name="adj" fmla="val 3153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15" name="Text 11"/>
          <p:cNvSpPr txBox="1"/>
          <p:nvPr/>
        </p:nvSpPr>
        <p:spPr>
          <a:xfrm>
            <a:off x="7644384" y="2103120"/>
            <a:ext cx="376092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0E7C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TASK</a:t>
            </a:r>
            <a:endParaRPr lang="en-US" sz="1200" dirty="0"/>
          </a:p>
        </p:txBody>
      </p:sp>
      <p:sp>
        <p:nvSpPr>
          <p:cNvPr id="16" name="Text 12"/>
          <p:cNvSpPr/>
          <p:nvPr/>
        </p:nvSpPr>
        <p:spPr>
          <a:xfrm>
            <a:off x="7680960" y="2505456"/>
            <a:ext cx="3687775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00000"/>
              </a:lnSpc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“everybody knows”.</a:t>
            </a:r>
            <a:endParaRPr lang="en-US" sz="1500" dirty="0"/>
          </a:p>
          <a:p>
            <a:pPr marL="228600" indent="-228600">
              <a:lnSpc>
                <a:spcPct val="100000"/>
              </a:lnSpc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the attack on people.</a:t>
            </a:r>
            <a:endParaRPr lang="en-US" sz="1500" dirty="0"/>
          </a:p>
          <a:p>
            <a:pPr marL="228600" indent="-228600">
              <a:lnSpc>
                <a:spcPct val="100000"/>
              </a:lnSpc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the straw man.</a:t>
            </a:r>
            <a:endParaRPr lang="en-US" sz="1500" dirty="0"/>
          </a:p>
          <a:p>
            <a:pPr marL="228600" indent="-228600">
              <a:lnSpc>
                <a:spcPct val="100000"/>
              </a:lnSpc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the all-or-nothing.</a:t>
            </a:r>
            <a:endParaRPr lang="en-US" sz="1500" dirty="0"/>
          </a:p>
          <a:p>
            <a:pPr marL="228600" indent="-228600">
              <a:lnSpc>
                <a:spcPct val="100000"/>
              </a:lnSpc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there a single number?</a:t>
            </a:r>
            <a:endParaRPr lang="en-US" sz="1500" dirty="0"/>
          </a:p>
          <a:p>
            <a:pPr marL="228600" indent="-228600">
              <a:lnSpc>
                <a:spcPct val="100000"/>
              </a:lnSpc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the position narrowed?</a:t>
            </a:r>
            <a:endParaRPr lang="en-US" sz="15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38912"/>
            <a:ext cx="1911096" cy="420624"/>
          </a:xfrm>
          <a:prstGeom prst="roundRect">
            <a:avLst>
              <a:gd name="adj" fmla="val 50000"/>
            </a:avLst>
          </a:prstGeom>
          <a:solidFill>
            <a:srgbClr val="0E7C5A"/>
          </a:solidFill>
          <a:ln/>
        </p:spPr>
      </p:sp>
      <p:sp>
        <p:nvSpPr>
          <p:cNvPr id="3" name="Shape 1"/>
          <p:cNvSpPr/>
          <p:nvPr/>
        </p:nvSpPr>
        <p:spPr>
          <a:xfrm>
            <a:off x="649224" y="539496"/>
            <a:ext cx="219456" cy="219456"/>
          </a:xfrm>
          <a:prstGeom prst="ellipse">
            <a:avLst/>
          </a:prstGeom>
          <a:solidFill>
            <a:srgbClr val="0E7C5A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" y="539496"/>
            <a:ext cx="219456" cy="21945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932688" y="438912"/>
            <a:ext cx="1417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5 OF 5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896112"/>
            <a:ext cx="10972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2 — answers and vocabulary review</a:t>
            </a:r>
            <a:endParaRPr lang="en-US" sz="38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6144768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50" kern="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4 · Advanced Spoken English · Module 3 — Debate &amp; Persuasion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10607040" y="6144768"/>
            <a:ext cx="1033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</a:t>
            </a:r>
            <a:endParaRPr lang="en-US" sz="1100" dirty="0"/>
          </a:p>
        </p:txBody>
      </p:sp>
      <p:sp>
        <p:nvSpPr>
          <p:cNvPr id="10" name="Shape 6"/>
          <p:cNvSpPr/>
          <p:nvPr/>
        </p:nvSpPr>
        <p:spPr>
          <a:xfrm>
            <a:off x="548640" y="1700784"/>
            <a:ext cx="11094415" cy="753466"/>
          </a:xfrm>
          <a:prstGeom prst="roundRect">
            <a:avLst>
              <a:gd name="adj" fmla="val 16990"/>
            </a:avLst>
          </a:prstGeom>
          <a:solidFill>
            <a:srgbClr val="E6F5EC"/>
          </a:solidFill>
          <a:ln w="12700">
            <a:solidFill>
              <a:srgbClr val="2E9E5B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731520" y="1885493"/>
            <a:ext cx="384048" cy="384048"/>
          </a:xfrm>
          <a:prstGeom prst="ellipse">
            <a:avLst/>
          </a:prstGeom>
          <a:solidFill>
            <a:srgbClr val="2E9E5B"/>
          </a:solidFill>
          <a:ln/>
        </p:spPr>
      </p:sp>
      <p:sp>
        <p:nvSpPr>
          <p:cNvPr id="12" name="Text 8"/>
          <p:cNvSpPr txBox="1"/>
          <p:nvPr/>
        </p:nvSpPr>
        <p:spPr>
          <a:xfrm>
            <a:off x="731520" y="1885493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1316736" y="1755648"/>
            <a:ext cx="10106863" cy="6437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140" i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— “obviously” and “everybody agrees”</a:t>
            </a:r>
            <a:endParaRPr lang="en-US" sz="1140" dirty="0"/>
          </a:p>
          <a:p>
            <a:pPr indent="0" marL="0">
              <a:lnSpc>
                <a:spcPct val="102000"/>
              </a:lnSpc>
              <a:spcBef>
                <a:spcPts val="176"/>
              </a:spcBef>
              <a:buNone/>
            </a:pPr>
            <a:r>
              <a:rPr lang="en-US" sz="145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Claiming agreement instead of showing evidence.</a:t>
            </a:r>
            <a:endParaRPr lang="en-US" sz="1140" dirty="0"/>
          </a:p>
          <a:p>
            <a:pPr indent="0" marL="0">
              <a:lnSpc>
                <a:spcPct val="102000"/>
              </a:lnSpc>
              <a:spcBef>
                <a:spcPts val="264"/>
              </a:spcBef>
              <a:buNone/>
            </a:pPr>
            <a:r>
              <a:rPr lang="en-US" sz="1100" dirty="0">
                <a:solidFill>
                  <a:srgbClr val="0A4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If it were obvious there would be no debate. It is the weakest opening available.</a:t>
            </a:r>
            <a:endParaRPr lang="en-US" sz="1140" dirty="0"/>
          </a:p>
        </p:txBody>
      </p:sp>
      <p:sp>
        <p:nvSpPr>
          <p:cNvPr id="14" name="Shape 10"/>
          <p:cNvSpPr/>
          <p:nvPr/>
        </p:nvSpPr>
        <p:spPr>
          <a:xfrm>
            <a:off x="548640" y="2573122"/>
            <a:ext cx="11094415" cy="753466"/>
          </a:xfrm>
          <a:prstGeom prst="roundRect">
            <a:avLst>
              <a:gd name="adj" fmla="val 16990"/>
            </a:avLst>
          </a:prstGeom>
          <a:solidFill>
            <a:srgbClr val="E6F5EC"/>
          </a:solidFill>
          <a:ln w="12700">
            <a:solidFill>
              <a:srgbClr val="2E9E5B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731520" y="2757830"/>
            <a:ext cx="384048" cy="384048"/>
          </a:xfrm>
          <a:prstGeom prst="ellipse">
            <a:avLst/>
          </a:prstGeom>
          <a:solidFill>
            <a:srgbClr val="2E9E5B"/>
          </a:solidFill>
          <a:ln/>
        </p:spPr>
      </p:sp>
      <p:sp>
        <p:nvSpPr>
          <p:cNvPr id="16" name="Text 12"/>
          <p:cNvSpPr txBox="1"/>
          <p:nvPr/>
        </p:nvSpPr>
        <p:spPr>
          <a:xfrm>
            <a:off x="731520" y="275783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7" name="Text 13"/>
          <p:cNvSpPr/>
          <p:nvPr/>
        </p:nvSpPr>
        <p:spPr>
          <a:xfrm>
            <a:off x="1316736" y="2627986"/>
            <a:ext cx="10106863" cy="6437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140" i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— the teaching claim</a:t>
            </a:r>
            <a:endParaRPr lang="en-US" sz="1140" dirty="0"/>
          </a:p>
          <a:p>
            <a:pPr indent="0" marL="0">
              <a:lnSpc>
                <a:spcPct val="102000"/>
              </a:lnSpc>
              <a:spcBef>
                <a:spcPts val="176"/>
              </a:spcBef>
              <a:buNone/>
            </a:pPr>
            <a:r>
              <a:rPr lang="en-US" sz="145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Attacking the people rather than the argument.</a:t>
            </a:r>
            <a:endParaRPr lang="en-US" sz="1140" dirty="0"/>
          </a:p>
          <a:p>
            <a:pPr indent="0" marL="0">
              <a:lnSpc>
                <a:spcPct val="102000"/>
              </a:lnSpc>
              <a:spcBef>
                <a:spcPts val="264"/>
              </a:spcBef>
              <a:buNone/>
            </a:pPr>
            <a:r>
              <a:rPr lang="en-US" sz="1100" dirty="0">
                <a:solidFill>
                  <a:srgbClr val="0A4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Whether they have taught on a Saturday does not determine whether the classes work.</a:t>
            </a:r>
            <a:endParaRPr lang="en-US" sz="1140" dirty="0"/>
          </a:p>
        </p:txBody>
      </p:sp>
      <p:sp>
        <p:nvSpPr>
          <p:cNvPr id="18" name="Shape 14"/>
          <p:cNvSpPr/>
          <p:nvPr/>
        </p:nvSpPr>
        <p:spPr>
          <a:xfrm>
            <a:off x="548640" y="3445459"/>
            <a:ext cx="11094415" cy="753466"/>
          </a:xfrm>
          <a:prstGeom prst="roundRect">
            <a:avLst>
              <a:gd name="adj" fmla="val 16990"/>
            </a:avLst>
          </a:prstGeom>
          <a:solidFill>
            <a:srgbClr val="E6F5EC"/>
          </a:solidFill>
          <a:ln w="12700">
            <a:solidFill>
              <a:srgbClr val="2E9E5B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731520" y="3630168"/>
            <a:ext cx="384048" cy="384048"/>
          </a:xfrm>
          <a:prstGeom prst="ellipse">
            <a:avLst/>
          </a:prstGeom>
          <a:solidFill>
            <a:srgbClr val="2E9E5B"/>
          </a:solidFill>
          <a:ln/>
        </p:spPr>
      </p:sp>
      <p:sp>
        <p:nvSpPr>
          <p:cNvPr id="20" name="Text 16"/>
          <p:cNvSpPr txBox="1"/>
          <p:nvPr/>
        </p:nvSpPr>
        <p:spPr>
          <a:xfrm>
            <a:off x="731520" y="36301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1" name="Text 17"/>
          <p:cNvSpPr/>
          <p:nvPr/>
        </p:nvSpPr>
        <p:spPr>
          <a:xfrm>
            <a:off x="1316736" y="3500323"/>
            <a:ext cx="10106863" cy="6437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140" i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— the straw man</a:t>
            </a:r>
            <a:endParaRPr lang="en-US" sz="1140" dirty="0"/>
          </a:p>
          <a:p>
            <a:pPr indent="0" marL="0">
              <a:lnSpc>
                <a:spcPct val="102000"/>
              </a:lnSpc>
              <a:spcBef>
                <a:spcPts val="176"/>
              </a:spcBef>
              <a:buNone/>
            </a:pPr>
            <a:r>
              <a:rPr lang="en-US" sz="145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Nobody said poor students do not deserve help.</a:t>
            </a:r>
            <a:endParaRPr lang="en-US" sz="1140" dirty="0"/>
          </a:p>
          <a:p>
            <a:pPr indent="0" marL="0">
              <a:lnSpc>
                <a:spcPct val="102000"/>
              </a:lnSpc>
              <a:spcBef>
                <a:spcPts val="264"/>
              </a:spcBef>
              <a:buNone/>
            </a:pPr>
            <a:r>
              <a:rPr lang="en-US" sz="1100" dirty="0">
                <a:solidFill>
                  <a:srgbClr val="0A4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It substitutes an indefensible position for the real one, and the audience can see the substitution.</a:t>
            </a:r>
            <a:endParaRPr lang="en-US" sz="1140" dirty="0"/>
          </a:p>
        </p:txBody>
      </p:sp>
      <p:sp>
        <p:nvSpPr>
          <p:cNvPr id="22" name="Shape 18"/>
          <p:cNvSpPr/>
          <p:nvPr/>
        </p:nvSpPr>
        <p:spPr>
          <a:xfrm>
            <a:off x="548640" y="4317797"/>
            <a:ext cx="11094415" cy="753466"/>
          </a:xfrm>
          <a:prstGeom prst="roundRect">
            <a:avLst>
              <a:gd name="adj" fmla="val 16990"/>
            </a:avLst>
          </a:prstGeom>
          <a:solidFill>
            <a:srgbClr val="E6F5EC"/>
          </a:solidFill>
          <a:ln w="12700">
            <a:solidFill>
              <a:srgbClr val="2E9E5B"/>
            </a:solidFill>
            <a:prstDash val="solid"/>
          </a:ln>
        </p:spPr>
      </p:sp>
      <p:sp>
        <p:nvSpPr>
          <p:cNvPr id="23" name="Shape 19"/>
          <p:cNvSpPr/>
          <p:nvPr/>
        </p:nvSpPr>
        <p:spPr>
          <a:xfrm>
            <a:off x="731520" y="4502506"/>
            <a:ext cx="384048" cy="384048"/>
          </a:xfrm>
          <a:prstGeom prst="ellipse">
            <a:avLst/>
          </a:prstGeom>
          <a:solidFill>
            <a:srgbClr val="2E9E5B"/>
          </a:solidFill>
          <a:ln/>
        </p:spPr>
      </p:sp>
      <p:sp>
        <p:nvSpPr>
          <p:cNvPr id="24" name="Text 20"/>
          <p:cNvSpPr txBox="1"/>
          <p:nvPr/>
        </p:nvSpPr>
        <p:spPr>
          <a:xfrm>
            <a:off x="731520" y="450250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5" name="Text 21"/>
          <p:cNvSpPr/>
          <p:nvPr/>
        </p:nvSpPr>
        <p:spPr>
          <a:xfrm>
            <a:off x="1316736" y="4372661"/>
            <a:ext cx="10106863" cy="6437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140" i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and 6 — the false choice</a:t>
            </a:r>
            <a:endParaRPr lang="en-US" sz="1140" dirty="0"/>
          </a:p>
          <a:p>
            <a:pPr indent="0" marL="0">
              <a:lnSpc>
                <a:spcPct val="102000"/>
              </a:lnSpc>
              <a:spcBef>
                <a:spcPts val="176"/>
              </a:spcBef>
              <a:buNone/>
            </a:pPr>
            <a:r>
              <a:rPr lang="en-US" sz="145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“Exactly as they are, or give up entirely.” And it WIDENS the position.</a:t>
            </a:r>
            <a:endParaRPr lang="en-US" sz="1140" dirty="0"/>
          </a:p>
          <a:p>
            <a:pPr indent="0" marL="0">
              <a:lnSpc>
                <a:spcPct val="102000"/>
              </a:lnSpc>
              <a:spcBef>
                <a:spcPts val="264"/>
              </a:spcBef>
              <a:buNone/>
            </a:pPr>
            <a:r>
              <a:rPr lang="en-US" sz="1100" dirty="0">
                <a:solidFill>
                  <a:srgbClr val="0A4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The opposite of slide 6. It commits the speaker to defending the current arrangement in every detail.</a:t>
            </a:r>
            <a:endParaRPr lang="en-US" sz="1140" dirty="0"/>
          </a:p>
        </p:txBody>
      </p:sp>
      <p:sp>
        <p:nvSpPr>
          <p:cNvPr id="26" name="Shape 22"/>
          <p:cNvSpPr/>
          <p:nvPr/>
        </p:nvSpPr>
        <p:spPr>
          <a:xfrm>
            <a:off x="548640" y="5190134"/>
            <a:ext cx="11094415" cy="753466"/>
          </a:xfrm>
          <a:prstGeom prst="roundRect">
            <a:avLst>
              <a:gd name="adj" fmla="val 16990"/>
            </a:avLst>
          </a:prstGeom>
          <a:solidFill>
            <a:srgbClr val="E6F5EC"/>
          </a:solidFill>
          <a:ln w="12700">
            <a:solidFill>
              <a:srgbClr val="2E9E5B"/>
            </a:solidFill>
            <a:prstDash val="solid"/>
          </a:ln>
        </p:spPr>
      </p:sp>
      <p:sp>
        <p:nvSpPr>
          <p:cNvPr id="27" name="Shape 23"/>
          <p:cNvSpPr/>
          <p:nvPr/>
        </p:nvSpPr>
        <p:spPr>
          <a:xfrm>
            <a:off x="731520" y="5374843"/>
            <a:ext cx="384048" cy="384048"/>
          </a:xfrm>
          <a:prstGeom prst="ellipse">
            <a:avLst/>
          </a:prstGeom>
          <a:solidFill>
            <a:srgbClr val="2E9E5B"/>
          </a:solidFill>
          <a:ln/>
        </p:spPr>
      </p:sp>
      <p:sp>
        <p:nvSpPr>
          <p:cNvPr id="28" name="Text 24"/>
          <p:cNvSpPr txBox="1"/>
          <p:nvPr/>
        </p:nvSpPr>
        <p:spPr>
          <a:xfrm>
            <a:off x="731520" y="5374843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9" name="Text 25"/>
          <p:cNvSpPr/>
          <p:nvPr/>
        </p:nvSpPr>
        <p:spPr>
          <a:xfrm>
            <a:off x="1316736" y="5244998"/>
            <a:ext cx="10106863" cy="6437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140" i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Vocabulary check</a:t>
            </a:r>
            <a:endParaRPr lang="en-US" sz="1140" dirty="0"/>
          </a:p>
          <a:p>
            <a:pPr indent="0" marL="0">
              <a:lnSpc>
                <a:spcPct val="102000"/>
              </a:lnSpc>
              <a:spcBef>
                <a:spcPts val="176"/>
              </a:spcBef>
              <a:buNone/>
            </a:pPr>
            <a:r>
              <a:rPr lang="en-US" sz="145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refute · premise · compelling · concede · at stake</a:t>
            </a:r>
            <a:endParaRPr lang="en-US" sz="1140" dirty="0"/>
          </a:p>
          <a:p>
            <a:pPr indent="0" marL="0">
              <a:lnSpc>
                <a:spcPct val="102000"/>
              </a:lnSpc>
              <a:spcBef>
                <a:spcPts val="264"/>
              </a:spcBef>
              <a:buNone/>
            </a:pPr>
            <a:r>
              <a:rPr lang="en-US" sz="1100" dirty="0">
                <a:solidFill>
                  <a:srgbClr val="0A4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This version refutes nothing, examines no premise, and concedes nothing. It is emphatic and unpersuasive.</a:t>
            </a:r>
            <a:endParaRPr lang="en-US" sz="114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38912"/>
            <a:ext cx="1911096" cy="420624"/>
          </a:xfrm>
          <a:prstGeom prst="roundRect">
            <a:avLst>
              <a:gd name="adj" fmla="val 50000"/>
            </a:avLst>
          </a:prstGeom>
          <a:solidFill>
            <a:srgbClr val="7A4FBF"/>
          </a:solidFill>
          <a:ln/>
        </p:spPr>
      </p:sp>
      <p:sp>
        <p:nvSpPr>
          <p:cNvPr id="3" name="Shape 1"/>
          <p:cNvSpPr/>
          <p:nvPr/>
        </p:nvSpPr>
        <p:spPr>
          <a:xfrm>
            <a:off x="649224" y="539496"/>
            <a:ext cx="219456" cy="219456"/>
          </a:xfrm>
          <a:prstGeom prst="ellipse">
            <a:avLst/>
          </a:prstGeom>
          <a:solidFill>
            <a:srgbClr val="7A4FBF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" y="539496"/>
            <a:ext cx="219456" cy="21945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932688" y="438912"/>
            <a:ext cx="1417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WRITING 1 OF 5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896112"/>
            <a:ext cx="10972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Writing 1 — narrow the position</a:t>
            </a:r>
            <a:endParaRPr lang="en-US" sz="38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6144768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50" kern="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4 · Advanced Spoken English · Module 3 — Debate &amp; Persuasion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10607040" y="6144768"/>
            <a:ext cx="1033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46</a:t>
            </a:r>
            <a:endParaRPr lang="en-US" sz="1100" dirty="0"/>
          </a:p>
        </p:txBody>
      </p:sp>
      <p:sp>
        <p:nvSpPr>
          <p:cNvPr id="10" name="Shape 6"/>
          <p:cNvSpPr/>
          <p:nvPr/>
        </p:nvSpPr>
        <p:spPr>
          <a:xfrm>
            <a:off x="548640" y="1700784"/>
            <a:ext cx="11094415" cy="566928"/>
          </a:xfrm>
          <a:prstGeom prst="roundRect">
            <a:avLst>
              <a:gd name="adj" fmla="val 22581"/>
            </a:avLst>
          </a:prstGeom>
          <a:solidFill>
            <a:srgbClr val="F2ECFA"/>
          </a:solidFill>
          <a:ln w="12700">
            <a:solidFill>
              <a:srgbClr val="7A4FBF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749808" y="1810512"/>
            <a:ext cx="347472" cy="347472"/>
          </a:xfrm>
          <a:prstGeom prst="ellipse">
            <a:avLst/>
          </a:prstGeom>
          <a:solidFill>
            <a:srgbClr val="7A4FBF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676" y="1897380"/>
            <a:ext cx="173736" cy="173736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1207008" y="1700784"/>
            <a:ext cx="10198303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Rewrite each motion as a narrower, more defensible position.</a:t>
            </a:r>
            <a:endParaRPr lang="en-US" sz="1700" dirty="0"/>
          </a:p>
        </p:txBody>
      </p:sp>
      <p:sp>
        <p:nvSpPr>
          <p:cNvPr id="14" name="Shape 9"/>
          <p:cNvSpPr/>
          <p:nvPr/>
        </p:nvSpPr>
        <p:spPr>
          <a:xfrm>
            <a:off x="548640" y="2414016"/>
            <a:ext cx="11094415" cy="610819"/>
          </a:xfrm>
          <a:prstGeom prst="roundRect">
            <a:avLst>
              <a:gd name="adj" fmla="val 20958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15" name="Shape 10"/>
          <p:cNvSpPr/>
          <p:nvPr/>
        </p:nvSpPr>
        <p:spPr>
          <a:xfrm>
            <a:off x="749808" y="2518258"/>
            <a:ext cx="402336" cy="402336"/>
          </a:xfrm>
          <a:prstGeom prst="ellipse">
            <a:avLst/>
          </a:prstGeom>
          <a:solidFill>
            <a:srgbClr val="7A4FBF"/>
          </a:solidFill>
          <a:ln/>
        </p:spPr>
      </p:sp>
      <p:sp>
        <p:nvSpPr>
          <p:cNvPr id="16" name="Text 11"/>
          <p:cNvSpPr txBox="1"/>
          <p:nvPr/>
        </p:nvSpPr>
        <p:spPr>
          <a:xfrm>
            <a:off x="749808" y="251825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17" name="Text 12"/>
          <p:cNvSpPr/>
          <p:nvPr/>
        </p:nvSpPr>
        <p:spPr>
          <a:xfrm>
            <a:off x="1353312" y="2468880"/>
            <a:ext cx="10033711" cy="5010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20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Homework should be abolished.</a:t>
            </a:r>
            <a:endParaRPr lang="en-US" sz="2000" dirty="0"/>
          </a:p>
        </p:txBody>
      </p:sp>
      <p:sp>
        <p:nvSpPr>
          <p:cNvPr id="18" name="Shape 13"/>
          <p:cNvSpPr/>
          <p:nvPr/>
        </p:nvSpPr>
        <p:spPr>
          <a:xfrm>
            <a:off x="548640" y="3143707"/>
            <a:ext cx="11094415" cy="610819"/>
          </a:xfrm>
          <a:prstGeom prst="roundRect">
            <a:avLst>
              <a:gd name="adj" fmla="val 20958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749808" y="3247949"/>
            <a:ext cx="402336" cy="402336"/>
          </a:xfrm>
          <a:prstGeom prst="ellipse">
            <a:avLst/>
          </a:prstGeom>
          <a:solidFill>
            <a:srgbClr val="7A4FBF"/>
          </a:solidFill>
          <a:ln/>
        </p:spPr>
      </p:sp>
      <p:sp>
        <p:nvSpPr>
          <p:cNvPr id="20" name="Text 15"/>
          <p:cNvSpPr txBox="1"/>
          <p:nvPr/>
        </p:nvSpPr>
        <p:spPr>
          <a:xfrm>
            <a:off x="749808" y="3247949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21" name="Text 16"/>
          <p:cNvSpPr/>
          <p:nvPr/>
        </p:nvSpPr>
        <p:spPr>
          <a:xfrm>
            <a:off x="1353312" y="3198571"/>
            <a:ext cx="10033711" cy="5010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20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Saturday classes should be cancelled.</a:t>
            </a:r>
            <a:endParaRPr lang="en-US" sz="2000" dirty="0"/>
          </a:p>
        </p:txBody>
      </p:sp>
      <p:sp>
        <p:nvSpPr>
          <p:cNvPr id="22" name="Shape 17"/>
          <p:cNvSpPr/>
          <p:nvPr/>
        </p:nvSpPr>
        <p:spPr>
          <a:xfrm>
            <a:off x="548640" y="3873398"/>
            <a:ext cx="11094415" cy="610819"/>
          </a:xfrm>
          <a:prstGeom prst="roundRect">
            <a:avLst>
              <a:gd name="adj" fmla="val 20958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23" name="Shape 18"/>
          <p:cNvSpPr/>
          <p:nvPr/>
        </p:nvSpPr>
        <p:spPr>
          <a:xfrm>
            <a:off x="749808" y="3977640"/>
            <a:ext cx="402336" cy="402336"/>
          </a:xfrm>
          <a:prstGeom prst="ellipse">
            <a:avLst/>
          </a:prstGeom>
          <a:solidFill>
            <a:srgbClr val="7A4FBF"/>
          </a:solidFill>
          <a:ln/>
        </p:spPr>
      </p:sp>
      <p:sp>
        <p:nvSpPr>
          <p:cNvPr id="24" name="Text 19"/>
          <p:cNvSpPr txBox="1"/>
          <p:nvPr/>
        </p:nvSpPr>
        <p:spPr>
          <a:xfrm>
            <a:off x="749808" y="397764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25" name="Text 20"/>
          <p:cNvSpPr/>
          <p:nvPr/>
        </p:nvSpPr>
        <p:spPr>
          <a:xfrm>
            <a:off x="1353312" y="3928262"/>
            <a:ext cx="10033711" cy="5010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20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English should be taught from grade one.</a:t>
            </a:r>
            <a:endParaRPr lang="en-US" sz="2000" dirty="0"/>
          </a:p>
        </p:txBody>
      </p:sp>
      <p:sp>
        <p:nvSpPr>
          <p:cNvPr id="26" name="Shape 21"/>
          <p:cNvSpPr/>
          <p:nvPr/>
        </p:nvSpPr>
        <p:spPr>
          <a:xfrm>
            <a:off x="548640" y="4603090"/>
            <a:ext cx="11094415" cy="610819"/>
          </a:xfrm>
          <a:prstGeom prst="roundRect">
            <a:avLst>
              <a:gd name="adj" fmla="val 20958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27" name="Shape 22"/>
          <p:cNvSpPr/>
          <p:nvPr/>
        </p:nvSpPr>
        <p:spPr>
          <a:xfrm>
            <a:off x="749808" y="4707331"/>
            <a:ext cx="402336" cy="402336"/>
          </a:xfrm>
          <a:prstGeom prst="ellipse">
            <a:avLst/>
          </a:prstGeom>
          <a:solidFill>
            <a:srgbClr val="7A4FBF"/>
          </a:solidFill>
          <a:ln/>
        </p:spPr>
      </p:sp>
      <p:sp>
        <p:nvSpPr>
          <p:cNvPr id="28" name="Text 23"/>
          <p:cNvSpPr txBox="1"/>
          <p:nvPr/>
        </p:nvSpPr>
        <p:spPr>
          <a:xfrm>
            <a:off x="749808" y="4707331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29" name="Text 24"/>
          <p:cNvSpPr/>
          <p:nvPr/>
        </p:nvSpPr>
        <p:spPr>
          <a:xfrm>
            <a:off x="1353312" y="4657954"/>
            <a:ext cx="10033711" cy="5010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20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All exams should be online.</a:t>
            </a:r>
            <a:endParaRPr lang="en-US" sz="2000" dirty="0"/>
          </a:p>
        </p:txBody>
      </p:sp>
      <p:sp>
        <p:nvSpPr>
          <p:cNvPr id="30" name="Shape 25"/>
          <p:cNvSpPr/>
          <p:nvPr/>
        </p:nvSpPr>
        <p:spPr>
          <a:xfrm>
            <a:off x="548640" y="5332781"/>
            <a:ext cx="11094415" cy="610819"/>
          </a:xfrm>
          <a:prstGeom prst="roundRect">
            <a:avLst>
              <a:gd name="adj" fmla="val 20958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31" name="Shape 26"/>
          <p:cNvSpPr/>
          <p:nvPr/>
        </p:nvSpPr>
        <p:spPr>
          <a:xfrm>
            <a:off x="749808" y="5437022"/>
            <a:ext cx="402336" cy="402336"/>
          </a:xfrm>
          <a:prstGeom prst="ellipse">
            <a:avLst/>
          </a:prstGeom>
          <a:solidFill>
            <a:srgbClr val="7A4FBF"/>
          </a:solidFill>
          <a:ln/>
        </p:spPr>
      </p:sp>
      <p:sp>
        <p:nvSpPr>
          <p:cNvPr id="32" name="Text 27"/>
          <p:cNvSpPr txBox="1"/>
          <p:nvPr/>
        </p:nvSpPr>
        <p:spPr>
          <a:xfrm>
            <a:off x="749808" y="543702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33" name="Text 28"/>
          <p:cNvSpPr/>
          <p:nvPr/>
        </p:nvSpPr>
        <p:spPr>
          <a:xfrm>
            <a:off x="1353312" y="5387645"/>
            <a:ext cx="10033711" cy="5010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20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The office should open on Saturdays.</a:t>
            </a:r>
            <a:endParaRPr lang="en-US" sz="200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38912"/>
            <a:ext cx="1911096" cy="420624"/>
          </a:xfrm>
          <a:prstGeom prst="roundRect">
            <a:avLst>
              <a:gd name="adj" fmla="val 50000"/>
            </a:avLst>
          </a:prstGeom>
          <a:solidFill>
            <a:srgbClr val="7A4FBF"/>
          </a:solidFill>
          <a:ln/>
        </p:spPr>
      </p:sp>
      <p:sp>
        <p:nvSpPr>
          <p:cNvPr id="3" name="Shape 1"/>
          <p:cNvSpPr/>
          <p:nvPr/>
        </p:nvSpPr>
        <p:spPr>
          <a:xfrm>
            <a:off x="649224" y="539496"/>
            <a:ext cx="219456" cy="219456"/>
          </a:xfrm>
          <a:prstGeom prst="ellipse">
            <a:avLst/>
          </a:prstGeom>
          <a:solidFill>
            <a:srgbClr val="7A4FBF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" y="539496"/>
            <a:ext cx="219456" cy="21945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932688" y="438912"/>
            <a:ext cx="1417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WRITING 2 OF 5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896112"/>
            <a:ext cx="10972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Writing 2 — write the rebuttal</a:t>
            </a:r>
            <a:endParaRPr lang="en-US" sz="38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6144768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50" kern="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4 · Advanced Spoken English · Module 3 — Debate &amp; Persuasion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10607040" y="6144768"/>
            <a:ext cx="1033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47</a:t>
            </a:r>
            <a:endParaRPr lang="en-US" sz="1100" dirty="0"/>
          </a:p>
        </p:txBody>
      </p:sp>
      <p:sp>
        <p:nvSpPr>
          <p:cNvPr id="10" name="Shape 6"/>
          <p:cNvSpPr/>
          <p:nvPr/>
        </p:nvSpPr>
        <p:spPr>
          <a:xfrm>
            <a:off x="548640" y="1700784"/>
            <a:ext cx="11094415" cy="566928"/>
          </a:xfrm>
          <a:prstGeom prst="roundRect">
            <a:avLst>
              <a:gd name="adj" fmla="val 22581"/>
            </a:avLst>
          </a:prstGeom>
          <a:solidFill>
            <a:srgbClr val="F2ECFA"/>
          </a:solidFill>
          <a:ln w="12700">
            <a:solidFill>
              <a:srgbClr val="7A4FBF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749808" y="1810512"/>
            <a:ext cx="347472" cy="347472"/>
          </a:xfrm>
          <a:prstGeom prst="ellipse">
            <a:avLst/>
          </a:prstGeom>
          <a:solidFill>
            <a:srgbClr val="7A4FBF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676" y="1897380"/>
            <a:ext cx="173736" cy="173736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1207008" y="1700784"/>
            <a:ext cx="10198303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Their case: “Saturday classes must be cancelled — attendance is 30%, we pay two staff, and students prefer weekdays.” Write a four-step rebuttal.</a:t>
            </a:r>
            <a:endParaRPr lang="en-US" sz="1700" dirty="0"/>
          </a:p>
        </p:txBody>
      </p:sp>
      <p:sp>
        <p:nvSpPr>
          <p:cNvPr id="14" name="Shape 9"/>
          <p:cNvSpPr/>
          <p:nvPr/>
        </p:nvSpPr>
        <p:spPr>
          <a:xfrm>
            <a:off x="548640" y="2414016"/>
            <a:ext cx="11094415" cy="610819"/>
          </a:xfrm>
          <a:prstGeom prst="roundRect">
            <a:avLst>
              <a:gd name="adj" fmla="val 20958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15" name="Shape 10"/>
          <p:cNvSpPr/>
          <p:nvPr/>
        </p:nvSpPr>
        <p:spPr>
          <a:xfrm>
            <a:off x="749808" y="2518258"/>
            <a:ext cx="402336" cy="402336"/>
          </a:xfrm>
          <a:prstGeom prst="ellipse">
            <a:avLst/>
          </a:prstGeom>
          <a:solidFill>
            <a:srgbClr val="7A4FBF"/>
          </a:solidFill>
          <a:ln/>
        </p:spPr>
      </p:sp>
      <p:sp>
        <p:nvSpPr>
          <p:cNvPr id="16" name="Text 11"/>
          <p:cNvSpPr txBox="1"/>
          <p:nvPr/>
        </p:nvSpPr>
        <p:spPr>
          <a:xfrm>
            <a:off x="749808" y="251825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17" name="Text 12"/>
          <p:cNvSpPr/>
          <p:nvPr/>
        </p:nvSpPr>
        <p:spPr>
          <a:xfrm>
            <a:off x="1353312" y="2468880"/>
            <a:ext cx="10033711" cy="5010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20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Which of their three points does their case DEPEND on?</a:t>
            </a:r>
            <a:endParaRPr lang="en-US" sz="2000" dirty="0"/>
          </a:p>
        </p:txBody>
      </p:sp>
      <p:sp>
        <p:nvSpPr>
          <p:cNvPr id="18" name="Shape 13"/>
          <p:cNvSpPr/>
          <p:nvPr/>
        </p:nvSpPr>
        <p:spPr>
          <a:xfrm>
            <a:off x="548640" y="3143707"/>
            <a:ext cx="11094415" cy="610819"/>
          </a:xfrm>
          <a:prstGeom prst="roundRect">
            <a:avLst>
              <a:gd name="adj" fmla="val 20958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749808" y="3247949"/>
            <a:ext cx="402336" cy="402336"/>
          </a:xfrm>
          <a:prstGeom prst="ellipse">
            <a:avLst/>
          </a:prstGeom>
          <a:solidFill>
            <a:srgbClr val="7A4FBF"/>
          </a:solidFill>
          <a:ln/>
        </p:spPr>
      </p:sp>
      <p:sp>
        <p:nvSpPr>
          <p:cNvPr id="20" name="Text 15"/>
          <p:cNvSpPr txBox="1"/>
          <p:nvPr/>
        </p:nvSpPr>
        <p:spPr>
          <a:xfrm>
            <a:off x="749808" y="3247949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21" name="Text 16"/>
          <p:cNvSpPr/>
          <p:nvPr/>
        </p:nvSpPr>
        <p:spPr>
          <a:xfrm>
            <a:off x="1353312" y="3198571"/>
            <a:ext cx="10033711" cy="5010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20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NAME it in one sentence.</a:t>
            </a:r>
            <a:endParaRPr lang="en-US" sz="2000" dirty="0"/>
          </a:p>
        </p:txBody>
      </p:sp>
      <p:sp>
        <p:nvSpPr>
          <p:cNvPr id="22" name="Shape 17"/>
          <p:cNvSpPr/>
          <p:nvPr/>
        </p:nvSpPr>
        <p:spPr>
          <a:xfrm>
            <a:off x="548640" y="3873398"/>
            <a:ext cx="11094415" cy="610819"/>
          </a:xfrm>
          <a:prstGeom prst="roundRect">
            <a:avLst>
              <a:gd name="adj" fmla="val 20958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23" name="Shape 18"/>
          <p:cNvSpPr/>
          <p:nvPr/>
        </p:nvSpPr>
        <p:spPr>
          <a:xfrm>
            <a:off x="749808" y="3977640"/>
            <a:ext cx="402336" cy="402336"/>
          </a:xfrm>
          <a:prstGeom prst="ellipse">
            <a:avLst/>
          </a:prstGeom>
          <a:solidFill>
            <a:srgbClr val="7A4FBF"/>
          </a:solidFill>
          <a:ln/>
        </p:spPr>
      </p:sp>
      <p:sp>
        <p:nvSpPr>
          <p:cNvPr id="24" name="Text 19"/>
          <p:cNvSpPr txBox="1"/>
          <p:nvPr/>
        </p:nvSpPr>
        <p:spPr>
          <a:xfrm>
            <a:off x="749808" y="397764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25" name="Text 20"/>
          <p:cNvSpPr/>
          <p:nvPr/>
        </p:nvSpPr>
        <p:spPr>
          <a:xfrm>
            <a:off x="1353312" y="3928262"/>
            <a:ext cx="10033711" cy="5010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20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CONCEDE what is true in it.</a:t>
            </a:r>
            <a:endParaRPr lang="en-US" sz="2000" dirty="0"/>
          </a:p>
        </p:txBody>
      </p:sp>
      <p:sp>
        <p:nvSpPr>
          <p:cNvPr id="26" name="Shape 21"/>
          <p:cNvSpPr/>
          <p:nvPr/>
        </p:nvSpPr>
        <p:spPr>
          <a:xfrm>
            <a:off x="548640" y="4603090"/>
            <a:ext cx="11094415" cy="610819"/>
          </a:xfrm>
          <a:prstGeom prst="roundRect">
            <a:avLst>
              <a:gd name="adj" fmla="val 20958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27" name="Shape 22"/>
          <p:cNvSpPr/>
          <p:nvPr/>
        </p:nvSpPr>
        <p:spPr>
          <a:xfrm>
            <a:off x="749808" y="4707331"/>
            <a:ext cx="402336" cy="402336"/>
          </a:xfrm>
          <a:prstGeom prst="ellipse">
            <a:avLst/>
          </a:prstGeom>
          <a:solidFill>
            <a:srgbClr val="7A4FBF"/>
          </a:solidFill>
          <a:ln/>
        </p:spPr>
      </p:sp>
      <p:sp>
        <p:nvSpPr>
          <p:cNvPr id="28" name="Text 23"/>
          <p:cNvSpPr txBox="1"/>
          <p:nvPr/>
        </p:nvSpPr>
        <p:spPr>
          <a:xfrm>
            <a:off x="749808" y="4707331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29" name="Text 24"/>
          <p:cNvSpPr/>
          <p:nvPr/>
        </p:nvSpPr>
        <p:spPr>
          <a:xfrm>
            <a:off x="1353312" y="4657954"/>
            <a:ext cx="10033711" cy="5010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20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ATTACK the weak part, with a reason.</a:t>
            </a:r>
            <a:endParaRPr lang="en-US" sz="2000" dirty="0"/>
          </a:p>
        </p:txBody>
      </p:sp>
      <p:sp>
        <p:nvSpPr>
          <p:cNvPr id="30" name="Shape 25"/>
          <p:cNvSpPr/>
          <p:nvPr/>
        </p:nvSpPr>
        <p:spPr>
          <a:xfrm>
            <a:off x="548640" y="5332781"/>
            <a:ext cx="11094415" cy="610819"/>
          </a:xfrm>
          <a:prstGeom prst="roundRect">
            <a:avLst>
              <a:gd name="adj" fmla="val 20958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31" name="Shape 26"/>
          <p:cNvSpPr/>
          <p:nvPr/>
        </p:nvSpPr>
        <p:spPr>
          <a:xfrm>
            <a:off x="749808" y="5437022"/>
            <a:ext cx="402336" cy="402336"/>
          </a:xfrm>
          <a:prstGeom prst="ellipse">
            <a:avLst/>
          </a:prstGeom>
          <a:solidFill>
            <a:srgbClr val="7A4FBF"/>
          </a:solidFill>
          <a:ln/>
        </p:spPr>
      </p:sp>
      <p:sp>
        <p:nvSpPr>
          <p:cNvPr id="32" name="Text 27"/>
          <p:cNvSpPr txBox="1"/>
          <p:nvPr/>
        </p:nvSpPr>
        <p:spPr>
          <a:xfrm>
            <a:off x="749808" y="543702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33" name="Text 28"/>
          <p:cNvSpPr/>
          <p:nvPr/>
        </p:nvSpPr>
        <p:spPr>
          <a:xfrm>
            <a:off x="1353312" y="5387645"/>
            <a:ext cx="10033711" cy="5010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20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Turn it around: how does it now support YOUR case?</a:t>
            </a:r>
            <a:endParaRPr lang="en-US" sz="200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38912"/>
            <a:ext cx="1911096" cy="420624"/>
          </a:xfrm>
          <a:prstGeom prst="roundRect">
            <a:avLst>
              <a:gd name="adj" fmla="val 50000"/>
            </a:avLst>
          </a:prstGeom>
          <a:solidFill>
            <a:srgbClr val="7A4FBF"/>
          </a:solidFill>
          <a:ln/>
        </p:spPr>
      </p:sp>
      <p:sp>
        <p:nvSpPr>
          <p:cNvPr id="3" name="Shape 1"/>
          <p:cNvSpPr/>
          <p:nvPr/>
        </p:nvSpPr>
        <p:spPr>
          <a:xfrm>
            <a:off x="649224" y="539496"/>
            <a:ext cx="219456" cy="219456"/>
          </a:xfrm>
          <a:prstGeom prst="ellipse">
            <a:avLst/>
          </a:prstGeom>
          <a:solidFill>
            <a:srgbClr val="7A4FBF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" y="539496"/>
            <a:ext cx="219456" cy="21945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932688" y="438912"/>
            <a:ext cx="1417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WRITING 3 OF 5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896112"/>
            <a:ext cx="10972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Writing 3 — your full debate case</a:t>
            </a:r>
            <a:endParaRPr lang="en-US" sz="38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6144768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50" kern="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4 · Advanced Spoken English · Module 3 — Debate &amp; Persuasion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10607040" y="6144768"/>
            <a:ext cx="1033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</a:t>
            </a:r>
            <a:endParaRPr lang="en-US" sz="1100" dirty="0"/>
          </a:p>
        </p:txBody>
      </p:sp>
      <p:sp>
        <p:nvSpPr>
          <p:cNvPr id="10" name="Shape 6"/>
          <p:cNvSpPr/>
          <p:nvPr/>
        </p:nvSpPr>
        <p:spPr>
          <a:xfrm>
            <a:off x="548640" y="1700784"/>
            <a:ext cx="11094415" cy="566928"/>
          </a:xfrm>
          <a:prstGeom prst="roundRect">
            <a:avLst>
              <a:gd name="adj" fmla="val 22581"/>
            </a:avLst>
          </a:prstGeom>
          <a:solidFill>
            <a:srgbClr val="F2ECFA"/>
          </a:solidFill>
          <a:ln w="12700">
            <a:solidFill>
              <a:srgbClr val="7A4FBF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749808" y="1810512"/>
            <a:ext cx="347472" cy="347472"/>
          </a:xfrm>
          <a:prstGeom prst="ellipse">
            <a:avLst/>
          </a:prstGeom>
          <a:solidFill>
            <a:srgbClr val="7A4FBF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676" y="1897380"/>
            <a:ext cx="173736" cy="173736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1207008" y="1700784"/>
            <a:ext cx="10198303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 one motion. Prepare BOTH sides — you will not choose which you argue.</a:t>
            </a:r>
            <a:endParaRPr lang="en-US" sz="1700" dirty="0"/>
          </a:p>
        </p:txBody>
      </p:sp>
      <p:sp>
        <p:nvSpPr>
          <p:cNvPr id="14" name="Shape 9"/>
          <p:cNvSpPr/>
          <p:nvPr/>
        </p:nvSpPr>
        <p:spPr>
          <a:xfrm>
            <a:off x="548640" y="2414016"/>
            <a:ext cx="11094415" cy="489204"/>
          </a:xfrm>
          <a:prstGeom prst="roundRect">
            <a:avLst>
              <a:gd name="adj" fmla="val 26168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15" name="Shape 10"/>
          <p:cNvSpPr/>
          <p:nvPr/>
        </p:nvSpPr>
        <p:spPr>
          <a:xfrm>
            <a:off x="749808" y="2457450"/>
            <a:ext cx="402336" cy="402336"/>
          </a:xfrm>
          <a:prstGeom prst="ellipse">
            <a:avLst/>
          </a:prstGeom>
          <a:solidFill>
            <a:srgbClr val="7A4FBF"/>
          </a:solidFill>
          <a:ln/>
        </p:spPr>
      </p:sp>
      <p:sp>
        <p:nvSpPr>
          <p:cNvPr id="16" name="Text 11"/>
          <p:cNvSpPr txBox="1"/>
          <p:nvPr/>
        </p:nvSpPr>
        <p:spPr>
          <a:xfrm>
            <a:off x="749808" y="245745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17" name="Text 12"/>
          <p:cNvSpPr/>
          <p:nvPr/>
        </p:nvSpPr>
        <p:spPr>
          <a:xfrm>
            <a:off x="1353312" y="2468880"/>
            <a:ext cx="10033711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20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FOR: narrowed position, three lines, one number, one phrase.</a:t>
            </a:r>
            <a:endParaRPr lang="en-US" sz="2000" dirty="0"/>
          </a:p>
        </p:txBody>
      </p:sp>
      <p:sp>
        <p:nvSpPr>
          <p:cNvPr id="18" name="Shape 13"/>
          <p:cNvSpPr/>
          <p:nvPr/>
        </p:nvSpPr>
        <p:spPr>
          <a:xfrm>
            <a:off x="548640" y="3022092"/>
            <a:ext cx="11094415" cy="489204"/>
          </a:xfrm>
          <a:prstGeom prst="roundRect">
            <a:avLst>
              <a:gd name="adj" fmla="val 26168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749808" y="3065526"/>
            <a:ext cx="402336" cy="402336"/>
          </a:xfrm>
          <a:prstGeom prst="ellipse">
            <a:avLst/>
          </a:prstGeom>
          <a:solidFill>
            <a:srgbClr val="7A4FBF"/>
          </a:solidFill>
          <a:ln/>
        </p:spPr>
      </p:sp>
      <p:sp>
        <p:nvSpPr>
          <p:cNvPr id="20" name="Text 15"/>
          <p:cNvSpPr txBox="1"/>
          <p:nvPr/>
        </p:nvSpPr>
        <p:spPr>
          <a:xfrm>
            <a:off x="749808" y="306552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21" name="Text 16"/>
          <p:cNvSpPr/>
          <p:nvPr/>
        </p:nvSpPr>
        <p:spPr>
          <a:xfrm>
            <a:off x="1353312" y="3076956"/>
            <a:ext cx="10033711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20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AGAINST: the same, from the other side.</a:t>
            </a:r>
            <a:endParaRPr lang="en-US" sz="2000" dirty="0"/>
          </a:p>
        </p:txBody>
      </p:sp>
      <p:sp>
        <p:nvSpPr>
          <p:cNvPr id="22" name="Shape 17"/>
          <p:cNvSpPr/>
          <p:nvPr/>
        </p:nvSpPr>
        <p:spPr>
          <a:xfrm>
            <a:off x="548640" y="3630168"/>
            <a:ext cx="11094415" cy="489204"/>
          </a:xfrm>
          <a:prstGeom prst="roundRect">
            <a:avLst>
              <a:gd name="adj" fmla="val 26168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23" name="Shape 18"/>
          <p:cNvSpPr/>
          <p:nvPr/>
        </p:nvSpPr>
        <p:spPr>
          <a:xfrm>
            <a:off x="749808" y="3673602"/>
            <a:ext cx="402336" cy="402336"/>
          </a:xfrm>
          <a:prstGeom prst="ellipse">
            <a:avLst/>
          </a:prstGeom>
          <a:solidFill>
            <a:srgbClr val="7A4FBF"/>
          </a:solidFill>
          <a:ln/>
        </p:spPr>
      </p:sp>
      <p:sp>
        <p:nvSpPr>
          <p:cNvPr id="24" name="Text 19"/>
          <p:cNvSpPr txBox="1"/>
          <p:nvPr/>
        </p:nvSpPr>
        <p:spPr>
          <a:xfrm>
            <a:off x="749808" y="367360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25" name="Text 20"/>
          <p:cNvSpPr/>
          <p:nvPr/>
        </p:nvSpPr>
        <p:spPr>
          <a:xfrm>
            <a:off x="1353312" y="3685032"/>
            <a:ext cx="10033711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20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For each side, name the load-bearing point of the OTHER.</a:t>
            </a:r>
            <a:endParaRPr lang="en-US" sz="2000" dirty="0"/>
          </a:p>
        </p:txBody>
      </p:sp>
      <p:sp>
        <p:nvSpPr>
          <p:cNvPr id="26" name="Shape 21"/>
          <p:cNvSpPr/>
          <p:nvPr/>
        </p:nvSpPr>
        <p:spPr>
          <a:xfrm>
            <a:off x="548640" y="4238244"/>
            <a:ext cx="11094415" cy="489204"/>
          </a:xfrm>
          <a:prstGeom prst="roundRect">
            <a:avLst>
              <a:gd name="adj" fmla="val 26168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27" name="Shape 22"/>
          <p:cNvSpPr/>
          <p:nvPr/>
        </p:nvSpPr>
        <p:spPr>
          <a:xfrm>
            <a:off x="749808" y="4281678"/>
            <a:ext cx="402336" cy="402336"/>
          </a:xfrm>
          <a:prstGeom prst="ellipse">
            <a:avLst/>
          </a:prstGeom>
          <a:solidFill>
            <a:srgbClr val="7A4FBF"/>
          </a:solidFill>
          <a:ln/>
        </p:spPr>
      </p:sp>
      <p:sp>
        <p:nvSpPr>
          <p:cNvPr id="28" name="Text 23"/>
          <p:cNvSpPr txBox="1"/>
          <p:nvPr/>
        </p:nvSpPr>
        <p:spPr>
          <a:xfrm>
            <a:off x="749808" y="428167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29" name="Text 24"/>
          <p:cNvSpPr/>
          <p:nvPr/>
        </p:nvSpPr>
        <p:spPr>
          <a:xfrm>
            <a:off x="1353312" y="4293108"/>
            <a:ext cx="10033711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20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For each side, write the rebuttal of that point.</a:t>
            </a:r>
            <a:endParaRPr lang="en-US" sz="2000" dirty="0"/>
          </a:p>
        </p:txBody>
      </p:sp>
      <p:sp>
        <p:nvSpPr>
          <p:cNvPr id="30" name="Shape 25"/>
          <p:cNvSpPr/>
          <p:nvPr/>
        </p:nvSpPr>
        <p:spPr>
          <a:xfrm>
            <a:off x="548640" y="4846320"/>
            <a:ext cx="11094415" cy="489204"/>
          </a:xfrm>
          <a:prstGeom prst="roundRect">
            <a:avLst>
              <a:gd name="adj" fmla="val 26168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31" name="Shape 26"/>
          <p:cNvSpPr/>
          <p:nvPr/>
        </p:nvSpPr>
        <p:spPr>
          <a:xfrm>
            <a:off x="749808" y="4889754"/>
            <a:ext cx="402336" cy="402336"/>
          </a:xfrm>
          <a:prstGeom prst="ellipse">
            <a:avLst/>
          </a:prstGeom>
          <a:solidFill>
            <a:srgbClr val="7A4FBF"/>
          </a:solidFill>
          <a:ln/>
        </p:spPr>
      </p:sp>
      <p:sp>
        <p:nvSpPr>
          <p:cNvPr id="32" name="Text 27"/>
          <p:cNvSpPr txBox="1"/>
          <p:nvPr/>
        </p:nvSpPr>
        <p:spPr>
          <a:xfrm>
            <a:off x="749808" y="488975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33" name="Text 28"/>
          <p:cNvSpPr/>
          <p:nvPr/>
        </p:nvSpPr>
        <p:spPr>
          <a:xfrm>
            <a:off x="1353312" y="4901184"/>
            <a:ext cx="10033711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20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Write three hard questions you might be asked on each side.</a:t>
            </a:r>
            <a:endParaRPr lang="en-US" sz="2000" dirty="0"/>
          </a:p>
        </p:txBody>
      </p:sp>
      <p:sp>
        <p:nvSpPr>
          <p:cNvPr id="34" name="Shape 29"/>
          <p:cNvSpPr/>
          <p:nvPr/>
        </p:nvSpPr>
        <p:spPr>
          <a:xfrm>
            <a:off x="548640" y="5454396"/>
            <a:ext cx="11094415" cy="489204"/>
          </a:xfrm>
          <a:prstGeom prst="roundRect">
            <a:avLst>
              <a:gd name="adj" fmla="val 26168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35" name="Shape 30"/>
          <p:cNvSpPr/>
          <p:nvPr/>
        </p:nvSpPr>
        <p:spPr>
          <a:xfrm>
            <a:off x="749808" y="5497830"/>
            <a:ext cx="402336" cy="402336"/>
          </a:xfrm>
          <a:prstGeom prst="ellipse">
            <a:avLst/>
          </a:prstGeom>
          <a:solidFill>
            <a:srgbClr val="7A4FBF"/>
          </a:solidFill>
          <a:ln/>
        </p:spPr>
      </p:sp>
      <p:sp>
        <p:nvSpPr>
          <p:cNvPr id="36" name="Text 31"/>
          <p:cNvSpPr txBox="1"/>
          <p:nvPr/>
        </p:nvSpPr>
        <p:spPr>
          <a:xfrm>
            <a:off x="749808" y="549783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500" dirty="0"/>
          </a:p>
        </p:txBody>
      </p:sp>
      <p:sp>
        <p:nvSpPr>
          <p:cNvPr id="37" name="Text 32"/>
          <p:cNvSpPr/>
          <p:nvPr/>
        </p:nvSpPr>
        <p:spPr>
          <a:xfrm>
            <a:off x="1353312" y="5509260"/>
            <a:ext cx="10033711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20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 Write your answer to each of the six.</a:t>
            </a:r>
            <a:endParaRPr lang="en-US" sz="200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38912"/>
            <a:ext cx="1911096" cy="420624"/>
          </a:xfrm>
          <a:prstGeom prst="roundRect">
            <a:avLst>
              <a:gd name="adj" fmla="val 50000"/>
            </a:avLst>
          </a:prstGeom>
          <a:solidFill>
            <a:srgbClr val="7A4FBF"/>
          </a:solidFill>
          <a:ln/>
        </p:spPr>
      </p:sp>
      <p:sp>
        <p:nvSpPr>
          <p:cNvPr id="3" name="Shape 1"/>
          <p:cNvSpPr/>
          <p:nvPr/>
        </p:nvSpPr>
        <p:spPr>
          <a:xfrm>
            <a:off x="649224" y="539496"/>
            <a:ext cx="219456" cy="219456"/>
          </a:xfrm>
          <a:prstGeom prst="ellipse">
            <a:avLst/>
          </a:prstGeom>
          <a:solidFill>
            <a:srgbClr val="7A4FBF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" y="539496"/>
            <a:ext cx="219456" cy="21945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932688" y="438912"/>
            <a:ext cx="1417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WRITING 4 OF 5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896112"/>
            <a:ext cx="10972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Writing 3 — how it is marked</a:t>
            </a:r>
            <a:endParaRPr lang="en-US" sz="38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6144768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50" kern="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4 · Advanced Spoken English · Module 3 — Debate &amp; Persuasion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10607040" y="6144768"/>
            <a:ext cx="1033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49</a:t>
            </a:r>
            <a:endParaRPr lang="en-US" sz="1100" dirty="0"/>
          </a:p>
        </p:txBody>
      </p:sp>
      <p:sp>
        <p:nvSpPr>
          <p:cNvPr id="10" name="Shape 6"/>
          <p:cNvSpPr/>
          <p:nvPr/>
        </p:nvSpPr>
        <p:spPr>
          <a:xfrm>
            <a:off x="548640" y="1700784"/>
            <a:ext cx="11094415" cy="753466"/>
          </a:xfrm>
          <a:prstGeom prst="roundRect">
            <a:avLst>
              <a:gd name="adj" fmla="val 16990"/>
            </a:avLst>
          </a:prstGeom>
          <a:solidFill>
            <a:srgbClr val="E6F5EC"/>
          </a:solidFill>
          <a:ln w="12700">
            <a:solidFill>
              <a:srgbClr val="2E9E5B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731520" y="1885493"/>
            <a:ext cx="384048" cy="384048"/>
          </a:xfrm>
          <a:prstGeom prst="ellipse">
            <a:avLst/>
          </a:prstGeom>
          <a:solidFill>
            <a:srgbClr val="2E9E5B"/>
          </a:solidFill>
          <a:ln/>
        </p:spPr>
      </p:sp>
      <p:sp>
        <p:nvSpPr>
          <p:cNvPr id="12" name="Text 8"/>
          <p:cNvSpPr txBox="1"/>
          <p:nvPr/>
        </p:nvSpPr>
        <p:spPr>
          <a:xfrm>
            <a:off x="731520" y="1885493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1316736" y="1755648"/>
            <a:ext cx="10106863" cy="6437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140" i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sides prepared — 6 marks</a:t>
            </a:r>
            <a:endParaRPr lang="en-US" sz="1140" dirty="0"/>
          </a:p>
          <a:p>
            <a:pPr indent="0" marL="0">
              <a:lnSpc>
                <a:spcPct val="102000"/>
              </a:lnSpc>
              <a:spcBef>
                <a:spcPts val="176"/>
              </a:spcBef>
              <a:buNone/>
            </a:pPr>
            <a:r>
              <a:rPr lang="en-US" sz="145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marks each. A weak second side scores badly.</a:t>
            </a:r>
            <a:endParaRPr lang="en-US" sz="1140" dirty="0"/>
          </a:p>
          <a:p>
            <a:pPr indent="0" marL="0">
              <a:lnSpc>
                <a:spcPct val="102000"/>
              </a:lnSpc>
              <a:spcBef>
                <a:spcPts val="264"/>
              </a:spcBef>
              <a:buNone/>
            </a:pPr>
            <a:r>
              <a:rPr lang="en-US" sz="1100" dirty="0">
                <a:solidFill>
                  <a:srgbClr val="0A4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Preparing only the side you believe is the commonest failure and it is heavily penalised here.</a:t>
            </a:r>
            <a:endParaRPr lang="en-US" sz="1140" dirty="0"/>
          </a:p>
        </p:txBody>
      </p:sp>
      <p:sp>
        <p:nvSpPr>
          <p:cNvPr id="14" name="Shape 10"/>
          <p:cNvSpPr/>
          <p:nvPr/>
        </p:nvSpPr>
        <p:spPr>
          <a:xfrm>
            <a:off x="548640" y="2573122"/>
            <a:ext cx="11094415" cy="753466"/>
          </a:xfrm>
          <a:prstGeom prst="roundRect">
            <a:avLst>
              <a:gd name="adj" fmla="val 16990"/>
            </a:avLst>
          </a:prstGeom>
          <a:solidFill>
            <a:srgbClr val="E6F5EC"/>
          </a:solidFill>
          <a:ln w="12700">
            <a:solidFill>
              <a:srgbClr val="2E9E5B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731520" y="2757830"/>
            <a:ext cx="384048" cy="384048"/>
          </a:xfrm>
          <a:prstGeom prst="ellipse">
            <a:avLst/>
          </a:prstGeom>
          <a:solidFill>
            <a:srgbClr val="2E9E5B"/>
          </a:solidFill>
          <a:ln/>
        </p:spPr>
      </p:sp>
      <p:sp>
        <p:nvSpPr>
          <p:cNvPr id="16" name="Text 12"/>
          <p:cNvSpPr txBox="1"/>
          <p:nvPr/>
        </p:nvSpPr>
        <p:spPr>
          <a:xfrm>
            <a:off x="731520" y="275783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7" name="Text 13"/>
          <p:cNvSpPr/>
          <p:nvPr/>
        </p:nvSpPr>
        <p:spPr>
          <a:xfrm>
            <a:off x="1316736" y="2627986"/>
            <a:ext cx="10106863" cy="6437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140" i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Narrowed positions — 4 marks</a:t>
            </a:r>
            <a:endParaRPr lang="en-US" sz="1140" dirty="0"/>
          </a:p>
          <a:p>
            <a:pPr indent="0" marL="0">
              <a:lnSpc>
                <a:spcPct val="102000"/>
              </a:lnSpc>
              <a:spcBef>
                <a:spcPts val="176"/>
              </a:spcBef>
              <a:buNone/>
            </a:pPr>
            <a:r>
              <a:rPr lang="en-US" sz="145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each. The narrowing must still be a real position.</a:t>
            </a:r>
            <a:endParaRPr lang="en-US" sz="1140" dirty="0"/>
          </a:p>
          <a:p>
            <a:pPr indent="0" marL="0">
              <a:lnSpc>
                <a:spcPct val="102000"/>
              </a:lnSpc>
              <a:spcBef>
                <a:spcPts val="264"/>
              </a:spcBef>
              <a:buNone/>
            </a:pPr>
            <a:r>
              <a:rPr lang="en-US" sz="1100" dirty="0">
                <a:solidFill>
                  <a:srgbClr val="0A4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Narrowing into meaninglessness scores nothing. It must still be contested.</a:t>
            </a:r>
            <a:endParaRPr lang="en-US" sz="1140" dirty="0"/>
          </a:p>
        </p:txBody>
      </p:sp>
      <p:sp>
        <p:nvSpPr>
          <p:cNvPr id="18" name="Shape 14"/>
          <p:cNvSpPr/>
          <p:nvPr/>
        </p:nvSpPr>
        <p:spPr>
          <a:xfrm>
            <a:off x="548640" y="3445459"/>
            <a:ext cx="11094415" cy="753466"/>
          </a:xfrm>
          <a:prstGeom prst="roundRect">
            <a:avLst>
              <a:gd name="adj" fmla="val 16990"/>
            </a:avLst>
          </a:prstGeom>
          <a:solidFill>
            <a:srgbClr val="E6F5EC"/>
          </a:solidFill>
          <a:ln w="12700">
            <a:solidFill>
              <a:srgbClr val="2E9E5B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731520" y="3630168"/>
            <a:ext cx="384048" cy="384048"/>
          </a:xfrm>
          <a:prstGeom prst="ellipse">
            <a:avLst/>
          </a:prstGeom>
          <a:solidFill>
            <a:srgbClr val="2E9E5B"/>
          </a:solidFill>
          <a:ln/>
        </p:spPr>
      </p:sp>
      <p:sp>
        <p:nvSpPr>
          <p:cNvPr id="20" name="Text 16"/>
          <p:cNvSpPr txBox="1"/>
          <p:nvPr/>
        </p:nvSpPr>
        <p:spPr>
          <a:xfrm>
            <a:off x="731520" y="36301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1" name="Text 17"/>
          <p:cNvSpPr/>
          <p:nvPr/>
        </p:nvSpPr>
        <p:spPr>
          <a:xfrm>
            <a:off x="1316736" y="3500323"/>
            <a:ext cx="10106863" cy="6437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140" i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Load-bearing points identified — 5 marks</a:t>
            </a:r>
            <a:endParaRPr lang="en-US" sz="1140" dirty="0"/>
          </a:p>
          <a:p>
            <a:pPr indent="0" marL="0">
              <a:lnSpc>
                <a:spcPct val="102000"/>
              </a:lnSpc>
              <a:spcBef>
                <a:spcPts val="176"/>
              </a:spcBef>
              <a:buNone/>
            </a:pPr>
            <a:r>
              <a:rPr lang="en-US" sz="145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point the other case DEPENDS on, not the easiest.</a:t>
            </a:r>
            <a:endParaRPr lang="en-US" sz="1140" dirty="0"/>
          </a:p>
          <a:p>
            <a:pPr indent="0" marL="0">
              <a:lnSpc>
                <a:spcPct val="102000"/>
              </a:lnSpc>
              <a:spcBef>
                <a:spcPts val="264"/>
              </a:spcBef>
              <a:buNone/>
            </a:pPr>
            <a:r>
              <a:rPr lang="en-US" sz="1100" dirty="0">
                <a:solidFill>
                  <a:srgbClr val="0A4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This is the judgement that decides a rebuttal, and it is the hardest part to get right.</a:t>
            </a:r>
            <a:endParaRPr lang="en-US" sz="1140" dirty="0"/>
          </a:p>
        </p:txBody>
      </p:sp>
      <p:sp>
        <p:nvSpPr>
          <p:cNvPr id="22" name="Shape 18"/>
          <p:cNvSpPr/>
          <p:nvPr/>
        </p:nvSpPr>
        <p:spPr>
          <a:xfrm>
            <a:off x="548640" y="4317797"/>
            <a:ext cx="11094415" cy="753466"/>
          </a:xfrm>
          <a:prstGeom prst="roundRect">
            <a:avLst>
              <a:gd name="adj" fmla="val 16990"/>
            </a:avLst>
          </a:prstGeom>
          <a:solidFill>
            <a:srgbClr val="E6F5EC"/>
          </a:solidFill>
          <a:ln w="12700">
            <a:solidFill>
              <a:srgbClr val="2E9E5B"/>
            </a:solidFill>
            <a:prstDash val="solid"/>
          </a:ln>
        </p:spPr>
      </p:sp>
      <p:sp>
        <p:nvSpPr>
          <p:cNvPr id="23" name="Shape 19"/>
          <p:cNvSpPr/>
          <p:nvPr/>
        </p:nvSpPr>
        <p:spPr>
          <a:xfrm>
            <a:off x="731520" y="4502506"/>
            <a:ext cx="384048" cy="384048"/>
          </a:xfrm>
          <a:prstGeom prst="ellipse">
            <a:avLst/>
          </a:prstGeom>
          <a:solidFill>
            <a:srgbClr val="2E9E5B"/>
          </a:solidFill>
          <a:ln/>
        </p:spPr>
      </p:sp>
      <p:sp>
        <p:nvSpPr>
          <p:cNvPr id="24" name="Text 20"/>
          <p:cNvSpPr txBox="1"/>
          <p:nvPr/>
        </p:nvSpPr>
        <p:spPr>
          <a:xfrm>
            <a:off x="731520" y="450250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5" name="Text 21"/>
          <p:cNvSpPr/>
          <p:nvPr/>
        </p:nvSpPr>
        <p:spPr>
          <a:xfrm>
            <a:off x="1316736" y="4372661"/>
            <a:ext cx="10106863" cy="6437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140" i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Rebuttals — 5 marks</a:t>
            </a:r>
            <a:endParaRPr lang="en-US" sz="1140" dirty="0"/>
          </a:p>
          <a:p>
            <a:pPr indent="0" marL="0">
              <a:lnSpc>
                <a:spcPct val="102000"/>
              </a:lnSpc>
              <a:spcBef>
                <a:spcPts val="176"/>
              </a:spcBef>
              <a:buNone/>
            </a:pPr>
            <a:r>
              <a:rPr lang="en-US" sz="145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four steps, with a turnaround where possible.</a:t>
            </a:r>
            <a:endParaRPr lang="en-US" sz="1140" dirty="0"/>
          </a:p>
          <a:p>
            <a:pPr indent="0" marL="0">
              <a:lnSpc>
                <a:spcPct val="102000"/>
              </a:lnSpc>
              <a:spcBef>
                <a:spcPts val="264"/>
              </a:spcBef>
              <a:buNone/>
            </a:pPr>
            <a:r>
              <a:rPr lang="en-US" sz="1100" dirty="0">
                <a:solidFill>
                  <a:srgbClr val="0A4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Name, concede, attack, say what follows. The concession is what makes the attack credible.</a:t>
            </a:r>
            <a:endParaRPr lang="en-US" sz="1140" dirty="0"/>
          </a:p>
        </p:txBody>
      </p:sp>
      <p:sp>
        <p:nvSpPr>
          <p:cNvPr id="26" name="Shape 22"/>
          <p:cNvSpPr/>
          <p:nvPr/>
        </p:nvSpPr>
        <p:spPr>
          <a:xfrm>
            <a:off x="548640" y="5190134"/>
            <a:ext cx="11094415" cy="753466"/>
          </a:xfrm>
          <a:prstGeom prst="roundRect">
            <a:avLst>
              <a:gd name="adj" fmla="val 16990"/>
            </a:avLst>
          </a:prstGeom>
          <a:solidFill>
            <a:srgbClr val="E6F5EC"/>
          </a:solidFill>
          <a:ln w="12700">
            <a:solidFill>
              <a:srgbClr val="2E9E5B"/>
            </a:solidFill>
            <a:prstDash val="solid"/>
          </a:ln>
        </p:spPr>
      </p:sp>
      <p:sp>
        <p:nvSpPr>
          <p:cNvPr id="27" name="Shape 23"/>
          <p:cNvSpPr/>
          <p:nvPr/>
        </p:nvSpPr>
        <p:spPr>
          <a:xfrm>
            <a:off x="731520" y="5374843"/>
            <a:ext cx="384048" cy="384048"/>
          </a:xfrm>
          <a:prstGeom prst="ellipse">
            <a:avLst/>
          </a:prstGeom>
          <a:solidFill>
            <a:srgbClr val="2E9E5B"/>
          </a:solidFill>
          <a:ln/>
        </p:spPr>
      </p:sp>
      <p:sp>
        <p:nvSpPr>
          <p:cNvPr id="28" name="Text 24"/>
          <p:cNvSpPr txBox="1"/>
          <p:nvPr/>
        </p:nvSpPr>
        <p:spPr>
          <a:xfrm>
            <a:off x="731520" y="5374843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9" name="Text 25"/>
          <p:cNvSpPr/>
          <p:nvPr/>
        </p:nvSpPr>
        <p:spPr>
          <a:xfrm>
            <a:off x="1316736" y="5244998"/>
            <a:ext cx="10106863" cy="6437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140" i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hard questions and answers — 5 marks</a:t>
            </a:r>
            <a:endParaRPr lang="en-US" sz="1140" dirty="0"/>
          </a:p>
          <a:p>
            <a:pPr indent="0" marL="0">
              <a:lnSpc>
                <a:spcPct val="102000"/>
              </a:lnSpc>
              <a:spcBef>
                <a:spcPts val="176"/>
              </a:spcBef>
              <a:buNone/>
            </a:pPr>
            <a:r>
              <a:rPr lang="en-US" sz="145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Genuinely hard ones, with real answers.</a:t>
            </a:r>
            <a:endParaRPr lang="en-US" sz="1140" dirty="0"/>
          </a:p>
          <a:p>
            <a:pPr indent="0" marL="0">
              <a:lnSpc>
                <a:spcPct val="102000"/>
              </a:lnSpc>
              <a:spcBef>
                <a:spcPts val="264"/>
              </a:spcBef>
              <a:buNone/>
            </a:pPr>
            <a:r>
              <a:rPr lang="en-US" sz="1100" dirty="0">
                <a:solidFill>
                  <a:srgbClr val="0A4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Easy questions with easy answers score one or two. The difficulty of the question is what is marked.</a:t>
            </a:r>
            <a:endParaRPr lang="en-US" sz="114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38912"/>
            <a:ext cx="1911096" cy="420624"/>
          </a:xfrm>
          <a:prstGeom prst="roundRect">
            <a:avLst>
              <a:gd name="adj" fmla="val 50000"/>
            </a:avLst>
          </a:prstGeom>
          <a:solidFill>
            <a:srgbClr val="7A4FBF"/>
          </a:solidFill>
          <a:ln/>
        </p:spPr>
      </p:sp>
      <p:sp>
        <p:nvSpPr>
          <p:cNvPr id="3" name="Shape 1"/>
          <p:cNvSpPr/>
          <p:nvPr/>
        </p:nvSpPr>
        <p:spPr>
          <a:xfrm>
            <a:off x="649224" y="539496"/>
            <a:ext cx="219456" cy="219456"/>
          </a:xfrm>
          <a:prstGeom prst="ellipse">
            <a:avLst/>
          </a:prstGeom>
          <a:solidFill>
            <a:srgbClr val="7A4FBF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" y="539496"/>
            <a:ext cx="219456" cy="21945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932688" y="438912"/>
            <a:ext cx="1417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WRITING 5 OF 5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896112"/>
            <a:ext cx="10972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debate checklist</a:t>
            </a:r>
            <a:endParaRPr lang="en-US" sz="38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6144768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50" kern="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4 · Advanced Spoken English · Module 3 — Debate &amp; Persuasion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10607040" y="6144768"/>
            <a:ext cx="1033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</a:t>
            </a:r>
            <a:endParaRPr lang="en-US" sz="1100" dirty="0"/>
          </a:p>
        </p:txBody>
      </p:sp>
      <p:sp>
        <p:nvSpPr>
          <p:cNvPr id="10" name="Shape 6"/>
          <p:cNvSpPr/>
          <p:nvPr/>
        </p:nvSpPr>
        <p:spPr>
          <a:xfrm>
            <a:off x="548640" y="1700784"/>
            <a:ext cx="11094415" cy="630936"/>
          </a:xfrm>
          <a:prstGeom prst="roundRect">
            <a:avLst>
              <a:gd name="adj" fmla="val 20290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786384" y="1815084"/>
            <a:ext cx="402336" cy="402336"/>
          </a:xfrm>
          <a:prstGeom prst="ellipse">
            <a:avLst/>
          </a:prstGeom>
          <a:solidFill>
            <a:srgbClr val="7A4FBF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2945" y="1911645"/>
            <a:ext cx="209215" cy="209215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463040" y="1773936"/>
            <a:ext cx="9905695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63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Have I narrowed my position?</a:t>
            </a:r>
            <a:endParaRPr lang="en-US" sz="1630" dirty="0"/>
          </a:p>
          <a:p>
            <a:pPr indent="0" marL="0">
              <a:lnSpc>
                <a:spcPct val="102000"/>
              </a:lnSpc>
              <a:spcBef>
                <a:spcPts val="257"/>
              </a:spcBef>
              <a:buNone/>
            </a:pPr>
            <a:r>
              <a:rPr lang="en-US" sz="12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“Reduced, not abolished.” Sentence one.</a:t>
            </a:r>
            <a:endParaRPr lang="en-US" sz="1630" dirty="0"/>
          </a:p>
        </p:txBody>
      </p:sp>
      <p:sp>
        <p:nvSpPr>
          <p:cNvPr id="14" name="Shape 9"/>
          <p:cNvSpPr/>
          <p:nvPr/>
        </p:nvSpPr>
        <p:spPr>
          <a:xfrm>
            <a:off x="548640" y="2423160"/>
            <a:ext cx="11094415" cy="630936"/>
          </a:xfrm>
          <a:prstGeom prst="roundRect">
            <a:avLst>
              <a:gd name="adj" fmla="val 20290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15" name="Shape 10"/>
          <p:cNvSpPr/>
          <p:nvPr/>
        </p:nvSpPr>
        <p:spPr>
          <a:xfrm>
            <a:off x="786384" y="2537460"/>
            <a:ext cx="402336" cy="402336"/>
          </a:xfrm>
          <a:prstGeom prst="ellipse">
            <a:avLst/>
          </a:prstGeom>
          <a:solidFill>
            <a:srgbClr val="7A4FBF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2945" y="2634021"/>
            <a:ext cx="209215" cy="209215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1463040" y="2496312"/>
            <a:ext cx="9905695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63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I have exactly three lines of argument?</a:t>
            </a:r>
            <a:endParaRPr lang="en-US" sz="1630" dirty="0"/>
          </a:p>
          <a:p>
            <a:pPr indent="0" marL="0">
              <a:lnSpc>
                <a:spcPct val="102000"/>
              </a:lnSpc>
              <a:spcBef>
                <a:spcPts val="257"/>
              </a:spcBef>
              <a:buNone/>
            </a:pPr>
            <a:r>
              <a:rPr lang="en-US" sz="12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five. Three, previewed and signposted.</a:t>
            </a:r>
            <a:endParaRPr lang="en-US" sz="1630" dirty="0"/>
          </a:p>
        </p:txBody>
      </p:sp>
      <p:sp>
        <p:nvSpPr>
          <p:cNvPr id="18" name="Shape 12"/>
          <p:cNvSpPr/>
          <p:nvPr/>
        </p:nvSpPr>
        <p:spPr>
          <a:xfrm>
            <a:off x="548640" y="3145536"/>
            <a:ext cx="11094415" cy="630936"/>
          </a:xfrm>
          <a:prstGeom prst="roundRect">
            <a:avLst>
              <a:gd name="adj" fmla="val 20290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19" name="Shape 13"/>
          <p:cNvSpPr/>
          <p:nvPr/>
        </p:nvSpPr>
        <p:spPr>
          <a:xfrm>
            <a:off x="786384" y="3259836"/>
            <a:ext cx="402336" cy="402336"/>
          </a:xfrm>
          <a:prstGeom prst="ellipse">
            <a:avLst/>
          </a:prstGeom>
          <a:solidFill>
            <a:srgbClr val="7A4FBF"/>
          </a:solidFill>
          <a:ln/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2945" y="3356397"/>
            <a:ext cx="209215" cy="209215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1463040" y="3218688"/>
            <a:ext cx="9905695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63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number and one phrase for the audience?</a:t>
            </a:r>
            <a:endParaRPr lang="en-US" sz="1630" dirty="0"/>
          </a:p>
          <a:p>
            <a:pPr indent="0" marL="0">
              <a:lnSpc>
                <a:spcPct val="102000"/>
              </a:lnSpc>
              <a:spcBef>
                <a:spcPts val="257"/>
              </a:spcBef>
              <a:buNone/>
            </a:pPr>
            <a:r>
              <a:rPr lang="en-US" sz="12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Repeated three times each.</a:t>
            </a:r>
            <a:endParaRPr lang="en-US" sz="1630" dirty="0"/>
          </a:p>
        </p:txBody>
      </p:sp>
      <p:sp>
        <p:nvSpPr>
          <p:cNvPr id="22" name="Shape 15"/>
          <p:cNvSpPr/>
          <p:nvPr/>
        </p:nvSpPr>
        <p:spPr>
          <a:xfrm>
            <a:off x="548640" y="3867912"/>
            <a:ext cx="11094415" cy="630936"/>
          </a:xfrm>
          <a:prstGeom prst="roundRect">
            <a:avLst>
              <a:gd name="adj" fmla="val 20290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23" name="Shape 16"/>
          <p:cNvSpPr/>
          <p:nvPr/>
        </p:nvSpPr>
        <p:spPr>
          <a:xfrm>
            <a:off x="786384" y="3982212"/>
            <a:ext cx="402336" cy="402336"/>
          </a:xfrm>
          <a:prstGeom prst="ellipse">
            <a:avLst/>
          </a:prstGeom>
          <a:solidFill>
            <a:srgbClr val="7A4FBF"/>
          </a:solidFill>
          <a:ln/>
        </p:spPr>
      </p:sp>
      <p:pic>
        <p:nvPicPr>
          <p:cNvPr id="2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2945" y="4078773"/>
            <a:ext cx="209215" cy="209215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1463040" y="3941064"/>
            <a:ext cx="9905695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63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Have I found their load-bearing point?</a:t>
            </a:r>
            <a:endParaRPr lang="en-US" sz="1630" dirty="0"/>
          </a:p>
          <a:p>
            <a:pPr indent="0" marL="0">
              <a:lnSpc>
                <a:spcPct val="102000"/>
              </a:lnSpc>
              <a:spcBef>
                <a:spcPts val="257"/>
              </a:spcBef>
              <a:buNone/>
            </a:pPr>
            <a:r>
              <a:rPr lang="en-US" sz="12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one their case depends on.</a:t>
            </a:r>
            <a:endParaRPr lang="en-US" sz="1630" dirty="0"/>
          </a:p>
        </p:txBody>
      </p:sp>
      <p:sp>
        <p:nvSpPr>
          <p:cNvPr id="26" name="Shape 18"/>
          <p:cNvSpPr/>
          <p:nvPr/>
        </p:nvSpPr>
        <p:spPr>
          <a:xfrm>
            <a:off x="548640" y="4590288"/>
            <a:ext cx="11094415" cy="630936"/>
          </a:xfrm>
          <a:prstGeom prst="roundRect">
            <a:avLst>
              <a:gd name="adj" fmla="val 20290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27" name="Shape 19"/>
          <p:cNvSpPr/>
          <p:nvPr/>
        </p:nvSpPr>
        <p:spPr>
          <a:xfrm>
            <a:off x="786384" y="4704588"/>
            <a:ext cx="402336" cy="402336"/>
          </a:xfrm>
          <a:prstGeom prst="ellipse">
            <a:avLst/>
          </a:prstGeom>
          <a:solidFill>
            <a:srgbClr val="7A4FBF"/>
          </a:solidFill>
          <a:ln/>
        </p:spPr>
      </p:sp>
      <p:pic>
        <p:nvPicPr>
          <p:cNvPr id="2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82945" y="4801149"/>
            <a:ext cx="209215" cy="209215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1463040" y="4663440"/>
            <a:ext cx="9905695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63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I have answers to three hard questions?</a:t>
            </a:r>
            <a:endParaRPr lang="en-US" sz="1630" dirty="0"/>
          </a:p>
          <a:p>
            <a:pPr indent="0" marL="0">
              <a:lnSpc>
                <a:spcPct val="102000"/>
              </a:lnSpc>
              <a:spcBef>
                <a:spcPts val="257"/>
              </a:spcBef>
              <a:buNone/>
            </a:pPr>
            <a:r>
              <a:rPr lang="en-US" sz="12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Including one I cannot fully answer.</a:t>
            </a:r>
            <a:endParaRPr lang="en-US" sz="1630" dirty="0"/>
          </a:p>
        </p:txBody>
      </p:sp>
      <p:sp>
        <p:nvSpPr>
          <p:cNvPr id="30" name="Shape 21"/>
          <p:cNvSpPr/>
          <p:nvPr/>
        </p:nvSpPr>
        <p:spPr>
          <a:xfrm>
            <a:off x="548640" y="5312664"/>
            <a:ext cx="11094415" cy="630936"/>
          </a:xfrm>
          <a:prstGeom prst="roundRect">
            <a:avLst>
              <a:gd name="adj" fmla="val 20290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31" name="Shape 22"/>
          <p:cNvSpPr/>
          <p:nvPr/>
        </p:nvSpPr>
        <p:spPr>
          <a:xfrm>
            <a:off x="786384" y="5426964"/>
            <a:ext cx="402336" cy="402336"/>
          </a:xfrm>
          <a:prstGeom prst="ellipse">
            <a:avLst/>
          </a:prstGeom>
          <a:solidFill>
            <a:srgbClr val="7A4FBF"/>
          </a:solidFill>
          <a:ln/>
        </p:spPr>
      </p:sp>
      <p:pic>
        <p:nvPicPr>
          <p:cNvPr id="32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82945" y="5523525"/>
            <a:ext cx="209215" cy="209215"/>
          </a:xfrm>
          <a:prstGeom prst="rect">
            <a:avLst/>
          </a:prstGeom>
        </p:spPr>
      </p:pic>
      <p:sp>
        <p:nvSpPr>
          <p:cNvPr id="33" name="Text 23"/>
          <p:cNvSpPr/>
          <p:nvPr/>
        </p:nvSpPr>
        <p:spPr>
          <a:xfrm>
            <a:off x="1463040" y="5385816"/>
            <a:ext cx="9905695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63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 I ready to concede something?</a:t>
            </a:r>
            <a:endParaRPr lang="en-US" sz="1630" dirty="0"/>
          </a:p>
          <a:p>
            <a:pPr indent="0" marL="0">
              <a:lnSpc>
                <a:spcPct val="102000"/>
              </a:lnSpc>
              <a:spcBef>
                <a:spcPts val="257"/>
              </a:spcBef>
              <a:buNone/>
            </a:pPr>
            <a:r>
              <a:rPr lang="en-US" sz="12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to bound the damage when I do.</a:t>
            </a:r>
            <a:endParaRPr lang="en-US" sz="1630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38912"/>
            <a:ext cx="2199132" cy="420624"/>
          </a:xfrm>
          <a:prstGeom prst="roundRect">
            <a:avLst>
              <a:gd name="adj" fmla="val 50000"/>
            </a:avLst>
          </a:prstGeom>
          <a:solidFill>
            <a:srgbClr val="0E7C5A"/>
          </a:solidFill>
          <a:ln/>
        </p:spPr>
      </p:sp>
      <p:sp>
        <p:nvSpPr>
          <p:cNvPr id="3" name="Shape 1"/>
          <p:cNvSpPr/>
          <p:nvPr/>
        </p:nvSpPr>
        <p:spPr>
          <a:xfrm>
            <a:off x="649224" y="539496"/>
            <a:ext cx="219456" cy="219456"/>
          </a:xfrm>
          <a:prstGeom prst="ellipse">
            <a:avLst/>
          </a:prstGeom>
          <a:solidFill>
            <a:srgbClr val="0E7C5A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" y="539496"/>
            <a:ext cx="219456" cy="21945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932688" y="438912"/>
            <a:ext cx="170535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EXERCISE A · EASY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896112"/>
            <a:ext cx="10972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Exercise A — multiple choice</a:t>
            </a:r>
            <a:endParaRPr lang="en-US" sz="38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6144768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50" kern="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4 · Advanced Spoken English · Module 3 — Debate &amp; Persuasion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10607040" y="6144768"/>
            <a:ext cx="1033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</a:t>
            </a:r>
            <a:endParaRPr lang="en-US" sz="1100" dirty="0"/>
          </a:p>
        </p:txBody>
      </p:sp>
      <p:sp>
        <p:nvSpPr>
          <p:cNvPr id="10" name="Shape 6"/>
          <p:cNvSpPr/>
          <p:nvPr/>
        </p:nvSpPr>
        <p:spPr>
          <a:xfrm>
            <a:off x="548640" y="1700784"/>
            <a:ext cx="11094415" cy="566928"/>
          </a:xfrm>
          <a:prstGeom prst="roundRect">
            <a:avLst>
              <a:gd name="adj" fmla="val 22581"/>
            </a:avLst>
          </a:prstGeom>
          <a:solidFill>
            <a:srgbClr val="EDF0FD"/>
          </a:solidFill>
          <a:ln w="12700">
            <a:solidFill>
              <a:srgbClr val="0E7C5A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749808" y="1810512"/>
            <a:ext cx="347472" cy="347472"/>
          </a:xfrm>
          <a:prstGeom prst="ellipse">
            <a:avLst/>
          </a:prstGeom>
          <a:solidFill>
            <a:srgbClr val="0E7C5A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676" y="1897380"/>
            <a:ext cx="173736" cy="173736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1207008" y="1700784"/>
            <a:ext cx="10198303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a, b or c for each question.</a:t>
            </a:r>
            <a:endParaRPr lang="en-US" sz="1700" dirty="0"/>
          </a:p>
        </p:txBody>
      </p:sp>
      <p:sp>
        <p:nvSpPr>
          <p:cNvPr id="14" name="Shape 9"/>
          <p:cNvSpPr/>
          <p:nvPr/>
        </p:nvSpPr>
        <p:spPr>
          <a:xfrm>
            <a:off x="548640" y="2414016"/>
            <a:ext cx="11094415" cy="610819"/>
          </a:xfrm>
          <a:prstGeom prst="roundRect">
            <a:avLst>
              <a:gd name="adj" fmla="val 20958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15" name="Shape 10"/>
          <p:cNvSpPr/>
          <p:nvPr/>
        </p:nvSpPr>
        <p:spPr>
          <a:xfrm>
            <a:off x="749808" y="2518258"/>
            <a:ext cx="402336" cy="402336"/>
          </a:xfrm>
          <a:prstGeom prst="ellipse">
            <a:avLst/>
          </a:prstGeom>
          <a:solidFill>
            <a:srgbClr val="0E7C5A"/>
          </a:solidFill>
          <a:ln/>
        </p:spPr>
      </p:sp>
      <p:sp>
        <p:nvSpPr>
          <p:cNvPr id="16" name="Text 11"/>
          <p:cNvSpPr txBox="1"/>
          <p:nvPr/>
        </p:nvSpPr>
        <p:spPr>
          <a:xfrm>
            <a:off x="749808" y="251825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17" name="Text 12"/>
          <p:cNvSpPr/>
          <p:nvPr/>
        </p:nvSpPr>
        <p:spPr>
          <a:xfrm>
            <a:off x="1353312" y="2468880"/>
            <a:ext cx="10033711" cy="5010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48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In a rebuttal you should attack:</a:t>
            </a:r>
            <a:endParaRPr lang="en-US" sz="1480" dirty="0"/>
          </a:p>
          <a:p>
            <a:pPr indent="0" marL="0">
              <a:lnSpc>
                <a:spcPct val="102000"/>
              </a:lnSpc>
              <a:spcBef>
                <a:spcPts val="246"/>
              </a:spcBef>
              <a:buNone/>
            </a:pPr>
            <a:r>
              <a:rPr lang="en-US" sz="115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a) every point they made     b) one load-bearing point     c) the speaker</a:t>
            </a:r>
            <a:endParaRPr lang="en-US" sz="1480" dirty="0"/>
          </a:p>
        </p:txBody>
      </p:sp>
      <p:sp>
        <p:nvSpPr>
          <p:cNvPr id="18" name="Shape 13"/>
          <p:cNvSpPr/>
          <p:nvPr/>
        </p:nvSpPr>
        <p:spPr>
          <a:xfrm>
            <a:off x="548640" y="3143707"/>
            <a:ext cx="11094415" cy="610819"/>
          </a:xfrm>
          <a:prstGeom prst="roundRect">
            <a:avLst>
              <a:gd name="adj" fmla="val 20958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749808" y="3247949"/>
            <a:ext cx="402336" cy="402336"/>
          </a:xfrm>
          <a:prstGeom prst="ellipse">
            <a:avLst/>
          </a:prstGeom>
          <a:solidFill>
            <a:srgbClr val="0E7C5A"/>
          </a:solidFill>
          <a:ln/>
        </p:spPr>
      </p:sp>
      <p:sp>
        <p:nvSpPr>
          <p:cNvPr id="20" name="Text 15"/>
          <p:cNvSpPr txBox="1"/>
          <p:nvPr/>
        </p:nvSpPr>
        <p:spPr>
          <a:xfrm>
            <a:off x="749808" y="3247949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21" name="Text 16"/>
          <p:cNvSpPr/>
          <p:nvPr/>
        </p:nvSpPr>
        <p:spPr>
          <a:xfrm>
            <a:off x="1353312" y="3198571"/>
            <a:ext cx="10033711" cy="5010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48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How many lines of argument in an opening?</a:t>
            </a:r>
            <a:endParaRPr lang="en-US" sz="1480" dirty="0"/>
          </a:p>
          <a:p>
            <a:pPr indent="0" marL="0">
              <a:lnSpc>
                <a:spcPct val="102000"/>
              </a:lnSpc>
              <a:spcBef>
                <a:spcPts val="246"/>
              </a:spcBef>
              <a:buNone/>
            </a:pPr>
            <a:r>
              <a:rPr lang="en-US" sz="115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a) one     b) three     c) six</a:t>
            </a:r>
            <a:endParaRPr lang="en-US" sz="1480" dirty="0"/>
          </a:p>
        </p:txBody>
      </p:sp>
      <p:sp>
        <p:nvSpPr>
          <p:cNvPr id="22" name="Shape 17"/>
          <p:cNvSpPr/>
          <p:nvPr/>
        </p:nvSpPr>
        <p:spPr>
          <a:xfrm>
            <a:off x="548640" y="3873398"/>
            <a:ext cx="11094415" cy="610819"/>
          </a:xfrm>
          <a:prstGeom prst="roundRect">
            <a:avLst>
              <a:gd name="adj" fmla="val 20958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23" name="Shape 18"/>
          <p:cNvSpPr/>
          <p:nvPr/>
        </p:nvSpPr>
        <p:spPr>
          <a:xfrm>
            <a:off x="749808" y="3977640"/>
            <a:ext cx="402336" cy="402336"/>
          </a:xfrm>
          <a:prstGeom prst="ellipse">
            <a:avLst/>
          </a:prstGeom>
          <a:solidFill>
            <a:srgbClr val="0E7C5A"/>
          </a:solidFill>
          <a:ln/>
        </p:spPr>
      </p:sp>
      <p:sp>
        <p:nvSpPr>
          <p:cNvPr id="24" name="Text 19"/>
          <p:cNvSpPr txBox="1"/>
          <p:nvPr/>
        </p:nvSpPr>
        <p:spPr>
          <a:xfrm>
            <a:off x="749808" y="397764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25" name="Text 20"/>
          <p:cNvSpPr/>
          <p:nvPr/>
        </p:nvSpPr>
        <p:spPr>
          <a:xfrm>
            <a:off x="1353312" y="3928262"/>
            <a:ext cx="10033711" cy="5010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48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Asked for a figure you don't have, you should:</a:t>
            </a:r>
            <a:endParaRPr lang="en-US" sz="1480" dirty="0"/>
          </a:p>
          <a:p>
            <a:pPr indent="0" marL="0">
              <a:lnSpc>
                <a:spcPct val="102000"/>
              </a:lnSpc>
              <a:spcBef>
                <a:spcPts val="246"/>
              </a:spcBef>
              <a:buNone/>
            </a:pPr>
            <a:r>
              <a:rPr lang="en-US" sz="115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a) estimate     b) say you don't have it and redirect     c) change the subject</a:t>
            </a:r>
            <a:endParaRPr lang="en-US" sz="1480" dirty="0"/>
          </a:p>
        </p:txBody>
      </p:sp>
      <p:sp>
        <p:nvSpPr>
          <p:cNvPr id="26" name="Shape 21"/>
          <p:cNvSpPr/>
          <p:nvPr/>
        </p:nvSpPr>
        <p:spPr>
          <a:xfrm>
            <a:off x="548640" y="4603090"/>
            <a:ext cx="11094415" cy="610819"/>
          </a:xfrm>
          <a:prstGeom prst="roundRect">
            <a:avLst>
              <a:gd name="adj" fmla="val 20958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27" name="Shape 22"/>
          <p:cNvSpPr/>
          <p:nvPr/>
        </p:nvSpPr>
        <p:spPr>
          <a:xfrm>
            <a:off x="749808" y="4707331"/>
            <a:ext cx="402336" cy="402336"/>
          </a:xfrm>
          <a:prstGeom prst="ellipse">
            <a:avLst/>
          </a:prstGeom>
          <a:solidFill>
            <a:srgbClr val="0E7C5A"/>
          </a:solidFill>
          <a:ln/>
        </p:spPr>
      </p:sp>
      <p:sp>
        <p:nvSpPr>
          <p:cNvPr id="28" name="Text 23"/>
          <p:cNvSpPr txBox="1"/>
          <p:nvPr/>
        </p:nvSpPr>
        <p:spPr>
          <a:xfrm>
            <a:off x="749808" y="4707331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29" name="Text 24"/>
          <p:cNvSpPr/>
          <p:nvPr/>
        </p:nvSpPr>
        <p:spPr>
          <a:xfrm>
            <a:off x="1353312" y="4657954"/>
            <a:ext cx="10033711" cy="5010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48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In a closing you should:</a:t>
            </a:r>
            <a:endParaRPr lang="en-US" sz="1480" dirty="0"/>
          </a:p>
          <a:p>
            <a:pPr indent="0" marL="0">
              <a:lnSpc>
                <a:spcPct val="102000"/>
              </a:lnSpc>
              <a:spcBef>
                <a:spcPts val="246"/>
              </a:spcBef>
              <a:buNone/>
            </a:pPr>
            <a:r>
              <a:rPr lang="en-US" sz="115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a) add your best new argument     b) remind, not add     c) attack again</a:t>
            </a:r>
            <a:endParaRPr lang="en-US" sz="1480" dirty="0"/>
          </a:p>
        </p:txBody>
      </p:sp>
      <p:sp>
        <p:nvSpPr>
          <p:cNvPr id="30" name="Shape 25"/>
          <p:cNvSpPr/>
          <p:nvPr/>
        </p:nvSpPr>
        <p:spPr>
          <a:xfrm>
            <a:off x="548640" y="5332781"/>
            <a:ext cx="11094415" cy="610819"/>
          </a:xfrm>
          <a:prstGeom prst="roundRect">
            <a:avLst>
              <a:gd name="adj" fmla="val 20958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31" name="Shape 26"/>
          <p:cNvSpPr/>
          <p:nvPr/>
        </p:nvSpPr>
        <p:spPr>
          <a:xfrm>
            <a:off x="749808" y="5437022"/>
            <a:ext cx="402336" cy="402336"/>
          </a:xfrm>
          <a:prstGeom prst="ellipse">
            <a:avLst/>
          </a:prstGeom>
          <a:solidFill>
            <a:srgbClr val="0E7C5A"/>
          </a:solidFill>
          <a:ln/>
        </p:spPr>
      </p:sp>
      <p:sp>
        <p:nvSpPr>
          <p:cNvPr id="32" name="Text 27"/>
          <p:cNvSpPr txBox="1"/>
          <p:nvPr/>
        </p:nvSpPr>
        <p:spPr>
          <a:xfrm>
            <a:off x="749808" y="543702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33" name="Text 28"/>
          <p:cNvSpPr/>
          <p:nvPr/>
        </p:nvSpPr>
        <p:spPr>
          <a:xfrm>
            <a:off x="1353312" y="5387645"/>
            <a:ext cx="10033711" cy="5010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48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“Refute” means:</a:t>
            </a:r>
            <a:endParaRPr lang="en-US" sz="1480" dirty="0"/>
          </a:p>
          <a:p>
            <a:pPr indent="0" marL="0">
              <a:lnSpc>
                <a:spcPct val="102000"/>
              </a:lnSpc>
              <a:spcBef>
                <a:spcPts val="246"/>
              </a:spcBef>
              <a:buNone/>
            </a:pPr>
            <a:r>
              <a:rPr lang="en-US" sz="115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a) disagree with     b) disprove with evidence     c) ignore</a:t>
            </a:r>
            <a:endParaRPr lang="en-US" sz="1480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38912"/>
            <a:ext cx="2199132" cy="420624"/>
          </a:xfrm>
          <a:prstGeom prst="roundRect">
            <a:avLst>
              <a:gd name="adj" fmla="val 50000"/>
            </a:avLst>
          </a:prstGeom>
          <a:solidFill>
            <a:srgbClr val="0E7C5A"/>
          </a:solidFill>
          <a:ln/>
        </p:spPr>
      </p:sp>
      <p:sp>
        <p:nvSpPr>
          <p:cNvPr id="3" name="Shape 1"/>
          <p:cNvSpPr/>
          <p:nvPr/>
        </p:nvSpPr>
        <p:spPr>
          <a:xfrm>
            <a:off x="649224" y="539496"/>
            <a:ext cx="219456" cy="219456"/>
          </a:xfrm>
          <a:prstGeom prst="ellipse">
            <a:avLst/>
          </a:prstGeom>
          <a:solidFill>
            <a:srgbClr val="0E7C5A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" y="539496"/>
            <a:ext cx="219456" cy="21945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932688" y="438912"/>
            <a:ext cx="170535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EXERCISE B · EASY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896112"/>
            <a:ext cx="10972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Exercise B — fill in the phrase</a:t>
            </a:r>
            <a:endParaRPr lang="en-US" sz="38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6144768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50" kern="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4 · Advanced Spoken English · Module 3 — Debate &amp; Persuasion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10607040" y="6144768"/>
            <a:ext cx="1033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52</a:t>
            </a:r>
            <a:endParaRPr lang="en-US" sz="1100" dirty="0"/>
          </a:p>
        </p:txBody>
      </p:sp>
      <p:sp>
        <p:nvSpPr>
          <p:cNvPr id="10" name="Shape 6"/>
          <p:cNvSpPr/>
          <p:nvPr/>
        </p:nvSpPr>
        <p:spPr>
          <a:xfrm>
            <a:off x="548640" y="1700784"/>
            <a:ext cx="11094415" cy="566928"/>
          </a:xfrm>
          <a:prstGeom prst="roundRect">
            <a:avLst>
              <a:gd name="adj" fmla="val 22581"/>
            </a:avLst>
          </a:prstGeom>
          <a:solidFill>
            <a:srgbClr val="EDF0FD"/>
          </a:solidFill>
          <a:ln w="12700">
            <a:solidFill>
              <a:srgbClr val="0E7C5A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749808" y="1810512"/>
            <a:ext cx="347472" cy="347472"/>
          </a:xfrm>
          <a:prstGeom prst="ellipse">
            <a:avLst/>
          </a:prstGeom>
          <a:solidFill>
            <a:srgbClr val="0E7C5A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676" y="1897380"/>
            <a:ext cx="173736" cy="173736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1207008" y="1700784"/>
            <a:ext cx="10198303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missing word.</a:t>
            </a:r>
            <a:endParaRPr lang="en-US" sz="1700" dirty="0"/>
          </a:p>
        </p:txBody>
      </p:sp>
      <p:sp>
        <p:nvSpPr>
          <p:cNvPr id="14" name="Shape 9"/>
          <p:cNvSpPr/>
          <p:nvPr/>
        </p:nvSpPr>
        <p:spPr>
          <a:xfrm>
            <a:off x="548640" y="2414016"/>
            <a:ext cx="11094415" cy="489204"/>
          </a:xfrm>
          <a:prstGeom prst="roundRect">
            <a:avLst>
              <a:gd name="adj" fmla="val 26168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15" name="Shape 10"/>
          <p:cNvSpPr/>
          <p:nvPr/>
        </p:nvSpPr>
        <p:spPr>
          <a:xfrm>
            <a:off x="749808" y="2457450"/>
            <a:ext cx="402336" cy="402336"/>
          </a:xfrm>
          <a:prstGeom prst="ellipse">
            <a:avLst/>
          </a:prstGeom>
          <a:solidFill>
            <a:srgbClr val="0E7C5A"/>
          </a:solidFill>
          <a:ln/>
        </p:spPr>
      </p:sp>
      <p:sp>
        <p:nvSpPr>
          <p:cNvPr id="16" name="Text 11"/>
          <p:cNvSpPr txBox="1"/>
          <p:nvPr/>
        </p:nvSpPr>
        <p:spPr>
          <a:xfrm>
            <a:off x="749808" y="245745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17" name="Text 12"/>
          <p:cNvSpPr/>
          <p:nvPr/>
        </p:nvSpPr>
        <p:spPr>
          <a:xfrm>
            <a:off x="1353312" y="2468880"/>
            <a:ext cx="10033711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Our ______ is that it should be reduced, not abolished.</a:t>
            </a:r>
            <a:endParaRPr lang="en-US" sz="1800" dirty="0"/>
          </a:p>
        </p:txBody>
      </p:sp>
      <p:sp>
        <p:nvSpPr>
          <p:cNvPr id="18" name="Shape 13"/>
          <p:cNvSpPr/>
          <p:nvPr/>
        </p:nvSpPr>
        <p:spPr>
          <a:xfrm>
            <a:off x="548640" y="3022092"/>
            <a:ext cx="11094415" cy="489204"/>
          </a:xfrm>
          <a:prstGeom prst="roundRect">
            <a:avLst>
              <a:gd name="adj" fmla="val 26168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749808" y="3065526"/>
            <a:ext cx="402336" cy="402336"/>
          </a:xfrm>
          <a:prstGeom prst="ellipse">
            <a:avLst/>
          </a:prstGeom>
          <a:solidFill>
            <a:srgbClr val="0E7C5A"/>
          </a:solidFill>
          <a:ln/>
        </p:spPr>
      </p:sp>
      <p:sp>
        <p:nvSpPr>
          <p:cNvPr id="20" name="Text 15"/>
          <p:cNvSpPr txBox="1"/>
          <p:nvPr/>
        </p:nvSpPr>
        <p:spPr>
          <a:xfrm>
            <a:off x="749808" y="306552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21" name="Text 16"/>
          <p:cNvSpPr/>
          <p:nvPr/>
        </p:nvSpPr>
        <p:spPr>
          <a:xfrm>
            <a:off x="1353312" y="3076956"/>
            <a:ext cx="10033711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That rests on a false ______ .</a:t>
            </a:r>
            <a:endParaRPr lang="en-US" sz="1800" dirty="0"/>
          </a:p>
        </p:txBody>
      </p:sp>
      <p:sp>
        <p:nvSpPr>
          <p:cNvPr id="22" name="Shape 17"/>
          <p:cNvSpPr/>
          <p:nvPr/>
        </p:nvSpPr>
        <p:spPr>
          <a:xfrm>
            <a:off x="548640" y="3630168"/>
            <a:ext cx="11094415" cy="489204"/>
          </a:xfrm>
          <a:prstGeom prst="roundRect">
            <a:avLst>
              <a:gd name="adj" fmla="val 26168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23" name="Shape 18"/>
          <p:cNvSpPr/>
          <p:nvPr/>
        </p:nvSpPr>
        <p:spPr>
          <a:xfrm>
            <a:off x="749808" y="3673602"/>
            <a:ext cx="402336" cy="402336"/>
          </a:xfrm>
          <a:prstGeom prst="ellipse">
            <a:avLst/>
          </a:prstGeom>
          <a:solidFill>
            <a:srgbClr val="0E7C5A"/>
          </a:solidFill>
          <a:ln/>
        </p:spPr>
      </p:sp>
      <p:sp>
        <p:nvSpPr>
          <p:cNvPr id="24" name="Text 19"/>
          <p:cNvSpPr txBox="1"/>
          <p:nvPr/>
        </p:nvSpPr>
        <p:spPr>
          <a:xfrm>
            <a:off x="749808" y="367360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25" name="Text 20"/>
          <p:cNvSpPr/>
          <p:nvPr/>
        </p:nvSpPr>
        <p:spPr>
          <a:xfrm>
            <a:off x="1353312" y="3685032"/>
            <a:ext cx="10033711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That actually ______ our case.</a:t>
            </a:r>
            <a:endParaRPr lang="en-US" sz="1800" dirty="0"/>
          </a:p>
        </p:txBody>
      </p:sp>
      <p:sp>
        <p:nvSpPr>
          <p:cNvPr id="26" name="Shape 21"/>
          <p:cNvSpPr/>
          <p:nvPr/>
        </p:nvSpPr>
        <p:spPr>
          <a:xfrm>
            <a:off x="548640" y="4238244"/>
            <a:ext cx="11094415" cy="489204"/>
          </a:xfrm>
          <a:prstGeom prst="roundRect">
            <a:avLst>
              <a:gd name="adj" fmla="val 26168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27" name="Shape 22"/>
          <p:cNvSpPr/>
          <p:nvPr/>
        </p:nvSpPr>
        <p:spPr>
          <a:xfrm>
            <a:off x="749808" y="4281678"/>
            <a:ext cx="402336" cy="402336"/>
          </a:xfrm>
          <a:prstGeom prst="ellipse">
            <a:avLst/>
          </a:prstGeom>
          <a:solidFill>
            <a:srgbClr val="0E7C5A"/>
          </a:solidFill>
          <a:ln/>
        </p:spPr>
      </p:sp>
      <p:sp>
        <p:nvSpPr>
          <p:cNvPr id="28" name="Text 23"/>
          <p:cNvSpPr txBox="1"/>
          <p:nvPr/>
        </p:nvSpPr>
        <p:spPr>
          <a:xfrm>
            <a:off x="749808" y="428167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29" name="Text 24"/>
          <p:cNvSpPr/>
          <p:nvPr/>
        </p:nvSpPr>
        <p:spPr>
          <a:xfrm>
            <a:off x="1353312" y="4293108"/>
            <a:ext cx="10033711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Let me take it in two ______ .</a:t>
            </a:r>
            <a:endParaRPr lang="en-US" sz="1800" dirty="0"/>
          </a:p>
        </p:txBody>
      </p:sp>
      <p:sp>
        <p:nvSpPr>
          <p:cNvPr id="30" name="Shape 25"/>
          <p:cNvSpPr/>
          <p:nvPr/>
        </p:nvSpPr>
        <p:spPr>
          <a:xfrm>
            <a:off x="548640" y="4846320"/>
            <a:ext cx="11094415" cy="489204"/>
          </a:xfrm>
          <a:prstGeom prst="roundRect">
            <a:avLst>
              <a:gd name="adj" fmla="val 26168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31" name="Shape 26"/>
          <p:cNvSpPr/>
          <p:nvPr/>
        </p:nvSpPr>
        <p:spPr>
          <a:xfrm>
            <a:off x="749808" y="4889754"/>
            <a:ext cx="402336" cy="402336"/>
          </a:xfrm>
          <a:prstGeom prst="ellipse">
            <a:avLst/>
          </a:prstGeom>
          <a:solidFill>
            <a:srgbClr val="0E7C5A"/>
          </a:solidFill>
          <a:ln/>
        </p:spPr>
      </p:sp>
      <p:sp>
        <p:nvSpPr>
          <p:cNvPr id="32" name="Text 27"/>
          <p:cNvSpPr txBox="1"/>
          <p:nvPr/>
        </p:nvSpPr>
        <p:spPr>
          <a:xfrm>
            <a:off x="749808" y="488975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33" name="Text 28"/>
          <p:cNvSpPr/>
          <p:nvPr/>
        </p:nvSpPr>
        <p:spPr>
          <a:xfrm>
            <a:off x="1353312" y="4901184"/>
            <a:ext cx="10033711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You're right about that. It ______ my other two arguments standing.</a:t>
            </a:r>
            <a:endParaRPr lang="en-US" sz="1800" dirty="0"/>
          </a:p>
        </p:txBody>
      </p:sp>
      <p:sp>
        <p:nvSpPr>
          <p:cNvPr id="34" name="Shape 29"/>
          <p:cNvSpPr/>
          <p:nvPr/>
        </p:nvSpPr>
        <p:spPr>
          <a:xfrm>
            <a:off x="548640" y="5454396"/>
            <a:ext cx="11094415" cy="489204"/>
          </a:xfrm>
          <a:prstGeom prst="roundRect">
            <a:avLst>
              <a:gd name="adj" fmla="val 26168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35" name="Shape 30"/>
          <p:cNvSpPr/>
          <p:nvPr/>
        </p:nvSpPr>
        <p:spPr>
          <a:xfrm>
            <a:off x="749808" y="5497830"/>
            <a:ext cx="402336" cy="402336"/>
          </a:xfrm>
          <a:prstGeom prst="ellipse">
            <a:avLst/>
          </a:prstGeom>
          <a:solidFill>
            <a:srgbClr val="0E7C5A"/>
          </a:solidFill>
          <a:ln/>
        </p:spPr>
      </p:sp>
      <p:sp>
        <p:nvSpPr>
          <p:cNvPr id="36" name="Text 31"/>
          <p:cNvSpPr txBox="1"/>
          <p:nvPr/>
        </p:nvSpPr>
        <p:spPr>
          <a:xfrm>
            <a:off x="749808" y="549783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500" dirty="0"/>
          </a:p>
        </p:txBody>
      </p:sp>
      <p:sp>
        <p:nvSpPr>
          <p:cNvPr id="37" name="Text 32"/>
          <p:cNvSpPr/>
          <p:nvPr/>
        </p:nvSpPr>
        <p:spPr>
          <a:xfrm>
            <a:off x="1353312" y="5509260"/>
            <a:ext cx="10033711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 What's ______ stake here is whether they finish at all.</a:t>
            </a:r>
            <a:endParaRPr lang="en-US" sz="1800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38912"/>
            <a:ext cx="2199132" cy="420624"/>
          </a:xfrm>
          <a:prstGeom prst="roundRect">
            <a:avLst>
              <a:gd name="adj" fmla="val 50000"/>
            </a:avLst>
          </a:prstGeom>
          <a:solidFill>
            <a:srgbClr val="0E7C5A"/>
          </a:solidFill>
          <a:ln/>
        </p:spPr>
      </p:sp>
      <p:sp>
        <p:nvSpPr>
          <p:cNvPr id="3" name="Shape 1"/>
          <p:cNvSpPr/>
          <p:nvPr/>
        </p:nvSpPr>
        <p:spPr>
          <a:xfrm>
            <a:off x="649224" y="539496"/>
            <a:ext cx="219456" cy="219456"/>
          </a:xfrm>
          <a:prstGeom prst="ellipse">
            <a:avLst/>
          </a:prstGeom>
          <a:solidFill>
            <a:srgbClr val="0E7C5A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" y="539496"/>
            <a:ext cx="219456" cy="21945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932688" y="438912"/>
            <a:ext cx="170535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EXERCISE C · EASY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896112"/>
            <a:ext cx="10972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Exercise C — matching</a:t>
            </a:r>
            <a:endParaRPr lang="en-US" sz="38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536192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Stages, attacks and question types.</a:t>
            </a:r>
            <a:endParaRPr lang="en-US" sz="165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6144768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50" kern="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4 · Advanced Spoken English · Module 3 — Debate &amp; Persuasion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10607040" y="6144768"/>
            <a:ext cx="1033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53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548640" y="1883664"/>
            <a:ext cx="11094415" cy="566928"/>
          </a:xfrm>
          <a:prstGeom prst="roundRect">
            <a:avLst>
              <a:gd name="adj" fmla="val 22581"/>
            </a:avLst>
          </a:prstGeom>
          <a:solidFill>
            <a:srgbClr val="EDF0FD"/>
          </a:solidFill>
          <a:ln w="12700">
            <a:solidFill>
              <a:srgbClr val="0E7C5A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749808" y="1993392"/>
            <a:ext cx="347472" cy="347472"/>
          </a:xfrm>
          <a:prstGeom prst="ellipse">
            <a:avLst/>
          </a:prstGeom>
          <a:solidFill>
            <a:srgbClr val="0E7C5A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676" y="2080260"/>
            <a:ext cx="173736" cy="173736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1207008" y="1883664"/>
            <a:ext cx="10198303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pairs: 1–c, 2–a, and so on.</a:t>
            </a:r>
            <a:endParaRPr lang="en-US" sz="1700" dirty="0"/>
          </a:p>
        </p:txBody>
      </p:sp>
      <p:sp>
        <p:nvSpPr>
          <p:cNvPr id="15" name="Shape 10"/>
          <p:cNvSpPr/>
          <p:nvPr/>
        </p:nvSpPr>
        <p:spPr>
          <a:xfrm>
            <a:off x="548640" y="2596896"/>
            <a:ext cx="11094415" cy="747522"/>
          </a:xfrm>
          <a:prstGeom prst="roundRect">
            <a:avLst>
              <a:gd name="adj" fmla="val 17125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16" name="Shape 11"/>
          <p:cNvSpPr/>
          <p:nvPr/>
        </p:nvSpPr>
        <p:spPr>
          <a:xfrm>
            <a:off x="749808" y="2769489"/>
            <a:ext cx="402336" cy="402336"/>
          </a:xfrm>
          <a:prstGeom prst="ellipse">
            <a:avLst/>
          </a:prstGeom>
          <a:solidFill>
            <a:srgbClr val="0E7C5A"/>
          </a:solidFill>
          <a:ln/>
        </p:spPr>
      </p:sp>
      <p:sp>
        <p:nvSpPr>
          <p:cNvPr id="17" name="Text 12"/>
          <p:cNvSpPr txBox="1"/>
          <p:nvPr/>
        </p:nvSpPr>
        <p:spPr>
          <a:xfrm>
            <a:off x="749808" y="2769489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1353312" y="2651760"/>
            <a:ext cx="10033711" cy="6377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7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 — match the STAGE to its JOB</a:t>
            </a:r>
            <a:endParaRPr lang="en-US" sz="1700" dirty="0"/>
          </a:p>
          <a:p>
            <a:pPr indent="0" marL="0">
              <a:lnSpc>
                <a:spcPct val="102000"/>
              </a:lnSpc>
              <a:spcBef>
                <a:spcPts val="300"/>
              </a:spcBef>
              <a:buNone/>
            </a:pPr>
            <a:r>
              <a:rPr lang="en-US" sz="13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opening     2. rebuttal     3. questions     4. closing</a:t>
            </a:r>
            <a:endParaRPr lang="en-US" sz="1700" dirty="0"/>
          </a:p>
        </p:txBody>
      </p:sp>
      <p:sp>
        <p:nvSpPr>
          <p:cNvPr id="19" name="Shape 14"/>
          <p:cNvSpPr/>
          <p:nvPr/>
        </p:nvSpPr>
        <p:spPr>
          <a:xfrm>
            <a:off x="548640" y="3463290"/>
            <a:ext cx="11094415" cy="747522"/>
          </a:xfrm>
          <a:prstGeom prst="roundRect">
            <a:avLst>
              <a:gd name="adj" fmla="val 17125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749808" y="3635883"/>
            <a:ext cx="402336" cy="402336"/>
          </a:xfrm>
          <a:prstGeom prst="ellipse">
            <a:avLst/>
          </a:prstGeom>
          <a:solidFill>
            <a:srgbClr val="0E7C5A"/>
          </a:solidFill>
          <a:ln/>
        </p:spPr>
      </p:sp>
      <p:sp>
        <p:nvSpPr>
          <p:cNvPr id="21" name="Text 16"/>
          <p:cNvSpPr txBox="1"/>
          <p:nvPr/>
        </p:nvSpPr>
        <p:spPr>
          <a:xfrm>
            <a:off x="749808" y="3635883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22" name="Text 17"/>
          <p:cNvSpPr/>
          <p:nvPr/>
        </p:nvSpPr>
        <p:spPr>
          <a:xfrm>
            <a:off x="1353312" y="3518154"/>
            <a:ext cx="10033711" cy="6377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7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a) attack one point properly     b) remind, don't add</a:t>
            </a:r>
            <a:endParaRPr lang="en-US" sz="1700" dirty="0"/>
          </a:p>
          <a:p>
            <a:pPr indent="0" marL="0">
              <a:lnSpc>
                <a:spcPct val="102000"/>
              </a:lnSpc>
              <a:spcBef>
                <a:spcPts val="300"/>
              </a:spcBef>
              <a:buNone/>
            </a:pPr>
            <a:r>
              <a:rPr lang="en-US" sz="13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c) frame the debate     d) the unprepared moment</a:t>
            </a:r>
            <a:endParaRPr lang="en-US" sz="1700" dirty="0"/>
          </a:p>
        </p:txBody>
      </p:sp>
      <p:sp>
        <p:nvSpPr>
          <p:cNvPr id="23" name="Shape 18"/>
          <p:cNvSpPr/>
          <p:nvPr/>
        </p:nvSpPr>
        <p:spPr>
          <a:xfrm>
            <a:off x="548640" y="4329684"/>
            <a:ext cx="11094415" cy="747522"/>
          </a:xfrm>
          <a:prstGeom prst="roundRect">
            <a:avLst>
              <a:gd name="adj" fmla="val 17125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24" name="Shape 19"/>
          <p:cNvSpPr/>
          <p:nvPr/>
        </p:nvSpPr>
        <p:spPr>
          <a:xfrm>
            <a:off x="749808" y="4502277"/>
            <a:ext cx="402336" cy="402336"/>
          </a:xfrm>
          <a:prstGeom prst="ellipse">
            <a:avLst/>
          </a:prstGeom>
          <a:solidFill>
            <a:srgbClr val="0E7C5A"/>
          </a:solidFill>
          <a:ln/>
        </p:spPr>
      </p:sp>
      <p:sp>
        <p:nvSpPr>
          <p:cNvPr id="25" name="Text 20"/>
          <p:cNvSpPr txBox="1"/>
          <p:nvPr/>
        </p:nvSpPr>
        <p:spPr>
          <a:xfrm>
            <a:off x="749808" y="4502277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26" name="Text 21"/>
          <p:cNvSpPr/>
          <p:nvPr/>
        </p:nvSpPr>
        <p:spPr>
          <a:xfrm>
            <a:off x="1353312" y="4384548"/>
            <a:ext cx="10033711" cy="6377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5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 — match the ATTACK to its TARGET</a:t>
            </a:r>
            <a:endParaRPr lang="en-US" sz="1500" dirty="0"/>
          </a:p>
          <a:p>
            <a:pPr indent="0" marL="0">
              <a:lnSpc>
                <a:spcPct val="102000"/>
              </a:lnSpc>
              <a:spcBef>
                <a:spcPts val="265"/>
              </a:spcBef>
              <a:buNone/>
            </a:pPr>
            <a:r>
              <a:rPr lang="en-US" sz="115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“That rests on a false premise.”     2. “The evidence doesn't support that.”     3. “That actually supports our case.”          a) the inference     b) the assumption     c) turns it around</a:t>
            </a:r>
            <a:endParaRPr lang="en-US" sz="1500" dirty="0"/>
          </a:p>
        </p:txBody>
      </p:sp>
      <p:sp>
        <p:nvSpPr>
          <p:cNvPr id="27" name="Shape 22"/>
          <p:cNvSpPr/>
          <p:nvPr/>
        </p:nvSpPr>
        <p:spPr>
          <a:xfrm>
            <a:off x="548640" y="5196078"/>
            <a:ext cx="11094415" cy="747522"/>
          </a:xfrm>
          <a:prstGeom prst="roundRect">
            <a:avLst>
              <a:gd name="adj" fmla="val 17125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28" name="Shape 23"/>
          <p:cNvSpPr/>
          <p:nvPr/>
        </p:nvSpPr>
        <p:spPr>
          <a:xfrm>
            <a:off x="749808" y="5368671"/>
            <a:ext cx="402336" cy="402336"/>
          </a:xfrm>
          <a:prstGeom prst="ellipse">
            <a:avLst/>
          </a:prstGeom>
          <a:solidFill>
            <a:srgbClr val="0E7C5A"/>
          </a:solidFill>
          <a:ln/>
        </p:spPr>
      </p:sp>
      <p:sp>
        <p:nvSpPr>
          <p:cNvPr id="29" name="Text 24"/>
          <p:cNvSpPr txBox="1"/>
          <p:nvPr/>
        </p:nvSpPr>
        <p:spPr>
          <a:xfrm>
            <a:off x="749808" y="5368671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30" name="Text 25"/>
          <p:cNvSpPr/>
          <p:nvPr/>
        </p:nvSpPr>
        <p:spPr>
          <a:xfrm>
            <a:off x="1353312" y="5250942"/>
            <a:ext cx="10033711" cy="6377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5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3 — match the QUESTION TYPE to the TECHNIQUE</a:t>
            </a:r>
            <a:endParaRPr lang="en-US" sz="1500" dirty="0"/>
          </a:p>
          <a:p>
            <a:pPr indent="0" marL="0">
              <a:lnSpc>
                <a:spcPct val="102000"/>
              </a:lnSpc>
              <a:spcBef>
                <a:spcPts val="265"/>
              </a:spcBef>
              <a:buNone/>
            </a:pPr>
            <a:r>
              <a:rPr lang="en-US" sz="115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you don't know     2. false premise     3. need time          a) “That assumes X.”     b) “Let me take it in two parts.”     c) “I don't have that figure…”</a:t>
            </a:r>
            <a:endParaRPr lang="en-US" sz="1500" dirty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38912"/>
            <a:ext cx="2199132" cy="420624"/>
          </a:xfrm>
          <a:prstGeom prst="roundRect">
            <a:avLst>
              <a:gd name="adj" fmla="val 50000"/>
            </a:avLst>
          </a:prstGeom>
          <a:solidFill>
            <a:srgbClr val="0E7C5A"/>
          </a:solidFill>
          <a:ln/>
        </p:spPr>
      </p:sp>
      <p:sp>
        <p:nvSpPr>
          <p:cNvPr id="3" name="Shape 1"/>
          <p:cNvSpPr/>
          <p:nvPr/>
        </p:nvSpPr>
        <p:spPr>
          <a:xfrm>
            <a:off x="649224" y="539496"/>
            <a:ext cx="219456" cy="219456"/>
          </a:xfrm>
          <a:prstGeom prst="ellipse">
            <a:avLst/>
          </a:prstGeom>
          <a:solidFill>
            <a:srgbClr val="0E7C5A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" y="539496"/>
            <a:ext cx="219456" cy="21945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932688" y="438912"/>
            <a:ext cx="170535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EXERCISE D · EASY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896112"/>
            <a:ext cx="10972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Exercise D — narrow it</a:t>
            </a:r>
            <a:endParaRPr lang="en-US" sz="38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6144768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50" kern="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4 · Advanced Spoken English · Module 3 — Debate &amp; Persuasion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10607040" y="6144768"/>
            <a:ext cx="1033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54</a:t>
            </a:r>
            <a:endParaRPr lang="en-US" sz="1100" dirty="0"/>
          </a:p>
        </p:txBody>
      </p:sp>
      <p:sp>
        <p:nvSpPr>
          <p:cNvPr id="10" name="Shape 6"/>
          <p:cNvSpPr/>
          <p:nvPr/>
        </p:nvSpPr>
        <p:spPr>
          <a:xfrm>
            <a:off x="548640" y="1700784"/>
            <a:ext cx="11094415" cy="566928"/>
          </a:xfrm>
          <a:prstGeom prst="roundRect">
            <a:avLst>
              <a:gd name="adj" fmla="val 22581"/>
            </a:avLst>
          </a:prstGeom>
          <a:solidFill>
            <a:srgbClr val="EDF0FD"/>
          </a:solidFill>
          <a:ln w="12700">
            <a:solidFill>
              <a:srgbClr val="0E7C5A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749808" y="1810512"/>
            <a:ext cx="347472" cy="347472"/>
          </a:xfrm>
          <a:prstGeom prst="ellipse">
            <a:avLst/>
          </a:prstGeom>
          <a:solidFill>
            <a:srgbClr val="0E7C5A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676" y="1897380"/>
            <a:ext cx="173736" cy="173736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1207008" y="1700784"/>
            <a:ext cx="10198303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Rewrite each as a narrower claim on the same side.</a:t>
            </a:r>
            <a:endParaRPr lang="en-US" sz="1700" dirty="0"/>
          </a:p>
        </p:txBody>
      </p:sp>
      <p:sp>
        <p:nvSpPr>
          <p:cNvPr id="14" name="Shape 9"/>
          <p:cNvSpPr/>
          <p:nvPr/>
        </p:nvSpPr>
        <p:spPr>
          <a:xfrm>
            <a:off x="548640" y="2414016"/>
            <a:ext cx="11094415" cy="610819"/>
          </a:xfrm>
          <a:prstGeom prst="roundRect">
            <a:avLst>
              <a:gd name="adj" fmla="val 20958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15" name="Shape 10"/>
          <p:cNvSpPr/>
          <p:nvPr/>
        </p:nvSpPr>
        <p:spPr>
          <a:xfrm>
            <a:off x="749808" y="2518258"/>
            <a:ext cx="402336" cy="402336"/>
          </a:xfrm>
          <a:prstGeom prst="ellipse">
            <a:avLst/>
          </a:prstGeom>
          <a:solidFill>
            <a:srgbClr val="0E7C5A"/>
          </a:solidFill>
          <a:ln/>
        </p:spPr>
      </p:sp>
      <p:sp>
        <p:nvSpPr>
          <p:cNvPr id="16" name="Text 11"/>
          <p:cNvSpPr txBox="1"/>
          <p:nvPr/>
        </p:nvSpPr>
        <p:spPr>
          <a:xfrm>
            <a:off x="749808" y="251825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17" name="Text 12"/>
          <p:cNvSpPr/>
          <p:nvPr/>
        </p:nvSpPr>
        <p:spPr>
          <a:xfrm>
            <a:off x="1353312" y="2468880"/>
            <a:ext cx="10033711" cy="5010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Social media is bad for young people.</a:t>
            </a:r>
            <a:endParaRPr lang="en-US" sz="1800" dirty="0"/>
          </a:p>
        </p:txBody>
      </p:sp>
      <p:sp>
        <p:nvSpPr>
          <p:cNvPr id="18" name="Shape 13"/>
          <p:cNvSpPr/>
          <p:nvPr/>
        </p:nvSpPr>
        <p:spPr>
          <a:xfrm>
            <a:off x="548640" y="3143707"/>
            <a:ext cx="11094415" cy="610819"/>
          </a:xfrm>
          <a:prstGeom prst="roundRect">
            <a:avLst>
              <a:gd name="adj" fmla="val 20958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749808" y="3247949"/>
            <a:ext cx="402336" cy="402336"/>
          </a:xfrm>
          <a:prstGeom prst="ellipse">
            <a:avLst/>
          </a:prstGeom>
          <a:solidFill>
            <a:srgbClr val="0E7C5A"/>
          </a:solidFill>
          <a:ln/>
        </p:spPr>
      </p:sp>
      <p:sp>
        <p:nvSpPr>
          <p:cNvPr id="20" name="Text 15"/>
          <p:cNvSpPr txBox="1"/>
          <p:nvPr/>
        </p:nvSpPr>
        <p:spPr>
          <a:xfrm>
            <a:off x="749808" y="3247949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21" name="Text 16"/>
          <p:cNvSpPr/>
          <p:nvPr/>
        </p:nvSpPr>
        <p:spPr>
          <a:xfrm>
            <a:off x="1353312" y="3198571"/>
            <a:ext cx="10033711" cy="5010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The bus service should be free.</a:t>
            </a:r>
            <a:endParaRPr lang="en-US" sz="1800" dirty="0"/>
          </a:p>
        </p:txBody>
      </p:sp>
      <p:sp>
        <p:nvSpPr>
          <p:cNvPr id="22" name="Shape 17"/>
          <p:cNvSpPr/>
          <p:nvPr/>
        </p:nvSpPr>
        <p:spPr>
          <a:xfrm>
            <a:off x="548640" y="3873398"/>
            <a:ext cx="11094415" cy="610819"/>
          </a:xfrm>
          <a:prstGeom prst="roundRect">
            <a:avLst>
              <a:gd name="adj" fmla="val 20958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23" name="Shape 18"/>
          <p:cNvSpPr/>
          <p:nvPr/>
        </p:nvSpPr>
        <p:spPr>
          <a:xfrm>
            <a:off x="749808" y="3977640"/>
            <a:ext cx="402336" cy="402336"/>
          </a:xfrm>
          <a:prstGeom prst="ellipse">
            <a:avLst/>
          </a:prstGeom>
          <a:solidFill>
            <a:srgbClr val="0E7C5A"/>
          </a:solidFill>
          <a:ln/>
        </p:spPr>
      </p:sp>
      <p:sp>
        <p:nvSpPr>
          <p:cNvPr id="24" name="Text 19"/>
          <p:cNvSpPr txBox="1"/>
          <p:nvPr/>
        </p:nvSpPr>
        <p:spPr>
          <a:xfrm>
            <a:off x="749808" y="397764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25" name="Text 20"/>
          <p:cNvSpPr/>
          <p:nvPr/>
        </p:nvSpPr>
        <p:spPr>
          <a:xfrm>
            <a:off x="1353312" y="3928262"/>
            <a:ext cx="10033711" cy="5010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All meetings are a waste of time.</a:t>
            </a:r>
            <a:endParaRPr lang="en-US" sz="1800" dirty="0"/>
          </a:p>
        </p:txBody>
      </p:sp>
      <p:sp>
        <p:nvSpPr>
          <p:cNvPr id="26" name="Shape 21"/>
          <p:cNvSpPr/>
          <p:nvPr/>
        </p:nvSpPr>
        <p:spPr>
          <a:xfrm>
            <a:off x="548640" y="4603090"/>
            <a:ext cx="11094415" cy="610819"/>
          </a:xfrm>
          <a:prstGeom prst="roundRect">
            <a:avLst>
              <a:gd name="adj" fmla="val 20958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27" name="Shape 22"/>
          <p:cNvSpPr/>
          <p:nvPr/>
        </p:nvSpPr>
        <p:spPr>
          <a:xfrm>
            <a:off x="749808" y="4707331"/>
            <a:ext cx="402336" cy="402336"/>
          </a:xfrm>
          <a:prstGeom prst="ellipse">
            <a:avLst/>
          </a:prstGeom>
          <a:solidFill>
            <a:srgbClr val="0E7C5A"/>
          </a:solidFill>
          <a:ln/>
        </p:spPr>
      </p:sp>
      <p:sp>
        <p:nvSpPr>
          <p:cNvPr id="28" name="Text 23"/>
          <p:cNvSpPr txBox="1"/>
          <p:nvPr/>
        </p:nvSpPr>
        <p:spPr>
          <a:xfrm>
            <a:off x="749808" y="4707331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29" name="Text 24"/>
          <p:cNvSpPr/>
          <p:nvPr/>
        </p:nvSpPr>
        <p:spPr>
          <a:xfrm>
            <a:off x="1353312" y="4657954"/>
            <a:ext cx="10033711" cy="5010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Everyone should learn to code.</a:t>
            </a:r>
            <a:endParaRPr lang="en-US" sz="1800" dirty="0"/>
          </a:p>
        </p:txBody>
      </p:sp>
      <p:sp>
        <p:nvSpPr>
          <p:cNvPr id="30" name="Shape 25"/>
          <p:cNvSpPr/>
          <p:nvPr/>
        </p:nvSpPr>
        <p:spPr>
          <a:xfrm>
            <a:off x="548640" y="5332781"/>
            <a:ext cx="11094415" cy="610819"/>
          </a:xfrm>
          <a:prstGeom prst="roundRect">
            <a:avLst>
              <a:gd name="adj" fmla="val 20958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31" name="Shape 26"/>
          <p:cNvSpPr/>
          <p:nvPr/>
        </p:nvSpPr>
        <p:spPr>
          <a:xfrm>
            <a:off x="749808" y="5437022"/>
            <a:ext cx="402336" cy="402336"/>
          </a:xfrm>
          <a:prstGeom prst="ellipse">
            <a:avLst/>
          </a:prstGeom>
          <a:solidFill>
            <a:srgbClr val="0E7C5A"/>
          </a:solidFill>
          <a:ln/>
        </p:spPr>
      </p:sp>
      <p:sp>
        <p:nvSpPr>
          <p:cNvPr id="32" name="Text 27"/>
          <p:cNvSpPr txBox="1"/>
          <p:nvPr/>
        </p:nvSpPr>
        <p:spPr>
          <a:xfrm>
            <a:off x="749808" y="543702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33" name="Text 28"/>
          <p:cNvSpPr/>
          <p:nvPr/>
        </p:nvSpPr>
        <p:spPr>
          <a:xfrm>
            <a:off x="1353312" y="5387645"/>
            <a:ext cx="10033711" cy="5010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The course is too long.</a:t>
            </a:r>
            <a:endParaRPr lang="en-US" sz="1800" dirty="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38912"/>
            <a:ext cx="2391156" cy="420624"/>
          </a:xfrm>
          <a:prstGeom prst="roundRect">
            <a:avLst>
              <a:gd name="adj" fmla="val 50000"/>
            </a:avLst>
          </a:prstGeom>
          <a:solidFill>
            <a:srgbClr val="0E7C5A"/>
          </a:solidFill>
          <a:ln/>
        </p:spPr>
      </p:sp>
      <p:sp>
        <p:nvSpPr>
          <p:cNvPr id="3" name="Shape 1"/>
          <p:cNvSpPr/>
          <p:nvPr/>
        </p:nvSpPr>
        <p:spPr>
          <a:xfrm>
            <a:off x="649224" y="539496"/>
            <a:ext cx="219456" cy="219456"/>
          </a:xfrm>
          <a:prstGeom prst="ellipse">
            <a:avLst/>
          </a:prstGeom>
          <a:solidFill>
            <a:srgbClr val="0E7C5A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" y="539496"/>
            <a:ext cx="219456" cy="21945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932688" y="438912"/>
            <a:ext cx="18973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EXERCISE E · MEDIUM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896112"/>
            <a:ext cx="10972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Exercise E — choose the target</a:t>
            </a:r>
            <a:endParaRPr lang="en-US" sz="38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536192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point does their case depend on?</a:t>
            </a:r>
            <a:endParaRPr lang="en-US" sz="165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6144768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50" kern="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4 · Advanced Spoken English · Module 3 — Debate &amp; Persuasion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10607040" y="6144768"/>
            <a:ext cx="1033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55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548640" y="1883664"/>
            <a:ext cx="11094415" cy="566928"/>
          </a:xfrm>
          <a:prstGeom prst="roundRect">
            <a:avLst>
              <a:gd name="adj" fmla="val 22581"/>
            </a:avLst>
          </a:prstGeom>
          <a:solidFill>
            <a:srgbClr val="EDF0FD"/>
          </a:solidFill>
          <a:ln w="12700">
            <a:solidFill>
              <a:srgbClr val="0E7C5A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749808" y="1993392"/>
            <a:ext cx="347472" cy="347472"/>
          </a:xfrm>
          <a:prstGeom prst="ellipse">
            <a:avLst/>
          </a:prstGeom>
          <a:solidFill>
            <a:srgbClr val="0E7C5A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676" y="2080260"/>
            <a:ext cx="173736" cy="173736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1207008" y="1883664"/>
            <a:ext cx="10198303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each case, name the load-bearing point and say why.</a:t>
            </a:r>
            <a:endParaRPr lang="en-US" sz="1700" dirty="0"/>
          </a:p>
        </p:txBody>
      </p:sp>
      <p:sp>
        <p:nvSpPr>
          <p:cNvPr id="15" name="Shape 10"/>
          <p:cNvSpPr/>
          <p:nvPr/>
        </p:nvSpPr>
        <p:spPr>
          <a:xfrm>
            <a:off x="548640" y="2596896"/>
            <a:ext cx="11094415" cy="747522"/>
          </a:xfrm>
          <a:prstGeom prst="roundRect">
            <a:avLst>
              <a:gd name="adj" fmla="val 17125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16" name="Shape 11"/>
          <p:cNvSpPr/>
          <p:nvPr/>
        </p:nvSpPr>
        <p:spPr>
          <a:xfrm>
            <a:off x="749808" y="2769489"/>
            <a:ext cx="402336" cy="402336"/>
          </a:xfrm>
          <a:prstGeom prst="ellipse">
            <a:avLst/>
          </a:prstGeom>
          <a:solidFill>
            <a:srgbClr val="0E7C5A"/>
          </a:solidFill>
          <a:ln/>
        </p:spPr>
      </p:sp>
      <p:sp>
        <p:nvSpPr>
          <p:cNvPr id="17" name="Text 12"/>
          <p:cNvSpPr txBox="1"/>
          <p:nvPr/>
        </p:nvSpPr>
        <p:spPr>
          <a:xfrm>
            <a:off x="749808" y="2769489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1353312" y="2651760"/>
            <a:ext cx="10033711" cy="6377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7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“Cancel Saturdays: attendance is 30%, we pay two staff, students prefer weekdays.”</a:t>
            </a:r>
            <a:endParaRPr lang="en-US" sz="1700" dirty="0"/>
          </a:p>
        </p:txBody>
      </p:sp>
      <p:sp>
        <p:nvSpPr>
          <p:cNvPr id="19" name="Shape 14"/>
          <p:cNvSpPr/>
          <p:nvPr/>
        </p:nvSpPr>
        <p:spPr>
          <a:xfrm>
            <a:off x="548640" y="3463290"/>
            <a:ext cx="11094415" cy="747522"/>
          </a:xfrm>
          <a:prstGeom prst="roundRect">
            <a:avLst>
              <a:gd name="adj" fmla="val 17125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749808" y="3635883"/>
            <a:ext cx="402336" cy="402336"/>
          </a:xfrm>
          <a:prstGeom prst="ellipse">
            <a:avLst/>
          </a:prstGeom>
          <a:solidFill>
            <a:srgbClr val="0E7C5A"/>
          </a:solidFill>
          <a:ln/>
        </p:spPr>
      </p:sp>
      <p:sp>
        <p:nvSpPr>
          <p:cNvPr id="21" name="Text 16"/>
          <p:cNvSpPr txBox="1"/>
          <p:nvPr/>
        </p:nvSpPr>
        <p:spPr>
          <a:xfrm>
            <a:off x="749808" y="3635883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22" name="Text 17"/>
          <p:cNvSpPr/>
          <p:nvPr/>
        </p:nvSpPr>
        <p:spPr>
          <a:xfrm>
            <a:off x="1353312" y="3518154"/>
            <a:ext cx="10033711" cy="6377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7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“Buy the new system: the old one fails weekly, staff dislike it, the new one is cheaper.”</a:t>
            </a:r>
            <a:endParaRPr lang="en-US" sz="1700" dirty="0"/>
          </a:p>
        </p:txBody>
      </p:sp>
      <p:sp>
        <p:nvSpPr>
          <p:cNvPr id="23" name="Shape 18"/>
          <p:cNvSpPr/>
          <p:nvPr/>
        </p:nvSpPr>
        <p:spPr>
          <a:xfrm>
            <a:off x="548640" y="4329684"/>
            <a:ext cx="11094415" cy="747522"/>
          </a:xfrm>
          <a:prstGeom prst="roundRect">
            <a:avLst>
              <a:gd name="adj" fmla="val 17125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24" name="Shape 19"/>
          <p:cNvSpPr/>
          <p:nvPr/>
        </p:nvSpPr>
        <p:spPr>
          <a:xfrm>
            <a:off x="749808" y="4502277"/>
            <a:ext cx="402336" cy="402336"/>
          </a:xfrm>
          <a:prstGeom prst="ellipse">
            <a:avLst/>
          </a:prstGeom>
          <a:solidFill>
            <a:srgbClr val="0E7C5A"/>
          </a:solidFill>
          <a:ln/>
        </p:spPr>
      </p:sp>
      <p:sp>
        <p:nvSpPr>
          <p:cNvPr id="25" name="Text 20"/>
          <p:cNvSpPr txBox="1"/>
          <p:nvPr/>
        </p:nvSpPr>
        <p:spPr>
          <a:xfrm>
            <a:off x="749808" y="4502277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26" name="Text 21"/>
          <p:cNvSpPr/>
          <p:nvPr/>
        </p:nvSpPr>
        <p:spPr>
          <a:xfrm>
            <a:off x="1353312" y="4384548"/>
            <a:ext cx="10033711" cy="6377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7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“Extend the course: students ask for it, results are poor, other colleges are longer.”</a:t>
            </a:r>
            <a:endParaRPr lang="en-US" sz="1700" dirty="0"/>
          </a:p>
        </p:txBody>
      </p:sp>
      <p:sp>
        <p:nvSpPr>
          <p:cNvPr id="27" name="Shape 22"/>
          <p:cNvSpPr/>
          <p:nvPr/>
        </p:nvSpPr>
        <p:spPr>
          <a:xfrm>
            <a:off x="548640" y="5196078"/>
            <a:ext cx="11094415" cy="747522"/>
          </a:xfrm>
          <a:prstGeom prst="roundRect">
            <a:avLst>
              <a:gd name="adj" fmla="val 17125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28" name="Shape 23"/>
          <p:cNvSpPr/>
          <p:nvPr/>
        </p:nvSpPr>
        <p:spPr>
          <a:xfrm>
            <a:off x="749808" y="5368671"/>
            <a:ext cx="402336" cy="402336"/>
          </a:xfrm>
          <a:prstGeom prst="ellipse">
            <a:avLst/>
          </a:prstGeom>
          <a:solidFill>
            <a:srgbClr val="0E7C5A"/>
          </a:solidFill>
          <a:ln/>
        </p:spPr>
      </p:sp>
      <p:sp>
        <p:nvSpPr>
          <p:cNvPr id="29" name="Text 24"/>
          <p:cNvSpPr txBox="1"/>
          <p:nvPr/>
        </p:nvSpPr>
        <p:spPr>
          <a:xfrm>
            <a:off x="749808" y="5368671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30" name="Text 25"/>
          <p:cNvSpPr/>
          <p:nvPr/>
        </p:nvSpPr>
        <p:spPr>
          <a:xfrm>
            <a:off x="1353312" y="5250942"/>
            <a:ext cx="10033711" cy="6377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7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“Move the start to January: dropout is 40%, September clashes with harvest, staff prefer it.”</a:t>
            </a:r>
            <a:endParaRPr lang="en-US" sz="1700" dirty="0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38912"/>
            <a:ext cx="2391156" cy="420624"/>
          </a:xfrm>
          <a:prstGeom prst="roundRect">
            <a:avLst>
              <a:gd name="adj" fmla="val 50000"/>
            </a:avLst>
          </a:prstGeom>
          <a:solidFill>
            <a:srgbClr val="0E7C5A"/>
          </a:solidFill>
          <a:ln/>
        </p:spPr>
      </p:sp>
      <p:sp>
        <p:nvSpPr>
          <p:cNvPr id="3" name="Shape 1"/>
          <p:cNvSpPr/>
          <p:nvPr/>
        </p:nvSpPr>
        <p:spPr>
          <a:xfrm>
            <a:off x="649224" y="539496"/>
            <a:ext cx="219456" cy="219456"/>
          </a:xfrm>
          <a:prstGeom prst="ellipse">
            <a:avLst/>
          </a:prstGeom>
          <a:solidFill>
            <a:srgbClr val="0E7C5A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" y="539496"/>
            <a:ext cx="219456" cy="21945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932688" y="438912"/>
            <a:ext cx="18973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EXERCISE F · MEDIUM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896112"/>
            <a:ext cx="10972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Exercise F — true or false</a:t>
            </a:r>
            <a:endParaRPr lang="en-US" sz="38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6144768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50" kern="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4 · Advanced Spoken English · Module 3 — Debate &amp; Persuasion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10607040" y="6144768"/>
            <a:ext cx="1033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56</a:t>
            </a:r>
            <a:endParaRPr lang="en-US" sz="1100" dirty="0"/>
          </a:p>
        </p:txBody>
      </p:sp>
      <p:sp>
        <p:nvSpPr>
          <p:cNvPr id="10" name="Shape 6"/>
          <p:cNvSpPr/>
          <p:nvPr/>
        </p:nvSpPr>
        <p:spPr>
          <a:xfrm>
            <a:off x="548640" y="1700784"/>
            <a:ext cx="11094415" cy="566928"/>
          </a:xfrm>
          <a:prstGeom prst="roundRect">
            <a:avLst>
              <a:gd name="adj" fmla="val 22581"/>
            </a:avLst>
          </a:prstGeom>
          <a:solidFill>
            <a:srgbClr val="EDF0FD"/>
          </a:solidFill>
          <a:ln w="12700">
            <a:solidFill>
              <a:srgbClr val="0E7C5A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749808" y="1810512"/>
            <a:ext cx="347472" cy="347472"/>
          </a:xfrm>
          <a:prstGeom prst="ellipse">
            <a:avLst/>
          </a:prstGeom>
          <a:solidFill>
            <a:srgbClr val="0E7C5A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676" y="1897380"/>
            <a:ext cx="173736" cy="173736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1207008" y="1700784"/>
            <a:ext cx="10198303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 or F. For every F, write the correction.</a:t>
            </a:r>
            <a:endParaRPr lang="en-US" sz="1700" dirty="0"/>
          </a:p>
        </p:txBody>
      </p:sp>
      <p:sp>
        <p:nvSpPr>
          <p:cNvPr id="14" name="Shape 9"/>
          <p:cNvSpPr/>
          <p:nvPr/>
        </p:nvSpPr>
        <p:spPr>
          <a:xfrm>
            <a:off x="548640" y="2414016"/>
            <a:ext cx="11094415" cy="489204"/>
          </a:xfrm>
          <a:prstGeom prst="roundRect">
            <a:avLst>
              <a:gd name="adj" fmla="val 26168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15" name="Shape 10"/>
          <p:cNvSpPr/>
          <p:nvPr/>
        </p:nvSpPr>
        <p:spPr>
          <a:xfrm>
            <a:off x="749808" y="2457450"/>
            <a:ext cx="402336" cy="402336"/>
          </a:xfrm>
          <a:prstGeom prst="ellipse">
            <a:avLst/>
          </a:prstGeom>
          <a:solidFill>
            <a:srgbClr val="0E7C5A"/>
          </a:solidFill>
          <a:ln/>
        </p:spPr>
      </p:sp>
      <p:sp>
        <p:nvSpPr>
          <p:cNvPr id="16" name="Text 11"/>
          <p:cNvSpPr txBox="1"/>
          <p:nvPr/>
        </p:nvSpPr>
        <p:spPr>
          <a:xfrm>
            <a:off x="749808" y="245745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17" name="Text 12"/>
          <p:cNvSpPr/>
          <p:nvPr/>
        </p:nvSpPr>
        <p:spPr>
          <a:xfrm>
            <a:off x="1353312" y="2468880"/>
            <a:ext cx="10033711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In a rebuttal you should answer every point they made.</a:t>
            </a:r>
            <a:endParaRPr lang="en-US" sz="1800" dirty="0"/>
          </a:p>
        </p:txBody>
      </p:sp>
      <p:sp>
        <p:nvSpPr>
          <p:cNvPr id="18" name="Shape 13"/>
          <p:cNvSpPr/>
          <p:nvPr/>
        </p:nvSpPr>
        <p:spPr>
          <a:xfrm>
            <a:off x="548640" y="3022092"/>
            <a:ext cx="11094415" cy="489204"/>
          </a:xfrm>
          <a:prstGeom prst="roundRect">
            <a:avLst>
              <a:gd name="adj" fmla="val 26168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749808" y="3065526"/>
            <a:ext cx="402336" cy="402336"/>
          </a:xfrm>
          <a:prstGeom prst="ellipse">
            <a:avLst/>
          </a:prstGeom>
          <a:solidFill>
            <a:srgbClr val="0E7C5A"/>
          </a:solidFill>
          <a:ln/>
        </p:spPr>
      </p:sp>
      <p:sp>
        <p:nvSpPr>
          <p:cNvPr id="20" name="Text 15"/>
          <p:cNvSpPr txBox="1"/>
          <p:nvPr/>
        </p:nvSpPr>
        <p:spPr>
          <a:xfrm>
            <a:off x="749808" y="306552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21" name="Text 16"/>
          <p:cNvSpPr/>
          <p:nvPr/>
        </p:nvSpPr>
        <p:spPr>
          <a:xfrm>
            <a:off x="1353312" y="3076956"/>
            <a:ext cx="10033711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You may narrow the motion in your opening.</a:t>
            </a:r>
            <a:endParaRPr lang="en-US" sz="1800" dirty="0"/>
          </a:p>
        </p:txBody>
      </p:sp>
      <p:sp>
        <p:nvSpPr>
          <p:cNvPr id="22" name="Shape 17"/>
          <p:cNvSpPr/>
          <p:nvPr/>
        </p:nvSpPr>
        <p:spPr>
          <a:xfrm>
            <a:off x="548640" y="3630168"/>
            <a:ext cx="11094415" cy="489204"/>
          </a:xfrm>
          <a:prstGeom prst="roundRect">
            <a:avLst>
              <a:gd name="adj" fmla="val 26168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23" name="Shape 18"/>
          <p:cNvSpPr/>
          <p:nvPr/>
        </p:nvSpPr>
        <p:spPr>
          <a:xfrm>
            <a:off x="749808" y="3673602"/>
            <a:ext cx="402336" cy="402336"/>
          </a:xfrm>
          <a:prstGeom prst="ellipse">
            <a:avLst/>
          </a:prstGeom>
          <a:solidFill>
            <a:srgbClr val="0E7C5A"/>
          </a:solidFill>
          <a:ln/>
        </p:spPr>
      </p:sp>
      <p:sp>
        <p:nvSpPr>
          <p:cNvPr id="24" name="Text 19"/>
          <p:cNvSpPr txBox="1"/>
          <p:nvPr/>
        </p:nvSpPr>
        <p:spPr>
          <a:xfrm>
            <a:off x="749808" y="367360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25" name="Text 20"/>
          <p:cNvSpPr/>
          <p:nvPr/>
        </p:nvSpPr>
        <p:spPr>
          <a:xfrm>
            <a:off x="1353312" y="3685032"/>
            <a:ext cx="10033711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If you don't have a figure, a rough estimate is acceptable.</a:t>
            </a:r>
            <a:endParaRPr lang="en-US" sz="1800" dirty="0"/>
          </a:p>
        </p:txBody>
      </p:sp>
      <p:sp>
        <p:nvSpPr>
          <p:cNvPr id="26" name="Shape 21"/>
          <p:cNvSpPr/>
          <p:nvPr/>
        </p:nvSpPr>
        <p:spPr>
          <a:xfrm>
            <a:off x="548640" y="4238244"/>
            <a:ext cx="11094415" cy="489204"/>
          </a:xfrm>
          <a:prstGeom prst="roundRect">
            <a:avLst>
              <a:gd name="adj" fmla="val 26168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27" name="Shape 22"/>
          <p:cNvSpPr/>
          <p:nvPr/>
        </p:nvSpPr>
        <p:spPr>
          <a:xfrm>
            <a:off x="749808" y="4281678"/>
            <a:ext cx="402336" cy="402336"/>
          </a:xfrm>
          <a:prstGeom prst="ellipse">
            <a:avLst/>
          </a:prstGeom>
          <a:solidFill>
            <a:srgbClr val="0E7C5A"/>
          </a:solidFill>
          <a:ln/>
        </p:spPr>
      </p:sp>
      <p:sp>
        <p:nvSpPr>
          <p:cNvPr id="28" name="Text 23"/>
          <p:cNvSpPr txBox="1"/>
          <p:nvPr/>
        </p:nvSpPr>
        <p:spPr>
          <a:xfrm>
            <a:off x="749808" y="428167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29" name="Text 24"/>
          <p:cNvSpPr/>
          <p:nvPr/>
        </p:nvSpPr>
        <p:spPr>
          <a:xfrm>
            <a:off x="1353312" y="4293108"/>
            <a:ext cx="10033711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A closing may introduce a new argument.</a:t>
            </a:r>
            <a:endParaRPr lang="en-US" sz="1800" dirty="0"/>
          </a:p>
        </p:txBody>
      </p:sp>
      <p:sp>
        <p:nvSpPr>
          <p:cNvPr id="30" name="Shape 25"/>
          <p:cNvSpPr/>
          <p:nvPr/>
        </p:nvSpPr>
        <p:spPr>
          <a:xfrm>
            <a:off x="548640" y="4846320"/>
            <a:ext cx="11094415" cy="489204"/>
          </a:xfrm>
          <a:prstGeom prst="roundRect">
            <a:avLst>
              <a:gd name="adj" fmla="val 26168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31" name="Shape 26"/>
          <p:cNvSpPr/>
          <p:nvPr/>
        </p:nvSpPr>
        <p:spPr>
          <a:xfrm>
            <a:off x="749808" y="4889754"/>
            <a:ext cx="402336" cy="402336"/>
          </a:xfrm>
          <a:prstGeom prst="ellipse">
            <a:avLst/>
          </a:prstGeom>
          <a:solidFill>
            <a:srgbClr val="0E7C5A"/>
          </a:solidFill>
          <a:ln/>
        </p:spPr>
      </p:sp>
      <p:sp>
        <p:nvSpPr>
          <p:cNvPr id="32" name="Text 27"/>
          <p:cNvSpPr txBox="1"/>
          <p:nvPr/>
        </p:nvSpPr>
        <p:spPr>
          <a:xfrm>
            <a:off x="749808" y="488975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33" name="Text 28"/>
          <p:cNvSpPr/>
          <p:nvPr/>
        </p:nvSpPr>
        <p:spPr>
          <a:xfrm>
            <a:off x="1353312" y="4901184"/>
            <a:ext cx="10033711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Conceding a lost point protects your other arguments.</a:t>
            </a:r>
            <a:endParaRPr lang="en-US" sz="1800" dirty="0"/>
          </a:p>
        </p:txBody>
      </p:sp>
      <p:sp>
        <p:nvSpPr>
          <p:cNvPr id="34" name="Shape 29"/>
          <p:cNvSpPr/>
          <p:nvPr/>
        </p:nvSpPr>
        <p:spPr>
          <a:xfrm>
            <a:off x="548640" y="5454396"/>
            <a:ext cx="11094415" cy="489204"/>
          </a:xfrm>
          <a:prstGeom prst="roundRect">
            <a:avLst>
              <a:gd name="adj" fmla="val 26168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35" name="Shape 30"/>
          <p:cNvSpPr/>
          <p:nvPr/>
        </p:nvSpPr>
        <p:spPr>
          <a:xfrm>
            <a:off x="749808" y="5497830"/>
            <a:ext cx="402336" cy="402336"/>
          </a:xfrm>
          <a:prstGeom prst="ellipse">
            <a:avLst/>
          </a:prstGeom>
          <a:solidFill>
            <a:srgbClr val="0E7C5A"/>
          </a:solidFill>
          <a:ln/>
        </p:spPr>
      </p:sp>
      <p:sp>
        <p:nvSpPr>
          <p:cNvPr id="36" name="Text 31"/>
          <p:cNvSpPr txBox="1"/>
          <p:nvPr/>
        </p:nvSpPr>
        <p:spPr>
          <a:xfrm>
            <a:off x="749808" y="549783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500" dirty="0"/>
          </a:p>
        </p:txBody>
      </p:sp>
      <p:sp>
        <p:nvSpPr>
          <p:cNvPr id="37" name="Text 32"/>
          <p:cNvSpPr/>
          <p:nvPr/>
        </p:nvSpPr>
        <p:spPr>
          <a:xfrm>
            <a:off x="1353312" y="5509260"/>
            <a:ext cx="10033711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 Being right is enough to win a debate.</a:t>
            </a:r>
            <a:endParaRPr lang="en-US" sz="1800" dirty="0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38912"/>
            <a:ext cx="2391156" cy="420624"/>
          </a:xfrm>
          <a:prstGeom prst="roundRect">
            <a:avLst>
              <a:gd name="adj" fmla="val 50000"/>
            </a:avLst>
          </a:prstGeom>
          <a:solidFill>
            <a:srgbClr val="0E7C5A"/>
          </a:solidFill>
          <a:ln/>
        </p:spPr>
      </p:sp>
      <p:sp>
        <p:nvSpPr>
          <p:cNvPr id="3" name="Shape 1"/>
          <p:cNvSpPr/>
          <p:nvPr/>
        </p:nvSpPr>
        <p:spPr>
          <a:xfrm>
            <a:off x="649224" y="539496"/>
            <a:ext cx="219456" cy="219456"/>
          </a:xfrm>
          <a:prstGeom prst="ellipse">
            <a:avLst/>
          </a:prstGeom>
          <a:solidFill>
            <a:srgbClr val="0E7C5A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" y="539496"/>
            <a:ext cx="219456" cy="21945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932688" y="438912"/>
            <a:ext cx="18973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EXERCISE G · MEDIUM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896112"/>
            <a:ext cx="10972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Exercise G — short answer</a:t>
            </a:r>
            <a:endParaRPr lang="en-US" sz="38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6144768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50" kern="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4 · Advanced Spoken English · Module 3 — Debate &amp; Persuasion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10607040" y="6144768"/>
            <a:ext cx="1033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57</a:t>
            </a:r>
            <a:endParaRPr lang="en-US" sz="1100" dirty="0"/>
          </a:p>
        </p:txBody>
      </p:sp>
      <p:sp>
        <p:nvSpPr>
          <p:cNvPr id="10" name="Shape 6"/>
          <p:cNvSpPr/>
          <p:nvPr/>
        </p:nvSpPr>
        <p:spPr>
          <a:xfrm>
            <a:off x="548640" y="1700784"/>
            <a:ext cx="11094415" cy="566928"/>
          </a:xfrm>
          <a:prstGeom prst="roundRect">
            <a:avLst>
              <a:gd name="adj" fmla="val 22581"/>
            </a:avLst>
          </a:prstGeom>
          <a:solidFill>
            <a:srgbClr val="EDF0FD"/>
          </a:solidFill>
          <a:ln w="12700">
            <a:solidFill>
              <a:srgbClr val="0E7C5A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749808" y="1810512"/>
            <a:ext cx="347472" cy="347472"/>
          </a:xfrm>
          <a:prstGeom prst="ellipse">
            <a:avLst/>
          </a:prstGeom>
          <a:solidFill>
            <a:srgbClr val="0E7C5A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676" y="1897380"/>
            <a:ext cx="173736" cy="173736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1207008" y="1700784"/>
            <a:ext cx="10198303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a complete sentence for each question.</a:t>
            </a:r>
            <a:endParaRPr lang="en-US" sz="1700" dirty="0"/>
          </a:p>
        </p:txBody>
      </p:sp>
      <p:sp>
        <p:nvSpPr>
          <p:cNvPr id="14" name="Shape 9"/>
          <p:cNvSpPr/>
          <p:nvPr/>
        </p:nvSpPr>
        <p:spPr>
          <a:xfrm>
            <a:off x="548640" y="2414016"/>
            <a:ext cx="11094415" cy="610819"/>
          </a:xfrm>
          <a:prstGeom prst="roundRect">
            <a:avLst>
              <a:gd name="adj" fmla="val 20958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15" name="Shape 10"/>
          <p:cNvSpPr/>
          <p:nvPr/>
        </p:nvSpPr>
        <p:spPr>
          <a:xfrm>
            <a:off x="749808" y="2518258"/>
            <a:ext cx="402336" cy="402336"/>
          </a:xfrm>
          <a:prstGeom prst="ellipse">
            <a:avLst/>
          </a:prstGeom>
          <a:solidFill>
            <a:srgbClr val="0E7C5A"/>
          </a:solidFill>
          <a:ln/>
        </p:spPr>
      </p:sp>
      <p:sp>
        <p:nvSpPr>
          <p:cNvPr id="16" name="Text 11"/>
          <p:cNvSpPr txBox="1"/>
          <p:nvPr/>
        </p:nvSpPr>
        <p:spPr>
          <a:xfrm>
            <a:off x="749808" y="251825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17" name="Text 12"/>
          <p:cNvSpPr/>
          <p:nvPr/>
        </p:nvSpPr>
        <p:spPr>
          <a:xfrm>
            <a:off x="1353312" y="2468880"/>
            <a:ext cx="10033711" cy="5010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State your narrowed position in one sentence.</a:t>
            </a:r>
            <a:endParaRPr lang="en-US" sz="1800" dirty="0"/>
          </a:p>
        </p:txBody>
      </p:sp>
      <p:sp>
        <p:nvSpPr>
          <p:cNvPr id="18" name="Shape 13"/>
          <p:cNvSpPr/>
          <p:nvPr/>
        </p:nvSpPr>
        <p:spPr>
          <a:xfrm>
            <a:off x="548640" y="3143707"/>
            <a:ext cx="11094415" cy="610819"/>
          </a:xfrm>
          <a:prstGeom prst="roundRect">
            <a:avLst>
              <a:gd name="adj" fmla="val 20958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749808" y="3247949"/>
            <a:ext cx="402336" cy="402336"/>
          </a:xfrm>
          <a:prstGeom prst="ellipse">
            <a:avLst/>
          </a:prstGeom>
          <a:solidFill>
            <a:srgbClr val="0E7C5A"/>
          </a:solidFill>
          <a:ln/>
        </p:spPr>
      </p:sp>
      <p:sp>
        <p:nvSpPr>
          <p:cNvPr id="20" name="Text 15"/>
          <p:cNvSpPr txBox="1"/>
          <p:nvPr/>
        </p:nvSpPr>
        <p:spPr>
          <a:xfrm>
            <a:off x="749808" y="3247949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21" name="Text 16"/>
          <p:cNvSpPr/>
          <p:nvPr/>
        </p:nvSpPr>
        <p:spPr>
          <a:xfrm>
            <a:off x="1353312" y="3198571"/>
            <a:ext cx="10033711" cy="5010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What are your three lines of argument?</a:t>
            </a:r>
            <a:endParaRPr lang="en-US" sz="1800" dirty="0"/>
          </a:p>
        </p:txBody>
      </p:sp>
      <p:sp>
        <p:nvSpPr>
          <p:cNvPr id="22" name="Shape 17"/>
          <p:cNvSpPr/>
          <p:nvPr/>
        </p:nvSpPr>
        <p:spPr>
          <a:xfrm>
            <a:off x="548640" y="3873398"/>
            <a:ext cx="11094415" cy="610819"/>
          </a:xfrm>
          <a:prstGeom prst="roundRect">
            <a:avLst>
              <a:gd name="adj" fmla="val 20958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23" name="Shape 18"/>
          <p:cNvSpPr/>
          <p:nvPr/>
        </p:nvSpPr>
        <p:spPr>
          <a:xfrm>
            <a:off x="749808" y="3977640"/>
            <a:ext cx="402336" cy="402336"/>
          </a:xfrm>
          <a:prstGeom prst="ellipse">
            <a:avLst/>
          </a:prstGeom>
          <a:solidFill>
            <a:srgbClr val="0E7C5A"/>
          </a:solidFill>
          <a:ln/>
        </p:spPr>
      </p:sp>
      <p:sp>
        <p:nvSpPr>
          <p:cNvPr id="24" name="Text 19"/>
          <p:cNvSpPr txBox="1"/>
          <p:nvPr/>
        </p:nvSpPr>
        <p:spPr>
          <a:xfrm>
            <a:off x="749808" y="397764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25" name="Text 20"/>
          <p:cNvSpPr/>
          <p:nvPr/>
        </p:nvSpPr>
        <p:spPr>
          <a:xfrm>
            <a:off x="1353312" y="3928262"/>
            <a:ext cx="10033711" cy="5010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What is your one number and your one phrase?</a:t>
            </a:r>
            <a:endParaRPr lang="en-US" sz="1800" dirty="0"/>
          </a:p>
        </p:txBody>
      </p:sp>
      <p:sp>
        <p:nvSpPr>
          <p:cNvPr id="26" name="Shape 21"/>
          <p:cNvSpPr/>
          <p:nvPr/>
        </p:nvSpPr>
        <p:spPr>
          <a:xfrm>
            <a:off x="548640" y="4603090"/>
            <a:ext cx="11094415" cy="610819"/>
          </a:xfrm>
          <a:prstGeom prst="roundRect">
            <a:avLst>
              <a:gd name="adj" fmla="val 20958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27" name="Shape 22"/>
          <p:cNvSpPr/>
          <p:nvPr/>
        </p:nvSpPr>
        <p:spPr>
          <a:xfrm>
            <a:off x="749808" y="4707331"/>
            <a:ext cx="402336" cy="402336"/>
          </a:xfrm>
          <a:prstGeom prst="ellipse">
            <a:avLst/>
          </a:prstGeom>
          <a:solidFill>
            <a:srgbClr val="0E7C5A"/>
          </a:solidFill>
          <a:ln/>
        </p:spPr>
      </p:sp>
      <p:sp>
        <p:nvSpPr>
          <p:cNvPr id="28" name="Text 23"/>
          <p:cNvSpPr txBox="1"/>
          <p:nvPr/>
        </p:nvSpPr>
        <p:spPr>
          <a:xfrm>
            <a:off x="749808" y="4707331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29" name="Text 24"/>
          <p:cNvSpPr/>
          <p:nvPr/>
        </p:nvSpPr>
        <p:spPr>
          <a:xfrm>
            <a:off x="1353312" y="4657954"/>
            <a:ext cx="10033711" cy="5010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What is the load-bearing point of the other side?</a:t>
            </a:r>
            <a:endParaRPr lang="en-US" sz="1800" dirty="0"/>
          </a:p>
        </p:txBody>
      </p:sp>
      <p:sp>
        <p:nvSpPr>
          <p:cNvPr id="30" name="Shape 25"/>
          <p:cNvSpPr/>
          <p:nvPr/>
        </p:nvSpPr>
        <p:spPr>
          <a:xfrm>
            <a:off x="548640" y="5332781"/>
            <a:ext cx="11094415" cy="610819"/>
          </a:xfrm>
          <a:prstGeom prst="roundRect">
            <a:avLst>
              <a:gd name="adj" fmla="val 20958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31" name="Shape 26"/>
          <p:cNvSpPr/>
          <p:nvPr/>
        </p:nvSpPr>
        <p:spPr>
          <a:xfrm>
            <a:off x="749808" y="5437022"/>
            <a:ext cx="402336" cy="402336"/>
          </a:xfrm>
          <a:prstGeom prst="ellipse">
            <a:avLst/>
          </a:prstGeom>
          <a:solidFill>
            <a:srgbClr val="0E7C5A"/>
          </a:solidFill>
          <a:ln/>
        </p:spPr>
      </p:sp>
      <p:sp>
        <p:nvSpPr>
          <p:cNvPr id="32" name="Text 27"/>
          <p:cNvSpPr txBox="1"/>
          <p:nvPr/>
        </p:nvSpPr>
        <p:spPr>
          <a:xfrm>
            <a:off x="749808" y="543702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33" name="Text 28"/>
          <p:cNvSpPr/>
          <p:nvPr/>
        </p:nvSpPr>
        <p:spPr>
          <a:xfrm>
            <a:off x="1353312" y="5387645"/>
            <a:ext cx="10033711" cy="5010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What are you prepared to concede, and what does it leave standing?</a:t>
            </a:r>
            <a:endParaRPr lang="en-US" sz="1800" dirty="0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38912"/>
            <a:ext cx="2391156" cy="420624"/>
          </a:xfrm>
          <a:prstGeom prst="roundRect">
            <a:avLst>
              <a:gd name="adj" fmla="val 50000"/>
            </a:avLst>
          </a:prstGeom>
          <a:solidFill>
            <a:srgbClr val="0E7C5A"/>
          </a:solidFill>
          <a:ln/>
        </p:spPr>
      </p:sp>
      <p:sp>
        <p:nvSpPr>
          <p:cNvPr id="3" name="Shape 1"/>
          <p:cNvSpPr/>
          <p:nvPr/>
        </p:nvSpPr>
        <p:spPr>
          <a:xfrm>
            <a:off x="649224" y="539496"/>
            <a:ext cx="219456" cy="219456"/>
          </a:xfrm>
          <a:prstGeom prst="ellipse">
            <a:avLst/>
          </a:prstGeom>
          <a:solidFill>
            <a:srgbClr val="0E7C5A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" y="539496"/>
            <a:ext cx="219456" cy="21945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932688" y="438912"/>
            <a:ext cx="18973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EXERCISE H · MEDIUM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896112"/>
            <a:ext cx="10972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Exercise H — speaking tasks</a:t>
            </a:r>
            <a:endParaRPr lang="en-US" sz="38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536192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Assigned sides. No choosing.</a:t>
            </a:r>
            <a:endParaRPr lang="en-US" sz="165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6144768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50" kern="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4 · Advanced Spoken English · Module 3 — Debate &amp; Persuasion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10607040" y="6144768"/>
            <a:ext cx="1033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58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548640" y="1883664"/>
            <a:ext cx="11094415" cy="566928"/>
          </a:xfrm>
          <a:prstGeom prst="roundRect">
            <a:avLst>
              <a:gd name="adj" fmla="val 22581"/>
            </a:avLst>
          </a:prstGeom>
          <a:solidFill>
            <a:srgbClr val="FDEDE8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749808" y="1993392"/>
            <a:ext cx="347472" cy="347472"/>
          </a:xfrm>
          <a:prstGeom prst="ellipse">
            <a:avLst/>
          </a:prstGeom>
          <a:solidFill>
            <a:srgbClr val="E4572E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676" y="2080260"/>
            <a:ext cx="173736" cy="173736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1207008" y="1883664"/>
            <a:ext cx="10198303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Speak. Your partner checks against the stage rules.</a:t>
            </a:r>
            <a:endParaRPr lang="en-US" sz="1700" dirty="0"/>
          </a:p>
        </p:txBody>
      </p:sp>
      <p:sp>
        <p:nvSpPr>
          <p:cNvPr id="15" name="Shape 10"/>
          <p:cNvSpPr/>
          <p:nvPr/>
        </p:nvSpPr>
        <p:spPr>
          <a:xfrm>
            <a:off x="548640" y="2596896"/>
            <a:ext cx="11094415" cy="747522"/>
          </a:xfrm>
          <a:prstGeom prst="roundRect">
            <a:avLst>
              <a:gd name="adj" fmla="val 17125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16" name="Shape 11"/>
          <p:cNvSpPr/>
          <p:nvPr/>
        </p:nvSpPr>
        <p:spPr>
          <a:xfrm>
            <a:off x="749808" y="2769489"/>
            <a:ext cx="402336" cy="402336"/>
          </a:xfrm>
          <a:prstGeom prst="ellipse">
            <a:avLst/>
          </a:prstGeom>
          <a:solidFill>
            <a:srgbClr val="E4572E"/>
          </a:solidFill>
          <a:ln/>
        </p:spPr>
      </p:sp>
      <p:sp>
        <p:nvSpPr>
          <p:cNvPr id="17" name="Text 12"/>
          <p:cNvSpPr txBox="1"/>
          <p:nvPr/>
        </p:nvSpPr>
        <p:spPr>
          <a:xfrm>
            <a:off x="749808" y="2769489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1353312" y="2651760"/>
            <a:ext cx="10033711" cy="6377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9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90-second opening: narrowed position, three previewed lines.</a:t>
            </a:r>
            <a:endParaRPr lang="en-US" sz="1900" dirty="0"/>
          </a:p>
        </p:txBody>
      </p:sp>
      <p:sp>
        <p:nvSpPr>
          <p:cNvPr id="19" name="Shape 14"/>
          <p:cNvSpPr/>
          <p:nvPr/>
        </p:nvSpPr>
        <p:spPr>
          <a:xfrm>
            <a:off x="548640" y="3463290"/>
            <a:ext cx="11094415" cy="747522"/>
          </a:xfrm>
          <a:prstGeom prst="roundRect">
            <a:avLst>
              <a:gd name="adj" fmla="val 17125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749808" y="3635883"/>
            <a:ext cx="402336" cy="402336"/>
          </a:xfrm>
          <a:prstGeom prst="ellipse">
            <a:avLst/>
          </a:prstGeom>
          <a:solidFill>
            <a:srgbClr val="E4572E"/>
          </a:solidFill>
          <a:ln/>
        </p:spPr>
      </p:sp>
      <p:sp>
        <p:nvSpPr>
          <p:cNvPr id="21" name="Text 16"/>
          <p:cNvSpPr txBox="1"/>
          <p:nvPr/>
        </p:nvSpPr>
        <p:spPr>
          <a:xfrm>
            <a:off x="749808" y="3635883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22" name="Text 17"/>
          <p:cNvSpPr/>
          <p:nvPr/>
        </p:nvSpPr>
        <p:spPr>
          <a:xfrm>
            <a:off x="1353312" y="3518154"/>
            <a:ext cx="10033711" cy="6377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9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60-second rebuttal: one target, four steps.</a:t>
            </a:r>
            <a:endParaRPr lang="en-US" sz="1900" dirty="0"/>
          </a:p>
        </p:txBody>
      </p:sp>
      <p:sp>
        <p:nvSpPr>
          <p:cNvPr id="23" name="Shape 18"/>
          <p:cNvSpPr/>
          <p:nvPr/>
        </p:nvSpPr>
        <p:spPr>
          <a:xfrm>
            <a:off x="548640" y="4329684"/>
            <a:ext cx="11094415" cy="747522"/>
          </a:xfrm>
          <a:prstGeom prst="roundRect">
            <a:avLst>
              <a:gd name="adj" fmla="val 17125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24" name="Shape 19"/>
          <p:cNvSpPr/>
          <p:nvPr/>
        </p:nvSpPr>
        <p:spPr>
          <a:xfrm>
            <a:off x="749808" y="4502277"/>
            <a:ext cx="402336" cy="402336"/>
          </a:xfrm>
          <a:prstGeom prst="ellipse">
            <a:avLst/>
          </a:prstGeom>
          <a:solidFill>
            <a:srgbClr val="E4572E"/>
          </a:solidFill>
          <a:ln/>
        </p:spPr>
      </p:sp>
      <p:sp>
        <p:nvSpPr>
          <p:cNvPr id="25" name="Text 20"/>
          <p:cNvSpPr txBox="1"/>
          <p:nvPr/>
        </p:nvSpPr>
        <p:spPr>
          <a:xfrm>
            <a:off x="749808" y="4502277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26" name="Text 21"/>
          <p:cNvSpPr/>
          <p:nvPr/>
        </p:nvSpPr>
        <p:spPr>
          <a:xfrm>
            <a:off x="1353312" y="4384548"/>
            <a:ext cx="10033711" cy="6377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9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Three hard questions, three different techniques.</a:t>
            </a:r>
            <a:endParaRPr lang="en-US" sz="1900" dirty="0"/>
          </a:p>
        </p:txBody>
      </p:sp>
      <p:sp>
        <p:nvSpPr>
          <p:cNvPr id="27" name="Shape 22"/>
          <p:cNvSpPr/>
          <p:nvPr/>
        </p:nvSpPr>
        <p:spPr>
          <a:xfrm>
            <a:off x="548640" y="5196078"/>
            <a:ext cx="11094415" cy="747522"/>
          </a:xfrm>
          <a:prstGeom prst="roundRect">
            <a:avLst>
              <a:gd name="adj" fmla="val 17125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28" name="Shape 23"/>
          <p:cNvSpPr/>
          <p:nvPr/>
        </p:nvSpPr>
        <p:spPr>
          <a:xfrm>
            <a:off x="749808" y="5368671"/>
            <a:ext cx="402336" cy="402336"/>
          </a:xfrm>
          <a:prstGeom prst="ellipse">
            <a:avLst/>
          </a:prstGeom>
          <a:solidFill>
            <a:srgbClr val="E4572E"/>
          </a:solidFill>
          <a:ln/>
        </p:spPr>
      </p:sp>
      <p:sp>
        <p:nvSpPr>
          <p:cNvPr id="29" name="Text 24"/>
          <p:cNvSpPr txBox="1"/>
          <p:nvPr/>
        </p:nvSpPr>
        <p:spPr>
          <a:xfrm>
            <a:off x="749808" y="5368671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30" name="Text 25"/>
          <p:cNvSpPr/>
          <p:nvPr/>
        </p:nvSpPr>
        <p:spPr>
          <a:xfrm>
            <a:off x="1353312" y="5250942"/>
            <a:ext cx="10033711" cy="6377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9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60-second closing: one number, one phrase, no new arguments.</a:t>
            </a:r>
            <a:endParaRPr lang="en-US" sz="1900" dirty="0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38912"/>
            <a:ext cx="2679192" cy="420624"/>
          </a:xfrm>
          <a:prstGeom prst="roundRect">
            <a:avLst>
              <a:gd name="adj" fmla="val 50000"/>
            </a:avLst>
          </a:prstGeom>
          <a:solidFill>
            <a:srgbClr val="0E7C5A"/>
          </a:solidFill>
          <a:ln/>
        </p:spPr>
      </p:sp>
      <p:sp>
        <p:nvSpPr>
          <p:cNvPr id="3" name="Shape 1"/>
          <p:cNvSpPr/>
          <p:nvPr/>
        </p:nvSpPr>
        <p:spPr>
          <a:xfrm>
            <a:off x="649224" y="539496"/>
            <a:ext cx="219456" cy="219456"/>
          </a:xfrm>
          <a:prstGeom prst="ellipse">
            <a:avLst/>
          </a:prstGeom>
          <a:solidFill>
            <a:srgbClr val="0E7C5A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" y="539496"/>
            <a:ext cx="219456" cy="21945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932688" y="438912"/>
            <a:ext cx="21854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EXERCISE I · DIFFICULT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896112"/>
            <a:ext cx="10972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Exercise I — the full debate</a:t>
            </a:r>
            <a:endParaRPr lang="en-US" sz="38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6144768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50" kern="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4 · Advanced Spoken English · Module 3 — Debate &amp; Persuasion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10607040" y="6144768"/>
            <a:ext cx="1033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59</a:t>
            </a:r>
            <a:endParaRPr lang="en-US" sz="1100" dirty="0"/>
          </a:p>
        </p:txBody>
      </p:sp>
      <p:sp>
        <p:nvSpPr>
          <p:cNvPr id="10" name="Shape 6"/>
          <p:cNvSpPr/>
          <p:nvPr/>
        </p:nvSpPr>
        <p:spPr>
          <a:xfrm>
            <a:off x="548640" y="1700784"/>
            <a:ext cx="11094415" cy="566928"/>
          </a:xfrm>
          <a:prstGeom prst="roundRect">
            <a:avLst>
              <a:gd name="adj" fmla="val 22581"/>
            </a:avLst>
          </a:prstGeom>
          <a:solidFill>
            <a:srgbClr val="EDF0FD"/>
          </a:solidFill>
          <a:ln w="12700">
            <a:solidFill>
              <a:srgbClr val="0E7C5A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749808" y="1810512"/>
            <a:ext cx="347472" cy="347472"/>
          </a:xfrm>
          <a:prstGeom prst="ellipse">
            <a:avLst/>
          </a:prstGeom>
          <a:solidFill>
            <a:srgbClr val="0E7C5A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676" y="1897380"/>
            <a:ext cx="173736" cy="173736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1207008" y="1700784"/>
            <a:ext cx="10198303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fours: two speakers, two judges. Then swap.</a:t>
            </a:r>
            <a:endParaRPr lang="en-US" sz="1700" dirty="0"/>
          </a:p>
        </p:txBody>
      </p:sp>
      <p:sp>
        <p:nvSpPr>
          <p:cNvPr id="14" name="Shape 9"/>
          <p:cNvSpPr/>
          <p:nvPr/>
        </p:nvSpPr>
        <p:spPr>
          <a:xfrm>
            <a:off x="548640" y="2414016"/>
            <a:ext cx="11094415" cy="610819"/>
          </a:xfrm>
          <a:prstGeom prst="roundRect">
            <a:avLst>
              <a:gd name="adj" fmla="val 20958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15" name="Shape 10"/>
          <p:cNvSpPr/>
          <p:nvPr/>
        </p:nvSpPr>
        <p:spPr>
          <a:xfrm>
            <a:off x="749808" y="2518258"/>
            <a:ext cx="402336" cy="402336"/>
          </a:xfrm>
          <a:prstGeom prst="ellipse">
            <a:avLst/>
          </a:prstGeom>
          <a:solidFill>
            <a:srgbClr val="0E7C5A"/>
          </a:solidFill>
          <a:ln/>
        </p:spPr>
      </p:sp>
      <p:sp>
        <p:nvSpPr>
          <p:cNvPr id="16" name="Text 11"/>
          <p:cNvSpPr txBox="1"/>
          <p:nvPr/>
        </p:nvSpPr>
        <p:spPr>
          <a:xfrm>
            <a:off x="749808" y="251825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17" name="Text 12"/>
          <p:cNvSpPr/>
          <p:nvPr/>
        </p:nvSpPr>
        <p:spPr>
          <a:xfrm>
            <a:off x="1353312" y="2468880"/>
            <a:ext cx="10033711" cy="5010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5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Draw your side. You have five minutes to prepare.</a:t>
            </a:r>
            <a:endParaRPr lang="en-US" sz="1500" dirty="0"/>
          </a:p>
          <a:p>
            <a:pPr indent="0" marL="0">
              <a:lnSpc>
                <a:spcPct val="102000"/>
              </a:lnSpc>
              <a:spcBef>
                <a:spcPts val="265"/>
              </a:spcBef>
              <a:buNone/>
            </a:pPr>
            <a:r>
              <a:rPr lang="en-US" sz="115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prepared both at home.</a:t>
            </a:r>
            <a:endParaRPr lang="en-US" sz="1500" dirty="0"/>
          </a:p>
        </p:txBody>
      </p:sp>
      <p:sp>
        <p:nvSpPr>
          <p:cNvPr id="18" name="Shape 13"/>
          <p:cNvSpPr/>
          <p:nvPr/>
        </p:nvSpPr>
        <p:spPr>
          <a:xfrm>
            <a:off x="548640" y="3143707"/>
            <a:ext cx="11094415" cy="610819"/>
          </a:xfrm>
          <a:prstGeom prst="roundRect">
            <a:avLst>
              <a:gd name="adj" fmla="val 20958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749808" y="3247949"/>
            <a:ext cx="402336" cy="402336"/>
          </a:xfrm>
          <a:prstGeom prst="ellipse">
            <a:avLst/>
          </a:prstGeom>
          <a:solidFill>
            <a:srgbClr val="0E7C5A"/>
          </a:solidFill>
          <a:ln/>
        </p:spPr>
      </p:sp>
      <p:sp>
        <p:nvSpPr>
          <p:cNvPr id="20" name="Text 15"/>
          <p:cNvSpPr txBox="1"/>
          <p:nvPr/>
        </p:nvSpPr>
        <p:spPr>
          <a:xfrm>
            <a:off x="749808" y="3247949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21" name="Text 16"/>
          <p:cNvSpPr/>
          <p:nvPr/>
        </p:nvSpPr>
        <p:spPr>
          <a:xfrm>
            <a:off x="1353312" y="3198571"/>
            <a:ext cx="10033711" cy="5010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5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Opening 90s · rebuttal 60s · questions · closing 60s.</a:t>
            </a:r>
            <a:endParaRPr lang="en-US" sz="1500" dirty="0"/>
          </a:p>
          <a:p>
            <a:pPr indent="0" marL="0">
              <a:lnSpc>
                <a:spcPct val="102000"/>
              </a:lnSpc>
              <a:spcBef>
                <a:spcPts val="265"/>
              </a:spcBef>
              <a:buNone/>
            </a:pPr>
            <a:r>
              <a:rPr lang="en-US" sz="115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Strict timing.</a:t>
            </a:r>
            <a:endParaRPr lang="en-US" sz="1500" dirty="0"/>
          </a:p>
        </p:txBody>
      </p:sp>
      <p:sp>
        <p:nvSpPr>
          <p:cNvPr id="22" name="Shape 17"/>
          <p:cNvSpPr/>
          <p:nvPr/>
        </p:nvSpPr>
        <p:spPr>
          <a:xfrm>
            <a:off x="548640" y="3873398"/>
            <a:ext cx="11094415" cy="610819"/>
          </a:xfrm>
          <a:prstGeom prst="roundRect">
            <a:avLst>
              <a:gd name="adj" fmla="val 20958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23" name="Shape 18"/>
          <p:cNvSpPr/>
          <p:nvPr/>
        </p:nvSpPr>
        <p:spPr>
          <a:xfrm>
            <a:off x="749808" y="3977640"/>
            <a:ext cx="402336" cy="402336"/>
          </a:xfrm>
          <a:prstGeom prst="ellipse">
            <a:avLst/>
          </a:prstGeom>
          <a:solidFill>
            <a:srgbClr val="0E7C5A"/>
          </a:solidFill>
          <a:ln/>
        </p:spPr>
      </p:sp>
      <p:sp>
        <p:nvSpPr>
          <p:cNvPr id="24" name="Text 19"/>
          <p:cNvSpPr txBox="1"/>
          <p:nvPr/>
        </p:nvSpPr>
        <p:spPr>
          <a:xfrm>
            <a:off x="749808" y="397764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25" name="Text 20"/>
          <p:cNvSpPr/>
          <p:nvPr/>
        </p:nvSpPr>
        <p:spPr>
          <a:xfrm>
            <a:off x="1353312" y="3928262"/>
            <a:ext cx="10033711" cy="5010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5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Judges score on the four questions from slide 40.</a:t>
            </a:r>
            <a:endParaRPr lang="en-US" sz="1500" dirty="0"/>
          </a:p>
          <a:p>
            <a:pPr indent="0" marL="0">
              <a:lnSpc>
                <a:spcPct val="102000"/>
              </a:lnSpc>
              <a:spcBef>
                <a:spcPts val="265"/>
              </a:spcBef>
              <a:buNone/>
            </a:pPr>
            <a:r>
              <a:rPr lang="en-US" sz="115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Claim, evidence, premise, concession.</a:t>
            </a:r>
            <a:endParaRPr lang="en-US" sz="1500" dirty="0"/>
          </a:p>
        </p:txBody>
      </p:sp>
      <p:sp>
        <p:nvSpPr>
          <p:cNvPr id="26" name="Shape 21"/>
          <p:cNvSpPr/>
          <p:nvPr/>
        </p:nvSpPr>
        <p:spPr>
          <a:xfrm>
            <a:off x="548640" y="4603090"/>
            <a:ext cx="11094415" cy="610819"/>
          </a:xfrm>
          <a:prstGeom prst="roundRect">
            <a:avLst>
              <a:gd name="adj" fmla="val 20958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27" name="Shape 22"/>
          <p:cNvSpPr/>
          <p:nvPr/>
        </p:nvSpPr>
        <p:spPr>
          <a:xfrm>
            <a:off x="749808" y="4707331"/>
            <a:ext cx="402336" cy="402336"/>
          </a:xfrm>
          <a:prstGeom prst="ellipse">
            <a:avLst/>
          </a:prstGeom>
          <a:solidFill>
            <a:srgbClr val="0E7C5A"/>
          </a:solidFill>
          <a:ln/>
        </p:spPr>
      </p:sp>
      <p:sp>
        <p:nvSpPr>
          <p:cNvPr id="28" name="Text 23"/>
          <p:cNvSpPr txBox="1"/>
          <p:nvPr/>
        </p:nvSpPr>
        <p:spPr>
          <a:xfrm>
            <a:off x="749808" y="4707331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29" name="Text 24"/>
          <p:cNvSpPr/>
          <p:nvPr/>
        </p:nvSpPr>
        <p:spPr>
          <a:xfrm>
            <a:off x="1353312" y="4657954"/>
            <a:ext cx="10033711" cy="5010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5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Judges vote twice: most convincing, and most correct.</a:t>
            </a:r>
            <a:endParaRPr lang="en-US" sz="1500" dirty="0"/>
          </a:p>
          <a:p>
            <a:pPr indent="0" marL="0">
              <a:lnSpc>
                <a:spcPct val="102000"/>
              </a:lnSpc>
              <a:spcBef>
                <a:spcPts val="265"/>
              </a:spcBef>
              <a:buNone/>
            </a:pPr>
            <a:r>
              <a:rPr lang="en-US" sz="115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often differ.</a:t>
            </a:r>
            <a:endParaRPr lang="en-US" sz="1500" dirty="0"/>
          </a:p>
        </p:txBody>
      </p:sp>
      <p:sp>
        <p:nvSpPr>
          <p:cNvPr id="30" name="Shape 25"/>
          <p:cNvSpPr/>
          <p:nvPr/>
        </p:nvSpPr>
        <p:spPr>
          <a:xfrm>
            <a:off x="548640" y="5332781"/>
            <a:ext cx="11094415" cy="610819"/>
          </a:xfrm>
          <a:prstGeom prst="roundRect">
            <a:avLst>
              <a:gd name="adj" fmla="val 20958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31" name="Shape 26"/>
          <p:cNvSpPr/>
          <p:nvPr/>
        </p:nvSpPr>
        <p:spPr>
          <a:xfrm>
            <a:off x="749808" y="5437022"/>
            <a:ext cx="402336" cy="402336"/>
          </a:xfrm>
          <a:prstGeom prst="ellipse">
            <a:avLst/>
          </a:prstGeom>
          <a:solidFill>
            <a:srgbClr val="0E7C5A"/>
          </a:solidFill>
          <a:ln/>
        </p:spPr>
      </p:sp>
      <p:sp>
        <p:nvSpPr>
          <p:cNvPr id="32" name="Text 27"/>
          <p:cNvSpPr txBox="1"/>
          <p:nvPr/>
        </p:nvSpPr>
        <p:spPr>
          <a:xfrm>
            <a:off x="749808" y="543702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33" name="Text 28"/>
          <p:cNvSpPr/>
          <p:nvPr/>
        </p:nvSpPr>
        <p:spPr>
          <a:xfrm>
            <a:off x="1353312" y="5387645"/>
            <a:ext cx="10033711" cy="5010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5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Swap sides and run it again.</a:t>
            </a:r>
            <a:endParaRPr lang="en-US" sz="1500" dirty="0"/>
          </a:p>
          <a:p>
            <a:pPr indent="0" marL="0">
              <a:lnSpc>
                <a:spcPct val="102000"/>
              </a:lnSpc>
              <a:spcBef>
                <a:spcPts val="265"/>
              </a:spcBef>
              <a:buNone/>
            </a:pPr>
            <a:r>
              <a:rPr lang="en-US" sz="115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motion, opposite side.</a:t>
            </a:r>
            <a:endParaRPr lang="en-US" sz="1500" dirty="0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38912"/>
            <a:ext cx="2679192" cy="420624"/>
          </a:xfrm>
          <a:prstGeom prst="roundRect">
            <a:avLst>
              <a:gd name="adj" fmla="val 50000"/>
            </a:avLst>
          </a:prstGeom>
          <a:solidFill>
            <a:srgbClr val="0E7C5A"/>
          </a:solidFill>
          <a:ln/>
        </p:spPr>
      </p:sp>
      <p:sp>
        <p:nvSpPr>
          <p:cNvPr id="3" name="Shape 1"/>
          <p:cNvSpPr/>
          <p:nvPr/>
        </p:nvSpPr>
        <p:spPr>
          <a:xfrm>
            <a:off x="649224" y="539496"/>
            <a:ext cx="219456" cy="219456"/>
          </a:xfrm>
          <a:prstGeom prst="ellipse">
            <a:avLst/>
          </a:prstGeom>
          <a:solidFill>
            <a:srgbClr val="0E7C5A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" y="539496"/>
            <a:ext cx="219456" cy="21945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932688" y="438912"/>
            <a:ext cx="21854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EXERCISE J · DIFFICULT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896112"/>
            <a:ext cx="10972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Exercise J — think and explain</a:t>
            </a:r>
            <a:endParaRPr lang="en-US" sz="38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536192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There is no single right answer. Explain your thinking.</a:t>
            </a:r>
            <a:endParaRPr lang="en-US" sz="165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6144768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50" kern="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4 · Advanced Spoken English · Module 3 — Debate &amp; Persuasion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10607040" y="6144768"/>
            <a:ext cx="1033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548640" y="1883664"/>
            <a:ext cx="11094415" cy="566928"/>
          </a:xfrm>
          <a:prstGeom prst="roundRect">
            <a:avLst>
              <a:gd name="adj" fmla="val 22581"/>
            </a:avLst>
          </a:prstGeom>
          <a:solidFill>
            <a:srgbClr val="EDF0FD"/>
          </a:solidFill>
          <a:ln w="12700">
            <a:solidFill>
              <a:srgbClr val="0E7C5A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749808" y="1993392"/>
            <a:ext cx="347472" cy="347472"/>
          </a:xfrm>
          <a:prstGeom prst="ellipse">
            <a:avLst/>
          </a:prstGeom>
          <a:solidFill>
            <a:srgbClr val="0E7C5A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676" y="2080260"/>
            <a:ext cx="173736" cy="173736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1207008" y="1883664"/>
            <a:ext cx="10198303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in English. These test understanding, not memory.</a:t>
            </a:r>
            <a:endParaRPr lang="en-US" sz="1700" dirty="0"/>
          </a:p>
        </p:txBody>
      </p:sp>
      <p:sp>
        <p:nvSpPr>
          <p:cNvPr id="15" name="Shape 10"/>
          <p:cNvSpPr/>
          <p:nvPr/>
        </p:nvSpPr>
        <p:spPr>
          <a:xfrm>
            <a:off x="548640" y="2596896"/>
            <a:ext cx="11094415" cy="747522"/>
          </a:xfrm>
          <a:prstGeom prst="roundRect">
            <a:avLst>
              <a:gd name="adj" fmla="val 17125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16" name="Shape 11"/>
          <p:cNvSpPr/>
          <p:nvPr/>
        </p:nvSpPr>
        <p:spPr>
          <a:xfrm>
            <a:off x="749808" y="2769489"/>
            <a:ext cx="402336" cy="402336"/>
          </a:xfrm>
          <a:prstGeom prst="ellipse">
            <a:avLst/>
          </a:prstGeom>
          <a:solidFill>
            <a:srgbClr val="0E7C5A"/>
          </a:solidFill>
          <a:ln/>
        </p:spPr>
      </p:sp>
      <p:sp>
        <p:nvSpPr>
          <p:cNvPr id="17" name="Text 12"/>
          <p:cNvSpPr txBox="1"/>
          <p:nvPr/>
        </p:nvSpPr>
        <p:spPr>
          <a:xfrm>
            <a:off x="749808" y="2769489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1353312" y="2651760"/>
            <a:ext cx="10033711" cy="6377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7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Is it dishonest to argue a side you don't believe?</a:t>
            </a:r>
            <a:endParaRPr lang="en-US" sz="1700" dirty="0"/>
          </a:p>
          <a:p>
            <a:pPr indent="0" marL="0">
              <a:lnSpc>
                <a:spcPct val="102000"/>
              </a:lnSpc>
              <a:spcBef>
                <a:spcPts val="300"/>
              </a:spcBef>
              <a:buNone/>
            </a:pPr>
            <a:r>
              <a:rPr lang="en-US" sz="13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Argue both ways.</a:t>
            </a:r>
            <a:endParaRPr lang="en-US" sz="1700" dirty="0"/>
          </a:p>
        </p:txBody>
      </p:sp>
      <p:sp>
        <p:nvSpPr>
          <p:cNvPr id="19" name="Shape 14"/>
          <p:cNvSpPr/>
          <p:nvPr/>
        </p:nvSpPr>
        <p:spPr>
          <a:xfrm>
            <a:off x="548640" y="3463290"/>
            <a:ext cx="11094415" cy="747522"/>
          </a:xfrm>
          <a:prstGeom prst="roundRect">
            <a:avLst>
              <a:gd name="adj" fmla="val 17125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749808" y="3635883"/>
            <a:ext cx="402336" cy="402336"/>
          </a:xfrm>
          <a:prstGeom prst="ellipse">
            <a:avLst/>
          </a:prstGeom>
          <a:solidFill>
            <a:srgbClr val="0E7C5A"/>
          </a:solidFill>
          <a:ln/>
        </p:spPr>
      </p:sp>
      <p:sp>
        <p:nvSpPr>
          <p:cNvPr id="21" name="Text 16"/>
          <p:cNvSpPr txBox="1"/>
          <p:nvPr/>
        </p:nvSpPr>
        <p:spPr>
          <a:xfrm>
            <a:off x="749808" y="3635883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22" name="Text 17"/>
          <p:cNvSpPr/>
          <p:nvPr/>
        </p:nvSpPr>
        <p:spPr>
          <a:xfrm>
            <a:off x="1353312" y="3518154"/>
            <a:ext cx="10033711" cy="6377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7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Why does narrowing your own position make you stronger?</a:t>
            </a:r>
            <a:endParaRPr lang="en-US" sz="1700" dirty="0"/>
          </a:p>
          <a:p>
            <a:pPr indent="0" marL="0">
              <a:lnSpc>
                <a:spcPct val="102000"/>
              </a:lnSpc>
              <a:spcBef>
                <a:spcPts val="300"/>
              </a:spcBef>
              <a:buNone/>
            </a:pPr>
            <a:r>
              <a:rPr lang="en-US" sz="13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does the opponent lose?</a:t>
            </a:r>
            <a:endParaRPr lang="en-US" sz="1700" dirty="0"/>
          </a:p>
        </p:txBody>
      </p:sp>
      <p:sp>
        <p:nvSpPr>
          <p:cNvPr id="23" name="Shape 18"/>
          <p:cNvSpPr/>
          <p:nvPr/>
        </p:nvSpPr>
        <p:spPr>
          <a:xfrm>
            <a:off x="548640" y="4329684"/>
            <a:ext cx="11094415" cy="747522"/>
          </a:xfrm>
          <a:prstGeom prst="roundRect">
            <a:avLst>
              <a:gd name="adj" fmla="val 17125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24" name="Shape 19"/>
          <p:cNvSpPr/>
          <p:nvPr/>
        </p:nvSpPr>
        <p:spPr>
          <a:xfrm>
            <a:off x="749808" y="4502277"/>
            <a:ext cx="402336" cy="402336"/>
          </a:xfrm>
          <a:prstGeom prst="ellipse">
            <a:avLst/>
          </a:prstGeom>
          <a:solidFill>
            <a:srgbClr val="0E7C5A"/>
          </a:solidFill>
          <a:ln/>
        </p:spPr>
      </p:sp>
      <p:sp>
        <p:nvSpPr>
          <p:cNvPr id="25" name="Text 20"/>
          <p:cNvSpPr txBox="1"/>
          <p:nvPr/>
        </p:nvSpPr>
        <p:spPr>
          <a:xfrm>
            <a:off x="749808" y="4502277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26" name="Text 21"/>
          <p:cNvSpPr/>
          <p:nvPr/>
        </p:nvSpPr>
        <p:spPr>
          <a:xfrm>
            <a:off x="1353312" y="4384548"/>
            <a:ext cx="10033711" cy="6377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7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Why is one invented figure worse than admitting ignorance?</a:t>
            </a:r>
            <a:endParaRPr lang="en-US" sz="1700" dirty="0"/>
          </a:p>
          <a:p>
            <a:pPr indent="0" marL="0">
              <a:lnSpc>
                <a:spcPct val="102000"/>
              </a:lnSpc>
              <a:spcBef>
                <a:spcPts val="300"/>
              </a:spcBef>
              <a:buNone/>
            </a:pPr>
            <a:r>
              <a:rPr lang="en-US" sz="13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 about what happens next.</a:t>
            </a:r>
            <a:endParaRPr lang="en-US" sz="1700" dirty="0"/>
          </a:p>
        </p:txBody>
      </p:sp>
      <p:sp>
        <p:nvSpPr>
          <p:cNvPr id="27" name="Shape 22"/>
          <p:cNvSpPr/>
          <p:nvPr/>
        </p:nvSpPr>
        <p:spPr>
          <a:xfrm>
            <a:off x="548640" y="5196078"/>
            <a:ext cx="11094415" cy="747522"/>
          </a:xfrm>
          <a:prstGeom prst="roundRect">
            <a:avLst>
              <a:gd name="adj" fmla="val 17125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28" name="Shape 23"/>
          <p:cNvSpPr/>
          <p:nvPr/>
        </p:nvSpPr>
        <p:spPr>
          <a:xfrm>
            <a:off x="749808" y="5368671"/>
            <a:ext cx="402336" cy="402336"/>
          </a:xfrm>
          <a:prstGeom prst="ellipse">
            <a:avLst/>
          </a:prstGeom>
          <a:solidFill>
            <a:srgbClr val="0E7C5A"/>
          </a:solidFill>
          <a:ln/>
        </p:spPr>
      </p:sp>
      <p:sp>
        <p:nvSpPr>
          <p:cNvPr id="29" name="Text 24"/>
          <p:cNvSpPr txBox="1"/>
          <p:nvPr/>
        </p:nvSpPr>
        <p:spPr>
          <a:xfrm>
            <a:off x="749808" y="5368671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30" name="Text 25"/>
          <p:cNvSpPr/>
          <p:nvPr/>
        </p:nvSpPr>
        <p:spPr>
          <a:xfrm>
            <a:off x="1353312" y="5250942"/>
            <a:ext cx="10033711" cy="6377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7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Should the most convincing speaker always win?</a:t>
            </a:r>
            <a:endParaRPr lang="en-US" sz="1700" dirty="0"/>
          </a:p>
          <a:p>
            <a:pPr indent="0" marL="0">
              <a:lnSpc>
                <a:spcPct val="102000"/>
              </a:lnSpc>
              <a:spcBef>
                <a:spcPts val="300"/>
              </a:spcBef>
              <a:buNone/>
            </a:pPr>
            <a:r>
              <a:rPr lang="en-US" sz="13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if they are wrong?</a:t>
            </a:r>
            <a:endParaRPr lang="en-US" sz="1700" dirty="0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38912"/>
            <a:ext cx="1737360" cy="420624"/>
          </a:xfrm>
          <a:prstGeom prst="roundRect">
            <a:avLst>
              <a:gd name="adj" fmla="val 50000"/>
            </a:avLst>
          </a:prstGeom>
          <a:solidFill>
            <a:srgbClr val="0A5D43"/>
          </a:solidFill>
          <a:ln/>
        </p:spPr>
      </p:sp>
      <p:sp>
        <p:nvSpPr>
          <p:cNvPr id="3" name="Shape 1"/>
          <p:cNvSpPr/>
          <p:nvPr/>
        </p:nvSpPr>
        <p:spPr>
          <a:xfrm>
            <a:off x="649224" y="539496"/>
            <a:ext cx="219456" cy="219456"/>
          </a:xfrm>
          <a:prstGeom prst="ellipse">
            <a:avLst/>
          </a:prstGeom>
          <a:solidFill>
            <a:srgbClr val="0A5D43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" y="539496"/>
            <a:ext cx="219456" cy="21945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932688" y="438912"/>
            <a:ext cx="12435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 1 OF 5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896112"/>
            <a:ext cx="10972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3 quiz — Part 1 · The four stages</a:t>
            </a:r>
            <a:endParaRPr lang="en-US" sz="38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536192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questions in total. Answer key follows. Pass mark: 16 out of 20.</a:t>
            </a:r>
            <a:endParaRPr lang="en-US" sz="165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6144768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50" kern="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4 · Advanced Spoken English · Module 3 — Debate &amp; Persuasion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10607040" y="6144768"/>
            <a:ext cx="1033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61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548640" y="1883664"/>
            <a:ext cx="11094415" cy="566928"/>
          </a:xfrm>
          <a:prstGeom prst="roundRect">
            <a:avLst>
              <a:gd name="adj" fmla="val 22581"/>
            </a:avLst>
          </a:prstGeom>
          <a:solidFill>
            <a:srgbClr val="EDF3EF"/>
          </a:solidFill>
          <a:ln w="12700">
            <a:solidFill>
              <a:srgbClr val="0A5D43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749808" y="1993392"/>
            <a:ext cx="347472" cy="347472"/>
          </a:xfrm>
          <a:prstGeom prst="ellipse">
            <a:avLst/>
          </a:prstGeom>
          <a:solidFill>
            <a:srgbClr val="0A5D43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676" y="2080260"/>
            <a:ext cx="173736" cy="173736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1207008" y="1883664"/>
            <a:ext cx="10198303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answers on paper. Books and slides closed. Question 20 is the debate itself.</a:t>
            </a:r>
            <a:endParaRPr lang="en-US" sz="1700" dirty="0"/>
          </a:p>
        </p:txBody>
      </p:sp>
      <p:sp>
        <p:nvSpPr>
          <p:cNvPr id="15" name="Shape 10"/>
          <p:cNvSpPr/>
          <p:nvPr/>
        </p:nvSpPr>
        <p:spPr>
          <a:xfrm>
            <a:off x="548640" y="2596896"/>
            <a:ext cx="11094415" cy="747522"/>
          </a:xfrm>
          <a:prstGeom prst="roundRect">
            <a:avLst>
              <a:gd name="adj" fmla="val 17125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16" name="Shape 11"/>
          <p:cNvSpPr/>
          <p:nvPr/>
        </p:nvSpPr>
        <p:spPr>
          <a:xfrm>
            <a:off x="749808" y="2769489"/>
            <a:ext cx="402336" cy="402336"/>
          </a:xfrm>
          <a:prstGeom prst="ellipse">
            <a:avLst/>
          </a:prstGeom>
          <a:solidFill>
            <a:srgbClr val="0A5D43"/>
          </a:solidFill>
          <a:ln/>
        </p:spPr>
      </p:sp>
      <p:sp>
        <p:nvSpPr>
          <p:cNvPr id="17" name="Text 12"/>
          <p:cNvSpPr txBox="1"/>
          <p:nvPr/>
        </p:nvSpPr>
        <p:spPr>
          <a:xfrm>
            <a:off x="749808" y="2769489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1353312" y="2651760"/>
            <a:ext cx="10033711" cy="6377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7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Name the four stages of a debate.</a:t>
            </a:r>
            <a:endParaRPr lang="en-US" sz="1700" dirty="0"/>
          </a:p>
          <a:p>
            <a:pPr indent="0" marL="0">
              <a:lnSpc>
                <a:spcPct val="102000"/>
              </a:lnSpc>
              <a:spcBef>
                <a:spcPts val="283"/>
              </a:spcBef>
              <a:buNone/>
            </a:pPr>
            <a:r>
              <a:rPr lang="en-US" sz="132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answers.</a:t>
            </a:r>
            <a:endParaRPr lang="en-US" sz="1700" dirty="0"/>
          </a:p>
        </p:txBody>
      </p:sp>
      <p:sp>
        <p:nvSpPr>
          <p:cNvPr id="19" name="Shape 14"/>
          <p:cNvSpPr/>
          <p:nvPr/>
        </p:nvSpPr>
        <p:spPr>
          <a:xfrm>
            <a:off x="548640" y="3463290"/>
            <a:ext cx="11094415" cy="747522"/>
          </a:xfrm>
          <a:prstGeom prst="roundRect">
            <a:avLst>
              <a:gd name="adj" fmla="val 17125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749808" y="3635883"/>
            <a:ext cx="402336" cy="402336"/>
          </a:xfrm>
          <a:prstGeom prst="ellipse">
            <a:avLst/>
          </a:prstGeom>
          <a:solidFill>
            <a:srgbClr val="0A5D43"/>
          </a:solidFill>
          <a:ln/>
        </p:spPr>
      </p:sp>
      <p:sp>
        <p:nvSpPr>
          <p:cNvPr id="21" name="Text 16"/>
          <p:cNvSpPr txBox="1"/>
          <p:nvPr/>
        </p:nvSpPr>
        <p:spPr>
          <a:xfrm>
            <a:off x="749808" y="3635883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22" name="Text 17"/>
          <p:cNvSpPr/>
          <p:nvPr/>
        </p:nvSpPr>
        <p:spPr>
          <a:xfrm>
            <a:off x="1353312" y="3518154"/>
            <a:ext cx="10033711" cy="6377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7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How long is the opening, and what must it contain?</a:t>
            </a:r>
            <a:endParaRPr lang="en-US" sz="1700" dirty="0"/>
          </a:p>
          <a:p>
            <a:pPr indent="0" marL="0">
              <a:lnSpc>
                <a:spcPct val="102000"/>
              </a:lnSpc>
              <a:spcBef>
                <a:spcPts val="283"/>
              </a:spcBef>
              <a:buNone/>
            </a:pPr>
            <a:r>
              <a:rPr lang="en-US" sz="132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sentence.</a:t>
            </a:r>
            <a:endParaRPr lang="en-US" sz="1700" dirty="0"/>
          </a:p>
        </p:txBody>
      </p:sp>
      <p:sp>
        <p:nvSpPr>
          <p:cNvPr id="23" name="Shape 18"/>
          <p:cNvSpPr/>
          <p:nvPr/>
        </p:nvSpPr>
        <p:spPr>
          <a:xfrm>
            <a:off x="548640" y="4329684"/>
            <a:ext cx="11094415" cy="747522"/>
          </a:xfrm>
          <a:prstGeom prst="roundRect">
            <a:avLst>
              <a:gd name="adj" fmla="val 17125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24" name="Shape 19"/>
          <p:cNvSpPr/>
          <p:nvPr/>
        </p:nvSpPr>
        <p:spPr>
          <a:xfrm>
            <a:off x="749808" y="4502277"/>
            <a:ext cx="402336" cy="402336"/>
          </a:xfrm>
          <a:prstGeom prst="ellipse">
            <a:avLst/>
          </a:prstGeom>
          <a:solidFill>
            <a:srgbClr val="0A5D43"/>
          </a:solidFill>
          <a:ln/>
        </p:spPr>
      </p:sp>
      <p:sp>
        <p:nvSpPr>
          <p:cNvPr id="25" name="Text 20"/>
          <p:cNvSpPr txBox="1"/>
          <p:nvPr/>
        </p:nvSpPr>
        <p:spPr>
          <a:xfrm>
            <a:off x="749808" y="4502277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26" name="Text 21"/>
          <p:cNvSpPr/>
          <p:nvPr/>
        </p:nvSpPr>
        <p:spPr>
          <a:xfrm>
            <a:off x="1353312" y="4384548"/>
            <a:ext cx="10033711" cy="6377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7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What must a closing NOT contain?</a:t>
            </a:r>
            <a:endParaRPr lang="en-US" sz="1700" dirty="0"/>
          </a:p>
          <a:p>
            <a:pPr indent="0" marL="0">
              <a:lnSpc>
                <a:spcPct val="102000"/>
              </a:lnSpc>
              <a:spcBef>
                <a:spcPts val="283"/>
              </a:spcBef>
              <a:buNone/>
            </a:pPr>
            <a:r>
              <a:rPr lang="en-US" sz="132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answer.</a:t>
            </a:r>
            <a:endParaRPr lang="en-US" sz="1700" dirty="0"/>
          </a:p>
        </p:txBody>
      </p:sp>
      <p:sp>
        <p:nvSpPr>
          <p:cNvPr id="27" name="Shape 22"/>
          <p:cNvSpPr/>
          <p:nvPr/>
        </p:nvSpPr>
        <p:spPr>
          <a:xfrm>
            <a:off x="548640" y="5196078"/>
            <a:ext cx="11094415" cy="747522"/>
          </a:xfrm>
          <a:prstGeom prst="roundRect">
            <a:avLst>
              <a:gd name="adj" fmla="val 17125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28" name="Shape 23"/>
          <p:cNvSpPr/>
          <p:nvPr/>
        </p:nvSpPr>
        <p:spPr>
          <a:xfrm>
            <a:off x="749808" y="5368671"/>
            <a:ext cx="402336" cy="402336"/>
          </a:xfrm>
          <a:prstGeom prst="ellipse">
            <a:avLst/>
          </a:prstGeom>
          <a:solidFill>
            <a:srgbClr val="0A5D43"/>
          </a:solidFill>
          <a:ln/>
        </p:spPr>
      </p:sp>
      <p:sp>
        <p:nvSpPr>
          <p:cNvPr id="29" name="Text 24"/>
          <p:cNvSpPr txBox="1"/>
          <p:nvPr/>
        </p:nvSpPr>
        <p:spPr>
          <a:xfrm>
            <a:off x="749808" y="5368671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30" name="Text 25"/>
          <p:cNvSpPr/>
          <p:nvPr/>
        </p:nvSpPr>
        <p:spPr>
          <a:xfrm>
            <a:off x="1353312" y="5250942"/>
            <a:ext cx="10033711" cy="6377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7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Where are debates actually decided?</a:t>
            </a:r>
            <a:endParaRPr lang="en-US" sz="1700" dirty="0"/>
          </a:p>
          <a:p>
            <a:pPr indent="0" marL="0">
              <a:lnSpc>
                <a:spcPct val="102000"/>
              </a:lnSpc>
              <a:spcBef>
                <a:spcPts val="283"/>
              </a:spcBef>
              <a:buNone/>
            </a:pPr>
            <a:r>
              <a:rPr lang="en-US" sz="132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answer.</a:t>
            </a:r>
            <a:endParaRPr lang="en-US" sz="1700" dirty="0"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38912"/>
            <a:ext cx="1737360" cy="420624"/>
          </a:xfrm>
          <a:prstGeom prst="roundRect">
            <a:avLst>
              <a:gd name="adj" fmla="val 50000"/>
            </a:avLst>
          </a:prstGeom>
          <a:solidFill>
            <a:srgbClr val="0A5D43"/>
          </a:solidFill>
          <a:ln/>
        </p:spPr>
      </p:sp>
      <p:sp>
        <p:nvSpPr>
          <p:cNvPr id="3" name="Shape 1"/>
          <p:cNvSpPr/>
          <p:nvPr/>
        </p:nvSpPr>
        <p:spPr>
          <a:xfrm>
            <a:off x="649224" y="539496"/>
            <a:ext cx="219456" cy="219456"/>
          </a:xfrm>
          <a:prstGeom prst="ellipse">
            <a:avLst/>
          </a:prstGeom>
          <a:solidFill>
            <a:srgbClr val="0A5D43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" y="539496"/>
            <a:ext cx="219456" cy="21945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932688" y="438912"/>
            <a:ext cx="12435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 2 OF 5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896112"/>
            <a:ext cx="10972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7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3 quiz — Part 2 · Opening and narrowing</a:t>
            </a:r>
            <a:endParaRPr lang="en-US" sz="37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536192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questions in total. Answer key follows. Pass mark: 16 out of 20.</a:t>
            </a:r>
            <a:endParaRPr lang="en-US" sz="165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6144768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50" kern="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4 · Advanced Spoken English · Module 3 — Debate &amp; Persuasion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10607040" y="6144768"/>
            <a:ext cx="1033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62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548640" y="1883664"/>
            <a:ext cx="11094415" cy="925830"/>
          </a:xfrm>
          <a:prstGeom prst="roundRect">
            <a:avLst>
              <a:gd name="adj" fmla="val 13827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749808" y="2145411"/>
            <a:ext cx="402336" cy="402336"/>
          </a:xfrm>
          <a:prstGeom prst="ellipse">
            <a:avLst/>
          </a:prstGeom>
          <a:solidFill>
            <a:srgbClr val="0A5D43"/>
          </a:solidFill>
          <a:ln/>
        </p:spPr>
      </p:sp>
      <p:sp>
        <p:nvSpPr>
          <p:cNvPr id="13" name="Text 9"/>
          <p:cNvSpPr txBox="1"/>
          <p:nvPr/>
        </p:nvSpPr>
        <p:spPr>
          <a:xfrm>
            <a:off x="749808" y="2145411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1353312" y="1938528"/>
            <a:ext cx="10033711" cy="816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Why narrow your position?</a:t>
            </a:r>
            <a:endParaRPr lang="en-US" sz="1800" dirty="0"/>
          </a:p>
          <a:p>
            <a:pPr indent="0" marL="0">
              <a:lnSpc>
                <a:spcPct val="102000"/>
              </a:lnSpc>
              <a:spcBef>
                <a:spcPts val="300"/>
              </a:spcBef>
              <a:buNone/>
            </a:pPr>
            <a:r>
              <a:rPr lang="en-US" sz="14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sentence.</a:t>
            </a:r>
            <a:endParaRPr lang="en-US" sz="1800" dirty="0"/>
          </a:p>
        </p:txBody>
      </p:sp>
      <p:sp>
        <p:nvSpPr>
          <p:cNvPr id="15" name="Shape 11"/>
          <p:cNvSpPr/>
          <p:nvPr/>
        </p:nvSpPr>
        <p:spPr>
          <a:xfrm>
            <a:off x="548640" y="2928366"/>
            <a:ext cx="11094415" cy="925830"/>
          </a:xfrm>
          <a:prstGeom prst="roundRect">
            <a:avLst>
              <a:gd name="adj" fmla="val 13827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749808" y="3190113"/>
            <a:ext cx="402336" cy="402336"/>
          </a:xfrm>
          <a:prstGeom prst="ellipse">
            <a:avLst/>
          </a:prstGeom>
          <a:solidFill>
            <a:srgbClr val="0A5D43"/>
          </a:solidFill>
          <a:ln/>
        </p:spPr>
      </p:sp>
      <p:sp>
        <p:nvSpPr>
          <p:cNvPr id="17" name="Text 13"/>
          <p:cNvSpPr txBox="1"/>
          <p:nvPr/>
        </p:nvSpPr>
        <p:spPr>
          <a:xfrm>
            <a:off x="749808" y="3190113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500" dirty="0"/>
          </a:p>
        </p:txBody>
      </p:sp>
      <p:sp>
        <p:nvSpPr>
          <p:cNvPr id="18" name="Text 14"/>
          <p:cNvSpPr/>
          <p:nvPr/>
        </p:nvSpPr>
        <p:spPr>
          <a:xfrm>
            <a:off x="1353312" y="2983230"/>
            <a:ext cx="10033711" cy="816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Narrow this: “Homework should be abolished.”</a:t>
            </a:r>
            <a:endParaRPr lang="en-US" sz="1800" dirty="0"/>
          </a:p>
          <a:p>
            <a:pPr indent="0" marL="0">
              <a:lnSpc>
                <a:spcPct val="102000"/>
              </a:lnSpc>
              <a:spcBef>
                <a:spcPts val="300"/>
              </a:spcBef>
              <a:buNone/>
            </a:pPr>
            <a:r>
              <a:rPr lang="en-US" sz="14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position.</a:t>
            </a:r>
            <a:endParaRPr lang="en-US" sz="1800" dirty="0"/>
          </a:p>
        </p:txBody>
      </p:sp>
      <p:sp>
        <p:nvSpPr>
          <p:cNvPr id="19" name="Shape 15"/>
          <p:cNvSpPr/>
          <p:nvPr/>
        </p:nvSpPr>
        <p:spPr>
          <a:xfrm>
            <a:off x="548640" y="3973068"/>
            <a:ext cx="11094415" cy="925830"/>
          </a:xfrm>
          <a:prstGeom prst="roundRect">
            <a:avLst>
              <a:gd name="adj" fmla="val 13827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749808" y="4234815"/>
            <a:ext cx="402336" cy="402336"/>
          </a:xfrm>
          <a:prstGeom prst="ellipse">
            <a:avLst/>
          </a:prstGeom>
          <a:solidFill>
            <a:srgbClr val="0A5D43"/>
          </a:solidFill>
          <a:ln/>
        </p:spPr>
      </p:sp>
      <p:sp>
        <p:nvSpPr>
          <p:cNvPr id="21" name="Text 17"/>
          <p:cNvSpPr txBox="1"/>
          <p:nvPr/>
        </p:nvSpPr>
        <p:spPr>
          <a:xfrm>
            <a:off x="749808" y="4234815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500" dirty="0"/>
          </a:p>
        </p:txBody>
      </p:sp>
      <p:sp>
        <p:nvSpPr>
          <p:cNvPr id="22" name="Text 18"/>
          <p:cNvSpPr/>
          <p:nvPr/>
        </p:nvSpPr>
        <p:spPr>
          <a:xfrm>
            <a:off x="1353312" y="4027932"/>
            <a:ext cx="10033711" cy="816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How many lines of argument should you preview?</a:t>
            </a:r>
            <a:endParaRPr lang="en-US" sz="1800" dirty="0"/>
          </a:p>
          <a:p>
            <a:pPr indent="0" marL="0">
              <a:lnSpc>
                <a:spcPct val="102000"/>
              </a:lnSpc>
              <a:spcBef>
                <a:spcPts val="300"/>
              </a:spcBef>
              <a:buNone/>
            </a:pPr>
            <a:r>
              <a:rPr lang="en-US" sz="14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number, and why.</a:t>
            </a:r>
            <a:endParaRPr lang="en-US" sz="1800" dirty="0"/>
          </a:p>
        </p:txBody>
      </p:sp>
      <p:sp>
        <p:nvSpPr>
          <p:cNvPr id="23" name="Shape 19"/>
          <p:cNvSpPr/>
          <p:nvPr/>
        </p:nvSpPr>
        <p:spPr>
          <a:xfrm>
            <a:off x="548640" y="5017770"/>
            <a:ext cx="11094415" cy="925830"/>
          </a:xfrm>
          <a:prstGeom prst="roundRect">
            <a:avLst>
              <a:gd name="adj" fmla="val 13827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24" name="Shape 20"/>
          <p:cNvSpPr/>
          <p:nvPr/>
        </p:nvSpPr>
        <p:spPr>
          <a:xfrm>
            <a:off x="749808" y="5279517"/>
            <a:ext cx="402336" cy="402336"/>
          </a:xfrm>
          <a:prstGeom prst="ellipse">
            <a:avLst/>
          </a:prstGeom>
          <a:solidFill>
            <a:srgbClr val="0A5D43"/>
          </a:solidFill>
          <a:ln/>
        </p:spPr>
      </p:sp>
      <p:sp>
        <p:nvSpPr>
          <p:cNvPr id="25" name="Text 21"/>
          <p:cNvSpPr txBox="1"/>
          <p:nvPr/>
        </p:nvSpPr>
        <p:spPr>
          <a:xfrm>
            <a:off x="749808" y="5279517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500" dirty="0"/>
          </a:p>
        </p:txBody>
      </p:sp>
      <p:sp>
        <p:nvSpPr>
          <p:cNvPr id="26" name="Text 22"/>
          <p:cNvSpPr/>
          <p:nvPr/>
        </p:nvSpPr>
        <p:spPr>
          <a:xfrm>
            <a:off x="1353312" y="5072634"/>
            <a:ext cx="10033711" cy="816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 Which two sentences should you memorise?</a:t>
            </a:r>
            <a:endParaRPr lang="en-US" sz="1800" dirty="0"/>
          </a:p>
          <a:p>
            <a:pPr indent="0" marL="0">
              <a:lnSpc>
                <a:spcPct val="102000"/>
              </a:lnSpc>
              <a:spcBef>
                <a:spcPts val="300"/>
              </a:spcBef>
              <a:buNone/>
            </a:pPr>
            <a:r>
              <a:rPr lang="en-US" sz="14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sentence.</a:t>
            </a:r>
            <a:endParaRPr lang="en-US" sz="1800" dirty="0"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38912"/>
            <a:ext cx="1737360" cy="420624"/>
          </a:xfrm>
          <a:prstGeom prst="roundRect">
            <a:avLst>
              <a:gd name="adj" fmla="val 50000"/>
            </a:avLst>
          </a:prstGeom>
          <a:solidFill>
            <a:srgbClr val="0A5D43"/>
          </a:solidFill>
          <a:ln/>
        </p:spPr>
      </p:sp>
      <p:sp>
        <p:nvSpPr>
          <p:cNvPr id="3" name="Shape 1"/>
          <p:cNvSpPr/>
          <p:nvPr/>
        </p:nvSpPr>
        <p:spPr>
          <a:xfrm>
            <a:off x="649224" y="539496"/>
            <a:ext cx="219456" cy="219456"/>
          </a:xfrm>
          <a:prstGeom prst="ellipse">
            <a:avLst/>
          </a:prstGeom>
          <a:solidFill>
            <a:srgbClr val="0A5D43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" y="539496"/>
            <a:ext cx="219456" cy="21945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932688" y="438912"/>
            <a:ext cx="12435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 3 OF 5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896112"/>
            <a:ext cx="10972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3 quiz — Part 3 · Rebuttal</a:t>
            </a:r>
            <a:endParaRPr lang="en-US" sz="38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536192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questions in total. Answer key follows. Pass mark: 16 out of 20.</a:t>
            </a:r>
            <a:endParaRPr lang="en-US" sz="165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6144768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50" kern="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4 · Advanced Spoken English · Module 3 — Debate &amp; Persuasion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10607040" y="6144768"/>
            <a:ext cx="1033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63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548640" y="1883664"/>
            <a:ext cx="11094415" cy="925830"/>
          </a:xfrm>
          <a:prstGeom prst="roundRect">
            <a:avLst>
              <a:gd name="adj" fmla="val 13827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749808" y="2145411"/>
            <a:ext cx="402336" cy="402336"/>
          </a:xfrm>
          <a:prstGeom prst="ellipse">
            <a:avLst/>
          </a:prstGeom>
          <a:solidFill>
            <a:srgbClr val="0A5D43"/>
          </a:solidFill>
          <a:ln/>
        </p:spPr>
      </p:sp>
      <p:sp>
        <p:nvSpPr>
          <p:cNvPr id="13" name="Text 9"/>
          <p:cNvSpPr txBox="1"/>
          <p:nvPr/>
        </p:nvSpPr>
        <p:spPr>
          <a:xfrm>
            <a:off x="749808" y="2145411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1353312" y="1938528"/>
            <a:ext cx="10033711" cy="816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 How many points should you rebut?</a:t>
            </a:r>
            <a:endParaRPr lang="en-US" sz="1800" dirty="0"/>
          </a:p>
          <a:p>
            <a:pPr indent="0" marL="0">
              <a:lnSpc>
                <a:spcPct val="102000"/>
              </a:lnSpc>
              <a:spcBef>
                <a:spcPts val="300"/>
              </a:spcBef>
              <a:buNone/>
            </a:pPr>
            <a:r>
              <a:rPr lang="en-US" sz="14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number, and why.</a:t>
            </a:r>
            <a:endParaRPr lang="en-US" sz="1800" dirty="0"/>
          </a:p>
        </p:txBody>
      </p:sp>
      <p:sp>
        <p:nvSpPr>
          <p:cNvPr id="15" name="Shape 11"/>
          <p:cNvSpPr/>
          <p:nvPr/>
        </p:nvSpPr>
        <p:spPr>
          <a:xfrm>
            <a:off x="548640" y="2928366"/>
            <a:ext cx="11094415" cy="925830"/>
          </a:xfrm>
          <a:prstGeom prst="roundRect">
            <a:avLst>
              <a:gd name="adj" fmla="val 13827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749808" y="3190113"/>
            <a:ext cx="402336" cy="402336"/>
          </a:xfrm>
          <a:prstGeom prst="ellipse">
            <a:avLst/>
          </a:prstGeom>
          <a:solidFill>
            <a:srgbClr val="0A5D43"/>
          </a:solidFill>
          <a:ln/>
        </p:spPr>
      </p:sp>
      <p:sp>
        <p:nvSpPr>
          <p:cNvPr id="17" name="Text 13"/>
          <p:cNvSpPr txBox="1"/>
          <p:nvPr/>
        </p:nvSpPr>
        <p:spPr>
          <a:xfrm>
            <a:off x="749808" y="3190113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500" dirty="0"/>
          </a:p>
        </p:txBody>
      </p:sp>
      <p:sp>
        <p:nvSpPr>
          <p:cNvPr id="18" name="Text 14"/>
          <p:cNvSpPr/>
          <p:nvPr/>
        </p:nvSpPr>
        <p:spPr>
          <a:xfrm>
            <a:off x="1353312" y="2983230"/>
            <a:ext cx="10033711" cy="816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 Name the four steps of a rebuttal.</a:t>
            </a:r>
            <a:endParaRPr lang="en-US" sz="1800" dirty="0"/>
          </a:p>
          <a:p>
            <a:pPr indent="0" marL="0">
              <a:lnSpc>
                <a:spcPct val="102000"/>
              </a:lnSpc>
              <a:spcBef>
                <a:spcPts val="300"/>
              </a:spcBef>
              <a:buNone/>
            </a:pPr>
            <a:r>
              <a:rPr lang="en-US" sz="14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answers.</a:t>
            </a:r>
            <a:endParaRPr lang="en-US" sz="1800" dirty="0"/>
          </a:p>
        </p:txBody>
      </p:sp>
      <p:sp>
        <p:nvSpPr>
          <p:cNvPr id="19" name="Shape 15"/>
          <p:cNvSpPr/>
          <p:nvPr/>
        </p:nvSpPr>
        <p:spPr>
          <a:xfrm>
            <a:off x="548640" y="3973068"/>
            <a:ext cx="11094415" cy="925830"/>
          </a:xfrm>
          <a:prstGeom prst="roundRect">
            <a:avLst>
              <a:gd name="adj" fmla="val 13827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749808" y="4234815"/>
            <a:ext cx="402336" cy="402336"/>
          </a:xfrm>
          <a:prstGeom prst="ellipse">
            <a:avLst/>
          </a:prstGeom>
          <a:solidFill>
            <a:srgbClr val="0A5D43"/>
          </a:solidFill>
          <a:ln/>
        </p:spPr>
      </p:sp>
      <p:sp>
        <p:nvSpPr>
          <p:cNvPr id="21" name="Text 17"/>
          <p:cNvSpPr txBox="1"/>
          <p:nvPr/>
        </p:nvSpPr>
        <p:spPr>
          <a:xfrm>
            <a:off x="749808" y="4234815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500" dirty="0"/>
          </a:p>
        </p:txBody>
      </p:sp>
      <p:sp>
        <p:nvSpPr>
          <p:cNvPr id="22" name="Text 18"/>
          <p:cNvSpPr/>
          <p:nvPr/>
        </p:nvSpPr>
        <p:spPr>
          <a:xfrm>
            <a:off x="1353312" y="4027932"/>
            <a:ext cx="10033711" cy="816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11. What is the strongest rebuttal move?</a:t>
            </a:r>
            <a:endParaRPr lang="en-US" sz="1800" dirty="0"/>
          </a:p>
          <a:p>
            <a:pPr indent="0" marL="0">
              <a:lnSpc>
                <a:spcPct val="102000"/>
              </a:lnSpc>
              <a:spcBef>
                <a:spcPts val="300"/>
              </a:spcBef>
              <a:buNone/>
            </a:pPr>
            <a:r>
              <a:rPr lang="en-US" sz="14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sentence.</a:t>
            </a:r>
            <a:endParaRPr lang="en-US" sz="1800" dirty="0"/>
          </a:p>
        </p:txBody>
      </p:sp>
      <p:sp>
        <p:nvSpPr>
          <p:cNvPr id="23" name="Shape 19"/>
          <p:cNvSpPr/>
          <p:nvPr/>
        </p:nvSpPr>
        <p:spPr>
          <a:xfrm>
            <a:off x="548640" y="5017770"/>
            <a:ext cx="11094415" cy="925830"/>
          </a:xfrm>
          <a:prstGeom prst="roundRect">
            <a:avLst>
              <a:gd name="adj" fmla="val 13827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24" name="Shape 20"/>
          <p:cNvSpPr/>
          <p:nvPr/>
        </p:nvSpPr>
        <p:spPr>
          <a:xfrm>
            <a:off x="749808" y="5279517"/>
            <a:ext cx="402336" cy="402336"/>
          </a:xfrm>
          <a:prstGeom prst="ellipse">
            <a:avLst/>
          </a:prstGeom>
          <a:solidFill>
            <a:srgbClr val="0A5D43"/>
          </a:solidFill>
          <a:ln/>
        </p:spPr>
      </p:sp>
      <p:sp>
        <p:nvSpPr>
          <p:cNvPr id="25" name="Text 21"/>
          <p:cNvSpPr txBox="1"/>
          <p:nvPr/>
        </p:nvSpPr>
        <p:spPr>
          <a:xfrm>
            <a:off x="749808" y="5279517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500" dirty="0"/>
          </a:p>
        </p:txBody>
      </p:sp>
      <p:sp>
        <p:nvSpPr>
          <p:cNvPr id="26" name="Text 22"/>
          <p:cNvSpPr/>
          <p:nvPr/>
        </p:nvSpPr>
        <p:spPr>
          <a:xfrm>
            <a:off x="1353312" y="5072634"/>
            <a:ext cx="10033711" cy="816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12. Why concede before attacking?</a:t>
            </a:r>
            <a:endParaRPr lang="en-US" sz="1800" dirty="0"/>
          </a:p>
          <a:p>
            <a:pPr indent="0" marL="0">
              <a:lnSpc>
                <a:spcPct val="102000"/>
              </a:lnSpc>
              <a:spcBef>
                <a:spcPts val="300"/>
              </a:spcBef>
              <a:buNone/>
            </a:pPr>
            <a:r>
              <a:rPr lang="en-US" sz="14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sentence.</a:t>
            </a:r>
            <a:endParaRPr lang="en-US" sz="1800" dirty="0"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38912"/>
            <a:ext cx="1737360" cy="420624"/>
          </a:xfrm>
          <a:prstGeom prst="roundRect">
            <a:avLst>
              <a:gd name="adj" fmla="val 50000"/>
            </a:avLst>
          </a:prstGeom>
          <a:solidFill>
            <a:srgbClr val="0A5D43"/>
          </a:solidFill>
          <a:ln/>
        </p:spPr>
      </p:sp>
      <p:sp>
        <p:nvSpPr>
          <p:cNvPr id="3" name="Shape 1"/>
          <p:cNvSpPr/>
          <p:nvPr/>
        </p:nvSpPr>
        <p:spPr>
          <a:xfrm>
            <a:off x="649224" y="539496"/>
            <a:ext cx="219456" cy="219456"/>
          </a:xfrm>
          <a:prstGeom prst="ellipse">
            <a:avLst/>
          </a:prstGeom>
          <a:solidFill>
            <a:srgbClr val="0A5D43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" y="539496"/>
            <a:ext cx="219456" cy="21945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932688" y="438912"/>
            <a:ext cx="12435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 4 OF 5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896112"/>
            <a:ext cx="10972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75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3 quiz — Part 4 · Questions and losing</a:t>
            </a:r>
            <a:endParaRPr lang="en-US" sz="375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536192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questions in total. Answer key follows. Pass mark: 16 out of 20.</a:t>
            </a:r>
            <a:endParaRPr lang="en-US" sz="165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6144768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50" kern="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4 · Advanced Spoken English · Module 3 — Debate &amp; Persuasion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10607040" y="6144768"/>
            <a:ext cx="1033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64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548640" y="1883664"/>
            <a:ext cx="11094415" cy="925830"/>
          </a:xfrm>
          <a:prstGeom prst="roundRect">
            <a:avLst>
              <a:gd name="adj" fmla="val 13827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749808" y="2145411"/>
            <a:ext cx="402336" cy="402336"/>
          </a:xfrm>
          <a:prstGeom prst="ellipse">
            <a:avLst/>
          </a:prstGeom>
          <a:solidFill>
            <a:srgbClr val="0A5D43"/>
          </a:solidFill>
          <a:ln/>
        </p:spPr>
      </p:sp>
      <p:sp>
        <p:nvSpPr>
          <p:cNvPr id="13" name="Text 9"/>
          <p:cNvSpPr txBox="1"/>
          <p:nvPr/>
        </p:nvSpPr>
        <p:spPr>
          <a:xfrm>
            <a:off x="749808" y="2145411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1353312" y="1938528"/>
            <a:ext cx="10033711" cy="816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13. You are asked for a figure you don't have. What do you say?</a:t>
            </a:r>
            <a:endParaRPr lang="en-US" sz="1800" dirty="0"/>
          </a:p>
          <a:p>
            <a:pPr indent="0" marL="0">
              <a:lnSpc>
                <a:spcPct val="102000"/>
              </a:lnSpc>
              <a:spcBef>
                <a:spcPts val="300"/>
              </a:spcBef>
              <a:buNone/>
            </a:pPr>
            <a:r>
              <a:rPr lang="en-US" sz="14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phrase.</a:t>
            </a:r>
            <a:endParaRPr lang="en-US" sz="1800" dirty="0"/>
          </a:p>
        </p:txBody>
      </p:sp>
      <p:sp>
        <p:nvSpPr>
          <p:cNvPr id="15" name="Shape 11"/>
          <p:cNvSpPr/>
          <p:nvPr/>
        </p:nvSpPr>
        <p:spPr>
          <a:xfrm>
            <a:off x="548640" y="2928366"/>
            <a:ext cx="11094415" cy="925830"/>
          </a:xfrm>
          <a:prstGeom prst="roundRect">
            <a:avLst>
              <a:gd name="adj" fmla="val 13827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749808" y="3190113"/>
            <a:ext cx="402336" cy="402336"/>
          </a:xfrm>
          <a:prstGeom prst="ellipse">
            <a:avLst/>
          </a:prstGeom>
          <a:solidFill>
            <a:srgbClr val="0A5D43"/>
          </a:solidFill>
          <a:ln/>
        </p:spPr>
      </p:sp>
      <p:sp>
        <p:nvSpPr>
          <p:cNvPr id="17" name="Text 13"/>
          <p:cNvSpPr txBox="1"/>
          <p:nvPr/>
        </p:nvSpPr>
        <p:spPr>
          <a:xfrm>
            <a:off x="749808" y="3190113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500" dirty="0"/>
          </a:p>
        </p:txBody>
      </p:sp>
      <p:sp>
        <p:nvSpPr>
          <p:cNvPr id="18" name="Text 14"/>
          <p:cNvSpPr/>
          <p:nvPr/>
        </p:nvSpPr>
        <p:spPr>
          <a:xfrm>
            <a:off x="1353312" y="2983230"/>
            <a:ext cx="10033711" cy="816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14. Why never invent a figure?</a:t>
            </a:r>
            <a:endParaRPr lang="en-US" sz="1800" dirty="0"/>
          </a:p>
          <a:p>
            <a:pPr indent="0" marL="0">
              <a:lnSpc>
                <a:spcPct val="102000"/>
              </a:lnSpc>
              <a:spcBef>
                <a:spcPts val="300"/>
              </a:spcBef>
              <a:buNone/>
            </a:pPr>
            <a:r>
              <a:rPr lang="en-US" sz="14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sentence.</a:t>
            </a:r>
            <a:endParaRPr lang="en-US" sz="1800" dirty="0"/>
          </a:p>
        </p:txBody>
      </p:sp>
      <p:sp>
        <p:nvSpPr>
          <p:cNvPr id="19" name="Shape 15"/>
          <p:cNvSpPr/>
          <p:nvPr/>
        </p:nvSpPr>
        <p:spPr>
          <a:xfrm>
            <a:off x="548640" y="3973068"/>
            <a:ext cx="11094415" cy="925830"/>
          </a:xfrm>
          <a:prstGeom prst="roundRect">
            <a:avLst>
              <a:gd name="adj" fmla="val 13827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749808" y="4234815"/>
            <a:ext cx="402336" cy="402336"/>
          </a:xfrm>
          <a:prstGeom prst="ellipse">
            <a:avLst/>
          </a:prstGeom>
          <a:solidFill>
            <a:srgbClr val="0A5D43"/>
          </a:solidFill>
          <a:ln/>
        </p:spPr>
      </p:sp>
      <p:sp>
        <p:nvSpPr>
          <p:cNvPr id="21" name="Text 17"/>
          <p:cNvSpPr txBox="1"/>
          <p:nvPr/>
        </p:nvSpPr>
        <p:spPr>
          <a:xfrm>
            <a:off x="749808" y="4234815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500" dirty="0"/>
          </a:p>
        </p:txBody>
      </p:sp>
      <p:sp>
        <p:nvSpPr>
          <p:cNvPr id="22" name="Text 18"/>
          <p:cNvSpPr/>
          <p:nvPr/>
        </p:nvSpPr>
        <p:spPr>
          <a:xfrm>
            <a:off x="1353312" y="4027932"/>
            <a:ext cx="10033711" cy="816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15. The question has a false premise. What do you say?</a:t>
            </a:r>
            <a:endParaRPr lang="en-US" sz="1800" dirty="0"/>
          </a:p>
          <a:p>
            <a:pPr indent="0" marL="0">
              <a:lnSpc>
                <a:spcPct val="102000"/>
              </a:lnSpc>
              <a:spcBef>
                <a:spcPts val="300"/>
              </a:spcBef>
              <a:buNone/>
            </a:pPr>
            <a:r>
              <a:rPr lang="en-US" sz="14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phrase.</a:t>
            </a:r>
            <a:endParaRPr lang="en-US" sz="1800" dirty="0"/>
          </a:p>
        </p:txBody>
      </p:sp>
      <p:sp>
        <p:nvSpPr>
          <p:cNvPr id="23" name="Shape 19"/>
          <p:cNvSpPr/>
          <p:nvPr/>
        </p:nvSpPr>
        <p:spPr>
          <a:xfrm>
            <a:off x="548640" y="5017770"/>
            <a:ext cx="11094415" cy="925830"/>
          </a:xfrm>
          <a:prstGeom prst="roundRect">
            <a:avLst>
              <a:gd name="adj" fmla="val 13827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24" name="Shape 20"/>
          <p:cNvSpPr/>
          <p:nvPr/>
        </p:nvSpPr>
        <p:spPr>
          <a:xfrm>
            <a:off x="749808" y="5279517"/>
            <a:ext cx="402336" cy="402336"/>
          </a:xfrm>
          <a:prstGeom prst="ellipse">
            <a:avLst/>
          </a:prstGeom>
          <a:solidFill>
            <a:srgbClr val="0A5D43"/>
          </a:solidFill>
          <a:ln/>
        </p:spPr>
      </p:sp>
      <p:sp>
        <p:nvSpPr>
          <p:cNvPr id="25" name="Text 21"/>
          <p:cNvSpPr txBox="1"/>
          <p:nvPr/>
        </p:nvSpPr>
        <p:spPr>
          <a:xfrm>
            <a:off x="749808" y="5279517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500" dirty="0"/>
          </a:p>
        </p:txBody>
      </p:sp>
      <p:sp>
        <p:nvSpPr>
          <p:cNvPr id="26" name="Text 22"/>
          <p:cNvSpPr/>
          <p:nvPr/>
        </p:nvSpPr>
        <p:spPr>
          <a:xfrm>
            <a:off x="1353312" y="5072634"/>
            <a:ext cx="10033711" cy="816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16. You have clearly lost a point. What do you do?</a:t>
            </a:r>
            <a:endParaRPr lang="en-US" sz="1800" dirty="0"/>
          </a:p>
          <a:p>
            <a:pPr indent="0" marL="0">
              <a:lnSpc>
                <a:spcPct val="102000"/>
              </a:lnSpc>
              <a:spcBef>
                <a:spcPts val="300"/>
              </a:spcBef>
              <a:buNone/>
            </a:pPr>
            <a:r>
              <a:rPr lang="en-US" sz="14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sentence.</a:t>
            </a:r>
            <a:endParaRPr lang="en-US" sz="1800" dirty="0"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38912"/>
            <a:ext cx="1737360" cy="420624"/>
          </a:xfrm>
          <a:prstGeom prst="roundRect">
            <a:avLst>
              <a:gd name="adj" fmla="val 50000"/>
            </a:avLst>
          </a:prstGeom>
          <a:solidFill>
            <a:srgbClr val="0A5D43"/>
          </a:solidFill>
          <a:ln/>
        </p:spPr>
      </p:sp>
      <p:sp>
        <p:nvSpPr>
          <p:cNvPr id="3" name="Shape 1"/>
          <p:cNvSpPr/>
          <p:nvPr/>
        </p:nvSpPr>
        <p:spPr>
          <a:xfrm>
            <a:off x="649224" y="539496"/>
            <a:ext cx="219456" cy="219456"/>
          </a:xfrm>
          <a:prstGeom prst="ellipse">
            <a:avLst/>
          </a:prstGeom>
          <a:solidFill>
            <a:srgbClr val="0A5D43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" y="539496"/>
            <a:ext cx="219456" cy="21945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932688" y="438912"/>
            <a:ext cx="12435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 5 OF 5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896112"/>
            <a:ext cx="10972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3 quiz — Part 5 · Persuasion</a:t>
            </a:r>
            <a:endParaRPr lang="en-US" sz="38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536192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questions in total. Answer key follows. Pass mark: 16 out of 20.</a:t>
            </a:r>
            <a:endParaRPr lang="en-US" sz="165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6144768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50" kern="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4 · Advanced Spoken English · Module 3 — Debate &amp; Persuasion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10607040" y="6144768"/>
            <a:ext cx="1033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65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548640" y="1883664"/>
            <a:ext cx="11094415" cy="925830"/>
          </a:xfrm>
          <a:prstGeom prst="roundRect">
            <a:avLst>
              <a:gd name="adj" fmla="val 13827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749808" y="2145411"/>
            <a:ext cx="402336" cy="402336"/>
          </a:xfrm>
          <a:prstGeom prst="ellipse">
            <a:avLst/>
          </a:prstGeom>
          <a:solidFill>
            <a:srgbClr val="0A5D43"/>
          </a:solidFill>
          <a:ln/>
        </p:spPr>
      </p:sp>
      <p:sp>
        <p:nvSpPr>
          <p:cNvPr id="13" name="Text 9"/>
          <p:cNvSpPr txBox="1"/>
          <p:nvPr/>
        </p:nvSpPr>
        <p:spPr>
          <a:xfrm>
            <a:off x="749808" y="2145411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1353312" y="1938528"/>
            <a:ext cx="10033711" cy="816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17. How many numbers should the audience remember?</a:t>
            </a:r>
            <a:endParaRPr lang="en-US" sz="1800" dirty="0"/>
          </a:p>
          <a:p>
            <a:pPr indent="0" marL="0">
              <a:lnSpc>
                <a:spcPct val="102000"/>
              </a:lnSpc>
              <a:spcBef>
                <a:spcPts val="300"/>
              </a:spcBef>
              <a:buNone/>
            </a:pPr>
            <a:r>
              <a:rPr lang="en-US" sz="14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number.</a:t>
            </a:r>
            <a:endParaRPr lang="en-US" sz="1800" dirty="0"/>
          </a:p>
        </p:txBody>
      </p:sp>
      <p:sp>
        <p:nvSpPr>
          <p:cNvPr id="15" name="Shape 11"/>
          <p:cNvSpPr/>
          <p:nvPr/>
        </p:nvSpPr>
        <p:spPr>
          <a:xfrm>
            <a:off x="548640" y="2928366"/>
            <a:ext cx="11094415" cy="925830"/>
          </a:xfrm>
          <a:prstGeom prst="roundRect">
            <a:avLst>
              <a:gd name="adj" fmla="val 13827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749808" y="3190113"/>
            <a:ext cx="402336" cy="402336"/>
          </a:xfrm>
          <a:prstGeom prst="ellipse">
            <a:avLst/>
          </a:prstGeom>
          <a:solidFill>
            <a:srgbClr val="0A5D43"/>
          </a:solidFill>
          <a:ln/>
        </p:spPr>
      </p:sp>
      <p:sp>
        <p:nvSpPr>
          <p:cNvPr id="17" name="Text 13"/>
          <p:cNvSpPr txBox="1"/>
          <p:nvPr/>
        </p:nvSpPr>
        <p:spPr>
          <a:xfrm>
            <a:off x="749808" y="3190113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500" dirty="0"/>
          </a:p>
        </p:txBody>
      </p:sp>
      <p:sp>
        <p:nvSpPr>
          <p:cNvPr id="18" name="Text 14"/>
          <p:cNvSpPr/>
          <p:nvPr/>
        </p:nvSpPr>
        <p:spPr>
          <a:xfrm>
            <a:off x="1353312" y="2983230"/>
            <a:ext cx="10033711" cy="816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18. What does a repeated phrase do?</a:t>
            </a:r>
            <a:endParaRPr lang="en-US" sz="1800" dirty="0"/>
          </a:p>
          <a:p>
            <a:pPr indent="0" marL="0">
              <a:lnSpc>
                <a:spcPct val="102000"/>
              </a:lnSpc>
              <a:spcBef>
                <a:spcPts val="300"/>
              </a:spcBef>
              <a:buNone/>
            </a:pPr>
            <a:r>
              <a:rPr lang="en-US" sz="14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sentence.</a:t>
            </a:r>
            <a:endParaRPr lang="en-US" sz="1800" dirty="0"/>
          </a:p>
        </p:txBody>
      </p:sp>
      <p:sp>
        <p:nvSpPr>
          <p:cNvPr id="19" name="Shape 15"/>
          <p:cNvSpPr/>
          <p:nvPr/>
        </p:nvSpPr>
        <p:spPr>
          <a:xfrm>
            <a:off x="548640" y="3973068"/>
            <a:ext cx="11094415" cy="925830"/>
          </a:xfrm>
          <a:prstGeom prst="roundRect">
            <a:avLst>
              <a:gd name="adj" fmla="val 13827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749808" y="4234815"/>
            <a:ext cx="402336" cy="402336"/>
          </a:xfrm>
          <a:prstGeom prst="ellipse">
            <a:avLst/>
          </a:prstGeom>
          <a:solidFill>
            <a:srgbClr val="0A5D43"/>
          </a:solidFill>
          <a:ln/>
        </p:spPr>
      </p:sp>
      <p:sp>
        <p:nvSpPr>
          <p:cNvPr id="21" name="Text 17"/>
          <p:cNvSpPr txBox="1"/>
          <p:nvPr/>
        </p:nvSpPr>
        <p:spPr>
          <a:xfrm>
            <a:off x="749808" y="4234815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500" dirty="0"/>
          </a:p>
        </p:txBody>
      </p:sp>
      <p:sp>
        <p:nvSpPr>
          <p:cNvPr id="22" name="Text 18"/>
          <p:cNvSpPr/>
          <p:nvPr/>
        </p:nvSpPr>
        <p:spPr>
          <a:xfrm>
            <a:off x="1353312" y="4027932"/>
            <a:ext cx="10033711" cy="816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19. Is a single story enough evidence?</a:t>
            </a:r>
            <a:endParaRPr lang="en-US" sz="1800" dirty="0"/>
          </a:p>
          <a:p>
            <a:pPr indent="0" marL="0">
              <a:lnSpc>
                <a:spcPct val="102000"/>
              </a:lnSpc>
              <a:spcBef>
                <a:spcPts val="300"/>
              </a:spcBef>
              <a:buNone/>
            </a:pPr>
            <a:r>
              <a:rPr lang="en-US" sz="14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 or no, and why.</a:t>
            </a:r>
            <a:endParaRPr lang="en-US" sz="1800" dirty="0"/>
          </a:p>
        </p:txBody>
      </p:sp>
      <p:sp>
        <p:nvSpPr>
          <p:cNvPr id="23" name="Shape 19"/>
          <p:cNvSpPr/>
          <p:nvPr/>
        </p:nvSpPr>
        <p:spPr>
          <a:xfrm>
            <a:off x="548640" y="5017770"/>
            <a:ext cx="11094415" cy="925830"/>
          </a:xfrm>
          <a:prstGeom prst="roundRect">
            <a:avLst>
              <a:gd name="adj" fmla="val 13827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24" name="Shape 20"/>
          <p:cNvSpPr/>
          <p:nvPr/>
        </p:nvSpPr>
        <p:spPr>
          <a:xfrm>
            <a:off x="749808" y="5279517"/>
            <a:ext cx="402336" cy="402336"/>
          </a:xfrm>
          <a:prstGeom prst="ellipse">
            <a:avLst/>
          </a:prstGeom>
          <a:solidFill>
            <a:srgbClr val="0A5D43"/>
          </a:solidFill>
          <a:ln/>
        </p:spPr>
      </p:sp>
      <p:sp>
        <p:nvSpPr>
          <p:cNvPr id="25" name="Text 21"/>
          <p:cNvSpPr txBox="1"/>
          <p:nvPr/>
        </p:nvSpPr>
        <p:spPr>
          <a:xfrm>
            <a:off x="749808" y="5279517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500" dirty="0"/>
          </a:p>
        </p:txBody>
      </p:sp>
      <p:sp>
        <p:nvSpPr>
          <p:cNvPr id="26" name="Text 22"/>
          <p:cNvSpPr/>
          <p:nvPr/>
        </p:nvSpPr>
        <p:spPr>
          <a:xfrm>
            <a:off x="1353312" y="5072634"/>
            <a:ext cx="10033711" cy="816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20. SPEAKING: a full debate, side assigned by lot.</a:t>
            </a:r>
            <a:endParaRPr lang="en-US" sz="1800" dirty="0"/>
          </a:p>
          <a:p>
            <a:pPr indent="0" marL="0">
              <a:lnSpc>
                <a:spcPct val="102000"/>
              </a:lnSpc>
              <a:spcBef>
                <a:spcPts val="300"/>
              </a:spcBef>
              <a:buNone/>
            </a:pPr>
            <a:r>
              <a:rPr lang="en-US" sz="14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Assessed live.</a:t>
            </a:r>
            <a:endParaRPr lang="en-US" sz="1800" dirty="0"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38912"/>
            <a:ext cx="2199132" cy="420624"/>
          </a:xfrm>
          <a:prstGeom prst="roundRect">
            <a:avLst>
              <a:gd name="adj" fmla="val 50000"/>
            </a:avLst>
          </a:prstGeom>
          <a:solidFill>
            <a:srgbClr val="2E9E5B"/>
          </a:solidFill>
          <a:ln/>
        </p:spPr>
      </p:sp>
      <p:sp>
        <p:nvSpPr>
          <p:cNvPr id="3" name="Shape 1"/>
          <p:cNvSpPr/>
          <p:nvPr/>
        </p:nvSpPr>
        <p:spPr>
          <a:xfrm>
            <a:off x="649224" y="539496"/>
            <a:ext cx="219456" cy="219456"/>
          </a:xfrm>
          <a:prstGeom prst="ellipse">
            <a:avLst/>
          </a:prstGeom>
          <a:solidFill>
            <a:srgbClr val="2E9E5B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" y="539496"/>
            <a:ext cx="219456" cy="21945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932688" y="438912"/>
            <a:ext cx="170535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KEY 1 OF 5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896112"/>
            <a:ext cx="10972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 answers — questions 1 to 4</a:t>
            </a:r>
            <a:endParaRPr lang="en-US" sz="38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536192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answer has a reason. Read the reason, not just the answer.</a:t>
            </a:r>
            <a:endParaRPr lang="en-US" sz="165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6144768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50" kern="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4 · Advanced Spoken English · Module 3 — Debate &amp; Persuasion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10607040" y="6144768"/>
            <a:ext cx="1033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66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548640" y="1883664"/>
            <a:ext cx="11094415" cy="925830"/>
          </a:xfrm>
          <a:prstGeom prst="roundRect">
            <a:avLst>
              <a:gd name="adj" fmla="val 13827"/>
            </a:avLst>
          </a:prstGeom>
          <a:solidFill>
            <a:srgbClr val="E6F5EC"/>
          </a:solidFill>
          <a:ln w="12700">
            <a:solidFill>
              <a:srgbClr val="2E9E5B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731520" y="2154555"/>
            <a:ext cx="384048" cy="384048"/>
          </a:xfrm>
          <a:prstGeom prst="ellipse">
            <a:avLst/>
          </a:prstGeom>
          <a:solidFill>
            <a:srgbClr val="2E9E5B"/>
          </a:solidFill>
          <a:ln/>
        </p:spPr>
      </p:sp>
      <p:sp>
        <p:nvSpPr>
          <p:cNvPr id="13" name="Text 9"/>
          <p:cNvSpPr txBox="1"/>
          <p:nvPr/>
        </p:nvSpPr>
        <p:spPr>
          <a:xfrm>
            <a:off x="731520" y="2154555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1316736" y="1938528"/>
            <a:ext cx="10106863" cy="816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100" i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 — the four stages</a:t>
            </a:r>
            <a:endParaRPr lang="en-US" sz="1100" dirty="0"/>
          </a:p>
          <a:p>
            <a:pPr indent="0" marL="0">
              <a:lnSpc>
                <a:spcPct val="102000"/>
              </a:lnSpc>
              <a:spcBef>
                <a:spcPts val="169"/>
              </a:spcBef>
              <a:buNone/>
            </a:pPr>
            <a:r>
              <a:rPr lang="en-US" sz="144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Opening · rebuttal · questions · closing.</a:t>
            </a:r>
            <a:endParaRPr lang="en-US" sz="1100" dirty="0"/>
          </a:p>
          <a:p>
            <a:pPr indent="0" marL="0">
              <a:lnSpc>
                <a:spcPct val="102000"/>
              </a:lnSpc>
              <a:spcBef>
                <a:spcPts val="254"/>
              </a:spcBef>
              <a:buNone/>
            </a:pPr>
            <a:r>
              <a:rPr lang="en-US" sz="1100" dirty="0">
                <a:solidFill>
                  <a:srgbClr val="0A4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Each has a different job. Confusing them — new arguments in a closing, for instance — is visible to an audience.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548640" y="2928366"/>
            <a:ext cx="11094415" cy="925830"/>
          </a:xfrm>
          <a:prstGeom prst="roundRect">
            <a:avLst>
              <a:gd name="adj" fmla="val 13827"/>
            </a:avLst>
          </a:prstGeom>
          <a:solidFill>
            <a:srgbClr val="E6F5EC"/>
          </a:solidFill>
          <a:ln w="12700">
            <a:solidFill>
              <a:srgbClr val="2E9E5B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731520" y="3199257"/>
            <a:ext cx="384048" cy="384048"/>
          </a:xfrm>
          <a:prstGeom prst="ellipse">
            <a:avLst/>
          </a:prstGeom>
          <a:solidFill>
            <a:srgbClr val="2E9E5B"/>
          </a:solidFill>
          <a:ln/>
        </p:spPr>
      </p:sp>
      <p:sp>
        <p:nvSpPr>
          <p:cNvPr id="17" name="Text 13"/>
          <p:cNvSpPr txBox="1"/>
          <p:nvPr/>
        </p:nvSpPr>
        <p:spPr>
          <a:xfrm>
            <a:off x="731520" y="3199257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8" name="Text 14"/>
          <p:cNvSpPr/>
          <p:nvPr/>
        </p:nvSpPr>
        <p:spPr>
          <a:xfrm>
            <a:off x="1316736" y="2983230"/>
            <a:ext cx="10106863" cy="816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100" i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 — the opening</a:t>
            </a:r>
            <a:endParaRPr lang="en-US" sz="1100" dirty="0"/>
          </a:p>
          <a:p>
            <a:pPr indent="0" marL="0">
              <a:lnSpc>
                <a:spcPct val="102000"/>
              </a:lnSpc>
              <a:spcBef>
                <a:spcPts val="169"/>
              </a:spcBef>
              <a:buNone/>
            </a:pPr>
            <a:r>
              <a:rPr lang="en-US" sz="144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 seconds: a narrowed position and three previewed lines of argument.</a:t>
            </a:r>
            <a:endParaRPr lang="en-US" sz="1100" dirty="0"/>
          </a:p>
          <a:p>
            <a:pPr indent="0" marL="0">
              <a:lnSpc>
                <a:spcPct val="102000"/>
              </a:lnSpc>
              <a:spcBef>
                <a:spcPts val="254"/>
              </a:spcBef>
              <a:buNone/>
            </a:pPr>
            <a:r>
              <a:rPr lang="en-US" sz="1100" dirty="0">
                <a:solidFill>
                  <a:srgbClr val="0A4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It frames the whole debate and it is the only part you can fully prepare.</a:t>
            </a:r>
            <a:endParaRPr lang="en-US" sz="1100" dirty="0"/>
          </a:p>
        </p:txBody>
      </p:sp>
      <p:sp>
        <p:nvSpPr>
          <p:cNvPr id="19" name="Shape 15"/>
          <p:cNvSpPr/>
          <p:nvPr/>
        </p:nvSpPr>
        <p:spPr>
          <a:xfrm>
            <a:off x="548640" y="3973068"/>
            <a:ext cx="11094415" cy="925830"/>
          </a:xfrm>
          <a:prstGeom prst="roundRect">
            <a:avLst>
              <a:gd name="adj" fmla="val 13827"/>
            </a:avLst>
          </a:prstGeom>
          <a:solidFill>
            <a:srgbClr val="E6F5EC"/>
          </a:solidFill>
          <a:ln w="12700">
            <a:solidFill>
              <a:srgbClr val="2E9E5B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731520" y="4243959"/>
            <a:ext cx="384048" cy="384048"/>
          </a:xfrm>
          <a:prstGeom prst="ellipse">
            <a:avLst/>
          </a:prstGeom>
          <a:solidFill>
            <a:srgbClr val="2E9E5B"/>
          </a:solidFill>
          <a:ln/>
        </p:spPr>
      </p:sp>
      <p:sp>
        <p:nvSpPr>
          <p:cNvPr id="21" name="Text 17"/>
          <p:cNvSpPr txBox="1"/>
          <p:nvPr/>
        </p:nvSpPr>
        <p:spPr>
          <a:xfrm>
            <a:off x="731520" y="4243959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2" name="Text 18"/>
          <p:cNvSpPr/>
          <p:nvPr/>
        </p:nvSpPr>
        <p:spPr>
          <a:xfrm>
            <a:off x="1316736" y="4027932"/>
            <a:ext cx="10106863" cy="816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100" i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 — what a closing must not contain</a:t>
            </a:r>
            <a:endParaRPr lang="en-US" sz="1100" dirty="0"/>
          </a:p>
          <a:p>
            <a:pPr indent="0" marL="0">
              <a:lnSpc>
                <a:spcPct val="102000"/>
              </a:lnSpc>
              <a:spcBef>
                <a:spcPts val="169"/>
              </a:spcBef>
              <a:buNone/>
            </a:pPr>
            <a:r>
              <a:rPr lang="en-US" sz="144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arguments.</a:t>
            </a:r>
            <a:endParaRPr lang="en-US" sz="1100" dirty="0"/>
          </a:p>
          <a:p>
            <a:pPr indent="0" marL="0">
              <a:lnSpc>
                <a:spcPct val="102000"/>
              </a:lnSpc>
              <a:spcBef>
                <a:spcPts val="254"/>
              </a:spcBef>
              <a:buNone/>
            </a:pPr>
            <a:r>
              <a:rPr lang="en-US" sz="1100" dirty="0">
                <a:solidFill>
                  <a:srgbClr val="0A4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Remind, do not add. New material there signals a case that was incomplete.</a:t>
            </a:r>
            <a:endParaRPr lang="en-US" sz="1100" dirty="0"/>
          </a:p>
        </p:txBody>
      </p:sp>
      <p:sp>
        <p:nvSpPr>
          <p:cNvPr id="23" name="Shape 19"/>
          <p:cNvSpPr/>
          <p:nvPr/>
        </p:nvSpPr>
        <p:spPr>
          <a:xfrm>
            <a:off x="548640" y="5017770"/>
            <a:ext cx="11094415" cy="925830"/>
          </a:xfrm>
          <a:prstGeom prst="roundRect">
            <a:avLst>
              <a:gd name="adj" fmla="val 13827"/>
            </a:avLst>
          </a:prstGeom>
          <a:solidFill>
            <a:srgbClr val="E6F5EC"/>
          </a:solidFill>
          <a:ln w="12700">
            <a:solidFill>
              <a:srgbClr val="2E9E5B"/>
            </a:solidFill>
            <a:prstDash val="solid"/>
          </a:ln>
        </p:spPr>
      </p:sp>
      <p:sp>
        <p:nvSpPr>
          <p:cNvPr id="24" name="Shape 20"/>
          <p:cNvSpPr/>
          <p:nvPr/>
        </p:nvSpPr>
        <p:spPr>
          <a:xfrm>
            <a:off x="731520" y="5288661"/>
            <a:ext cx="384048" cy="384048"/>
          </a:xfrm>
          <a:prstGeom prst="ellipse">
            <a:avLst/>
          </a:prstGeom>
          <a:solidFill>
            <a:srgbClr val="2E9E5B"/>
          </a:solidFill>
          <a:ln/>
        </p:spPr>
      </p:sp>
      <p:sp>
        <p:nvSpPr>
          <p:cNvPr id="25" name="Text 21"/>
          <p:cNvSpPr txBox="1"/>
          <p:nvPr/>
        </p:nvSpPr>
        <p:spPr>
          <a:xfrm>
            <a:off x="731520" y="5288661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6" name="Text 22"/>
          <p:cNvSpPr/>
          <p:nvPr/>
        </p:nvSpPr>
        <p:spPr>
          <a:xfrm>
            <a:off x="1316736" y="5072634"/>
            <a:ext cx="10106863" cy="816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100" i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 — where debates are decided</a:t>
            </a:r>
            <a:endParaRPr lang="en-US" sz="1100" dirty="0"/>
          </a:p>
          <a:p>
            <a:pPr indent="0" marL="0">
              <a:lnSpc>
                <a:spcPct val="102000"/>
              </a:lnSpc>
              <a:spcBef>
                <a:spcPts val="169"/>
              </a:spcBef>
              <a:buNone/>
            </a:pPr>
            <a:r>
              <a:rPr lang="en-US" sz="144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question round.</a:t>
            </a:r>
            <a:endParaRPr lang="en-US" sz="1100" dirty="0"/>
          </a:p>
          <a:p>
            <a:pPr indent="0" marL="0">
              <a:lnSpc>
                <a:spcPct val="102000"/>
              </a:lnSpc>
              <a:spcBef>
                <a:spcPts val="254"/>
              </a:spcBef>
              <a:buNone/>
            </a:pPr>
            <a:r>
              <a:rPr lang="en-US" sz="1100" dirty="0">
                <a:solidFill>
                  <a:srgbClr val="0A4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It is the only unprepared stage, which is why slide 9's four techniques matter more than anything else.</a:t>
            </a:r>
            <a:endParaRPr lang="en-US" sz="1100" dirty="0"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38912"/>
            <a:ext cx="2199132" cy="420624"/>
          </a:xfrm>
          <a:prstGeom prst="roundRect">
            <a:avLst>
              <a:gd name="adj" fmla="val 50000"/>
            </a:avLst>
          </a:prstGeom>
          <a:solidFill>
            <a:srgbClr val="2E9E5B"/>
          </a:solidFill>
          <a:ln/>
        </p:spPr>
      </p:sp>
      <p:sp>
        <p:nvSpPr>
          <p:cNvPr id="3" name="Shape 1"/>
          <p:cNvSpPr/>
          <p:nvPr/>
        </p:nvSpPr>
        <p:spPr>
          <a:xfrm>
            <a:off x="649224" y="539496"/>
            <a:ext cx="219456" cy="219456"/>
          </a:xfrm>
          <a:prstGeom prst="ellipse">
            <a:avLst/>
          </a:prstGeom>
          <a:solidFill>
            <a:srgbClr val="2E9E5B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" y="539496"/>
            <a:ext cx="219456" cy="21945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932688" y="438912"/>
            <a:ext cx="170535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KEY 2 OF 5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896112"/>
            <a:ext cx="10972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 answers — questions 5 to 8</a:t>
            </a:r>
            <a:endParaRPr lang="en-US" sz="38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536192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answer has a reason. Read the reason, not just the answer.</a:t>
            </a:r>
            <a:endParaRPr lang="en-US" sz="165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6144768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50" kern="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4 · Advanced Spoken English · Module 3 — Debate &amp; Persuasion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10607040" y="6144768"/>
            <a:ext cx="1033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67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548640" y="1883664"/>
            <a:ext cx="11094415" cy="925830"/>
          </a:xfrm>
          <a:prstGeom prst="roundRect">
            <a:avLst>
              <a:gd name="adj" fmla="val 13827"/>
            </a:avLst>
          </a:prstGeom>
          <a:solidFill>
            <a:srgbClr val="E6F5EC"/>
          </a:solidFill>
          <a:ln w="12700">
            <a:solidFill>
              <a:srgbClr val="2E9E5B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731520" y="2154555"/>
            <a:ext cx="384048" cy="384048"/>
          </a:xfrm>
          <a:prstGeom prst="ellipse">
            <a:avLst/>
          </a:prstGeom>
          <a:solidFill>
            <a:srgbClr val="2E9E5B"/>
          </a:solidFill>
          <a:ln/>
        </p:spPr>
      </p:sp>
      <p:sp>
        <p:nvSpPr>
          <p:cNvPr id="13" name="Text 9"/>
          <p:cNvSpPr txBox="1"/>
          <p:nvPr/>
        </p:nvSpPr>
        <p:spPr>
          <a:xfrm>
            <a:off x="731520" y="2154555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1316736" y="1938528"/>
            <a:ext cx="10106863" cy="816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100" i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Q5 — why narrow</a:t>
            </a:r>
            <a:endParaRPr lang="en-US" sz="1100" dirty="0"/>
          </a:p>
          <a:p>
            <a:pPr indent="0" marL="0">
              <a:lnSpc>
                <a:spcPct val="102000"/>
              </a:lnSpc>
              <a:spcBef>
                <a:spcPts val="169"/>
              </a:spcBef>
              <a:buNone/>
            </a:pPr>
            <a:r>
              <a:rPr lang="en-US" sz="144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Their prepared attacks aim at a claim you are no longer making.</a:t>
            </a:r>
            <a:endParaRPr lang="en-US" sz="1100" dirty="0"/>
          </a:p>
          <a:p>
            <a:pPr indent="0" marL="0">
              <a:lnSpc>
                <a:spcPct val="102000"/>
              </a:lnSpc>
              <a:spcBef>
                <a:spcPts val="254"/>
              </a:spcBef>
              <a:buNone/>
            </a:pPr>
            <a:r>
              <a:rPr lang="en-US" sz="1100" dirty="0">
                <a:solidFill>
                  <a:srgbClr val="0A4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It costs nothing, happens in sentence one, and removes the easiest attacks in advance.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548640" y="2928366"/>
            <a:ext cx="11094415" cy="925830"/>
          </a:xfrm>
          <a:prstGeom prst="roundRect">
            <a:avLst>
              <a:gd name="adj" fmla="val 13827"/>
            </a:avLst>
          </a:prstGeom>
          <a:solidFill>
            <a:srgbClr val="E6F5EC"/>
          </a:solidFill>
          <a:ln w="12700">
            <a:solidFill>
              <a:srgbClr val="2E9E5B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731520" y="3199257"/>
            <a:ext cx="384048" cy="384048"/>
          </a:xfrm>
          <a:prstGeom prst="ellipse">
            <a:avLst/>
          </a:prstGeom>
          <a:solidFill>
            <a:srgbClr val="2E9E5B"/>
          </a:solidFill>
          <a:ln/>
        </p:spPr>
      </p:sp>
      <p:sp>
        <p:nvSpPr>
          <p:cNvPr id="17" name="Text 13"/>
          <p:cNvSpPr txBox="1"/>
          <p:nvPr/>
        </p:nvSpPr>
        <p:spPr>
          <a:xfrm>
            <a:off x="731520" y="3199257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18" name="Text 14"/>
          <p:cNvSpPr/>
          <p:nvPr/>
        </p:nvSpPr>
        <p:spPr>
          <a:xfrm>
            <a:off x="1316736" y="2983230"/>
            <a:ext cx="10106863" cy="816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100" i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Q6 — narrow the motion</a:t>
            </a:r>
            <a:endParaRPr lang="en-US" sz="1100" dirty="0"/>
          </a:p>
          <a:p>
            <a:pPr indent="0" marL="0">
              <a:lnSpc>
                <a:spcPct val="102000"/>
              </a:lnSpc>
              <a:spcBef>
                <a:spcPts val="169"/>
              </a:spcBef>
              <a:buNone/>
            </a:pPr>
            <a:r>
              <a:rPr lang="en-US" sz="144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“Reduced, not abolished.”</a:t>
            </a:r>
            <a:endParaRPr lang="en-US" sz="1100" dirty="0"/>
          </a:p>
          <a:p>
            <a:pPr indent="0" marL="0">
              <a:lnSpc>
                <a:spcPct val="102000"/>
              </a:lnSpc>
              <a:spcBef>
                <a:spcPts val="254"/>
              </a:spcBef>
              <a:buNone/>
            </a:pPr>
            <a:r>
              <a:rPr lang="en-US" sz="1100" dirty="0">
                <a:solidFill>
                  <a:srgbClr val="0A4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Still a real position on the same side, and far easier to defend against counter-examples.</a:t>
            </a:r>
            <a:endParaRPr lang="en-US" sz="1100" dirty="0"/>
          </a:p>
        </p:txBody>
      </p:sp>
      <p:sp>
        <p:nvSpPr>
          <p:cNvPr id="19" name="Shape 15"/>
          <p:cNvSpPr/>
          <p:nvPr/>
        </p:nvSpPr>
        <p:spPr>
          <a:xfrm>
            <a:off x="548640" y="3973068"/>
            <a:ext cx="11094415" cy="925830"/>
          </a:xfrm>
          <a:prstGeom prst="roundRect">
            <a:avLst>
              <a:gd name="adj" fmla="val 13827"/>
            </a:avLst>
          </a:prstGeom>
          <a:solidFill>
            <a:srgbClr val="E6F5EC"/>
          </a:solidFill>
          <a:ln w="12700">
            <a:solidFill>
              <a:srgbClr val="2E9E5B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731520" y="4243959"/>
            <a:ext cx="384048" cy="384048"/>
          </a:xfrm>
          <a:prstGeom prst="ellipse">
            <a:avLst/>
          </a:prstGeom>
          <a:solidFill>
            <a:srgbClr val="2E9E5B"/>
          </a:solidFill>
          <a:ln/>
        </p:spPr>
      </p:sp>
      <p:sp>
        <p:nvSpPr>
          <p:cNvPr id="21" name="Text 17"/>
          <p:cNvSpPr txBox="1"/>
          <p:nvPr/>
        </p:nvSpPr>
        <p:spPr>
          <a:xfrm>
            <a:off x="731520" y="4243959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400" dirty="0"/>
          </a:p>
        </p:txBody>
      </p:sp>
      <p:sp>
        <p:nvSpPr>
          <p:cNvPr id="22" name="Text 18"/>
          <p:cNvSpPr/>
          <p:nvPr/>
        </p:nvSpPr>
        <p:spPr>
          <a:xfrm>
            <a:off x="1316736" y="4027932"/>
            <a:ext cx="10106863" cy="816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100" i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Q7 — how many lines?</a:t>
            </a:r>
            <a:endParaRPr lang="en-US" sz="1100" dirty="0"/>
          </a:p>
          <a:p>
            <a:pPr indent="0" marL="0">
              <a:lnSpc>
                <a:spcPct val="102000"/>
              </a:lnSpc>
              <a:spcBef>
                <a:spcPts val="169"/>
              </a:spcBef>
              <a:buNone/>
            </a:pPr>
            <a:r>
              <a:rPr lang="en-US" sz="144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Three. Two feels thin; four or five displace each other.</a:t>
            </a:r>
            <a:endParaRPr lang="en-US" sz="1100" dirty="0"/>
          </a:p>
          <a:p>
            <a:pPr indent="0" marL="0">
              <a:lnSpc>
                <a:spcPct val="102000"/>
              </a:lnSpc>
              <a:spcBef>
                <a:spcPts val="254"/>
              </a:spcBef>
              <a:buNone/>
            </a:pPr>
            <a:r>
              <a:rPr lang="en-US" sz="1100" dirty="0">
                <a:solidFill>
                  <a:srgbClr val="0A4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An audience holds three. The fourth costs you the first.</a:t>
            </a:r>
            <a:endParaRPr lang="en-US" sz="1100" dirty="0"/>
          </a:p>
        </p:txBody>
      </p:sp>
      <p:sp>
        <p:nvSpPr>
          <p:cNvPr id="23" name="Shape 19"/>
          <p:cNvSpPr/>
          <p:nvPr/>
        </p:nvSpPr>
        <p:spPr>
          <a:xfrm>
            <a:off x="548640" y="5017770"/>
            <a:ext cx="11094415" cy="925830"/>
          </a:xfrm>
          <a:prstGeom prst="roundRect">
            <a:avLst>
              <a:gd name="adj" fmla="val 13827"/>
            </a:avLst>
          </a:prstGeom>
          <a:solidFill>
            <a:srgbClr val="E6F5EC"/>
          </a:solidFill>
          <a:ln w="12700">
            <a:solidFill>
              <a:srgbClr val="2E9E5B"/>
            </a:solidFill>
            <a:prstDash val="solid"/>
          </a:ln>
        </p:spPr>
      </p:sp>
      <p:sp>
        <p:nvSpPr>
          <p:cNvPr id="24" name="Shape 20"/>
          <p:cNvSpPr/>
          <p:nvPr/>
        </p:nvSpPr>
        <p:spPr>
          <a:xfrm>
            <a:off x="731520" y="5288661"/>
            <a:ext cx="384048" cy="384048"/>
          </a:xfrm>
          <a:prstGeom prst="ellipse">
            <a:avLst/>
          </a:prstGeom>
          <a:solidFill>
            <a:srgbClr val="2E9E5B"/>
          </a:solidFill>
          <a:ln/>
        </p:spPr>
      </p:sp>
      <p:sp>
        <p:nvSpPr>
          <p:cNvPr id="25" name="Text 21"/>
          <p:cNvSpPr txBox="1"/>
          <p:nvPr/>
        </p:nvSpPr>
        <p:spPr>
          <a:xfrm>
            <a:off x="731520" y="5288661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400" dirty="0"/>
          </a:p>
        </p:txBody>
      </p:sp>
      <p:sp>
        <p:nvSpPr>
          <p:cNvPr id="26" name="Text 22"/>
          <p:cNvSpPr/>
          <p:nvPr/>
        </p:nvSpPr>
        <p:spPr>
          <a:xfrm>
            <a:off x="1316736" y="5072634"/>
            <a:ext cx="10106863" cy="816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100" i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Q8 — which sentences to memorise</a:t>
            </a:r>
            <a:endParaRPr lang="en-US" sz="1100" dirty="0"/>
          </a:p>
          <a:p>
            <a:pPr indent="0" marL="0">
              <a:lnSpc>
                <a:spcPct val="102000"/>
              </a:lnSpc>
              <a:spcBef>
                <a:spcPts val="169"/>
              </a:spcBef>
              <a:buNone/>
            </a:pPr>
            <a:r>
              <a:rPr lang="en-US" sz="144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position statement and the three-line preview.</a:t>
            </a:r>
            <a:endParaRPr lang="en-US" sz="1100" dirty="0"/>
          </a:p>
          <a:p>
            <a:pPr indent="0" marL="0">
              <a:lnSpc>
                <a:spcPct val="102000"/>
              </a:lnSpc>
              <a:spcBef>
                <a:spcPts val="254"/>
              </a:spcBef>
              <a:buNone/>
            </a:pPr>
            <a:r>
              <a:rPr lang="en-US" sz="1100" dirty="0">
                <a:solidFill>
                  <a:srgbClr val="0A4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Delivered from memory, they carry you through the moment of highest nerves.</a:t>
            </a:r>
            <a:endParaRPr lang="en-US" sz="1100" dirty="0"/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38912"/>
            <a:ext cx="2199132" cy="420624"/>
          </a:xfrm>
          <a:prstGeom prst="roundRect">
            <a:avLst>
              <a:gd name="adj" fmla="val 50000"/>
            </a:avLst>
          </a:prstGeom>
          <a:solidFill>
            <a:srgbClr val="2E9E5B"/>
          </a:solidFill>
          <a:ln/>
        </p:spPr>
      </p:sp>
      <p:sp>
        <p:nvSpPr>
          <p:cNvPr id="3" name="Shape 1"/>
          <p:cNvSpPr/>
          <p:nvPr/>
        </p:nvSpPr>
        <p:spPr>
          <a:xfrm>
            <a:off x="649224" y="539496"/>
            <a:ext cx="219456" cy="219456"/>
          </a:xfrm>
          <a:prstGeom prst="ellipse">
            <a:avLst/>
          </a:prstGeom>
          <a:solidFill>
            <a:srgbClr val="2E9E5B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" y="539496"/>
            <a:ext cx="219456" cy="21945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932688" y="438912"/>
            <a:ext cx="170535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KEY 3 OF 5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896112"/>
            <a:ext cx="10972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 answers — questions 9 to 12</a:t>
            </a:r>
            <a:endParaRPr lang="en-US" sz="38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536192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answer has a reason. Read the reason, not just the answer.</a:t>
            </a:r>
            <a:endParaRPr lang="en-US" sz="165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6144768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50" kern="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4 · Advanced Spoken English · Module 3 — Debate &amp; Persuasion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10607040" y="6144768"/>
            <a:ext cx="1033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68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548640" y="1883664"/>
            <a:ext cx="11094415" cy="925830"/>
          </a:xfrm>
          <a:prstGeom prst="roundRect">
            <a:avLst>
              <a:gd name="adj" fmla="val 13827"/>
            </a:avLst>
          </a:prstGeom>
          <a:solidFill>
            <a:srgbClr val="E6F5EC"/>
          </a:solidFill>
          <a:ln w="12700">
            <a:solidFill>
              <a:srgbClr val="2E9E5B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731520" y="2154555"/>
            <a:ext cx="384048" cy="384048"/>
          </a:xfrm>
          <a:prstGeom prst="ellipse">
            <a:avLst/>
          </a:prstGeom>
          <a:solidFill>
            <a:srgbClr val="2E9E5B"/>
          </a:solidFill>
          <a:ln/>
        </p:spPr>
      </p:sp>
      <p:sp>
        <p:nvSpPr>
          <p:cNvPr id="13" name="Text 9"/>
          <p:cNvSpPr txBox="1"/>
          <p:nvPr/>
        </p:nvSpPr>
        <p:spPr>
          <a:xfrm>
            <a:off x="731520" y="2154555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1316736" y="1938528"/>
            <a:ext cx="10106863" cy="816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100" i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Q9 — how many points to rebut</a:t>
            </a:r>
            <a:endParaRPr lang="en-US" sz="1100" dirty="0"/>
          </a:p>
          <a:p>
            <a:pPr indent="0" marL="0">
              <a:lnSpc>
                <a:spcPct val="102000"/>
              </a:lnSpc>
              <a:spcBef>
                <a:spcPts val="169"/>
              </a:spcBef>
              <a:buNone/>
            </a:pPr>
            <a:r>
              <a:rPr lang="en-US" sz="144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— the point their case depends on.</a:t>
            </a:r>
            <a:endParaRPr lang="en-US" sz="1100" dirty="0"/>
          </a:p>
          <a:p>
            <a:pPr indent="0" marL="0">
              <a:lnSpc>
                <a:spcPct val="102000"/>
              </a:lnSpc>
              <a:spcBef>
                <a:spcPts val="254"/>
              </a:spcBef>
              <a:buNone/>
            </a:pPr>
            <a:r>
              <a:rPr lang="en-US" sz="1100" dirty="0">
                <a:solidFill>
                  <a:srgbClr val="0A4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Five weak attacks look like you found nothing. One destroyed point makes the audience doubt the rest.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548640" y="2928366"/>
            <a:ext cx="11094415" cy="925830"/>
          </a:xfrm>
          <a:prstGeom prst="roundRect">
            <a:avLst>
              <a:gd name="adj" fmla="val 13827"/>
            </a:avLst>
          </a:prstGeom>
          <a:solidFill>
            <a:srgbClr val="E6F5EC"/>
          </a:solidFill>
          <a:ln w="12700">
            <a:solidFill>
              <a:srgbClr val="2E9E5B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731520" y="3199257"/>
            <a:ext cx="384048" cy="384048"/>
          </a:xfrm>
          <a:prstGeom prst="ellipse">
            <a:avLst/>
          </a:prstGeom>
          <a:solidFill>
            <a:srgbClr val="2E9E5B"/>
          </a:solidFill>
          <a:ln/>
        </p:spPr>
      </p:sp>
      <p:sp>
        <p:nvSpPr>
          <p:cNvPr id="17" name="Text 13"/>
          <p:cNvSpPr txBox="1"/>
          <p:nvPr/>
        </p:nvSpPr>
        <p:spPr>
          <a:xfrm>
            <a:off x="731520" y="3199257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400" dirty="0"/>
          </a:p>
        </p:txBody>
      </p:sp>
      <p:sp>
        <p:nvSpPr>
          <p:cNvPr id="18" name="Text 14"/>
          <p:cNvSpPr/>
          <p:nvPr/>
        </p:nvSpPr>
        <p:spPr>
          <a:xfrm>
            <a:off x="1316736" y="2983230"/>
            <a:ext cx="10106863" cy="816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100" i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Q10 — the four steps</a:t>
            </a:r>
            <a:endParaRPr lang="en-US" sz="1100" dirty="0"/>
          </a:p>
          <a:p>
            <a:pPr indent="0" marL="0">
              <a:lnSpc>
                <a:spcPct val="102000"/>
              </a:lnSpc>
              <a:spcBef>
                <a:spcPts val="169"/>
              </a:spcBef>
              <a:buNone/>
            </a:pPr>
            <a:r>
              <a:rPr lang="en-US" sz="144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 it · concede what is true · attack the weak part · say what now follows.</a:t>
            </a:r>
            <a:endParaRPr lang="en-US" sz="1100" dirty="0"/>
          </a:p>
          <a:p>
            <a:pPr indent="0" marL="0">
              <a:lnSpc>
                <a:spcPct val="102000"/>
              </a:lnSpc>
              <a:spcBef>
                <a:spcPts val="254"/>
              </a:spcBef>
              <a:buNone/>
            </a:pPr>
            <a:r>
              <a:rPr lang="en-US" sz="1100" dirty="0">
                <a:solidFill>
                  <a:srgbClr val="0A4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The concession is what stops it sounding like a personal attack.</a:t>
            </a:r>
            <a:endParaRPr lang="en-US" sz="1100" dirty="0"/>
          </a:p>
        </p:txBody>
      </p:sp>
      <p:sp>
        <p:nvSpPr>
          <p:cNvPr id="19" name="Shape 15"/>
          <p:cNvSpPr/>
          <p:nvPr/>
        </p:nvSpPr>
        <p:spPr>
          <a:xfrm>
            <a:off x="548640" y="3973068"/>
            <a:ext cx="11094415" cy="925830"/>
          </a:xfrm>
          <a:prstGeom prst="roundRect">
            <a:avLst>
              <a:gd name="adj" fmla="val 13827"/>
            </a:avLst>
          </a:prstGeom>
          <a:solidFill>
            <a:srgbClr val="E6F5EC"/>
          </a:solidFill>
          <a:ln w="12700">
            <a:solidFill>
              <a:srgbClr val="2E9E5B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731520" y="4243959"/>
            <a:ext cx="384048" cy="384048"/>
          </a:xfrm>
          <a:prstGeom prst="ellipse">
            <a:avLst/>
          </a:prstGeom>
          <a:solidFill>
            <a:srgbClr val="2E9E5B"/>
          </a:solidFill>
          <a:ln/>
        </p:spPr>
      </p:sp>
      <p:sp>
        <p:nvSpPr>
          <p:cNvPr id="21" name="Text 17"/>
          <p:cNvSpPr txBox="1"/>
          <p:nvPr/>
        </p:nvSpPr>
        <p:spPr>
          <a:xfrm>
            <a:off x="731520" y="4243959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400" dirty="0"/>
          </a:p>
        </p:txBody>
      </p:sp>
      <p:sp>
        <p:nvSpPr>
          <p:cNvPr id="22" name="Text 18"/>
          <p:cNvSpPr/>
          <p:nvPr/>
        </p:nvSpPr>
        <p:spPr>
          <a:xfrm>
            <a:off x="1316736" y="4027932"/>
            <a:ext cx="10106863" cy="816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100" i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Q11 — the strongest move</a:t>
            </a:r>
            <a:endParaRPr lang="en-US" sz="1100" dirty="0"/>
          </a:p>
          <a:p>
            <a:pPr indent="0" marL="0">
              <a:lnSpc>
                <a:spcPct val="102000"/>
              </a:lnSpc>
              <a:spcBef>
                <a:spcPts val="169"/>
              </a:spcBef>
              <a:buNone/>
            </a:pPr>
            <a:r>
              <a:rPr lang="en-US" sz="144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turnaround: “That actually supports our case.”</a:t>
            </a:r>
            <a:endParaRPr lang="en-US" sz="1100" dirty="0"/>
          </a:p>
          <a:p>
            <a:pPr indent="0" marL="0">
              <a:lnSpc>
                <a:spcPct val="102000"/>
              </a:lnSpc>
              <a:spcBef>
                <a:spcPts val="254"/>
              </a:spcBef>
              <a:buNone/>
            </a:pPr>
            <a:r>
              <a:rPr lang="en-US" sz="1100" dirty="0">
                <a:solidFill>
                  <a:srgbClr val="0A4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Taking their evidence and showing it helps you is worth more than removing it.</a:t>
            </a:r>
            <a:endParaRPr lang="en-US" sz="1100" dirty="0"/>
          </a:p>
        </p:txBody>
      </p:sp>
      <p:sp>
        <p:nvSpPr>
          <p:cNvPr id="23" name="Shape 19"/>
          <p:cNvSpPr/>
          <p:nvPr/>
        </p:nvSpPr>
        <p:spPr>
          <a:xfrm>
            <a:off x="548640" y="5017770"/>
            <a:ext cx="11094415" cy="925830"/>
          </a:xfrm>
          <a:prstGeom prst="roundRect">
            <a:avLst>
              <a:gd name="adj" fmla="val 13827"/>
            </a:avLst>
          </a:prstGeom>
          <a:solidFill>
            <a:srgbClr val="E6F5EC"/>
          </a:solidFill>
          <a:ln w="12700">
            <a:solidFill>
              <a:srgbClr val="2E9E5B"/>
            </a:solidFill>
            <a:prstDash val="solid"/>
          </a:ln>
        </p:spPr>
      </p:sp>
      <p:sp>
        <p:nvSpPr>
          <p:cNvPr id="24" name="Shape 20"/>
          <p:cNvSpPr/>
          <p:nvPr/>
        </p:nvSpPr>
        <p:spPr>
          <a:xfrm>
            <a:off x="731520" y="5288661"/>
            <a:ext cx="384048" cy="384048"/>
          </a:xfrm>
          <a:prstGeom prst="ellipse">
            <a:avLst/>
          </a:prstGeom>
          <a:solidFill>
            <a:srgbClr val="2E9E5B"/>
          </a:solidFill>
          <a:ln/>
        </p:spPr>
      </p:sp>
      <p:sp>
        <p:nvSpPr>
          <p:cNvPr id="25" name="Text 21"/>
          <p:cNvSpPr txBox="1"/>
          <p:nvPr/>
        </p:nvSpPr>
        <p:spPr>
          <a:xfrm>
            <a:off x="731520" y="5288661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400" dirty="0"/>
          </a:p>
        </p:txBody>
      </p:sp>
      <p:sp>
        <p:nvSpPr>
          <p:cNvPr id="26" name="Text 22"/>
          <p:cNvSpPr/>
          <p:nvPr/>
        </p:nvSpPr>
        <p:spPr>
          <a:xfrm>
            <a:off x="1316736" y="5072634"/>
            <a:ext cx="10106863" cy="816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100" i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Q12 — why concede first</a:t>
            </a:r>
            <a:endParaRPr lang="en-US" sz="1100" dirty="0"/>
          </a:p>
          <a:p>
            <a:pPr indent="0" marL="0">
              <a:lnSpc>
                <a:spcPct val="102000"/>
              </a:lnSpc>
              <a:spcBef>
                <a:spcPts val="169"/>
              </a:spcBef>
              <a:buNone/>
            </a:pPr>
            <a:r>
              <a:rPr lang="en-US" sz="144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makes the attack on the false part credible.</a:t>
            </a:r>
            <a:endParaRPr lang="en-US" sz="1100" dirty="0"/>
          </a:p>
          <a:p>
            <a:pPr indent="0" marL="0">
              <a:lnSpc>
                <a:spcPct val="102000"/>
              </a:lnSpc>
              <a:spcBef>
                <a:spcPts val="254"/>
              </a:spcBef>
              <a:buNone/>
            </a:pPr>
            <a:r>
              <a:rPr lang="en-US" sz="1100" dirty="0">
                <a:solidFill>
                  <a:srgbClr val="0A4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Denying what is obviously true costs you the whole rebuttal.</a:t>
            </a:r>
            <a:endParaRPr lang="en-US" sz="1100" dirty="0"/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38912"/>
            <a:ext cx="2199132" cy="420624"/>
          </a:xfrm>
          <a:prstGeom prst="roundRect">
            <a:avLst>
              <a:gd name="adj" fmla="val 50000"/>
            </a:avLst>
          </a:prstGeom>
          <a:solidFill>
            <a:srgbClr val="2E9E5B"/>
          </a:solidFill>
          <a:ln/>
        </p:spPr>
      </p:sp>
      <p:sp>
        <p:nvSpPr>
          <p:cNvPr id="3" name="Shape 1"/>
          <p:cNvSpPr/>
          <p:nvPr/>
        </p:nvSpPr>
        <p:spPr>
          <a:xfrm>
            <a:off x="649224" y="539496"/>
            <a:ext cx="219456" cy="219456"/>
          </a:xfrm>
          <a:prstGeom prst="ellipse">
            <a:avLst/>
          </a:prstGeom>
          <a:solidFill>
            <a:srgbClr val="2E9E5B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" y="539496"/>
            <a:ext cx="219456" cy="21945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932688" y="438912"/>
            <a:ext cx="170535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KEY 4 OF 5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896112"/>
            <a:ext cx="10972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 answers — questions 13 to 16</a:t>
            </a:r>
            <a:endParaRPr lang="en-US" sz="38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536192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answer has a reason. Read the reason, not just the answer.</a:t>
            </a:r>
            <a:endParaRPr lang="en-US" sz="165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6144768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50" kern="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4 · Advanced Spoken English · Module 3 — Debate &amp; Persuasion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10607040" y="6144768"/>
            <a:ext cx="1033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69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548640" y="1883664"/>
            <a:ext cx="11094415" cy="925830"/>
          </a:xfrm>
          <a:prstGeom prst="roundRect">
            <a:avLst>
              <a:gd name="adj" fmla="val 13827"/>
            </a:avLst>
          </a:prstGeom>
          <a:solidFill>
            <a:srgbClr val="E6F5EC"/>
          </a:solidFill>
          <a:ln w="12700">
            <a:solidFill>
              <a:srgbClr val="2E9E5B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731520" y="2154555"/>
            <a:ext cx="384048" cy="384048"/>
          </a:xfrm>
          <a:prstGeom prst="ellipse">
            <a:avLst/>
          </a:prstGeom>
          <a:solidFill>
            <a:srgbClr val="2E9E5B"/>
          </a:solidFill>
          <a:ln/>
        </p:spPr>
      </p:sp>
      <p:sp>
        <p:nvSpPr>
          <p:cNvPr id="13" name="Text 9"/>
          <p:cNvSpPr txBox="1"/>
          <p:nvPr/>
        </p:nvSpPr>
        <p:spPr>
          <a:xfrm>
            <a:off x="731520" y="2154555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1316736" y="1938528"/>
            <a:ext cx="10106863" cy="816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100" i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Q13 — a figure you don't have</a:t>
            </a:r>
            <a:endParaRPr lang="en-US" sz="1100" dirty="0"/>
          </a:p>
          <a:p>
            <a:pPr indent="0" marL="0">
              <a:lnSpc>
                <a:spcPct val="102000"/>
              </a:lnSpc>
              <a:spcBef>
                <a:spcPts val="169"/>
              </a:spcBef>
              <a:buNone/>
            </a:pPr>
            <a:r>
              <a:rPr lang="en-US" sz="144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“I don't have that figure. It doesn't change the main point, which is…”</a:t>
            </a:r>
            <a:endParaRPr lang="en-US" sz="1100" dirty="0"/>
          </a:p>
          <a:p>
            <a:pPr indent="0" marL="0">
              <a:lnSpc>
                <a:spcPct val="102000"/>
              </a:lnSpc>
              <a:spcBef>
                <a:spcPts val="254"/>
              </a:spcBef>
              <a:buNone/>
            </a:pPr>
            <a:r>
              <a:rPr lang="en-US" sz="1100" dirty="0">
                <a:solidFill>
                  <a:srgbClr val="0A4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Honest, then redirect. The redirect is what makes it strong rather than merely honest.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548640" y="2928366"/>
            <a:ext cx="11094415" cy="925830"/>
          </a:xfrm>
          <a:prstGeom prst="roundRect">
            <a:avLst>
              <a:gd name="adj" fmla="val 13827"/>
            </a:avLst>
          </a:prstGeom>
          <a:solidFill>
            <a:srgbClr val="E6F5EC"/>
          </a:solidFill>
          <a:ln w="12700">
            <a:solidFill>
              <a:srgbClr val="2E9E5B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731520" y="3199257"/>
            <a:ext cx="384048" cy="384048"/>
          </a:xfrm>
          <a:prstGeom prst="ellipse">
            <a:avLst/>
          </a:prstGeom>
          <a:solidFill>
            <a:srgbClr val="2E9E5B"/>
          </a:solidFill>
          <a:ln/>
        </p:spPr>
      </p:sp>
      <p:sp>
        <p:nvSpPr>
          <p:cNvPr id="17" name="Text 13"/>
          <p:cNvSpPr txBox="1"/>
          <p:nvPr/>
        </p:nvSpPr>
        <p:spPr>
          <a:xfrm>
            <a:off x="731520" y="3199257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400" dirty="0"/>
          </a:p>
        </p:txBody>
      </p:sp>
      <p:sp>
        <p:nvSpPr>
          <p:cNvPr id="18" name="Text 14"/>
          <p:cNvSpPr/>
          <p:nvPr/>
        </p:nvSpPr>
        <p:spPr>
          <a:xfrm>
            <a:off x="1316736" y="2983230"/>
            <a:ext cx="10106863" cy="816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100" i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Q14 — why never invent</a:t>
            </a:r>
            <a:endParaRPr lang="en-US" sz="1100" dirty="0"/>
          </a:p>
          <a:p>
            <a:pPr indent="0" marL="0">
              <a:lnSpc>
                <a:spcPct val="102000"/>
              </a:lnSpc>
              <a:spcBef>
                <a:spcPts val="169"/>
              </a:spcBef>
              <a:buNone/>
            </a:pPr>
            <a:r>
              <a:rPr lang="en-US" sz="144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is checkable, it will be checked, and it discounts everything else you said.</a:t>
            </a:r>
            <a:endParaRPr lang="en-US" sz="1100" dirty="0"/>
          </a:p>
          <a:p>
            <a:pPr indent="0" marL="0">
              <a:lnSpc>
                <a:spcPct val="102000"/>
              </a:lnSpc>
              <a:spcBef>
                <a:spcPts val="254"/>
              </a:spcBef>
              <a:buNone/>
            </a:pPr>
            <a:r>
              <a:rPr lang="en-US" sz="1100" dirty="0">
                <a:solidFill>
                  <a:srgbClr val="0A4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One exposed invention costs the debate, not just the answer.</a:t>
            </a:r>
            <a:endParaRPr lang="en-US" sz="1100" dirty="0"/>
          </a:p>
        </p:txBody>
      </p:sp>
      <p:sp>
        <p:nvSpPr>
          <p:cNvPr id="19" name="Shape 15"/>
          <p:cNvSpPr/>
          <p:nvPr/>
        </p:nvSpPr>
        <p:spPr>
          <a:xfrm>
            <a:off x="548640" y="3973068"/>
            <a:ext cx="11094415" cy="925830"/>
          </a:xfrm>
          <a:prstGeom prst="roundRect">
            <a:avLst>
              <a:gd name="adj" fmla="val 13827"/>
            </a:avLst>
          </a:prstGeom>
          <a:solidFill>
            <a:srgbClr val="E6F5EC"/>
          </a:solidFill>
          <a:ln w="12700">
            <a:solidFill>
              <a:srgbClr val="2E9E5B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731520" y="4243959"/>
            <a:ext cx="384048" cy="384048"/>
          </a:xfrm>
          <a:prstGeom prst="ellipse">
            <a:avLst/>
          </a:prstGeom>
          <a:solidFill>
            <a:srgbClr val="2E9E5B"/>
          </a:solidFill>
          <a:ln/>
        </p:spPr>
      </p:sp>
      <p:sp>
        <p:nvSpPr>
          <p:cNvPr id="21" name="Text 17"/>
          <p:cNvSpPr txBox="1"/>
          <p:nvPr/>
        </p:nvSpPr>
        <p:spPr>
          <a:xfrm>
            <a:off x="731520" y="4243959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400" dirty="0"/>
          </a:p>
        </p:txBody>
      </p:sp>
      <p:sp>
        <p:nvSpPr>
          <p:cNvPr id="22" name="Text 18"/>
          <p:cNvSpPr/>
          <p:nvPr/>
        </p:nvSpPr>
        <p:spPr>
          <a:xfrm>
            <a:off x="1316736" y="4027932"/>
            <a:ext cx="10106863" cy="816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100" i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Q15 — a false premise</a:t>
            </a:r>
            <a:endParaRPr lang="en-US" sz="1100" dirty="0"/>
          </a:p>
          <a:p>
            <a:pPr indent="0" marL="0">
              <a:lnSpc>
                <a:spcPct val="102000"/>
              </a:lnSpc>
              <a:spcBef>
                <a:spcPts val="169"/>
              </a:spcBef>
              <a:buNone/>
            </a:pPr>
            <a:r>
              <a:rPr lang="en-US" sz="144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“That assumes X, and I'd question that.”</a:t>
            </a:r>
            <a:endParaRPr lang="en-US" sz="1100" dirty="0"/>
          </a:p>
          <a:p>
            <a:pPr indent="0" marL="0">
              <a:lnSpc>
                <a:spcPct val="102000"/>
              </a:lnSpc>
              <a:spcBef>
                <a:spcPts val="254"/>
              </a:spcBef>
              <a:buNone/>
            </a:pPr>
            <a:r>
              <a:rPr lang="en-US" sz="1100" dirty="0">
                <a:solidFill>
                  <a:srgbClr val="0A4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Answer the premise, not the question. Answering as asked accepts the assumption.</a:t>
            </a:r>
            <a:endParaRPr lang="en-US" sz="1100" dirty="0"/>
          </a:p>
        </p:txBody>
      </p:sp>
      <p:sp>
        <p:nvSpPr>
          <p:cNvPr id="23" name="Shape 19"/>
          <p:cNvSpPr/>
          <p:nvPr/>
        </p:nvSpPr>
        <p:spPr>
          <a:xfrm>
            <a:off x="548640" y="5017770"/>
            <a:ext cx="11094415" cy="925830"/>
          </a:xfrm>
          <a:prstGeom prst="roundRect">
            <a:avLst>
              <a:gd name="adj" fmla="val 13827"/>
            </a:avLst>
          </a:prstGeom>
          <a:solidFill>
            <a:srgbClr val="E6F5EC"/>
          </a:solidFill>
          <a:ln w="12700">
            <a:solidFill>
              <a:srgbClr val="2E9E5B"/>
            </a:solidFill>
            <a:prstDash val="solid"/>
          </a:ln>
        </p:spPr>
      </p:sp>
      <p:sp>
        <p:nvSpPr>
          <p:cNvPr id="24" name="Shape 20"/>
          <p:cNvSpPr/>
          <p:nvPr/>
        </p:nvSpPr>
        <p:spPr>
          <a:xfrm>
            <a:off x="731520" y="5288661"/>
            <a:ext cx="384048" cy="384048"/>
          </a:xfrm>
          <a:prstGeom prst="ellipse">
            <a:avLst/>
          </a:prstGeom>
          <a:solidFill>
            <a:srgbClr val="2E9E5B"/>
          </a:solidFill>
          <a:ln/>
        </p:spPr>
      </p:sp>
      <p:sp>
        <p:nvSpPr>
          <p:cNvPr id="25" name="Text 21"/>
          <p:cNvSpPr txBox="1"/>
          <p:nvPr/>
        </p:nvSpPr>
        <p:spPr>
          <a:xfrm>
            <a:off x="731520" y="5288661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400" dirty="0"/>
          </a:p>
        </p:txBody>
      </p:sp>
      <p:sp>
        <p:nvSpPr>
          <p:cNvPr id="26" name="Text 22"/>
          <p:cNvSpPr/>
          <p:nvPr/>
        </p:nvSpPr>
        <p:spPr>
          <a:xfrm>
            <a:off x="1316736" y="5072634"/>
            <a:ext cx="10106863" cy="816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100" i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Q16 — you have lost a point</a:t>
            </a:r>
            <a:endParaRPr lang="en-US" sz="1100" dirty="0"/>
          </a:p>
          <a:p>
            <a:pPr indent="0" marL="0">
              <a:lnSpc>
                <a:spcPct val="102000"/>
              </a:lnSpc>
              <a:spcBef>
                <a:spcPts val="169"/>
              </a:spcBef>
              <a:buNone/>
            </a:pPr>
            <a:r>
              <a:rPr lang="en-US" sz="144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Concede it and bound the damage: “You're right. It leaves my other two standing.”</a:t>
            </a:r>
            <a:endParaRPr lang="en-US" sz="1100" dirty="0"/>
          </a:p>
          <a:p>
            <a:pPr indent="0" marL="0">
              <a:lnSpc>
                <a:spcPct val="102000"/>
              </a:lnSpc>
              <a:spcBef>
                <a:spcPts val="254"/>
              </a:spcBef>
              <a:buNone/>
            </a:pPr>
            <a:r>
              <a:rPr lang="en-US" sz="1100" dirty="0">
                <a:solidFill>
                  <a:srgbClr val="0A4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The audience saw it land. Denial converts one lost point into a lost debate.</a:t>
            </a:r>
            <a:endParaRPr lang="en-US" sz="1100" dirty="0"/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38912"/>
            <a:ext cx="2199132" cy="420624"/>
          </a:xfrm>
          <a:prstGeom prst="roundRect">
            <a:avLst>
              <a:gd name="adj" fmla="val 50000"/>
            </a:avLst>
          </a:prstGeom>
          <a:solidFill>
            <a:srgbClr val="2E9E5B"/>
          </a:solidFill>
          <a:ln/>
        </p:spPr>
      </p:sp>
      <p:sp>
        <p:nvSpPr>
          <p:cNvPr id="3" name="Shape 1"/>
          <p:cNvSpPr/>
          <p:nvPr/>
        </p:nvSpPr>
        <p:spPr>
          <a:xfrm>
            <a:off x="649224" y="539496"/>
            <a:ext cx="219456" cy="219456"/>
          </a:xfrm>
          <a:prstGeom prst="ellipse">
            <a:avLst/>
          </a:prstGeom>
          <a:solidFill>
            <a:srgbClr val="2E9E5B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" y="539496"/>
            <a:ext cx="219456" cy="21945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932688" y="438912"/>
            <a:ext cx="170535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KEY 5 OF 5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896112"/>
            <a:ext cx="10972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 answers — questions 17 to 20</a:t>
            </a:r>
            <a:endParaRPr lang="en-US" sz="38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536192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answer has a reason. Read the reason, not just the answer.</a:t>
            </a:r>
            <a:endParaRPr lang="en-US" sz="165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6144768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50" kern="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4 · Advanced Spoken English · Module 3 — Debate &amp; Persuasion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10607040" y="6144768"/>
            <a:ext cx="1033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548640" y="1883664"/>
            <a:ext cx="11094415" cy="925830"/>
          </a:xfrm>
          <a:prstGeom prst="roundRect">
            <a:avLst>
              <a:gd name="adj" fmla="val 13827"/>
            </a:avLst>
          </a:prstGeom>
          <a:solidFill>
            <a:srgbClr val="E6F5EC"/>
          </a:solidFill>
          <a:ln w="12700">
            <a:solidFill>
              <a:srgbClr val="2E9E5B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731520" y="2154555"/>
            <a:ext cx="384048" cy="384048"/>
          </a:xfrm>
          <a:prstGeom prst="ellipse">
            <a:avLst/>
          </a:prstGeom>
          <a:solidFill>
            <a:srgbClr val="2E9E5B"/>
          </a:solidFill>
          <a:ln/>
        </p:spPr>
      </p:sp>
      <p:sp>
        <p:nvSpPr>
          <p:cNvPr id="13" name="Text 9"/>
          <p:cNvSpPr txBox="1"/>
          <p:nvPr/>
        </p:nvSpPr>
        <p:spPr>
          <a:xfrm>
            <a:off x="731520" y="2154555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1316736" y="1938528"/>
            <a:ext cx="10106863" cy="816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100" i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Q17 — how many numbers</a:t>
            </a:r>
            <a:endParaRPr lang="en-US" sz="1100" dirty="0"/>
          </a:p>
          <a:p>
            <a:pPr indent="0" marL="0">
              <a:lnSpc>
                <a:spcPct val="102000"/>
              </a:lnSpc>
              <a:spcBef>
                <a:spcPts val="169"/>
              </a:spcBef>
              <a:buNone/>
            </a:pPr>
            <a:r>
              <a:rPr lang="en-US" sz="144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One, repeated three times.</a:t>
            </a:r>
            <a:endParaRPr lang="en-US" sz="1100" dirty="0"/>
          </a:p>
          <a:p>
            <a:pPr indent="0" marL="0">
              <a:lnSpc>
                <a:spcPct val="102000"/>
              </a:lnSpc>
              <a:spcBef>
                <a:spcPts val="254"/>
              </a:spcBef>
              <a:buNone/>
            </a:pPr>
            <a:r>
              <a:rPr lang="en-US" sz="1100" dirty="0">
                <a:solidFill>
                  <a:srgbClr val="0A4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Six numbers and the audience remembers none. One travels out of the room.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548640" y="2928366"/>
            <a:ext cx="11094415" cy="925830"/>
          </a:xfrm>
          <a:prstGeom prst="roundRect">
            <a:avLst>
              <a:gd name="adj" fmla="val 13827"/>
            </a:avLst>
          </a:prstGeom>
          <a:solidFill>
            <a:srgbClr val="E6F5EC"/>
          </a:solidFill>
          <a:ln w="12700">
            <a:solidFill>
              <a:srgbClr val="2E9E5B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731520" y="3199257"/>
            <a:ext cx="384048" cy="384048"/>
          </a:xfrm>
          <a:prstGeom prst="ellipse">
            <a:avLst/>
          </a:prstGeom>
          <a:solidFill>
            <a:srgbClr val="2E9E5B"/>
          </a:solidFill>
          <a:ln/>
        </p:spPr>
      </p:sp>
      <p:sp>
        <p:nvSpPr>
          <p:cNvPr id="17" name="Text 13"/>
          <p:cNvSpPr txBox="1"/>
          <p:nvPr/>
        </p:nvSpPr>
        <p:spPr>
          <a:xfrm>
            <a:off x="731520" y="3199257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400" dirty="0"/>
          </a:p>
        </p:txBody>
      </p:sp>
      <p:sp>
        <p:nvSpPr>
          <p:cNvPr id="18" name="Text 14"/>
          <p:cNvSpPr/>
          <p:nvPr/>
        </p:nvSpPr>
        <p:spPr>
          <a:xfrm>
            <a:off x="1316736" y="2983230"/>
            <a:ext cx="10106863" cy="816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100" i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Q18 — the repeated phrase</a:t>
            </a:r>
            <a:endParaRPr lang="en-US" sz="1100" dirty="0"/>
          </a:p>
          <a:p>
            <a:pPr indent="0" marL="0">
              <a:lnSpc>
                <a:spcPct val="102000"/>
              </a:lnSpc>
              <a:spcBef>
                <a:spcPts val="169"/>
              </a:spcBef>
              <a:buNone/>
            </a:pPr>
            <a:r>
              <a:rPr lang="en-US" sz="144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gives the audience your words to carry.</a:t>
            </a:r>
            <a:endParaRPr lang="en-US" sz="1100" dirty="0"/>
          </a:p>
          <a:p>
            <a:pPr indent="0" marL="0">
              <a:lnSpc>
                <a:spcPct val="102000"/>
              </a:lnSpc>
              <a:spcBef>
                <a:spcPts val="254"/>
              </a:spcBef>
              <a:buNone/>
            </a:pPr>
            <a:r>
              <a:rPr lang="en-US" sz="1100" dirty="0">
                <a:solidFill>
                  <a:srgbClr val="0A4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Positions travel in phrases. Someone who heard nothing else can still repeat “reduced, not abolished”.</a:t>
            </a:r>
            <a:endParaRPr lang="en-US" sz="1100" dirty="0"/>
          </a:p>
        </p:txBody>
      </p:sp>
      <p:sp>
        <p:nvSpPr>
          <p:cNvPr id="19" name="Shape 15"/>
          <p:cNvSpPr/>
          <p:nvPr/>
        </p:nvSpPr>
        <p:spPr>
          <a:xfrm>
            <a:off x="548640" y="3973068"/>
            <a:ext cx="11094415" cy="925830"/>
          </a:xfrm>
          <a:prstGeom prst="roundRect">
            <a:avLst>
              <a:gd name="adj" fmla="val 13827"/>
            </a:avLst>
          </a:prstGeom>
          <a:solidFill>
            <a:srgbClr val="E6F5EC"/>
          </a:solidFill>
          <a:ln w="12700">
            <a:solidFill>
              <a:srgbClr val="2E9E5B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731520" y="4243959"/>
            <a:ext cx="384048" cy="384048"/>
          </a:xfrm>
          <a:prstGeom prst="ellipse">
            <a:avLst/>
          </a:prstGeom>
          <a:solidFill>
            <a:srgbClr val="2E9E5B"/>
          </a:solidFill>
          <a:ln/>
        </p:spPr>
      </p:sp>
      <p:sp>
        <p:nvSpPr>
          <p:cNvPr id="21" name="Text 17"/>
          <p:cNvSpPr txBox="1"/>
          <p:nvPr/>
        </p:nvSpPr>
        <p:spPr>
          <a:xfrm>
            <a:off x="731520" y="4243959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400" dirty="0"/>
          </a:p>
        </p:txBody>
      </p:sp>
      <p:sp>
        <p:nvSpPr>
          <p:cNvPr id="22" name="Text 18"/>
          <p:cNvSpPr/>
          <p:nvPr/>
        </p:nvSpPr>
        <p:spPr>
          <a:xfrm>
            <a:off x="1316736" y="4027932"/>
            <a:ext cx="10106863" cy="816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100" i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Q19 — is one story enough?</a:t>
            </a:r>
            <a:endParaRPr lang="en-US" sz="1100" dirty="0"/>
          </a:p>
          <a:p>
            <a:pPr indent="0" marL="0">
              <a:lnSpc>
                <a:spcPct val="102000"/>
              </a:lnSpc>
              <a:spcBef>
                <a:spcPts val="169"/>
              </a:spcBef>
              <a:buNone/>
            </a:pPr>
            <a:r>
              <a:rPr lang="en-US" sz="144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— it illustrates evidence, it does not replace it.</a:t>
            </a:r>
            <a:endParaRPr lang="en-US" sz="1100" dirty="0"/>
          </a:p>
          <a:p>
            <a:pPr indent="0" marL="0">
              <a:lnSpc>
                <a:spcPct val="102000"/>
              </a:lnSpc>
              <a:spcBef>
                <a:spcPts val="254"/>
              </a:spcBef>
              <a:buNone/>
            </a:pPr>
            <a:r>
              <a:rPr lang="en-US" sz="1100" dirty="0">
                <a:solidFill>
                  <a:srgbClr val="0A4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A concrete case makes an abstract point real, and a good opponent will point out that it proves nothing alone.</a:t>
            </a:r>
            <a:endParaRPr lang="en-US" sz="1100" dirty="0"/>
          </a:p>
        </p:txBody>
      </p:sp>
      <p:sp>
        <p:nvSpPr>
          <p:cNvPr id="23" name="Shape 19"/>
          <p:cNvSpPr/>
          <p:nvPr/>
        </p:nvSpPr>
        <p:spPr>
          <a:xfrm>
            <a:off x="548640" y="5017770"/>
            <a:ext cx="11094415" cy="925830"/>
          </a:xfrm>
          <a:prstGeom prst="roundRect">
            <a:avLst>
              <a:gd name="adj" fmla="val 13827"/>
            </a:avLst>
          </a:prstGeom>
          <a:solidFill>
            <a:srgbClr val="E6F5EC"/>
          </a:solidFill>
          <a:ln w="12700">
            <a:solidFill>
              <a:srgbClr val="2E9E5B"/>
            </a:solidFill>
            <a:prstDash val="solid"/>
          </a:ln>
        </p:spPr>
      </p:sp>
      <p:sp>
        <p:nvSpPr>
          <p:cNvPr id="24" name="Shape 20"/>
          <p:cNvSpPr/>
          <p:nvPr/>
        </p:nvSpPr>
        <p:spPr>
          <a:xfrm>
            <a:off x="731520" y="5288661"/>
            <a:ext cx="384048" cy="384048"/>
          </a:xfrm>
          <a:prstGeom prst="ellipse">
            <a:avLst/>
          </a:prstGeom>
          <a:solidFill>
            <a:srgbClr val="2E9E5B"/>
          </a:solidFill>
          <a:ln/>
        </p:spPr>
      </p:sp>
      <p:sp>
        <p:nvSpPr>
          <p:cNvPr id="25" name="Text 21"/>
          <p:cNvSpPr txBox="1"/>
          <p:nvPr/>
        </p:nvSpPr>
        <p:spPr>
          <a:xfrm>
            <a:off x="731520" y="5288661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400" dirty="0"/>
          </a:p>
        </p:txBody>
      </p:sp>
      <p:sp>
        <p:nvSpPr>
          <p:cNvPr id="26" name="Text 22"/>
          <p:cNvSpPr/>
          <p:nvPr/>
        </p:nvSpPr>
        <p:spPr>
          <a:xfrm>
            <a:off x="1316736" y="5072634"/>
            <a:ext cx="10106863" cy="816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100" i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Q20 — the debate</a:t>
            </a:r>
            <a:endParaRPr lang="en-US" sz="1100" dirty="0"/>
          </a:p>
          <a:p>
            <a:pPr indent="0" marL="0">
              <a:lnSpc>
                <a:spcPct val="102000"/>
              </a:lnSpc>
              <a:spcBef>
                <a:spcPts val="169"/>
              </a:spcBef>
              <a:buNone/>
            </a:pPr>
            <a:r>
              <a:rPr lang="en-US" sz="144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Assessed on the four stages, the rebuttal target and the concession</a:t>
            </a:r>
            <a:endParaRPr lang="en-US" sz="1100" dirty="0"/>
          </a:p>
          <a:p>
            <a:pPr indent="0" marL="0">
              <a:lnSpc>
                <a:spcPct val="102000"/>
              </a:lnSpc>
              <a:spcBef>
                <a:spcPts val="254"/>
              </a:spcBef>
              <a:buNone/>
            </a:pPr>
            <a:r>
              <a:rPr lang="en-US" sz="1100" dirty="0">
                <a:solidFill>
                  <a:srgbClr val="0A4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Six checks from slide 50, plus the four judging questions from slide 40.</a:t>
            </a:r>
            <a:endParaRPr lang="en-US" sz="1100" dirty="0"/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38912"/>
            <a:ext cx="1737360" cy="420624"/>
          </a:xfrm>
          <a:prstGeom prst="roundRect">
            <a:avLst>
              <a:gd name="adj" fmla="val 50000"/>
            </a:avLst>
          </a:prstGeom>
          <a:solidFill>
            <a:srgbClr val="F2A93B"/>
          </a:solidFill>
          <a:ln/>
        </p:spPr>
      </p:sp>
      <p:sp>
        <p:nvSpPr>
          <p:cNvPr id="3" name="Shape 1"/>
          <p:cNvSpPr/>
          <p:nvPr/>
        </p:nvSpPr>
        <p:spPr>
          <a:xfrm>
            <a:off x="649224" y="539496"/>
            <a:ext cx="219456" cy="219456"/>
          </a:xfrm>
          <a:prstGeom prst="ellipse">
            <a:avLst/>
          </a:prstGeom>
          <a:solidFill>
            <a:srgbClr val="F2A93B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" y="539496"/>
            <a:ext cx="219456" cy="21945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932688" y="438912"/>
            <a:ext cx="12435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HOMEWORK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896112"/>
            <a:ext cx="10972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Homework 1 — every day this week</a:t>
            </a:r>
            <a:endParaRPr lang="en-US" sz="38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536192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 minutes a day.</a:t>
            </a:r>
            <a:endParaRPr lang="en-US" sz="165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6144768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50" kern="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4 · Advanced Spoken English · Module 3 — Debate &amp; Persuasion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10607040" y="6144768"/>
            <a:ext cx="1033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71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548640" y="1883664"/>
            <a:ext cx="11094415" cy="694944"/>
          </a:xfrm>
          <a:prstGeom prst="roundRect">
            <a:avLst>
              <a:gd name="adj" fmla="val 18421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786384" y="2002536"/>
            <a:ext cx="457200" cy="457200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13" name="Text 9"/>
          <p:cNvSpPr txBox="1"/>
          <p:nvPr/>
        </p:nvSpPr>
        <p:spPr>
          <a:xfrm>
            <a:off x="786384" y="200253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23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1463040" y="1956816"/>
            <a:ext cx="99056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6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Narrow five motions into defensible positions</a:t>
            </a:r>
            <a:endParaRPr lang="en-US" sz="1600" dirty="0"/>
          </a:p>
          <a:p>
            <a:pPr indent="0" marL="0">
              <a:lnSpc>
                <a:spcPct val="102000"/>
              </a:lnSpc>
              <a:spcBef>
                <a:spcPts val="240"/>
              </a:spcBef>
              <a:buNone/>
            </a:pPr>
            <a:r>
              <a:rPr lang="en-US" sz="12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must still be contested.</a:t>
            </a:r>
            <a:endParaRPr lang="en-US" sz="1600" dirty="0"/>
          </a:p>
        </p:txBody>
      </p:sp>
      <p:sp>
        <p:nvSpPr>
          <p:cNvPr id="15" name="Shape 11"/>
          <p:cNvSpPr/>
          <p:nvPr/>
        </p:nvSpPr>
        <p:spPr>
          <a:xfrm>
            <a:off x="548640" y="2724912"/>
            <a:ext cx="11094415" cy="694944"/>
          </a:xfrm>
          <a:prstGeom prst="roundRect">
            <a:avLst>
              <a:gd name="adj" fmla="val 18421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786384" y="2843784"/>
            <a:ext cx="457200" cy="457200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17" name="Text 13"/>
          <p:cNvSpPr txBox="1"/>
          <p:nvPr/>
        </p:nvSpPr>
        <p:spPr>
          <a:xfrm>
            <a:off x="786384" y="284378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23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TUE</a:t>
            </a:r>
            <a:endParaRPr lang="en-US" sz="1300" dirty="0"/>
          </a:p>
        </p:txBody>
      </p:sp>
      <p:sp>
        <p:nvSpPr>
          <p:cNvPr id="18" name="Text 14"/>
          <p:cNvSpPr/>
          <p:nvPr/>
        </p:nvSpPr>
        <p:spPr>
          <a:xfrm>
            <a:off x="1463040" y="2798064"/>
            <a:ext cx="99056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6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and memorise your opening two sentences</a:t>
            </a:r>
            <a:endParaRPr lang="en-US" sz="1600" dirty="0"/>
          </a:p>
          <a:p>
            <a:pPr indent="0" marL="0">
              <a:lnSpc>
                <a:spcPct val="102000"/>
              </a:lnSpc>
              <a:spcBef>
                <a:spcPts val="240"/>
              </a:spcBef>
              <a:buNone/>
            </a:pPr>
            <a:r>
              <a:rPr lang="en-US" sz="12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sides. Say each ten times.</a:t>
            </a:r>
            <a:endParaRPr lang="en-US" sz="1600" dirty="0"/>
          </a:p>
        </p:txBody>
      </p:sp>
      <p:sp>
        <p:nvSpPr>
          <p:cNvPr id="19" name="Shape 15"/>
          <p:cNvSpPr/>
          <p:nvPr/>
        </p:nvSpPr>
        <p:spPr>
          <a:xfrm>
            <a:off x="548640" y="3566160"/>
            <a:ext cx="11094415" cy="694944"/>
          </a:xfrm>
          <a:prstGeom prst="roundRect">
            <a:avLst>
              <a:gd name="adj" fmla="val 18421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786384" y="3685032"/>
            <a:ext cx="457200" cy="457200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21" name="Text 17"/>
          <p:cNvSpPr txBox="1"/>
          <p:nvPr/>
        </p:nvSpPr>
        <p:spPr>
          <a:xfrm>
            <a:off x="786384" y="36850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23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WED</a:t>
            </a:r>
            <a:endParaRPr lang="en-US" sz="1300" dirty="0"/>
          </a:p>
        </p:txBody>
      </p:sp>
      <p:sp>
        <p:nvSpPr>
          <p:cNvPr id="22" name="Text 18"/>
          <p:cNvSpPr/>
          <p:nvPr/>
        </p:nvSpPr>
        <p:spPr>
          <a:xfrm>
            <a:off x="1463040" y="3639312"/>
            <a:ext cx="99056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6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the load-bearing point in three real arguments</a:t>
            </a:r>
            <a:endParaRPr lang="en-US" sz="1600" dirty="0"/>
          </a:p>
          <a:p>
            <a:pPr indent="0" marL="0">
              <a:lnSpc>
                <a:spcPct val="102000"/>
              </a:lnSpc>
              <a:spcBef>
                <a:spcPts val="240"/>
              </a:spcBef>
              <a:buNone/>
            </a:pPr>
            <a:r>
              <a:rPr lang="en-US" sz="12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News, radio, a meeting you attended.</a:t>
            </a:r>
            <a:endParaRPr lang="en-US" sz="1600" dirty="0"/>
          </a:p>
        </p:txBody>
      </p:sp>
      <p:sp>
        <p:nvSpPr>
          <p:cNvPr id="23" name="Shape 19"/>
          <p:cNvSpPr/>
          <p:nvPr/>
        </p:nvSpPr>
        <p:spPr>
          <a:xfrm>
            <a:off x="548640" y="4407408"/>
            <a:ext cx="11094415" cy="694944"/>
          </a:xfrm>
          <a:prstGeom prst="roundRect">
            <a:avLst>
              <a:gd name="adj" fmla="val 18421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24" name="Shape 20"/>
          <p:cNvSpPr/>
          <p:nvPr/>
        </p:nvSpPr>
        <p:spPr>
          <a:xfrm>
            <a:off x="786384" y="4526280"/>
            <a:ext cx="457200" cy="457200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25" name="Text 21"/>
          <p:cNvSpPr txBox="1"/>
          <p:nvPr/>
        </p:nvSpPr>
        <p:spPr>
          <a:xfrm>
            <a:off x="786384" y="45262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23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THU</a:t>
            </a:r>
            <a:endParaRPr lang="en-US" sz="1300" dirty="0"/>
          </a:p>
        </p:txBody>
      </p:sp>
      <p:sp>
        <p:nvSpPr>
          <p:cNvPr id="26" name="Text 22"/>
          <p:cNvSpPr/>
          <p:nvPr/>
        </p:nvSpPr>
        <p:spPr>
          <a:xfrm>
            <a:off x="1463040" y="4480560"/>
            <a:ext cx="99056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6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six hard questions — three per side</a:t>
            </a:r>
            <a:endParaRPr lang="en-US" sz="1600" dirty="0"/>
          </a:p>
          <a:p>
            <a:pPr indent="0" marL="0">
              <a:lnSpc>
                <a:spcPct val="102000"/>
              </a:lnSpc>
              <a:spcBef>
                <a:spcPts val="240"/>
              </a:spcBef>
              <a:buNone/>
            </a:pPr>
            <a:r>
              <a:rPr lang="en-US" sz="12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your answer to each.</a:t>
            </a:r>
            <a:endParaRPr lang="en-US" sz="1600" dirty="0"/>
          </a:p>
        </p:txBody>
      </p:sp>
      <p:sp>
        <p:nvSpPr>
          <p:cNvPr id="27" name="Shape 23"/>
          <p:cNvSpPr/>
          <p:nvPr/>
        </p:nvSpPr>
        <p:spPr>
          <a:xfrm>
            <a:off x="548640" y="5248656"/>
            <a:ext cx="11094415" cy="694944"/>
          </a:xfrm>
          <a:prstGeom prst="roundRect">
            <a:avLst>
              <a:gd name="adj" fmla="val 18421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28" name="Shape 24"/>
          <p:cNvSpPr/>
          <p:nvPr/>
        </p:nvSpPr>
        <p:spPr>
          <a:xfrm>
            <a:off x="786384" y="5367528"/>
            <a:ext cx="457200" cy="457200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29" name="Text 25"/>
          <p:cNvSpPr txBox="1"/>
          <p:nvPr/>
        </p:nvSpPr>
        <p:spPr>
          <a:xfrm>
            <a:off x="786384" y="53675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23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FRI</a:t>
            </a:r>
            <a:endParaRPr lang="en-US" sz="1300" dirty="0"/>
          </a:p>
        </p:txBody>
      </p:sp>
      <p:sp>
        <p:nvSpPr>
          <p:cNvPr id="30" name="Text 26"/>
          <p:cNvSpPr/>
          <p:nvPr/>
        </p:nvSpPr>
        <p:spPr>
          <a:xfrm>
            <a:off x="1463040" y="5321808"/>
            <a:ext cx="99056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6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 a 90-second opening for each side</a:t>
            </a:r>
            <a:endParaRPr lang="en-US" sz="1600" dirty="0"/>
          </a:p>
          <a:p>
            <a:pPr indent="0" marL="0">
              <a:lnSpc>
                <a:spcPct val="102000"/>
              </a:lnSpc>
              <a:spcBef>
                <a:spcPts val="240"/>
              </a:spcBef>
              <a:buNone/>
            </a:pPr>
            <a:r>
              <a:rPr lang="en-US" sz="12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 back. Which sounds more prepared?</a:t>
            </a:r>
            <a:endParaRPr lang="en-US" sz="1600" dirty="0"/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38912"/>
            <a:ext cx="1737360" cy="420624"/>
          </a:xfrm>
          <a:prstGeom prst="roundRect">
            <a:avLst>
              <a:gd name="adj" fmla="val 50000"/>
            </a:avLst>
          </a:prstGeom>
          <a:solidFill>
            <a:srgbClr val="F2A93B"/>
          </a:solidFill>
          <a:ln/>
        </p:spPr>
      </p:sp>
      <p:sp>
        <p:nvSpPr>
          <p:cNvPr id="3" name="Shape 1"/>
          <p:cNvSpPr/>
          <p:nvPr/>
        </p:nvSpPr>
        <p:spPr>
          <a:xfrm>
            <a:off x="649224" y="539496"/>
            <a:ext cx="219456" cy="219456"/>
          </a:xfrm>
          <a:prstGeom prst="ellipse">
            <a:avLst/>
          </a:prstGeom>
          <a:solidFill>
            <a:srgbClr val="F2A93B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" y="539496"/>
            <a:ext cx="219456" cy="21945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932688" y="438912"/>
            <a:ext cx="12435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HOMEWORK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896112"/>
            <a:ext cx="10972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Homework 2 — to hand in</a:t>
            </a:r>
            <a:endParaRPr lang="en-US" sz="38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536192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sides. You will be assigned one at random.</a:t>
            </a:r>
            <a:endParaRPr lang="en-US" sz="165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6144768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50" kern="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4 · Advanced Spoken English · Module 3 — Debate &amp; Persuasion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10607040" y="6144768"/>
            <a:ext cx="1033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72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548640" y="1883664"/>
            <a:ext cx="11094415" cy="1255776"/>
          </a:xfrm>
          <a:prstGeom prst="roundRect">
            <a:avLst>
              <a:gd name="adj" fmla="val 10194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786384" y="2282952"/>
            <a:ext cx="457200" cy="457200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13" name="Text 9"/>
          <p:cNvSpPr txBox="1"/>
          <p:nvPr/>
        </p:nvSpPr>
        <p:spPr>
          <a:xfrm>
            <a:off x="786384" y="22829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23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1463040" y="1956816"/>
            <a:ext cx="9905695" cy="1109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20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prepared cases — narrowed positions, three lines each</a:t>
            </a:r>
            <a:endParaRPr lang="en-US" sz="2000" dirty="0"/>
          </a:p>
          <a:p>
            <a:pPr indent="0" marL="0">
              <a:lnSpc>
                <a:spcPct val="102000"/>
              </a:lnSpc>
              <a:spcBef>
                <a:spcPts val="300"/>
              </a:spcBef>
              <a:buNone/>
            </a:pPr>
            <a:r>
              <a:rPr lang="en-US" sz="15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number and one phrase per side.</a:t>
            </a:r>
            <a:endParaRPr lang="en-US" sz="2000" dirty="0"/>
          </a:p>
        </p:txBody>
      </p:sp>
      <p:sp>
        <p:nvSpPr>
          <p:cNvPr id="15" name="Shape 11"/>
          <p:cNvSpPr/>
          <p:nvPr/>
        </p:nvSpPr>
        <p:spPr>
          <a:xfrm>
            <a:off x="548640" y="3285744"/>
            <a:ext cx="11094415" cy="1255776"/>
          </a:xfrm>
          <a:prstGeom prst="roundRect">
            <a:avLst>
              <a:gd name="adj" fmla="val 10194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786384" y="3685032"/>
            <a:ext cx="457200" cy="457200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17" name="Text 13"/>
          <p:cNvSpPr txBox="1"/>
          <p:nvPr/>
        </p:nvSpPr>
        <p:spPr>
          <a:xfrm>
            <a:off x="786384" y="36850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23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8" name="Text 14"/>
          <p:cNvSpPr/>
          <p:nvPr/>
        </p:nvSpPr>
        <p:spPr>
          <a:xfrm>
            <a:off x="1463040" y="3358896"/>
            <a:ext cx="9905695" cy="1109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20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load-bearing point of each side, plus a four-step rebuttal</a:t>
            </a:r>
            <a:endParaRPr lang="en-US" sz="2000" dirty="0"/>
          </a:p>
          <a:p>
            <a:pPr indent="0" marL="0">
              <a:lnSpc>
                <a:spcPct val="102000"/>
              </a:lnSpc>
              <a:spcBef>
                <a:spcPts val="300"/>
              </a:spcBef>
              <a:buNone/>
            </a:pPr>
            <a:r>
              <a:rPr lang="en-US" sz="15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a turnaround where possible.</a:t>
            </a:r>
            <a:endParaRPr lang="en-US" sz="2000" dirty="0"/>
          </a:p>
        </p:txBody>
      </p:sp>
      <p:sp>
        <p:nvSpPr>
          <p:cNvPr id="19" name="Shape 15"/>
          <p:cNvSpPr/>
          <p:nvPr/>
        </p:nvSpPr>
        <p:spPr>
          <a:xfrm>
            <a:off x="548640" y="4687824"/>
            <a:ext cx="11094415" cy="1255776"/>
          </a:xfrm>
          <a:prstGeom prst="roundRect">
            <a:avLst>
              <a:gd name="adj" fmla="val 10194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786384" y="5087112"/>
            <a:ext cx="457200" cy="457200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21" name="Text 17"/>
          <p:cNvSpPr txBox="1"/>
          <p:nvPr/>
        </p:nvSpPr>
        <p:spPr>
          <a:xfrm>
            <a:off x="786384" y="50871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23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2" name="Text 18"/>
          <p:cNvSpPr/>
          <p:nvPr/>
        </p:nvSpPr>
        <p:spPr>
          <a:xfrm>
            <a:off x="1463040" y="4760976"/>
            <a:ext cx="9905695" cy="1109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20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hard questions with answers — three per side</a:t>
            </a:r>
            <a:endParaRPr lang="en-US" sz="2000" dirty="0"/>
          </a:p>
          <a:p>
            <a:pPr indent="0" marL="0">
              <a:lnSpc>
                <a:spcPct val="102000"/>
              </a:lnSpc>
              <a:spcBef>
                <a:spcPts val="300"/>
              </a:spcBef>
              <a:buNone/>
            </a:pPr>
            <a:r>
              <a:rPr lang="en-US" sz="15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Including one you cannot fully answer.</a:t>
            </a:r>
            <a:endParaRPr lang="en-US" sz="2000" dirty="0"/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38912"/>
            <a:ext cx="1737360" cy="420624"/>
          </a:xfrm>
          <a:prstGeom prst="roundRect">
            <a:avLst>
              <a:gd name="adj" fmla="val 50000"/>
            </a:avLst>
          </a:prstGeom>
          <a:solidFill>
            <a:srgbClr val="F2A93B"/>
          </a:solidFill>
          <a:ln/>
        </p:spPr>
      </p:sp>
      <p:sp>
        <p:nvSpPr>
          <p:cNvPr id="3" name="Shape 1"/>
          <p:cNvSpPr/>
          <p:nvPr/>
        </p:nvSpPr>
        <p:spPr>
          <a:xfrm>
            <a:off x="649224" y="539496"/>
            <a:ext cx="219456" cy="219456"/>
          </a:xfrm>
          <a:prstGeom prst="ellipse">
            <a:avLst/>
          </a:prstGeom>
          <a:solidFill>
            <a:srgbClr val="F2A93B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" y="539496"/>
            <a:ext cx="219456" cy="21945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932688" y="438912"/>
            <a:ext cx="12435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HOMEWORK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896112"/>
            <a:ext cx="10972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your debate will be marked</a:t>
            </a:r>
            <a:endParaRPr lang="en-US" sz="26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536192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know the standard before you start.</a:t>
            </a:r>
            <a:endParaRPr lang="en-US" sz="165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6144768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50" kern="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4 · Advanced Spoken English · Module 3 — Debate &amp; Persuasion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10607040" y="6144768"/>
            <a:ext cx="1033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73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548640" y="1883664"/>
            <a:ext cx="5446624" cy="1929384"/>
          </a:xfrm>
          <a:prstGeom prst="roundRect">
            <a:avLst>
              <a:gd name="adj" fmla="val 6635"/>
            </a:avLst>
          </a:prstGeom>
          <a:solidFill>
            <a:srgbClr val="FDF3E7"/>
          </a:solidFill>
          <a:ln w="12700">
            <a:solidFill>
              <a:srgbClr val="EFDCB2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768096" y="2103120"/>
            <a:ext cx="457200" cy="457200"/>
          </a:xfrm>
          <a:prstGeom prst="ellipse">
            <a:avLst/>
          </a:prstGeom>
          <a:solidFill>
            <a:srgbClr val="F2A93B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2396" y="2217420"/>
            <a:ext cx="228600" cy="22860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768096" y="2706624"/>
            <a:ext cx="5007712" cy="923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75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Opening — 7 marks</a:t>
            </a:r>
            <a:endParaRPr lang="en-US" sz="1750" dirty="0"/>
          </a:p>
          <a:p>
            <a:pPr indent="0" marL="0">
              <a:lnSpc>
                <a:spcPct val="102000"/>
              </a:lnSpc>
              <a:spcBef>
                <a:spcPts val="350"/>
              </a:spcBef>
              <a:buNone/>
            </a:pPr>
            <a:r>
              <a:rPr lang="en-US" sz="14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Narrowed position (3) · exactly three lines previewed (2) · delivered from memory (2).</a:t>
            </a:r>
            <a:endParaRPr lang="en-US" sz="1750" dirty="0"/>
          </a:p>
        </p:txBody>
      </p:sp>
      <p:sp>
        <p:nvSpPr>
          <p:cNvPr id="15" name="Shape 10"/>
          <p:cNvSpPr/>
          <p:nvPr/>
        </p:nvSpPr>
        <p:spPr>
          <a:xfrm>
            <a:off x="6196432" y="1883664"/>
            <a:ext cx="5446624" cy="1929384"/>
          </a:xfrm>
          <a:prstGeom prst="roundRect">
            <a:avLst>
              <a:gd name="adj" fmla="val 6635"/>
            </a:avLst>
          </a:prstGeom>
          <a:solidFill>
            <a:srgbClr val="FDF3E7"/>
          </a:solidFill>
          <a:ln w="12700">
            <a:solidFill>
              <a:srgbClr val="EFDCB2"/>
            </a:solidFill>
            <a:prstDash val="solid"/>
          </a:ln>
        </p:spPr>
      </p:sp>
      <p:sp>
        <p:nvSpPr>
          <p:cNvPr id="16" name="Shape 11"/>
          <p:cNvSpPr/>
          <p:nvPr/>
        </p:nvSpPr>
        <p:spPr>
          <a:xfrm>
            <a:off x="6415888" y="2103120"/>
            <a:ext cx="457200" cy="457200"/>
          </a:xfrm>
          <a:prstGeom prst="ellipse">
            <a:avLst/>
          </a:prstGeom>
          <a:solidFill>
            <a:srgbClr val="F2A93B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30188" y="2217420"/>
            <a:ext cx="228600" cy="22860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6415888" y="2706624"/>
            <a:ext cx="5007712" cy="923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75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Rebuttal — 8 marks</a:t>
            </a:r>
            <a:endParaRPr lang="en-US" sz="1750" dirty="0"/>
          </a:p>
          <a:p>
            <a:pPr indent="0" marL="0">
              <a:lnSpc>
                <a:spcPct val="102000"/>
              </a:lnSpc>
              <a:spcBef>
                <a:spcPts val="350"/>
              </a:spcBef>
              <a:buNone/>
            </a:pPr>
            <a:r>
              <a:rPr lang="en-US" sz="14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 load-bearing target (3) · all four steps (3) · turnaround attempted (2).</a:t>
            </a:r>
            <a:endParaRPr lang="en-US" sz="1750" dirty="0"/>
          </a:p>
        </p:txBody>
      </p:sp>
      <p:sp>
        <p:nvSpPr>
          <p:cNvPr id="19" name="Shape 13"/>
          <p:cNvSpPr/>
          <p:nvPr/>
        </p:nvSpPr>
        <p:spPr>
          <a:xfrm>
            <a:off x="548640" y="4014216"/>
            <a:ext cx="5446624" cy="1929384"/>
          </a:xfrm>
          <a:prstGeom prst="roundRect">
            <a:avLst>
              <a:gd name="adj" fmla="val 6635"/>
            </a:avLst>
          </a:prstGeom>
          <a:solidFill>
            <a:srgbClr val="FDF3E7"/>
          </a:solidFill>
          <a:ln w="12700">
            <a:solidFill>
              <a:srgbClr val="EFDCB2"/>
            </a:solidFill>
            <a:prstDash val="solid"/>
          </a:ln>
        </p:spPr>
      </p:sp>
      <p:sp>
        <p:nvSpPr>
          <p:cNvPr id="20" name="Shape 14"/>
          <p:cNvSpPr/>
          <p:nvPr/>
        </p:nvSpPr>
        <p:spPr>
          <a:xfrm>
            <a:off x="768096" y="4233672"/>
            <a:ext cx="457200" cy="457200"/>
          </a:xfrm>
          <a:prstGeom prst="ellipse">
            <a:avLst/>
          </a:prstGeom>
          <a:solidFill>
            <a:srgbClr val="F2A93B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2396" y="4347972"/>
            <a:ext cx="228600" cy="228600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768096" y="4837176"/>
            <a:ext cx="5007712" cy="923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75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— 6 marks</a:t>
            </a:r>
            <a:endParaRPr lang="en-US" sz="1750" dirty="0"/>
          </a:p>
          <a:p>
            <a:pPr indent="0" marL="0">
              <a:lnSpc>
                <a:spcPct val="102000"/>
              </a:lnSpc>
              <a:spcBef>
                <a:spcPts val="350"/>
              </a:spcBef>
              <a:buNone/>
            </a:pPr>
            <a:r>
              <a:rPr lang="en-US" sz="14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different techniques (3) · no invented figures (2) · calm delivery (1).</a:t>
            </a:r>
            <a:endParaRPr lang="en-US" sz="1750" dirty="0"/>
          </a:p>
        </p:txBody>
      </p:sp>
      <p:sp>
        <p:nvSpPr>
          <p:cNvPr id="23" name="Shape 16"/>
          <p:cNvSpPr/>
          <p:nvPr/>
        </p:nvSpPr>
        <p:spPr>
          <a:xfrm>
            <a:off x="6196432" y="4014216"/>
            <a:ext cx="5446624" cy="1929384"/>
          </a:xfrm>
          <a:prstGeom prst="roundRect">
            <a:avLst>
              <a:gd name="adj" fmla="val 6635"/>
            </a:avLst>
          </a:prstGeom>
          <a:solidFill>
            <a:srgbClr val="FDF3E7"/>
          </a:solidFill>
          <a:ln w="12700">
            <a:solidFill>
              <a:srgbClr val="EFDCB2"/>
            </a:solidFill>
            <a:prstDash val="solid"/>
          </a:ln>
        </p:spPr>
      </p:sp>
      <p:sp>
        <p:nvSpPr>
          <p:cNvPr id="24" name="Shape 17"/>
          <p:cNvSpPr/>
          <p:nvPr/>
        </p:nvSpPr>
        <p:spPr>
          <a:xfrm>
            <a:off x="6415888" y="4233672"/>
            <a:ext cx="457200" cy="457200"/>
          </a:xfrm>
          <a:prstGeom prst="ellipse">
            <a:avLst/>
          </a:prstGeom>
          <a:solidFill>
            <a:srgbClr val="F2A93B"/>
          </a:solidFill>
          <a:ln/>
        </p:spPr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30188" y="4347972"/>
            <a:ext cx="228600" cy="228600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6415888" y="4837176"/>
            <a:ext cx="5007712" cy="923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6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Closing and concession — 4 marks</a:t>
            </a:r>
            <a:endParaRPr lang="en-US" sz="1600" dirty="0"/>
          </a:p>
          <a:p>
            <a:pPr indent="0" marL="0">
              <a:lnSpc>
                <a:spcPct val="102000"/>
              </a:lnSpc>
              <a:spcBef>
                <a:spcPts val="320"/>
              </a:spcBef>
              <a:buNone/>
            </a:pPr>
            <a:r>
              <a:rPr lang="en-US" sz="128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number and one phrase, no new arguments (2) · at least one bounded concession (2).  TOTAL 25.</a:t>
            </a:r>
            <a:endParaRPr lang="en-US" sz="1600" dirty="0"/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38912"/>
            <a:ext cx="1737360" cy="420624"/>
          </a:xfrm>
          <a:prstGeom prst="roundRect">
            <a:avLst>
              <a:gd name="adj" fmla="val 50000"/>
            </a:avLst>
          </a:prstGeom>
          <a:solidFill>
            <a:srgbClr val="0E7C5A"/>
          </a:solidFill>
          <a:ln/>
        </p:spPr>
      </p:sp>
      <p:sp>
        <p:nvSpPr>
          <p:cNvPr id="3" name="Shape 1"/>
          <p:cNvSpPr/>
          <p:nvPr/>
        </p:nvSpPr>
        <p:spPr>
          <a:xfrm>
            <a:off x="649224" y="539496"/>
            <a:ext cx="219456" cy="219456"/>
          </a:xfrm>
          <a:prstGeom prst="ellipse">
            <a:avLst/>
          </a:prstGeom>
          <a:solidFill>
            <a:srgbClr val="0E7C5A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" y="539496"/>
            <a:ext cx="219456" cy="21945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932688" y="438912"/>
            <a:ext cx="12435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896112"/>
            <a:ext cx="10972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 learned in this module</a:t>
            </a:r>
            <a:endParaRPr lang="en-US" sz="26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536192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things. Check each one — can you do it?</a:t>
            </a:r>
            <a:endParaRPr lang="en-US" sz="165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6144768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50" kern="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4 · Advanced Spoken English · Module 3 — Debate &amp; Persuasion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10607040" y="6144768"/>
            <a:ext cx="1033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74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548640" y="1883664"/>
            <a:ext cx="3564026" cy="1929384"/>
          </a:xfrm>
          <a:prstGeom prst="roundRect">
            <a:avLst>
              <a:gd name="adj" fmla="val 6635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768096" y="2103120"/>
            <a:ext cx="457200" cy="457200"/>
          </a:xfrm>
          <a:prstGeom prst="ellipse">
            <a:avLst/>
          </a:prstGeom>
          <a:solidFill>
            <a:srgbClr val="0E7C5A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2396" y="2217420"/>
            <a:ext cx="228600" cy="22860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768096" y="2706624"/>
            <a:ext cx="3125114" cy="923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75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four stages</a:t>
            </a:r>
            <a:endParaRPr lang="en-US" sz="1750" dirty="0"/>
          </a:p>
          <a:p>
            <a:pPr indent="0" marL="0">
              <a:lnSpc>
                <a:spcPct val="102000"/>
              </a:lnSpc>
              <a:spcBef>
                <a:spcPts val="350"/>
              </a:spcBef>
              <a:buNone/>
            </a:pPr>
            <a:r>
              <a:rPr lang="en-US" sz="131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Opening · rebuttal · questions · closing.</a:t>
            </a:r>
            <a:endParaRPr lang="en-US" sz="1750" dirty="0"/>
          </a:p>
        </p:txBody>
      </p:sp>
      <p:sp>
        <p:nvSpPr>
          <p:cNvPr id="15" name="Shape 10"/>
          <p:cNvSpPr/>
          <p:nvPr/>
        </p:nvSpPr>
        <p:spPr>
          <a:xfrm>
            <a:off x="4313834" y="1883664"/>
            <a:ext cx="3564026" cy="1929384"/>
          </a:xfrm>
          <a:prstGeom prst="roundRect">
            <a:avLst>
              <a:gd name="adj" fmla="val 6635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16" name="Shape 11"/>
          <p:cNvSpPr/>
          <p:nvPr/>
        </p:nvSpPr>
        <p:spPr>
          <a:xfrm>
            <a:off x="4533290" y="2103120"/>
            <a:ext cx="457200" cy="457200"/>
          </a:xfrm>
          <a:prstGeom prst="ellipse">
            <a:avLst/>
          </a:prstGeom>
          <a:solidFill>
            <a:srgbClr val="0E7C5A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47590" y="2217420"/>
            <a:ext cx="228600" cy="22860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4533290" y="2706624"/>
            <a:ext cx="3125114" cy="923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75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Narrowing your position</a:t>
            </a:r>
            <a:endParaRPr lang="en-US" sz="1750" dirty="0"/>
          </a:p>
          <a:p>
            <a:pPr indent="0" marL="0">
              <a:lnSpc>
                <a:spcPct val="102000"/>
              </a:lnSpc>
              <a:spcBef>
                <a:spcPts val="350"/>
              </a:spcBef>
              <a:buNone/>
            </a:pPr>
            <a:r>
              <a:rPr lang="en-US" sz="131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“Reduced, not abolished.” Sentence one.</a:t>
            </a:r>
            <a:endParaRPr lang="en-US" sz="1750" dirty="0"/>
          </a:p>
        </p:txBody>
      </p:sp>
      <p:sp>
        <p:nvSpPr>
          <p:cNvPr id="19" name="Shape 13"/>
          <p:cNvSpPr/>
          <p:nvPr/>
        </p:nvSpPr>
        <p:spPr>
          <a:xfrm>
            <a:off x="8079029" y="1883664"/>
            <a:ext cx="3564026" cy="1929384"/>
          </a:xfrm>
          <a:prstGeom prst="roundRect">
            <a:avLst>
              <a:gd name="adj" fmla="val 6635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20" name="Shape 14"/>
          <p:cNvSpPr/>
          <p:nvPr/>
        </p:nvSpPr>
        <p:spPr>
          <a:xfrm>
            <a:off x="8298485" y="2103120"/>
            <a:ext cx="457200" cy="457200"/>
          </a:xfrm>
          <a:prstGeom prst="ellipse">
            <a:avLst/>
          </a:prstGeom>
          <a:solidFill>
            <a:srgbClr val="0E7C5A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12785" y="2217420"/>
            <a:ext cx="228600" cy="228600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8298485" y="2706624"/>
            <a:ext cx="3125114" cy="923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75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Rebuttal</a:t>
            </a:r>
            <a:endParaRPr lang="en-US" sz="1750" dirty="0"/>
          </a:p>
          <a:p>
            <a:pPr indent="0" marL="0">
              <a:lnSpc>
                <a:spcPct val="102000"/>
              </a:lnSpc>
              <a:spcBef>
                <a:spcPts val="350"/>
              </a:spcBef>
              <a:buNone/>
            </a:pPr>
            <a:r>
              <a:rPr lang="en-US" sz="131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target. Name · concede · attack · turn it around.</a:t>
            </a:r>
            <a:endParaRPr lang="en-US" sz="1750" dirty="0"/>
          </a:p>
        </p:txBody>
      </p:sp>
      <p:sp>
        <p:nvSpPr>
          <p:cNvPr id="23" name="Shape 16"/>
          <p:cNvSpPr/>
          <p:nvPr/>
        </p:nvSpPr>
        <p:spPr>
          <a:xfrm>
            <a:off x="548640" y="4014216"/>
            <a:ext cx="3564026" cy="1929384"/>
          </a:xfrm>
          <a:prstGeom prst="roundRect">
            <a:avLst>
              <a:gd name="adj" fmla="val 6635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24" name="Shape 17"/>
          <p:cNvSpPr/>
          <p:nvPr/>
        </p:nvSpPr>
        <p:spPr>
          <a:xfrm>
            <a:off x="768096" y="4233672"/>
            <a:ext cx="457200" cy="457200"/>
          </a:xfrm>
          <a:prstGeom prst="ellipse">
            <a:avLst/>
          </a:prstGeom>
          <a:solidFill>
            <a:srgbClr val="0E7C5A"/>
          </a:solidFill>
          <a:ln/>
        </p:spPr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2396" y="4347972"/>
            <a:ext cx="228600" cy="228600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768096" y="4837176"/>
            <a:ext cx="3125114" cy="923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75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Persuasion</a:t>
            </a:r>
            <a:endParaRPr lang="en-US" sz="1750" dirty="0"/>
          </a:p>
          <a:p>
            <a:pPr indent="0" marL="0">
              <a:lnSpc>
                <a:spcPct val="102000"/>
              </a:lnSpc>
              <a:spcBef>
                <a:spcPts val="350"/>
              </a:spcBef>
              <a:buNone/>
            </a:pPr>
            <a:r>
              <a:rPr lang="en-US" sz="131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number, one phrase, repeated three times.</a:t>
            </a:r>
            <a:endParaRPr lang="en-US" sz="1750" dirty="0"/>
          </a:p>
        </p:txBody>
      </p:sp>
      <p:sp>
        <p:nvSpPr>
          <p:cNvPr id="27" name="Shape 19"/>
          <p:cNvSpPr/>
          <p:nvPr/>
        </p:nvSpPr>
        <p:spPr>
          <a:xfrm>
            <a:off x="4313834" y="4014216"/>
            <a:ext cx="3564026" cy="1929384"/>
          </a:xfrm>
          <a:prstGeom prst="roundRect">
            <a:avLst>
              <a:gd name="adj" fmla="val 6635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28" name="Shape 20"/>
          <p:cNvSpPr/>
          <p:nvPr/>
        </p:nvSpPr>
        <p:spPr>
          <a:xfrm>
            <a:off x="4533290" y="4233672"/>
            <a:ext cx="457200" cy="457200"/>
          </a:xfrm>
          <a:prstGeom prst="ellipse">
            <a:avLst/>
          </a:prstGeom>
          <a:solidFill>
            <a:srgbClr val="0E7C5A"/>
          </a:solidFill>
          <a:ln/>
        </p:spPr>
      </p:sp>
      <p:pic>
        <p:nvPicPr>
          <p:cNvPr id="2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47590" y="4347972"/>
            <a:ext cx="228600" cy="228600"/>
          </a:xfrm>
          <a:prstGeom prst="rect">
            <a:avLst/>
          </a:prstGeom>
        </p:spPr>
      </p:pic>
      <p:sp>
        <p:nvSpPr>
          <p:cNvPr id="30" name="Text 21"/>
          <p:cNvSpPr/>
          <p:nvPr/>
        </p:nvSpPr>
        <p:spPr>
          <a:xfrm>
            <a:off x="4533290" y="4837176"/>
            <a:ext cx="3125114" cy="923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75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hard question</a:t>
            </a:r>
            <a:endParaRPr lang="en-US" sz="1750" dirty="0"/>
          </a:p>
          <a:p>
            <a:pPr indent="0" marL="0">
              <a:lnSpc>
                <a:spcPct val="102000"/>
              </a:lnSpc>
              <a:spcBef>
                <a:spcPts val="350"/>
              </a:spcBef>
              <a:buNone/>
            </a:pPr>
            <a:r>
              <a:rPr lang="en-US" sz="131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techniques. Never invent a figure.</a:t>
            </a:r>
            <a:endParaRPr lang="en-US" sz="1750" dirty="0"/>
          </a:p>
        </p:txBody>
      </p:sp>
      <p:sp>
        <p:nvSpPr>
          <p:cNvPr id="31" name="Shape 22"/>
          <p:cNvSpPr/>
          <p:nvPr/>
        </p:nvSpPr>
        <p:spPr>
          <a:xfrm>
            <a:off x="8079029" y="4014216"/>
            <a:ext cx="3564026" cy="1929384"/>
          </a:xfrm>
          <a:prstGeom prst="roundRect">
            <a:avLst>
              <a:gd name="adj" fmla="val 6635"/>
            </a:avLst>
          </a:prstGeom>
          <a:solidFill>
            <a:srgbClr val="F6F9F7"/>
          </a:solidFill>
          <a:ln w="12700">
            <a:solidFill>
              <a:srgbClr val="E3E9E5"/>
            </a:solidFill>
            <a:prstDash val="solid"/>
          </a:ln>
        </p:spPr>
      </p:sp>
      <p:sp>
        <p:nvSpPr>
          <p:cNvPr id="32" name="Shape 23"/>
          <p:cNvSpPr/>
          <p:nvPr/>
        </p:nvSpPr>
        <p:spPr>
          <a:xfrm>
            <a:off x="8298485" y="4233672"/>
            <a:ext cx="457200" cy="457200"/>
          </a:xfrm>
          <a:prstGeom prst="ellipse">
            <a:avLst/>
          </a:prstGeom>
          <a:solidFill>
            <a:srgbClr val="0E7C5A"/>
          </a:solidFill>
          <a:ln/>
        </p:spPr>
      </p:sp>
      <p:pic>
        <p:nvPicPr>
          <p:cNvPr id="33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12785" y="4347972"/>
            <a:ext cx="228600" cy="228600"/>
          </a:xfrm>
          <a:prstGeom prst="rect">
            <a:avLst/>
          </a:prstGeom>
        </p:spPr>
      </p:pic>
      <p:sp>
        <p:nvSpPr>
          <p:cNvPr id="34" name="Text 24"/>
          <p:cNvSpPr/>
          <p:nvPr/>
        </p:nvSpPr>
        <p:spPr>
          <a:xfrm>
            <a:off x="8298485" y="4837176"/>
            <a:ext cx="3125114" cy="923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75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Losing well</a:t>
            </a:r>
            <a:endParaRPr lang="en-US" sz="1750" dirty="0"/>
          </a:p>
          <a:p>
            <a:pPr indent="0" marL="0">
              <a:lnSpc>
                <a:spcPct val="102000"/>
              </a:lnSpc>
              <a:spcBef>
                <a:spcPts val="350"/>
              </a:spcBef>
              <a:buNone/>
            </a:pPr>
            <a:r>
              <a:rPr lang="en-US" sz="131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Concede the point. Bound the damage. Keep the rest.</a:t>
            </a:r>
            <a:endParaRPr lang="en-US" sz="1750" dirty="0"/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38912"/>
            <a:ext cx="1737360" cy="420624"/>
          </a:xfrm>
          <a:prstGeom prst="roundRect">
            <a:avLst>
              <a:gd name="adj" fmla="val 50000"/>
            </a:avLst>
          </a:prstGeom>
          <a:solidFill>
            <a:srgbClr val="0E7C5A"/>
          </a:solidFill>
          <a:ln/>
        </p:spPr>
      </p:sp>
      <p:sp>
        <p:nvSpPr>
          <p:cNvPr id="3" name="Shape 1"/>
          <p:cNvSpPr/>
          <p:nvPr/>
        </p:nvSpPr>
        <p:spPr>
          <a:xfrm>
            <a:off x="649224" y="539496"/>
            <a:ext cx="219456" cy="219456"/>
          </a:xfrm>
          <a:prstGeom prst="ellipse">
            <a:avLst/>
          </a:prstGeom>
          <a:solidFill>
            <a:srgbClr val="0E7C5A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" y="539496"/>
            <a:ext cx="219456" cy="21945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932688" y="438912"/>
            <a:ext cx="12435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896112"/>
            <a:ext cx="10972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these where you can see them</a:t>
            </a:r>
            <a:endParaRPr lang="en-US" sz="26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536192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debate toolkit. Photograph this slide.</a:t>
            </a:r>
            <a:endParaRPr lang="en-US" sz="165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6144768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50" kern="0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4 · Advanced Spoken English · Module 3 — Debate &amp; Persuasion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10607040" y="6144768"/>
            <a:ext cx="1033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B7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75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548640" y="1883664"/>
            <a:ext cx="5446624" cy="1929384"/>
          </a:xfrm>
          <a:prstGeom prst="roundRect">
            <a:avLst>
              <a:gd name="adj" fmla="val 6635"/>
            </a:avLst>
          </a:prstGeom>
          <a:solidFill>
            <a:srgbClr val="E7F3EF"/>
          </a:solidFill>
          <a:ln w="12700">
            <a:solidFill>
              <a:srgbClr val="C4E0D5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768096" y="2121408"/>
            <a:ext cx="384048" cy="384048"/>
          </a:xfrm>
          <a:prstGeom prst="ellipse">
            <a:avLst/>
          </a:prstGeom>
          <a:solidFill>
            <a:srgbClr val="0E7C5A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4108" y="2217420"/>
            <a:ext cx="192024" cy="192024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1261872" y="2103120"/>
            <a:ext cx="451393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opening</a:t>
            </a:r>
            <a:endParaRPr lang="en-US" sz="2000" dirty="0"/>
          </a:p>
        </p:txBody>
      </p:sp>
      <p:sp>
        <p:nvSpPr>
          <p:cNvPr id="15" name="Text 10"/>
          <p:cNvSpPr txBox="1"/>
          <p:nvPr/>
        </p:nvSpPr>
        <p:spPr>
          <a:xfrm>
            <a:off x="768096" y="2615184"/>
            <a:ext cx="5007712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“Our position is that…”  — NARROW it</a:t>
            </a:r>
            <a:endParaRPr lang="en-US" sz="15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“I'll show three things: …”</a:t>
            </a:r>
            <a:endParaRPr lang="en-US" sz="15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“First, …”</a:t>
            </a:r>
            <a:endParaRPr lang="en-US" sz="15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Memorise the first two sentences.</a:t>
            </a:r>
            <a:endParaRPr lang="en-US" sz="1500" dirty="0"/>
          </a:p>
        </p:txBody>
      </p:sp>
      <p:sp>
        <p:nvSpPr>
          <p:cNvPr id="16" name="Shape 11"/>
          <p:cNvSpPr/>
          <p:nvPr/>
        </p:nvSpPr>
        <p:spPr>
          <a:xfrm>
            <a:off x="6196432" y="1883664"/>
            <a:ext cx="5446624" cy="1929384"/>
          </a:xfrm>
          <a:prstGeom prst="roundRect">
            <a:avLst>
              <a:gd name="adj" fmla="val 6635"/>
            </a:avLst>
          </a:prstGeom>
          <a:solidFill>
            <a:srgbClr val="E7F3EF"/>
          </a:solidFill>
          <a:ln w="12700">
            <a:solidFill>
              <a:srgbClr val="C4E0D5"/>
            </a:solidFill>
            <a:prstDash val="solid"/>
          </a:ln>
        </p:spPr>
      </p:sp>
      <p:sp>
        <p:nvSpPr>
          <p:cNvPr id="17" name="Shape 12"/>
          <p:cNvSpPr/>
          <p:nvPr/>
        </p:nvSpPr>
        <p:spPr>
          <a:xfrm>
            <a:off x="6415888" y="2121408"/>
            <a:ext cx="384048" cy="384048"/>
          </a:xfrm>
          <a:prstGeom prst="ellipse">
            <a:avLst/>
          </a:prstGeom>
          <a:solidFill>
            <a:srgbClr val="0E7C5A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11900" y="2217420"/>
            <a:ext cx="192024" cy="192024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6909664" y="2103120"/>
            <a:ext cx="451393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four-step rebuttal</a:t>
            </a:r>
            <a:endParaRPr lang="en-US" sz="2000" dirty="0"/>
          </a:p>
        </p:txBody>
      </p:sp>
      <p:sp>
        <p:nvSpPr>
          <p:cNvPr id="20" name="Text 14"/>
          <p:cNvSpPr txBox="1"/>
          <p:nvPr/>
        </p:nvSpPr>
        <p:spPr>
          <a:xfrm>
            <a:off x="6415888" y="2615184"/>
            <a:ext cx="5007712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 NAME their main claim</a:t>
            </a:r>
            <a:endParaRPr lang="en-US" sz="15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 CONCEDE what is true</a:t>
            </a:r>
            <a:endParaRPr lang="en-US" sz="15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 ATTACK the weak part, with a reason</a:t>
            </a:r>
            <a:endParaRPr lang="en-US" sz="15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 “Which means it supports OUR case.”</a:t>
            </a:r>
            <a:endParaRPr lang="en-US" sz="1500" dirty="0"/>
          </a:p>
        </p:txBody>
      </p:sp>
      <p:sp>
        <p:nvSpPr>
          <p:cNvPr id="21" name="Shape 15"/>
          <p:cNvSpPr/>
          <p:nvPr/>
        </p:nvSpPr>
        <p:spPr>
          <a:xfrm>
            <a:off x="548640" y="4014216"/>
            <a:ext cx="5446624" cy="1929384"/>
          </a:xfrm>
          <a:prstGeom prst="roundRect">
            <a:avLst>
              <a:gd name="adj" fmla="val 6635"/>
            </a:avLst>
          </a:prstGeom>
          <a:solidFill>
            <a:srgbClr val="E7F3EF"/>
          </a:solidFill>
          <a:ln w="12700">
            <a:solidFill>
              <a:srgbClr val="C4E0D5"/>
            </a:solidFill>
            <a:prstDash val="solid"/>
          </a:ln>
        </p:spPr>
      </p:sp>
      <p:sp>
        <p:nvSpPr>
          <p:cNvPr id="22" name="Shape 16"/>
          <p:cNvSpPr/>
          <p:nvPr/>
        </p:nvSpPr>
        <p:spPr>
          <a:xfrm>
            <a:off x="768096" y="4251960"/>
            <a:ext cx="384048" cy="384048"/>
          </a:xfrm>
          <a:prstGeom prst="ellipse">
            <a:avLst/>
          </a:prstGeom>
          <a:solidFill>
            <a:srgbClr val="0E7C5A"/>
          </a:solidFill>
          <a:ln/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4108" y="4347972"/>
            <a:ext cx="192024" cy="192024"/>
          </a:xfrm>
          <a:prstGeom prst="rect">
            <a:avLst/>
          </a:prstGeom>
        </p:spPr>
      </p:pic>
      <p:sp>
        <p:nvSpPr>
          <p:cNvPr id="24" name="Text 17"/>
          <p:cNvSpPr txBox="1"/>
          <p:nvPr/>
        </p:nvSpPr>
        <p:spPr>
          <a:xfrm>
            <a:off x="1261872" y="4233672"/>
            <a:ext cx="451393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 questions</a:t>
            </a:r>
            <a:endParaRPr lang="en-US" sz="2000" dirty="0"/>
          </a:p>
        </p:txBody>
      </p:sp>
      <p:sp>
        <p:nvSpPr>
          <p:cNvPr id="25" name="Text 18"/>
          <p:cNvSpPr txBox="1"/>
          <p:nvPr/>
        </p:nvSpPr>
        <p:spPr>
          <a:xfrm>
            <a:off x="768096" y="4745736"/>
            <a:ext cx="5007712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 time → “Let me take it in two parts.”</a:t>
            </a:r>
            <a:endParaRPr lang="en-US" sz="15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False premise → “That assumes X.”</a:t>
            </a:r>
            <a:endParaRPr lang="en-US" sz="15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Don't know → “I don't have that figure…”</a:t>
            </a:r>
            <a:endParaRPr lang="en-US" sz="15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invent a number.</a:t>
            </a:r>
            <a:endParaRPr lang="en-US" sz="1500" dirty="0"/>
          </a:p>
        </p:txBody>
      </p:sp>
      <p:sp>
        <p:nvSpPr>
          <p:cNvPr id="26" name="Shape 19"/>
          <p:cNvSpPr/>
          <p:nvPr/>
        </p:nvSpPr>
        <p:spPr>
          <a:xfrm>
            <a:off x="6196432" y="4014216"/>
            <a:ext cx="5446624" cy="1929384"/>
          </a:xfrm>
          <a:prstGeom prst="roundRect">
            <a:avLst>
              <a:gd name="adj" fmla="val 6635"/>
            </a:avLst>
          </a:prstGeom>
          <a:solidFill>
            <a:srgbClr val="E7F3EF"/>
          </a:solidFill>
          <a:ln w="12700">
            <a:solidFill>
              <a:srgbClr val="C4E0D5"/>
            </a:solidFill>
            <a:prstDash val="solid"/>
          </a:ln>
        </p:spPr>
      </p:sp>
      <p:sp>
        <p:nvSpPr>
          <p:cNvPr id="27" name="Shape 20"/>
          <p:cNvSpPr/>
          <p:nvPr/>
        </p:nvSpPr>
        <p:spPr>
          <a:xfrm>
            <a:off x="6415888" y="4251960"/>
            <a:ext cx="384048" cy="384048"/>
          </a:xfrm>
          <a:prstGeom prst="ellipse">
            <a:avLst/>
          </a:prstGeom>
          <a:solidFill>
            <a:srgbClr val="0E7C5A"/>
          </a:solidFill>
          <a:ln/>
        </p:spPr>
      </p:sp>
      <p:pic>
        <p:nvPicPr>
          <p:cNvPr id="2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11900" y="4347972"/>
            <a:ext cx="192024" cy="192024"/>
          </a:xfrm>
          <a:prstGeom prst="rect">
            <a:avLst/>
          </a:prstGeom>
        </p:spPr>
      </p:pic>
      <p:sp>
        <p:nvSpPr>
          <p:cNvPr id="29" name="Text 21"/>
          <p:cNvSpPr txBox="1"/>
          <p:nvPr/>
        </p:nvSpPr>
        <p:spPr>
          <a:xfrm>
            <a:off x="6909664" y="4233672"/>
            <a:ext cx="451393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2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Losing an exchange</a:t>
            </a:r>
            <a:endParaRPr lang="en-US" sz="2000" dirty="0"/>
          </a:p>
        </p:txBody>
      </p:sp>
      <p:sp>
        <p:nvSpPr>
          <p:cNvPr id="30" name="Text 22"/>
          <p:cNvSpPr txBox="1"/>
          <p:nvPr/>
        </p:nvSpPr>
        <p:spPr>
          <a:xfrm>
            <a:off x="6415888" y="4745736"/>
            <a:ext cx="5007712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“You're right about that.</a:t>
            </a:r>
            <a:endParaRPr lang="en-US" sz="15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leaves my other two arguments standing.”</a:t>
            </a:r>
            <a:endParaRPr lang="en-US" sz="1500" dirty="0"/>
          </a:p>
          <a:p>
            <a:pPr indent="0" marL="0">
              <a:lnSpc>
                <a:spcPct val="112000"/>
              </a:lnSpc>
              <a:buNone/>
            </a:pPr>
            <a:endParaRPr lang="en-US" sz="15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3A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Concede · bound the damage · continue.</a:t>
            </a:r>
            <a:endParaRPr lang="en-US" sz="1500" dirty="0"/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6">
    <p:bg>
      <p:bgPr>
        <a:solidFill>
          <a:srgbClr val="0B23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554480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40" kern="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CONGRATULATIONS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011680"/>
            <a:ext cx="109728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4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have argued a side you did not choose, been challenged, and held your position.</a:t>
            </a:r>
            <a:endParaRPr lang="en-US" sz="41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20624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B9CF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narrowed your claim, attacked one point properly, survived questions you had not prepared for,</a:t>
            </a:r>
            <a:endParaRPr lang="en-US" sz="15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B9CF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conceded something without losing the room. That is a genuine skill, and most people never acquire it.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5120640"/>
            <a:ext cx="3511296" cy="713232"/>
          </a:xfrm>
          <a:prstGeom prst="roundRect">
            <a:avLst>
              <a:gd name="adj" fmla="val 17949"/>
            </a:avLst>
          </a:prstGeom>
          <a:solidFill>
            <a:srgbClr val="1C4E39"/>
          </a:solidFill>
          <a:ln w="12700">
            <a:solidFill>
              <a:srgbClr val="2A6249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5120640"/>
            <a:ext cx="314553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2E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— Module 4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279392" y="5120640"/>
            <a:ext cx="3511296" cy="713232"/>
          </a:xfrm>
          <a:prstGeom prst="roundRect">
            <a:avLst>
              <a:gd name="adj" fmla="val 17949"/>
            </a:avLst>
          </a:prstGeom>
          <a:solidFill>
            <a:srgbClr val="1C4E39"/>
          </a:solidFill>
          <a:ln w="12700">
            <a:solidFill>
              <a:srgbClr val="2A6249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462272" y="5120640"/>
            <a:ext cx="314553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2E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Discussion &amp; Chairing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8010144" y="5120640"/>
            <a:ext cx="3511296" cy="713232"/>
          </a:xfrm>
          <a:prstGeom prst="roundRect">
            <a:avLst>
              <a:gd name="adj" fmla="val 17949"/>
            </a:avLst>
          </a:prstGeom>
          <a:solidFill>
            <a:srgbClr val="1C4E39"/>
          </a:solidFill>
          <a:ln w="12700">
            <a:solidFill>
              <a:srgbClr val="2A6249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193024" y="5120640"/>
            <a:ext cx="314553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2E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Many voices, no winner — and somebody has to run it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6144768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50" kern="0" dirty="0">
                <a:solidFill>
                  <a:srgbClr val="7C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4 · Advanced Spoken English · Module 3 — Debate &amp; Persuasion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10607040" y="6144768"/>
            <a:ext cx="1033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76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76</Slides>
  <Notes>76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76</vt:i4>
      </vt:variant>
    </vt:vector>
  </HeadingPairs>
  <TitlesOfParts>
    <vt:vector size="7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  <vt:lpstr>Slide 65</vt:lpstr>
      <vt:lpstr>Slide 66</vt:lpstr>
      <vt:lpstr>Slide 67</vt:lpstr>
      <vt:lpstr>Slide 68</vt:lpstr>
      <vt:lpstr>Slide 69</vt:lpstr>
      <vt:lpstr>Slide 70</vt:lpstr>
      <vt:lpstr>Slide 71</vt:lpstr>
      <vt:lpstr>Slide 72</vt:lpstr>
      <vt:lpstr>Slide 73</vt:lpstr>
      <vt:lpstr>Slide 74</vt:lpstr>
      <vt:lpstr>Slide 75</vt:lpstr>
      <vt:lpstr>Slide 76</vt:lpstr>
    </vt:vector>
  </TitlesOfParts>
  <Company>English Learning Platform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Level 4 · Module 3 — Debate &amp; Persuasion</dc:title>
  <dc:subject>English course for Ethiopian learners — Level 4 Advanced Spoken English</dc:subject>
  <dc:creator>English Learning Platform</dc:creator>
  <cp:lastModifiedBy>English Learning Platform</cp:lastModifiedBy>
  <cp:revision>1</cp:revision>
  <dcterms:created xsi:type="dcterms:W3CDTF">2026-07-28T15:59:07Z</dcterms:created>
  <dcterms:modified xsi:type="dcterms:W3CDTF">2026-07-28T15:59:07Z</dcterms:modified>
</cp:coreProperties>
</file>