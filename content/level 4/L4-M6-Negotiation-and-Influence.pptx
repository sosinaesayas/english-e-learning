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Whole module: four 60-minute lessons.
HOW TO TEACH: Open by placing this beside Modules 3 and 4. Debate has a winner, discussion has none, and negotiation has an agreement that both sides must be able to live with.
TIP: Negotiation is the module with the most immediate financial value. Salary, deadlines, scope, price — learners will use this within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Objective 1 is where most negotiations are decided. People who prepare three numbers beat people who improvise, almost regardless of language.
TIP: Objective 3 is the single most valuable habit here. Conceding without trading trains the other side to keep 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Task 3 is the diagnostic. Almost nobody has a plan for “no”, and that absence is what makes people accept bad outcomes.
COMMON MISTAKES: Correct nothing. Note who conceded without asking for anything in return — that is the habit slide 8 addresses.
TIP: Ask how many prepared a specific number before speaking. Usually none, and it is the single strongest predictor of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 third chip is the definition. If the deal is worse than no deal, walking away is the correct outcome, not a failure.
COMMON MISTAKES: Learners equate agreement with success. A bad agreement is worse than none, and knowing that changes how they behave.
EXTRA EXAMPLES: The second chip matters culturally. Many learners negotiate to preserve the relationship and accept poor terms to do so.
TIP: Say plainly: a firm negotiator who trades fairly is respected more than an agreeable one who concedes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17 minutes. The most important slide in the module.
HOW TO TEACH: Number 3 is the concept that most changes outcomes. Spend real time on it — everything at the table follows from it.
COMMON MISTAKES: Deciding the limit during the conversation. Under pressure it moves, which is exactly why it must be fixed beforehand.
EXTRA EXAMPLES: Improving your alternative is often easier than improving your arguments: a second job offer, a second supplier, a second date that works.
TIP: The last side-panel point is practical. You never disclose your alternative — its value is that you know it exists.
CLASSROOM ACTIVITY: Three numbers: every learner writes all three for a real negotiation they 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17 minutes.
HOW TO TEACH: The Friday example is the clearest: if the real need is the board meeting, a summary by Friday and the full report by Tuesday may satisfy both.
COMMON MISTAKES: Negotiating position against position produces a split-the-difference result at best. Interests are where the value is found.
EXTRA EXAMPLES: “Why does that matter to you?” must be asked with genuine curiosity. Asked aggressively it sounds like a challenge.
TIP: Most deadlocks are two positions that block each other, hiding two interests that do not.
CLASSROOM ACTIVITY: Find the interest: give six positions and have learners guess three possible interests behind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Anchoring is real and powerful. Whichever number is said first becomes the reference point for every later move.
COMMON MISTAKES: Going first with no information. If you do not know the range, asking is not weakness — it is avoiding a costly guess.
EXTRA EXAMPLES: Row 3 is a genuinely useful move: answering a question with a question, politely, without appearing evasive.
TIP: Row 4 is the discipline. A visible reaction to a low number tells them exactly where you stand.
CLASSROOM ACTIVITY: Who goes first: give eight situations and have learners decide and justify.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17 minutes.
HOW TO TEACH: The IF–THEN structure is the whole technique. Drill it until it is automatic, because under pressure people concede reflexively.
COMMON MISTAKES: Conceding to keep things pleasant. It feels cooperative and it trains the other side to keep pushing.
EXTRA EXAMPLES: The third side-panel point is where deals get better: what is cheap for them may be valuable for you, and only trading reveals it.
TIP: This is not aggressive. “If you can do X, I can do Y” is friendlier than a flat refusal and far better than a free concession.
CLASSROOM ACTIVITY: Turn it into a trade: give ten concessions and have learners rewrite each as an IF–THEN.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right-hand column is the more valuable. Most people hear “no” and stop; the question “what would make it possible?” costs nothing and often works.
COMMON MISTAKES: Treating a refusal as final. It is a statement about the current terms, not about the whole matter.
EXTRA EXAMPLES: “Is it the price, or the timing?” is diagnostic. It forces them to name which element is blocking, and that element can then be traded.
TIP: Taking a refusal personally is the commonest error. It is about the terms, and behaving as though it is about you weakens your position.
CLASSROOM ACTIVITY: Reopen it: give eight refusals and have learners reopen each with 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is the practical point. The person who sends the written summary controls the record, and in most negotiations nobody sends one.
COMMON MISTAKES: Ending on a handshake and a vague understanding. Two weeks later the two sides remember different deals.
EXTRA EXAMPLES: This is Level 3 Module 5's confirming habit in its highest-value application.
TIP: “Have I got that right?” is the step people skip. It invites correction while it is still cheap to correct.
CLASSROOM ACTIVITY: Close it: after every practice negotiation, both sides write the two-line confirmation and compare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Build it backwards: ate → ti-ate → go-ti-ate → negotiate. Long words are learned from the end.
COMMON MISTAKES: Pronouncing the “ti” as /t/. It is /ʃ/, the same sound as in “negotiation”.
EXTRA EXAMPLES: negotiate WITH somebody, negotiate a price, a negotiable deadline, a non-negotiable requirement.
TIP: “Is that negotiable?” is a genuinely useful question and learners rarely produce it.
CLASSROOM ACTIVITY: Negotiable or not: give ten items and have learners ask about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Worth distinguishing from trading: a compromise splits the difference; a trade exchanges different things. The trade is usually better for both.
COMMON MISTAKES: Treating compromise as the goal. Splitting the difference is the least creative outcome available.
EXTRA EXAMPLES: reach a compromise · a workable compromise · compromise on the timing.
TIP: Point out that “compromise” has a second, negative sense — to compromise your position or your principles.
CLASSROOM ACTIVITY: Trade or compromise: give six outcomes and have learners classify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The mistake line is the module's central insight restated. Leverage is structural — it comes from what you can do without them.
COMMON MISTAKES: Believing leverage comes from being persuasive. It comes from having somewhere else to go.
EXTRA EXAMPLES: have leverage · little leverage · leverage over somebody · their deadline is our leverage.
TIP: A deadline the other side has and you do not is leverage. Notice whose clock is running.
CLASSROOM ACTIVITY: Who has leverage: give six situations and have learners say which side has more,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is the noun for the habit in slide 8. Having the word makes the discipline explicit: name your concessions and price them.
COMMON MISTAKES: Making concessions without noticing them. Small free concessions accumulate into a bad deal.
EXTRA EXAMPLES: make a concession · a major concession · in return for that concession.
TIP: “That's a real concession on my side — what can you do on the timing?” makes the trade explicit and it works.
CLASSROOM ACTIVITY: Name the concession: replay a negotiation and have learners list every concession each side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The mistake line points straight back to slide 6. Almost every deadlock is positional, and asking about interests is what breaks it.
COMMON MISTAKES: Treating a deadlock as the end. It is a signal to change level — from what they want to why they want it.
EXTRA EXAMPLES: reach a deadlock · break a deadlock · a deadlock over the price.
TIP: “We seem to be stuck. Can I ask what's driving the deadline for you?” is the standard deadlock-breaker.
CLASSROOM ACTIVITY: Break it: give five deadlocks and have learners find the interest behind each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Row 4 is the subtle one. It signals a possible trade without naming your price, which keeps your options open.
COMMON MISTAKES: Dropping the condition under pressure. “All right, I'll do Friday” is one sentence away from “if you can send the figures, I can do Friday.”
EXTRA EXAMPLES: The grammar is the first conditional from Level 3 Module 4, now doing commercial work.
TIP: Drill the IF–THEN until it is reflexive. The moment you need it is the moment you have least spare capacity.
CLASSROOM ACTIVITY: Ten trades: give ten requests and have learners respond with a conditional trade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names the single highest-value question. It converts an adversarial exchange into a joint problem, and it is very hard to refuse.
COMMON MISTAKES: Asking closed questions and receiving refusals. A “no” to a closed question tells you almost nothing.
EXTRA EXAMPLES: “How did you arrive at that?” is diagnostic. Numbers with no reasoning behind them tend to move; numbers with a calculation behind them do not.
TIP: Ask these with genuine curiosity. The same words asked aggressively become an interrogation.
CLASSROOM ACTIVITY: Open it up: give ten closed questions and have learners rewrite each as an open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note carries the four reopening questions and they are the more valuable half. Most people stop at a refusal.
COMMON MISTAKES: Refusing without an alternative. It ends the conversation, which is rarely what you want.
EXTRA EXAMPLES: Row 3 is the strongest form: refuse the number, name yours, and keep the deal alive in one sentence.
TIP: “Under what circumstances would that work?” is the most powerful of the four reopeners. It presumes conditions exist.
CLASSROOM ACTIVITY: Refuse and reopen: pairs alternate refusing and reopening ten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first side-panel rule is worth insisting on. Almost every regretted agreement was made on the spot under mild social pressure.
COMMON MISTAKES: Saying “that's my final offer” and then conceding. It destroys credibility for the rest of the negotiation and any future one.
EXTRA EXAMPLES: “I'd need to check with my team” works even for people with no team. It is a normal and expected move.
TIP: The calm single statement of a limit is far more convincing than repetition. Volume signals uncertainty.
CLASSROOM ACTIVITY: Buy time: give eight on-the-spot offers and have learners defer each one gracefully.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Habit 3 is the one that transfers fastest. A learner who trades instead of conceding sees a different outcome in their first real negotiation.
COMMON MISTAKES: Habit 5 skipped because it feels distrustful. It is not — it is how professionals prevent honest misunderstandings.
EXTRA EXAMPLES: Habits 1 and 2 happen before and at the start; 3 and 4 during; 5 after. Together they cover the whole event.
TIP: Print these five. They are worth more money to a working adult than anything else in this course.
CLASSROOM ACTIVITY: One habit each: assign each learner one habit to demonstrate in the practice negotiation.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Chaltu's second line is the whole module in six words. Without it she would have agreed to Friday or refused it, and both are worse.
COMMON MISTAKES: Learners argue against the deadline instead of asking about it. Arguing produces a compromise; asking produces a better deal.
EXTRA EXAMPLES: Her fourth line is a conditional trade in question form — it proposes without committing.
TIP: Ask what would have happened without line 2. Either an impossible deadline or a refusal, and neither serves anybody.
CLASSROOM ACTIVITY: Ask why: pairs role-play five impossible requests, each answered first with a why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Have learners mark each trade. Yonas concedes on price and on date, and both are priced against something he receives.
COMMON MISTAKES: The supplier's “48 is below our line” is a limit stated calmly and once. Note that they do not repeat it or raise their voice.
EXTRA EXAMPLES: The final line is the closing summary and check from slide 10, compressed into one sentence.
TIP: Neither side wins. Both get a deal they can live with, which is the definition from slide 4.
CLASSROOM ACTIVITY: Count the trades: learners identify each IF–THEN and what was exchanged.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Drill all six as chunks. Phrases 1, 2 and 3 do most of the work and should be automatic.
COMMON MISTAKES: Phrase 5 said twice, louder. Repetition signals uncertainty; a single calm statement signals a real limit.
EXTRA EXAMPLES: Phrase 4 is the one learners most need permission to use. Deferring a decision is normal and expected.
TIP: Phrase 3 is the highest-value sentence. It costs nothing and reopens doors that looked closed.
CLASSROOM ACTIVITY: Six phrases: run a ten-minute negotiation in which each learner must use at least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Have pairs perform it twice, the second time at natural speed. Negotiation language delivered slowly from a page is not the skill.
COMMON MISTAKES: Gap 4 is the reopener. Without it the negotiation stops at the refusal and nobody gets anything.
TIP: The last line is the closing check. Praise anyone who notices the deal is now better for both sides than the opening position.
CLASSROOM ACTIVITY: Do it again with a different constraint — price instead of time.
ANSWERS: 1 driving · 2 If · 3 below · 4 would · 5 Have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18 minutes for all five rounds.
HOW TO TEACH: Round 2 is where learners react visibly to a low number. Have the partner report on the reaction — it is usually unmistakable.
COMMON MISTAKES: Round 3 accepted without a trade. That is the reflex the module exists to break.
TIP: Round 5 must include the written confirmation. Have both sides write it separately and compare — the differences are instructive.
CLASSROOM ACTIVITY: Compare confirmations: both sides write two lines and check whether they describe the same 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Step 4 is the strategic one. A second quotation, a second offer or a second workable date changes the whole negotiation before it starts.
COMMON MISTAKES: Vague alternatives. “I'd look for something else” is not an alternative; “I have a written offer from X” is.
EXTRA EXAMPLES: The justification for the target matters. A number you can explain holds; a number you cannot explain collapses under one question.
TIP: Have learners do this for a real negotiation they actually face. Invented ones produce vague numbers.
CLASSROOM ACTIVITY: Three numbers: every learner writes all three for something real, then reads the alternative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Ten repetitions in five minutes. The IF–THEN must become reflexive, because the moment you need it is the moment you have least capacity.
COMMON MISTAKES: Agreeing to the easy ones. Every request gets a trade, including the ones that seem small — that is the discipline.
EXTRA EXAMPLES: What you ask for need not be large. Information, a date, a decision, a name — all are legitimate returns.
TIP: Learners find this uncomfortable at first and then find it easy. Push through the first three.
CLASSROOM ACTIVITY: Rapid fire: ten requests in five minutes, each answered with an IF–THEN.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Demonstrate both. The loud version of “that's my final position” is transparently a bluff and learners hear it instantly.
COMMON MISTAKES: Repeating a limit to reinforce it. Repetition weakens it — it signals that the first statement was not believed and you know it.
EXTRA EXAMPLES: The falling intonation is the Level 3 Module 2 rule. A limit stated with rising intonation sounds negotiable, because it is being asked.
TIP: This is one of the clearest cases where delivery, not vocabulary, decides the outcome.
CLASSROOM ACTIVITY: Once, quietly: learners state a limit both ways and the partner says which they would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Item 4 is the practical one: a refusal from someone without authority is not a refusal at all, and asking who can decide often solves it.
COMMON MISTAKES: Accepting the first no. It is usually a statement about the current terms, not about the whole matter.
EXTRA EXAMPLES: Item 5's question is diagnostic. If the objection is precedent rather than money, a one-off framing may work where a discount will not.
TIP: All five reopeners are questions. None of them argues, and that is why none of them provokes resistance.
CLASSROOM ACTIVITY: Five reopeners: partners refuse five times each and the other reopens every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 full lesson. Allow 15 minutes per pair including the comparison.
HOW TO TEACH: Step 6's comparison is the assessment nobody expects. Two people who just agreed often write two different deals.
COMMON MISTAKES: Free concessions in step 3. Have the observer count them — every uncounted concession is a lost trade.
TIP: Give each pair genuinely conflicting briefs with a real zone of agreement. Without that the exercise is theatre.
CLASSROOM ACTIVITY: Compare the confirmations: read both aloud. Differences are the lesson.
ANSWERS: SUCCESS CRITERIA: three numbers prepared in advance · an interest question in the first minute · three conditional trades · one calm limit, stated once · one reopened refusal · two written confirmations that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Question 4 is the mechanism. Each free concession told the buyer that asking works, so they asked again — four times.
COMMON MISTAKES: Learners see the seller as cooperative. They gave away four things and received nothing, which is not cooperation.
EXTRA EXAMPLES: The buyer is not being unfair. They asked, and the answer was yes each time — anybody would keep asking.
ANSWERS: 1 Four. · 2 None. · 3 Nothing. · 4 Because each yes made the next ask more likely. · 5 “If you can pay within 14 days, I can do the 15th.” · 6 The buyer, comfortably.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final item is the module's central discipline. Read the script again and have the class insert one IF–THEN at each of the seller's four 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Question 6 is the important one. The buyer gets installation included and a firm date — this is not a worse deal for them, it is a fairer one.
COMMON MISTAKES: Learners assume trading means the other side loses. Both sides here get something they wanted.
EXTRA EXAMPLES: The opening question — “how did you arrive at 45?” — reveals that the number is historical rather than calculated, which makes it movable.
ANSWERS: 1 How they arrived at 45 — to test whether the number is reasoned. · 2 Installation. · 3 Payment within 14 days. · 4 The seller adjusts the date rather than conceding. · 5 Summary and check. · 6 No — they gain installation and a firm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Play both scripts back to back. Same opening line, and the difference is entirely in whether the seller priced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Item 2 is genuinely useful. A number with reasoning behind it is hard to move; a number with a habit behind it is not.
COMMON MISTAKES: Not counting concessions. Memory over-weights your own and under-weights theirs, in both directions.
TIP: Item 4 uses the slide 33 lesson from the listening side. How a limit is delivered tells you whether to test it.
CLASSROOM ACTIVITY: Track four things: an observer in each negotiation notes all four and reports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17 minutes.
HOW TO TEACH: Question 6 is the honest one. She did not get 22 — she got 18 plus a committed review, which is better than 18 alone.
COMMON MISTAKES: Learners judge this a failure because the target was missed. Compare it with accepting 18 in silence, which is what most people do.
EXTRA EXAMPLES: Her evidence — two years, a third off delivery times — is the Module 2 rule: a number makes the claim checkable.
ANSWERS: How the number was arrived at · 22, supported by a measurable result · asks what would make it possible · accepts 18 in exchange for a committed review · summarises and confirms in writing · no, but she got more than was offered.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Question 3 is the pivot. “What would make it possible?” turns a closed door into a question about conditions, and the answer produces the review.
COMMON MISTAKES: Learners think she should have pushed harder on 22. The grade ceiling is a structural limit, and pushing would have produced nothing.
TIP: Question 5: whoever writes it down decides what was agreed. A verbal promise of a review in six months is easy to forget.
ANSWERS: 1 To test whether it is calculated or standard. · 2 Two years and a third off delivery times — checkable. · 3 Asks what would make it possible. · 4 A committed review in six months. · 5 Because whoever writes it down decides what was agreed.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6 is the honest measure. Judge a negotiation against what you would otherwise have got, not against your ideal.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last line is the most damaging. Apologising for negotiating tells the other side that asking was inappropriate, which affects every future conversation.
COMMON MISTAKES: “I've worked hard and I do a lot” is unverifiable. Compare with “two years on the Adama route, a third off delivery times”.
EXTRA EXAMPLES: He never names a number. Without a target there is nothing to negotiate towards and no way to measure the outcome.
ANSWERS: No target. No checkable evidence. No questions. No trade. The apology undermines everything. He could have had the review, at minimum.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5 is worth dwelling on. Many learners apologise for negotiating, and that single habit costs more than any language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What you ask for need not be large. Information, a date, a decision or a name are all legitimate returns.
COMMON MISTAKES: Asking for something unrelated and implausible. The return should be something they can actually give.
TIP: Read several aloud. Learners notice that none of them sounds aggressive — they sound organised.
ANSWERS: MODELS: 1 “If you can get me the figures by Tuesday, I can do Friday.” · 2 “At 45 I'd need payment within 14 days.” · 3 “I could take that on if the Adama report moves to next month.” · 4 “I can do Saturday if I can take Monday off.” · 5 “We can include installation at 48.”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Two possible interests each. The point is that a position usually has several possible drivers, and only a question reveals which.
COMMON MISTAKES: Guessing one interest and treating it as fact. The question must still be asked.
TIP: Item 4 is the interesting one: “I need an answer today” often means somebody else is waiting, and that is negotiable.
ANSWERS: MODELS: 1 a board meeting, or a funding deadline · 2 a fixed budget line, or a comparison quote · 3 a client requirement, or staff availability · 4 their own deadline, or a competing offer · 5 continuity of staff, or a lower annual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25 minutes.
HOW TO TEACH: Step 6 written in advance is unusual and effective. Drafting the confirmation before the meeting clarifies exactly what you are trying to agree.
COMMON MISTAKES: Step 1's alternative left vague. “Look elsewhere” is not an alternative; a specific option is.
TIP: Step 3 is where value is created. Three things you could trade is usually more than learners think they have.
ANSWERS: MODEL: see slide 41 for a worked negotiation with all six elements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Give this rubric before the task. Twelve of the twenty-five marks are for the numbers and the tradeables, which is where preparation pays.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Check 1 is done before, checks 2 to 5 during, and check 6 after. Together they cover the whole event.
TIP: Print this. It is worth more money to a working adult than anything else in this course.
CLASSROOM ACTIVITY: Six checks: apply this after every practice negotiation and before every real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Answer alone, then compare in pairs before taking answers from the class.
TIP: Question 1 is the module's central claim. Leverage is structural, not rhetorical.
ANSWERS: 1 b · 2 b · 3 b · 4 a · 5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Take the answers orally at speed. Under real pressure these must be available without construction.
COMMON MISTAKES: Item 2 is the trade. Learners often write “Because” — which concedes rather than trades.
TIP: Item 3 is the highest-value sentence in the module. Drill it twice.
ANSWERS: 1 driving · 2 If · 3 possible · 4 below · 5 overnight · 6 Have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Three short tasks. Let learners work in pairs and compare.
TIP: Part 1 item 4 makes the structural point: leverage is not a personal quality, it is a consequence of your alternative.
ANSWERS: Part 1: 1–c, 2–b, 3–a, 4–d.  ·  Part 2: 1–c, 2–a, 3–b.  ·  Part 3: 1–c, 2–a, 3–b.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All five answers are questions. None of them argues, which is why none provokes resistance.
COMMON MISTAKES: Arguing instead of asking. “But that's too low” invites a defence; “how did you arrive at it?” invites an explanation.
TIP: Item 4 is the practical one. A refusal from somebody without authority is not a refusal.
ANSWERS: MODELS: 1 “How did you arrive at 40?” · 2 “What would make it possible?” · 3 “Under what circumstances would you?” · 4 “Who could, and what would they need?” · 5 “Is it the amount, or the precedent?”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The odd-numbered items are free concessions; the even ones are trades. The pattern is deliberate and learners spot it quickly.
COMMON MISTAKES: Item 5's “I suppose so” is the worst of the five. It concedes AND signals that more asking will work.
TIP: Have learners rewrite items 1, 3 and 5 as trades. Three sentences, and the whole deal changes.
ANSWERS: 1 free concession, nothing back · 2 traded for 14-day payment · 3 free concession · 4 traded for installation · 5 free concession, and the hesitation invites another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Correcting each false statement is what makes this teach rather than test.
TIP: Item 3 is the belief this module exists to correct. Say the correction twice.
ANSWERS: 1 F — from your alternative · 2 F — decide it before; under pressure it moves · 3 F — it trains them to ask again · 4 F — usually “not on those terms” · 5 T · 6 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Question 3 must be specific. “Look elsewhere” scores nothing; a named option scores everything.
COMMON MISTAKES: Question 2 answered with a number and no reason. A limit with no reasoning behind it will move under pressure.
TIP: Question 5 should be an interest question. Collect the answers and check.
ANSWERS: No fixed answers. Question 1's evidence must be checkable; question 4 must name three genuine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 in groups of three.
HOW TO TEACH: The observer counting free concessions is the key mechanic. Speakers rarely notice their own.
TIP: Round 3's feedback is the useful part. Ask the partner: would you have tested that limit?
ANSWERS: SUCCESS CRITERIA: 1 an interest question early · 2 three trades and zero free concessions · 3 a limit the partner reports believing · 4 a refusal reopened with a question, not an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 full lesson in groups of three.
HOW TO TEACH: Step 4 is the assessment that surprises everybody. Two people who just shook hands frequently write two different deals.
TIP: Write the briefs so that a genuinely better joint outcome exists but is only reachable by asking about interests. Otherwise it becomes haggling.
ANSWERS: Assessed with the six checks from slide 50, plus the observer's concession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 Discussion, not writing.
HOW TO TEACH: Question 2 is answered by the two listening scripts. The traded version produced a better deal for BOTH sides, which settles it empirically.
TIP: Question 4's answer is the module's honest position: not every negotiation should end in agreement.
ANSWERS: 1 It teaches them that asking works, so they ask again — and each yes makes the next request more likely. 2 Cooperative — slide 38's buyer ended up better off than slide 36's, because trading found value that conceding did not. 3 An argument can be answered; an alternative cannot. It changes what you are able to do, not what you are able to say. 4 When the deal on the table is worse than your alternative — that is the definition of the limit, and it is the one moment where walking away is the correct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nineteen. The observer's concession count is part of the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nineteen. The observer's concession count is part of the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nineteen. The observer's concession count is part of the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nineteen. The observer's concession count is part of the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nineteen. The observer's concession count is part of the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Q10 and Q13 are the diagnostic block: the alternative as power, the cost of free concessions, and “no” as a statement about terms. All three change outcomes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Q10 and Q13 are the diagnostic block: the alternative as power, the cost of free concessions, and “no” as a statement about terms. All three change outcomes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Q10 and Q13 are the diagnostic block: the alternative as power, the cost of free concessions, and “no” as a statement about terms. All three change outcomes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Q10 and Q13 are the diagnostic block: the alternative as power, the cost of free concessions, and “no” as a statement about terms. All three change outcomes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Q2, Q10 and Q13 are the diagnostic block: the alternative as power, the cost of free concessions, and “no” as a statement about terms. All three change outcomes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Tuesday's task is the highest-value hour of the week. Improving the alternative changes the negotiation before it begins.
TIP: Thursday's task is where learners feel the difference. The first conditional trade is uncomfortable and then it is not.
CLASSROOM ACTIVITY: Report back: three learners describe what happened on Wednesday and Thursday.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Task 3's self-count is the assessment. Learners consistently under-count their own concessions until they hear the recording.
COMMON MISTAKES: Learners who cannot record must not be excluded. Offer the live option with an observer instead.
TIP: If any learner has a real negotiation this week, prioritise their preparation and go through it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Preparation carries ten marks, which is deliberate. Most of a negotiation is decided before anybody speaks.
COMMON MISTAKES: Do not mark the outcome. A learner may negotiate excellently and still not get the deal, because the zone of agreement was small.
TIP: Give the mark privately with the observer's concession count attached. That number is more useful than any comment.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Return to the warm-up on slide 3. Run the pay-rise negotiation again with preparation and compare the outcome.
TIP: Ask who used a conditional trade in a real conversation this week. Those reports are the best summary available.
CLASSROOM ACTIVITY: Quick-fire recap: point at each card and ask a different learner for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Tell learners to photograph this slide. The second box is the one to read immediately before any real negotiation.
TIP: Print the third box. Four questions, and they do more work than any argument.
CLASSROOM ACTIVITY: Cover each box in turn and ask the class to say what was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5 minutes.
HOW TO TEACH: Name the value plainly. Salary, deadlines, scope and price are negotiated repeatedly across a career, and small habits compound.
TIP: Preview Module 7: idiom, humour and register are the remaining markers. Not barriers to being understood — markers of not being inside the language.
CLASSROOM ACTIVITY: Ask every learner to name one negotiation they will prepare properly this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image" Target="../media/image-7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oundRect">
            <a:avLst/>
          </a:prstGeom>
          <a:solidFill>
            <a:srgbClr val="0E7C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Spoken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709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B1 → B2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OF 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Influence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246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debate has a winner. A discussion has none. A negotiation has two people who both want something — and neither can simply take it.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349240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13832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0104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60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690104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01784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6376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866376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NEGOTIATIONS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____________________   Class: ____________   Date: ____________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things. All of them worth money or time.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2996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126529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properly — three numbers before you speak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target, your limit, and what you do if there is no deal.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6384" y="287121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96777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what they actually want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rarely what they first asked for.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" y="371246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809025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instead of conceding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 do X, I can do Y.” Never give something for nothing.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6384" y="455371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650273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no without ending the conversation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hear no without taking it personally.</a:t>
            </a:r>
            <a:endParaRPr lang="en-US" sz="1580" dirty="0"/>
          </a:p>
        </p:txBody>
      </p:sp>
      <p:sp>
        <p:nvSpPr>
          <p:cNvPr id="27" name="Shape 19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6384" y="539496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5491521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an agreement so it is actually clear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what, by when, and confirmed in writing.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ask for something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seconds. No preparation.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Ask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partner for a 15% pay rise. They will resist. Ninety seconds.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happened?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give a number first? Did you concede anything? Did you get anything back?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What if they say no?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your plan? Did you have one before you started?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is not persuasion. It is finding a deal both sides can live with.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trying to win, and you are not trying to be liked.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trying to reach something better than no agreement — for both of you.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winning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being liked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no deal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numbers — prepare before you speak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negotiations are decided here, not at the table.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ALL THREE BEFORE YOU START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YOUR TARGET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What you are actually aiming for.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Ambitious, but justifiable.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YOUR LIMIT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 point where no deal is better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than this deal. Decide it in advance.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YOUR ALTERNATIVE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What you will do if there is no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agreement. This is your real power.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NUMBER 3 MATTERS MOST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with a good alternative can say no and mean it.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with no alternative accepts whatever is offered.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your alternative before the meeting is worth more than any phrase.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have to say what it is. You just have to have one.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and interest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ASK for is rarely what they NEED.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need it by Friday.”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15% more.”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can't go above 40,000.”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they say.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Usually one specific solution.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interest behind it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board meets on Monday.”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rent went up and I feel undervalued.”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budget line is fixed this quarter.”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they actually need.</a:t>
            </a:r>
            <a:endParaRPr lang="en-US" sz="1700" dirty="0"/>
          </a:p>
          <a:p>
            <a:pPr marL="228600" indent="-228600">
              <a:lnSpc>
                <a:spcPct val="100000"/>
              </a:lnSpc>
              <a:spcAft>
                <a:spcPts val="984"/>
              </a:spcAft>
              <a:buSzPct val="100000"/>
              <a:buChar char="•"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Often several solutions fit.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“why does that matter to you?” The answer opens options the position closed. Friday may not be needed — the board meeting is.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number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matters more than almost anything else you say.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41449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know the market well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first, ambitiously but justifiably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number anchors the whole discussion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have no idea of the range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them: “What did you have in mind?”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going first blind can cost you badly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ask you first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“What's the range for this role?”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the question back without refusing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give a low number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react to it. Ask about interests.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reacting anchors you to their number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number said aloud shapes everything after it. That is why row 4 matters: reacting to a low offer accepts it as the starting point.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Trade, never concede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valuable habit in this module.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TRADE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“All right, I'll do it by Friday.”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“If you can give me the figures by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Tuesday, I can do Friday.”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 …, THEN I can …”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concession is attached to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get in return.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concession teaches them that asking works — so they ask again.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traded concession costs them something, so they ask less often.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finds value: they may give up something cheap for them and valuable to you.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protects the relationship — you are not refusing, you are pricing.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no, and hearing no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should end the conversation.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no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013"/>
              </a:spcAft>
              <a:buSzPct val="100000"/>
              <a:buChar char="•"/>
            </a:pPr>
            <a:r>
              <a:rPr lang="en-US" sz="17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can't do that — but I could do X.”</a:t>
            </a:r>
            <a:endParaRPr lang="en-US" sz="1750" dirty="0"/>
          </a:p>
          <a:p>
            <a:pPr marL="228600" indent="-228600">
              <a:lnSpc>
                <a:spcPct val="100000"/>
              </a:lnSpc>
              <a:spcAft>
                <a:spcPts val="1013"/>
              </a:spcAft>
              <a:buSzPct val="100000"/>
              <a:buChar char="•"/>
            </a:pPr>
            <a:r>
              <a:rPr lang="en-US" sz="17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doesn't work for me. What about…?”</a:t>
            </a:r>
            <a:endParaRPr lang="en-US" sz="1750" dirty="0"/>
          </a:p>
          <a:p>
            <a:pPr marL="228600" indent="-228600">
              <a:lnSpc>
                <a:spcPct val="100000"/>
              </a:lnSpc>
              <a:spcAft>
                <a:spcPts val="1013"/>
              </a:spcAft>
              <a:buSzPct val="100000"/>
              <a:buChar char="•"/>
            </a:pPr>
            <a:r>
              <a:rPr lang="en-US" sz="17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at that price. At 45,000 I could.”</a:t>
            </a:r>
            <a:endParaRPr lang="en-US" sz="1750" dirty="0"/>
          </a:p>
          <a:p>
            <a:pPr marL="228600" indent="-228600">
              <a:lnSpc>
                <a:spcPct val="100000"/>
              </a:lnSpc>
              <a:spcAft>
                <a:spcPts val="1013"/>
              </a:spcAft>
              <a:buSzPct val="100000"/>
              <a:buChar char="•"/>
            </a:pPr>
            <a:r>
              <a:rPr lang="en-US" sz="17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offer a direction.</a:t>
            </a:r>
            <a:endParaRPr lang="en-US" sz="1750" dirty="0"/>
          </a:p>
          <a:p>
            <a:pPr marL="228600" indent="-228600">
              <a:lnSpc>
                <a:spcPct val="100000"/>
              </a:lnSpc>
              <a:spcAft>
                <a:spcPts val="1013"/>
              </a:spcAft>
              <a:buSzPct val="100000"/>
              <a:buChar char="•"/>
            </a:pPr>
            <a:r>
              <a:rPr lang="en-US" sz="17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just refuse.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no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it possible?”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the price, or the timing?”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could you do?”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“No” is usually “not like that”.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Ask what would change it.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“No” is rarely final. It usually means “not on those terms”. The question “what would make it possible?” reopens almost every closed door.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deal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agreements fail here, not in the negotiation.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41449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“So, to be clear — you'll do X, I'll do Y.”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both hear the same deal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“Have I got that right?”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them a chance to correct it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“And that's by the 15th?”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deal with no date is not a deal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“I'll send you two lines confirming it.”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written, same day, always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confirmation yourself, within the hour. Whoever writes it down decides what was agreed — and usually nobody does.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negotiate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/nɪˈɡəʊʃieɪt/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discuss terms in order to reach an agreement.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negotiated a longer deadline. The price is negotiable.</a:t>
            </a:r>
            <a:endParaRPr lang="en-US" sz="17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syllables, stress on the SECOND: ne-GO-ti-ate. The “ti” is /ʃ/, like “sh”.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compromise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/ˈkɒmprəmaɪz/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and 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agreement where each side gives up something.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reached a compromise. I'm willing to compromise on the date.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FIRST syllable for both noun and verb. And compromise ON something, not about.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leverage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/ˈliːvərɪdʒ/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 that lets you influence the outcome.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very little leverage here. Their deadline gives us leverage.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English uses /ˈliːvərɪdʒ/ with a long “ee”. Leverage comes from your ALTERNATIVE, not from your arguments.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concession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/kənˈseʃn/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give up to move the deal forward.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significant concession. I'd want something in return.</a:t>
            </a:r>
            <a:endParaRPr lang="en-US" sz="15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SECOND syllable: con-CE-ssion. Never make one without asking for something back.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deadlock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/ˈdedlɒk/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where neither side will move.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reached a deadlock over the price. Let's break the deadlock.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FIRST syllable. A deadlock is usually two POSITIONS blocking, hiding two interests that do not.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15925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665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LANGUAGE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conditional trade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structure. It is the whole module.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108960"/>
                <a:gridCol w="3962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“If you can do X, I can do Y.”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workhorse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could do X, provided that Y.”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formal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written terms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“I'd be able to do X, as long as Y.”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softer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relationship matters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“That would depend on Y.”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committing to anything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4 is how you test an idea without offering it. “That would depend on the timing” invites them to solve your problem for you.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15925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665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LANGUAGE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that open a negotiation up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do more work than the statements.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— gets you a yes or no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do Friday?”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40,000 your final offer?”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you agree to that?”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answer. Usually no.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Nothing is learned.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gets you information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driving the Friday deadline?”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you arrive at 40,000?”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this work for you?”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Tells you the interest.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Opens options the position closed.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this work for you?” is the most useful sentence in negotiation. It asks them to solve the problem with you.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15925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665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LANGUAGE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no, and reopening a no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phrases. Four each way.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108960"/>
                <a:gridCol w="396209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Saying 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add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can't do that — but I could do X.”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firm, open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alternative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“That doesn't work for me. What about…?”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question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“Not at that price. At 45,000 I could.”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number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“I'd struggle with that, to be honest.”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a condition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REOPENING a no: “What would make it possible?” · “Is it the price or the timing?” · “What could you do?” · “Under what circumstances would that work?”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15925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665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LANGUAGE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time, and the language of limits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you will need under pressure.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DF3EF"/>
          </a:solidFill>
          <a:ln w="15875">
            <a:solidFill>
              <a:srgbClr val="3F5BD9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LIMITS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TIME</a:t>
            </a:r>
            <a:endParaRPr lang="en-US" sz="15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“Let me think about that overnight.”</a:t>
            </a:r>
            <a:endParaRPr lang="en-US" sz="15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“I'd need to check that with my team.”</a:t>
            </a:r>
            <a:endParaRPr lang="en-US" sz="15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“Can I come back to you tomorrow?”</a:t>
            </a:r>
            <a:endParaRPr lang="en-US" sz="1550" dirty="0"/>
          </a:p>
          <a:p>
            <a:pPr indent="0" marL="0">
              <a:lnSpc>
                <a:spcPct val="134000"/>
              </a:lnSpc>
              <a:buNone/>
            </a:pPr>
            <a:endParaRPr lang="en-US" sz="15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A LIMIT</a:t>
            </a:r>
            <a:endParaRPr lang="en-US" sz="15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“That's below what I can accept.”</a:t>
            </a:r>
            <a:endParaRPr lang="en-US" sz="15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“I'm afraid that's not something</a:t>
            </a:r>
            <a:endParaRPr lang="en-US" sz="15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 can agree to.”</a:t>
            </a:r>
            <a:endParaRPr lang="en-US" sz="15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“That would have to be my final position.”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agree to a significant deal on the spot. Sleep on it.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need to check with my team” is legitimate and buys real time.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limit once, calmly, and do not repeat it louder.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say “final” and then move, nothing you say afterwards is believed.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15925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665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LANGUAGE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 — five habits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are worth money.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three numbers before you speak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· limit · alternative. Especially the alternative.</a:t>
            </a:r>
            <a:endParaRPr lang="en-US" sz="163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 before you argue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driving that deadline?” The interest is where the options are.</a:t>
            </a:r>
            <a:endParaRPr lang="en-US" sz="163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concede without trading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 do X, I can do Y.” Every time.</a:t>
            </a:r>
            <a:endParaRPr lang="en-US" sz="163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“no” as “not on those terms”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it possible?”</a:t>
            </a:r>
            <a:endParaRPr lang="en-US" sz="163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 writing, within the hour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writes it down decides what was agreed.</a:t>
            </a:r>
            <a:endParaRPr lang="en-US" sz="16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— preparation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before you speak.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numbers?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target, your limit, and your alternative.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Decided in advance. Under pressure a limit decided at the table always moves.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gives you real power?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person with somewhere else to go can say no and mean it. A person without one accepts what is offered.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tell them your alternative?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You just have to have one.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Its value is that it changes how you behave, not what you say.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— position and interest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say “we need it by Friday”. What is the position?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Friday. The interest may be something else entirely.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Ask: “what's driving Friday?” The answer might be a Monday board meeting.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6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that help?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179"/>
              </a:spcBef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by Friday and the full report by Tuesday may satisfy both.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268"/>
              </a:spcBef>
              <a:buNone/>
            </a:pPr>
            <a:r>
              <a:rPr lang="en-US" sz="134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Positions block each other. Interests often do not, and only a question reveals them.</a:t>
            </a:r>
            <a:endParaRPr lang="en-US" sz="116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ask without sounding aggressive?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189"/>
              </a:spcBef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curiosity: “Can I ask what's driving that?”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284"/>
              </a:spcBef>
              <a:buNone/>
            </a:pPr>
            <a:r>
              <a:rPr lang="en-US" sz="142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same words asked sharply become an interrogation and close the conversation.</a:t>
            </a:r>
            <a:endParaRPr lang="en-US" sz="12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— trading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give something for nothing.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ask you to move the deadline to Friday. What do you say?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 get me the figures by Tuesday, I can do Friday.”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concession is priced. A free one teaches them that asking works.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just agreeing?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trains them to ask again.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Free concessions accumulate, and each one makes the next request more likely.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does trading do?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value — they may give up something cheap for them and valuable to you.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That is how a deal becomes better for both sides rather than merely split.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— no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final.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say no to your price. What do you ask?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it possible?”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“No” usually means “not on those terms”. The question asks which term.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say no without ending it?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at that price. At 45,000 I could.”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Refuse the number, name yours, keep the deal alive — all in one sentence.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6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make a very low first offer. What do you do?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179"/>
              </a:spcBef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react. Ask how they arrived at it.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268"/>
              </a:spcBef>
              <a:buNone/>
            </a:pPr>
            <a:r>
              <a:rPr lang="en-US" sz="134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Reacting anchors you to their number. The question moves the discussion to reasoning.</a:t>
            </a:r>
            <a:endParaRPr lang="en-US" sz="11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— closing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deals fail here.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agreed. What are the four closing steps?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· check · confirm the date · send it in writing.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minutes, and it prevents two people remembering different agreements.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send the written confirmation?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 Within the hour.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Whoever writes it down decides what was agreed — and usually nobody does.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say “have I got that right?”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invites correction while it is still cheap.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misunderstanding caught in the room costs nothing. Caught in three weeks it costs the deal.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interest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 is asked for something impossible. Watch her second line.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the full report by Friday.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ask what's driving Friday?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meets on Monday morning.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Right. If I get you a two-page summary by Friday, would that cover the board?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would probably do it, actually.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 can do that — and the full report by the following Tuesday.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moved the deadline from impossible to comfortable. The position was Friday; the interest was the board meeting.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Trading, not conceding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 is pushed three times. He trades every time.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do 50,000, but we'd need payment in advance.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payment is difficult. If we pay half up front, could you do 46,000?</a:t>
            </a:r>
            <a:endParaRPr lang="en-US" sz="185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is below our line. 48 with half up front.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works if delivery is before the 20th. Is that possible?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22nd is realistic. The 20th would be tight.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48, half up front, delivery by the 22nd. Have I got that right?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trades, no free concessions, and a closing check. Every move Yonas makes is attached to something he gets back.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phrases that carry a negotiation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chunks. Memorise them — pressure removes your capacity to build them.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driving that?”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interest behind the position.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 X, I can Y.”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trade. Never concede without one.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it possible?”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Reopens almost any no.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me think about that overnight.”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agree to a big deal on the spot.</a:t>
            </a:r>
            <a:endParaRPr lang="en-US" sz="148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below what I can accept.”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once. Calmly. Do not repeat it louder.</a:t>
            </a:r>
            <a:endParaRPr lang="en-US" sz="148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“Have I got that right?”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check. Invites correction cheaply.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negotiation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Fill each gap. Answers are in the Answer Key.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it finished by the end of the month.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ask what's ______ that date?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funding report goes in on the 3rd. And we'd want the full document.</a:t>
            </a:r>
            <a:endParaRPr lang="en-US" sz="195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I get you the figures by the 28th, would that cover the report?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might. But the document is ______ what I can move on this month.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______ make it possible? Then figures by the 28th, document by the 10th?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these:  “driving”  ·  “If”  ·  “below”  ·  “would”  ·  “Have”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— five negotiations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 each. Swap roles each time.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deadline you cannot meet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interest before you argue.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that is too low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react. Ask how they arrived at it.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work you were not asked about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Trade. Never simply accept it.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refusal you want to reopen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it possible?”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one of them properly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· check · date · confirm in writing.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prepare the three numbers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of preparation beats an hour of talking.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what are you actually aiming for?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Ambitious but justifiable. Write the justification too.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— where is no deal better than this deal?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it now. It will move if you decide it later.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— what will you do if there's no agreement?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specific. “Look elsewhere” is not an alternative.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improve your alternative before the meeting?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usually the highest-value hour you can spend.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the trading drill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requests. Trade every one.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finish it a week early?”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can…, I can…”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drop the price by 10%?”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it. What do you get?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take on this extra task?”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Trade, do not accept.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work on Saturday?”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back?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start two weeks earlier?”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concession has a price.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drill — the calm limit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sentence, and only one version is believed.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these once, calmly, falling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below what I can accept.”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afraid that's not something I can agree to.”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would have to be my final position.”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— but I could do X.”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say them louder, or twice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like a bluff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defensive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nobody believes “final” said twice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like an argument, not a limit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limit is stated once, quietly, and not repeated. Volume and repetition both signal that you expect to move.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— reopen the no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refusals. Reopen every one.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“No, we can't go above 40,000.”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you arrive at 40?”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deadline isn't possible.”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it possible?”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don't do that for new clients.”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“Under what circumstances would you?”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can't authorise that.”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could? And what would they need?”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not our policy.”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the amount, or the precedent?”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challenge — a full negotiation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7876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6384" y="1787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your three numbers privately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· limit · alternative. Do not show your partner.</a:t>
            </a:r>
            <a:endParaRPr lang="en-US" sz="163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" y="25100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" y="2510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by asking about their interest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driving that for you?”</a:t>
            </a:r>
            <a:endParaRPr lang="en-US" sz="1630" dirty="0"/>
          </a:p>
        </p:txBody>
      </p:sp>
      <p:sp>
        <p:nvSpPr>
          <p:cNvPr id="18" name="Shape 14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323240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86384" y="3232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at least three conditional trades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 X, I can Y.” Never a free concession.</a:t>
            </a:r>
            <a:endParaRPr lang="en-US" sz="1630" dirty="0"/>
          </a:p>
        </p:txBody>
      </p:sp>
      <p:sp>
        <p:nvSpPr>
          <p:cNvPr id="22" name="Shape 18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39547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6384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one limit — once, calmly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 not repeat it.</a:t>
            </a:r>
            <a:endParaRPr lang="en-US" sz="1630" dirty="0"/>
          </a:p>
        </p:txBody>
      </p:sp>
      <p:sp>
        <p:nvSpPr>
          <p:cNvPr id="26" name="Shape 22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6384" y="467715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86384" y="4677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one refusal with a question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it possible?”</a:t>
            </a:r>
            <a:endParaRPr lang="en-US" sz="1630" dirty="0"/>
          </a:p>
        </p:txBody>
      </p:sp>
      <p:sp>
        <p:nvSpPr>
          <p:cNvPr id="30" name="Shape 26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86384" y="53995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638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summarise, check, date, and write it down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write it. Then compare.</a:t>
            </a:r>
            <a:endParaRPr lang="en-US" sz="16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count the concessions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side trades. One side gives things away.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TWICE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 Can you do it for 45,000?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SELLER:  All right, 45,000.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 And delivery by the 15th?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SELLER:  Yes, we can manage the 15th.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 And could you include the installation?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SELLER:  I suppose we could, yes.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 And a three-month warranty rather than one?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SELLER:  …all right. Three months.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 Good. Let's do that then.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How many concessions did the seller make?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many did the buyer make?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did the seller get in return?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Why did the buyer keep asking?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should the seller have said at concession 2?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Who negotiated better?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and 2 — the count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from the seller, none from the buyer.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Price, date, installation and warranty. Every one of them free.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why did the buyer keep asking?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ask worked.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buyer is not being unreasonable. Four yeses in a row is an invitation to ask a fifth time.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the fix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 pay within 14 days, I can do the 15th.”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One conditional turns a free concession into a trade, and it slows the asking immediately.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who negotiated better?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buyer, comfortably.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Not because they were aggressive — because the seller priced nothing.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lesson?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concession is not generosity. It is training.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teaches the other side that asking works, and they will keep asking until it stops.</a:t>
            </a:r>
            <a:endParaRPr lang="en-US" sz="11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the same deal, traded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opening. Completely different outcome.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TWICE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 Can you do it for 45,000?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SELLER:  Can I ask how you arrived at 45?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 It's what we paid last year.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SELLER:  Costs have moved since then. At 48 I could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installation.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 And delivery by the 15th?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SELLER:  If you can pay within 14 days, yes.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 We could do 21 days.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SELLER:  Then the 18th. 48, installation included,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the 18th. Have I got that right?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70"/>
              </a:spcAft>
              <a:buSzPct val="100000"/>
              <a:buChar char="•"/>
            </a:pPr>
            <a:r>
              <a:rPr lang="en-US" sz="14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does the seller ask first, and why?</a:t>
            </a:r>
            <a:endParaRPr lang="en-US" sz="1450" dirty="0"/>
          </a:p>
          <a:p>
            <a:pPr marL="228600" indent="-228600">
              <a:lnSpc>
                <a:spcPct val="100000"/>
              </a:lnSpc>
              <a:spcAft>
                <a:spcPts val="870"/>
              </a:spcAft>
              <a:buSzPct val="100000"/>
              <a:buChar char="•"/>
            </a:pPr>
            <a:r>
              <a:rPr lang="en-US" sz="14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the seller trade for 48?</a:t>
            </a:r>
            <a:endParaRPr lang="en-US" sz="1450" dirty="0"/>
          </a:p>
          <a:p>
            <a:pPr marL="228600" indent="-228600">
              <a:lnSpc>
                <a:spcPct val="100000"/>
              </a:lnSpc>
              <a:spcAft>
                <a:spcPts val="870"/>
              </a:spcAft>
              <a:buSzPct val="100000"/>
              <a:buChar char="•"/>
            </a:pPr>
            <a:r>
              <a:rPr lang="en-US" sz="14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does the seller ask for the 15th?</a:t>
            </a:r>
            <a:endParaRPr lang="en-US" sz="1450" dirty="0"/>
          </a:p>
          <a:p>
            <a:pPr marL="228600" indent="-228600">
              <a:lnSpc>
                <a:spcPct val="100000"/>
              </a:lnSpc>
              <a:spcAft>
                <a:spcPts val="870"/>
              </a:spcAft>
              <a:buSzPct val="100000"/>
              <a:buChar char="•"/>
            </a:pPr>
            <a:r>
              <a:rPr lang="en-US" sz="14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happens when the buyer counters?</a:t>
            </a:r>
            <a:endParaRPr lang="en-US" sz="1450" dirty="0"/>
          </a:p>
          <a:p>
            <a:pPr marL="228600" indent="-228600">
              <a:lnSpc>
                <a:spcPct val="100000"/>
              </a:lnSpc>
              <a:spcAft>
                <a:spcPts val="870"/>
              </a:spcAft>
              <a:buSzPct val="100000"/>
              <a:buChar char="•"/>
            </a:pPr>
            <a:r>
              <a:rPr lang="en-US" sz="14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does it close?</a:t>
            </a:r>
            <a:endParaRPr lang="en-US" sz="1450" dirty="0"/>
          </a:p>
          <a:p>
            <a:pPr marL="228600" indent="-228600">
              <a:lnSpc>
                <a:spcPct val="100000"/>
              </a:lnSpc>
              <a:spcAft>
                <a:spcPts val="870"/>
              </a:spcAft>
              <a:buSzPct val="100000"/>
              <a:buChar char="•"/>
            </a:pPr>
            <a:r>
              <a:rPr lang="en-US" sz="14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Is the buyer worse off than in version 1?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opening question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you arrive at 45?” — to test the number.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turns out to be last year's price, not a calculation. Historical numbers move; calculated ones do not.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and 3 — the trades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in exchange for installation; the 15th in exchange for 14-day payment.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 movement is priced. Nothing is given away.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counter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offers 21 days, so the seller moves the date to the 18th.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smaller return means a smaller concession. The proportions are maintained.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is the buyer worse off?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They gain installation and a firm date.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Trading is not winning. Both sides ended with something they did not have in version 1.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at the start, and four conditionals.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Same opening offer, same people, and a materially better outcome for both.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in a negotiation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to track while they talk.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or interest?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telling you what they want, or why? If only what, ask why — the options are hidden there.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number calculated or historical?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what we paid last year” moves. “It's 12% of our budget line” does not. Ask how they arrived at it.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they conceded?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it. If they have conceded three times and you have conceded three times, you are even. If not, you are not.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limit real?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33"/>
              </a:spcBef>
              <a:buNone/>
            </a:pPr>
            <a:r>
              <a:rPr lang="en-US" sz="133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once and calmly, it usually is. Repeated loudly, it usually is not.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 salary negotiation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three numbers, the trades and the close.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 We can offer 18,000.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BETHLEHEM:  Can I ask how that was arrived at?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 It's the standard for the grade.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BETHLEHEM:  I understand. I'd been aiming for 22.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run the Adama route for two years and cut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times by a third.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 22 is above the grade ceiling.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BETHLEHEM:  What would make it possible?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 A grade change would need a review.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BETHLEHEM:  Then could we do 18 now, with a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 six months?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 I could commit to that, yes.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BETHLEHEM:  Then 18 now, review in October.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send two lines confirming that.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she ask first, and why?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her target? Her evidence?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she respond to the ceiling?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she trade for accepting 18?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she close?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she get her target?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7F3EF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a full sentence.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she ask how the number was arrived at?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does she give for her target, and why is it strong?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she do when told 22 is impossible?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she get in exchange for accepting 18?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she offer to send the confirmation herself?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opening question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out whether the number is calculated or just standard.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“Standard for the grade” signals a structural limit, which tells her to trade rather than push.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the evidence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on the route, a third off delivery times.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Checkable and specific — the Module 2 evidence rule, doing commercial work.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the pivot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it possible?”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converts a refusal into a question about conditions, and the answer is what produces the review.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trade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accepts 18 in exchange for a committed review in six months.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Not a free concession. She priced her acceptance.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did she succeed?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missed her target and beat the offer.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Compare with accepting 18 in silence, which is what most people do. That is the real benchmark.</a:t>
            </a:r>
            <a:endParaRPr lang="en-US" sz="11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the same conversation, badly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five errors.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CAREFULLY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 We can offer 18,000.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TOLOSA:  Oh. I was hoping for more, really.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 That's the standard for the grade.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TOLOSA:  Right. I mean, I've worked hard, and I've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been here two years, and I do a lot, so…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 I understand, but the grade is fixed.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TOLOSA:  OK. That's fine. I'll take it.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 Good. Welcome aboard.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TOLOSA:  Thanks. Sorry for asking.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he name a target?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he give any evidence?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he ask any questions?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he trade anything?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the last line?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he have got?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answers and vocabulary review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no target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was hoping for more” is not a number.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Without a target there is nothing to negotiate towards and no way to know whether you did well.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no evidence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“I've worked hard and I do a lot.”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Unverifiable. Compare with two years and a third off delivery times — one is checkable, the other is not.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and 4 — no questions, no trade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accepted the first number without asking anything.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One question — “what would make it possible?” — was worth a six-month review.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the apology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“Sorry for asking.”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tells the other side that asking was inappropriate, which affects every future conversation with them.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check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· compromise · leverage · concession · deadlock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He did not negotiate. He accepted — and then apologised for having considered not accepting.</a:t>
            </a:r>
            <a:endParaRPr lang="en-US" sz="11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— turn it into a trade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concession as a conditional trade.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“All right, I'll do it by Friday.”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“Fine, we can drop the price to 45.”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“Yes, I can take on the extra report.”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“OK, I'll work on Saturday.”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“We'll include the installation.”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— find the interest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position, write the question you would ask and two possible interests.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“We need the full report by Friday.”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“We can't go above 40,000.”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“It has to be done in Adama, not Hawassa.”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“I need an answer today.”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“We want a two-year contract, not one.”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prepare a real negotiation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fully in writing before you go anywhere near the conversation.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THREE NUMBERS — target, limit, alternative.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Your justification for the target — with evidence.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Three things you could TRADE, and what you would want back.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Their likely position, and two possible interests behind it.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Two questions you will ask in the first two minutes.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two-line confirmation you will send afterwards.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how it is marked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numbers — 6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limit and a SPECIFIC alternative.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vague alternative scores one mark. “I have a written offer from X” scores full.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the target: a number or a checkable result.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“I've worked hard” scores nothing. Module 2's evidence rule applies here too.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tradeables — 6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you could give, each with what you want back.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This is where deals get better. Three is usually more than learners believe they have.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interests — 4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likely position, plus two possible interests behind it.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Two, because guessing one and treating it as fact is the commonest preparation error.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confirmation — 4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lines, drafted in advance.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Writing it beforehand clarifies what you are actually trying to agree.</a:t>
            </a:r>
            <a:endParaRPr lang="en-US" sz="11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negotiation checklist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81508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1911645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know my target, my limit and my alternative?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three, decided before I speak.</a:t>
            </a:r>
            <a:endParaRPr lang="en-US" sz="1630" dirty="0"/>
          </a:p>
        </p:txBody>
      </p:sp>
      <p:sp>
        <p:nvSpPr>
          <p:cNvPr id="14" name="Shape 9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6384" y="253746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634021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asked WHY before I argue?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driving that for you?”</a:t>
            </a:r>
            <a:endParaRPr lang="en-US" sz="1630" dirty="0"/>
          </a:p>
        </p:txBody>
      </p:sp>
      <p:sp>
        <p:nvSpPr>
          <p:cNvPr id="18" name="Shape 12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86384" y="325983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356397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concession attached to something I get back?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 X, I can Y.” Every time.</a:t>
            </a:r>
            <a:endParaRPr lang="en-US" sz="1630" dirty="0"/>
          </a:p>
        </p:txBody>
      </p:sp>
      <p:sp>
        <p:nvSpPr>
          <p:cNvPr id="22" name="Shape 15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86384" y="398221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78773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treated their “no” as “not on those terms”?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it possible?”</a:t>
            </a:r>
            <a:endParaRPr lang="en-US" sz="1630" dirty="0"/>
          </a:p>
        </p:txBody>
      </p:sp>
      <p:sp>
        <p:nvSpPr>
          <p:cNvPr id="26" name="Shape 18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86384" y="470458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4801149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state my limit once, calmly, without repeating it?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repetition both signal a bluff.</a:t>
            </a:r>
            <a:endParaRPr lang="en-US" sz="1630" dirty="0"/>
          </a:p>
        </p:txBody>
      </p:sp>
      <p:sp>
        <p:nvSpPr>
          <p:cNvPr id="30" name="Shape 21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86384" y="542696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" y="5523525"/>
            <a:ext cx="209215" cy="20921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sent the written confirmation — within the hour?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writes it down decides what was agreed.</a:t>
            </a:r>
            <a:endParaRPr lang="en-US" sz="163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— multiple choice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a, b or c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Your real power in a negotiation comes from: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your arguments     b) your alternative     c) your confidence</a:t>
            </a:r>
            <a:endParaRPr lang="en-US" sz="148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When they make a concession request, you should: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agree if reasonable     b) trade     c) always refuse</a:t>
            </a:r>
            <a:endParaRPr lang="en-US" sz="148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“No” usually means: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final     b) not on those terms     c) they dislike you</a:t>
            </a:r>
            <a:endParaRPr lang="en-US" sz="148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 limit should be stated: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once, calmly     b) twice, firmly     c) loudly</a:t>
            </a:r>
            <a:endParaRPr lang="en-US" sz="148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Who should send the written confirmation?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them     b) you, within the hour     c) nobody needs to</a:t>
            </a:r>
            <a:endParaRPr lang="en-US" sz="14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— fill in the phrase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missing word.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Can I ask what's ______ that deadline?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______ you can pay within 14 days, I can do the 15th.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would make it ______ 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That's ______ what I can accept.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Let me think about that ______ 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______ I got that right?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— matching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questions and moves.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pairs: 1–c, 2–a, and so 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match the TERM to its MEANING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target     2. limit     3. alternative     4. leverage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what you do if there's no deal     b) where no deal beats this deal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what you're aiming for     d) the advantage that comes from your alternative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match the SITUATION to the MOVE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they say no     2. they ask for something     3. they make a low offer          a) trade     b) don't react — ask how they got there     c) “What would make it possible?”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match the STAGE to the PHRASE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opening     2. trading     3. closing          a) “If you can X, I can Y.”     b) “Have I got that right?”     c) “What's driving that?”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— reopen the no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question you would ask.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“We can't go above 40,000.”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“That deadline isn't possible.”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“We don't offer that to new clients.”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“I can't authorise that.”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“That's not our policy.”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— count the concessions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exchange, say who conceded and what they got back.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“Can you do 45?”  “All right, 45.”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“Can you do 45?”  “At 45 I'd need payment in 14 days.”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“Delivery by the 15th?”  “Yes, we can manage that.”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“Delivery by the 15th?”  “If installation is included, yes.”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“Can you include the warranty?”  “I suppose so.”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— true or false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 or F. For every F, write the correction.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Your power comes from how well you argue.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 should decide your limit during the conversation.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free concession is a friendly move.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“No” is usually final.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You should never agree to a big deal on the spot.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Whoever writes the confirmation decides what was agreed.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— short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sentence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your target, and what evidence supports it?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your limit, and why is it there?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your alternative — specifically?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Name three things you could trade.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What will you ask in the first two minutes?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— speaking tasks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pairs. Observer counts.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DEDE8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 A third person counts concessions on both sides.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Ask an interest question in the first thirty seconds.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Make three conditional trades. Observer counts free concessions.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State one limit — once, calmly. Partner says if they believed it.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Reopen one refusal with a question.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— the full negotiation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threes: two negotiate, one observes and counts.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Prepare your three numbers privately. Five minutes.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show your partner.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Negotiate for ten minutes.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counts concessions and trades on both sides.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Both sides write the two-line confirmation separately.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confer.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Compare the two confirmations.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describe the same deal?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observer reports the concession count.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traded? Who gave things away?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— think and explain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Explain your thinking.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English. These test understanding, not memory.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does a free concession make things worse, not better?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teach the other side?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trading aggressive or cooperative?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slides 36 and 38.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is your alternative worth more than your arguments?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do with each?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When should you walk away from a negotiation?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real example.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quiz — Part 1 · Preparation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3EF"/>
          </a:solidFill>
          <a:ln w="12700">
            <a:solidFill>
              <a:srgbClr val="0A5D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on paper. Books and slides closed. Question 20 is the negotiation itself.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Name the three numbers you prepare.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one gives you real power, and why?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When should you decide your limit?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 you tell them your alternative?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no, and why.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quiz — Part 2 · Positions and interests</a:t>
            </a:r>
            <a:endParaRPr lang="en-US" sz="35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difference between a position and an interest?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question finds the interest?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question.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“We need it by Friday.” What might the interest be?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Why does this break deadlocks?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quiz — Part 3 · Trading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What is the structure of a trade?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Why is a free concession damaging?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Turn this into a trade: “All right, I'll do Friday.”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What else does trading achieve, besides protecting you?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quiz — Part 4 · No, and limits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What does “no” usually mean?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Name two questions that reopen a refusal.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answers.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How should a limit be stated?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What happens if you say “final” and then move?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quiz — Part 5 · Closing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Name the four closing steps.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Who sends the confirmation, and when?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Why does that matter?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SPEAKING: a full ten-minute negotiation.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live, with a concession count.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 to 4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the three numbers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· limit · alternative.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All decided before you speak. Most negotiations are settled in preparation, not at the table.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real power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 — it lets you say no and mean it.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person with somewhere else to go behaves differently from one who has nowhere.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when to decide the limit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conversation.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limit decided under pressure always moves, which means it was never a limit.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telling them your alternative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You just have to have one.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Its value is that it changes how you behave, not what you disclose.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5 to 8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position and interest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is what they ask for; the interest is why they need it.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Positions block each other. Interests often do not.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the question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driving that for you?”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Asked with curiosity. The same words asked sharply become an interrogation.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the Friday interest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meeting on Monday, for example.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 which case a summary by Friday and the full report later satisfies both sides.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why it breaks deadlocks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positions can block while the interests behind them do not.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Almost every deadlock is positional, and a question is what reveals that.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9 to 12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the trade structure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 X, I can Y.”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 concession attached to something you get back. The workhorse of the module.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why free concessions damage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teach the other side that asking works.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Each yes makes the next request more likely, and they accumulate into a bad deal.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turn it into a trade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 get me the figures by Tuesday, I can do Friday.”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concession is now priced, and the asking slows immediately.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what else trading achieves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value — they may give up something cheap for them and valuable to you.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That is how a deal becomes better for both rather than merely split down the middle.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13 to 16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what “no” means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“not on those terms”.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a statement about the current offer, not about the whole matter.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two reopeners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it possible?” · “Under what circumstances would that work?”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Both are questions. Neither argues, so neither provokes resistance.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stating a limit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calmly, without repeating it.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Volume and repetition both signal that you expect to move.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saying “final” and moving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say afterwards is believed.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Credibility in a negotiation is spent once. It does not come back.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17 to 20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the four closing steps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· check · confirm the date · send it in writing.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minutes, and it prevents two people remembering different agreements.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— the confirmation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it, within the hour.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Same day, two lines. Waiting until tomorrow means details are already remembered differently.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— why it matters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writes it down decides what was agreed.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And in most negotiations nobody writes anything down at all.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the negotiation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on trades, limits, questions and the concession count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Six checks from slide 50, plus whether the two written confirmations match.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1 — every day this week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 day. Use it for real.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three numbers for a real negotiation you face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the alternative. Be specific.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 hour improving your alternative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quote, a second option, a second date.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“what's driving that?” once, for real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you learned that you did not know.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conditional trade instead of conceding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can…, I can…” Note what happened.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written confirmation after a verbal agreement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lines, same day.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2 — to hand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these to the next lesson.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28295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282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written preparation for a real negotiation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numbers, justification, three tradeables, their interests.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328574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35889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questions you will ask in the first two minutes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be interest questions.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468782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50871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508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76097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ten-minute practice negotiation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count your own free concessions.</a:t>
            </a:r>
            <a:endParaRPr 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negotiation will be marked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standard before you start.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— 10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(4) · a specific alternative (3) · three tradeables with returns (3).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— 8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conditional trades (5) · zero free concessions (3).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close — 7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interest question early (2) · one reopened refusal (2) · a four-step close with written confirmation (3).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25 marks</a:t>
            </a:r>
            <a:endParaRPr lang="en-US" sz="1650" dirty="0"/>
          </a:p>
          <a:p>
            <a:pPr indent="0" marL="0">
              <a:lnSpc>
                <a:spcPct val="102000"/>
              </a:lnSpc>
              <a:spcBef>
                <a:spcPts val="330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excellent · 15–19 good · 10–14 keep practising · below 10 → redo the trading drill weekly.</a:t>
            </a:r>
            <a:endParaRPr lang="en-US" sz="16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in this module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things. Check each one — can you do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numbers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40"/>
              </a:spcBef>
              <a:buNone/>
            </a:pPr>
            <a:r>
              <a:rPr lang="en-US" sz="12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· limit · alternative. Prepared before you speak.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and interest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ask for is rarely what they need.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Trade, never concede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 X, I can Y.” Every single time.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Reopening a no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it possible?”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calm limit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Once. Quietly. Never repeated louder.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properly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· check · date · confirm in writing.</a:t>
            </a:r>
            <a:endParaRPr lang="en-US" sz="1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where you can see them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negotiation toolkit. Photograph this slide.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21742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speak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68096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TARGET — what you're aiming for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LIMIT — where no deal beats this deal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ALTERNATIVE — what you'll do instead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alternative if you can.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5888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17420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9664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415888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 ___ , I can ___ .”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free concession.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concession has a price.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8096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47972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that work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driving that for you?”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you arrive at that number?”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it possible?”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“Under what circumstances would that work?”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15888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00" y="4347972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09664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6415888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Summarise:  “You'll do X, I'll do Y.”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Check:  “Have I got that right?”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Date:  “And that's by the 15th?”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Confirm in writing, within the hour.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trade instead of conceding — which is worth real money, every year, for the rest of your career.</a:t>
            </a:r>
            <a:endParaRPr lang="en-US" sz="4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before you speak, one question about what they actually need,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written confirmation within the hour. Most people do none of the three.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Module 7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Idiom, Humour &amp; Register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things that mark you as an outsider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6 — Negotiation &amp; Influence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English Learning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· Module 6 — Negotiation &amp; Influence</dc:title>
  <dc:subject>English course for Ethiopian learners — Level 4 Advanced Spoken English</dc:subject>
  <dc:creator>English Learning Platform</dc:creator>
  <cp:lastModifiedBy>English Learning Platform</cp:lastModifiedBy>
  <cp:revision>1</cp:revision>
  <dcterms:created xsi:type="dcterms:W3CDTF">2026-07-28T16:29:39Z</dcterms:created>
  <dcterms:modified xsi:type="dcterms:W3CDTF">2026-07-28T16:29:39Z</dcterms:modified>
</cp:coreProperties>
</file>