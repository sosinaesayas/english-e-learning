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Whole module: four 60-minute lessons.
HOW TO TEACH: Open by separating two things learners usually merge: having an opinion, and being able to defend it. This module is entirely about the second.
TIP: The skills here are not English-specific — they are argument skills, in English. Say so; it raises the seriousness of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Objective 5 is genuinely rare and worth flagging early. Most people defend a position past the point of believing it, because they have no language for withdrawing.
TIP: Objective 3 is what separates a good argument from an average one. Answering the objection before it arrives removes its 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 Task 2 needs real time.
HOW TO TEACH: The three “whys” in task 2 are the diagnostic. Most people run out after one or two, which shows the argument was a preference rather than a case.
COMMON MISTAKES: Correct nothing. Note who could survive three “whys” — that is the skill this module builds.
TIP: Task 3 is uncomfortable and important. Anyone who cannot argue the other side does not yet understand their own position well enough to defend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The four chips are the module's spine. Write them on the board and leave them there for four lessons.
COMMON MISTAKES: Learners state a claim and stop, then feel dismissed when nobody agrees. The claim was never the argument.
EXTRA EXAMPLES: The fourth part — “so what?” — is the one almost everybody omits. An argument that does not say what follows from it invites the reply “yes, and?”
TIP: This is not a cultural point about English. It is how argument works in any language; what this module adds is the English to do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 The spine of the module.
HOW TO TEACH: Take one claim from the class and build all four parts on the board together. Building it live is far more convincing than presenting it finished.
COMMON MISTAKES: Part 2 restating part 1 is extremely common: “We should start earlier because it would be better to begin sooner.” That is one idea said twice.
EXTRA EXAMPLES: Part 3 is where most learner arguments fail. An impression is not evidence, and saying “everybody knows” is not either.
TIP: The side-panel tests are what learners should apply to their own arguments before speaking. Print them.
CLASSROOM ACTIVITY: Build four parts: give three claims and have learners construct all four parts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note is the practical point. Credibility is cumulative: a speaker who overclaims once is discounted afterwards, even when right.
COMMON MISTAKES: Learners state everything at 100% because hedged language feels weak. It is the opposite — calibrated language sounds more competent, not less.
EXTRA EXAMPLES: Also useful downwards: “I could be wrong, but…” and “I'm not sure about this, but…”. Both protect a claim you want to test.
TIP: This extends the Level 3 Module 5 hedging work into argument. There it was politeness; here it is accuracy about your own state of knowledge.
CLASSROOM ACTIVITY: Calibrate it: give ten claims and have learners assign each the right strength phrase.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note is the most useful distinction here. Personal experience is legitimate evidence when quantified and illegitimate when vague.
COMMON MISTAKES: “It's obvious” is the weakest move in argument. If it were obvious, there would be nothing to argue about.
EXTRA EXAMPLES: Numbers do not have to be precise. “About forty per cent” and “most of the departments” are both usable if honestly held.
TIP: This connects to Level 3 Module 7: the CV lesson was the same principle — a number turns a claim into evidence.
CLASSROOM ACTIVITY: Upgrade it: give eight weak supports and have learners turn each into something checkable.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three-step pattern — name, concede, answer — is what makes this usable. Without the concession it becomes a straw man and it is worse than nothing.
COMMON MISTAKES: Naming a weak objection and demolishing it. Listeners notice, and it damages credibility more than saying nothing.
EXTRA EXAMPLES: The last side-panel point is the real test. Ask learners to state the strongest argument against their own position; many cannot.
TIP: This is the highest-value move in the module. A speaker who does this consistently is treated as serious even when disagreed with.
CLASSROOM ACTIVITY: Strongest objection: every learner states the best argument AGAINST their own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Row 2 deserves the most time. Restating an opponent's view better than they stated it is the strongest possible signal that you understood it.
COMMON MISTAKES: Row 4 is common in heated discussion. It forces a false choice and the other person simply denies it, which wastes the exchange.
EXTRA EXAMPLES: Row 1 is sometimes legitimate: if somebody has a financial interest in the outcome, that is relevant. The test is whether it bears on the argument.
TIP: Teach these for recognition first. Learners will hear them in meetings this week, and naming them is the beginning of not using them.
CLASSROOM ACTIVITY: Name the move: read eight short exchanges and have learners identify which weak move each contains.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third right-hand item is the most useful formula: concede the specific part, keep the rest. Most disagreements are partial and this language makes that sayable.
COMMON MISTAKES: Learners think conceding is losing. In a discussion among competent people it is the opposite — total consistency reads as not listening.
EXTRA EXAMPLES: There is a difference between changing your mind and abandoning your position under pressure. The first names what changed it; the second does not.
TIP: Practise it deliberately. Learners who have said “you've changed my mind on that” once in class can say it in a meeting.
CLASSROOM ACTIVITY: Concede one thing: in every discussion this module, each learner must concede at least one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This is a genuinely powerful discussion verb. “You're assuming that…” points at an unstated premise, which is often where an argument is weakest.
COMMON MISTAKES: The noun is “assumption” with the stress on the second syllable — a-SUMP-tion.
EXTRA EXAMPLES: Useful frames: “That assumes…”, “What are we assuming here?”, “I may be assuming too much, but…”
TIP: Teach it as a polite challenge. “You're assuming X” is far less confrontational than “that's wrong” and much more precise.
CLASSROOM ACTIVITY: Find the assumption: give six arguments and have learners name the unstated premise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This joins the Level 3 Module 3 uncountable family — information, advice, research, equipment. Same rule, and this one appears constantly in argument.
COMMON MISTAKES: “Evidences” is very persistent and highly visible in academic and professional settings.
EXTRA EXAMPLES: evidence FOR a claim · evidence OF something · the evidence suggests · there is no evidence that…
TIP: “The evidence suggests” is a useful hedge: it attributes the claim to the data rather than to you.
CLASSROOM ACTIVITY: Some or a: give twelve nouns and have learners sort countable from uncountable.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This is the verb of slide 8's concession step. Naming what is true on the other side is what makes an argument trustworthy.
COMMON MISTAKES: The silent W and the /dʒ/ ending. Four syllables, stress on the second: ac-KNOW-ledge.
EXTRA EXAMPLES: “I acknowledge that…” is more formal than “I accept that…” and both are stronger than “OK, but…”
TIP: Learners avoid this word because conceding feels like losing. Slide 10 exists to correct exactly that belief.
CLASSROOM ACTIVITY: Acknowledge one thing: every learner uses it once in the next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A precise verb for describing what a counter-argument does. “That undermines your second point” is more exact than “that's wrong”.
COMMON MISTAKES: Confusing it with “destroy” or “disprove”. Undermining is partial and gradual, which is usually what actually happens.
EXTRA EXAMPLES: undermine an argument · undermine confidence · undermine somebody's position.
TIP: It is also useful in workplace English: “that would undermine the team” names a real cost without accusing anyone.
CLASSROOM ACTIVITY: Which verb: give ten situations and have learners choose between weaken, undermine, disprove and contradict.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This is the exact verb for slide 10. Having the word makes the move sayable, and learners who lack the word rarely make the move.
COMMON MISTAKES: Learners think conceding is surrender. Teach the phrase “I'll concede X, but I still think Y” — the partial concession is the professional form.
EXTRA EXAMPLES: concede a point · concede that… · I'll grant you that… (more informal, same job).
TIP: “I'll grant you that” is worth teaching alongside it — same function, more conversational, very natural in discussion.
CLASSROOM ACTIVITY: Partial concession: give ten arguments and have learners concede one part while holding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Drill the four openers as chunks. In a real discussion there is no time to construct them, and the signposting is what makes an argument followable.
COMMON MISTAKES: Skipping the significance. An argument that stops at evidence invites the reply “yes, and?” which is a wasted turn.
EXTRA EXAMPLES: “I'd argue that…” is a useful claim opener because it signals that reasons are coming, which buys you the floor for longer.
TIP: This is Level 3 Module 6's signposting applied to argument rather than to a talk. Same principle, higher stakes.
CLASSROOM ACTIVITY: Four openers: give three claims and have learners deliver all four parts with the right signal each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note is the practical point. The third conditional lets you analyse a past failure without assigning blame, which is exactly what a professional discussion needs.
COMMON MISTAKES: “If I would be in charge” — the conditional clause never takes “would”. It is “if I were” or “if I was”.
EXTRA EXAMPLES: “If I were you, I'd…” is the standard advice formula and worth drilling as a chunk.
TIP: This is the only substantial new grammar in Level 4. It earns its place because argument about causes and consequences is impossible without it.
CLASSROOM ACTIVITY: Two conditionals: give ten situations and have learners produce both a real and a hypothetical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Row 3 is the most useful in a difficult exchange: “even if that's true” concedes without committing you to accepting it.
COMMON MISTAKES: Conceding and then stopping. The concession must be followed by the continuation or you have simply agreed.
EXTRA EXAMPLES: “That said” is very natural in spoken English and learners rarely produce it. Drill it as a chunk.
TIP: These four structures are what make slide 8's concession step sayable. Without them learners either fight or fold.
CLASSROOM ACTIVITY: Concede and continue: give ten objections and have learners respond using all four structures.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third panel line — “that undermines your second point, though not the first” — is the model. It is precise, limited, and impossible to take personally.
COMMON MISTAKES: Blanket rejection. “That's completely wrong” is almost never accurate and it forces the other person to defend everything at once.
EXTRA EXAMPLES: “Does that follow?” is a very economical challenge. It questions the logic without disputing any fact.
TIP: This is Level 3 Module 5's disagreement structure, now with the precision that advanced discussion requires.
CLASSROOM ACTIVITY: Locate the fault: give six arguments and have learners name exactly which part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Habit 5 is the one to enforce in every activity for the rest of the level. It is a discipline, not a technique.
COMMON MISTAKES: Habit 2 is skipped because hedging feels weak. Calibrated certainty is what competent listeners actually respect.
EXTRA EXAMPLES: Habits 3 and 5 together are what separate a discussion from an argument. Both signal that you are trying to get it right rather than to win.
TIP: Print these five. They transfer directly to Modules 3, 4 and 6 — debate, discussion and negotiation.
CLASSROOM ACTIVITY: One habit each: assign each learner one habit to demonstrate in the next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Point out that Tolosa's questions — “why?” and “do we know that?” — are the reason and evidence steps being requested. A strong arguer supplies them unprompted.
COMMON MISTAKES: Bethlehem's final line is the one learners omit. Without it, Tolosa's next line would be “yes, and?”
EXTRA EXAMPLES: The evidence is specific and checkable: 40%, three quarters, farming families. None of it is “everybody knows”.
TIP: Have learners label each turn with its part. The structure becomes visible immediately.
CLASSROOM ACTIVITY: Four parts: every learner builds a complete argument about something real in their own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last line is the module's rarest move. Yonas names exactly what changed his mind and exactly what did not, which is both honest and precise.
COMMON MISTAKES: Learners expect conceding to feel like defeat. Ask how Yonas comes across — the answer is always “reasonable” and “credible”.
EXTRA EXAMPLES: Note that he opened with “admittedly” — conceding at the START of his own argument, which is slide 8's pattern.
TIP: Have learners perform this and then say how each speaker came across. Both come out well, which is the point.
CLASSROOM ACTIVITY: Change your mind: run a discussion in which every learner must concede at least one specific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Drill all six as chunks. In a live discussion there is no capacity to construct them, and these are exactly the moments when capacity is lowest.
COMMON MISTAKES: Phrase 5 is the most sophisticated. It separates the facts from the inference, which is a distinction most speakers never make explicitly.
EXTRA EXAMPLES: Phrase 4 is the most useful challenge in the module. It exposes an unstated premise without disputing anything said aloud.
TIP: Ask which of the six learners already use. Usually one or two — and never “which means”.
CLASSROOM ACTIVITY: Six phrases: run a ten-minute discussion where every learner must use at least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Have pairs perform it twice, the second time at natural speed with Module 1's linking. Argument at speed is the real skill.
COMMON MISTAKES: Gap 4 is the significance step. Learners often write “shows” — accept it, but point out that “means” answers “so what?” more directly.
TIP: The final line is a partial concession — conceding the timing while holding the risk. That is the slide 10 move.
CLASSROOM ACTIVITY: Do it again with a different proposal from the class's own workplace.
ANSWERS: 1 argue · 2 evidence · 3 Admittedly · 4 means · 5 concede · 6 said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 for all four rounds.
HOW TO TEACH: Round 2 repeats the warm-up. Learners who ran out after one “why” should now survive all three — that difference is the module working.
COMMON MISTAKES: Round 3 with a weak objection. Insist on the strongest one; a demolished weak objection proves nothing.
TIP: Round 4 is the hardest and the most valuable. Anyone who can argue the other side genuinely understands the question.
CLASSROOM ACTIVITY: Compare with the warm-up: ask who lasted longer this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Insist on all four every time, in order, out loud. The order becomes automatic within about six repetitions.
COMMON MISTAKES: Step 2 restating step 1 is the commonest failure. Have the partner check specifically for it.
EXTRA EXAMPLES: Step 1's test matters: if nobody could disagree, it is not a claim and there is nothing to argue.
TIP: Do this drill at the start of every Level 4 lesson. Ninety seconds per learner and it builds fast.
CLASSROOM ACTIVITY: Round the room: every learner delivers a four-part argument on a topic drawn at random.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Three whys usually reaches a value rather than a fact — “because we should not waste public money”. That is the bottom of an argument and it is worth reaching.
COMMON MISTAKES: Learners get frustrated by the third why. Frame it as diagnosis: where you run out is where the argument needs work.
EXTRA EXAMPLES: Sometimes the third why exposes that two people agree on facts and differ on values. That is a genuinely useful discovery.
TIP: This is the warm-up task with a purpose. Compare directly with slide 3.
CLASSROOM ACTIVITY: Where did you stop: pairs report which why defeated them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Demonstrate both columns yourself. The sarcastic version of “I'll concede that point” is genuinely unpleasant and learners never forget it.
COMMON MISTAKES: This is the Level 3 Module 5 tone problem in its highest-stakes setting. Careful argument language delivered flatly reads as contempt.
EXTRA EXAMPLES: Falling intonation on a concession makes it sound genuine. Rising makes it sound conditional or ironic.
TIP: Record learners saying these four lines and play them back. Most are surprised at how grudging they sound.
CLASSROOM ACTIVITY: Warm or flat: say a concession either way and have the class judge how it landed.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Step 4 is where this becomes valuable rather than merely difficult. Finding the true part of the opposing case is what makes your own position accurate.
COMMON MISTAKES: Building a deliberately weak opposite argument. That is a straw man and it teaches nothing — insist it be genuinely strong.
EXTRA EXAMPLES: This is standard preparation in law, policy and debate. Say so; learners take it more seriously when they know it is a real practice.
TIP: Anyone who cannot argue the other side does not yet understand the question. That is not a criticism — it is a diagnosis with a remedy.
CLASSROOM ACTIVITY: Best opposite: two learners present the strongest case against their own view, and the class judges.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18 minutes including listening back.
HOW TO TEACH: Listen for step 1's fourth part. The significance is the part that is omitted under pressure, even by learners who know the structure.
COMMON MISTAKES: Step 2 with a weak objection is the commonest failure. Ask whether an opponent would actually make that argument.
TIP: Compare with the warm-up on slide 3. Most learners will have moved from a bare opinion to a defensible case in four lessons.
CLASSROOM ACTIVITY: Keep every recording for the Level 4 comparison.
ANSWERS: SUCCESS CRITERIA: all four parts present and distinct · a genuinely strong objection named · a real concession followed by a continuation · a calibrated certainty phrase · a partial concession with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four build cumulatively, one part at a time. Play them in order and the structure becomes audible.
COMMON MISTAKES: Item 1's second sentence restates the first. Learners often accept it as a reason — ask what new information it adds.
EXTRA EXAMPLES: Item 4 is the complete argument and it is only one sentence longer than item 3. Completeness is cheap.
ANSWERS: 1 claim only (the “reason” restates it) · 2 claim + reason · 3 claim + reason + evidence · 4 all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The final item is worth stating aloud: the significance step costs one sentence and it is the difference between reporting and arguing.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Mimi's fourth turn — “so you'd rather those six had nothing?” — is the all-or-nothing move from slide 9. Chaltu declines it without escalating, which is the model response.
COMMON MISTAKES: Learners think Chaltu should have defended herself harder. “That's not quite what I said” is enough; over-defending would have taken the bait.
EXTRA EXAMPLES: Both speakers concede once. That is what makes this a discussion rather than a fight.
ANSWERS: 1 Drop the Saturday class; attendance under 30%. · 2 That attendance is the right measure. · 3 “Admittedly that's true.” · 4 “So you'd rather those six had nothing?” — all-or-nothing. · 5 “That's not quite what I said” and reframes. · 6 Concedes the cost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Ask the class who won. The honest answer is that both moved, which is what a good disagreement produces — and neither lost anything by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Question 4 is the sophisticated one. True premises do not guarantee a valid conclusion, and separating the two is what critical listening means.
COMMON MISTAKES: Disputing facts when the real problem is the inference. Ask “does that follow?” before disputing anything stated.
TIP: These four questions also work on your own arguments before you make them. That is their highest use.
CLASSROOM ACTIVITY: Four questions: after every argument in class, one learner applies all four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Have learners mark all five elements on the page. Seeing the structure laid out is what makes it reproducible.
COMMON MISTAKES: Learners find the claim and the evidence easily and miss the significance, which is the sentence beginning “Which means”.
EXTRA EXAMPLES: The final concession is the slide 8 pattern: name the objection, concede what is true, answer it.
TIP: Ask whether they agree with the conclusion. The structure can be excellent and the conclusion still disputable — that is worth separating.
CLASSROOM ACTIVITY: Mark the parts: learners label all five elements, then write a counter-argument with the same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Question 5 is the sophisticated one. The writer concedes that popularity matters and then denies that it is evidence — conceding without giving ground.
COMMON MISTAKES: Learners summarise the whole text instead of isolating each part. Insist on one sentence per answer.
TIP: Question 3 should prompt a real discussion: a named study with a year and a finding is checkable, which is exactly what makes it usable.
ANSWERS: 1 English should not be taught from grade one. · 2 Children who start before reading fluently in their first language do worse in both. · 3 The 2023 regional study — yes, it is named and datable. · 4 The early start is costing literacy in both languages. · 5 That it is popular with parents — answered by saying popularity is not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The last item matters. Learners sometimes assume a well-structured argument must be correct. Separating form from truth is the whole point of critical listening.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All four weak moves from slide 9 appear in order, one per paragraph. Have learners label each paragraph.
COMMON MISTAKES: This text is more emotionally forceful than slide 41 and less persuasive to a careful reader. That contrast is the lesson.
EXTRA EXAMPLES: Note that both texts argue the SAME position. The conclusion may well be right; this version simply gives no reason to believe it.
ANSWERS: Para 1: “everybody knows” and “it's obvious”. Para 2: attacking the people. Para 3: straw man — nobody said other languages do not matter. Para 4: all-or-nothing. No evidence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End on the vocabulary point. The five words of this module are the vocabulary of good-faith argument, and the second text uses none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Item 4 is the interesting one: it has evidence and a conclusion but no reason connecting them. Why does low attendance mean cancellation?
COMMON MISTAKES: Item 1's second sentence restates the first. Learners often accept it.
TIP: Item 5 has claim and evidence but no significance. Adding “which means we should run it again” converts a report into an argument.
ANSWERS: 1 reason and evidence and significance — only a claim · 2 evidence and significance · 3 significance only · 4 the reason linking the evidence to the conclusion · 5 the significance — so what?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The rewrites are the teaching. Turning “in my experience” into “in twelve courses I've run” takes five words and changes it completely.
COMMON MISTAKES: Item 3 is the subtle one. Personal experience is legitimate evidence when quantified and worthless when vague.
TIP: Item 6's fix is simply naming the source. “I read somewhere” becomes usable the moment it becomes “the 2024 report”.
ANSWERS: 1 N → “In the last three intakes, 60% said it was too short.” · 2 E · 3 N → “In the twelve courses I've run, it has failed each time.” · 4 E · 5 N → “Two of five departments are short-staffed.” · 6 N → name the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25 minutes.
HOW TO TEACH: Step 6 is the self-test and the most valuable step. If one question defeats the argument, that question needs answering before it is made.
COMMON MISTAKES: Step 5 with a weak objection. Ask whether a genuine opponent would raise that one.
TIP: Collect these. They become the positions learners argue in Module 3's debates.
ANSWERS: MODEL: see slide 41. Four parts plus a concession, in about 130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Give this rubric BEFORE the task. The evidence and concession sections carry eleven of the twenty-five marks, which is where the real work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Check 6 is the professional habit. Anticipating the one fatal question is what separates a prepared position from an opinion.
TIP: Print this. It applies to every meeting, proposal and debate for the rest of a career.
CLASSROOM ACTIVITY: Six checks: apply this before every argument in Modules 3, 4 and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Answer alone, then compare in pairs before taking answers from the class.
TIP: Question 3 is the belief this module exists to correct. Say the answer twice.
ANSWERS: 1 a · 2 b · 3 b · 4 b · 5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Take the answers orally at speed. These must be retrievable instantly in a live discussion.
COMMON MISTAKES: Item 4 is the significance step. It is the phrase learners are least likely to produce unprompted.
TIP: Item 3 is the most precise challenge in the module. Drill it twice.
ANSWERS: 1 argue · 2 Admittedly · 3 assumes · 4 Which means · 5 concede · 6 question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Three short tasks. Let learners work in pairs and compare.
TIP: Part 3 is the calibration exercise. Learners who get all three can state their certainty accurately.
ANSWERS: Part 1: 1–c, 2–d, 3–a, 4–b.  ·  Part 2: 1–b, 2–a, 3–c.  ·  Part 3: 1–b, 2–c, 3–a.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10 minutes.
HOW TO TEACH: This drills the one part learners always omit. Every item is a fact; the task is to say what follows from it.
COMMON MISTAKES: Learners restate the fact instead of drawing a conclusion. Ask “so what should we DO?” each time.
TIP: Note that several items could support opposite conclusions. That is legitimate — the significance is an argument, not a fact.
ANSWERS: MODELS: 1 …which means we lose our best students before we teach them. · 2 …which means breakdowns will get more frequent, not less. · 3 …which means the programme is worth repeating. · 4 …which means we are paying two staff for six students. · 5 …which means the early start is not delivering what was promised.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Naming the move is half the skill; supplying the replacement is the other half. Require both.
COMMON MISTAKES: Item 3 is subtle. Claiming departmental agreement may be true — but it must be shown, not asserted.
TIP: Learners will hear all five of these in meetings this week. Naming them is the beginning of not using them.
ANSWERS: 1 attacking the person → answer her argument · 2 all-or-nothing → accept the middle position exists · 3 claiming agreement → name who and how many · 4 straw man → state his actual proposal · 5 “it's obvious” → give one checkable fact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9 minutes.
HOW TO TEACH: Correcting each false statement is what makes this teach rather than test.
TIP: Item 4 is the sophisticated one. A beautifully built argument can still be wrong, and recognising that is critical listening.
ANSWERS: 1 F — an argument is an opinion plus reason, evidence and significance · 2 F — it strengthens everything else · 3 T · 4 F — form and truth are separate · 5 T · 6 F — being wrong once discounts everything after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Question 4 is the hardest and most valuable. There is almost always a true part in the opposing case, and finding it makes your own position more accurate.
COMMON MISTAKES: Question 3 answered with a weak objection. Ask whether a real opponent would say that.
TIP: Question 5's answers tell you what to watch for in the class's discussions for the rest of the level.
ANSWERS: No fixed answers. Question 3 must name a genuine objection; question 5 requires honest self-assessment.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Round 1's partner should specifically check whether the reason restates the claim. That is the failure to catch.
TIP: Round 4 is the assessment. If the partner can tell it is fake, the learner has not understood the other side.
ANSWERS: SUCCESS CRITERIA: 1 four distinct parts · 2 three reasons, each behind the last · 3 a genuinely strong objection, conceded then answered · 4 an opposite case a listener rates as convincing.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25 minutes.
HOW TO TEACH: Question 4 is the most demanding. Every argument rests on unstated premises, and finding your own is genuinely difficult.
TIP: Question 2 is the test of understanding. If they cannot state the opposition's case in its strongest form, they have not understood it.
ANSWERS: Assessed with the six checks from slide 50. Evidence and concession carry the most 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 Discussion, not writing.
HOW TO TEACH: Question 4 keeps the module honest. Some weak moves are occasionally legitimate — noting a financial interest, for example — and the class should work out where the line is.
TIP: Question 2 is the intellectual heart of the module: structure and truth are independent, and confusing them is how good arguments mislead.
ANSWERS: 1 Never conceding signals you are not listening and are arguing to win rather than to get it right. 2 Yes — the premises can be false, or the evidence can be true and the inference invalid. 3 It is tempting because a weaker version is easier to defeat; it fails because the audience can compare it with what was actually said. 4 Pointing at somebody's financial interest can be legitimate when it bears on reliability — but only alongside a real argument, never instead of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assessed live and is worth as much as the other nineteen. Use the six checks from slide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assessed live and is worth as much as the other nineteen. Use the six checks from slide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assessed live and is worth as much as the other nineteen. Use the six checks from slide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assessed live and is worth as much as the other nineteen. Use the six checks from slide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assessed live and is worth as much as the other nineteen. Use the six checks from slide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Q4, Q9 and Q11 are the diagnostic block: the missing significance, the value of conceding, and naming the strongest objection. All three separate an argument from an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Q4, Q9 and Q11 are the diagnostic block: the missing significance, the value of conceding, and naming the strongest objection. All three separate an argument from an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Q4, Q9 and Q11 are the diagnostic block: the missing significance, the value of conceding, and naming the strongest objection. All three separate an argument from an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Q4, Q9 and Q11 are the diagnostic block: the missing significance, the value of conceding, and naming the strongest objection. All three separate an argument from an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Q4, Q9 and Q11 are the diagnostic block: the missing significance, the value of conceding, and naming the strongest objection. All three separate an argument from an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Thursday's task is the behavioural one and the most valuable. Conceding once in a real conversation changes how learners experience disagreement.
TIP: Tuesday's task is easy and eye-opening. Most public argument omits either the evidence or the significance.
CLASSROOM ACTIVITY: Ask three learners to report what happened when they conceded a point on Thursday.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Task 2 is marked on the strength of the objection, not on the answer. A weak objection scores badly however well it is dismantled.
COMMON MISTAKES: Learners who cannot record must not be excluded. Offer the live option openly.
TIP: Keep these arguments. They become the debate positions in Module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Note that the objection carries six marks on its own. That is deliberate — anticipating opposition is the module's most valuable skill.
COMMON MISTAKES: Do not mark the CONCLUSION. A learner may argue a position you disagree with and score full marks.
TIP: Give the mark privately with two comments: one on the evidence, one on the concession.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Return to the warm-up on slide 3. Have learners defend the same claim again against three “whys” and compare with their first attempt.
TIP: Ask who conceded something in a real conversation this week. Those reports are the best summary of the module.
CLASSROOM ACTIVITY: Quick-fire recap: point at each card and ask a different learner for one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Tell learners to photograph this slide. The first and third boxes are the ones to use; the fourth is the one to avoid.
TIP: Print the first box. Four parts, four openers — it fits on a card and it works in any meeting.
CLASSROOM ACTIVITY: Cover each box in turn and ask the class to say what was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5 minutes.
HOW TO TEACH: Name what has changed: learners arrived able to state opinions and leave able to defend positions. That is a different capability.
TIP: Preview Module 3: debate adds time pressure and a prepared opponent. Everything from this module still applies, but now with somebody actively looking for the hole.
CLASSROOM ACTIVITY: Ask every learner to name the one habit from slide 20 they will use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image" Target="../media/image-5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image" Target="../media/image-73-4.png"/><Relationship Id="rId5" Type="http://schemas.openxmlformats.org/officeDocument/2006/relationships/image" Target="../media/image-7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image" Target="../media/image-74-6.png"/><Relationship Id="rId7" Type="http://schemas.openxmlformats.org/officeDocument/2006/relationships/image" Target="../media/image-7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image" Target="../media/image-7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oundRect">
            <a:avLst/>
          </a:prstGeom>
          <a:solidFill>
            <a:srgbClr val="0E7C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94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Spoken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709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B1 → B2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49240" y="1417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OF 8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7830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Opinions &amp; Building an Argument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3246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state an opinion. This module is about making one that a competent person cannot easily dismiss — and about knowing when yours is weak.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49240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13832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513832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0104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60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7690104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01784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66376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9866376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OF AN ARGUMENT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5349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____________________   Class: ____________   Date: ____________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be able to do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things. The last one is the hardest.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2996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2126529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argument with four parts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· reason · evidence · significance. Every strong argument has all four.</a:t>
            </a:r>
            <a:endParaRPr lang="en-US" sz="1580" dirty="0"/>
          </a:p>
        </p:txBody>
      </p:sp>
      <p:sp>
        <p:nvSpPr>
          <p:cNvPr id="15" name="Shape 10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6384" y="287121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967777"/>
            <a:ext cx="209215" cy="2092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exactly how strongly you hold a view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“arguably” to “I'm certain”. Precision about certainty is a skill.</a:t>
            </a:r>
            <a:endParaRPr lang="en-US" sz="1580" dirty="0"/>
          </a:p>
        </p:txBody>
      </p:sp>
      <p:sp>
        <p:nvSpPr>
          <p:cNvPr id="19" name="Shape 13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86384" y="371246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809025"/>
            <a:ext cx="209215" cy="20921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the objection before it is made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 would say… but…” It is the mark of a serious speaker.</a:t>
            </a:r>
            <a:endParaRPr lang="en-US" sz="1580" dirty="0"/>
          </a:p>
        </p:txBody>
      </p:sp>
      <p:sp>
        <p:nvSpPr>
          <p:cNvPr id="23" name="Shape 16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86384" y="455371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650273"/>
            <a:ext cx="209215" cy="20921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strong argument from a weak one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your own. Especially your own.</a:t>
            </a:r>
            <a:endParaRPr lang="en-US" sz="1580" dirty="0"/>
          </a:p>
        </p:txBody>
      </p:sp>
      <p:sp>
        <p:nvSpPr>
          <p:cNvPr id="27" name="Shape 19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86384" y="539496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5491521"/>
            <a:ext cx="209215" cy="2092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mind out loud without losing face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rarest and most respected move in any discussion.</a:t>
            </a:r>
            <a:endParaRPr lang="en-US" sz="1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state a view and defend it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 seconds. No preparation.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State it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“English should be taught from grade one.” Agree or disagree, in one sentence.</a:t>
            </a:r>
            <a:endParaRPr lang="en-US" sz="210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Now defend it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 says “Why?” three times. Can you keep going?</a:t>
            </a:r>
            <a:endParaRPr lang="en-US" sz="210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other side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argue the OPPOSITE view for thirty seconds. How did that feel?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opinion is what you think. An argument is why anyone else should care.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think we should start earlier” is an opinion. It becomes an argument only when you say why,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evidence, and explain what follows from it.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2578608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2212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46704" y="5120640"/>
            <a:ext cx="2578608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9584" y="5120640"/>
            <a:ext cx="2212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44768" y="5120640"/>
            <a:ext cx="2578608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27648" y="5120640"/>
            <a:ext cx="2212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42832" y="5120640"/>
            <a:ext cx="2578608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5120640"/>
            <a:ext cx="2212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parts of an argument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one and the argument has a hole in it.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21792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66928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CLAIM  —  what you think</a:t>
            </a: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“We should start the course earlier.”</a:t>
            </a: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REASON  —  why</a:t>
            </a: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“Because most learners drop out</a:t>
            </a: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in the first month.”</a:t>
            </a: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EVIDENCE  —  how you know</a:t>
            </a: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“Last year 40% left before week five.”</a:t>
            </a: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SIGNIFICANCE  —  so what?</a:t>
            </a: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“Which means we lose our best</a:t>
            </a: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students before we ever teach them.”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040880" y="1883664"/>
            <a:ext cx="460217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78624" y="2103120"/>
            <a:ext cx="4126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FOR EACH PART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15200" y="2505456"/>
            <a:ext cx="40535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— could somebody reasonably disagree? If not, it is not a claim.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— does it actually support the claim, or just restate it?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— is it checkable, or is it your impression?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— if I accept all of this, what should change?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strongly do you actually believe it?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about your own certainty is an advanced skill.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560320"/>
                <a:gridCol w="4693615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Phrase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 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“It's arguably…”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defensible view, others may differ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“I'd say…”  ·  “I tend to think…”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personal view, held lightly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“I'm fairly confident that…”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have reasons but not proof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“I'm convinced that…”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would need real evidence to move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“It's simply not true that…”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when you can prove it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Overclaiming is the commonest error. If you say “definitely” and are then shown to be wrong, every later claim you make is discounted.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evidence — and what does not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where most arguments quietly fail.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evidence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“Everybody knows that…”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“It's obvious.”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my experience…” (once)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read it somewhere.”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friend said…”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Unverifiable. Easy to dismiss.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26"/>
              </a:spcAft>
              <a:buSzPct val="100000"/>
              <a:buChar char="•"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“Last year 40% left before week five.”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26"/>
              </a:spcAft>
              <a:buSzPct val="100000"/>
              <a:buChar char="•"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“Three of the five departments reported it.”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26"/>
              </a:spcAft>
              <a:buSzPct val="100000"/>
              <a:buChar char="•"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2024 review found…”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26"/>
              </a:spcAft>
              <a:buSzPct val="100000"/>
              <a:buChar char="•"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“I've seen it in every course I've run — about twelve so far.”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26"/>
              </a:spcAft>
              <a:buSzPct val="100000"/>
              <a:buChar char="•"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Checkable. Harder to dismiss.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my experience” becomes evidence when you say HOW MUCH experience. Once is an anecdote; twelve times with a consistent pattern is data.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objection before it is made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move that most improves an argument.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30936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CONCESSION PATTERN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76072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 would say the cost is too high.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it is significant — about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200,000 birr in the first year.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But the current dropout rate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costs us more than that, and we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are paying it every year.”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 ·  concede what is true  ·  answer it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132320" y="1883664"/>
            <a:ext cx="451073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70064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406640" y="2505456"/>
            <a:ext cx="39620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you have thought about the other side, which makes you credible.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removes the objection's force — it has already been aired.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Conceding a real point costs nothing and buys a lot of trust.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name the strongest objection, you do not understand your own position.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weak moves — and what to do instead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them in others. Then stop making them yourself.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023360"/>
                <a:gridCol w="414497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weak move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looks like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this instead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Attacking the person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“He would say that — he's new.”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the argument, not the speaker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straw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arguing against a weaker version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their view as THEY would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“Everybody knows”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claiming agreement you have not shown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one checkable fact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All-or-nothing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“So you want to change nothing?”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the middle position exists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work briefly and cost you credibility permanently. In a room of competent people, all four are noticed.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your mind out loud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rarest move in any discussion — and the most respected.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Defending past the point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not what I meant.”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“Well, in a sense I still think…”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“You're missing my point.”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repeating the same claim louder )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Everyone can see it.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 costs more than conceding.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position cleanly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39"/>
              </a:spcAft>
              <a:buSzPct val="100000"/>
              <a:buChar char="•"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a fair point — I hadn't considered it.”</a:t>
            </a:r>
            <a:endParaRPr lang="en-US" sz="1450" dirty="0"/>
          </a:p>
          <a:p>
            <a:pPr marL="228600" indent="-228600">
              <a:lnSpc>
                <a:spcPct val="100000"/>
              </a:lnSpc>
              <a:spcAft>
                <a:spcPts val="839"/>
              </a:spcAft>
              <a:buSzPct val="100000"/>
              <a:buChar char="•"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 right, you've changed my mind on that part.”</a:t>
            </a:r>
            <a:endParaRPr lang="en-US" sz="1450" dirty="0"/>
          </a:p>
          <a:p>
            <a:pPr marL="228600" indent="-228600">
              <a:lnSpc>
                <a:spcPct val="100000"/>
              </a:lnSpc>
              <a:spcAft>
                <a:spcPts val="839"/>
              </a:spcAft>
              <a:buSzPct val="100000"/>
              <a:buChar char="•"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still think X, but I accept Y.”</a:t>
            </a:r>
            <a:endParaRPr lang="en-US" sz="1450" dirty="0"/>
          </a:p>
          <a:p>
            <a:pPr marL="228600" indent="-228600">
              <a:lnSpc>
                <a:spcPct val="100000"/>
              </a:lnSpc>
              <a:spcAft>
                <a:spcPts val="839"/>
              </a:spcAft>
              <a:buSzPct val="100000"/>
              <a:buChar char="•"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Costs nothing.</a:t>
            </a:r>
            <a:endParaRPr lang="en-US" sz="1450" dirty="0"/>
          </a:p>
          <a:p>
            <a:pPr marL="228600" indent="-228600">
              <a:lnSpc>
                <a:spcPct val="100000"/>
              </a:lnSpc>
              <a:spcAft>
                <a:spcPts val="839"/>
              </a:spcAft>
              <a:buSzPct val="100000"/>
              <a:buChar char="•"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Almost nobody does it.</a:t>
            </a:r>
            <a:endParaRPr lang="en-US" sz="1450" dirty="0"/>
          </a:p>
          <a:p>
            <a:pPr marL="228600" indent="-228600">
              <a:lnSpc>
                <a:spcPct val="100000"/>
              </a:lnSpc>
              <a:spcAft>
                <a:spcPts val="839"/>
              </a:spcAft>
              <a:buSzPct val="100000"/>
              <a:buChar char="•"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 makes your other claims stronger.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Conceding one part of an argument makes the rest of it more credible, not less. A speaker who never concedes anything is not listened to.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assume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/əˈsjuːm/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accept something as true without proof.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assuming the figures are accurate. I assumed she knew.</a:t>
            </a:r>
            <a:endParaRPr lang="en-US" sz="15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“Assume that…”, not “assume about”. And naming somebody's assumption is a strong move — it exposes a hidden step in their argument.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evidence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/ˈevɪdəns/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— uncountable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that support a claim.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evidence for that. The evidence suggests otherwise.</a:t>
            </a:r>
            <a:endParaRPr lang="en-US" sz="15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UNCOUNTABLE — never “evidences”, never “an evidence”. Say “a piece of evidence” or “some evidence”.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acknowledge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/əkˈnɒlɪdʒ/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accept publicly that something is true, especially when it does not help you.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acknowledge the cost is high. She acknowledged that the plan had failed.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W — say /əkˈnɒlɪdʒ/. It is the concession verb, and using it makes you more credible, not less.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undermine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undermine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/ˌʌndəˈmaɪn/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weaken something gradually, often indirectly.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undermines the whole argument. It undermines trust in the process.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on the THIRD syllable: un-der-MINE. It means weaken, not destroy — the damage is gradual.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concede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/kənˈsiːd/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admit that something is true, especially in an argument.</a:t>
            </a:r>
            <a:endParaRPr lang="en-US" sz="16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concede that point. She conceded the cost was higher than expected.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on the SECOND syllable: con-CEDE. Conceding one point does not mean losing the argument.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871216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LANGUAGE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Signalling the four parts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listener needs to know which part you are 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44975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 this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“My view is that…”  ·  “I'd argue that…”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it in ONE sentence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reason is…”  ·  “This is because…”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not restate the claim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figures show…”  ·  “Last year…”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checkable, with a number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“Which means…”  ·  “The upshot is…”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part everyone forgets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means…” is the most under-used phrase in this module. It answers the question the listener is silently asking: so what?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871216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LANGUAGE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 for arguing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grammar of consequences and hypotheticals.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— likely or possible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042"/>
              </a:spcAft>
              <a:buSzPct val="100000"/>
              <a:buChar char="•"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we start earlier, we'll lose fewer students.”</a:t>
            </a:r>
            <a:endParaRPr lang="en-US" sz="1800" dirty="0"/>
          </a:p>
          <a:p>
            <a:pPr marL="228600" indent="-228600">
              <a:lnSpc>
                <a:spcPct val="100000"/>
              </a:lnSpc>
              <a:spcAft>
                <a:spcPts val="1042"/>
              </a:spcAft>
              <a:buSzPct val="100000"/>
              <a:buChar char="•"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the figures are right, this is urgent.”</a:t>
            </a:r>
            <a:endParaRPr lang="en-US" sz="1800" dirty="0"/>
          </a:p>
          <a:p>
            <a:pPr marL="228600" indent="-228600">
              <a:lnSpc>
                <a:spcPct val="100000"/>
              </a:lnSpc>
              <a:spcAft>
                <a:spcPts val="1042"/>
              </a:spcAft>
              <a:buSzPct val="100000"/>
              <a:buChar char="•"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if + present, will + base</a:t>
            </a:r>
            <a:endParaRPr lang="en-US" sz="1800" dirty="0"/>
          </a:p>
          <a:p>
            <a:pPr marL="228600" indent="-228600">
              <a:lnSpc>
                <a:spcPct val="100000"/>
              </a:lnSpc>
              <a:spcAft>
                <a:spcPts val="1042"/>
              </a:spcAft>
              <a:buSzPct val="100000"/>
              <a:buChar char="•"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You think it may happen.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— unlikely or imagined</a:t>
            </a:r>
            <a:endParaRPr lang="en-US" sz="195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042"/>
              </a:spcAft>
              <a:buSzPct val="100000"/>
              <a:buChar char="•"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we had started earlier, we'd have kept them.”</a:t>
            </a:r>
            <a:endParaRPr lang="en-US" sz="1800" dirty="0"/>
          </a:p>
          <a:p>
            <a:pPr marL="228600" indent="-228600">
              <a:lnSpc>
                <a:spcPct val="100000"/>
              </a:lnSpc>
              <a:spcAft>
                <a:spcPts val="1042"/>
              </a:spcAft>
              <a:buSzPct val="100000"/>
              <a:buChar char="•"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 were in charge, I'd change it.”</a:t>
            </a:r>
            <a:endParaRPr lang="en-US" sz="1800" dirty="0"/>
          </a:p>
          <a:p>
            <a:pPr marL="228600" indent="-228600">
              <a:lnSpc>
                <a:spcPct val="100000"/>
              </a:lnSpc>
              <a:spcAft>
                <a:spcPts val="1042"/>
              </a:spcAft>
              <a:buSzPct val="100000"/>
              <a:buChar char="•"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if + past perfect, would have</a:t>
            </a:r>
            <a:endParaRPr lang="en-US" sz="1800" dirty="0"/>
          </a:p>
          <a:p>
            <a:pPr marL="228600" indent="-228600">
              <a:lnSpc>
                <a:spcPct val="100000"/>
              </a:lnSpc>
              <a:spcAft>
                <a:spcPts val="1042"/>
              </a:spcAft>
              <a:buSzPct val="100000"/>
              <a:buChar char="•"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 did not happen, or you doubt it will.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hypothetical is how you discuss what SHOULD have happened without accusing anyone. “If we had known” is far safer than “you didn't tell us”.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871216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LANGUAGE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concession structures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accept a point without abandoning your position.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474720"/>
                <a:gridCol w="377921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“Admittedly, … but …”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“Admittedly it's expensive, but…”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concedes, then continues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accept that … However, …”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accept that. However, the cost…”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formal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“Even if …, …”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“Even if that's true, we still…”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concedes hypothetically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“Granted. That said, …”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“Granted. That said, the timing…”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conversational, very natural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concede something real and then continue. Conceding nothing at all is what makes a speaker sound unreasonable.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871216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LANGUAGE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Attacking an argument, not a person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language for disagreement.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309360" cy="4059936"/>
          </a:xfrm>
          <a:prstGeom prst="roundRect">
            <a:avLst>
              <a:gd name="adj" fmla="val 3153"/>
            </a:avLst>
          </a:prstGeom>
          <a:solidFill>
            <a:srgbClr val="EDF3EF"/>
          </a:solidFill>
          <a:ln w="15875">
            <a:solidFill>
              <a:srgbClr val="3F5BD9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WHAT IS WRONG, EXACTLY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76072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think that assumes X, which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I'm not sure we can take for granted.”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evidence doesn't quite support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that conclusion.”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undermines your second point,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though not the first.”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“I'd question whether that follows.”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true, but is it relevant here?”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132320" y="1883664"/>
            <a:ext cx="451073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70064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PRECISION MATTERS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406640" y="2505456"/>
            <a:ext cx="39620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wrong” gives the other person nothing to respond to.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WHICH part is wrong keeps the discussion moving.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shows you listened carefully enough to locate the problem.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leaves their other points standing, which is usually accurate.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871216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LANGUAGE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all together — five habits of a strong arguer</a:t>
            </a:r>
            <a:endParaRPr lang="en-US" sz="3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are noticed by competent listeners.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finish with “which means…”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“so what?” before anybody asks it.</a:t>
            </a:r>
            <a:endParaRPr lang="en-US" sz="163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certainty accurately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Arguably · I'd say · I'm fairly confident · I'm convinced.</a:t>
            </a:r>
            <a:endParaRPr lang="en-US" sz="163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strongest objection yourself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concede what is true in it and answer the rest.</a:t>
            </a:r>
            <a:endParaRPr lang="en-US" sz="163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the argument, never the person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name which part, not the whole thing.</a:t>
            </a:r>
            <a:endParaRPr lang="en-US" sz="163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 one point in every discussion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everything else you say more credible.</a:t>
            </a:r>
            <a:endParaRPr lang="en-US" sz="16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— is it an argument?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Claim, reason, evidence, significance.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think we should start earlier.” Is that an argument?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it is a claim with no reason.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claim alone invites “why?” and nothing else. It is the beginning of an argument, not one.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should start earlier because it would be better to begin sooner.” Better?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the reason restates the claim.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One idea said twice. A reason must add information the claim did not contain.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part almost everybody omits?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significance — “which means…”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Without it the listener is left asking “so what?”, which wastes the argument you just made.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— evidence or not?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checkable?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“Everybody knows the course is too short.” Evidence?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It claims agreement without showing any.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If everybody knew it, there would be nothing to argue about. It is the weakest support available.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my experience it doesn't work.” Evidence?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184"/>
              </a:spcBef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you say how much experience.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276"/>
              </a:spcBef>
              <a:buNone/>
            </a:pPr>
            <a:r>
              <a:rPr lang="en-US" sz="138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Once is an anecdote. “In twelve courses I've run, every time” is genuinely evidence.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“Last year 40% left before week five.” Evidence?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it is checkable.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Somebody could verify it, which is exactly what makes it hard to dismiss.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— conceding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a point without folding.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says your plan is expensive, and it is. What do you say?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“Admittedly it's expensive, but the current cost is higher.”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Concede what is true, then continue. Denying an obvious truth costs you the whole argument.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conceding weaken your position?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174"/>
              </a:spcBef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it strengthens everything else you say.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261"/>
              </a:spcBef>
              <a:buNone/>
            </a:pPr>
            <a:r>
              <a:rPr lang="en-US" sz="13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speaker who concedes nothing is heard as not listening, and is discounted accordingly.</a:t>
            </a:r>
            <a:endParaRPr lang="en-US" sz="113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shown to be wrong on one point. What do you say?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189"/>
              </a:spcBef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a fair point — I'll concede that. I still think the main issue stands.”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284"/>
              </a:spcBef>
              <a:buNone/>
            </a:pPr>
            <a:r>
              <a:rPr lang="en-US" sz="142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Partial concession. It is accurate, it costs nothing, and almost nobody does it.</a:t>
            </a:r>
            <a:endParaRPr lang="en-US" sz="12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— weak moves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what went wrong.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 would say that — he's new here.” What is wrong?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attacks the person, not the argument.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Whether he is new has no bearing on whether his point is correct. Competent listeners notice.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 you want to change nothing at all?” What is wrong?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All-or-nothing. It invents an extreme position.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Almost nobody holds the extreme version, so the other person simply denies it and the turn is wasted.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Somebody restates your view more weakly than you did. What is that?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straw man.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Arguing against a weaker version proves nothing, and the audience can see the substitution.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— calibrating certainty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sure are you, really?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reasons but no proof. Which phrase?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189"/>
              </a:spcBef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fairly confident that…”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284"/>
              </a:spcBef>
              <a:buNone/>
            </a:pPr>
            <a:r>
              <a:rPr lang="en-US" sz="142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signals about 75% — reasons without proof, which is where most real claims sit.</a:t>
            </a:r>
            <a:endParaRPr lang="en-US" sz="123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could argue it, but so could the other side. Which phrase?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“It's arguably…”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About 50%. It stakes a defensible position while acknowledging that others may reasonably differ.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7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say “definitely” every time?</a:t>
            </a:r>
            <a:endParaRPr lang="en-US" sz="1270" dirty="0"/>
          </a:p>
          <a:p>
            <a:pPr indent="0" marL="0">
              <a:lnSpc>
                <a:spcPct val="102000"/>
              </a:lnSpc>
              <a:spcBef>
                <a:spcPts val="195"/>
              </a:spcBef>
              <a:buNone/>
            </a:pPr>
            <a:r>
              <a:rPr lang="en-US" sz="18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being wrong once discounts everything you say afterwards.</a:t>
            </a:r>
            <a:endParaRPr lang="en-US" sz="1270" dirty="0"/>
          </a:p>
          <a:p>
            <a:pPr indent="0" marL="0">
              <a:lnSpc>
                <a:spcPct val="102000"/>
              </a:lnSpc>
              <a:spcBef>
                <a:spcPts val="292"/>
              </a:spcBef>
              <a:buNone/>
            </a:pPr>
            <a:r>
              <a:rPr lang="en-US" sz="146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Credibility is cumulative. Calibrated language sounds more competent, not less.</a:t>
            </a:r>
            <a:endParaRPr lang="en-US" sz="127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argument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 makes a case. All four parts, in six lines.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argue we should move the course start to January.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January specifically?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most of our dropouts happen in the first month, and September clashes with harvest.</a:t>
            </a:r>
            <a:endParaRPr lang="en-US" sz="155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know that?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 40% left before week five, and three quarters of those were from farming families.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means we're losing our best students before we ever teach them anything.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· reason · evidence · significance. Tolosa's two questions are exactly the ones a listener asks silently.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Conceding, and changing a mind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 disagrees, concedes, and then moves. Watch the last line.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Admittedly the dropout figure is high. But January has its own problems.</a:t>
            </a:r>
            <a:endParaRPr lang="en-US" sz="195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 as?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 period. Half the staff are marking in January.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true for the first two weeks. We'd start in the third.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hadn't realised the marking finished that early.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right — you've changed my mind on the timing. I still think the cost needs looking at.</a:t>
            </a:r>
            <a:endParaRPr lang="en-US" sz="155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 concedes the timing and holds the cost. Partial concession — accurate, and almost nobody does it.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 for building and challenging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phrases. Three build, three challenge.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“I'd argue that…”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claim and signals reasons are coming.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means…”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significance. The most under-used phrase here.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“Admittedly …, but …”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Concede, then continue. Never concede and stop.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assumes…”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 hidden step. Polite and very precise.</a:t>
            </a:r>
            <a:endParaRPr lang="en-US" sz="175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“I'd question whether that follows.”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the logic, not the facts.</a:t>
            </a:r>
            <a:endParaRPr lang="en-US" sz="148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“I'll concede that.”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nothing. Makes everything else credible.</a:t>
            </a:r>
            <a:endParaRPr lang="en-US" sz="1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argument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pairs. Fill each gap. Answers are in the Answer Key.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6B7C7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______ that we should train the staff before we buy the system.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548640" y="2360458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451898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0E7C5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451898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15322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 order?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48640" y="2837253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2928693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6B7C7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2928693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2892117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last two systems failed for the same reason. The ______ is in the 2024 review.</a:t>
            </a:r>
            <a:endParaRPr lang="en-US" sz="1550" dirty="0"/>
          </a:p>
        </p:txBody>
      </p:sp>
      <p:sp>
        <p:nvSpPr>
          <p:cNvPr id="23" name="Shape 19"/>
          <p:cNvSpPr/>
          <p:nvPr/>
        </p:nvSpPr>
        <p:spPr>
          <a:xfrm>
            <a:off x="548640" y="3314047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405487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0E7C5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405487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368911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expensive though.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>
            <a:off x="548640" y="3790841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3882281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6B7C7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3882281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3845705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it is. But that ______ we'd be paying twice if it failed again.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548640" y="4267635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359075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0E7C5A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359075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322499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point.</a:t>
            </a:r>
            <a:endParaRPr lang="en-US" sz="1700" dirty="0"/>
          </a:p>
        </p:txBody>
      </p:sp>
      <p:sp>
        <p:nvSpPr>
          <p:cNvPr id="35" name="Shape 31"/>
          <p:cNvSpPr/>
          <p:nvPr/>
        </p:nvSpPr>
        <p:spPr>
          <a:xfrm>
            <a:off x="548640" y="4744430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94944" y="4835870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6B7C71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731520" y="4835870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2276856" y="4799294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______ the timing is difficult. That ______ , the risk is worse.</a:t>
            </a:r>
            <a:endParaRPr lang="en-US" sz="1700" dirty="0"/>
          </a:p>
        </p:txBody>
      </p:sp>
      <p:sp>
        <p:nvSpPr>
          <p:cNvPr id="39" name="Shape 35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these:  “argue”  ·  “evidence”  ·  “Admittedly”  ·  “means”  ·  “concede”  ·  “said”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practice — build and defend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rounds. Three minutes each.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four-part argument about something real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checks all four parts are present.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asks “why?” three times. Keep going.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warm-up task, now with the structure.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strongest objection to your own view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concede what is true and answer the rest.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the OPPOSITE of what you believe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 seconds. Partner rates how convincing it was.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— the four-part drill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seconds. All four parts, every time.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— one sentence. “I'd argue that…”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be something a reasonable person could dispute.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— “The reason is…”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add information the claim did not contain.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— “The figures show…”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Checkable. With a number if you have one.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— “Which means…”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change if I accept all of this?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— the three whys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pairs. Can your argument survive?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claim. Partner asks “Why?”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reason.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asks “Why?” again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reason behind the reason.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asks “Why?” a third time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 are at the value underneath.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Swap. Then discuss where each of you ran out.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out is information, not failure.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drill — the tone of disagreement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words, two completely different effects.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these WARMLY, falling at the end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042"/>
              </a:spcAft>
              <a:buSzPct val="100000"/>
              <a:buChar char="•"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“I'd question whether that follows.”</a:t>
            </a:r>
            <a:endParaRPr lang="en-US" sz="1800" dirty="0"/>
          </a:p>
          <a:p>
            <a:pPr marL="228600" indent="-228600">
              <a:lnSpc>
                <a:spcPct val="100000"/>
              </a:lnSpc>
              <a:spcAft>
                <a:spcPts val="1042"/>
              </a:spcAft>
              <a:buSzPct val="100000"/>
              <a:buChar char="•"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assumes something we haven't checked.”</a:t>
            </a:r>
            <a:endParaRPr lang="en-US" sz="1800" dirty="0"/>
          </a:p>
          <a:p>
            <a:pPr marL="228600" indent="-228600">
              <a:lnSpc>
                <a:spcPct val="100000"/>
              </a:lnSpc>
              <a:spcAft>
                <a:spcPts val="1042"/>
              </a:spcAft>
              <a:buSzPct val="100000"/>
              <a:buChar char="•"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“I'll concede that point.”</a:t>
            </a:r>
            <a:endParaRPr lang="en-US" sz="1800" dirty="0"/>
          </a:p>
          <a:p>
            <a:pPr marL="228600" indent="-228600">
              <a:lnSpc>
                <a:spcPct val="100000"/>
              </a:lnSpc>
              <a:spcAft>
                <a:spcPts val="1042"/>
              </a:spcAft>
              <a:buSzPct val="100000"/>
              <a:buChar char="•"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“Admittedly, you're right about the cost.”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say them FLAT or rising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sounds sarcastic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sounds like an accusation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sounds grudging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sounds insincere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disagreement delivered badly is worse than blunt disagreement delivered warmly. The tune carries more than the words.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 — argue the other side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thing in this module.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what you actually believe about a topic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 Keep it.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build a full four-part argument for the OPPOSITE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seconds. Make it genuinely good.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 rates it: convincing or obviously fake?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say which part of the opposite case is actually right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almost always one.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challenge — record yourself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minutes. The main assessment of this module.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four-part argument on something real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seconds. Claim · reason · evidence · significance.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strongest objection to it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the strongest, not a weak one.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 what is true in that objection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“Admittedly…” Then answer the rest.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certainty accurately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Arguably · I'd say · I'm fairly confident · I'm convinced.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one thing you would concede in this debate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it does not change your conclusion.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find the missing part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short arguments. Each is missing something.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TEACHER READS TWICE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“We should extend the course. It would be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if it were longer.”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“We should extend the course, because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more practice time.”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“We should extend it. Students need more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— last year 60% asked for it.”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“We should extend it. Students need practice.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 60% asked. Which means we're sending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out before they're ready.”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parts does each one have?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missing a reason?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missing evidence?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missing significance?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is complete?</a:t>
            </a:r>
            <a:endParaRPr lang="en-US" sz="15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what is missing?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Everything. The second sentence restates the claim.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“It would be better if it were longer” adds no information. One idea said twice is not a reason.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what is missing?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and significance.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now has a real reason, but nothing checkable and no answer to “so what?”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what is missing?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only.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Good argument, and it still invites the reply “yes, and?” The listener has to supply the conclusion.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is it complete?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All four parts.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And it is only one sentence longer than item 3. The complete version costs almost nothing.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lesson?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sentence is the one that does the work.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“Which means…” converts information into an argument for doing something.</a:t>
            </a:r>
            <a:endParaRPr lang="en-US" sz="114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a real disagreement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 concessions, assumptions and weak moves.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TEACHER READS TWICE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CHALTU:  I'd argue we should drop the Saturday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class. Attendance is under 30%.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MIMI:  That assumes attendance is the right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measure. The ones who come need it most.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CHALTU:  Admittedly that's true. But we're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two staff for six students.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MIMI:  So you'd rather those six had nothing?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CHALTU:  That's not quite what I said. I'd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whether Saturday is the only way.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MIMI:  All right — that's fair. I'll concede the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hard to defend.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Chaltu's claim and evidence?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assumption does Mimi name?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Where does Chaltu concede?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Which of Mimi's turns is a weak move?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How does Chaltu handle it?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What does Mimi do at the end?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the assumption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attendance is the right measure of value.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Naming a hidden premise is the most precise challenge available. It disputes no stated fact.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Chaltu's concession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“Admittedly that's true.” Then she continues with cost.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Concede and continue. Denying an obvious truth would have cost her the exchange.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the weak move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 you'd rather those six had nothing?” — all-or-nothing.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invents an extreme position Chaltu never held, forcing a false choice.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how Chaltu responds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not quite what I said” — then reframes the question.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She declines the false choice without escalating. Over-defending would have accepted the frame.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Mimi's last turn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concedes the cost point.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Both speakers concede once. That is the difference between a discussion and an argument.</a:t>
            </a:r>
            <a:endParaRPr lang="en-US" sz="114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critically — four questions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ask silently while somebody argues.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 is missing?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33"/>
              </a:spcBef>
              <a:buNone/>
            </a:pPr>
            <a:r>
              <a:rPr lang="en-US" sz="133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Claim, reason, evidence, significance. The missing one is where the argument is weakest.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being assumed?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unstated premise is usually the real disagreement, and naming it moves the discussion forward.</a:t>
            </a:r>
            <a:endParaRPr lang="en-US" sz="158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evidence checkable?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33"/>
              </a:spcBef>
              <a:buNone/>
            </a:pPr>
            <a:r>
              <a:rPr lang="en-US" sz="133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“Everybody knows” and “it's obvious” are not evidence. Ask how they know.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conclusion follow?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33"/>
              </a:spcBef>
              <a:buNone/>
            </a:pPr>
            <a:r>
              <a:rPr lang="en-US" sz="133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facts can all be right and the conclusion still not follow from them.</a:t>
            </a:r>
            <a:endParaRPr lang="en-US" sz="1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an argument in writing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four parts.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ENGLISH BE TAUGHT FROM GRADE ONE?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argue that it should not.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is that children who begin a second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before they read fluently in their first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 to do worse in both.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2023 regional study found that pupils who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English in grade four scored higher by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eight than those who started in grade one.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means the earlier start is not just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ineffective — it is costing us literacy in both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Admittedly the early start is popular, and that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matters. But popularity is not evidence.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claim.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reason.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evidence.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significance.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concession.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evidence checkable?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questions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7F3EF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a full sentence.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writer's claim, in one sentence?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reason is given?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evidence, and is it checkable?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writer say follows from it?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objection does the writer concede, and how is it answered?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and 2 — claim and reason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not be taught from grade one, because early starters do worse in both languages.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reason adds information the claim did not contain. That is the test from slide 5.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the evidence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2023 regional study, with a specific comparison by grade eight.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Named, dated and checkable. Somebody could look it up and dispute it — which is what makes it evidence.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the significance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early start is actively costing literacy in both languages.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converts the finding into a reason to change something. Without it the study is just information.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the concession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it is popular with parents — conceded, then answered.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“Popularity is not evidence” concedes the fact while denying its relevance. Conceding without giving ground.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to agree?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A well-built argument can still be wrong.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Structure and truth are separate. Recognising a strong structure is not the same as accepting the conclusion.</a:t>
            </a:r>
            <a:endParaRPr lang="en-US" sz="114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the same view, badly argued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four weak moves.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CAREFULLY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 knows that teaching English from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one is a mistake. It's obvious.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who support it are mostly consultants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paid by the programme, so of course they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it.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they're really saying is that our own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don't matter — which is an insult to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family in the country.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either we stop this now, or we accept that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generation will not be able to write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properly in any language at all.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“everybody knows”.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attack on people.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straw man.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all-or-nothing.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 evidence at all?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text would persuade you?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answers and vocabulary review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“everybody knows” and “it's obvious”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agreement without showing any.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If it were obvious there would be nothing to argue. It is the weakest support available.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the consultants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Attacking the people rather than the argument.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Their payment might be relevant, but it is offered INSTEAD of a reason, not alongside one.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the straw man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said other languages do not matter.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Arguing against a weaker invented version proves nothing, and careful readers see the substitution.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the false choice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“Either we stop now, or the next generation cannot write.”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All-or-nothing. It excludes every middle position, and almost every real option is a middle position.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check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· evidence · acknowledge · undermine · concede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This text acknowledges nothing and concedes nothing — which is precisely why it does not persuade.</a:t>
            </a:r>
            <a:endParaRPr lang="en-US" sz="114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— find the missing part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argument, say which part is missing and supply it.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We should buy the new system. It would be an improvement.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We should buy it, because the old one fails twice a week.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We should buy it. The old one fails twice a week — 34 times last year.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Attendance is under 30%. So we should cancel the class.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training worked. Test scores rose from 54% to 78%.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— evidence or not?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 for evidence or N for not. For every N, rewrite it as evidence.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Everybody knows the course is too short.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Last year 40% left before week five.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my experience it doesn't work.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2023 review found no improvement.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It's obvious that we need more staff.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 read somewhere that it's common.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write a full argument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real issue from your work, your studies or your community.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CLAIM — one sentence. Something a reasonable person could dispute.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REASON — why. It must add information the claim did not contain.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EVIDENCE — checkable. With a number or a named source.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SIGNIFICANCE — “which means…” What should change?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CONCESSION — name the strongest objection, concede what is true, answer it.</a:t>
            </a:r>
            <a:endParaRPr lang="en-US" sz="195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Check: could this be dismissed with one question? Which one?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how it is marked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— 4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sentence, and genuinely disputable.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If nobody could disagree, there is no argument to make. That is the test from slide 5.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— 5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information the claim did not contain.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restated claim scores zero here. It is the commonest failure in the whole module.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— 6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Checkable: a number, a named source, or quantified experience.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“Everybody knows” scores nothing. This section carries the most marks for a reason.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— 5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means…” — what should change.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part most often omitted, and the part that converts information into an argument.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 — 5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objection, conceded honestly, then answered.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weak objection demolished scores one or two. The strength of the objection is what is marked.</a:t>
            </a:r>
            <a:endParaRPr lang="en-US" sz="114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argument checklist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81508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1911645"/>
            <a:ext cx="209215" cy="2092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got all four parts?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· reason · evidence · significance.</a:t>
            </a:r>
            <a:endParaRPr lang="en-US" sz="1630" dirty="0"/>
          </a:p>
        </p:txBody>
      </p:sp>
      <p:sp>
        <p:nvSpPr>
          <p:cNvPr id="14" name="Shape 9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86384" y="253746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634021"/>
            <a:ext cx="209215" cy="2092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my reason add anything, or just restate the claim?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commonest hole in an argument.</a:t>
            </a:r>
            <a:endParaRPr lang="en-US" sz="1630" dirty="0"/>
          </a:p>
        </p:txBody>
      </p:sp>
      <p:sp>
        <p:nvSpPr>
          <p:cNvPr id="18" name="Shape 12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86384" y="325983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356397"/>
            <a:ext cx="209215" cy="20921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my evidence checkable?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number, a named source, or quantified experience.</a:t>
            </a:r>
            <a:endParaRPr lang="en-US" sz="1630" dirty="0"/>
          </a:p>
        </p:txBody>
      </p:sp>
      <p:sp>
        <p:nvSpPr>
          <p:cNvPr id="22" name="Shape 15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86384" y="398221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078773"/>
            <a:ext cx="209215" cy="20921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said “which means…”?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“so what?” before anyone asks it.</a:t>
            </a:r>
            <a:endParaRPr lang="en-US" sz="1630" dirty="0"/>
          </a:p>
        </p:txBody>
      </p:sp>
      <p:sp>
        <p:nvSpPr>
          <p:cNvPr id="26" name="Shape 18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786384" y="470458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4801149"/>
            <a:ext cx="209215" cy="20921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named the STRONGEST objection?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weak one. Conceded honestly, then answered.</a:t>
            </a:r>
            <a:endParaRPr lang="en-US" sz="1630" dirty="0"/>
          </a:p>
        </p:txBody>
      </p:sp>
      <p:sp>
        <p:nvSpPr>
          <p:cNvPr id="30" name="Shape 21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786384" y="542696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45" y="5523525"/>
            <a:ext cx="209215" cy="20921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one question destroy this?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so, answer it before you are asked.</a:t>
            </a:r>
            <a:endParaRPr lang="en-US" sz="163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— multiple choice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a, b or c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Name the four parts of an argument.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claim, reason, evidence, significance     b) point, proof, plan     c) topic, body, end</a:t>
            </a:r>
            <a:endParaRPr lang="en-US" sz="148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“Everybody knows it” is: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strong evidence     b) not evidence     c) a reason</a:t>
            </a:r>
            <a:endParaRPr lang="en-US" sz="148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Conceding a point: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loses the argument     b) makes you more credible     c) should be avoided</a:t>
            </a:r>
            <a:endParaRPr lang="en-US" sz="148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“So you want to change nothing?” is: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 fair question     b) all-or-nothing     c) evidence</a:t>
            </a:r>
            <a:endParaRPr lang="en-US" sz="148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“Arguably” signals roughly: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100% certain     b) 50% — a defensible view     c) 0%</a:t>
            </a:r>
            <a:endParaRPr lang="en-US" sz="14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— fill in the phrase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missing word.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I'd ______ that we should start earlier.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______ it's expensive, but the alternative costs more.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That ______ something we haven't checked.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______ we're losing our best students.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I'll ______ that point, but I still think the main issue stands.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I'd ______ whether that follows.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— matching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Parts, moves and strength.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pairs: 1–c, 2–a, and so on.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match the PART to its OPENER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claim     2. reason     3. evidence     4. significance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“The figures show…”     b) “Which means…”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“I'd argue that…”     d) “This is because…”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match the WEAK MOVE to its NAME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“He's new, so he'd say that.”     2. “So you want nothing to change?”     3. “Everybody knows.”          a) all-or-nothing     b) attacking the person     c) claiming agreement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match the PHRASE to its STRENGTH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“It's arguably…”     2. “I'm convinced that…”     3. “I'd say…”          a) 60%     b) 50%     c) 90%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— supply the significance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“Which means…” sentence to each.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Last year 40% of students left before week five.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Two of our three vans are over ten years old.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Test scores rose from 54% to 78% after the training.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Attendance on Saturday is under 30%.</a:t>
            </a:r>
            <a:endParaRPr lang="en-US" sz="17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2023 review found no improvement in grade eight.</a:t>
            </a:r>
            <a:endParaRPr 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— name the weak move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move, then say what should have been said instead.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“She's only been here a year, so she wouldn't understand.”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“So you're saying we should just do nothing?”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“Everyone in the department agrees with me.”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“He wants to abolish the whole programme.”  (he suggested reducing it)</a:t>
            </a:r>
            <a:endParaRPr lang="en-US" sz="17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“It's obvious this won't work.”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— true or false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 or F. For every F, write the correction.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An opinion and an argument are the same thing.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Conceding a point weakens your position.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“In my experience” is evidence if you say how much experience.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 well-structured argument must be correct.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Naming the strongest objection yourself makes you credible.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Saying “definitely” about everything makes you sound confident.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— short answer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complete sentence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State a claim you actually hold, in one sentence.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your evidence, and is it checkable?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strongest objection to it?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part of that objection is actually right?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Which weak move do you catch yourself using?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— speaking tasks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pairs. Partner checks the structure.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DEDE8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Speak. Your partner checks that every part is present.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 90-second four-part argument. Partner checks all four.</a:t>
            </a:r>
            <a:endParaRPr lang="en-US" sz="19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Survive three “whys”. Partner asks them.</a:t>
            </a:r>
            <a:endParaRPr lang="en-US" sz="19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Name and answer the strongest objection to your own view.</a:t>
            </a:r>
            <a:endParaRPr lang="en-US" sz="19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Argue the opposite of what you believe, for 60 seconds.</a:t>
            </a:r>
            <a:endParaRPr lang="en-US" sz="1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— the full case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something you genuinely care about at work or in your community.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the four-part argument in 150 words.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· reason · evidence · significance.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 the strongest objection — as its supporters would state it.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weaker version.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Concede what is true in it, then answer the rest.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two of the four concession structures.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Identify one assumption in your OWN argument.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 has at least one.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Deliver the whole thing in 3 minutes. Partner challenges you.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notes.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— think and explain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right answer. Explain your thinking.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English. These test understanding, not memory.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does conceding a point make you MORE credible?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never conceding signal?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Can a well-structured argument be wrong? How?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form from truth.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is the straw man tempting — and why does it fail?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notices, and when?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Is there ever a case for the weak moves on slide 9?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both sides honestly.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quiz — Part 1 · The four parts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3EF"/>
          </a:solidFill>
          <a:ln w="12700">
            <a:solidFill>
              <a:srgbClr val="0A5D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answers on paper. Books and slides closed. Question 20 is spoken.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Name the four parts of an argument.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answers.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the test of a good CLAIM?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is the commonest failure in the REASON?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Which part do most people omit?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</a:t>
            </a:r>
            <a:endParaRPr lang="en-US" sz="1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quiz — Part 2 · Evidence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Is “everybody knows” evidence?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or no, and why.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When does “in my experience” become evidence?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What is the test of evidence?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Is “evidence” countable?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quiz — Part 3 · Concession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Does conceding weaken your position?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Name two concession structures.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answers.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Why name the strongest objection yourself?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What is a partial concession?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quiz — Part 4 · Weak moves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Name the four weak moves.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answers.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“So you want to change nothing?” — which move?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What is a straw man?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Why do these moves cost you credibility?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quiz — Part 5 · Using it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Rewrite as evidence: “Everybody knows the course is too short.”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sentence.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Add a significance step: “Attendance is under 30%.”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sentence.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Concede and continue: “Your plan is expensive.”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reply.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SPEAKING: a 3-minute argument with a concession, challenged live.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live.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 to 4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the four parts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· reason · evidence · significance.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Miss one and the argument has a hole a competent listener will find.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the test of a claim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somebody reasonably disagree with it?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If not, it is not a claim and there is nothing to argue about.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the commonest reason failure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restates the claim instead of supporting it.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“We should start earlier because it would be better to begin sooner” is one idea said twice.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the omitted part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significance — “which means…”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Without it the listener asks “so what?” and the argument is wasted.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5 to 8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“everybody knows”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It claims agreement without showing any.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If everybody knew it, there would be nothing to argue about.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“in my experience”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say HOW MUCH experience.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Once is an anecdote. Twelve times with a consistent pattern is data.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the test of evidence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Checkable.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Somebody else could verify or dispute it, which is exactly what makes it hard to wave away.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is “evidence” countable?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uncountable. Never “evidences”.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Say “some evidence” or “a piece of evidence”, like information and advice.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9 to 12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does conceding weaken you?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it makes everything else you say more credible.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speaker who concedes nothing is heard as not listening, and is discounted.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two concession structures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two of: “Admittedly …, but …” · “I accept that. However, …” · “Even if …” · “Granted. That said, …”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All four concede something real and then continue. Conceding and stopping is just agreeing.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— why name the strongest objection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you have thought about the other side, and removes its force.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If you cannot name it, you do not yet understand your own position.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— a partial concession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one part while holding the rest: “I'll concede X, but I still think Y.”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Accurate, because most disagreements really are partial. And almost nobody does it.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13 to 16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— the four weak moves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Attacking the person · straw man · “everybody knows” · all-or-nothing.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All four work briefly and cost you credibility permanently in a room of competent people.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— “So you want to change nothing?”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All-or-nothing.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invents an extreme position the other person does not hold, forcing a false choice.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 — a straw man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Arguing against a weaker version of somebody's view.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proves nothing, and the audience can compare it with what was actually said.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 — why they cost credibility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Competent listeners notice all four.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short-term gain in the exchange is paid for in every later exchange.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17 to 20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 — rewrite as evidence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“In the last three intakes, 60% said the course was too short.”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number and a source. Checkable, and therefore usable.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 — add the significance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“…which means we're paying two staff for six students.”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converts a fact into a reason to do something. That is what the fourth part is for.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 — concede and continue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“Admittedly it's expensive, but the current arrangement costs more.”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Concede what is true, then continue. Denying an obvious truth costs the whole argument.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 — the spoken argument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on the four parts, the evidence and the concession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Six checks from slide 50, with the strength of the objection carrying the most weight.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1 — every day this week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a day.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four-part argument aloud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anything. 90 seconds. All four parts.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three claims in the news and name the missing part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public arguments are missing one.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strongest objection to something you believe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its supporters would state it.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 one point in a real conversation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what happens. Write one line about it.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3-minute argument with a concession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back for the significance step.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2 — to hand 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these to the next lesson.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28295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282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200-word written argument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parts plus a concession. Real issue.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328574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35889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objection, stated as its supporters would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your answer to it.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468782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50871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5087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76097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3-minute spoken argument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parts · objection · concession · calibrated certainty.</a:t>
            </a:r>
            <a:endParaRPr lang="en-US" sz="2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homework will be marked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standard before you start.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argument — 12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Disputable claim (2) · reason that adds information (3) · checkable evidence (4) · significance stated (3).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objection — 6 marks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the strongest (4) · stated as its supporters would (2).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— 7 marks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parts audible (3) · concession then continuation (2) · calibrated certainty (2).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— 25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excellent · 15–19 good · 10–14 keep practising · below 10 → rebuild the argument with your teacher.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 in this module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things. Check each one — can you do it?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parts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· reason · evidence · significance.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evidence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40"/>
              </a:spcBef>
              <a:buNone/>
            </a:pPr>
            <a:r>
              <a:rPr lang="en-US" sz="128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Checkable. A number, a source, or quantified experience.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certainty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Arguably · I'd say · fairly confident · convinced.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Anticipating objections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· concede what is true · answer the rest.</a:t>
            </a:r>
            <a:endParaRPr lang="en-US" sz="175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weak moves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· straw man · everybody knows · all-or-nothing.</a:t>
            </a:r>
            <a:endParaRPr lang="en-US" sz="175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your mind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rarest move, and the most respected.</a:t>
            </a:r>
            <a:endParaRPr lang="en-US" sz="17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these where you can see them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 toolkit. Photograph this slide.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2217420"/>
            <a:ext cx="192024" cy="1920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61872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parts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768096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CLAIM  —  “I'd argue that…”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REASON  —  “This is because…”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EVIDENCE  —  “The figures show…”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SIGNIFICANCE  —  “Which means…”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15888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2217420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09664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or not?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6415888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 everybody knows · it's obvious ·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read somewhere · my friend said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 a number · a named source ·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experience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68096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4347972"/>
            <a:ext cx="192024" cy="19202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61872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Conceding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768096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“Admittedly …, but …”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accept that. However, …”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“Even if that's true, …”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“Granted. That said, …”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415888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900" y="4347972"/>
            <a:ext cx="192024" cy="19202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909664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weak moves</a:t>
            </a:r>
            <a:endParaRPr lang="en-US" sz="2000" dirty="0"/>
          </a:p>
        </p:txBody>
      </p:sp>
      <p:sp>
        <p:nvSpPr>
          <p:cNvPr id="30" name="Text 22"/>
          <p:cNvSpPr txBox="1"/>
          <p:nvPr/>
        </p:nvSpPr>
        <p:spPr>
          <a:xfrm>
            <a:off x="6415888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Attacking the person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straw man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“Everybody knows”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All-or-nothing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make a case that a competent person cannot wave away.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5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parts, checkable evidence, and the strongest objection answered before it is raised.</a:t>
            </a:r>
            <a:endParaRPr lang="en-US" sz="1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5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— rarest of all — you can concede a point without losing anything.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Module 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&amp; Persuasion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Arguing under pressure, against somebody who has prepared too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2 — Opinions &amp; Building an Argument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English Learning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4 · Module 2 — Opinions &amp; Building an Argument</dc:title>
  <dc:subject>English course for Ethiopian learners — Level 4 Advanced Spoken English</dc:subject>
  <dc:creator>English Learning Platform</dc:creator>
  <cp:lastModifiedBy>English Learning Platform</cp:lastModifiedBy>
  <cp:revision>1</cp:revision>
  <dcterms:created xsi:type="dcterms:W3CDTF">2026-07-28T15:50:10Z</dcterms:created>
  <dcterms:modified xsi:type="dcterms:W3CDTF">2026-07-28T15:50:10Z</dcterms:modified>
</cp:coreProperties>
</file>