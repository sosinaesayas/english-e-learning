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by separating the two roles. Every learner will practise both being a participant and chairing, and the second is far rarer and more valuable.
TIP: Chairing well is a career skill that almost nobody is taught. Say so — it raises the seriousness of the room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1 is the one learners most need. Many competent speakers say nothing in meetings simply because they cannot find the door.
TIP: Objective 5 is the chair's real responsibility. Ending without naming what was and was not decided is the commonest failure in real meetings.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An unchaired discussion nearly always produces two dominant speakers, two quiet ones, and no conclusion. Let that happen — it is the diagnosis.
COMMON MISTAKES: Do not intervene. The failure is the teaching, and rescuing it removes the lesson.
TIP: Task 3 usually produces silence. That silence is the argument for slide 7 and learners will remember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contrast with Module 3 is the frame for the whole module. Debate skills used in a discussion make somebody exhausting to work with.
COMMON MISTAKES: Learners who have just finished the debate module arrive in argument mode. Name the switch explicitly.
EXTRA EXAMPLES: The second chip is worth defending: a good question or an accurate summary contributes more than another opinion.
TIP: The third chip previews the chair role. Discussions without steering produce what the warm-up just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is the practical point. Both skill sets are legitimate and applying the wrong one is a common and costly error at work.
COMMON MISTAKES: Treating every meeting as a debate to be won. It produces short-term wins and long-term isolation.
EXTRA EXAMPLES: Most workplace conversations are discussions with occasional debate inside them. Recognising the switch mid-meeting is an advanced skill.
TIP: Ask which mode the learners' own workplaces default to. The answers are usually revealing and often uncomfortable.
CLASSROOM ACTIVITY: Which room: describe eight situations and have learners name debate or discussion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last side-panel point is the diagnosis for most silent participants. They are waiting politely for an opening that English discussions do not provide.
COMMON MISTAKES: Learners believe interrupting is rude. Entering with “can I come in on that?” is not interrupting — it is the normal mechanism.
EXTRA EXAMPLES: “There are two things here” is a genuine floor-holding device. Announcing two points buys you time for both.
TIP: Handing over by name is the most generous move in a discussion and it also protects your own turn — you decide when it ends.
CLASSROOM ACTIVITY: Get in five times: run a fast discussion where every learner must enter five times using a different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 The centre of the module.
HOW TO TEACH: The summarise move is the highest-value one and the most neglected. A discussion that is summarised every five minutes cannot circle.
COMMON MISTAKES: Chairs who only open and close. The four moves in the middle are where the work happens.
EXTRA EXAMPLES: The PARK move needs the note to be real. “Let's note it” without writing it down is heard as a dismissal.
TIP: The OPEN move — time and purpose in the first thirty seconds — prevents most of what goes wrong later.
CLASSROOM ACTIVITY: Six moves: every learner chairs a five-minute discussion and must use all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technique. “What do you think?” puts someone on the spot; “you've worked on this, what do you think?” gives them ground to stand on.
COMMON MISTAKES: “You're very quiet today” embarrasses somebody publicly and rarely produces speech. It is the commonest well-meant error.
EXTRA EXAMPLES: The right-hand column redirects rather than rebukes. “That's useful — let me bring Tolosa in” takes the floor without criticising anyone.
TIP: Both columns protect the person's face. That is what makes them usable by a chair who has no authority over the room.
CLASSROOM ACTIVITY: Bring them in: run a discussion with two deliberately silent participants and have the chair bring both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matters: these are not only chair's tools. A participant who names the circling in a drifting meeting is doing everyone a service.
COMMON MISTAKES: Waiting for the chair to fix it. In most real meetings nobody is formally chairing, and the fixes still work.
EXTRA EXAMPLES: Row 1's question — “what would change anyone's mind?” — is the most powerful. It usually reveals that the disagreement is about values, not facts.
TIP: Row 4 rescues more meetings than anything else. Two minutes before the end, ask what was decided.
CLASSROOM ACTIVITY: Name the failure: run four short discussions each designed to fail differently, and have learners diagnose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Part 2 is the one nobody does. Meetings end on what was agreed, and the unresolved items reappear as a surprise weeks later.
COMMON MISTAKES: Closing on a vague note of agreement. Everyone leaves with a different understanding and nobody discovers it until it matters.
EXTRA EXAMPLES: This is Level 3 Module 5's minutes structure, delivered aloud in the last two minutes rather than written afterwards.
TIP: Two minutes of closing saves an entire repeated meeting. Say that — it is the strongest argument for the discipline.
CLASSROOM ACTIVITY: Close it properly: every learner closes a discussion using all four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“Could you clarify…?” is the politest possible way to say you did not understand. It puts the ambiguity in the statement rather than in your comprehension.
COMMON MISTAKES: “Can you clarify me?” — the object is the thing said, not the person.
EXTRA EXAMPLES: clarification · to seek clarification · just to clarify… The last is a very useful opener before restating your own point.
TIP: “Just to clarify — are you saying X?” is the repeat-back technique from Level 2 Module 7, in professional form.
CLASSROOM ACTIVITY: Clarify it: give ten vague statements and have learners ask a clarifying question about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the vocabulary for slide 9's drifting failure. Naming it politely — “I think we're digressing” — is far easier than saying somebody is off topic.
COMMON MISTAKES: Learners avoid it and let meetings drift because they have no polite word for it.
EXTRA EXAMPLES: “Sorry, I'm digressing” about yourself is a graceful way to cut your own tangent short.
TIP: Applying it to yourself first makes it usable about the group later. Model that order.
CLASSROOM ACTIVITY: Cut the tangent: run a discussion with a deliberate digression and have learners name it politely.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distinction in the mistake line is genuinely useful. Groups waiting for unanimity never decide anything.
COMMON MISTAKES: Spelling and stress: con-SEN-sus, and no “c” in the middle. It is a frequently misspelt word.
EXTRA EXAMPLES: “Is there a consensus?” · “We have a rough consensus.” · “There's no consensus yet.” All are useful chair phrases.
TIP: “Can everyone live with this?” is the plain-English version and is often more effective than asking for agreement.
CLASSROOM ACTIVITY: Test for consensus: after each discussion, the chair asks whether everyone can live with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the vocabulary for the chair's summarise move — the highest-value move in the module.
COMMON MISTAKES: Recapping everything. A recap is what is agreed and what is not, in two sentences.
EXTRA EXAMPLES: “Let me recap where we've got to” is the standard five-minute intervention. Drill it as a chunk.
TIP: A participant can recap too. In an unchaired meeting, the person who recaps effectively becomes the chair.
CLASSROOM ACTIVITY: Five-minute recap: during a fifteen-minute discussion, three different learners recap at five-minute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“I'd like your input on this” is the most natural way to bring somebody into a discussion, and it treats them as an expert rather than a spare voice.
COMMON MISTAKES: “Your inputs” is common in some varieties and sounds odd in British English when it means contributions.
EXTRA EXAMPLES: have input · give input · ask for input · value somebody's input.
TIP: Pair it with slide 8's technique: “Mimi, I'd like your input — you've worked on this.” Reason plus invitation.
CLASSROOM ACTIVITY: Ask for input: every learner invites two different people into a discussion using the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Drill these as chunks at speed. The moment to enter lasts about a second, and a phrase that needs constructing arrives too late.
COMMON MISTAKES: Waiting for silence. English discussions have almost no gaps; the entry phrase IS the gap you make.
EXTRA EXAMPLES: Row 4 is under-used and valuable. Reopening a point that was passed over too quickly is often the most useful contribution available.
TIP: Learners who say nothing in meetings almost always lack row 1, not ideas. Give it to them and the rest follows.
CLASSROOM ACTIVITY: Five entries: run a fast discussion where each learner must enter using all five,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is the counter-intuitive point: giving the floor away protects your turn better than defending it does.
COMMON MISTAKES: Trailing off — “…so, yeah, that's it, I suppose” — invites somebody to jump in over the end of your point.
EXTRA EXAMPLES: “There are two things here” is a genuine device. Once you announce two, the group waits for the second.
TIP: Handing over by name is also generous, and generous participants get brought in more often themselves.
CLASSROOM ACTIVITY: Hold and hand: every learner takes a 45-second turn using one holding device and one hand-over.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Drill all six as chunks. A chair who has to construct these mid-meeting is not chairing, they are thinking.
COMMON MISTAKES: The OPEN without a time. “We've got twenty minutes” changes how everybody uses them.
EXTRA EXAMPLES: The PARK phrase must be followed by writing it down. An unwritten park is heard as a refusal.
TIP: The RECAP can be used by anyone. In an unchaired meeting, whoever recaps effectively takes the chair.
CLASSROOM ACTIVITY: Six phrases: every learner chairs five minutes and must use all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first panel phrase does two jobs: it disagrees and it asks for more. That combination is what keeps a discussion productive.
COMMON MISTAKES: Importing debate language. “That rests on a false premise” is correct in a debate and abrasive in a team meeting.
EXTRA EXAMPLES: “My worry would be…” is the most useful of the five. It raises an objection as a concern rather than a verdict.
TIP: The last side-panel point matters. Softer disagreement leaves you room to change your mind without it looking like a reversal.
CLASSROOM ACTIVITY: Same objection, two registers: give five objections and have learners phrase each for a debate and for a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Habit 3 is available to everybody and it is the one that most improves a bad meeting. Emphasise that no authority is required.
COMMON MISTAKES: Habit 5 skipped because time runs out. It takes thirty seconds and saves an hour later.
EXTRA EXAMPLES: Habits 1 and 2 together solve the participation problem: enter deliberately, exit deliberately.
TIP: Print these five. They apply to every meeting a learner will attend for the rest of their working life.
CLASSROOM ACTIVITY: One habit each: assign each learner one habit to demonstrate in the next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Have learners label each of Bethlehem's turns with the move from slide 7. All four are visible and none of them takes more than a sentence.
COMMON MISTAKES: Her recap does not resolve the disagreement — it names it. That is the correct function and learners often expect a chair to decide.
EXTRA EXAMPLES: The bring-in gives Mimi a reason: “you've taught those classes”. Without it the question would have put her on the spot.
TIP: Note that Bethlehem never gives her own opinion. A chair who argues stops being able to manage the room.
CLASSROOM ACTIVITY: Label the moves: learners mark each turn with its move, then chair five minutes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Yonas's last line is the polite reclaim. He asks for a few more seconds and signals that he will then stop, which almost always works.
COMMON MISTAKES: Learners either surrender the floor immediately or refuse to yield. The middle move — finish the thought, then stop — is what is missing.
EXTRA EXAMPLES: Bethlehem's redirect is gentle and does not criticise Yonas. She simply moves the floor.
TIP: “Then I'm done” is what makes the reclaim acceptable. It bounds the request.
CLASSROOM ACTIVITY: Enter and reclaim: run a fast discussion where every learner must enter and then reclaim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Drill all six as chunks. Phrases 5 and 6 need no authority and rescue most badly-run meetings.
COMMON MISTAKES: Learners assume phrases 4 to 6 are only for chairs. Say clearly that any participant can use all three.
EXTRA EXAMPLES: Phrase 6 is the highest-value sentence in the module. Asked two minutes before the end, it prevents the repeat meeting.
TIP: Ask which of the six learners already use. Usually phrase 1, sometimes phrase 3, and almost never phrase 5.
CLASSROOM ACTIVITY: Six phrases: run a fifteen-minute discussion in which every learner uses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Have pairs perform it standing, at natural speed. Discussion language delivered slowly from a page is not the skill.
COMMON MISTAKES: Gaps 5 and 6 are the recap. Learners often write “decided” — but a recap names the split as well as the agreement.
TIP: Gap 4 is the bring-in with a reason. Praise anyone who notices that “you've worked on this” is doing the real work.
CLASSROOM ACTIVITY: Do it again with a real decision from the class's own workplace.
ANSWERS: 1 come · 2 things · 3 costed · 4 thoughts · 5 agree · 6 split · 7 park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 for all four rounds.
HOW TO TEACH: Round 3 needs at least three other people. Combine pairs into groups of four for that round.
COMMON MISTAKES: Round 4 stopping after part one. Naming what was NOT decided is the part that gets skipped and the part that matters.
TIP: Round 1 is the one silent learners need most. Five forced entries in three minutes breaks the habit of waiting.
CLASSROOM ACTIVITY: Swap chairs: every learner chairs at least once before the module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Run a genuinely fast discussion where the others are told not to leave gaps. Learners must make their own openings, which is the whole point.
COMMON MISTAKES: Waiting for a pause. Tell the group explicitly not to pause — the artificial pressure produces the real skill.
EXTRA EXAMPLES: Entry 4 is under-used and often the most valuable contribution: reopening something the group passed over too quickly.
TIP: This activity changes quiet learners more than anything else in Level 4. Do not shorten it.
CLASSROOM ACTIVITY: Five in three: every learner must enter five times in a three-minute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minutes in groups of four or five.
HOW TO TEACH: Plant a dominant speaker and a silent one deliberately, without telling the chair. The moves are only real when the problems are real.
COMMON MISTAKES: Chairs who join the argument. Remind them: the chair manages the room and does not compete in it.
EXTRA EXAMPLES: The RECAP is the hardest under pressure. It requires listening while managing, which is genuinely difficult.
TIP: Every learner must chair at least once. It is the rarest skill in the module and the most transferable.
CLASSROOM ACTIVITY: Rotate the chair: five-minute rounds until everybody has chaired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Demonstrate both. The flat version of “can I come in on that” is genuinely aggressive and learners are usually surprised.
COMMON MISTAKES: Nervous speakers go flat and low, which is heard as annoyance rather than nerves. The intonation says something they did not mean.
EXTRA EXAMPLES: The chair's manage phrase is the most sensitive. Flat delivery turns a redirect into a public rebuke.
TIP: This is Level 3 Module 2's intonation work in its most socially consequential form.
CLASSROOM ACTIVITY: Rise or fall: say each phrase both ways and have the class judge how it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key constraint is that learners are NOT the chair. These fixes work without any authority, and knowing that changes how they behave in real meetings.
COMMON MISTAKES: Waiting for permission. In most real meetings nobody is formally chairing and the fixes still work.
EXTRA EXAMPLES: Task 1's question is the strongest. It usually reveals that the disagreement is about values rather than facts, which changes the conversation.
TIP: Task 4 rescues more meetings than anything else in this course. Thirty seconds, and the meeting produces a result.
CLASSROOM ACTIVITY: Four rescues: stage four failing discussions and have a different learner rescue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lesson. Allow 15 minutes per chair including feedback.
HOW TO TEACH: Plant a dominant speaker and a silent one in every group without telling the chair. Assess how they handle what actually happens.
COMMON MISTAKES: Step 6 skipped because time runs out. Warn at eight minutes — protecting the close is part of chairing.
TIP: Ask the group afterwards whether they felt heard. That answer assesses the chair better than any checklist.
CLASSROOM ACTIVITY: Group verdict: after each turn, the group says one thing the chair did well and one thing missing.
ANSWERS: SUCCESS CRITERIA: open with time and purpose · two bring-ins with reasons · one redirect without rebuke · one parked digression, written down · a recap naming agreement and split · a four-part close including what was unresolved.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6 is the demonstration. Nobody can summarise it, because nothing was said that could be summarised.
COMMON MISTAKES: Learners assume they missed something because it was fast. They did not — there is nothing there to catch.
EXTRA EXAMPLES: This is failure 3 from slide 9: two people arguing with an audience. It is the commonest meeting failure of all.
ANSWERS: 1 Two. · 2 Never clearly stated. · 3 Two people only, and circling. · 4 Nothing. · 5 “Can we hear from someone else?” or “What are we actually deciding?” · 6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Compare directly with the warm-up on slide 3. The class produced this same failure themselves, which makes the diagnosis theirs rather than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Question 6 is the important one. No decision was reached and the discussion still succeeded, because the gap was named and a next step assigned.
COMMON MISTAKES: Learners assume a discussion without a decision failed. An undeclared gap is the failure; a declared one is a result.
EXTRA EXAMPLES: Dawit's point is parked rather than dismissed, and the chair says it will be returned to. That is what makes parking acceptable.
ANSWERS: 1 Open, bring in, park, recap, close — five of six. · 2 With a reason: “you've taught them”. · 3 Parked, and noted. · 4 Cost agreed; measure disputed. · 5 No. · 6 No — the gap was named and an action assigned.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Play both scripts back to back at the end of the lesson. Same people, same topic, and the contrast makes the case for chairing better than any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Tactic 1 is what makes the recap possible. A chair listening for content cannot recap; a chair listening for shape can do it in one sentence.
COMMON MISTAKES: Chairs who get drawn into the argument stop tracking all four of these. That is why a chair should not also advocate.
TIP: Tactic 2 is literal. Make marks on paper. Memory reliably over-counts the loud and under-counts the quiet.
CLASSROOM ACTIVITY: Chair's notepad: every chair keeps a tally of speakers and a two-column agreed/split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This transcript contains every move in the module. Have learners annotate it completely before discussing.
COMMON MISTAKES: Yonas's concession is from Module 2 and it speeds the discussion up enormously. Point out that it costs him nothing.
EXTRA EXAMPLES: The close names one decision AND one open question with an owner and a date. That is the full four-part structure.
ANSWERS: Open: time and purpose. Yonas: “Can I come in on that?” plus “there are two things here”. Chaltu: brought in with a reason. Recap: agreement on January, split on parents. Close: decided, open, who by when, when we return. Yes — partly.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Question 4 is the important one. The concession ends a disagreement in one line and lets the group move on — that is its practical value.
COMMON MISTAKES: Learners see the concession as Yonas losing. Ask what it cost him: nothing, and it saved the group five minutes.
TIP: Question 5 shows the four-part close working: an open question with an owner, a date and a return.
ANSWERS: 1 A time limit and a single clear question. · 2 It buys him a longer turn for both points. · 3 It gives Chaltu a reason why her view matters. · 4 It ends the disagreement immediately and moves the group on. · 5 The parent question — Sara drafts two options by Friday, finished Tuesday.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4 connects Module 2 to this one. Conceding in a debate protects your case; conceding in a discussion saves the group's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Turn 3 is the fatal error: the chair takes a side. Once that happens they can no longer manage the room, and everything after it follows.
COMMON MISTAKES: Learners spot the missing close first. Push them to the third turn — that is where the chairing actually ended.
EXTRA EXAMPLES: The chair does not park Dawit's digression; they join it and extend it. That is worse than ignoring it.
ANSWERS: No time, no question. Takes a side. The digression is joined and extended. Mimi is never brought in. The close names nothing and no owner. Nothing was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vocabulary point is the neatest summary: five words, none of them used, and the meeting failed in exactly the five ways they describe.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Take several versions of each and compare. Item 3 is the one where learners produce something rebuking rather than redirecting.
COMMON MISTAKES: Item 3 written as “Tolosa, you've said enough”. Redirect, never rebuke.
TIP: Item 6 is the highest-value sentence in the module and any participant can say it.
ANSWERS: MODELS: 1 “We've got fifteen minutes and one decision.” · 2 “Mimi, you've worked on this — your thoughts?” · 3 “That's useful — let me bring Sara in.” · 4 “Different question. Let's note the timetable and come back.” · 5 “So we agree on X, and we're split on Y.” · 6 “Before we finish — what have we actually decided?”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The constraint matters: no authority. All five fixes work anyway, and learners are usually surprised by that.
COMMON MISTAKES: Item 3 phrased as an accusation. “I think we're digressing” includes the speaker, which is what makes it acceptable.
TIP: Item 1's question is the strongest of the five. It usually reveals the disagreement is about values, not facts.
ANSWERS: MODELS: 1 “We've been round this — what would change anyone's mind?” · 2 “Can we hear from someone else on this?” · 3 “I think we're digressing — can we come back to the decision?” · 4 “Could you clarify what you mean by that?” · 5 “Before we finish — what have we decided?”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22 minutes.
HOW TO TEACH: Steps 1 to 3 are preparation and they are what makes chairing look effortless. A chair who has predicted the digressions parks them in one sentence.
COMMON MISTAKES: Step 6 is the check that matters. A close naming only agreements is incomplete.
TIP: Step 2 is the highest-value preparation. Deciding in advance who must be heard, and why, prevents the silent-participant failure entirely.
ANSWERS: MODEL: see slide 41. Every element appears there in a real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Give this rubric before the task. The close carries six marks and the “not agreed” element is what most learners omit.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Run this after every discussion in the module. Six questions, ninety seconds, and it makes the habits conscious.
TIP: Print it. Checks 1 to 3 work in any meeting, whether or not there is a chair.
CLASSROOM ACTIVITY: Six checks: learners self-assess after every discussion for the rest of Level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5 is the error in slide 44. A chair who advocates cannot manage.
ANSWERS: 1 b · 2 b · 3 b · 4 b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Take the answers orally at speed. In a live discussion these must be available in under a second.
COMMON MISTAKES: Item 4 needs both halves. A recap that names only the agreement is incomplete.
TIP: Item 6 is the sentence that rescues most real meetings. Drill it twice.
ANSWERS: 1 come · 2 things · 3 thoughts (or input) · 4 agree / split · 5 park · 6 decide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3 is the module's frame. Learners who get it can tell which room they are in.
ANSWERS: Part 1: 1–b, 2–d, 3–a, 4–c.  ·  Part 2: 1–b, 2–c, 3–a.  ·  Part 3: 1–b, 2–a.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Item 5 is the hard one: no reason is available, so the open invitation — “has anyone got a different view?” — is the right tool.
COMMON MISTAKES: Item 5 answered with “Sara, you're very quiet”. That is the error from slide 8.
TIP: The pattern is: reason, then question. Never question alone.
ANSWERS: MODELS: 1 “Mimi, you taught these for two years — what's your view?” · 2 “Tolosa, you manage the budget — is that figure right?” · 3 “Dawit, you were a student here — how did it feel?” · 4 “Chaltu, it's your report — have we understood it?” · 5 “Has anyone got a different view?”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Item 4 is the one to dwell on. The meeting is over and the fix must be delivered in the last thirty seconds by a participant.
COMMON MISTAKES: Item 5 is not a group failure. It is an individual not understanding, and clarifying is the fix.
TIP: All five fixes can be said by anybody. Say that again — it is the module's most transferable point.
ANSWERS: 1 circling → “What would change anyone's mind?” · 2 drifting → “I think we're digressing — can we come back?” · 3 two people only → “Can we hear from someone else?” · 4 no decision → “Before we go — what did we decide?” · 5 not a failure → “Could you clarify what you mean?”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5 is the one to emphasise. It is the module's most useful piece of permission.
ANSWERS: 1 F — enter with a phrase; the gap is not coming · 2 F — a chair who advocates cannot manage · 3 F — it means everyone can live with it · 4 F — fine if the gap is named with an owner and a date · 5 F — anyone can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3 is the actionable one. Have learners write the actual sentence they would use, with the actual reason.
COMMON MISTAKES: Question 2 answered optimistically. Push for honesty — most learners wait, and naming that is the first step.
TIP: Question 5 should name exactly one move. Collect the answers and ask about them next lesson.
ANSWERS: No fixed answers. Question 3 must contain a real reason, not just an invitation.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18 minutes in groups of four.
HOW TO TEACH: Round 3 needs a planted dominant speaker and a planted silent one. Do not tell the chair.
TIP: Round 4 is where learners stop after part one. The group should refuse to accept an incomplete close.
ANSWERS: SUCCESS CRITERIA: 1 five entries, five phrases · 2 one holding device and one named hand-over · 3 all six moves visible · 4 all four parts, with the unresolved item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 in groups of five.
HOW TO TEACH: The planted behaviours in steps 2 and 3 are what make this real. A chair managing an easy room learns nothing.
TIP: Step 5's second question — did you feel heard? — is the best single measure of a chair and it takes ten seconds.
ANSWERS: Scored with the six checks from slide 50 and the six moves from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 Discussion, not writing.
HOW TO TEACH: Question 4 is the sophisticated one. Some questions genuinely have two sides and pretending otherwise wastes everybody's time.
TIP: Question 4's answer protects learners from forcing agreement where there genuinely is none.
ANSWERS: 1 They lose the ability to manage: once they have a side, every intervention looks partisan. 2 It fails only if the gap is undeclared. With an owner, a date and a return, it is a result. 3 It comments on their behaviour and asks them to justify it, rather than inviting their expertise. 4 When a real choice must be made between two incompatible options — then arguing both sides properly is more useful than seeking a consensus that does not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Plant a dominant speaker and a silent one without telling the chair.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Plant a dominant speaker and a silent one without telling the chair.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Plant a dominant speaker and a silent one without telling the chair.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Plant a dominant speaker and a silent one without telling the chair.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Plant a dominant speaker and a silent one without telling the chair.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Q11, Q16 and Q18 are the diagnostic block: the recap, the fact that anyone can fix a meeting, and naming what was not decided. All three transfer directly to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Q11, Q16 and Q18 are the diagnostic block: the recap, the fact that anyone can fix a meeting, and naming what was not decided. All three transfer directly to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Q11, Q16 and Q18 are the diagnostic block: the recap, the fact that anyone can fix a meeting, and naming what was not decided. All three transfer directly to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Q11, Q16 and Q18 are the diagnostic block: the recap, the fact that anyone can fix a meeting, and naming what was not decided. All three transfer directly to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Q11, Q16 and Q18 are the diagnostic block: the recap, the fact that anyone can fix a meeting, and naming what was not decided. All three transfer directly to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These are real tasks in real meetings. Friday's is the most revealing — often nobody can answer, which proves the point.
TIP: Wednesday's task is the one that changes how learners are seen at work. Recapping accurately marks somebody as useful very quickly.
CLASSROOM ACTIVITY: Report back: three learners describe what happened on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Task 1 is the preparation that makes chairing look effortless. Predicting the digressions is what lets you park them in one sentence.
COMMON MISTAKES: Learners who cannot record must not be excluded. Offer the live option openly.
TIP: If any learner chairs a real meeting this week, prioritise their plan and give detailed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The recap and close carry ten of twenty-five marks. That is deliberate — they are the two moves that most change a meeting.
COMMON MISTAKES: Do not mark the chair on the quality of the decision. They are assessed on running the room, not on its conclusions.
TIP: Give the mark privately and add the group's answer to “did you feel heard?”. That comment matters more than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3. Run the same three-minute discussion, now with a chair, and ask task 3 again. The difference is the module.
TIP: Ask who spoke this time who did not speak in lesson one. That change is the most meaningful result.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third box needs no authority and works in any meeting.
TIP: Print the second and fourth boxes on one card. They are the whole chairing role.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Name what is rare here. Most people attend meetings their whole careers without ever being taught how to enter one or how to run one.
TIP: Preview Module 5: public speaking removes the other voices. There is nobody to hand over to and nothing to react to, which is a different kind of difficulty.
CLASSROOM ACTIVITY: Ask every learner to name one meeting this week where they will use one of the six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Spoken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B1 → B2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Chairing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debate has two sides and a winner. A discussion has five voices and no winner — and somebody has to keep it moving. This module teaches both roles.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TO LEARN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Two roles.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into a discussion that is already moving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hardest thing for a second-language speaker.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floor long enough to finish a thought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hand it over deliberately rather than trailing off.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a discussion — six moves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bring in · manage · park · summarise · close.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the quiet and manage the dominant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without embarrassing anyone.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decision — or say clearly that you have not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unresolved discussion is fine. An undeclared one is not.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three minutes, five people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chair. Just talk.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Discuss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the working week be four days?” Three minutes. Nobody is in charge.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Count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spoke most? Who spoke least? Who did not speak at all?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was decided?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Anything? Could you say in one sentence where the group got to?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discussion has no winner. That changes everything about how you speak in one.</a:t>
            </a:r>
            <a:endParaRPr lang="en-US" sz="4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debate you defend a position. In a discussion you are trying to find the best answer with other people 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 listening is a contribution and changing your mind is a success.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is contributing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must steer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and discussion are different games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language, opposite purposes.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sides, assigned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win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as little as possible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losing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position is fixed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 3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voices, no sides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best answer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freely — it speeds things up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is contributing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position may change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module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debate behaviour in a discussion makes you exhausting. Using discussion behaviour in a debate makes you lose. Know which room you are in.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in, holding, handing over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nobody teaches.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MOVES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“Can I come in on that?”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“Just to add to what Sara said…”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“Sorry — can I just say something?”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“There are two things here. First…”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“Let me just finish that thought.”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OVER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“What do you think, Tolosa?”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“That's my view — what's yours?”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has almost no pauses in a live discussion. You must enter, not wait.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are two things here” buys you a longer turn legitimately.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over deliberately is what stops you being interrupted.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gap that never comes is why competent speakers say nothing.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— six moves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nobody is taught this. It is a career skill.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469361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“We've got twenty minutes and one decision to make.”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thirty seconds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IN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“Mimi, you've worked on this — what do you think?”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someone is silent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“Let's hear from someone who hasn't spoken.”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one voice dominates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“That's important but it's a different question. Let's note it.”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topic drifts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“So far we agree on X, and we're split on 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five minutes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“We've decided X. Y is unresolved — Tolosa will look at it.”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last two minutes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SUMMARISE move is the one that changes a discussion most. Every five minutes, name what is agreed and what is not.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one and the dominant one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the chair's responsibility. Neither should be embarrassed.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 the quiet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“Mimi, you've worked on this — what do you think?”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anyone got a different view?”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hear from someone who hasn't spoken.”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Name a REASON they are worth hearing.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“you're very quiet”.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dominant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useful — let me bring Tolosa in.”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“Hold that thought — Sara, you were about to say something.”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make sure we hear everyone.”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“you're talking too much”.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Redirect, do not rebuke.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quiet person a reason: “you've worked on this”. Naming why they are worth hearing is what makes it easy for them to speak.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a discussion fails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fixable — by the chair, or by anyone.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5107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failure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fix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three points, three times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“We've been round this. What would change anyone's mind?”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twenty minutes on a side issue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“That's a different question — let's park it.”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people only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private argument with an audience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“Let's hear from someone else on this.”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meeting ends and nothing was agreed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“Before we finish — what did we decide?”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participant can use all four of these, not only the chair. In a badly run meeting, being the person who says them is genuinely valuable.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was decided AND what was not.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FOUR-PART CLOSE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WE AGREED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“We've agreed to move to two Saturdays.”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WE DIDN'T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“We haven't settled the staffing.”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DOES WHAT, BY WHEN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“Tolosa will cost it by Friday.”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WHEN WE COME BACK TO IT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“We'll finish this next Tuesday.”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 2 MATTERS MOST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unresolved question is fine. An UNDECLARED one is not.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leave believing different things were decided.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gap prevents the argument happening again next month.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tells everyone the chair was listening.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clarify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/ˈklærɪfaɪ/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something clearer, or to ask somebody to.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clarify what you mean by “soon”? Let me clarify my position.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FIRST syllable: CLAR-i-fy. And you clarify a POINT, not a person.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digress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digress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/daɪˈɡres/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away from the main subject.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I'm digressing. Let's not digress — we've got ten minutes.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SECOND syllable: di-GRESS. The noun is “digression”.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consensus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/kənˈsensəs/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agreement, though not necessarily everyone's first choice.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consensus on this? We reached a consensus after an hour.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does NOT mean everyone agrees completely. It means everyone can live with it.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recap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/ˈriːkæp/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and 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back over the main points briefly.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recap where we've got to. Just a quick recap before we finish.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FIRST syllable for both noun and verb. Short for “recapitulate”, which nobody says.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input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/ˈɪnpʊt/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contribution to a discussion — ideas, information or opinion.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your input on this. Thanks for your input.</a:t>
            </a:r>
            <a:endParaRPr lang="en-US" sz="19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Uncountable in this sense — “some input”, never “an input” or “inputs” when you mean contributions.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06324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into a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in. All of them are normal, none of them is rude.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414497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 I come in on that?”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standard entry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“Just to add to what Sara said…”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gentle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on someone — very safe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“Sorry — can I just say something?”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urgent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moment is passing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 I go back to something?”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reopening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point that was dropped too fast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“Actually, on that…”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natural, needs speed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is the safest entry in any meeting. Attaching yourself to somebody else's point makes the interruption feel cooperative rather than competitive.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06324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floor and handing it over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skills. Most people have neither.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it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are two things here. First…”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just finish that thought.”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come to that in a second.”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Announce a number and you get time for both.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Trailing off invites interruption.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it over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think, Tolosa?”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my view — what's yours?”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be interested in Mimi's take on this.”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decide when your turn ends.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And you give somebody else the floor.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over deliberately is what stops you being interrupted. A turn that ends in a question cannot be taken from you — you gave it away.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06324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chair's phrases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moves, six phrases. Memorise them.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497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“We've got twenty minutes and one decision.”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AND purpose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IN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“Mimi — you've worked on this. Your thoughts?”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them a reason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“That's useful. Let me bring Tolosa in.”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redirect, don't rebuke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“Different question — let's note it and move on.”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actually note it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“So we agree on X, and we're split on 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five minutes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 decided X. Y is open. Tolosa by Friday.”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 AND not agreed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RECAP is the one that transforms a meeting. It is also the one a participant can do without any authority at all.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06324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Disagreeing in a discussion — softer than in a debate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trying to win.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REGISTER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sure I see it that way —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 you say more?”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might be missing something, but…”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interesting. My worry would be…”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offer a different angle?”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want to understand X better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before I'd be comfortable with that.”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SOFTER HERE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debate, disagreement is the job. In a discussion, it is one contribution among many.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say more?” invites development instead of defence.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worry would be…” names a concern without rejecting the idea.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be about to change your own mind. Leave room for it.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06324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five habits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 participants, two for chairs.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 a phrase — do not wait for a gap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 The gap is not coming.</a:t>
            </a:r>
            <a:endParaRPr lang="en-US" sz="163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by name when you finish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your turn and brings somebody in.</a:t>
            </a:r>
            <a:endParaRPr lang="en-US" sz="163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every five minutes, even if you are not the chair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 agree on X, and we're split on Y.”</a:t>
            </a:r>
            <a:endParaRPr lang="en-US" sz="163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the quiet person with a REASON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“You've worked on this — what do you think?”</a:t>
            </a:r>
            <a:endParaRPr lang="en-US" sz="163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by naming what was NOT decided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undeclared gap is what causes the repeat meeting.</a:t>
            </a:r>
            <a:endParaRPr lang="en-US" sz="1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getting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coming.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discussion is fast and nobody pauses.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 make the gap. English discussions have almost none, and waiting politely means never speaking.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support what Sara just said and add to it. How?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to add to what Sara said…”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safest entry in any meeting. Attaching to somebody else makes the interruption cooperative.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interrupting rude in English discussions?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with a phrase is not interrupting — it is the mechanism.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Everyone does it. The phrase is what marks it as an entry rather than a cut-off.</a:t>
            </a:r>
            <a:endParaRPr lang="en-US" sz="12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holding and handing over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of your turn.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points and expect to be cut off. What do you say?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are two things here. First…”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Announcing a number buys you time for both. The group waits for the second.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you end your turn?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handing over: “What do you think, Tolosa?”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turn that ends in a question cannot be taken from you — you gave it away deliberately.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trail off?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off invites somebody to talk over your ending.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“…so, yeah, that's it” signals you have lost control of your own turn.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chairing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moves. Which one?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has spoken for four minutes. Which move?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MANAGE: “That's useful — let me bring Tolosa in.”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Redirect, do not rebuke. “You're talking too much” embarrasses somebody and rarely works.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has spent ten minutes on a side issue. Which move?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PARK: “That's a different question — let's note it.”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And actually write it down. An unwritten park is heard as a dismissal.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move should happen every five minutes?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“So we agree on X, and we're split on Y.”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the move that most changes a discussion, and anyone can do it.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the quiet person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ground to stand 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 has said nothing for ten minutes.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“Mimi, you've worked on this — what do you think?”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reason is the technique. It tells her why she is worth hearing and makes speaking easy.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“you're very quiet today”?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embarrasses her publicly and rarely produces speech.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comments on her behaviour rather than inviting her expertise.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have no reason to give?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anyone got a different view?” — an open invitation.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creates space without naming anybody, which lets a quiet person enter on their own terms.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closing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was NOT decided.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is ending. What four things do you say?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agreed · what we didn't · who does what by when · when we return to it.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minutes, and it prevents the whole discussion happening again next month.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name what was NOT decided?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people leave believing different things were settled.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unresolved question is fine. An undeclared one causes the repeat meeting.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decided at all. What do you say?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haven't reached a decision. Let's come back to it on Tuesday with the figures.”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Naming the failure honestly is far better than ending on a vague note of agreement.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chaired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moves in six lines. Watch what Bethlehem does.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got twenty minutes and one decision: whether to keep Saturday classes.</a:t>
            </a:r>
            <a:endParaRPr lang="en-US" sz="185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30%. That settles it for me.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 — you've taught those classes. What's your take?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30% who come are the ones with nowhere else to study.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agree the cost is real, and we're split on whether attendance is the right measure.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different question — let's park the timetable and come back to it.</a:t>
            </a:r>
            <a:endParaRPr lang="en-US" sz="185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time and purpose · bring in with a reason · recap the split · park the drift. Four moves, ninety seconds.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in, and being managed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enters twice. Watch how, and watch how he is handled.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cost is really the whole issue, because if you look at the staffing, and then the rooms, and…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come in on that?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…sorry, go on.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things here. First, the cost is real. Second, we haven't costed the alternative at all.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useful. Sara — you were about to say something?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let me just finish that thought — then I'm done.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 · “There are two things here” · “Let me just finish that thought.” Enter, hold, and close cleanly.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phrases that run a discussion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chunks. Three for participants, three for the chair.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entry. Make the gap.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are two things here.”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 a longer turn, legitimately.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think, Tolosa?”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by name. Protects your turn.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“You've worked on this — your thoughts?”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2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somebody in WITH a reason.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 agree on X, split on Y.”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recap. Anyone can do it.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we actually decide?”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46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before the end. Always.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got fifteen minutes and one decision to make.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2360458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451898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451898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15322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______ in on that? There are two ______ here.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2837253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2928693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2928693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2892117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ahead.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48640" y="3314047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405487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405487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368911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cost. Second, nobody has ______ the alternative.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3790841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3882281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3882281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3845705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 — you've worked on this. Your ______ ?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48640" y="4267635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359075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359075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322499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______ on the cost and we're ______ on the timing.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548640" y="4744430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94944" y="4835870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31520" y="4835870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2276856" y="4799294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different question. Let's ______ it and come back.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“come”  ·  “things”  ·  “costed”  ·  “thoughts”  ·  “agree”  ·  “split”  ·  “park”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both roles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Swap roles each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fast discussion five times, five different ways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counts and checks the phrases.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45-second turn: hold it, then hand over by name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both ends.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five minutes. Use all six moves.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ticks each move as it appears.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discussion in four parts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· not agreed · who by when · when we return.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the entry drill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entries in three minutes. The gap is not coming.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standard. Use it first.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to add to what ___ said…”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safest. Attach to somebody.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 — can I just say something?”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moment is passing.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go back to something?”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point dropped too fast.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“Actually, on that…”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Quick. Needs speed.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chairing practice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time and purpose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“We've got five minutes and one question.”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somebody with a reason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“You've worked on this — your thoughts?”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dominant speaker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useful — let me bring ___ in.”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 digression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“Different question — let's note it.”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at the halfway point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 agree on X, split on Y.”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 four parts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· not agreed · who by when · when we return.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entering without sounding aggressive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phrase, two completely different effects.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with a RISING, light tone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 — can I just say something?”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go back to something?”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useful — let me bring Tolosa in.”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them FLAT and low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like a demand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irritated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like a complaint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like a reprimand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phrases must RISE. A falling entry sounds like taking the floor by force rather than asking for it.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rescue a failing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failures. Fix each one as a participant, not a chair.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is circling the same three points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“We've been round this. What would change anyone's mind?”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minutes on a side issue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we're digressing — can we come back to the decision?”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are arguing and nobody else has spoken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hear from someone else on this?”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left and nothing decided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we finish — what have we actually decided?”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chair a real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time and purpose in 30 seconds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“We've got ten minutes and one decision.”</a:t>
            </a:r>
            <a:endParaRPr lang="en-US" sz="163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at least two people with a reason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anyone who has not spoken.</a:t>
            </a:r>
            <a:endParaRPr lang="en-US" sz="163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dominant speaker at least once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Redirect, do not rebuke.</a:t>
            </a:r>
            <a:endParaRPr lang="en-US" sz="163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one digression — and write it down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“Different question. Noted.”</a:t>
            </a:r>
            <a:endParaRPr lang="en-US" sz="163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at the five-minute mark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and split, in one sentence each.</a:t>
            </a:r>
            <a:endParaRPr lang="en-US" sz="163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 four parts in the last two minutes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what was NOT decided.</a:t>
            </a:r>
            <a:endParaRPr lang="en-US" sz="1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 unchaired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once. Then answer question 6.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FAST, OVERLAPPING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The cost is the issue, obviously — two staff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six students, and the rooms as well, and…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DAWIT:  Well I've always said the timetable was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wrong, going back years, and nobody listened —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— but that's not the point, the point is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money, and if you look at last year —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DAWIT:  Last year was different though, the whole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situation, the staffing, everything —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Exactly, so we can't compare, which is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said at the start —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DAWIT:  Right, but going back to the timetable…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many people spoke?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actual question?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of the four failures is this?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was decided?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could a THIRD person have said?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Could you summarise this in one sentence?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3 — what kind of failure?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only — with everyone else silent.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Failure 3 from slide 9, and the commonest of the four in real meetings.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what is the question?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never stated.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OPEN move. Nobody said what was being decided, so nobody could decide it.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what could a third person say?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hear from someone else?” or “What are we actually deciding?”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work without any authority. Any participant could have rescued this.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can you summarise it?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Nothing summarisable was said.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That is the test of a failed discussion, and it is the same test the warm-up applied.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move would have fixed it?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OPEN: time and purpose in the first thirty seconds.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Almost everything that went wrong here follows from nobody stating the question.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the same discussion, chaired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people. Same topic. Listen for the six moves.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Ten minutes, one question: do we keep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classes?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The cost is the issue — two staff, six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Mimi, you've taught them. Your thoughts?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The six who come have nowhere else.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DAWIT:  The timetable's always been wrong —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Different question. Let's note the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and come back to it.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So we agree the cost is real, and we're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whether attendance is the right measure.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We haven't decided. Tolosa will cost the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option by Friday. We finish this Tuesday.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six moves do you hear?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is Mimi brought in?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happens to Dawit's point?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agreed, and what is not?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Was a decision reached?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Is that a failure?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moves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bring in · park · recap · close.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Five moves in nine lines. Each takes one sentence and none of them slows the discussion down.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bringing Mimi in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“You've taught them” — a reason before the question.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gives her ground to stand on. “What do you think?” alone puts somebody on the spot.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Dawit's point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and noted, with a promise to return.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Parking without the note or the promise is heard as dismissal, which is worse than ignoring it.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and 6 — no decision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reached — and that is not a failure.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gap was named, an action was assigned with a date, and a return was scheduled.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work?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and the close. Purpose at the start, honesty at the end.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Compare with slide 36: same people, same topic, and the difference is entirely the chairing.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while chairing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listening task in this course.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agreement and disagreement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content — the SHAPE. What has the group settled, and where is it split? That is what you will recap.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 has spoken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count. You will not remember otherwise, and the quiet person is invisible until you look.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drift early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sentence of a digression is easy to park. Ten minutes in, it feels rude to stop.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clock, not the argument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is the only person responsible for finishing. Nobody else is watching the time.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 discussion transcript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every move you can find.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Fifteen minutes. One question: do we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start date to January?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SARA:  Yes. Dropout is 40% in September.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YONAS:  Can I come in? There are two things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here. The dropout is real. But January clashes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marking.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Chaltu — you did the rota. Your input?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Only the first two weeks. We'd start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third.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YONAS:  I hadn't realised. I'll concede that.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So we agree on January, and we're split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whether to tell parents first.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Date decided. Parent question open —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drafts options by Friday. Finish Tuesday.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OPEN. What two things does it give?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Yonas's entry and his holding device.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Chaltu brought in?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recap. What does it name?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four parts of the close.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decision reached?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two things does the chair's opening give the group?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“there are two things here” do for Yonas?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chair say “you did the marking rota”?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Yonas's concession do to the discussion?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 unresolved, and what happens to it?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opening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limit and one clear question.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change behaviour immediately. People argue differently when they know they have fifteen minutes.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“there are two things here”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buys Yonas a longer turn, legitimately.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Once he announces two points, the group waits for the second rather than interrupting after the first.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“you did the marking rota”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Chaltu a reason why her view matters.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it the question puts her on the spot. With it, she has expertise to offer.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concession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the disagreement in one line.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Yonas loses nothing and the group gains five minutes. That is why conceding is efficient, not weak.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unresolved question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drafts two options by Friday; the group returns on Tuesday.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Owner, date, return. An open question handled this way is a result, not a failure.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 chair doing it badly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six mistakes.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Right, shall we start? So, Saturday classes.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The cost is the issue.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I agree, it's far too expensive. I've said so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months.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DAWIT:  What about the timetable?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Well, that's a whole other thing, but yes,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timetable is a disaster, isn't it, and if you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last year…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( says nothing for eleven minutes )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Anyway, we're out of time. Good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discussion, everyone. Same time next month.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from the opening?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chair do in turn 3?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Dawit's digression?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Mimi?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the close?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decided?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opening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limit and no question. Just a topic.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“So, Saturday classes” gives the group nothing to decide and no reason to finish.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turn 3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takes a side.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fatal error. A chair who advocates can no longer manage the room, and everything after follows from this.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digression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joins it and extends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Worse than ignoring it. The one person who could park it instead made it longer.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Mimi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for eleven minutes and never brought in.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Nobody was tracking who had spoken, which is tactic 2 from slide 40.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· digress · consensus · recap · input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chair never clarifies, never names the digression, never recaps and never asks for anyone's input.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write the move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for each situation.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Opening a fifteen-minute meeting with one decision to make.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Mimi has said nothing and worked on the project.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Tolosa has spoken for four minutes without stopping.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group has drifted onto the timetable.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Five minutes in — you need to recap.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Two minutes left and nothing is settled.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rescue it as a participant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YOU would say. You have no authority.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group has made the same three points three times.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Two people are arguing and nobody else has spoken.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Twenty minutes on a side issue.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You did not understand what somebody just proposed.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meeting is ending and nothing has been agreed.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plan and minute a discussion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real decision from your work or community.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BEFORE — write your opening: time, purpose, one question.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the names of who must be brought in, and why each.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two digressions you expect, and how you will park them.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AFTER — write the recap you would give at the halfway point.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Write the four-part close: agreed · not agreed · who by when · return.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Check: does the close name something that was NOT decided?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how it is marked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limit AND one clear question.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topic is not a question. “Saturday classes” gives the group nothing to decide.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Bring-ins planned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each with a REASON.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reason is the technique. Without it the invitation puts somebody on the spot.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Digressions anticipated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predicted, each with a parking phrase.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predicted digression is parked in one sentence. An unpredicted one takes ten minutes.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recap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what is agreed AND what is split.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recap of agreement only hides the disagreement, which then reappears at the end.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four-part close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· not agreed · who by when · when we return.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second part carries the most weight. An undeclared gap causes the repeat meeting.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discussion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enter with a phrase, not wait for a gap?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hand over by name when I finished?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your turn and brings somebody in.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recap once, even though I wasn't chairing?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 agree on X, split on Y.”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open with a time AND a question?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is not a question.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bring somebody in with a REASON?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“You've worked on this…”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close by naming what was NOT decided?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undeclared gap causes the repeat meeting.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 an English discussion you should: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wait for a gap     b) enter with a phrase     c) speak only if asked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 bring in a quiet person you should: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say “you're very quiet”     b) give them a reason     c) ignore it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chair's most valuable move is: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opening     b) recapping every five minutes     c) closing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discussion with no decision is: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always a failure     b) fine if the gap is named     c) the chair's fault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Should a chair give their own opinion?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yes, first     b) no — they manage the room     c) only at the end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fill in the phrase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missing word.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Can I ______ in on that?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There are two ______ here. First…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Mimi — you've worked on this. Your ______ 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 we ______ on the cost and we're ______ on the timing.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That's a different question — let's ______ it.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Before we finish — what did we actually ______ ?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Moves, failures and fixes.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MOVE to its PHRASE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    2. BRING IN     3. PARK     4. RECAP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“Different question — let's note it.”     b) “Ten minutes, one decision.”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“So we agree on X, split on Y.”     d) “You've worked on this — your thoughts?”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FAILURE to its FIX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circling     2. drifting     3. two people only          a) “Can we hear from someone else?”     b) “What would change anyone's mind?”     c) “Let's park that.”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ROLE to the BEHAVIOUR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debate     2. discussion          a) concede freely, listening contributes     b) defend the position, concede as little as possible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bring them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bring-in sentence for each person.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Mimi taught the Saturday classes for two years.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Tolosa manages the budget.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Dawit was a student on this course himself.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Chaltu wrote the report everybody is quoting.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Sara has said nothing and you know nothing about her work.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diagnose and fix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failure, then write the fix.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Forty minutes in, the same two objections keep returning.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group is now discussing the car park.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Tolosa and Dawit have spoken; three others have not.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chair says “good discussion” and ends the meeting.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Somebody proposed something and you did not follow it.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an English discussion you should wait for a pause before speaking.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chair should give their opinion first to start things off.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Consensus means everybody agrees completely.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discussion that reaches no decision has failed.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Only the chair can recap.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Handing over by name protects your own turn.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your meetings, which of the four failures happens most?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 you enter discussions, or wait? Be honest.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quiet person in your team, and what could you say to bring them in?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When did a meeting you attended last end without a decision being named?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of the six chair moves will you use this week?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 of four. Rotate the chair.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The group checks each move as it appears.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Enter a fast discussion five times, five different phrases.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Take a 45-second turn: hold it, then hand over by name.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Chair five minutes using all six moves.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Close a discussion in four parts, including what was NOT decided.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meeting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 of five. One chairs, four participate, then swap.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chair opens with time and one question.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seconds.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 participants are told secretly to dominate or stay silent.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does not know which.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One participant is told to introduce a digression at minute six.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must park it.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chair recaps at the halfway point and closes in four parts.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what was NOT decided.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group scores the chair on all six moves.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says whether they felt heard.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should a chair not give their own opinion?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lose?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a discussion with no decision a failure?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it, and when is it not?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“you're very quiet” fail?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ask the person to do?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should a discussion become a debate?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 example.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1 · Debate and discussion</a:t>
            </a:r>
            <a:endParaRPr lang="en-US" sz="3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the chairing task.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two differences between a debate and a discussion.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a discussion, what is the goal?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listening a contribution?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no, and why.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happens if you use debate behaviour in a discussion?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2 · Turn-taking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Name three ways to enter a discussion.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phrases.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Why can't you wait for a gap?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does “There are two things here” do?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Why hand over by name?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3 · Chairing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Name the six chair moves.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What must the OPEN contain?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Which move is most valuable, and how often?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Should a chair give their opinion?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no, and why.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4 · People and failures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How do you bring in a quiet person?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Why not say “you're very quiet”?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Name the four ways a discussion fails.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Can a participant fix them, or only the chair?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5 · Closing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Name the four parts of a close.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Which part is most often missed?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Is a discussion without a decision a failure?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SPEAKING: chair a ten-minute discussion using all six moves.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live.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two differences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debate has sides and a winner; a discussion has many voices and no winner.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Which changes everything: conceding is efficient rather than costly.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the goal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best answer together.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Not to win. That is why listening and changing your mind both count as contributions.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is listening a contribution?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good question or an accurate recap is worth more than another opinion.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 a discussion the group's thinking is the product, not any one person's position.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debate behaviour in a discussion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you exhausting to work with.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Defending a fixed position in a room trying to find an answer slows everybody down.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three entries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 · “Just to add to what X said…” · “Sorry, can I just say something?”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three are normal and none is rude. The phrase is what marks it as an entry.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why not wait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discussions have almost no gaps.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Waiting politely is why competent speakers say nothing in meetings for years.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“There are two things here”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buys you a longer turn legitimately.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Once you announce two points, the group waits for the second.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handing over by name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your turn and brings somebody in.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turn that ends in a question cannot be taken from you — you gave it away.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the six moves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bring in · manage · park · recap · close.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Each takes one sentence. Chairs who only open and close miss where the work happens.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the OPEN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limit AND one clear question.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topic is not a question. Both change how the group behaves immediately.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the most valuable move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recap, every five minutes.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discussion that is recapped regularly cannot circle, and anyone can do it.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should a chair give an opinion?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once they take a side they can no longer manage the room.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later intervention then looks partisan, however fair it is.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bringing in a quiet person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a reason: “You've worked on this — what do you think?”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reason gives them ground to stand on. The question alone puts them on the spot.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why not “you're very quiet”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comments on their behaviour instead of inviting their expertise.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embarrasses somebody publicly and rarely produces speech.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the four failures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Circling · drifting · two people only · no decision.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four are fixable in one sentence, and all four are common.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who can fix them?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Anyone. No authority is needed.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 most real meetings nobody is formally chairing, and the fixes work regardless.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the four parts of a close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agreed · what we didn't · who does what by when · when we return.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minutes, and it prevents the whole discussion happening again next month.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the missed part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NOT decided.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People leave believing different things were settled, and nobody discovers it until it matters.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no decision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failure — if the gap is named with an owner and a date.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unresolved question is fine. An undeclared one causes the repeat meeting.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chairing task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on all six moves and whether the group felt heard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second measure is the better one, and it takes ten seconds to collect.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 In real meetings.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real discussion twice using a phrase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 for a gap. Note what happened.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by name once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think, ___?” Notice the effect.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once in a meeting you are not chairing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 agree on X, split on Y.”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quiet person in, with a reason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you said and what they said.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“what did we decide?” before a meeting ends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whether anybody could answer.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chair plan for a real meeting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Opening, bring-ins with reasons, two expected digressions.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four-part close for that meeting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something that will NOT be decided.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yourself chairing five minutes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moves. Note where the recap fell.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chairing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bring in — 8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question in 30 seconds (3) · two bring-ins with reasons (5).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park — 7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without rebuke (4) · one digression parked and noted (3).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and close — 10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names agreement AND split (4) · four-part close (4) · unresolved item named (2).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practising · below 10 → chair five minutes weekly with your teacher.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vs discussion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games. Know which room you are in.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phrases. The gap is not coming — make one.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and handing over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“Two things here.” Then hand over by name.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chair moves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bring in · manage · park · recap · close.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failures, four fixes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Circling · drifting · two people · no decision.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four-part close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· NOT agreed · who by when · when we return.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discussion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come in on that?”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to add to what ___ said…”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 — can I just say something?”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go back to something?”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coming. Make one.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chair moves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time AND question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— with a reason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— redirect, don't rebuke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— and write it down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every 5 min.   CLOSE — 4 parts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fixes — anyone can use them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Circling → “What would change your mind?”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 → “I think we're digressing.”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→ “Can we hear from someone else?”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→ “What did we decide?”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we AGREED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we did NOT agree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Who does what, by when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When we come back to it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run a room — and speak in one that nobody is running.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 as a chair, five ways in as a participant, and four fixes that need no authority at all.</a:t>
            </a:r>
            <a:endParaRPr lang="en-US" sz="15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Chairing well is a career skill, and almost nobody is ever taught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 &amp; Storytelling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voice, a room, and no interruptions to hide behind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4 — Discussion &amp; Chairing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· Module 4 — Discussion &amp; Chairing</dc:title>
  <dc:subject>English course for Ethiopian learners — Level 4 Advanced Spoken English</dc:subject>
  <dc:creator>English Learning Platform</dc:creator>
  <cp:lastModifiedBy>English Learning Platform</cp:lastModifiedBy>
  <cp:revision>1</cp:revision>
  <dcterms:created xsi:type="dcterms:W3CDTF">2026-07-28T16:10:15Z</dcterms:created>
  <dcterms:modified xsi:type="dcterms:W3CDTF">2026-07-28T16:10:15Z</dcterms:modified>
</cp:coreProperties>
</file>