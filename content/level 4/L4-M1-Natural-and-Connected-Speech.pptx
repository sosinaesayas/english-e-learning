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naming what changes at Level 4. Levels 1 to 3 built the language. This level is about how it is delivered — rhythm, register, argument and presence. Nothing here is about being understood; that was solved already.
TIP: Some learners will feel Level 4 is a luxury. It is not: at B2 the remaining barriers are almost entirely delivery, and delivery is what people judge in interviews, meetings and negotiations.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Objective 5 matters most and should be said early. This module is not about losing an Ethiopian accent, and learners deserve to hear that in the first three minutes.
TIP: Objective 1 is as much a listening skill as a speaking one. Learners who can produce connected speech suddenly start hearing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Task 1 is the diagnostic. Most learners produce all nine words separately and clearly, which is exactly what makes it sound non-native. The natural version is closer to “Whatcha gonna do about it?”
COMMON MISTAKES: Correct nothing. Note whether the class separates every word — that habit is the whole subject of this module.
TIP: Task 2 answers usually say “fast dialogue” or “when they mumble”. They are not mumbling; they are using connected speech, and slide 6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This reverses a belief learners have held since Level 1, where clear separate pronunciation was correctly the goal. Say the reversal explicitly or it feels like the rules have changed without warning.
COMMON MISTAKES: Learners think connected speech is lazy or careless. It is neither. It is systematic, rule-governed, and used by every educated native speaker in every register.
EXTRA EXAMPLES: Careful separated speech is what native speakers use for dictation, for a bad phone line, or when talking to someone they think will not understand. That last one is why it matters.
TIP: The three words on the chips — join, drop, change — are the whole module. Everything after this slide is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Demonstrate each one three times: the careful version, then the natural version, then the careful version again. The contrast is what teaches, not the explanation.
COMMON MISTAKES: Learners hear all three as one phenomenon — “fast speech”. Separating them makes each one learnable and predictable.
EXTRA EXAMPLES: Linking is the most useful to produce; assimilation is the most useful to recognise. Prioritise accordingly if time is short.
TIP: None of these is optional or informal. They occur in news broadcasts, lectures and job interviews at exactly the same rate.
CLASSROOM ACTIVITY: Three columns: give fifteen phrases and have learners sort each into linking, elision or assimilation.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The most important slide in the module.
HOW TO TEACH: Drill rule 1 hardest. Write phrases with the linking marked — “tur_ni_toff” — and have the class chorus them. Seeing the join written down is what makes it producible.
COMMON MISTAKES: Learners insert a small pause or a glottal stop between words. That pause is precisely what marks non-native speech in English.
EXTRA EXAMPLES: Rule 3 surprises people: “big game” has one /g/, not two. Doubling the consonant sounds strange to a native ear.
TIP: The last side-panel point is the method for the whole module: producing connected speech is what makes you able to hear it.
CLASSROOM ACTIVITY: Mark the links: give ten sentences and have learners draw the linking marks before saying each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rule in the note is genuinely predictive. Once learners know it, they can guess where elision happens in words they have never heard.
COMMON MISTAKES: Learners pronounce the /t/ carefully to be clear. It makes them harder to follow, because the listener is expecting the elided form.
EXTRA EXAMPLES: This is why “I don't know” sounds like three syllables and not four. The most frequent phrases elide the most.
TIP: Connect back to Level 3 Module 2's “comfortable”. That was taught as one exception; it is actually an example of a general rule.
CLASSROOM ACTIVITY: Predict it: give twelve phrases with consonant clusters and have learners predict which sound will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This is the Level 2 Module 7 strong-word idea, now from the production side. Learners have been listening for strong words; now they must weaken the others themselves.
COMMON MISTAKES: Giving every word its full value. It produces a flat, even rhythm that is intelligible but immediately marks the speaker as non-native.
EXTRA EXAMPLES: The contrast pair to demonstrate: “I CAN do it” (stressed, meaning I am able) versus “I c'n do it” (normal, unstressed). The strong form carries emphasis.
TIP: Weak forms are the single biggest contributor to English rhythm. More than speed, more than intonation, more than accent.
CLASSROOM ACTIVITY: Weaken them: give ten sentences and have learners say each twice — all-strong, then with correct weak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 panel example is genuinely ambiguous and the pause alone resolves it. Say both versions aloud and let the class hear the meaning flip.
COMMON MISTAKES: Pausing where you run out of plan rather than where the idea ends. That is the Level 3 Module 1 point, now with a name and a rule.
EXTRA EXAMPLES: Thought groups are also how listeners chunk what they hear. Grouping badly makes you hard to follow even when every word is correct.
TIP: The last side-panel point is worth saying: pausing is generous, not hesitant. Fluent speakers pause about 20% of the time.
CLASSROOM ACTIVITY: Mark the groups: give a paragraph and have learners mark the thought-group boundaries, then read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Say the note plainly and early. Some learners arrive at Level 4 believing the goal is to sound British, and that belief is both unachievable and unnecessary.
COMMON MISTAKES: Chasing accent removal wastes years and produces anxiety. Chasing rhythm and linking produces audible results in weeks.
EXTRA EXAMPLES: Research on intelligibility is consistent: word stress, rhythm and sound contrasts matter; accent does not, once those are in place.
TIP: This slide protects learners from bad advice they will meet elsewhere. It is worth the full fourteen minutes.
CLASSROOM ACTIVITY: Sort it: give twelve features of a learner's English and have the class sort them into the two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This is the Level 3 Module 6 point in reverse: spoken English prefers the short word. “Approximately” in conversation sounds like a written report read aloud.
COMMON MISTAKES: The vowel is /ʌ/ as in “cup”, not /ɒ/. And the “gh” is silent — ROUGH-ly, two syllables.
EXTRA EXAMPLES: The spoken family: roughly · about · around · give or take · more or less.
TIP: “Give or take” is worth teaching here: “two hours, give or take”. It is very natural and learners never produce it.
CLASSROOM ACTIVITY: Round it: give ten exact figures and have learners approximate each using a different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This word does social work, not just semantic work. It reports information while declining responsibility for it, which is exactly what conversation often needs.
COMMON MISTAKES: Using it about your own knowledge. “Apparently I finished it” is odd unless you are being ironic.
EXTRA EXAMPLES: Four syllables, stress on the second: a-PPAR-ent-ly. The last two are very weak.
TIP: Compare with “supposedly”, which adds doubt, and “evidently”, which adds confidence. Three words, three degrees of commitment.
CLASSROOM ACTIVITY: Whose claim? Give ten statements and have learners decide whether “apparently” fits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Teach the word and the warning together. It is genuinely useful for signalling a simplification, and it is the most over-used discourse marker in English.
COMMON MISTAKES: Using it as a filler with no simplifying function at all. That is what makes it grating.
EXTRA EXAMPLES: Alternatives that do the same job: “in short”, “put simply”, “the short version is”.
TIP: Record a learner speaking for two minutes and count the “basicallys”. It is usually a surprise.
CLASSROOM ACTIVITY: Count the tic: pairs count each other's filler words over a two-minute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This is a genuinely B2 word and learners rarely produce it. It marks reasoning rather than knowledge, which is a distinction advanced speakers make constantly.
COMMON MISTAKES: The /zj/ cluster in the middle. Build it slowly: sume → zume → presume → presumably.
EXTRA EXAMPLES: The certainty scale from Level 3, extended: definitely · presumably · probably · apparently · possibly · supposedly.
TIP: It is very useful in discussion and debate — Modules 2 and 3 — because it signals an inference rather than a claim.
CLASSROOM ACTIVITY: Fact or assumption: give twelve statements and have learners mark each and add the right adverb.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This is the most sophisticated word in the set and it points directly at Module 2. It stakes a claim while acknowledging that others might disagree.
COMMON MISTAKES: Learners avoid it and state opinions flatly instead, which sounds more aggressive than they intend.
EXTRA EXAMPLES: Compare: “It IS the best solution” (a claim) versus “It's arguably the best solution” (a defensible position). The second invites discussion.
TIP: Together, these five adverbs are the vocabulary of careful argument. They are what Module 2 is built on.
CLASSROOM ACTIVITY: Five adverbs: give ten statements and have learners restate each with the most appropriate of the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 schwa is the unifying fact. Once learners hear that all six weak forms use the same lazy central vowel, the pattern becomes one rule rather than six.
COMMON MISTAKES: Pronouncing “to” as /tuː/ everywhere. It only takes the full sound when stressed or at the end of a sentence.
EXTRA EXAMPLES: Strong forms return when the word is stressed: “I DO want to” or “What are you looking AT?” at the end of a clause.
TIP: This connects to the Level 3 Module 2 schwa work. There it was inside words; here it is between them.
CLASSROOM ACTIVITY: Schwa hunt: read a paragraph and have learners mark every schwa in the function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Frame it as a listening priority. Production is optional; recognition is not, because these forms are everywhere in real speech.
COMMON MISTAKES: Learners hear “didja” and search their vocabulary for an unknown word. Naming the pattern removes that confusion permanently.
EXTRA EXAMPLES: The last row is different: it is the tongue moving early towards the /p/. Same mechanism, different sounds.
TIP: Say the written form and the spoken form back to back, ten times. Learners find it funny, and the recognition sticks.
CLASSROOM ACTIVITY: Decode it: say twelve assimilated phrases and have learners write the full written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These extend the Level 3 Module 1 chunks into genuinely native-sounding territory. “Mind you” in particular marks a very advanced speaker.
COMMON MISTAKES: Using “Look” casually. It carries force, and used carelessly it sounds confrontational.
EXTRA EXAMPLES: “Mind you” is the most sophisticated of the six. It adds a qualification that partly contradicts what you just said, and native speakers use it constantly.
TIP: Teach the force of each marker, not just the meaning. Getting the force wrong is a social error rather than a language one.
CLASSROOM ACTIVITY: Which marker: give twelve conversational moments and have learners choose the right marker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Say all six aloud in order and let the class hear each meaning appear. This is one of the most striking demonstrations in the whole course.
COMMON MISTAKES: Learners speak with even stress, so the listener has to guess the intended emphasis. That is a real loss of meaning, not a cosmetic issue.
EXTRA EXAMPLES: Contrastive stress like this is how English marks the important part of a sentence. Many languages use word order or particles instead, which is why it transfers badly.
TIP: This slide is genuinely enjoyable and learners remember it for years. Give it the full sixteen minutes.
CLASSROOM ACTIVITY: Six ways: learners say the same sentence six times and a partner names the meaning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Habit 1 is the highest-value single change. A learner who links consistently sounds dramatically more fluent within about two weeks.
COMMON MISTAKES: Trying all five at once. Give the class one habit per week for five weeks.
EXTRA EXAMPLES: Habits 1 and 2 together produce most of English rhythm. Habits 3 and 4 produce most of its clarity.
TIP: Print these five. They are the whole module and they will keep working for years.
CLASSROOM ACTIVITY: One a week: learners choose one habit and record themselves before and after seven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Read it twice: once word by word, once at full natural speed with all the linking. The gap between the two readings is what the module is about.
COMMON MISTAKES: Learners read this carefully and evenly. Push them to link, weaken and elide until it sounds conversational.
EXTRA EXAMPLES: Have learners mark every linking point in Yonas's second line. There are at least four.
TIP: Point out that this is not slang or informal English. It is what an ordinary professional conversation sounds like.
CLASSROOM ACTIVITY: Mark and perform: pairs mark every link and weak form, then perform it at natural speed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Read this deliberately flat and separated. Then read slide 26 again. Ask which speaker they would rather work with — the answer is always the first.
COMMON MISTAKES: Learners believe this version is “more correct”. It is equally correct and socially different, and that difference is what Level 4 addresses.
EXTRA EXAMPLES: Note what is missing: no discourse markers, no contractions, no hedging. The content is identical and the relationship is not.
TIP: Do not let this become a criticism of careful speech. Careful speech is right on a bad phone line; it is wrong in a colleague's office.
CLASSROOM ACTIVITY: Convert it: pairs rewrite this dialogue into natural speech with markers, contractions and hedges.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all six in chorus, then have learners use each in a sentence about their own work. The force is learned through use, not description.
COMMON MISTAKES: “Look” used as a neutral filler. In English it signals impatience or firmness, and using it casually with a manager is a genuine misstep.
EXTRA EXAMPLES: “Mind you” is the highest-value item here. It qualifies what you just said without withdrawing it, and almost no learner produces it.
TIP: Ask which marker each learner already uses. Most use “actually” and none use “mind you”.
CLASSROOM ACTIVITY: Six turns: run a conversation where each learner must open a turn with a different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Have pairs perform the completed version at full natural speed with linking. Filling the gaps is preparation; the delivery is the task.
COMMON MISTAKES: Gap 6 is the hard one. “Mind you” qualifies the previous positive statement, which is exactly its function.
TIP: Gap 2 uses “apparently” correctly — reporting without confirming. Praise anyone who explains why it fits.
CLASSROOM ACTIVITY: Do it again about a different meeting, keeping all six items.
ANSWERS: 1 Right · 2 Apparently · 3 Basically · 4 Roughly · 5 Arguably · 6 Mind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for all four rounds.
HOW TO TEACH: Round 3 is the most enjoyable and the most memorable. Use the slide 19 sentence or one of the class's own.
COMMON MISTAKES: In round 2 learners over-produce the weak forms and sound artificial. Weak forms should be quiet, not exaggerated.
TIP: Round 4 will produce over-use at first. That is fine — one marker per turn is the target, and over-use is easier to correct than absence.
CLASSROOM ACTIVITY: Record round 1 and round 4 and compare the naturalness.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Write each phrase on the board with the links marked using hyphens. Seeing the join is what makes it producible — description alone does not work.
COMMON MISTAKES: Learners produce the links slowly and separately, which defeats the purpose. Speed is part of the target.
EXTRA EXAMPLES: Item 4 closes the loop with the warm-up. Compare their first attempt with this one.
TIP: This drill produces audible improvement within one lesson. It is the most immediately rewarding activity in the module.
CLASSROOM ACTIVITY: Daily five: five minutes of linking practice at the start of every Level 4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Shadowing works because it forces the rhythm, the linking and the weak forms simultaneously without any analysis. It is the closest thing to acquisition in a classroom.
COMMON MISTAKES: Learners stop when they fall behind. Insist they rejoin at the next phrase and keep going — that is the whole discipline.
EXTRA EXAMPLES: Thirty seconds repeated five times is far more effective than five minutes once. Repetition on the same audio is where the gain is.
TIP: This was introduced in Level 3 Module 1 as a solo technique. Here it becomes the core classroom activity of the module.
CLASSROOM ACTIVITY: Class shadow: play the same thirty seconds five times and have the whole group shadow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note is the key instruction. Learners have been trained since Level 1 to pronounce clearly, and weak forms feel wrong to them at first.
COMMON MISTAKES: Refusing to weaken because it feels like bad English. It is not bad English — it is the only English that has correct rhythm.
EXTRA EXAMPLES: The strong forms are still correct when the word is stressed. Nothing here is being unlearned; a second option is being added.
TIP: Exaggerate the weakness for a week. Over-correction settles into the right place far faster than under-correction.
CLASSROOM ACTIVITY: Two versions: learners say ten sentences twice, all-strong then correctly weak, and hear the rhythm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Task 3 is the one that teaches. Deliberately grouping badly makes learners hear what bad grouping does to a listener.
COMMON MISTAKES: Learners pause where they run out of breath rather than where the idea ends. Planning one group ahead fixes it.
EXTRA EXAMPLES: Good grouping also buys thinking time, which connects back to Level 3 Module 1. A pause between groups is invisible; a pause inside one is not.
TIP: Task 4 is the real skill. Sixty seconds of controlled pausing is harder than it sounds and it transforms how a speaker is perceived.
CLASSROOM ACTIVITY: Read it badly: every learner reads one paragraph with deliberately wrong grouping, then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18 minutes including listening back.
HOW TO TEACH: This is the Level 4 baseline recording. Store it — the Module 8 comparison depends on it, and this level's gains are audible rather than grammatical.
COMMON MISTAKES: Step 4 usually produces over-use. Five adverbs in sixty seconds is dense; the target is correct use, not maximum use.
TIP: Count the separated words in step 1 and write the number down. That is the number you will beat in Module 8.
CLASSROOM ACTIVITY: Keep every recording for the Level 4 comparison.
ANSWERS: SUCCESS CRITERIA: consistent linking with no separated words · a recognisable shadow of the original rhythm · six stress placements with six correct meanings · five adverbs used appropriately · three markers in natural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Read these at genuine natural speed, twice. Then a third time slowly for checking only. The difficulty is real and learners should be told so.
COMMON MISTAKES: Learners hear “cuppa” and “innit” as unknown words. Naming the process removes the confusion permanently.
EXTRA EXAMPLES: Item 5's “innit” is very informal and regional. Include it for recognition only and say so.
ANSWERS: 1 What are you going to do about it? · 2 Do you want a cup of tea? · 3 I don't know, I'll ask them. · 4 Did you see him last night? · 5 It's a cup of coffee, isn't it? · 6 Would you mind waiting? · 7 I can do it next week. · 8 She's been there for years. · 9 Turn it off, would you? · 10 Fish and chips and a cup of tea.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The final item is the one to say aloud. Learners often assume connected speech is uneducated. It is universal, and believing otherwise keeps them listening for the wrong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Read each version with genuinely exaggerated stress the first time, then naturally the second. Learners need the exaggeration to hear the pattern before they can hear it at normal volume.
COMMON MISTAKES: Learners cannot hear the difference at first. That is expected — this is a contrast their first language may not use at all.
EXTRA EXAMPLES: This is a listening skill as much as a speaking one. Missing contrastive stress means missing the speaker's actual point.
ANSWERS: 1 version 1 · 2 version 2 · 3 version 4 · 4 version 3 · 5 version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Ask whether learners' own languages do this. Most mark emphasis with word order or particles instead, which is exactly why the English pattern is invisible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This slide prevents a lot of unnecessary discouragement. Learners at B2 who cannot follow a film conclude their English has failed; in fact films are simply a very hard listening genre.
COMMON MISTAKES: Watching whole films with translated subtitles. The brain reads and switches off the listening entirely.
EXTRA EXAMPLES: The recommended order: watch without subtitles, then with English subtitles, then without again. Same scene, three passes.
TIP: Documentaries and interviews are far easier than drama and a better place to start. Say so.
CLASSROOM ACTIVITY: One scene, three ways: pick a two-minute scene and run all three passes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Question 5 should produce genuine disagreement, and it should. Some learners want a native accent for reasons that are personal rather than practical, and that is a legitimate position.
COMMON MISTAKES: Do not present this as settled beyond argument. Present the evidence, then let the class decide what they want to work on.
EXTRA EXAMPLES: Note the use of “arguably” in the last paragraph — the vocabulary from slide 15 doing exactly its job.
TIP: This text exists to protect learners from wasting years. But the choice is theirs, and framing it as a choice is what makes them listen.
CLASSROOM ACTIVITY: Agree or disagree: a five-minute class discussion, previewing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Question 5 is the language point: “arguably” marks the last paragraph as a defensible opinion rather than a research finding. That distinction is Module 2's whole subject.
COMMON MISTAKES: Learners read the last paragraph as another finding. The adverb tells you it is not.
TIP: Question 3 is the counter-intuitive one. Rhythm matters more than accent, so a rhythmically accurate strong accent beats a rhythmically flat weak one.
ANSWERS: 1 Word stress, rhythm and a small number of sound contrasts. · 2 How “native” somebody sounds. · 3 Because rhythm and stress matter more than accent. · 4 That chasing an accent is the wrong priority. · 5 “Arguably”.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4 and 5 together repeat the Level 3 Module 8 discipline: separating fact from judgement, now inside a reading text rather than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This is a real transcript pattern and it is genuinely startling in writing. Learners hold themselves to a standard that no actual speaker meets.
COMMON MISTAKES: Learners believe fluent speakers produce clean sentences. Transcribed speech is always full of repetition, repair and hesitation — and nobody notices in real time.
EXTRA EXAMPLES: Count them: five fillers, three false starts, two repetitions, in about sixty words. And the speaker is entirely competent.
TIP: This slide relieves an enormous amount of pressure. Say clearly: your speech does not need to be cleaner than a native speaker's.
CLASSROOM ACTIVITY: Transcribe yourself: learners transcribe thirty seconds of their own recording word for word, including every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one to end on. Many learners are held back by an impossible standard, and seeing a real transcript is the fastest way to dismantle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This is a decoding exercise and it directly builds listening. Have learners say the connected version aloud after writing the full one.
COMMON MISTAKES: Item 6's “fer” is “for” weakened to a schwa. Learners often guess “far”.
TIP: Ask which process each one uses. Most contain two or three at once, which is why real speech is hard.
ANSWERS: 1 What are you going to do? · 2 I don't know, ask them. · 3 Do you want a cup of tea? · 4 Did you see him last night? · 5 I can do it next week. · 6 She's been there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Marking the links on paper before saying them aloud is what makes them producible. Writing the join makes it visible.
COMMON MISTAKES: Item 5's “go on” needs the /w/ from rule 2. Learners usually miss the vowel-to-vowel case.
TIP: Have learners read each marked sentence aloud three times, faster each time.
ANSWERS: 1 Tur-ni-toff an-pu-ti-taway · 2 I ha-da-napple an-da-norange · 3 Picku-pall-ovit · 4 She work-sa-ta-big garage · 5 Go-won, tay-ki-tou-tuv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minutes.
HOW TO TEACH: Step 5 is what makes this bearable. Learners are shocked by their own transcript until they compare it with a native speaker's, which looks much the same.
COMMON MISTAKES: Learners tidy the transcript as they write it. Insist on every “um” — the untidiness is the data.
TIP: Step 4 usually finds one dominant filler. Naming it is enough to reduce it noticeably within a week.
ANSWERS: No fixed answers. The comparison in step 5 is the point of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actionable one. Four of the five findings are normal and should be left alone; only the linking is worth working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One habit per week for five weeks. Attempting all five at once produces self-consciousness and no improvement.
TIP: Print this. Habit 1 alone, done consistently, produces the largest audible change of anything in Level 4.
CLASSROOM ACTIVITY: Habit of the week: name one habit at the start of each lesson and check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5 is the belief this module exists to correct. Say the answer aloud twice.
ANSWERS: 1 b · 2 b · 3 b · 4 b · 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Naming the process is what makes it predictable. Learners who can classify these can predict new cases.
COMMON MISTAKES: Items 3 and 6 are the same process with different sounds — /t/+/j/ and /d/+/j/.
TIP: Ask for one more example of each process. That is the real test.
ANSWERS: 1 L · 2 E · 3 A · 4 L · 5 E · 6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Let learners work in pairs and compare.
TIP: Part 3 is the Module 2 preview. These three adverbs mark three different degrees of commitment to a claim.
ANSWERS: Part 1: 1–c, 2–a, 3–d, 4–b.  ·  Part 2: 1–c, 2–d, 3–a, 4–b.  ·  Part 3: 1–c, 2–a, 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Each gap has one clearly best answer because the second clause supplies the reason.
COMMON MISTAKES: Items 2 and 4 are close. “Apparently” reports what you heard; “presumably” reports what you infer.
TIP: The second clause in each item explains the choice. Point that out — it is how these adverbs are learned in context.
ANSWERS: 1 Roughly · 2 Apparently · 3 Basically · 4 Presumably · 5 arguably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Have learners say each one aloud after writing it. The stress must be produced, not just identified.
COMMON MISTAKES: Item 2 catches people. Stressing “say” denies the speaking, not the content — a subtle and very useful distinction.
TIP: This is the most memorable exercise in the module. Take answers aloud rather than on paper.
ANSWERS: 1 I · 2 SAY · 3 SHE · 4 TOOK · 5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Correcting each false statement is what makes this teach rather than test.
TIP: Items 1, 3 and 5 are the three beliefs this module exists to correct. Say each correction clearly.
ANSWERS: 1 F — it is normal educated English · 2 T · 3 F — that marks you as non-native · 4 T · 5 F — word stress and rhythm matter far more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Question 1 should refer to the actual transcript from Writing 3. Evidence, not impression.
COMMON MISTAKES: Question 4 answered with all five. One per week is the instruction.
TIP: Question 5 is worth reading aloud. The answers tell you whether slide 10 landed.
ANSWERS: No fixed answers. Question 4 should name exactly one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One feature per round. A partner listening for everything hears nothing, which is the same principle as Level 3 Module 3.
TIP: Round 4 is the hardest to assess. “Does it sound like the original?” is a good enough criterion.
ANSWERS: SUCCESS CRITERIA: 1 fewer than three separated words · 2 no strong forms except under stress · 3 five correct meanings · 4 recognisable rhythm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22 minutes.
HOW TO TEACH: Question 5 is the assessment. Using the items naturally, at speed, in continuous speech is a genuinely different skill from using them in exercises.
TIP: Question 4's recording is the evidence. Play the original and the shadow back to back for the class.
ANSWERS: 1 the ten from slide 36 · 3 six placements, six meanings · 5 five adverbs and three markers, correctly 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Discussion, not writing.
HOW TO TEACH: Question 2 is the first real debate of Level 4 and previews Module 3. Require both sides to be argued, whatever the learner personally thinks.
TIP: Question 4 keeps the module honest. Connected speech is the default, not a universal rule, and knowing when to drop it is part of competence.
ANSWERS: 1 Because the listener expects connected forms and has to work harder to process unexpected separation. 2 For: personal goals, some professions, confidence. Against: it takes years, it is not needed for intelligibility, and the effort is better spent on rhythm. 3 Because your ear learns to expect the patterns your mouth produces — you cannot hear what you have never made. 4 A bad phone line, a noisy room, dictating a number or an address, speaking to somebody at a much lower level, or a formal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a marked paragraph read with consistent linking, then a shadowed 30 seconds. Marked on rhythm and linking, not on 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a marked paragraph read with consistent linking, then a shadowed 30 seconds. Marked on rhythm and linking, not on 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a marked paragraph read with consistent linking, then a shadowed 30 seconds. Marked on rhythm and linking, not on 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a marked paragraph read with consistent linking, then a shadowed 30 seconds. Marked on rhythm and linking, not on 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a marked paragraph read with consistent linking, then a shadowed 30 seconds. Marked on rhythm and linking, not on 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Q5, Q12 and Q18 are the diagnostic block: the linking rules, why even stress loses meaning, and the honest position on accent. Errors here need slides 6,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Q5, Q12 and Q18 are the diagnostic block: the linking rules, why even stress loses meaning, and the honest position on accent. Errors here need slides 6,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Q5, Q12 and Q18 are the diagnostic block: the linking rules, why even stress loses meaning, and the honest position on accent. Errors here need slides 6,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Q5, Q12 and Q18 are the diagnostic block: the linking rules, why even stress loses meaning, and the honest position on accent. Errors here need slides 6,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Q5, Q12 and Q18 are the diagnostic block: the linking rules, why even stress loses meaning, and the honest position on accent. Errors here need slides 6,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Monday's task is the highest-value one and it must be the SAME thirty seconds all week. Repetition on identical audio is where the gain is.
TIP: Thursday's three-pass method is what makes films useful. One scene three times beats a whole film once, every time.
CLASSROOM ACTIVITY: Ask learners to bring Monday's and Friday's recordings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2 is the one learners resist and the one that changes most. Reassure them by pointing at slide 44 before they start.
COMMON MISTAKES: Learners who cannot record must not be excluded. Offer the live option openly.
TIP: Reply to every recording by voice, commenting on linking and rhythm only. Comment on accent and the module is undone.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Note what is NOT marked: accent, speed and vocabulary range. Say so explicitly — it is the point of slide 10 made into a marking policy.
COMMON MISTAKES: Do not deduct for a strong accent under any circumstances. That would contradict the module's central claim.
TIP: Give the mark privately with two comments, one on linking and one on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Return to warm-up task 1 on slide 3 and have the class say “What are you going to do about it?” again at speed. Compare with their first attempt.
TIP: Also revisit task 3: do people still ask them to repeat? The honest answer usually changes within a few weeks of linking practice.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photograph this slide. The first and fourth boxes are the ones to work from.
TIP: Print the fourth box. One habit per week for five weeks is the whole plan.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Name the shift. Levels 1 to 3 built the language; Level 4 is about what you do with it. Learners who feel they have plateaued are usually not missing knowledge — they are missing delivery.
TIP: Preview Module 2 honestly: it moves from sounding natural to arguing well, which is where advanced English is actually judged.
CLASSROOM ACTIVITY: Ask every learner to name the one habit from slide 20 they will work 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4</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4</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Advanced Spoken</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B1 → B2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1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Natural &amp; Connected Speech</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350" dirty="0">
                <a:solidFill>
                  <a:srgbClr val="B9CFC1"/>
                </a:solidFill>
                <a:latin typeface="Calibri" pitchFamily="34" charset="0"/>
                <a:ea typeface="Calibri" pitchFamily="34" charset="-122"/>
                <a:cs typeface="Calibri" pitchFamily="34" charset="-120"/>
              </a:rPr>
              <a:t>You are already understood. This level is about sounding like somebody who lives in the language — and that starts with what happens BETWEEN the words.</a:t>
            </a:r>
            <a:endParaRPr lang="en-US" sz="135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B1 → B2</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LEVEL 4 BEGINS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None of them is new grammar.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Hear and produce connected speech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Words join, sounds disappear, sounds change. All of it is systematic.</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weak forms so your rhythm sounds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small words almost vanish. That is what makes the beat.</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Break speech into thought groups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Where you pause is what makes you easy or hard to follow.</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discourse markers like a native speaker</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“Right…” “Look…” “I mean…” “Anyway…” Each one does a job.</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Know what to change — and what to leave alone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Accent is not the target. Intelligibility and rhythm are.</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what still makes you sound foreign?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Not a criticism. A diagnosis.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Say it fast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are you going to do about it?”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Say it at full natural speed. How many words did you keep?</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Films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Can you follow an English film without subtitles? Where exactly does it break down?</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Being asked to repeat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Do people still ask you to repeat? On which kinds of word?</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Clear English is not English with every word pronounced separately.</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Native speakers join words, drop sounds and change sounds — constantly, in every sentence, without noticing.</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Speaking every word fully and separately is what marks you out, not what makes you clear.</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Join</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Drop</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Change</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The three things that happen between words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All three are systematic. None of them is careless.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 LINKING</a:t>
            </a: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Words JOIN together.</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“an apple” → “a-napple”</a:t>
            </a: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“turn it off” → “tur-ni-toff”</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Nothing is lost. It is joined.</a:t>
            </a:r>
            <a:endParaRPr lang="en-US" sz="2000" dirty="0"/>
          </a:p>
        </p:txBody>
      </p:sp>
      <p:sp>
        <p:nvSpPr>
          <p:cNvPr id="15" name="Shape 10"/>
          <p:cNvSpPr/>
          <p:nvPr/>
        </p:nvSpPr>
        <p:spPr>
          <a:xfrm>
            <a:off x="4313834"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 ELISION</a:t>
            </a: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Sounds DISAPPEAR.</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“next day” → “nex' day”</a:t>
            </a: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“I don't know” → “I dunno”</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A sound is genuinely dropped.</a:t>
            </a:r>
            <a:endParaRPr lang="en-US" sz="2000" dirty="0"/>
          </a:p>
        </p:txBody>
      </p:sp>
      <p:sp>
        <p:nvSpPr>
          <p:cNvPr id="19" name="Shape 13"/>
          <p:cNvSpPr/>
          <p:nvPr/>
        </p:nvSpPr>
        <p:spPr>
          <a:xfrm>
            <a:off x="8079029"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 ASSIMILATION</a:t>
            </a: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Sounds CHANGE.</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“don't you” → “doncha”</a:t>
            </a: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“would you” → “wouldja”</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550" dirty="0">
                <a:solidFill>
                  <a:srgbClr val="3A473F"/>
                </a:solidFill>
                <a:latin typeface="Calibri" pitchFamily="34" charset="0"/>
                <a:ea typeface="Calibri" pitchFamily="34" charset="-122"/>
                <a:cs typeface="Calibri" pitchFamily="34" charset="-120"/>
              </a:rPr>
              <a:t>Two sounds become a new one.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00" b="1" dirty="0">
                <a:solidFill>
                  <a:srgbClr val="12211B"/>
                </a:solidFill>
                <a:latin typeface="Calibri" pitchFamily="34" charset="0"/>
                <a:ea typeface="Calibri" pitchFamily="34" charset="-122"/>
                <a:cs typeface="Calibri" pitchFamily="34" charset="-120"/>
              </a:rPr>
              <a:t>Linking — three rules that cover almost everything</a:t>
            </a:r>
            <a:endParaRPr lang="en-US" sz="34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the one to produce, not just to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1" name="Shape 7"/>
          <p:cNvSpPr/>
          <p:nvPr/>
        </p:nvSpPr>
        <p:spPr>
          <a:xfrm>
            <a:off x="548640" y="1883664"/>
            <a:ext cx="621792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66928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THE THREE LINKING RULES</a:t>
            </a:r>
            <a:endParaRPr lang="en-US" sz="1200" dirty="0"/>
          </a:p>
        </p:txBody>
      </p:sp>
      <p:sp>
        <p:nvSpPr>
          <p:cNvPr id="13" name="Text 9"/>
          <p:cNvSpPr txBox="1"/>
          <p:nvPr/>
        </p:nvSpPr>
        <p:spPr>
          <a:xfrm>
            <a:off x="822960" y="2487168"/>
            <a:ext cx="5669280" cy="3218688"/>
          </a:xfrm>
          <a:prstGeom prst="rect">
            <a:avLst/>
          </a:prstGeom>
          <a:noFill/>
          <a:ln/>
        </p:spPr>
        <p:txBody>
          <a:bodyPr wrap="square" lIns="0" tIns="0" rIns="0" bIns="0" rtlCol="0" anchor="ctr"/>
          <a:lstStyle/>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1.  CONSONANT  →  VOWEL</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“an apple”  →  “a-napple”</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“turn it off”  →  “tur-ni-toff”</a:t>
            </a:r>
            <a:endParaRPr lang="en-US" sz="1350" dirty="0"/>
          </a:p>
          <a:p>
            <a:pPr indent="0" marL="0">
              <a:lnSpc>
                <a:spcPct val="138000"/>
              </a:lnSpc>
              <a:buNone/>
            </a:pP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2.  VOWEL  →  VOWEL   (add /w/ or /j/)</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“go on”  →  “go-won”</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“I am”  →  “I-yam”</a:t>
            </a:r>
            <a:endParaRPr lang="en-US" sz="1350" dirty="0"/>
          </a:p>
          <a:p>
            <a:pPr indent="0" marL="0">
              <a:lnSpc>
                <a:spcPct val="138000"/>
              </a:lnSpc>
              <a:buNone/>
            </a:pP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3.  SAME CONSONANT  →  say it ONCE, longer</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“big game”  →  “bi-game”</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“stop pushing”  →  “sto-pushing”</a:t>
            </a:r>
            <a:endParaRPr lang="en-US" sz="1350" dirty="0"/>
          </a:p>
        </p:txBody>
      </p:sp>
      <p:sp>
        <p:nvSpPr>
          <p:cNvPr id="14" name="Shape 10"/>
          <p:cNvSpPr/>
          <p:nvPr/>
        </p:nvSpPr>
        <p:spPr>
          <a:xfrm>
            <a:off x="7040880" y="1883664"/>
            <a:ext cx="460217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278624" y="2103120"/>
            <a:ext cx="412668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WHY THIS ONE MATTERS MOST</a:t>
            </a:r>
            <a:endParaRPr lang="en-US" sz="1200" dirty="0"/>
          </a:p>
        </p:txBody>
      </p:sp>
      <p:sp>
        <p:nvSpPr>
          <p:cNvPr id="16" name="Text 12"/>
          <p:cNvSpPr/>
          <p:nvPr/>
        </p:nvSpPr>
        <p:spPr>
          <a:xfrm>
            <a:off x="7315200" y="2505456"/>
            <a:ext cx="405353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Rule 1 alone changes how a whole sentence sounds.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It is the difference between “a napple” and “an … apple”.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English is a language of syllables, not of words. The joins are where the rhythm lives.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Produce it and you will start hearing it. The mouth teaches the ear.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Elision — the sounds that disappear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Mostly /t/ and /d/, and mostly between two consonants.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474720"/>
                <a:gridCol w="4510735"/>
              </a:tblGrid>
              <a:tr h="43891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Written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Actually said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disappeared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next day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“nex' day”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/t/, between two consonants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last night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“las' night”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I don't know</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dunno”</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/t/ and most of the vowel</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friends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“frens”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comfortable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“comf-ta-ble”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whole syllable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/t/ and /d/ vanish when a consonant comes before AND after. “Next day” has three consonants in a row — English will not say all three.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00" b="1" dirty="0">
                <a:solidFill>
                  <a:srgbClr val="12211B"/>
                </a:solidFill>
                <a:latin typeface="Calibri" pitchFamily="34" charset="0"/>
                <a:ea typeface="Calibri" pitchFamily="34" charset="-122"/>
                <a:cs typeface="Calibri" pitchFamily="34" charset="-120"/>
              </a:rPr>
              <a:t>Weak forms — where English rhythm actually comes from</a:t>
            </a:r>
            <a:endParaRPr lang="en-US" sz="32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small words almost disappear. That is the beat.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Written — all words equal</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can do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 cup of tea</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fish and chips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was going to ask.</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Where have you been?</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Nine full words.</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Said — small words weak</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c'n do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 cup-a tea”</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“fish 'n' chips”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w'z gonna ask.”</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“Where'v you bin?”</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The strong words carry the beat.</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can · of · and · was · to · have · for · at.  These NEVER get their full sound in normal speech unless you are stressing them deliberately.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300" b="1" dirty="0">
                <a:solidFill>
                  <a:srgbClr val="12211B"/>
                </a:solidFill>
                <a:latin typeface="Calibri" pitchFamily="34" charset="0"/>
                <a:ea typeface="Calibri" pitchFamily="34" charset="-122"/>
                <a:cs typeface="Calibri" pitchFamily="34" charset="-120"/>
              </a:rPr>
              <a:t>Thought groups — where you pause decides everything</a:t>
            </a:r>
            <a:endParaRPr lang="en-US" sz="33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Not how often you pause. Where.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621792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66928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SAME WORDS, DIFFERENT MEANING</a:t>
            </a:r>
            <a:endParaRPr lang="en-US" sz="1200" dirty="0"/>
          </a:p>
        </p:txBody>
      </p:sp>
      <p:sp>
        <p:nvSpPr>
          <p:cNvPr id="13" name="Text 9"/>
          <p:cNvSpPr txBox="1"/>
          <p:nvPr/>
        </p:nvSpPr>
        <p:spPr>
          <a:xfrm>
            <a:off x="822960" y="2487168"/>
            <a:ext cx="5669280" cy="3218688"/>
          </a:xfrm>
          <a:prstGeom prst="rect">
            <a:avLst/>
          </a:prstGeom>
          <a:noFill/>
          <a:ln/>
        </p:spPr>
        <p:txBody>
          <a:bodyPr wrap="square" lIns="0" tIns="0" rIns="0" bIns="0" rtlCol="0" anchor="ctr"/>
          <a:lstStyle/>
          <a:p>
            <a:pPr indent="0" marL="0">
              <a:lnSpc>
                <a:spcPct val="140000"/>
              </a:lnSpc>
              <a:buNone/>
            </a:pPr>
            <a:r>
              <a:rPr lang="en-US" sz="1700" dirty="0">
                <a:solidFill>
                  <a:srgbClr val="12211B"/>
                </a:solidFill>
                <a:latin typeface="Calibri" pitchFamily="34" charset="0"/>
                <a:ea typeface="Calibri" pitchFamily="34" charset="-122"/>
                <a:cs typeface="Calibri" pitchFamily="34" charset="-120"/>
              </a:rPr>
              <a:t>“The manager said  /  the report is late.”</a:t>
            </a:r>
            <a:endParaRPr lang="en-US" sz="1700" dirty="0"/>
          </a:p>
          <a:p>
            <a:pPr indent="0" marL="0">
              <a:lnSpc>
                <a:spcPct val="140000"/>
              </a:lnSpc>
              <a:buNone/>
            </a:pPr>
            <a:r>
              <a:rPr lang="en-US" sz="1700" dirty="0">
                <a:solidFill>
                  <a:srgbClr val="12211B"/>
                </a:solidFill>
                <a:latin typeface="Calibri" pitchFamily="34" charset="0"/>
                <a:ea typeface="Calibri" pitchFamily="34" charset="-122"/>
                <a:cs typeface="Calibri" pitchFamily="34" charset="-120"/>
              </a:rPr>
              <a:t>     →  the manager said it</a:t>
            </a:r>
            <a:endParaRPr lang="en-US" sz="1700" dirty="0"/>
          </a:p>
          <a:p>
            <a:pPr indent="0" marL="0">
              <a:lnSpc>
                <a:spcPct val="140000"/>
              </a:lnSpc>
              <a:buNone/>
            </a:pPr>
            <a:endParaRPr lang="en-US" sz="1700" dirty="0"/>
          </a:p>
          <a:p>
            <a:pPr indent="0" marL="0">
              <a:lnSpc>
                <a:spcPct val="140000"/>
              </a:lnSpc>
              <a:buNone/>
            </a:pPr>
            <a:r>
              <a:rPr lang="en-US" sz="1700" dirty="0">
                <a:solidFill>
                  <a:srgbClr val="12211B"/>
                </a:solidFill>
                <a:latin typeface="Calibri" pitchFamily="34" charset="0"/>
                <a:ea typeface="Calibri" pitchFamily="34" charset="-122"/>
                <a:cs typeface="Calibri" pitchFamily="34" charset="-120"/>
              </a:rPr>
              <a:t>“The manager,  /  said the report,  /  is late.”</a:t>
            </a:r>
            <a:endParaRPr lang="en-US" sz="1700" dirty="0"/>
          </a:p>
          <a:p>
            <a:pPr indent="0" marL="0">
              <a:lnSpc>
                <a:spcPct val="140000"/>
              </a:lnSpc>
              <a:buNone/>
            </a:pPr>
            <a:r>
              <a:rPr lang="en-US" sz="1700" dirty="0">
                <a:solidFill>
                  <a:srgbClr val="12211B"/>
                </a:solidFill>
                <a:latin typeface="Calibri" pitchFamily="34" charset="0"/>
                <a:ea typeface="Calibri" pitchFamily="34" charset="-122"/>
                <a:cs typeface="Calibri" pitchFamily="34" charset="-120"/>
              </a:rPr>
              <a:t>     →  the report said it</a:t>
            </a:r>
            <a:endParaRPr lang="en-US" sz="1700" dirty="0"/>
          </a:p>
          <a:p>
            <a:pPr indent="0" marL="0">
              <a:lnSpc>
                <a:spcPct val="140000"/>
              </a:lnSpc>
              <a:buNone/>
            </a:pPr>
            <a:endParaRPr lang="en-US" sz="1700" dirty="0"/>
          </a:p>
          <a:p>
            <a:pPr indent="0" marL="0">
              <a:lnSpc>
                <a:spcPct val="140000"/>
              </a:lnSpc>
              <a:buNone/>
            </a:pPr>
            <a:r>
              <a:rPr lang="en-US" sz="1700" dirty="0">
                <a:solidFill>
                  <a:srgbClr val="12211B"/>
                </a:solidFill>
                <a:latin typeface="Calibri" pitchFamily="34" charset="0"/>
                <a:ea typeface="Calibri" pitchFamily="34" charset="-122"/>
                <a:cs typeface="Calibri" pitchFamily="34" charset="-120"/>
              </a:rPr>
              <a:t>Same nine words.</a:t>
            </a:r>
            <a:endParaRPr lang="en-US" sz="1700" dirty="0"/>
          </a:p>
          <a:p>
            <a:pPr indent="0" marL="0">
              <a:lnSpc>
                <a:spcPct val="140000"/>
              </a:lnSpc>
              <a:buNone/>
            </a:pPr>
            <a:r>
              <a:rPr lang="en-US" sz="1700" dirty="0">
                <a:solidFill>
                  <a:srgbClr val="12211B"/>
                </a:solidFill>
                <a:latin typeface="Calibri" pitchFamily="34" charset="0"/>
                <a:ea typeface="Calibri" pitchFamily="34" charset="-122"/>
                <a:cs typeface="Calibri" pitchFamily="34" charset="-120"/>
              </a:rPr>
              <a:t>The PAUSES carry the meaning.</a:t>
            </a:r>
            <a:endParaRPr lang="en-US" sz="1700" dirty="0"/>
          </a:p>
        </p:txBody>
      </p:sp>
      <p:sp>
        <p:nvSpPr>
          <p:cNvPr id="14" name="Shape 10"/>
          <p:cNvSpPr/>
          <p:nvPr/>
        </p:nvSpPr>
        <p:spPr>
          <a:xfrm>
            <a:off x="7040880" y="1883664"/>
            <a:ext cx="460217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278624" y="2103120"/>
            <a:ext cx="412668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GROUP</a:t>
            </a:r>
            <a:endParaRPr lang="en-US" sz="1200" dirty="0"/>
          </a:p>
        </p:txBody>
      </p:sp>
      <p:sp>
        <p:nvSpPr>
          <p:cNvPr id="16" name="Text 12"/>
          <p:cNvSpPr/>
          <p:nvPr/>
        </p:nvSpPr>
        <p:spPr>
          <a:xfrm>
            <a:off x="7315200" y="2505456"/>
            <a:ext cx="405353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One idea per group. Usually 3 to 7 words.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Never break inside a phrase: not “the / manager said”.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 last stressed word of each group carries the tune.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A pause is also a gift to the listener — it gives them time to process.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to change — and what to leave alone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An honest slide. Not everything about your English needs fixing.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Worth working on</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Weak forms and rhythm</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Linking between words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Word stress on long words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Thought groups and pausing</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six target sounds from Level 1</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These affect UNDERSTANDING.</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Leave it alone</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Your accent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Sounding “British” or “American”</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Copying idioms you would not use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Speaking faster than you think</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These affect NOTHING that matters.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Your accent is not a defect.</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goal is intelligibility and rhythm, not the removal of your accent. Millions of people speak excellent English with an Ethiopian accent, and always will.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roughly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roughly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/ˈrʌfli/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Approximately. Used constantly in spoken English.</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Roughly forty people came. It takes roughly two hours.</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In speech, “roughly” and “about” are far more natural than “approximately”. Save the long word for writing.</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apparently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apparently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/əˈpærəntli/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00" dirty="0">
                <a:solidFill>
                  <a:srgbClr val="12211B"/>
                </a:solidFill>
                <a:latin typeface="Calibri" pitchFamily="34" charset="0"/>
                <a:ea typeface="Calibri" pitchFamily="34" charset="-122"/>
                <a:cs typeface="Calibri" pitchFamily="34" charset="-120"/>
              </a:rPr>
              <a:t>I have heard this, but I am not confirming it myself.</a:t>
            </a:r>
            <a:endParaRPr lang="en-US" sz="18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350" b="1" dirty="0">
                <a:solidFill>
                  <a:srgbClr val="12211B"/>
                </a:solidFill>
                <a:latin typeface="Calibri" pitchFamily="34" charset="0"/>
                <a:ea typeface="Calibri" pitchFamily="34" charset="-122"/>
                <a:cs typeface="Calibri" pitchFamily="34" charset="-120"/>
              </a:rPr>
              <a:t>Apparently they're closing the office. He's apparently leaving in March.</a:t>
            </a:r>
            <a:endParaRPr lang="en-US" sz="1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distances you from the claim. Do not use it for something you know first-hand — that sounds evasive.</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basically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basically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/ˈbeɪsɪkli/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In simple terms, leaving out the detail.</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50" b="1" dirty="0">
                <a:solidFill>
                  <a:srgbClr val="12211B"/>
                </a:solidFill>
                <a:latin typeface="Calibri" pitchFamily="34" charset="0"/>
                <a:ea typeface="Calibri" pitchFamily="34" charset="-122"/>
                <a:cs typeface="Calibri" pitchFamily="34" charset="-120"/>
              </a:rPr>
              <a:t>Basically, we ran out of time. It's basically the same system.</a:t>
            </a:r>
            <a:endParaRPr lang="en-US" sz="15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Very over-used in real speech. One per conversation is natural; one per sentence is a verbal tic.</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presumably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presumably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/prɪˈzjuːməbli/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I assume this is true, based on what I know.</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00" b="1" dirty="0">
                <a:solidFill>
                  <a:srgbClr val="12211B"/>
                </a:solidFill>
                <a:latin typeface="Calibri" pitchFamily="34" charset="0"/>
                <a:ea typeface="Calibri" pitchFamily="34" charset="-122"/>
                <a:cs typeface="Calibri" pitchFamily="34" charset="-120"/>
              </a:rPr>
              <a:t>Presumably they'll send it tomorrow. He's presumably still in Adama.</a:t>
            </a:r>
            <a:endParaRPr lang="en-US" sz="1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Four syllables with a tricky cluster: pre-ZUME-ab-ly. It marks an assumption, not a fact.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arguably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arguably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/ˈɑːɡjuəbli/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200" dirty="0">
                <a:solidFill>
                  <a:srgbClr val="12211B"/>
                </a:solidFill>
                <a:latin typeface="Calibri" pitchFamily="34" charset="0"/>
                <a:ea typeface="Calibri" pitchFamily="34" charset="-122"/>
                <a:cs typeface="Calibri" pitchFamily="34" charset="-120"/>
              </a:rPr>
              <a:t>You could reasonably argue this. It signals an opinion you are prepared to defend.</a:t>
            </a:r>
            <a:endParaRPr lang="en-US" sz="12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350" b="1" dirty="0">
                <a:solidFill>
                  <a:srgbClr val="12211B"/>
                </a:solidFill>
                <a:latin typeface="Calibri" pitchFamily="34" charset="0"/>
                <a:ea typeface="Calibri" pitchFamily="34" charset="-122"/>
                <a:cs typeface="Calibri" pitchFamily="34" charset="-120"/>
              </a:rPr>
              <a:t>It's arguably the best solution. Arguably, we should have started earlier.</a:t>
            </a:r>
            <a:endParaRPr lang="en-US" sz="1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FIRST syllable: AR-gu-ably. It signals a defensible opinion, not a fact.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SPEECH LANGUAGE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weak forms you must know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Eight function words. They almost never get their full sound.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3108960"/>
                <a:gridCol w="560801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Weak form</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to</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/tə/</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want to go”  →  “I wanna go”</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of</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/əv/  or  /ə/</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cup of tea”  →  “a cup-a tea”</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and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/ən/  or  /n/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“fish and chips”  →  “fish 'n' chips”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can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/kən/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can do it”  →  “I c'n do it”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was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/wəz/</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was going”  →  “I w'z going”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have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/həv/  or  /əv/</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have been”  →  “I've bin”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Every weak form uses the SCHWA /ə/. It is the most common sound in English and it appears only in unstressed positions.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SPEECH LANGUAGE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600" b="1" dirty="0">
                <a:solidFill>
                  <a:srgbClr val="12211B"/>
                </a:solidFill>
                <a:latin typeface="Calibri" pitchFamily="34" charset="0"/>
                <a:ea typeface="Calibri" pitchFamily="34" charset="-122"/>
                <a:cs typeface="Calibri" pitchFamily="34" charset="-120"/>
              </a:rPr>
              <a:t>Assimilation — when two sounds become a new one</a:t>
            </a:r>
            <a:endParaRPr lang="en-US" sz="3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Mostly /t/ and /d/ meeting /j/. Recognise it; you need not produce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291840"/>
                <a:gridCol w="3474720"/>
                <a:gridCol w="4327855"/>
              </a:tblGrid>
              <a:tr h="43891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Written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Said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happened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don't you</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“doncha”</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 + /j/  →  /tʃ/</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would you</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“wouldja”</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 + /j/  →  /dʒ/</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did you</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“didja”</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 + /j/  →  /dʒ/</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what you</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“whatcha”</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 + /j/  →  /tʃ/</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38912">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ten pounds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“tem pounds”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/n/ becomes /m/ before /p/</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You do NOT have to produce these. But if you cannot recognise them, half of natural conversation will sound like unknown words.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SPEECH LANGUAGE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00" b="1" dirty="0">
                <a:solidFill>
                  <a:srgbClr val="12211B"/>
                </a:solidFill>
                <a:latin typeface="Calibri" pitchFamily="34" charset="0"/>
                <a:ea typeface="Calibri" pitchFamily="34" charset="-122"/>
                <a:cs typeface="Calibri" pitchFamily="34" charset="-120"/>
              </a:rPr>
              <a:t>Discourse markers — the traffic signals of conversation</a:t>
            </a:r>
            <a:endParaRPr lang="en-US" sz="31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Each one tells the listener what is coming next.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3840480"/>
                <a:gridCol w="487649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Marker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 signals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Right,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let's start / let's move on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“Right, shall we begin?”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Look,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am about to be direct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“Look, it isn't going to work.”</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Actually,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correction or a surprise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“Actually, I disagree.”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I mean,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am about to explain or repair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mean, it's not far.”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Anyway,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back to the main point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“Anyway, as I was saying…”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Mind you,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qualification of what I just said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“Mind you, it was cheap.”</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“Look” is stronger than learners expect — it signals impatience or firmness. Use it deliberately, not as a filler.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SPEECH LANGUAGE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Stress for meaning — the same sentence, six ways</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Move the stress and the meaning moves with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Where the stress falls</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didn't say she took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DIDN'T say she took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didn't SAY she took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didn't say SHE took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didn't say she TOOK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didn't say she took IT.</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What it now means</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neutral )</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someone else said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denied saying it at all</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implied it, didn't say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someone else took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she borrowed it, didn't take it</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Six identical words. Six different meanings. Nothing changes except which word is loudest — and English does this constantly.</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SPEECH LANGUAGE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300" b="1" dirty="0">
                <a:solidFill>
                  <a:srgbClr val="12211B"/>
                </a:solidFill>
                <a:latin typeface="Calibri" pitchFamily="34" charset="0"/>
                <a:ea typeface="Calibri" pitchFamily="34" charset="-122"/>
                <a:cs typeface="Calibri" pitchFamily="34" charset="-120"/>
              </a:rPr>
              <a:t>Put it all together — five habits of natural speech</a:t>
            </a:r>
            <a:endParaRPr lang="en-US" sz="33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None of them is grammar. All of them are practice.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3F5BD9"/>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Link every consonant into the following vowel</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“tur-ni-toff”, not “turn … it … off”.</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3F5BD9"/>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Weaken the small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to · of · and · can · was · have. All schwa, all quiet.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3F5BD9"/>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Group into ideas of 3 to 7 words, and pause between them</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Never pause inside a phrase.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3F5BD9"/>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Stress the word that carries the point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listener needs to know which word matters.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3F5BD9"/>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 one discourse marker per turn — not six</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Right · look · actually · I mean · anyway · mind you.</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linking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Where do the words join?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“turn it off” — where are the links?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“tur-ni-toff”. Both consonants move into the following vowels.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Rule 1. Consonant to vowel is the commonest join in English and the most useful to produce.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“go on” — what happens between the vowels?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 small /w/ appears: “go-won”.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Rule 2. English does not like two vowels meeting, so it inserts a /w/ or a /j/ to bridge them.</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“big game” — how many /g/ sounds?</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One, held slightly longer.</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Rule 3. Saying two separate /g/ sounds is possible but marks the speaker immediately.</a:t>
            </a:r>
            <a:endParaRPr lang="en-US" sz="11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elision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sound disappears?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“next day” — what is dropped?</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The /t/. “nex' day”.</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Three consonants in a row — /k/ /s/ /t/ then /d/. English drops the middle one.</a:t>
            </a:r>
            <a:endParaRPr lang="en-US" sz="127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Why does “I don't know” become “I dunno”?</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The /t/ elides and the vowel weakens.</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The most frequent phrases elide the most. Frequency drives reduction in every language.</a:t>
            </a:r>
            <a:endParaRPr lang="en-US" sz="116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Should YOU produce these?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Recognising them matters more than producing them.</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If you never elide, you sound careful. If you cannot hear elision, you miss half of what is said.</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weak forms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words go quiet?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“I can do it.” Which word is weak?</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“can”, said /kən/ — “I c'n do it”.</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Function words weaken. Only the meaning words — I, do, it — carry any weight.</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When does “can” get its full sound?</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When it is stressed: “I CAN do it.”</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Strong forms return under stress. That contrast is how English marks emphasis.</a:t>
            </a:r>
            <a:endParaRPr lang="en-US" sz="127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What single vowel do all weak forms use?</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The schwa /ə/.</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The commonest sound in English, and it only ever appears in unstressed positions.</a:t>
            </a:r>
            <a:endParaRPr lang="en-US" sz="12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thought groups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Where you pause is the meaning.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“The manager said the report is late.” Who said it?</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The manager — if you pause after “said”.</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The pause marks where one idea ends. Move it and the subject of the reporting changes.</a:t>
            </a:r>
            <a:endParaRPr lang="en-US" sz="116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How long should a thought group be?</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About three to seven words. One idea.</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Longer than seven and the listener loses the shape; shorter and the speech sounds chopped.</a:t>
            </a:r>
            <a:endParaRPr lang="en-US" sz="11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Where must you NOT pause?</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Inside a phrase — “the / manager said”.</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Breaking inside a phrase is what makes a speaker sound hesitant even at normal speed.</a:t>
            </a:r>
            <a:endParaRPr lang="en-US" sz="11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stress for meaning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word is loudest?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want to say somebody else took it. Which word do you stress?</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didn't say SHE took it.”</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Contrastive stress on “she” implies a different person is responsible.</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You want to deny saying anything at all. Which word?</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“I didn't SAY she took it.”</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Stressing the verb denies the act of saying, which is different from denying the content.</a:t>
            </a:r>
            <a:endParaRPr lang="en-US" sz="11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What happens if you stress nothing?</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The listener has to guess what you meant.</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Even stress is not neutral — it removes information the listener is expecting to receive.</a:t>
            </a:r>
            <a:endParaRPr lang="en-US" sz="11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Natural speech in action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written. Then hear how much of it actually joins.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Right — what are you going to do about the Adama contract?</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Well, apparently they want it by Friday. Which is roughly impossible.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Look, could you not just send them the first half?</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1750" b="1" dirty="0">
                <a:solidFill>
                  <a:srgbClr val="12211B"/>
                </a:solidFill>
                <a:latin typeface="Calibri" pitchFamily="34" charset="0"/>
                <a:ea typeface="Calibri" pitchFamily="34" charset="-122"/>
                <a:cs typeface="Calibri" pitchFamily="34" charset="-120"/>
              </a:rPr>
              <a:t>I mean, I could. Presumably they'd rather have half on time than all of it late.</a:t>
            </a:r>
            <a:endParaRPr lang="en-US" sz="175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1950" b="1" dirty="0">
                <a:solidFill>
                  <a:srgbClr val="12211B"/>
                </a:solidFill>
                <a:latin typeface="Calibri" pitchFamily="34" charset="0"/>
                <a:ea typeface="Calibri" pitchFamily="34" charset="-122"/>
                <a:cs typeface="Calibri" pitchFamily="34" charset="-120"/>
              </a:rPr>
              <a:t>Arguably that's better anyway. Mind you, they might not see it that way.</a:t>
            </a:r>
            <a:endParaRPr lang="en-US" sz="195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Anyway — I'll ask them. Basically I've got nothing to lose.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Six discourse markers and all five vocabulary words, in six lines of completely ordinary conversation.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same content, said badly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word correct. Every word separate. Compare it with slide 26.</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SPEAKER 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Are. You. Going. To. Do. About. The. Contract.</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SPEAKER B</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They want it by Friday. It is not possible.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SPEAKER 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Can you send them the first half?</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SPEAKER B</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can do that. They would prefer half on time.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SPEAKER 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That is better. They might not agree.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SPEAKER B</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will ask them. I have nothing to lose.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Grammatically perfect. Completely intelligible. And nobody speaks like this — which is itself information the listener receives.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Six markers and what they really signal</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Get the force wrong and it is a social error, not a language one.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“Right, …”</a:t>
            </a:r>
            <a:endParaRPr lang="en-US" sz="1750" dirty="0"/>
          </a:p>
          <a:p>
            <a:pPr indent="0" marL="0">
              <a:lnSpc>
                <a:spcPct val="102000"/>
              </a:lnSpc>
              <a:spcBef>
                <a:spcPts val="378"/>
              </a:spcBef>
              <a:buNone/>
            </a:pPr>
            <a:r>
              <a:rPr lang="en-US" sz="1420" dirty="0">
                <a:solidFill>
                  <a:srgbClr val="3A473F"/>
                </a:solidFill>
                <a:latin typeface="Calibri" pitchFamily="34" charset="0"/>
                <a:ea typeface="Calibri" pitchFamily="34" charset="-122"/>
                <a:cs typeface="Calibri" pitchFamily="34" charset="-120"/>
              </a:rPr>
              <a:t>Let's begin, or let's move on. Brisk and neutral.</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“Look, …”</a:t>
            </a:r>
            <a:endParaRPr lang="en-US" sz="170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I'm being direct now. Carries real force — use with care.</a:t>
            </a:r>
            <a:endParaRPr lang="en-US" sz="170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“Actually, …”</a:t>
            </a:r>
            <a:endParaRPr lang="en-US" sz="170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A correction or a mild surprise. Softens a disagreement.</a:t>
            </a:r>
            <a:endParaRPr lang="en-US" sz="170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mean, …”</a:t>
            </a:r>
            <a:endParaRPr lang="en-US" sz="1750" dirty="0"/>
          </a:p>
          <a:p>
            <a:pPr indent="0" marL="0">
              <a:lnSpc>
                <a:spcPct val="102000"/>
              </a:lnSpc>
              <a:spcBef>
                <a:spcPts val="378"/>
              </a:spcBef>
              <a:buNone/>
            </a:pPr>
            <a:r>
              <a:rPr lang="en-US" sz="1420" dirty="0">
                <a:solidFill>
                  <a:srgbClr val="3A473F"/>
                </a:solidFill>
                <a:latin typeface="Calibri" pitchFamily="34" charset="0"/>
                <a:ea typeface="Calibri" pitchFamily="34" charset="-122"/>
                <a:cs typeface="Calibri" pitchFamily="34" charset="-120"/>
              </a:rPr>
              <a:t>I'm explaining or repairing what I just said.</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“Anyway, …”</a:t>
            </a:r>
            <a:endParaRPr lang="en-US" sz="1750" dirty="0"/>
          </a:p>
          <a:p>
            <a:pPr indent="0" marL="0">
              <a:lnSpc>
                <a:spcPct val="102000"/>
              </a:lnSpc>
              <a:spcBef>
                <a:spcPts val="378"/>
              </a:spcBef>
              <a:buNone/>
            </a:pPr>
            <a:r>
              <a:rPr lang="en-US" sz="1420" dirty="0">
                <a:solidFill>
                  <a:srgbClr val="3A473F"/>
                </a:solidFill>
                <a:latin typeface="Calibri" pitchFamily="34" charset="0"/>
                <a:ea typeface="Calibri" pitchFamily="34" charset="-122"/>
                <a:cs typeface="Calibri" pitchFamily="34" charset="-120"/>
              </a:rPr>
              <a:t>Back to the main point after a digression.</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“Mind you, …”</a:t>
            </a:r>
            <a:endParaRPr lang="en-US" sz="1750" dirty="0"/>
          </a:p>
          <a:p>
            <a:pPr indent="0" marL="0">
              <a:lnSpc>
                <a:spcPct val="102000"/>
              </a:lnSpc>
              <a:spcBef>
                <a:spcPts val="378"/>
              </a:spcBef>
              <a:buNone/>
            </a:pPr>
            <a:r>
              <a:rPr lang="en-US" sz="1420" dirty="0">
                <a:solidFill>
                  <a:srgbClr val="3A473F"/>
                </a:solidFill>
                <a:latin typeface="Calibri" pitchFamily="34" charset="0"/>
                <a:ea typeface="Calibri" pitchFamily="34" charset="-122"/>
                <a:cs typeface="Calibri" pitchFamily="34" charset="-120"/>
              </a:rPr>
              <a:t>A qualification. Marks a very advanced speaker.</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with a marker or an adverb.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 how did the meeting go?</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they've agreed to everything. Which surprised me.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Really? So what happens next?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 we start in March. ______ two months earlier than planned.</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That's very fast.</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it's a good thing. ______ , we'll need more staff.</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“Right”  ·  “Apparently”  ·  “Basically”  ·  “Roughly”  ·  “Arguably”  ·  “Mind you”</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natural delivery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Three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Read slide 26 aloud with every link marked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listens for separated words.</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Talk for 60 seconds using four weak forms deliberately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to · of · and · can. Partner counts them.</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one sentence six ways, moving the stress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names the meaning each time.</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Two-minute conversation using all six markers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ticks each marker as it appears.</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the linking drill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highest-value ten minutes in this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“turn it off”  →  “tur-ni-toff”</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it ten times, faster each time.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“an hour and a half”  →  “a-nour-an-a-half”</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Four links in five words.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“pick it up and put it away”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Six links. Mark them first.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are you going to do about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warm-up sentence. Now link it properly.</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a whole paragraph with every link marked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Partner listens for any separated word.</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shadowing at full speed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single most effective technique for natural speech.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Listen to 30 seconds of English audio twice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News, a podcast, a film scene. Anything real.</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Now speak along, one second behind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Do not stop when you lose it. Rejoin at the next phrase.</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Do it five times with the same 30 seconds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By the fifth time you will be close.</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yourself on the fifth attempt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Compare with the original.</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the schwa between words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the weak version. It should feel almost lazy.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Say it carefully — wrong</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want TOO go.”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 cup OV tea”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“fish AND chips”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CAN do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WOZ going.”</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Say it weakly — right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wanna go.”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 cup-a tea”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“fish 'n' chips”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c'n do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w'z going.”</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If it feels slightly lazy, you are probably doing it correctly. English rhythm depends on some words being genuinely quiet.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thought groups and meaning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Where you pause is what you mean.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“The manager said the report is late.” Say it both ways.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says who spoke.</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Mark thought groups in a paragraph, then read it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Three to seven words per group.</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Read the same paragraph with the groups WRONG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says what went wrong.</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Speak for 60 seconds with deliberate pausing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marks every pause that landed badly.</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This is the Level 4 baseline. Keep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a prepared paragraph with all links marked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30 seconds. Partner checks for separated words.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Shadow 30 seconds of audio, fifth attempt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Record the shadowing itself.</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sentence six ways, moving the stress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what each version means.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Speak 60 seconds using all five new adverbs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roughly · apparently · basically · presumably · arguably.</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 three discourse markers naturally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Not six. Three, in the right places.</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write what you actually hear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phrases at full speed. Write the FULL written form.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58368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READ FAST, FULLY CONNECTED</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1.  “Whatcha gonna do about it?”</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2.  “D'you wanna cuppa tea?”</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3.  “I dunno, I'll ask 'em.”</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4.  “Didja see 'im las' night?”</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5.  “It's a cup-a coffee, innit?”</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6.  “Wouldja mind waitin'?”</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7.  “I c'n do it nex' week.”</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8.  “She's bin there fer years.”</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9.  “Turn-i-toff, wouldja?”</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10. “Fish 'n' chips an' a cuppa.”</a:t>
            </a:r>
            <a:endParaRPr lang="en-US" sz="16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Write each one in FULL written English.</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Which are linking?</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Which are elision?</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Which are assimilation?</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Score yourself out of 10.</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“Whatcha gonna do about it?”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What are you going to do about it?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Assimilation (what + you) plus reduction (going to → gonna). The warm-up sentence, said naturally.</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“I dunno, I'll ask 'em.”</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 don't know, I'll ask them.</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Elision of the /t/, and “them” reduced to /əm/ — one of the most frequent reductions in English.</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“Didja see 'im las' night?”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Did you see him last night?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Assimilation (did + you), /h/ dropped in “him”, and the /t/ elided in “last”. Three processes in five words.</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7 — “I c'n do it nex' week.”</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 can do it next week.</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Weak form of “can”, and elision of the /t/ in “next”. Both entirely standard.</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Is any of this bad English?</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None of it. This is how educated native speakers talk.</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News presenters, professors and CEOs all do this. Expecting separated words is what causes the difficulty.</a:t>
            </a:r>
            <a:endParaRPr lang="en-US" sz="11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stress changes the meaning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sentence, five times. What changes?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58368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STRESS THE CAPITAL WORD</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1.  “I never SAID he stole the money.”</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2.  “I never said HE stole the money.”</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3.  “I never said he STOLE the money.”</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4.  “I never said he stole the MONEY.”</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5.  “I NEVER said he stole the money.”</a:t>
            </a:r>
            <a:endParaRPr lang="en-US" sz="1650" dirty="0"/>
          </a:p>
          <a:p>
            <a:pPr indent="0" marL="0">
              <a:lnSpc>
                <a:spcPct val="134000"/>
              </a:lnSpc>
              <a:buNone/>
            </a:pP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Same eight words, five times.</a:t>
            </a:r>
            <a:endParaRPr lang="en-US" sz="1650" dirty="0"/>
          </a:p>
          <a:p>
            <a:pPr indent="0" marL="0">
              <a:lnSpc>
                <a:spcPct val="134000"/>
              </a:lnSpc>
              <a:buNone/>
            </a:pPr>
            <a:r>
              <a:rPr lang="en-US" sz="1650" dirty="0">
                <a:solidFill>
                  <a:srgbClr val="12211B"/>
                </a:solidFill>
                <a:latin typeface="Calibri" pitchFamily="34" charset="0"/>
                <a:ea typeface="Calibri" pitchFamily="34" charset="-122"/>
                <a:cs typeface="Calibri" pitchFamily="34" charset="-120"/>
              </a:rPr>
              <a:t>Only the loudest word changes.</a:t>
            </a:r>
            <a:endParaRPr lang="en-US" sz="165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1. Which one denies saying anything?</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2. Which one suggests somebody else did it?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3. Which one suggests he took something else?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4. Which one suggests he borrowed it?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5. Which is the strongest denial?</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denies saying anything</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 never SAID he stole it.” — stress on the verb.</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It denies the act of speaking, not the content. You may still believe it.</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somebody else did it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 never said HE stole it.” — stress on the person.</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Contrastive stress on a pronoun always implies a contrast with someone else.</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he took something else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“…stole the MONEY.” — stress on the object.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contrast is with a different object: he stole something, but not the money.</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he borrowed it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“…he STOLE the money.” — stress on the verb “stole”.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contrast is with a different action: he took it, but not by stealing.</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Why does this matter?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Missing the stress means missing the speaker's actual point.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In English the loudest word IS the message. Even stress removes information the listener expects.</a:t>
            </a:r>
            <a:endParaRPr lang="en-US" sz="11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Why films are still hard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reasons — and what to do about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Overlapping speech</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People interrupt and talk over each other. No classroom recording does this. Watch the same scene three times.</a:t>
            </a:r>
            <a:endParaRPr lang="en-US" sz="158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Emotional, not clear</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Actors mumble, whisper and shout because the character would. Clarity is not their goal — the scene is.</a:t>
            </a:r>
            <a:endParaRPr lang="en-US" sz="158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Accents and slang</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Regional accents, generational slang, and jokes about things you have not seen. None of this is a gap in your English.</a:t>
            </a:r>
            <a:endParaRPr lang="en-US" sz="158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The fix: narrow and repeat</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One scene, three times, with English subtitles on the third. Not a whole film once.</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 text about accent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then decide whether you agree.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5836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DOES YOUR ACCENT MATTER?</a:t>
            </a:r>
            <a:endParaRPr lang="en-US" sz="1200" dirty="0"/>
          </a:p>
          <a:p>
            <a:pPr indent="0" marL="0">
              <a:lnSpc>
                <a:spcPct val="126000"/>
              </a:lnSpc>
              <a:buNone/>
            </a:pP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Most learners believe they should sound like a</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native speaker. Researchers who study</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intelligibility disagree.</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What matters, they find, is word stress, rhythm</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and a few sound contrasts. A speaker who gets</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those right is understood easily — with any</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accent at all.</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What does NOT predict it is how “native”</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somebody sounds. Strong accents are often</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easier to follow than weak accents with poor</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rhythm. Arguably, then, the years spent chasing</a:t>
            </a:r>
            <a:endParaRPr lang="en-US" sz="1200" dirty="0"/>
          </a:p>
          <a:p>
            <a:pPr indent="0" marL="0">
              <a:lnSpc>
                <a:spcPct val="126000"/>
              </a:lnSpc>
              <a:buNone/>
            </a:pPr>
            <a:r>
              <a:rPr lang="en-US" sz="1200" dirty="0">
                <a:solidFill>
                  <a:srgbClr val="12211B"/>
                </a:solidFill>
                <a:latin typeface="Calibri" pitchFamily="34" charset="0"/>
                <a:ea typeface="Calibri" pitchFamily="34" charset="-122"/>
                <a:cs typeface="Calibri" pitchFamily="34" charset="-120"/>
              </a:rPr>
              <a:t>an accent are spent on the wrong problem.</a:t>
            </a:r>
            <a:endParaRPr lang="en-US" sz="12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What three things do matter?</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What does not predict intelligibility?</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Which is easier to follow, and why?</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What does “the wrong problem” mean here?</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Do you agree? Why or why not?</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According to the text, what three things affect intelligibility?</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does the text say does NOT predict it?</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Why might a strong accent be easier to follow than a weak one?</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the writer's opinion in the last paragraph?</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Which word signals that it is an opinion, not a fact?</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the three things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Word stress, rhythm, and a few sound contrasts.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All three are exactly what this module trains. None of them is accent.</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what does not predict it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How “native” a speaker sounds.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finding that contradicts what most learners have been told, which is why the text states it directly.</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why a strong accent can be easier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Because rhythm and stress carry more of the meaning than accent does.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flat, evenly-stressed speaker is hard to follow whatever their accent.</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and 5 — the opinion and its marker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That chasing an accent is the wrong priority — marked by “arguably”.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adverb signals a defensible position rather than a research result. Facts and judgement kept apart.</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What should you actually work 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Linking, weak forms, thought groups, word stress.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four habits from slide 20. All four produce audible results within weeks.</a:t>
            </a:r>
            <a:endParaRPr lang="en-US" sz="11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transcript of real speech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what natural conversation looks like written down.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5836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“So — right — the thing is, we, um, we tried it</a:t>
            </a:r>
            <a:endParaRPr lang="en-US" sz="1550" dirty="0"/>
          </a:p>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last year and it, it didn't really work? And I</a:t>
            </a:r>
            <a:endParaRPr lang="en-US" sz="1550" dirty="0"/>
          </a:p>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mean, obviously, the situation's different now,</a:t>
            </a:r>
            <a:endParaRPr lang="en-US" sz="1550" dirty="0"/>
          </a:p>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but, you know, I'd be — I'd want to see some</a:t>
            </a:r>
            <a:endParaRPr lang="en-US" sz="1550" dirty="0"/>
          </a:p>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numbers before we, before we commit to</a:t>
            </a:r>
            <a:endParaRPr lang="en-US" sz="1550" dirty="0"/>
          </a:p>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anything. Mind you, if the figures are good,</a:t>
            </a:r>
            <a:endParaRPr lang="en-US" sz="1550" dirty="0"/>
          </a:p>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then, yeah, fine. Obviously.”</a:t>
            </a:r>
            <a:endParaRPr lang="en-US" sz="1550" dirty="0"/>
          </a:p>
          <a:p>
            <a:pPr indent="0" marL="0">
              <a:lnSpc>
                <a:spcPct val="126000"/>
              </a:lnSpc>
              <a:buNone/>
            </a:pPr>
            <a:endParaRPr lang="en-US" sz="1550" dirty="0"/>
          </a:p>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A fluent, confident, native speaker.</a:t>
            </a:r>
            <a:endParaRPr lang="en-US" sz="1550" dirty="0"/>
          </a:p>
          <a:p>
            <a:pPr indent="0" marL="0">
              <a:lnSpc>
                <a:spcPct val="126000"/>
              </a:lnSpc>
              <a:buNone/>
            </a:pPr>
            <a:r>
              <a:rPr lang="en-US" sz="1550" dirty="0">
                <a:solidFill>
                  <a:srgbClr val="12211B"/>
                </a:solidFill>
                <a:latin typeface="Calibri" pitchFamily="34" charset="0"/>
                <a:ea typeface="Calibri" pitchFamily="34" charset="-122"/>
                <a:cs typeface="Calibri" pitchFamily="34" charset="-120"/>
              </a:rPr>
              <a:t>In a meeting. Being taken seriously.</a:t>
            </a:r>
            <a:endParaRPr lang="en-US" sz="155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Count the repetitions and false starts.</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Count the fillers.</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Is this person hard to follow?</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Would you call this bad English?</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What does this tell you about your own speech?</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and 2 — how many?</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About three false starts, two repetitions and five fillers in sixty words.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Entirely typical. Transcribed speech always looks like this, in every language.</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is it hard to follow?</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 In real time nobody notices any of it.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Listeners process meaning, not form. The repairs are invisible unless written down.</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is it bad English?</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 It is a competent professional in a meeting.</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repetitions are thinking time, and the fillers are signposts. Both do real work.</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what does it tell you?</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Your speech does not need to be cleaner than a native speaker's.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Learners aim for a written standard in spoken form, which is impossible and unnecessary.</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Vocabulary check</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roughly · apparently · basically · presumably · arguably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All five are spoken hedges. They exist precisely because real speech is uncertain and negotiated.</a:t>
            </a:r>
            <a:endParaRPr lang="en-US" sz="11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write what you hear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one in full written English.</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7A4FBF"/>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“Whatcha gonna do?”</a:t>
            </a:r>
            <a:endParaRPr lang="en-US" sz="20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7A4FBF"/>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“I dunno, ask 'em.”</a:t>
            </a:r>
            <a:endParaRPr lang="en-US" sz="20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7A4FBF"/>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“D'you wanna cuppa?”</a:t>
            </a:r>
            <a:endParaRPr lang="en-US" sz="20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7A4FBF"/>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“Didja see 'im las' night?”</a:t>
            </a:r>
            <a:endParaRPr lang="en-US" sz="20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7A4FBF"/>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“I c'n do it nex' week.”</a:t>
            </a:r>
            <a:endParaRPr lang="en-US" sz="20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7A4FBF"/>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6.  “She's bin there fer years.”</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mark the linking</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mark every linking point with a hyphen.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Turn it off and put it away.</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I had an apple and an orange.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Pick up all of it.</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She works at a big garage.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Go on, take it out of the box.</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transcribe yourself</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Record 60 seconds of yourself speaking, then transcribe it exactly.</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7A4FBF"/>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Write down every word, including “um” and “er”.</a:t>
            </a:r>
            <a:endParaRPr lang="en-US" sz="20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7A4FBF"/>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Mark every repetition and every false start.</a:t>
            </a:r>
            <a:endParaRPr lang="en-US" sz="20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7A4FBF"/>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Mark every place you paused. Was it between ideas?</a:t>
            </a:r>
            <a:endParaRPr lang="en-US" sz="20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7A4FBF"/>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Count your filler words. Which do you over-use?</a:t>
            </a:r>
            <a:endParaRPr lang="en-US" sz="20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7A4FBF"/>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Compare with the transcript on slide 44.</a:t>
            </a:r>
            <a:endParaRPr lang="en-US" sz="20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7A4FBF"/>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6.  Write three sentences on what you noticed.</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what to look for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your filler count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Expect three to eight in 60 seconds. That is normal.</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transcript on slide 44 has five in about sixty words. Fillers are not the problem.</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where you paused</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Between ideas, or inside phrases?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Pauses between thought groups are invisible. Pauses inside a phrase are what sound hesitant.</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one dominant filler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Most people have one they over-use. Find yours.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Naming it is usually enough to halve it within a week. You cannot reduce what you cannot hear.</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repetitions and false starts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Two or three per minute is completely normal.</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Native transcripts show the same. This is thinking made audible, not a defect.</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separated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Look for places you did not link. That IS worth fixing.</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Linking is the one thing on this list that genuinely changes how natural you sound.</a:t>
            </a:r>
            <a:endParaRPr lang="en-US" sz="114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natural speech checklist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habits. One per week is enough.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Am I linking consonants into following vowels?</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“tur-ni-toff”, not “turn … it … off”.</a:t>
            </a:r>
            <a:endParaRPr lang="en-US" sz="163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Are my small words genuinely weak?</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to · of · and · can · was · have. All schwa.</a:t>
            </a:r>
            <a:endParaRPr lang="en-US" sz="163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Am I pausing between ideas, not inside phrases?</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Three to seven words per group.</a:t>
            </a:r>
            <a:endParaRPr lang="en-US" sz="163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Am I stressing the word that carries the point?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The loudest word IS the message.</a:t>
            </a:r>
            <a:endParaRPr lang="en-US" sz="163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7A4FBF"/>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One discourse marker per turn — not six</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Right · look · actually · I mean · anyway · mind you.</a:t>
            </a:r>
            <a:endParaRPr lang="en-US" sz="163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“an apple” is normally said as:</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an … apple     b) a-napple     c) an-napple</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In “next day”, what happens to the /t/?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nothing     b) it disappears     c) it becomes /d/</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The weak form of “can” is:</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/kæn/     b) /kən/     c) /keɪn/</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A thought group is usually:</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1–2 words     b) 3–7 words     c) 15–20 words</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Connected speech is:</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lazy English     b) informal only     c) normal educated English</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Exercise B — linking, elision or assimilation?</a:t>
            </a:r>
            <a:endParaRPr lang="en-US" sz="37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L, E or A for each one.</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“an apple”  →  “a-napple”</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“next day”  →  “nex' day”</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“don't you”  →  “doncha”</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“go on”  →  “go-won”</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“friends”  →  “frens”</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“would you”  →  “wouldja”</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Markers, weak forms and processes.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MARKER to its SIGNAL</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“Look, …”     2. “Anyway, …”     3. “Mind you, …”     4. “I mean, …”</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back to the main point     b) I'm explaining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I'm being direct        d) a qualification</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2 — match the WORD to its WEAK FORM</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to     2. of     3. and     4. was          a) /ən/     b) /wəz/     c) /tə/     d) /əv/</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ADVERB to its MEANING</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apparently     2. presumably     3. arguably          a) I assume     b) you could argue     c) I heard, but I'm not confirming</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choose the adverb</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best adverb for each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______ forty people came — I didn't count exactly.</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______ they're closing the office. Someone told me.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______ , we ran out of time. That's the short version.</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______ they'll send it tomorrow — it's usually next day.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It's ______ the best solution, though others disagree.</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where does the stress go?</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which word you would stress, and why.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“I didn't say she took it.”  ( someone else said it )</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“I didn't say she took it.”  ( I implied it, but didn't say it )</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“I didn't say she took it.”  ( someone else took it )</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“I didn't say she took it.”  ( she borrowed it )</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“I never said he stole the money.”  ( he stole something else )</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Connected speech is careless or lazy English.</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All weak forms use the schwa /ə/.</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You should pronounce every word separately to be clear.</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A thought group is usually three to seven words.</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Your accent is the main thing affecting intelligibility.</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Native speakers' transcripts are full of repetition and fillers.</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Which filler word do you over-use? How do you know?</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Do you link words, or say them separately? Be honest.</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Where do you usually pause — between ideas or inside phrases?</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Which of the five habits will you work on first?</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Has this module changed what you think about your accent?</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Partner listens for one thing only.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Your partner checks ONE feature per round.</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Read a marked paragraph. Partner counts separated words.</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Speak 60 seconds. Partner counts strong forms of to, of, and, can.</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Say one sentence five ways. Partner names each meaning.</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Shadow 30 seconds of audio. Partner rates the rhythm.</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Work in pairs. Speak more than you write.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ten connected phrases in full written English.</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From the slide 36 list, from memory.</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Mark all the linking in a paragraph, then read it at speed.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Partner counts separated words.</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Say one sentence six ways with six meanings.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Partner names each.</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Shadow 30 seconds of audio five times. Record the fifth.</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Compare with the original.</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Speak 90 seconds using all five adverbs and three markers.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Naturally, not mechanically.</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does speaking every word separately make you HARDER to follow?</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is the listener expecting?</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Should you try to lose your accent? Argue both sides.</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Use the slide 41 text.</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Why does producing connected speech improve your listening?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does the mouth teach the ear?</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When IS careful separated speech the right choice?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Give three real situations.</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1 · The three processes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Books and slides closed. Question 20 is spoken.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Name the three things that happen between words.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Three answers.</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“an apple” → “a-napple”. Which process?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word.</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“next day” → “nex' day”. Which process?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word.</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“don't you” → “doncha”. Which process?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word.</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600" b="1" dirty="0">
                <a:solidFill>
                  <a:srgbClr val="12211B"/>
                </a:solidFill>
                <a:latin typeface="Calibri" pitchFamily="34" charset="0"/>
                <a:ea typeface="Calibri" pitchFamily="34" charset="-122"/>
                <a:cs typeface="Calibri" pitchFamily="34" charset="-120"/>
              </a:rPr>
              <a:t>Module 1 quiz — Part 2 · Linking and weak forms</a:t>
            </a:r>
            <a:endParaRPr lang="en-US" sz="3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Name the three linking rules.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answers.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What is added between two vowels?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sounds.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What vowel do all weak forms use?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answer.</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Give the weak forms of: to · of · and · can.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Four answers.</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3 · Groups and stress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How long is a thought group?</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answer.</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Where must you NOT pause?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“I didn't say SHE took it.” What does it mean?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Why does even stress lose information?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4 · Markers and adverbs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What does “Look, …” signal?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What does “Mind you, …” signal?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Difference between “apparently” and “presumably”?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What does “arguably” signal?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1 quiz — Part 5 · The honest questions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What three things affect intelligibility most?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answers.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Does your accent affect intelligibility?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Name the five habits of natural speech.</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Five answers.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read a marked paragraph, then shadow 30 seconds.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Assessed live.</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the three processes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Linking (words join) · elision (sounds disappear) · assimilation (sounds change).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three are systematic and predictable. None of them is careless speech.</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“a-napple”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Linking.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Consonant into following vowel — rule 1, and the commonest join in English.</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“nex' 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Elision.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 disappears between two consonants. Three consonants in a row is more than English will say.</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“doncha”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Assimilation.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 + /j/ becomes /tʃ/. Two sounds merging into a new one.</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the three linking rules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Consonant→vowel · vowel→vowel with /w/ or /j/ · same consonant said once.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Rule 1 alone changes how a whole sentence sounds.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between two vowels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small /w/ or /j/.</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“go-won”, “I-yam”. English bridges vowel-to-vowel rather than allowing a gap.</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the weak-form vowel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schwa /ə/.</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commonest sound in English, and it appears only in unstressed positions.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four weak forms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to /tə/ · of /əv/ · and /ən/ · can /kən/.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four use the schwa. That is the single pattern behind all of them.</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thought group length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About three to seven words. One idea.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Longer and the listener loses the shape; shorter and the speech sounds chopped.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where not to pause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Inside a phrase — “the / manager said”.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Breaking inside a phrase makes a speaker sound hesitant even at normal speed.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“I didn't say SHE took 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Someone else took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Contrastive stress on a pronoun always implies a contrast with a different person.</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even stress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listener cannot tell which word carries the point.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In English the loudest word IS the message. Even stress removes expected information.</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“Look, …”</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am about to be direct. It carries real force.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Used casually it sounds impatient or confrontational, which is a social error rather than a language one.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“Mind you, …”</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qualification of what I just said.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partly contradicts your own previous statement without withdrawing it. Marks a very advanced speaker.</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apparently vs presumably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“Apparently” = I heard it. “Presumably” = I infer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reports somebody else's claim; the other reports your own reasoning.</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“arguably”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defensible opinion, not a fact.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stakes a claim while acknowledging that others might reasonably disagree.</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what affects intelligibility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Word stress · rhythm · a small number of sound contrasts.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three are trainable, and all three produce audible results within weeks.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does accent affect 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once stress, rhythm and the key contrasts are right.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Speakers with strong accents are often easier to follow than speakers with flat rhythm.</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the five habits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Link · weaken the small words · group into ideas · stress the key word · one marker per turn.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habit per week for five weeks. All five at once produces self-consciousness and no gain.</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the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Marked on linking and rhythm, not on accent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Fewer than three separated words in the paragraph, and a shadow that matches the original's rhythm.</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Speaking and listening only.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Shadow the same 30 seconds five times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Record the fifth attempt. Same audio all week.</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Mark the linking in a paragraph and read it aloud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times, faster each time.</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ten sentences twice — all-strong, then weak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Hear the rhythm change.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Watch one scene three times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 subtitles · English subtitles · no subtitles.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Record 60 seconds and transcribe it exactly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Count your fillers. Compare with Monday.</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paragraph with every linking point marked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Plus a recording of you reading it at speed.</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full transcript of 60 seconds of your own speech</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Every “um”. Plus three sentences on what you noticed.</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Marked reading · shadowing · six stress placements · five adverbs · three markers.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Marked paragraph — 8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All linking points marked (4) · read with fewer than three separated words (4).</a:t>
            </a:r>
            <a:endParaRPr lang="en-US" sz="17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Transcript — 7 marks</a:t>
            </a:r>
            <a:endParaRPr lang="en-US" sz="1700" dirty="0"/>
          </a:p>
          <a:p>
            <a:pPr indent="0" marL="0">
              <a:lnSpc>
                <a:spcPct val="102000"/>
              </a:lnSpc>
              <a:spcBef>
                <a:spcPts val="340"/>
              </a:spcBef>
              <a:buNone/>
            </a:pPr>
            <a:r>
              <a:rPr lang="en-US" sz="1360" dirty="0">
                <a:solidFill>
                  <a:srgbClr val="3A473F"/>
                </a:solidFill>
                <a:latin typeface="Calibri" pitchFamily="34" charset="0"/>
                <a:ea typeface="Calibri" pitchFamily="34" charset="-122"/>
                <a:cs typeface="Calibri" pitchFamily="34" charset="-120"/>
              </a:rPr>
              <a:t>Complete and honest, including fillers (4) · three observations about your own speech (3).</a:t>
            </a:r>
            <a:endParaRPr lang="en-US" sz="17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Consistent linking (3) · recognisable shadow rhythm (2) · six stress placements (2) · five adverbs (2) · three markers (1).</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daily linking drill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Linking</a:t>
            </a:r>
            <a:endParaRPr lang="en-US" sz="1650" dirty="0"/>
          </a:p>
          <a:p>
            <a:pPr indent="0" marL="0">
              <a:lnSpc>
                <a:spcPct val="102000"/>
              </a:lnSpc>
              <a:spcBef>
                <a:spcPts val="330"/>
              </a:spcBef>
              <a:buNone/>
            </a:pPr>
            <a:r>
              <a:rPr lang="en-US" sz="1240" dirty="0">
                <a:solidFill>
                  <a:srgbClr val="3A473F"/>
                </a:solidFill>
                <a:latin typeface="Calibri" pitchFamily="34" charset="0"/>
                <a:ea typeface="Calibri" pitchFamily="34" charset="-122"/>
                <a:cs typeface="Calibri" pitchFamily="34" charset="-120"/>
              </a:rPr>
              <a:t>Three rules. Consonant→vowel is the one that matters most.</a:t>
            </a:r>
            <a:endParaRPr lang="en-US" sz="165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Elision and assimilation</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Sounds vanish and sounds merge. Recognise both.</a:t>
            </a:r>
            <a:endParaRPr lang="en-US" sz="175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Weak forms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to · of · and · can · was · have. All schwa, all quiet.</a:t>
            </a:r>
            <a:endParaRPr lang="en-US" sz="175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Thought groups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Three to seven words. Never pause inside a phrase.</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Stress for meaning</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Six words, six meanings. The loudest word is the message.</a:t>
            </a:r>
            <a:endParaRPr lang="en-US" sz="17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Discourse markers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Right · look · actually · I mean · anyway · mind you.</a:t>
            </a:r>
            <a:endParaRPr lang="en-US" sz="1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natural speech toolkit. Photograph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three linking rules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consonant → vowel  —  “tur-ni-toff”</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vowel → vowel: add /w/ or /j/</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     “go-won”  ·  “I-yam”</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same consonant: say it ONCE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     “bi-game”</a:t>
            </a:r>
            <a:endParaRPr lang="en-US" sz="12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weak forms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to /tə/      ·  of /əv/</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and /ən/  ·  can /kən/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was /wəz/  ·  have /həv/</a:t>
            </a:r>
            <a:endParaRPr lang="en-US" sz="1200" dirty="0"/>
          </a:p>
          <a:p>
            <a:pPr indent="0" marL="0">
              <a:lnSpc>
                <a:spcPct val="112000"/>
              </a:lnSpc>
              <a:buNone/>
            </a:pP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All schwa. All quiet.</a:t>
            </a:r>
            <a:endParaRPr lang="en-US" sz="12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Six markers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Right — let's begin / move on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Look — I'm being direct  (careful!)</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Actually — a correction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I mean — explaining</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Anyway — back to the point.  Mind you — a qualification</a:t>
            </a:r>
            <a:endParaRPr lang="en-US" sz="12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Five habits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Link consonant into vowel</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Weaken the small words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Group into 3–7 word ideas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4 Stress the word that matters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5 One marker per turn</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WELCOME TO LEVEL 4</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Everything from here is about delivery — not about knowing more English.</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900" dirty="0">
                <a:solidFill>
                  <a:srgbClr val="B9CFC1"/>
                </a:solidFill>
                <a:latin typeface="Calibri" pitchFamily="34" charset="0"/>
                <a:ea typeface="Calibri" pitchFamily="34" charset="-122"/>
                <a:cs typeface="Calibri" pitchFamily="34" charset="-120"/>
              </a:rPr>
              <a:t>You already have the grammar, the vocabulary and the accuracy.</a:t>
            </a:r>
            <a:endParaRPr lang="en-US" sz="1900" dirty="0"/>
          </a:p>
          <a:p>
            <a:pPr indent="0" marL="0">
              <a:lnSpc>
                <a:spcPct val="120000"/>
              </a:lnSpc>
              <a:buNone/>
            </a:pPr>
            <a:r>
              <a:rPr lang="en-US" sz="1900" dirty="0">
                <a:solidFill>
                  <a:srgbClr val="B9CFC1"/>
                </a:solidFill>
                <a:latin typeface="Calibri" pitchFamily="34" charset="0"/>
                <a:ea typeface="Calibri" pitchFamily="34" charset="-122"/>
                <a:cs typeface="Calibri" pitchFamily="34" charset="-120"/>
              </a:rPr>
              <a:t>What changes now is rhythm, argument, presence and the ability to hold a room.</a:t>
            </a:r>
            <a:endParaRPr lang="en-US" sz="19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2</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Opinions &amp; Building an Argument</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Making a case that people cannot easily dismiss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4 · Advanced Spoken English · Module 1 — Natural &amp; Connected Speech</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 Module 1 — Natural &amp; Connected Speech</dc:title>
  <dc:subject>English course for Ethiopian learners — Level 4 Advanced Spoken English</dc:subject>
  <dc:creator>English Learning Platform</dc:creator>
  <cp:lastModifiedBy>English Learning Platform</cp:lastModifiedBy>
  <cp:revision>1</cp:revision>
  <dcterms:created xsi:type="dcterms:W3CDTF">2026-07-28T15:41:19Z</dcterms:created>
  <dcterms:modified xsi:type="dcterms:W3CDTF">2026-07-28T15:41:19Z</dcterms:modified>
</cp:coreProperties>
</file>